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9" r:id="rId3"/>
    <p:sldId id="261" r:id="rId4"/>
    <p:sldId id="263" r:id="rId5"/>
    <p:sldId id="265" r:id="rId6"/>
    <p:sldId id="267" r:id="rId7"/>
    <p:sldId id="269" r:id="rId8"/>
    <p:sldId id="271" r:id="rId9"/>
    <p:sldId id="273" r:id="rId10"/>
    <p:sldId id="275" r:id="rId11"/>
    <p:sldId id="277" r:id="rId12"/>
    <p:sldId id="278" r:id="rId13"/>
    <p:sldId id="280" r:id="rId14"/>
    <p:sldId id="283" r:id="rId15"/>
    <p:sldId id="284" r:id="rId16"/>
    <p:sldId id="286" r:id="rId17"/>
    <p:sldId id="288" r:id="rId18"/>
    <p:sldId id="290" r:id="rId1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7" d="100"/>
          <a:sy n="47" d="100"/>
        </p:scale>
        <p:origin x="8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19320C5-08EB-57B5-115E-255A74D70B09}"/>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4ABBB22-0CB4-D206-2872-C851873009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D14F9470-EDB5-D330-928E-0176CBB17017}"/>
              </a:ext>
            </a:extLst>
          </p:cNvPr>
          <p:cNvSpPr>
            <a:spLocks noGrp="1"/>
          </p:cNvSpPr>
          <p:nvPr>
            <p:ph type="dt" sz="half" idx="10"/>
          </p:nvPr>
        </p:nvSpPr>
        <p:spPr/>
        <p:txBody>
          <a:bodyPr/>
          <a:lstStyle/>
          <a:p>
            <a:fld id="{9DAF10FA-37BA-4978-BE68-85FAFC4527ED}" type="datetimeFigureOut">
              <a:rPr kumimoji="1" lang="ja-JP" altLang="en-US" smtClean="0"/>
              <a:t>2026/3/17</a:t>
            </a:fld>
            <a:endParaRPr kumimoji="1" lang="ja-JP" altLang="en-US"/>
          </a:p>
        </p:txBody>
      </p:sp>
      <p:sp>
        <p:nvSpPr>
          <p:cNvPr id="5" name="フッター プレースホルダー 4">
            <a:extLst>
              <a:ext uri="{FF2B5EF4-FFF2-40B4-BE49-F238E27FC236}">
                <a16:creationId xmlns:a16="http://schemas.microsoft.com/office/drawing/2014/main" id="{2DE2E1B9-2D95-748E-6069-0F24D3D45E3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8381CD4-D209-7262-739C-EC7F59135B73}"/>
              </a:ext>
            </a:extLst>
          </p:cNvPr>
          <p:cNvSpPr>
            <a:spLocks noGrp="1"/>
          </p:cNvSpPr>
          <p:nvPr>
            <p:ph type="sldNum" sz="quarter" idx="12"/>
          </p:nvPr>
        </p:nvSpPr>
        <p:spPr/>
        <p:txBody>
          <a:bodyPr/>
          <a:lstStyle/>
          <a:p>
            <a:fld id="{F4BE9479-579B-4718-977A-6CBFD3D09E2D}" type="slidenum">
              <a:rPr kumimoji="1" lang="ja-JP" altLang="en-US" smtClean="0"/>
              <a:t>‹#›</a:t>
            </a:fld>
            <a:endParaRPr kumimoji="1" lang="ja-JP" altLang="en-US"/>
          </a:p>
        </p:txBody>
      </p:sp>
    </p:spTree>
    <p:extLst>
      <p:ext uri="{BB962C8B-B14F-4D97-AF65-F5344CB8AC3E}">
        <p14:creationId xmlns:p14="http://schemas.microsoft.com/office/powerpoint/2010/main" val="24765928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DCC7C94-EB0C-3823-185B-444D1F87256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58DAFE3-2063-7462-0396-BD61F2A58436}"/>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11D79AC-6B54-6CB4-28E4-FC7914E31D72}"/>
              </a:ext>
            </a:extLst>
          </p:cNvPr>
          <p:cNvSpPr>
            <a:spLocks noGrp="1"/>
          </p:cNvSpPr>
          <p:nvPr>
            <p:ph type="dt" sz="half" idx="10"/>
          </p:nvPr>
        </p:nvSpPr>
        <p:spPr/>
        <p:txBody>
          <a:bodyPr/>
          <a:lstStyle/>
          <a:p>
            <a:fld id="{9DAF10FA-37BA-4978-BE68-85FAFC4527ED}" type="datetimeFigureOut">
              <a:rPr kumimoji="1" lang="ja-JP" altLang="en-US" smtClean="0"/>
              <a:t>2026/3/17</a:t>
            </a:fld>
            <a:endParaRPr kumimoji="1" lang="ja-JP" altLang="en-US"/>
          </a:p>
        </p:txBody>
      </p:sp>
      <p:sp>
        <p:nvSpPr>
          <p:cNvPr id="5" name="フッター プレースホルダー 4">
            <a:extLst>
              <a:ext uri="{FF2B5EF4-FFF2-40B4-BE49-F238E27FC236}">
                <a16:creationId xmlns:a16="http://schemas.microsoft.com/office/drawing/2014/main" id="{A1917C87-C9EB-5955-2971-B5ED06F6715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4DF789D-F484-6556-B304-596685C6DB06}"/>
              </a:ext>
            </a:extLst>
          </p:cNvPr>
          <p:cNvSpPr>
            <a:spLocks noGrp="1"/>
          </p:cNvSpPr>
          <p:nvPr>
            <p:ph type="sldNum" sz="quarter" idx="12"/>
          </p:nvPr>
        </p:nvSpPr>
        <p:spPr/>
        <p:txBody>
          <a:bodyPr/>
          <a:lstStyle/>
          <a:p>
            <a:fld id="{F4BE9479-579B-4718-977A-6CBFD3D09E2D}" type="slidenum">
              <a:rPr kumimoji="1" lang="ja-JP" altLang="en-US" smtClean="0"/>
              <a:t>‹#›</a:t>
            </a:fld>
            <a:endParaRPr kumimoji="1" lang="ja-JP" altLang="en-US"/>
          </a:p>
        </p:txBody>
      </p:sp>
    </p:spTree>
    <p:extLst>
      <p:ext uri="{BB962C8B-B14F-4D97-AF65-F5344CB8AC3E}">
        <p14:creationId xmlns:p14="http://schemas.microsoft.com/office/powerpoint/2010/main" val="14455248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83EB6E-2F70-761A-F9D6-0E24A24EEF95}"/>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D8F2C71-D0DC-05EC-6AC6-DA55EE5F2ED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739860F7-3846-BD84-6FEA-0B2F6F24A7E0}"/>
              </a:ext>
            </a:extLst>
          </p:cNvPr>
          <p:cNvSpPr>
            <a:spLocks noGrp="1"/>
          </p:cNvSpPr>
          <p:nvPr>
            <p:ph type="dt" sz="half" idx="10"/>
          </p:nvPr>
        </p:nvSpPr>
        <p:spPr/>
        <p:txBody>
          <a:bodyPr/>
          <a:lstStyle/>
          <a:p>
            <a:fld id="{9DAF10FA-37BA-4978-BE68-85FAFC4527ED}" type="datetimeFigureOut">
              <a:rPr kumimoji="1" lang="ja-JP" altLang="en-US" smtClean="0"/>
              <a:t>2026/3/17</a:t>
            </a:fld>
            <a:endParaRPr kumimoji="1" lang="ja-JP" altLang="en-US"/>
          </a:p>
        </p:txBody>
      </p:sp>
      <p:sp>
        <p:nvSpPr>
          <p:cNvPr id="5" name="フッター プレースホルダー 4">
            <a:extLst>
              <a:ext uri="{FF2B5EF4-FFF2-40B4-BE49-F238E27FC236}">
                <a16:creationId xmlns:a16="http://schemas.microsoft.com/office/drawing/2014/main" id="{DB0C81F4-31BE-45F8-44CF-E1D877B5785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8EDAB24-197B-5087-7A13-800CCB0BF591}"/>
              </a:ext>
            </a:extLst>
          </p:cNvPr>
          <p:cNvSpPr>
            <a:spLocks noGrp="1"/>
          </p:cNvSpPr>
          <p:nvPr>
            <p:ph type="sldNum" sz="quarter" idx="12"/>
          </p:nvPr>
        </p:nvSpPr>
        <p:spPr/>
        <p:txBody>
          <a:bodyPr/>
          <a:lstStyle/>
          <a:p>
            <a:fld id="{F4BE9479-579B-4718-977A-6CBFD3D09E2D}" type="slidenum">
              <a:rPr kumimoji="1" lang="ja-JP" altLang="en-US" smtClean="0"/>
              <a:t>‹#›</a:t>
            </a:fld>
            <a:endParaRPr kumimoji="1" lang="ja-JP" altLang="en-US"/>
          </a:p>
        </p:txBody>
      </p:sp>
    </p:spTree>
    <p:extLst>
      <p:ext uri="{BB962C8B-B14F-4D97-AF65-F5344CB8AC3E}">
        <p14:creationId xmlns:p14="http://schemas.microsoft.com/office/powerpoint/2010/main" val="2862671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74F0B6-D567-A317-9D24-2784FD5A4F49}"/>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A22ED64-8DE6-6469-CC19-86D959360330}"/>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C51B5204-E312-9886-FCFD-D6428A9D8F60}"/>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48D3C325-A2A1-1FCE-9E0C-A281BB7DF6CC}"/>
              </a:ext>
            </a:extLst>
          </p:cNvPr>
          <p:cNvSpPr>
            <a:spLocks noGrp="1"/>
          </p:cNvSpPr>
          <p:nvPr>
            <p:ph type="dt" sz="half" idx="10"/>
          </p:nvPr>
        </p:nvSpPr>
        <p:spPr/>
        <p:txBody>
          <a:bodyPr/>
          <a:lstStyle/>
          <a:p>
            <a:fld id="{9DAF10FA-37BA-4978-BE68-85FAFC4527ED}" type="datetimeFigureOut">
              <a:rPr kumimoji="1" lang="ja-JP" altLang="en-US" smtClean="0"/>
              <a:t>2026/3/17</a:t>
            </a:fld>
            <a:endParaRPr kumimoji="1" lang="ja-JP" altLang="en-US"/>
          </a:p>
        </p:txBody>
      </p:sp>
      <p:sp>
        <p:nvSpPr>
          <p:cNvPr id="6" name="フッター プレースホルダー 5">
            <a:extLst>
              <a:ext uri="{FF2B5EF4-FFF2-40B4-BE49-F238E27FC236}">
                <a16:creationId xmlns:a16="http://schemas.microsoft.com/office/drawing/2014/main" id="{303A67DA-08CE-7F45-D4A0-D14BFF0F371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D184048-958B-F2CC-F715-96BFD95159DC}"/>
              </a:ext>
            </a:extLst>
          </p:cNvPr>
          <p:cNvSpPr>
            <a:spLocks noGrp="1"/>
          </p:cNvSpPr>
          <p:nvPr>
            <p:ph type="sldNum" sz="quarter" idx="12"/>
          </p:nvPr>
        </p:nvSpPr>
        <p:spPr/>
        <p:txBody>
          <a:bodyPr/>
          <a:lstStyle/>
          <a:p>
            <a:fld id="{F4BE9479-579B-4718-977A-6CBFD3D09E2D}" type="slidenum">
              <a:rPr kumimoji="1" lang="ja-JP" altLang="en-US" smtClean="0"/>
              <a:t>‹#›</a:t>
            </a:fld>
            <a:endParaRPr kumimoji="1" lang="ja-JP" altLang="en-US"/>
          </a:p>
        </p:txBody>
      </p:sp>
    </p:spTree>
    <p:extLst>
      <p:ext uri="{BB962C8B-B14F-4D97-AF65-F5344CB8AC3E}">
        <p14:creationId xmlns:p14="http://schemas.microsoft.com/office/powerpoint/2010/main" val="28274738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1279302-9DDE-F921-AF18-4B415A15F545}"/>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BCC4E51-735D-2288-82D2-EBB9E8FC51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2E4C98E0-0C73-D151-9BF8-CEDD92284168}"/>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6CAD61B5-4A94-5EF8-C7DA-A2D85DB86A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7F6640A2-9FED-F9C7-96AB-2D260AA3E760}"/>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0E866FE0-F090-9E4F-F870-50FD695563D9}"/>
              </a:ext>
            </a:extLst>
          </p:cNvPr>
          <p:cNvSpPr>
            <a:spLocks noGrp="1"/>
          </p:cNvSpPr>
          <p:nvPr>
            <p:ph type="dt" sz="half" idx="10"/>
          </p:nvPr>
        </p:nvSpPr>
        <p:spPr/>
        <p:txBody>
          <a:bodyPr/>
          <a:lstStyle/>
          <a:p>
            <a:fld id="{9DAF10FA-37BA-4978-BE68-85FAFC4527ED}" type="datetimeFigureOut">
              <a:rPr kumimoji="1" lang="ja-JP" altLang="en-US" smtClean="0"/>
              <a:t>2026/3/17</a:t>
            </a:fld>
            <a:endParaRPr kumimoji="1" lang="ja-JP" altLang="en-US"/>
          </a:p>
        </p:txBody>
      </p:sp>
      <p:sp>
        <p:nvSpPr>
          <p:cNvPr id="8" name="フッター プレースホルダー 7">
            <a:extLst>
              <a:ext uri="{FF2B5EF4-FFF2-40B4-BE49-F238E27FC236}">
                <a16:creationId xmlns:a16="http://schemas.microsoft.com/office/drawing/2014/main" id="{F61AFE54-D669-4ECF-7DA0-FCF8FCEBAF01}"/>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E0B507F3-39A2-5950-F568-A1F33FA2419C}"/>
              </a:ext>
            </a:extLst>
          </p:cNvPr>
          <p:cNvSpPr>
            <a:spLocks noGrp="1"/>
          </p:cNvSpPr>
          <p:nvPr>
            <p:ph type="sldNum" sz="quarter" idx="12"/>
          </p:nvPr>
        </p:nvSpPr>
        <p:spPr/>
        <p:txBody>
          <a:bodyPr/>
          <a:lstStyle/>
          <a:p>
            <a:fld id="{F4BE9479-579B-4718-977A-6CBFD3D09E2D}" type="slidenum">
              <a:rPr kumimoji="1" lang="ja-JP" altLang="en-US" smtClean="0"/>
              <a:t>‹#›</a:t>
            </a:fld>
            <a:endParaRPr kumimoji="1" lang="ja-JP" altLang="en-US"/>
          </a:p>
        </p:txBody>
      </p:sp>
    </p:spTree>
    <p:extLst>
      <p:ext uri="{BB962C8B-B14F-4D97-AF65-F5344CB8AC3E}">
        <p14:creationId xmlns:p14="http://schemas.microsoft.com/office/powerpoint/2010/main" val="19768161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339450B-4585-26E3-4825-8422C8BE0B4C}"/>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CA0117DF-ED25-D359-A536-1A9082B21F4B}"/>
              </a:ext>
            </a:extLst>
          </p:cNvPr>
          <p:cNvSpPr>
            <a:spLocks noGrp="1"/>
          </p:cNvSpPr>
          <p:nvPr>
            <p:ph type="dt" sz="half" idx="10"/>
          </p:nvPr>
        </p:nvSpPr>
        <p:spPr/>
        <p:txBody>
          <a:bodyPr/>
          <a:lstStyle/>
          <a:p>
            <a:fld id="{9DAF10FA-37BA-4978-BE68-85FAFC4527ED}" type="datetimeFigureOut">
              <a:rPr kumimoji="1" lang="ja-JP" altLang="en-US" smtClean="0"/>
              <a:t>2026/3/17</a:t>
            </a:fld>
            <a:endParaRPr kumimoji="1" lang="ja-JP" altLang="en-US"/>
          </a:p>
        </p:txBody>
      </p:sp>
      <p:sp>
        <p:nvSpPr>
          <p:cNvPr id="4" name="フッター プレースホルダー 3">
            <a:extLst>
              <a:ext uri="{FF2B5EF4-FFF2-40B4-BE49-F238E27FC236}">
                <a16:creationId xmlns:a16="http://schemas.microsoft.com/office/drawing/2014/main" id="{347456C4-01F6-D7DA-5B29-A1777F092D8B}"/>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D3DEF56B-C884-099E-71BC-92D8CEFD23CC}"/>
              </a:ext>
            </a:extLst>
          </p:cNvPr>
          <p:cNvSpPr>
            <a:spLocks noGrp="1"/>
          </p:cNvSpPr>
          <p:nvPr>
            <p:ph type="sldNum" sz="quarter" idx="12"/>
          </p:nvPr>
        </p:nvSpPr>
        <p:spPr/>
        <p:txBody>
          <a:bodyPr/>
          <a:lstStyle/>
          <a:p>
            <a:fld id="{F4BE9479-579B-4718-977A-6CBFD3D09E2D}" type="slidenum">
              <a:rPr kumimoji="1" lang="ja-JP" altLang="en-US" smtClean="0"/>
              <a:t>‹#›</a:t>
            </a:fld>
            <a:endParaRPr kumimoji="1" lang="ja-JP" altLang="en-US"/>
          </a:p>
        </p:txBody>
      </p:sp>
    </p:spTree>
    <p:extLst>
      <p:ext uri="{BB962C8B-B14F-4D97-AF65-F5344CB8AC3E}">
        <p14:creationId xmlns:p14="http://schemas.microsoft.com/office/powerpoint/2010/main" val="6209314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36610099-E74E-E053-8BCB-B4795333C9EC}"/>
              </a:ext>
            </a:extLst>
          </p:cNvPr>
          <p:cNvSpPr>
            <a:spLocks noGrp="1"/>
          </p:cNvSpPr>
          <p:nvPr>
            <p:ph type="dt" sz="half" idx="10"/>
          </p:nvPr>
        </p:nvSpPr>
        <p:spPr/>
        <p:txBody>
          <a:bodyPr/>
          <a:lstStyle/>
          <a:p>
            <a:fld id="{9DAF10FA-37BA-4978-BE68-85FAFC4527ED}" type="datetimeFigureOut">
              <a:rPr kumimoji="1" lang="ja-JP" altLang="en-US" smtClean="0"/>
              <a:t>2026/3/17</a:t>
            </a:fld>
            <a:endParaRPr kumimoji="1" lang="ja-JP" altLang="en-US"/>
          </a:p>
        </p:txBody>
      </p:sp>
      <p:sp>
        <p:nvSpPr>
          <p:cNvPr id="3" name="フッター プレースホルダー 2">
            <a:extLst>
              <a:ext uri="{FF2B5EF4-FFF2-40B4-BE49-F238E27FC236}">
                <a16:creationId xmlns:a16="http://schemas.microsoft.com/office/drawing/2014/main" id="{8C76D52F-FD01-4557-BE9B-56690C6BF4DC}"/>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66EBA8D-FEA6-1BCF-5D81-58479417FB50}"/>
              </a:ext>
            </a:extLst>
          </p:cNvPr>
          <p:cNvSpPr>
            <a:spLocks noGrp="1"/>
          </p:cNvSpPr>
          <p:nvPr>
            <p:ph type="sldNum" sz="quarter" idx="12"/>
          </p:nvPr>
        </p:nvSpPr>
        <p:spPr/>
        <p:txBody>
          <a:bodyPr/>
          <a:lstStyle/>
          <a:p>
            <a:fld id="{F4BE9479-579B-4718-977A-6CBFD3D09E2D}" type="slidenum">
              <a:rPr kumimoji="1" lang="ja-JP" altLang="en-US" smtClean="0"/>
              <a:t>‹#›</a:t>
            </a:fld>
            <a:endParaRPr kumimoji="1" lang="ja-JP" altLang="en-US"/>
          </a:p>
        </p:txBody>
      </p:sp>
    </p:spTree>
    <p:extLst>
      <p:ext uri="{BB962C8B-B14F-4D97-AF65-F5344CB8AC3E}">
        <p14:creationId xmlns:p14="http://schemas.microsoft.com/office/powerpoint/2010/main" val="42826702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641D2F2-DDC2-E600-8680-38115A99ECB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1BD4729-99E4-F2AE-3EA6-F2B80298DA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8CEE2BCD-D1F7-B8F8-21B7-C8E2FF6F00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9381F86-E6EB-B73F-004C-6DBC99911561}"/>
              </a:ext>
            </a:extLst>
          </p:cNvPr>
          <p:cNvSpPr>
            <a:spLocks noGrp="1"/>
          </p:cNvSpPr>
          <p:nvPr>
            <p:ph type="dt" sz="half" idx="10"/>
          </p:nvPr>
        </p:nvSpPr>
        <p:spPr/>
        <p:txBody>
          <a:bodyPr/>
          <a:lstStyle/>
          <a:p>
            <a:fld id="{9DAF10FA-37BA-4978-BE68-85FAFC4527ED}" type="datetimeFigureOut">
              <a:rPr kumimoji="1" lang="ja-JP" altLang="en-US" smtClean="0"/>
              <a:t>2026/3/17</a:t>
            </a:fld>
            <a:endParaRPr kumimoji="1" lang="ja-JP" altLang="en-US"/>
          </a:p>
        </p:txBody>
      </p:sp>
      <p:sp>
        <p:nvSpPr>
          <p:cNvPr id="6" name="フッター プレースホルダー 5">
            <a:extLst>
              <a:ext uri="{FF2B5EF4-FFF2-40B4-BE49-F238E27FC236}">
                <a16:creationId xmlns:a16="http://schemas.microsoft.com/office/drawing/2014/main" id="{41C9652D-4344-D4B4-B8E8-75873A30FAD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48AB90A-CBCA-1D63-7B0B-79C880E7B6C5}"/>
              </a:ext>
            </a:extLst>
          </p:cNvPr>
          <p:cNvSpPr>
            <a:spLocks noGrp="1"/>
          </p:cNvSpPr>
          <p:nvPr>
            <p:ph type="sldNum" sz="quarter" idx="12"/>
          </p:nvPr>
        </p:nvSpPr>
        <p:spPr/>
        <p:txBody>
          <a:bodyPr/>
          <a:lstStyle/>
          <a:p>
            <a:fld id="{F4BE9479-579B-4718-977A-6CBFD3D09E2D}" type="slidenum">
              <a:rPr kumimoji="1" lang="ja-JP" altLang="en-US" smtClean="0"/>
              <a:t>‹#›</a:t>
            </a:fld>
            <a:endParaRPr kumimoji="1" lang="ja-JP" altLang="en-US"/>
          </a:p>
        </p:txBody>
      </p:sp>
    </p:spTree>
    <p:extLst>
      <p:ext uri="{BB962C8B-B14F-4D97-AF65-F5344CB8AC3E}">
        <p14:creationId xmlns:p14="http://schemas.microsoft.com/office/powerpoint/2010/main" val="8559874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D2FC12E-7CF8-FCBC-FFF8-C50E6559830B}"/>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A97E26B9-B363-1DA7-21E0-7B9A8698E4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9A49EFA-B9FE-FEB6-AF76-A181961B6D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D4704E8-3EB6-41DC-15DA-3BCC7B6E7DB0}"/>
              </a:ext>
            </a:extLst>
          </p:cNvPr>
          <p:cNvSpPr>
            <a:spLocks noGrp="1"/>
          </p:cNvSpPr>
          <p:nvPr>
            <p:ph type="dt" sz="half" idx="10"/>
          </p:nvPr>
        </p:nvSpPr>
        <p:spPr/>
        <p:txBody>
          <a:bodyPr/>
          <a:lstStyle/>
          <a:p>
            <a:fld id="{9DAF10FA-37BA-4978-BE68-85FAFC4527ED}" type="datetimeFigureOut">
              <a:rPr kumimoji="1" lang="ja-JP" altLang="en-US" smtClean="0"/>
              <a:t>2026/3/17</a:t>
            </a:fld>
            <a:endParaRPr kumimoji="1" lang="ja-JP" altLang="en-US"/>
          </a:p>
        </p:txBody>
      </p:sp>
      <p:sp>
        <p:nvSpPr>
          <p:cNvPr id="6" name="フッター プレースホルダー 5">
            <a:extLst>
              <a:ext uri="{FF2B5EF4-FFF2-40B4-BE49-F238E27FC236}">
                <a16:creationId xmlns:a16="http://schemas.microsoft.com/office/drawing/2014/main" id="{07EB9D0A-57FE-E3AC-F4DF-723AA9899DC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CAE7028-7ECE-E421-DF8E-B3A7777101AE}"/>
              </a:ext>
            </a:extLst>
          </p:cNvPr>
          <p:cNvSpPr>
            <a:spLocks noGrp="1"/>
          </p:cNvSpPr>
          <p:nvPr>
            <p:ph type="sldNum" sz="quarter" idx="12"/>
          </p:nvPr>
        </p:nvSpPr>
        <p:spPr/>
        <p:txBody>
          <a:bodyPr/>
          <a:lstStyle/>
          <a:p>
            <a:fld id="{F4BE9479-579B-4718-977A-6CBFD3D09E2D}" type="slidenum">
              <a:rPr kumimoji="1" lang="ja-JP" altLang="en-US" smtClean="0"/>
              <a:t>‹#›</a:t>
            </a:fld>
            <a:endParaRPr kumimoji="1" lang="ja-JP" altLang="en-US"/>
          </a:p>
        </p:txBody>
      </p:sp>
    </p:spTree>
    <p:extLst>
      <p:ext uri="{BB962C8B-B14F-4D97-AF65-F5344CB8AC3E}">
        <p14:creationId xmlns:p14="http://schemas.microsoft.com/office/powerpoint/2010/main" val="35873677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9B179F9-AFC5-E1B5-3988-E1158FAD2B94}"/>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08AE399-6190-F419-3226-39D31102136A}"/>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8F14B90-B6FA-6E0A-1C57-9FF94D0D1277}"/>
              </a:ext>
            </a:extLst>
          </p:cNvPr>
          <p:cNvSpPr>
            <a:spLocks noGrp="1"/>
          </p:cNvSpPr>
          <p:nvPr>
            <p:ph type="dt" sz="half" idx="10"/>
          </p:nvPr>
        </p:nvSpPr>
        <p:spPr/>
        <p:txBody>
          <a:bodyPr/>
          <a:lstStyle/>
          <a:p>
            <a:fld id="{9DAF10FA-37BA-4978-BE68-85FAFC4527ED}" type="datetimeFigureOut">
              <a:rPr kumimoji="1" lang="ja-JP" altLang="en-US" smtClean="0"/>
              <a:t>2026/3/17</a:t>
            </a:fld>
            <a:endParaRPr kumimoji="1" lang="ja-JP" altLang="en-US"/>
          </a:p>
        </p:txBody>
      </p:sp>
      <p:sp>
        <p:nvSpPr>
          <p:cNvPr id="5" name="フッター プレースホルダー 4">
            <a:extLst>
              <a:ext uri="{FF2B5EF4-FFF2-40B4-BE49-F238E27FC236}">
                <a16:creationId xmlns:a16="http://schemas.microsoft.com/office/drawing/2014/main" id="{C4514BD6-55DF-8B96-82EA-23789A2CBC8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44EBAA6-0BAB-DD42-D698-8D56BF5A675F}"/>
              </a:ext>
            </a:extLst>
          </p:cNvPr>
          <p:cNvSpPr>
            <a:spLocks noGrp="1"/>
          </p:cNvSpPr>
          <p:nvPr>
            <p:ph type="sldNum" sz="quarter" idx="12"/>
          </p:nvPr>
        </p:nvSpPr>
        <p:spPr/>
        <p:txBody>
          <a:bodyPr/>
          <a:lstStyle/>
          <a:p>
            <a:fld id="{F4BE9479-579B-4718-977A-6CBFD3D09E2D}" type="slidenum">
              <a:rPr kumimoji="1" lang="ja-JP" altLang="en-US" smtClean="0"/>
              <a:t>‹#›</a:t>
            </a:fld>
            <a:endParaRPr kumimoji="1" lang="ja-JP" altLang="en-US"/>
          </a:p>
        </p:txBody>
      </p:sp>
    </p:spTree>
    <p:extLst>
      <p:ext uri="{BB962C8B-B14F-4D97-AF65-F5344CB8AC3E}">
        <p14:creationId xmlns:p14="http://schemas.microsoft.com/office/powerpoint/2010/main" val="32137302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3AC8C39F-F8FF-66CC-1FAA-39DA49BB776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CD09E12-BB46-F0DB-6135-2B8D45E223E7}"/>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5C6ACF5-0376-1B52-66DF-440FDD646904}"/>
              </a:ext>
            </a:extLst>
          </p:cNvPr>
          <p:cNvSpPr>
            <a:spLocks noGrp="1"/>
          </p:cNvSpPr>
          <p:nvPr>
            <p:ph type="dt" sz="half" idx="10"/>
          </p:nvPr>
        </p:nvSpPr>
        <p:spPr/>
        <p:txBody>
          <a:bodyPr/>
          <a:lstStyle/>
          <a:p>
            <a:fld id="{9DAF10FA-37BA-4978-BE68-85FAFC4527ED}" type="datetimeFigureOut">
              <a:rPr kumimoji="1" lang="ja-JP" altLang="en-US" smtClean="0"/>
              <a:t>2026/3/17</a:t>
            </a:fld>
            <a:endParaRPr kumimoji="1" lang="ja-JP" altLang="en-US"/>
          </a:p>
        </p:txBody>
      </p:sp>
      <p:sp>
        <p:nvSpPr>
          <p:cNvPr id="5" name="フッター プレースホルダー 4">
            <a:extLst>
              <a:ext uri="{FF2B5EF4-FFF2-40B4-BE49-F238E27FC236}">
                <a16:creationId xmlns:a16="http://schemas.microsoft.com/office/drawing/2014/main" id="{BCC2C166-2221-2AA8-59B9-C8869A20397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B053B46-CD5B-BFF7-6262-FB7B71857BFE}"/>
              </a:ext>
            </a:extLst>
          </p:cNvPr>
          <p:cNvSpPr>
            <a:spLocks noGrp="1"/>
          </p:cNvSpPr>
          <p:nvPr>
            <p:ph type="sldNum" sz="quarter" idx="12"/>
          </p:nvPr>
        </p:nvSpPr>
        <p:spPr/>
        <p:txBody>
          <a:bodyPr/>
          <a:lstStyle/>
          <a:p>
            <a:fld id="{F4BE9479-579B-4718-977A-6CBFD3D09E2D}" type="slidenum">
              <a:rPr kumimoji="1" lang="ja-JP" altLang="en-US" smtClean="0"/>
              <a:t>‹#›</a:t>
            </a:fld>
            <a:endParaRPr kumimoji="1" lang="ja-JP" altLang="en-US"/>
          </a:p>
        </p:txBody>
      </p:sp>
    </p:spTree>
    <p:extLst>
      <p:ext uri="{BB962C8B-B14F-4D97-AF65-F5344CB8AC3E}">
        <p14:creationId xmlns:p14="http://schemas.microsoft.com/office/powerpoint/2010/main" val="29567524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138F040-EDEF-A4C4-257D-35E19F772C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34353A9-E4D3-718E-5674-357FC1AF7C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225331E-8066-A107-B6E7-CFAF49BEC2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DAF10FA-37BA-4978-BE68-85FAFC4527ED}" type="datetimeFigureOut">
              <a:rPr kumimoji="1" lang="ja-JP" altLang="en-US" smtClean="0"/>
              <a:t>2026/3/17</a:t>
            </a:fld>
            <a:endParaRPr kumimoji="1" lang="ja-JP" altLang="en-US"/>
          </a:p>
        </p:txBody>
      </p:sp>
      <p:sp>
        <p:nvSpPr>
          <p:cNvPr id="5" name="フッター プレースホルダー 4">
            <a:extLst>
              <a:ext uri="{FF2B5EF4-FFF2-40B4-BE49-F238E27FC236}">
                <a16:creationId xmlns:a16="http://schemas.microsoft.com/office/drawing/2014/main" id="{D6EB09DA-9C32-F341-815E-A0C73765FC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7909B591-B318-32F5-2FFB-0994FDAF4D2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4BE9479-579B-4718-977A-6CBFD3D09E2D}" type="slidenum">
              <a:rPr kumimoji="1" lang="ja-JP" altLang="en-US" smtClean="0"/>
              <a:t>‹#›</a:t>
            </a:fld>
            <a:endParaRPr kumimoji="1" lang="ja-JP" altLang="en-US"/>
          </a:p>
        </p:txBody>
      </p:sp>
      <p:sp>
        <p:nvSpPr>
          <p:cNvPr id="900" name="AccentBar"/>
          <p:cNvSpPr/>
          <p:nvPr userDrawn="1"/>
        </p:nvSpPr>
        <p:spPr>
          <a:xfrm>
            <a:off x="0" y="6583680"/>
            <a:ext cx="12192000" cy="274320"/>
          </a:xfrm>
          <a:prstGeom prst="rect">
            <a:avLst/>
          </a:prstGeom>
          <a:gradFill>
            <a:gsLst>
              <a:gs pos="0">
                <a:srgbClr val="7FB3D3"/>
              </a:gs>
              <a:gs pos="33000">
                <a:srgbClr val="A8D5BA"/>
              </a:gs>
              <a:gs pos="66000">
                <a:srgbClr val="F6C89F"/>
              </a:gs>
              <a:gs pos="100000">
                <a:srgbClr val="D4A5C9"/>
              </a:gs>
            </a:gsLst>
            <a:lin ang="0" scaled="1"/>
          </a:gradFill>
          <a:ln w="0">
            <a:noFill/>
          </a:ln>
        </p:spPr>
        <p:txBody>
          <a:bodyPr/>
          <a:lstStyle/>
          <a:p>
            <a:endParaRPr lang="ja-JP"/>
          </a:p>
        </p:txBody>
      </p:sp>
      <p:sp>
        <p:nvSpPr>
          <p:cNvPr id="901" name="TopLine"/>
          <p:cNvSpPr/>
          <p:nvPr userDrawn="1"/>
        </p:nvSpPr>
        <p:spPr>
          <a:xfrm>
            <a:off x="0" y="0"/>
            <a:ext cx="12192000" cy="45720"/>
          </a:xfrm>
          <a:prstGeom prst="rect">
            <a:avLst/>
          </a:prstGeom>
          <a:solidFill>
            <a:srgbClr val="7FB3D3"/>
          </a:solidFill>
          <a:ln w="0">
            <a:noFill/>
          </a:ln>
        </p:spPr>
        <p:txBody>
          <a:bodyPr/>
          <a:lstStyle/>
          <a:p>
            <a:endParaRPr lang="ja-JP"/>
          </a:p>
        </p:txBody>
      </p:sp>
    </p:spTree>
    <p:extLst>
      <p:ext uri="{BB962C8B-B14F-4D97-AF65-F5344CB8AC3E}">
        <p14:creationId xmlns:p14="http://schemas.microsoft.com/office/powerpoint/2010/main" val="4875820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kumimoji="1" sz="4400" kern="1200">
          <a:solidFill>
            <a:srgbClr val="2D3748"/>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rgbClr val="4A5568"/>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LeftAccent"/>
          <p:cNvSpPr/>
          <p:nvPr/>
        </p:nvSpPr>
        <p:spPr>
          <a:xfrm>
            <a:off x="0" y="0"/>
            <a:ext cx="4572000" cy="6858000"/>
          </a:xfrm>
          <a:prstGeom prst="rect">
            <a:avLst/>
          </a:prstGeom>
          <a:solidFill>
            <a:srgbClr val="7FB3D3"/>
          </a:solidFill>
          <a:ln w="0">
            <a:noFill/>
          </a:ln>
        </p:spPr>
        <p:txBody>
          <a:bodyPr/>
          <a:lstStyle/>
          <a:p>
            <a:endParaRPr lang="ja-JP"/>
          </a:p>
        </p:txBody>
      </p:sp>
      <p:sp>
        <p:nvSpPr>
          <p:cNvPr id="11" name="Circle1"/>
          <p:cNvSpPr/>
          <p:nvPr/>
        </p:nvSpPr>
        <p:spPr>
          <a:xfrm>
            <a:off x="9601200" y="-457200"/>
            <a:ext cx="2743200" cy="2743200"/>
          </a:xfrm>
          <a:prstGeom prst="ellipse">
            <a:avLst/>
          </a:prstGeom>
          <a:solidFill>
            <a:srgbClr val="A8D5BA">
              <a:alpha val="20000"/>
            </a:srgbClr>
          </a:solidFill>
          <a:ln w="0">
            <a:noFill/>
          </a:ln>
        </p:spPr>
        <p:txBody>
          <a:bodyPr/>
          <a:lstStyle/>
          <a:p>
            <a:endParaRPr lang="ja-JP"/>
          </a:p>
        </p:txBody>
      </p:sp>
      <p:sp>
        <p:nvSpPr>
          <p:cNvPr id="12" name="Circle2"/>
          <p:cNvSpPr/>
          <p:nvPr/>
        </p:nvSpPr>
        <p:spPr>
          <a:xfrm>
            <a:off x="-457200" y="4572000"/>
            <a:ext cx="2286000" cy="2286000"/>
          </a:xfrm>
          <a:prstGeom prst="ellipse">
            <a:avLst/>
          </a:prstGeom>
          <a:solidFill>
            <a:srgbClr val="F6C89F">
              <a:alpha val="20000"/>
            </a:srgbClr>
          </a:solidFill>
          <a:ln w="0">
            <a:noFill/>
          </a:ln>
        </p:spPr>
        <p:txBody>
          <a:bodyPr/>
          <a:lstStyle/>
          <a:p>
            <a:endParaRPr lang="ja-JP"/>
          </a:p>
        </p:txBody>
      </p:sp>
      <p:sp>
        <p:nvSpPr>
          <p:cNvPr id="13" name="AccLine"/>
          <p:cNvSpPr/>
          <p:nvPr/>
        </p:nvSpPr>
        <p:spPr>
          <a:xfrm>
            <a:off x="1524000" y="2743200"/>
            <a:ext cx="3048000" cy="45720"/>
          </a:xfrm>
          <a:prstGeom prst="rect">
            <a:avLst/>
          </a:prstGeom>
          <a:solidFill>
            <a:srgbClr val="7FB3D3"/>
          </a:solidFill>
          <a:ln w="0">
            <a:noFill/>
          </a:ln>
        </p:spPr>
        <p:txBody>
          <a:bodyPr/>
          <a:lstStyle/>
          <a:p>
            <a:endParaRPr lang="ja-JP"/>
          </a:p>
        </p:txBody>
      </p:sp>
      <p:sp>
        <p:nvSpPr>
          <p:cNvPr id="14" name="Title"/>
          <p:cNvSpPr txBox="1"/>
          <p:nvPr/>
        </p:nvSpPr>
        <p:spPr>
          <a:xfrm>
            <a:off x="1524000" y="1371600"/>
            <a:ext cx="9144000" cy="1371600"/>
          </a:xfrm>
          <a:prstGeom prst="rect">
            <a:avLst/>
          </a:prstGeom>
          <a:noFill/>
        </p:spPr>
        <p:txBody>
          <a:bodyPr wrap="square" anchor="b"/>
          <a:lstStyle/>
          <a:p>
            <a:pPr algn="l">
              <a:buNone/>
            </a:pPr>
            <a:r>
              <a:rPr lang="ja-JP" sz="3600" b="1" dirty="0">
                <a:solidFill>
                  <a:srgbClr val="2D3748"/>
                </a:solidFill>
                <a:latin typeface="BIZ UDPGothic"/>
                <a:ea typeface="BIZ UDPGothic"/>
              </a:rPr>
              <a:t>データ分析プロジェクト提案書</a:t>
            </a:r>
          </a:p>
        </p:txBody>
      </p:sp>
      <p:sp>
        <p:nvSpPr>
          <p:cNvPr id="15" name="Subtitle"/>
          <p:cNvSpPr txBox="1"/>
          <p:nvPr/>
        </p:nvSpPr>
        <p:spPr>
          <a:xfrm>
            <a:off x="1524000" y="2921000"/>
            <a:ext cx="9144000" cy="1143000"/>
          </a:xfrm>
          <a:prstGeom prst="rect">
            <a:avLst/>
          </a:prstGeom>
          <a:noFill/>
        </p:spPr>
        <p:txBody>
          <a:bodyPr wrap="square" anchor="t"/>
          <a:lstStyle/>
          <a:p>
            <a:pPr algn="l">
              <a:buNone/>
            </a:pPr>
            <a:r>
              <a:rPr lang="ja-JP" sz="1800" dirty="0">
                <a:solidFill>
                  <a:srgbClr val="4A5568"/>
                </a:solidFill>
                <a:latin typeface="BIZ UDPGothic"/>
                <a:ea typeface="BIZ UDPGothic"/>
              </a:rPr>
              <a:t>定期預金契約予測モデル構築と説明可能な分析基盤の整備</a:t>
            </a:r>
          </a:p>
        </p:txBody>
      </p:sp>
      <p:sp>
        <p:nvSpPr>
          <p:cNvPr id="16" name="Company"/>
          <p:cNvSpPr txBox="1"/>
          <p:nvPr/>
        </p:nvSpPr>
        <p:spPr>
          <a:xfrm>
            <a:off x="1524000" y="4445000"/>
            <a:ext cx="9525000" cy="738664"/>
          </a:xfrm>
          <a:prstGeom prst="rect">
            <a:avLst/>
          </a:prstGeom>
          <a:noFill/>
        </p:spPr>
        <p:txBody>
          <a:bodyPr wrap="square" anchor="t">
            <a:spAutoFit/>
          </a:bodyPr>
          <a:lstStyle/>
          <a:p>
            <a:pPr algn="l">
              <a:buNone/>
            </a:pPr>
            <a:r>
              <a:rPr lang="ja-JP" sz="1400" dirty="0">
                <a:solidFill>
                  <a:srgbClr val="4A5568"/>
                </a:solidFill>
                <a:latin typeface="BIZ UDPGothic"/>
                <a:ea typeface="BIZ UDPGothic"/>
              </a:rPr>
              <a:t>提出先：京橋信用ソリューションズ株式会社</a:t>
            </a:r>
          </a:p>
          <a:p>
            <a:pPr algn="l">
              <a:buNone/>
            </a:pPr>
            <a:r>
              <a:rPr lang="ja-JP" sz="1400" dirty="0">
                <a:solidFill>
                  <a:srgbClr val="4A5568"/>
                </a:solidFill>
                <a:latin typeface="BIZ UDPGothic"/>
                <a:ea typeface="BIZ UDPGothic"/>
              </a:rPr>
              <a:t>リスク管理部 与信モデル統括課</a:t>
            </a:r>
          </a:p>
          <a:p>
            <a:pPr algn="l">
              <a:buNone/>
            </a:pPr>
            <a:r>
              <a:rPr lang="ja-JP" sz="1400" dirty="0">
                <a:solidFill>
                  <a:srgbClr val="7FB3D3"/>
                </a:solidFill>
                <a:latin typeface="BIZ UDPGothic"/>
                <a:ea typeface="BIZ UDPGothic"/>
              </a:rPr>
              <a:t>作成：株式会社データアステル データサイエンス部</a:t>
            </a:r>
          </a:p>
        </p:txBody>
      </p:sp>
      <p:sp>
        <p:nvSpPr>
          <p:cNvPr id="2" name="テキスト ボックス 1">
            <a:extLst>
              <a:ext uri="{FF2B5EF4-FFF2-40B4-BE49-F238E27FC236}">
                <a16:creationId xmlns:a16="http://schemas.microsoft.com/office/drawing/2014/main" id="{DD131ACE-1680-42A0-B8DD-EB46F16CAD3F}"/>
              </a:ext>
            </a:extLst>
          </p:cNvPr>
          <p:cNvSpPr txBox="1"/>
          <p:nvPr/>
        </p:nvSpPr>
        <p:spPr>
          <a:xfrm>
            <a:off x="11430000" y="6375400"/>
            <a:ext cx="508000" cy="317500"/>
          </a:xfrm>
          <a:prstGeom prst="rect">
            <a:avLst/>
          </a:prstGeom>
          <a:noFill/>
        </p:spPr>
        <p:txBody>
          <a:bodyPr vertOverflow="overflow" vert="horz" wrap="none" rtlCol="0" anchor="ctr" anchorCtr="0">
            <a:noAutofit/>
          </a:bodyPr>
          <a:lstStyle/>
          <a:p>
            <a:pPr algn="l"/>
            <a:r>
              <a:rPr lang="en-US" altLang="ja-JP" sz="1400">
                <a:solidFill>
                  <a:srgbClr val="718096"/>
                </a:solidFill>
                <a:latin typeface="BIZ UDPGothic"/>
                <a:ea typeface="BIZ UDPGothic"/>
              </a:rPr>
              <a:t>1</a:t>
            </a:r>
            <a:endParaRPr lang="ja-JP" altLang="en-US" sz="1400">
              <a:solidFill>
                <a:srgbClr val="718096"/>
              </a:solidFill>
              <a:latin typeface="BIZ UDPGothic"/>
              <a:ea typeface="BIZ UDPGothic"/>
            </a:endParaRPr>
          </a:p>
        </p:txBody>
      </p:sp>
    </p:spTree>
    <p:extLst>
      <p:ext uri="{BB962C8B-B14F-4D97-AF65-F5344CB8AC3E}">
        <p14:creationId xmlns:p14="http://schemas.microsoft.com/office/powerpoint/2010/main" val="41528561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p:nvPr/>
        </p:nvSpPr>
        <p:spPr>
          <a:xfrm>
            <a:off x="0" y="58000"/>
            <a:ext cx="12192000" cy="640000"/>
          </a:xfrm>
          <a:prstGeom prst="rect">
            <a:avLst/>
          </a:prstGeom>
          <a:solidFill>
            <a:srgbClr val="7FB3D3"/>
          </a:solidFill>
          <a:ln w="0">
            <a:noFill/>
          </a:ln>
        </p:spPr>
        <p:txBody>
          <a:bodyPr wrap="square" lIns="91440" tIns="45720" rIns="91440" bIns="45720" anchor="ctr"/>
          <a:lstStyle/>
          <a:p>
            <a:pPr algn="ctr">
              <a:buNone/>
            </a:pPr>
            <a:r>
              <a:rPr lang="ja-JP" sz="2400" b="1" dirty="0">
                <a:solidFill>
                  <a:srgbClr val="FFFFFF"/>
                </a:solidFill>
                <a:latin typeface="BIZ UDPGothic"/>
                <a:ea typeface="BIZ UDPGothic"/>
              </a:rPr>
              <a:t>1. 背景</a:t>
            </a:r>
          </a:p>
        </p:txBody>
      </p:sp>
      <p:sp>
        <p:nvSpPr>
          <p:cNvPr id="11" name="Desc"/>
          <p:cNvSpPr txBox="1"/>
          <p:nvPr/>
        </p:nvSpPr>
        <p:spPr>
          <a:xfrm>
            <a:off x="457200" y="780000"/>
            <a:ext cx="11277600" cy="1050000"/>
          </a:xfrm>
          <a:prstGeom prst="rect">
            <a:avLst/>
          </a:prstGeom>
          <a:noFill/>
        </p:spPr>
        <p:txBody>
          <a:bodyPr wrap="square" anchor="t"/>
          <a:lstStyle/>
          <a:p>
            <a:pPr algn="l">
              <a:buNone/>
            </a:pPr>
            <a:r>
              <a:rPr lang="ja-JP" sz="1400" dirty="0">
                <a:solidFill>
                  <a:srgbClr val="2D3748"/>
                </a:solidFill>
                <a:latin typeface="BIZ UDPGothic"/>
                <a:ea typeface="BIZ UDPGothic"/>
              </a:rPr>
              <a:t>京橋信用ソリューションズ株式会社 リスク管理部 与信モデル統括課において、金融商品提案および顧客接触施策の高度化に向け、顧客ごとの契約見込みを定量的に把握し、説明可能な形で活用できる分析基盤の整備が求められている。本プロジェクトでは、27,128件・18カラムの顧客データを用い、定期預金等の契約有無を予測する初期版モデルを構築する。</a:t>
            </a:r>
          </a:p>
        </p:txBody>
      </p:sp>
      <p:sp>
        <p:nvSpPr>
          <p:cNvPr id="12" name="IssueLabel"/>
          <p:cNvSpPr/>
          <p:nvPr/>
        </p:nvSpPr>
        <p:spPr>
          <a:xfrm>
            <a:off x="457200" y="1900000"/>
            <a:ext cx="2743200" cy="400000"/>
          </a:xfrm>
          <a:prstGeom prst="roundRect">
            <a:avLst/>
          </a:prstGeom>
          <a:solidFill>
            <a:srgbClr val="7FB3D3"/>
          </a:solidFill>
          <a:ln w="0">
            <a:noFill/>
          </a:ln>
        </p:spPr>
        <p:txBody>
          <a:bodyPr wrap="square" lIns="91440" tIns="45720" rIns="91440" bIns="45720" anchor="ctr"/>
          <a:lstStyle/>
          <a:p>
            <a:pPr algn="ctr">
              <a:buNone/>
            </a:pPr>
            <a:r>
              <a:rPr lang="ja-JP" sz="1600" b="1" dirty="0">
                <a:solidFill>
                  <a:srgbClr val="FFFFFF"/>
                </a:solidFill>
                <a:latin typeface="BIZ UDPGothic"/>
                <a:ea typeface="BIZ UDPGothic"/>
              </a:rPr>
              <a:t>現状の課題</a:t>
            </a:r>
          </a:p>
        </p:txBody>
      </p:sp>
      <p:sp>
        <p:nvSpPr>
          <p:cNvPr id="20" name="Card0"/>
          <p:cNvSpPr/>
          <p:nvPr/>
        </p:nvSpPr>
        <p:spPr>
          <a:xfrm>
            <a:off x="457200" y="2450000"/>
            <a:ext cx="2057400" cy="1700000"/>
          </a:xfrm>
          <a:prstGeom prst="roundRect">
            <a:avLst>
              <a:gd name="adj" fmla="val 8000"/>
            </a:avLst>
          </a:prstGeom>
          <a:solidFill>
            <a:srgbClr val="EBF5FB"/>
          </a:solidFill>
          <a:ln w="12700">
            <a:solidFill>
              <a:srgbClr val="7FB3D3"/>
            </a:solidFill>
          </a:ln>
        </p:spPr>
        <p:txBody>
          <a:bodyPr wrap="square" lIns="91440" tIns="91440" rIns="91440" bIns="45720" anchor="t"/>
          <a:lstStyle/>
          <a:p>
            <a:pPr algn="ctr">
              <a:buNone/>
            </a:pPr>
            <a:r>
              <a:rPr lang="ja-JP" sz="1400" b="1" dirty="0">
                <a:solidFill>
                  <a:srgbClr val="2D3748"/>
                </a:solidFill>
                <a:latin typeface="BIZ UDPGothic"/>
                <a:ea typeface="BIZ UDPGothic"/>
              </a:rPr>
              <a:t>経験則依存</a:t>
            </a:r>
          </a:p>
          <a:p>
            <a:pPr algn="ctr">
              <a:buNone/>
            </a:pPr>
            <a:r>
              <a:rPr lang="ja-JP" sz="1200" dirty="0">
                <a:solidFill>
                  <a:srgbClr val="4A5568"/>
                </a:solidFill>
                <a:latin typeface="BIZ UDPGothic"/>
                <a:ea typeface="BIZ UDPGothic"/>
              </a:rPr>
              <a:t>経験則に依存した接触判断が行われている</a:t>
            </a:r>
          </a:p>
        </p:txBody>
      </p:sp>
      <p:sp>
        <p:nvSpPr>
          <p:cNvPr id="21" name="Card1"/>
          <p:cNvSpPr/>
          <p:nvPr/>
        </p:nvSpPr>
        <p:spPr>
          <a:xfrm>
            <a:off x="2667000" y="2450000"/>
            <a:ext cx="2057400" cy="1700000"/>
          </a:xfrm>
          <a:prstGeom prst="roundRect">
            <a:avLst>
              <a:gd name="adj" fmla="val 8000"/>
            </a:avLst>
          </a:prstGeom>
          <a:solidFill>
            <a:srgbClr val="E8F8F5"/>
          </a:solidFill>
          <a:ln w="12700">
            <a:solidFill>
              <a:srgbClr val="A8D5BA"/>
            </a:solidFill>
          </a:ln>
        </p:spPr>
        <p:txBody>
          <a:bodyPr wrap="square" lIns="91440" tIns="91440" rIns="91440" bIns="45720" anchor="t"/>
          <a:lstStyle/>
          <a:p>
            <a:pPr algn="ctr">
              <a:buNone/>
            </a:pPr>
            <a:r>
              <a:rPr lang="ja-JP" sz="1400" b="1" dirty="0">
                <a:solidFill>
                  <a:srgbClr val="2D3748"/>
                </a:solidFill>
                <a:latin typeface="BIZ UDPGothic"/>
                <a:ea typeface="BIZ UDPGothic"/>
              </a:rPr>
              <a:t>データ活用不足</a:t>
            </a:r>
          </a:p>
          <a:p>
            <a:pPr algn="ctr">
              <a:buNone/>
            </a:pPr>
            <a:r>
              <a:rPr lang="ja-JP" sz="1200" dirty="0">
                <a:solidFill>
                  <a:srgbClr val="4A5568"/>
                </a:solidFill>
                <a:latin typeface="BIZ UDPGothic"/>
                <a:ea typeface="BIZ UDPGothic"/>
              </a:rPr>
              <a:t>接触履歴データの十分な活用ができていない</a:t>
            </a:r>
          </a:p>
        </p:txBody>
      </p:sp>
      <p:sp>
        <p:nvSpPr>
          <p:cNvPr id="22" name="Card2"/>
          <p:cNvSpPr/>
          <p:nvPr/>
        </p:nvSpPr>
        <p:spPr>
          <a:xfrm>
            <a:off x="4876800" y="2450000"/>
            <a:ext cx="2057400" cy="1700000"/>
          </a:xfrm>
          <a:prstGeom prst="roundRect">
            <a:avLst>
              <a:gd name="adj" fmla="val 8000"/>
            </a:avLst>
          </a:prstGeom>
          <a:solidFill>
            <a:srgbClr val="FEF5E7"/>
          </a:solidFill>
          <a:ln w="12700">
            <a:solidFill>
              <a:srgbClr val="F6C89F"/>
            </a:solidFill>
          </a:ln>
        </p:spPr>
        <p:txBody>
          <a:bodyPr wrap="square" lIns="91440" tIns="91440" rIns="91440" bIns="45720" anchor="t"/>
          <a:lstStyle/>
          <a:p>
            <a:pPr algn="ctr">
              <a:buNone/>
            </a:pPr>
            <a:r>
              <a:rPr lang="ja-JP" sz="1400" b="1" dirty="0">
                <a:solidFill>
                  <a:srgbClr val="2D3748"/>
                </a:solidFill>
                <a:latin typeface="BIZ UDPGothic"/>
                <a:ea typeface="BIZ UDPGothic"/>
              </a:rPr>
              <a:t>評価誤認リスク</a:t>
            </a:r>
          </a:p>
          <a:p>
            <a:pPr algn="ctr">
              <a:buNone/>
            </a:pPr>
            <a:r>
              <a:rPr lang="ja-JP" sz="1200" dirty="0">
                <a:solidFill>
                  <a:srgbClr val="4A5568"/>
                </a:solidFill>
                <a:latin typeface="BIZ UDPGothic"/>
                <a:ea typeface="BIZ UDPGothic"/>
              </a:rPr>
              <a:t>不均衡データ下での評価誤認リスクが存在する</a:t>
            </a:r>
          </a:p>
        </p:txBody>
      </p:sp>
      <p:sp>
        <p:nvSpPr>
          <p:cNvPr id="23" name="Card3"/>
          <p:cNvSpPr/>
          <p:nvPr/>
        </p:nvSpPr>
        <p:spPr>
          <a:xfrm>
            <a:off x="7086600" y="2450000"/>
            <a:ext cx="2057400" cy="1700000"/>
          </a:xfrm>
          <a:prstGeom prst="roundRect">
            <a:avLst>
              <a:gd name="adj" fmla="val 8000"/>
            </a:avLst>
          </a:prstGeom>
          <a:solidFill>
            <a:srgbClr val="F5EEF8"/>
          </a:solidFill>
          <a:ln w="12700">
            <a:solidFill>
              <a:srgbClr val="D4A5C9"/>
            </a:solidFill>
          </a:ln>
        </p:spPr>
        <p:txBody>
          <a:bodyPr wrap="square" lIns="91440" tIns="91440" rIns="91440" bIns="45720" anchor="t"/>
          <a:lstStyle/>
          <a:p>
            <a:pPr algn="ctr">
              <a:buNone/>
            </a:pPr>
            <a:r>
              <a:rPr lang="ja-JP" sz="1400" b="1" dirty="0">
                <a:solidFill>
                  <a:srgbClr val="2D3748"/>
                </a:solidFill>
                <a:latin typeface="BIZ UDPGothic"/>
                <a:ea typeface="BIZ UDPGothic"/>
              </a:rPr>
              <a:t>特別値の扱い</a:t>
            </a:r>
          </a:p>
          <a:p>
            <a:pPr algn="ctr">
              <a:buNone/>
            </a:pPr>
            <a:r>
              <a:rPr lang="ja-JP" sz="1200" dirty="0">
                <a:solidFill>
                  <a:srgbClr val="4A5568"/>
                </a:solidFill>
                <a:latin typeface="BIZ UDPGothic"/>
                <a:ea typeface="BIZ UDPGothic"/>
              </a:rPr>
              <a:t>業務上の特別値や不明値カテゴリの適切な処理が未整備</a:t>
            </a:r>
          </a:p>
        </p:txBody>
      </p:sp>
      <p:sp>
        <p:nvSpPr>
          <p:cNvPr id="24" name="Card4"/>
          <p:cNvSpPr/>
          <p:nvPr/>
        </p:nvSpPr>
        <p:spPr>
          <a:xfrm>
            <a:off x="9296400" y="2450000"/>
            <a:ext cx="2057400" cy="1700000"/>
          </a:xfrm>
          <a:prstGeom prst="roundRect">
            <a:avLst>
              <a:gd name="adj" fmla="val 8000"/>
            </a:avLst>
          </a:prstGeom>
          <a:solidFill>
            <a:srgbClr val="FDEDEC"/>
          </a:solidFill>
          <a:ln w="12700">
            <a:solidFill>
              <a:srgbClr val="F9B9B7"/>
            </a:solidFill>
          </a:ln>
        </p:spPr>
        <p:txBody>
          <a:bodyPr wrap="square" lIns="91440" tIns="91440" rIns="91440" bIns="45720" anchor="t"/>
          <a:lstStyle/>
          <a:p>
            <a:pPr algn="ctr">
              <a:buNone/>
            </a:pPr>
            <a:r>
              <a:rPr lang="ja-JP" sz="1400" b="1" dirty="0">
                <a:solidFill>
                  <a:srgbClr val="2D3748"/>
                </a:solidFill>
                <a:latin typeface="BIZ UDPGothic"/>
                <a:ea typeface="BIZ UDPGothic"/>
              </a:rPr>
              <a:t>短期間の成果</a:t>
            </a:r>
          </a:p>
          <a:p>
            <a:pPr algn="ctr">
              <a:buNone/>
            </a:pPr>
            <a:r>
              <a:rPr lang="ja-JP" sz="1200" dirty="0">
                <a:solidFill>
                  <a:srgbClr val="4A5568"/>
                </a:solidFill>
                <a:latin typeface="BIZ UDPGothic"/>
                <a:ea typeface="BIZ UDPGothic"/>
              </a:rPr>
              <a:t>短期間での実務接続可能な成果創出が求められている</a:t>
            </a:r>
          </a:p>
        </p:txBody>
      </p:sp>
      <p:sp>
        <p:nvSpPr>
          <p:cNvPr id="30" name="Emphasis"/>
          <p:cNvSpPr/>
          <p:nvPr/>
        </p:nvSpPr>
        <p:spPr>
          <a:xfrm>
            <a:off x="457200" y="4400000"/>
            <a:ext cx="11277600" cy="700000"/>
          </a:xfrm>
          <a:prstGeom prst="roundRect">
            <a:avLst>
              <a:gd name="adj" fmla="val 8000"/>
            </a:avLst>
          </a:prstGeom>
          <a:solidFill>
            <a:srgbClr val="7FB3D3">
              <a:alpha val="15000"/>
            </a:srgbClr>
          </a:solidFill>
          <a:ln w="19050">
            <a:solidFill>
              <a:srgbClr val="7FB3D3"/>
            </a:solidFill>
          </a:ln>
        </p:spPr>
        <p:txBody>
          <a:bodyPr wrap="square" lIns="182880" rIns="91440" anchor="ctr"/>
          <a:lstStyle/>
          <a:p>
            <a:pPr algn="l">
              <a:buNone/>
            </a:pPr>
            <a:r>
              <a:rPr lang="ja-JP" sz="1400" b="1" dirty="0">
                <a:solidFill>
                  <a:srgbClr val="2D3748"/>
                </a:solidFill>
                <a:latin typeface="BIZ UDPGothic"/>
                <a:ea typeface="BIZ UDPGothic"/>
              </a:rPr>
              <a:t>▶ 本提案では精度のみならず、業務判断に耐える説明性と統制可能性を重視した分析を実施する</a:t>
            </a:r>
          </a:p>
        </p:txBody>
      </p:sp>
      <p:sp>
        <p:nvSpPr>
          <p:cNvPr id="2" name="テキスト ボックス 1">
            <a:extLst>
              <a:ext uri="{FF2B5EF4-FFF2-40B4-BE49-F238E27FC236}">
                <a16:creationId xmlns:a16="http://schemas.microsoft.com/office/drawing/2014/main" id="{8807FA65-9AF7-41C3-8C55-6B163BE29413}"/>
              </a:ext>
            </a:extLst>
          </p:cNvPr>
          <p:cNvSpPr txBox="1"/>
          <p:nvPr/>
        </p:nvSpPr>
        <p:spPr>
          <a:xfrm>
            <a:off x="11430000" y="6375400"/>
            <a:ext cx="508000" cy="317500"/>
          </a:xfrm>
          <a:prstGeom prst="rect">
            <a:avLst/>
          </a:prstGeom>
          <a:noFill/>
        </p:spPr>
        <p:txBody>
          <a:bodyPr vertOverflow="overflow" vert="horz" wrap="none" rtlCol="0" anchor="ctr" anchorCtr="0">
            <a:noAutofit/>
          </a:bodyPr>
          <a:lstStyle/>
          <a:p>
            <a:pPr algn="l"/>
            <a:r>
              <a:rPr lang="en-US" altLang="ja-JP" sz="1400">
                <a:solidFill>
                  <a:srgbClr val="718096"/>
                </a:solidFill>
                <a:latin typeface="BIZ UDPGothic"/>
                <a:ea typeface="BIZ UDPGothic"/>
              </a:rPr>
              <a:t>2</a:t>
            </a:r>
            <a:endParaRPr lang="ja-JP" altLang="en-US" sz="1400">
              <a:solidFill>
                <a:srgbClr val="718096"/>
              </a:solidFill>
              <a:latin typeface="BIZ UDPGothic"/>
              <a:ea typeface="BIZ UDPGothic"/>
            </a:endParaRPr>
          </a:p>
        </p:txBody>
      </p:sp>
    </p:spTree>
    <p:extLst>
      <p:ext uri="{BB962C8B-B14F-4D97-AF65-F5344CB8AC3E}">
        <p14:creationId xmlns:p14="http://schemas.microsoft.com/office/powerpoint/2010/main" val="36181792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p:nvPr/>
        </p:nvSpPr>
        <p:spPr>
          <a:xfrm>
            <a:off x="0" y="58000"/>
            <a:ext cx="12192000" cy="640000"/>
          </a:xfrm>
          <a:prstGeom prst="rect">
            <a:avLst/>
          </a:prstGeom>
          <a:solidFill>
            <a:srgbClr val="7FB3D3"/>
          </a:solidFill>
          <a:ln w="0">
            <a:noFill/>
          </a:ln>
        </p:spPr>
        <p:txBody>
          <a:bodyPr wrap="square" anchor="ctr"/>
          <a:lstStyle/>
          <a:p>
            <a:pPr algn="ctr">
              <a:buNone/>
            </a:pPr>
            <a:r>
              <a:rPr lang="ja-JP" sz="2400" b="1" dirty="0">
                <a:solidFill>
                  <a:srgbClr val="FFFFFF"/>
                </a:solidFill>
                <a:latin typeface="BIZ UDPGothic"/>
                <a:ea typeface="BIZ UDPGothic"/>
              </a:rPr>
              <a:t>2. 目的</a:t>
            </a:r>
          </a:p>
        </p:txBody>
      </p:sp>
      <p:sp>
        <p:nvSpPr>
          <p:cNvPr id="11" name="Purpose"/>
          <p:cNvSpPr txBox="1"/>
          <p:nvPr/>
        </p:nvSpPr>
        <p:spPr>
          <a:xfrm>
            <a:off x="457200" y="780000"/>
            <a:ext cx="11277600" cy="620000"/>
          </a:xfrm>
          <a:prstGeom prst="roundRect">
            <a:avLst>
              <a:gd name="adj" fmla="val 8000"/>
            </a:avLst>
          </a:prstGeom>
          <a:solidFill>
            <a:srgbClr val="EBF5FB"/>
          </a:solidFill>
          <a:ln w="0">
            <a:noFill/>
          </a:ln>
        </p:spPr>
        <p:txBody>
          <a:bodyPr wrap="square" lIns="182880" rIns="182880" anchor="ctr"/>
          <a:lstStyle/>
          <a:p>
            <a:pPr algn="l">
              <a:buNone/>
            </a:pPr>
            <a:r>
              <a:rPr lang="ja-JP" sz="1400" b="1" dirty="0">
                <a:solidFill>
                  <a:srgbClr val="2D3748"/>
                </a:solidFill>
                <a:latin typeface="BIZ UDPGothic"/>
                <a:ea typeface="BIZ UDPGothic"/>
              </a:rPr>
              <a:t>顧客属性・接触履歴・過去キャンペーン結果を用いて、定期預金等の契約有無（y）を予測する分析モデルの初期版を構築し、実務で利用可能な説明可能な判断材料を整備する</a:t>
            </a:r>
          </a:p>
        </p:txBody>
      </p:sp>
      <p:sp>
        <p:nvSpPr>
          <p:cNvPr id="20" name="Num0"/>
          <p:cNvSpPr/>
          <p:nvPr/>
        </p:nvSpPr>
        <p:spPr>
          <a:xfrm>
            <a:off x="548640" y="1611440"/>
            <a:ext cx="457200" cy="457200"/>
          </a:xfrm>
          <a:prstGeom prst="ellipse">
            <a:avLst/>
          </a:prstGeom>
          <a:solidFill>
            <a:srgbClr val="7FB3D3"/>
          </a:solidFill>
          <a:ln w="0">
            <a:noFill/>
          </a:ln>
        </p:spPr>
        <p:txBody>
          <a:bodyPr wrap="none" lIns="0" tIns="0" rIns="0" bIns="0" anchor="ctr"/>
          <a:lstStyle/>
          <a:p>
            <a:pPr algn="ctr">
              <a:buNone/>
            </a:pPr>
            <a:r>
              <a:rPr lang="en-US" sz="1600" b="1" dirty="0">
                <a:solidFill>
                  <a:srgbClr val="FFFFFF"/>
                </a:solidFill>
                <a:latin typeface="BIZ UDPGothic"/>
                <a:ea typeface="BIZ UDPGothic"/>
              </a:rPr>
              <a:t>01</a:t>
            </a:r>
          </a:p>
        </p:txBody>
      </p:sp>
      <p:sp>
        <p:nvSpPr>
          <p:cNvPr id="21" name="ObjCard0"/>
          <p:cNvSpPr/>
          <p:nvPr/>
        </p:nvSpPr>
        <p:spPr>
          <a:xfrm>
            <a:off x="457200" y="1520000"/>
            <a:ext cx="3581400" cy="1350000"/>
          </a:xfrm>
          <a:prstGeom prst="roundRect">
            <a:avLst>
              <a:gd name="adj" fmla="val 6000"/>
            </a:avLst>
          </a:prstGeom>
          <a:solidFill>
            <a:srgbClr val="EBF5FB"/>
          </a:solidFill>
          <a:ln w="12700">
            <a:solidFill>
              <a:srgbClr val="7FB3D3"/>
            </a:solidFill>
          </a:ln>
        </p:spPr>
        <p:txBody>
          <a:bodyPr wrap="square" lIns="640080" tIns="91440" rIns="91440" bIns="91440" anchor="ctr"/>
          <a:lstStyle/>
          <a:p>
            <a:pPr algn="l">
              <a:buNone/>
            </a:pPr>
            <a:r>
              <a:rPr lang="ja-JP" sz="1500" b="1" dirty="0">
                <a:solidFill>
                  <a:srgbClr val="2D3748"/>
                </a:solidFill>
                <a:latin typeface="BIZ UDPGothic"/>
                <a:ea typeface="BIZ UDPGothic"/>
              </a:rPr>
              <a:t>定量的な顧客抽出</a:t>
            </a:r>
          </a:p>
          <a:p>
            <a:pPr algn="l">
              <a:buNone/>
            </a:pPr>
            <a:r>
              <a:rPr lang="ja-JP" sz="1200" dirty="0">
                <a:solidFill>
                  <a:srgbClr val="4A5568"/>
                </a:solidFill>
                <a:latin typeface="BIZ UDPGothic"/>
                <a:ea typeface="BIZ UDPGothic"/>
              </a:rPr>
              <a:t>契約見込みの高い顧客群を定量的に抽出可能とする</a:t>
            </a:r>
          </a:p>
        </p:txBody>
      </p:sp>
      <p:sp>
        <p:nvSpPr>
          <p:cNvPr id="22" name="Num1"/>
          <p:cNvSpPr/>
          <p:nvPr/>
        </p:nvSpPr>
        <p:spPr>
          <a:xfrm>
            <a:off x="4312920" y="1611440"/>
            <a:ext cx="457200" cy="457200"/>
          </a:xfrm>
          <a:prstGeom prst="ellipse">
            <a:avLst/>
          </a:prstGeom>
          <a:solidFill>
            <a:srgbClr val="A8D5BA"/>
          </a:solidFill>
          <a:ln w="0">
            <a:noFill/>
          </a:ln>
        </p:spPr>
        <p:txBody>
          <a:bodyPr wrap="none" lIns="0" tIns="0" rIns="0" bIns="0" anchor="ctr"/>
          <a:lstStyle/>
          <a:p>
            <a:pPr algn="ctr">
              <a:buNone/>
            </a:pPr>
            <a:r>
              <a:rPr lang="en-US" sz="1600" b="1" dirty="0">
                <a:solidFill>
                  <a:srgbClr val="FFFFFF"/>
                </a:solidFill>
                <a:latin typeface="BIZ UDPGothic"/>
                <a:ea typeface="BIZ UDPGothic"/>
              </a:rPr>
              <a:t>02</a:t>
            </a:r>
          </a:p>
        </p:txBody>
      </p:sp>
      <p:sp>
        <p:nvSpPr>
          <p:cNvPr id="23" name="ObjCard1"/>
          <p:cNvSpPr/>
          <p:nvPr/>
        </p:nvSpPr>
        <p:spPr>
          <a:xfrm>
            <a:off x="4221480" y="1520000"/>
            <a:ext cx="3581400" cy="1350000"/>
          </a:xfrm>
          <a:prstGeom prst="roundRect">
            <a:avLst>
              <a:gd name="adj" fmla="val 6000"/>
            </a:avLst>
          </a:prstGeom>
          <a:solidFill>
            <a:srgbClr val="E8F8F5"/>
          </a:solidFill>
          <a:ln w="12700">
            <a:solidFill>
              <a:srgbClr val="A8D5BA"/>
            </a:solidFill>
          </a:ln>
        </p:spPr>
        <p:txBody>
          <a:bodyPr wrap="square" lIns="640080" tIns="91440" rIns="91440" bIns="91440" anchor="ctr"/>
          <a:lstStyle/>
          <a:p>
            <a:pPr algn="l">
              <a:buNone/>
            </a:pPr>
            <a:r>
              <a:rPr lang="ja-JP" sz="1500" b="1" dirty="0">
                <a:solidFill>
                  <a:srgbClr val="2D3748"/>
                </a:solidFill>
                <a:latin typeface="BIZ UDPGothic"/>
                <a:ea typeface="BIZ UDPGothic"/>
              </a:rPr>
              <a:t>分類性能の評価</a:t>
            </a:r>
          </a:p>
          <a:p>
            <a:pPr algn="l">
              <a:buNone/>
            </a:pPr>
            <a:r>
              <a:rPr lang="ja-JP" sz="1200" dirty="0">
                <a:solidFill>
                  <a:srgbClr val="4A5568"/>
                </a:solidFill>
                <a:latin typeface="BIZ UDPGothic"/>
                <a:ea typeface="BIZ UDPGothic"/>
              </a:rPr>
              <a:t>AUC、Accuracy、Precision、Recall、F1等により分類性能を評価可能とする</a:t>
            </a:r>
          </a:p>
        </p:txBody>
      </p:sp>
      <p:sp>
        <p:nvSpPr>
          <p:cNvPr id="24" name="Num2"/>
          <p:cNvSpPr/>
          <p:nvPr/>
        </p:nvSpPr>
        <p:spPr>
          <a:xfrm>
            <a:off x="8077200" y="1611440"/>
            <a:ext cx="457200" cy="457200"/>
          </a:xfrm>
          <a:prstGeom prst="ellipse">
            <a:avLst/>
          </a:prstGeom>
          <a:solidFill>
            <a:srgbClr val="F6C89F"/>
          </a:solidFill>
          <a:ln w="0">
            <a:noFill/>
          </a:ln>
        </p:spPr>
        <p:txBody>
          <a:bodyPr wrap="none" lIns="0" tIns="0" rIns="0" bIns="0" anchor="ctr"/>
          <a:lstStyle/>
          <a:p>
            <a:pPr algn="ctr">
              <a:buNone/>
            </a:pPr>
            <a:r>
              <a:rPr lang="en-US" sz="1600" b="1" dirty="0">
                <a:solidFill>
                  <a:srgbClr val="FFFFFF"/>
                </a:solidFill>
                <a:latin typeface="BIZ UDPGothic"/>
                <a:ea typeface="BIZ UDPGothic"/>
              </a:rPr>
              <a:t>03</a:t>
            </a:r>
          </a:p>
        </p:txBody>
      </p:sp>
      <p:sp>
        <p:nvSpPr>
          <p:cNvPr id="25" name="ObjCard2"/>
          <p:cNvSpPr/>
          <p:nvPr/>
        </p:nvSpPr>
        <p:spPr>
          <a:xfrm>
            <a:off x="7985760" y="1520000"/>
            <a:ext cx="3581400" cy="1350000"/>
          </a:xfrm>
          <a:prstGeom prst="roundRect">
            <a:avLst>
              <a:gd name="adj" fmla="val 6000"/>
            </a:avLst>
          </a:prstGeom>
          <a:solidFill>
            <a:srgbClr val="FEF5E7"/>
          </a:solidFill>
          <a:ln w="12700">
            <a:solidFill>
              <a:srgbClr val="F6C89F"/>
            </a:solidFill>
          </a:ln>
        </p:spPr>
        <p:txBody>
          <a:bodyPr wrap="square" lIns="640080" tIns="91440" rIns="91440" bIns="91440" anchor="ctr"/>
          <a:lstStyle/>
          <a:p>
            <a:pPr algn="l">
              <a:buNone/>
            </a:pPr>
            <a:r>
              <a:rPr lang="ja-JP" sz="1500" b="1" dirty="0">
                <a:solidFill>
                  <a:srgbClr val="2D3748"/>
                </a:solidFill>
                <a:latin typeface="BIZ UDPGothic"/>
                <a:ea typeface="BIZ UDPGothic"/>
              </a:rPr>
              <a:t>接触優先順位付け</a:t>
            </a:r>
          </a:p>
          <a:p>
            <a:pPr algn="l">
              <a:buNone/>
            </a:pPr>
            <a:r>
              <a:rPr lang="ja-JP" sz="1200" dirty="0">
                <a:solidFill>
                  <a:srgbClr val="4A5568"/>
                </a:solidFill>
                <a:latin typeface="BIZ UDPGothic"/>
                <a:ea typeface="BIZ UDPGothic"/>
              </a:rPr>
              <a:t>上位スコア群における契約率を可視化し、接触優先順位付けに利用可能とする</a:t>
            </a:r>
          </a:p>
        </p:txBody>
      </p:sp>
      <p:sp>
        <p:nvSpPr>
          <p:cNvPr id="26" name="Num3"/>
          <p:cNvSpPr/>
          <p:nvPr/>
        </p:nvSpPr>
        <p:spPr>
          <a:xfrm>
            <a:off x="548640" y="3144320"/>
            <a:ext cx="457200" cy="457200"/>
          </a:xfrm>
          <a:prstGeom prst="ellipse">
            <a:avLst/>
          </a:prstGeom>
          <a:solidFill>
            <a:srgbClr val="D4A5C9"/>
          </a:solidFill>
          <a:ln w="0">
            <a:noFill/>
          </a:ln>
        </p:spPr>
        <p:txBody>
          <a:bodyPr wrap="none" lIns="0" tIns="0" rIns="0" bIns="0" anchor="ctr"/>
          <a:lstStyle/>
          <a:p>
            <a:pPr algn="ctr">
              <a:buNone/>
            </a:pPr>
            <a:r>
              <a:rPr lang="en-US" sz="1600" b="1" dirty="0">
                <a:solidFill>
                  <a:srgbClr val="FFFFFF"/>
                </a:solidFill>
                <a:latin typeface="BIZ UDPGothic"/>
                <a:ea typeface="BIZ UDPGothic"/>
              </a:rPr>
              <a:t>04</a:t>
            </a:r>
          </a:p>
        </p:txBody>
      </p:sp>
      <p:sp>
        <p:nvSpPr>
          <p:cNvPr id="27" name="ObjCard3"/>
          <p:cNvSpPr/>
          <p:nvPr/>
        </p:nvSpPr>
        <p:spPr>
          <a:xfrm>
            <a:off x="457200" y="3052880"/>
            <a:ext cx="3581400" cy="1350000"/>
          </a:xfrm>
          <a:prstGeom prst="roundRect">
            <a:avLst>
              <a:gd name="adj" fmla="val 6000"/>
            </a:avLst>
          </a:prstGeom>
          <a:solidFill>
            <a:srgbClr val="F5EEF8"/>
          </a:solidFill>
          <a:ln w="12700">
            <a:solidFill>
              <a:srgbClr val="D4A5C9"/>
            </a:solidFill>
          </a:ln>
        </p:spPr>
        <p:txBody>
          <a:bodyPr wrap="square" lIns="640080" tIns="91440" rIns="91440" bIns="91440" anchor="ctr"/>
          <a:lstStyle/>
          <a:p>
            <a:pPr algn="l">
              <a:buNone/>
            </a:pPr>
            <a:r>
              <a:rPr lang="ja-JP" sz="1500" b="1" dirty="0">
                <a:solidFill>
                  <a:srgbClr val="2D3748"/>
                </a:solidFill>
                <a:latin typeface="BIZ UDPGothic"/>
                <a:ea typeface="BIZ UDPGothic"/>
              </a:rPr>
              <a:t>説明可能性の確保</a:t>
            </a:r>
          </a:p>
          <a:p>
            <a:pPr algn="l">
              <a:buNone/>
            </a:pPr>
            <a:r>
              <a:rPr lang="ja-JP" sz="1200" dirty="0">
                <a:solidFill>
                  <a:srgbClr val="4A5568"/>
                </a:solidFill>
                <a:latin typeface="BIZ UDPGothic"/>
                <a:ea typeface="BIZ UDPGothic"/>
              </a:rPr>
              <a:t>重要変数、方向性、個票レベルの説明例を提示し、説明可能性を確保する</a:t>
            </a:r>
          </a:p>
        </p:txBody>
      </p:sp>
      <p:sp>
        <p:nvSpPr>
          <p:cNvPr id="28" name="Num4"/>
          <p:cNvSpPr/>
          <p:nvPr/>
        </p:nvSpPr>
        <p:spPr>
          <a:xfrm>
            <a:off x="4312920" y="3144320"/>
            <a:ext cx="457200" cy="457200"/>
          </a:xfrm>
          <a:prstGeom prst="ellipse">
            <a:avLst/>
          </a:prstGeom>
          <a:solidFill>
            <a:srgbClr val="F9B9B7"/>
          </a:solidFill>
          <a:ln w="0">
            <a:noFill/>
          </a:ln>
        </p:spPr>
        <p:txBody>
          <a:bodyPr wrap="none" lIns="0" tIns="0" rIns="0" bIns="0" anchor="ctr"/>
          <a:lstStyle/>
          <a:p>
            <a:pPr algn="ctr">
              <a:buNone/>
            </a:pPr>
            <a:r>
              <a:rPr lang="en-US" sz="1600" b="1" dirty="0">
                <a:solidFill>
                  <a:srgbClr val="FFFFFF"/>
                </a:solidFill>
                <a:latin typeface="BIZ UDPGothic"/>
                <a:ea typeface="BIZ UDPGothic"/>
              </a:rPr>
              <a:t>05</a:t>
            </a:r>
          </a:p>
        </p:txBody>
      </p:sp>
      <p:sp>
        <p:nvSpPr>
          <p:cNvPr id="29" name="ObjCard4"/>
          <p:cNvSpPr/>
          <p:nvPr/>
        </p:nvSpPr>
        <p:spPr>
          <a:xfrm>
            <a:off x="4221480" y="3052880"/>
            <a:ext cx="3581400" cy="1350000"/>
          </a:xfrm>
          <a:prstGeom prst="roundRect">
            <a:avLst>
              <a:gd name="adj" fmla="val 6000"/>
            </a:avLst>
          </a:prstGeom>
          <a:solidFill>
            <a:srgbClr val="FDEDEC"/>
          </a:solidFill>
          <a:ln w="12700">
            <a:solidFill>
              <a:srgbClr val="F9B9B7"/>
            </a:solidFill>
          </a:ln>
        </p:spPr>
        <p:txBody>
          <a:bodyPr wrap="square" lIns="640080" tIns="91440" rIns="91440" bIns="91440" anchor="ctr"/>
          <a:lstStyle/>
          <a:p>
            <a:pPr algn="l">
              <a:buNone/>
            </a:pPr>
            <a:r>
              <a:rPr lang="ja-JP" sz="1500" b="1" dirty="0">
                <a:solidFill>
                  <a:srgbClr val="2D3748"/>
                </a:solidFill>
                <a:latin typeface="BIZ UDPGothic"/>
                <a:ea typeface="BIZ UDPGothic"/>
              </a:rPr>
              <a:t>監査証跡の整備</a:t>
            </a:r>
          </a:p>
          <a:p>
            <a:pPr algn="l">
              <a:buNone/>
            </a:pPr>
            <a:r>
              <a:rPr lang="ja-JP" sz="1200" dirty="0">
                <a:solidFill>
                  <a:srgbClr val="4A5568"/>
                </a:solidFill>
                <a:latin typeface="BIZ UDPGothic"/>
                <a:ea typeface="BIZ UDPGothic"/>
              </a:rPr>
              <a:t>使用データ、前処理条件、学習条件、評価条件、成果物版管理を記録する</a:t>
            </a:r>
          </a:p>
        </p:txBody>
      </p:sp>
      <p:sp>
        <p:nvSpPr>
          <p:cNvPr id="30" name="Num5"/>
          <p:cNvSpPr/>
          <p:nvPr/>
        </p:nvSpPr>
        <p:spPr>
          <a:xfrm>
            <a:off x="8077200" y="3144320"/>
            <a:ext cx="457200" cy="457200"/>
          </a:xfrm>
          <a:prstGeom prst="ellipse">
            <a:avLst/>
          </a:prstGeom>
          <a:solidFill>
            <a:srgbClr val="B8D4E8"/>
          </a:solidFill>
          <a:ln w="0">
            <a:noFill/>
          </a:ln>
        </p:spPr>
        <p:txBody>
          <a:bodyPr wrap="none" lIns="0" tIns="0" rIns="0" bIns="0" anchor="ctr"/>
          <a:lstStyle/>
          <a:p>
            <a:pPr algn="ctr">
              <a:buNone/>
            </a:pPr>
            <a:r>
              <a:rPr lang="en-US" sz="1600" b="1" dirty="0">
                <a:solidFill>
                  <a:srgbClr val="FFFFFF"/>
                </a:solidFill>
                <a:latin typeface="BIZ UDPGothic"/>
                <a:ea typeface="BIZ UDPGothic"/>
              </a:rPr>
              <a:t>06</a:t>
            </a:r>
          </a:p>
        </p:txBody>
      </p:sp>
      <p:sp>
        <p:nvSpPr>
          <p:cNvPr id="31" name="ObjCard5"/>
          <p:cNvSpPr/>
          <p:nvPr/>
        </p:nvSpPr>
        <p:spPr>
          <a:xfrm>
            <a:off x="7985760" y="3052880"/>
            <a:ext cx="3581400" cy="1350000"/>
          </a:xfrm>
          <a:prstGeom prst="roundRect">
            <a:avLst>
              <a:gd name="adj" fmla="val 6000"/>
            </a:avLst>
          </a:prstGeom>
          <a:solidFill>
            <a:srgbClr val="E8F0F8"/>
          </a:solidFill>
          <a:ln w="12700">
            <a:solidFill>
              <a:srgbClr val="B8D4E8"/>
            </a:solidFill>
          </a:ln>
        </p:spPr>
        <p:txBody>
          <a:bodyPr wrap="square" lIns="640080" tIns="91440" rIns="91440" bIns="91440" anchor="ctr"/>
          <a:lstStyle/>
          <a:p>
            <a:pPr algn="l">
              <a:buNone/>
            </a:pPr>
            <a:r>
              <a:rPr lang="ja-JP" sz="1500" b="1" dirty="0">
                <a:solidFill>
                  <a:srgbClr val="2D3748"/>
                </a:solidFill>
                <a:latin typeface="BIZ UDPGothic"/>
                <a:ea typeface="BIZ UDPGothic"/>
              </a:rPr>
              <a:t>用途混同の防止</a:t>
            </a:r>
          </a:p>
          <a:p>
            <a:pPr algn="l">
              <a:buNone/>
            </a:pPr>
            <a:r>
              <a:rPr lang="ja-JP" sz="1200" dirty="0">
                <a:solidFill>
                  <a:srgbClr val="4A5568"/>
                </a:solidFill>
                <a:latin typeface="BIZ UDPGothic"/>
                <a:ea typeface="BIZ UDPGothic"/>
              </a:rPr>
              <a:t>duration含有の事後分析モデルとduration除外の事前判断モデルを明確に分離する</a:t>
            </a:r>
          </a:p>
        </p:txBody>
      </p:sp>
      <p:sp>
        <p:nvSpPr>
          <p:cNvPr id="40" name="Note"/>
          <p:cNvSpPr txBox="1"/>
          <p:nvPr/>
        </p:nvSpPr>
        <p:spPr>
          <a:xfrm>
            <a:off x="457200" y="4650000"/>
            <a:ext cx="11277600" cy="520000"/>
          </a:xfrm>
          <a:prstGeom prst="rect">
            <a:avLst/>
          </a:prstGeom>
          <a:noFill/>
        </p:spPr>
        <p:txBody>
          <a:bodyPr wrap="square" anchor="t"/>
          <a:lstStyle/>
          <a:p>
            <a:pPr algn="l">
              <a:buNone/>
            </a:pPr>
            <a:r>
              <a:rPr lang="ja-JP" sz="1100" dirty="0">
                <a:solidFill>
                  <a:srgbClr val="718096"/>
                </a:solidFill>
                <a:latin typeface="BIZ UDPGothic"/>
                <a:ea typeface="BIZ UDPGothic"/>
              </a:rPr>
              <a:t>※ default rate、expected loss、approval quality、recovery ratio は本案件の目的変数と直接一致しないため、参考指標群として扱い、一次KPIには採用しない</a:t>
            </a:r>
          </a:p>
        </p:txBody>
      </p:sp>
      <p:sp>
        <p:nvSpPr>
          <p:cNvPr id="2" name="テキスト ボックス 1">
            <a:extLst>
              <a:ext uri="{FF2B5EF4-FFF2-40B4-BE49-F238E27FC236}">
                <a16:creationId xmlns:a16="http://schemas.microsoft.com/office/drawing/2014/main" id="{231193C0-3852-47F7-9B03-62E29107D2F3}"/>
              </a:ext>
            </a:extLst>
          </p:cNvPr>
          <p:cNvSpPr txBox="1"/>
          <p:nvPr/>
        </p:nvSpPr>
        <p:spPr>
          <a:xfrm>
            <a:off x="11430000" y="6375400"/>
            <a:ext cx="508000" cy="317500"/>
          </a:xfrm>
          <a:prstGeom prst="rect">
            <a:avLst/>
          </a:prstGeom>
          <a:noFill/>
        </p:spPr>
        <p:txBody>
          <a:bodyPr vertOverflow="overflow" vert="horz" wrap="none" rtlCol="0" anchor="ctr" anchorCtr="0">
            <a:noAutofit/>
          </a:bodyPr>
          <a:lstStyle/>
          <a:p>
            <a:pPr algn="l"/>
            <a:r>
              <a:rPr lang="en-US" altLang="ja-JP" sz="1400">
                <a:solidFill>
                  <a:srgbClr val="718096"/>
                </a:solidFill>
                <a:latin typeface="BIZ UDPGothic"/>
                <a:ea typeface="BIZ UDPGothic"/>
              </a:rPr>
              <a:t>3</a:t>
            </a:r>
            <a:endParaRPr lang="ja-JP" altLang="en-US" sz="1400">
              <a:solidFill>
                <a:srgbClr val="718096"/>
              </a:solidFill>
              <a:latin typeface="BIZ UDPGothic"/>
              <a:ea typeface="BIZ UDPGothic"/>
            </a:endParaRPr>
          </a:p>
        </p:txBody>
      </p:sp>
    </p:spTree>
    <p:extLst>
      <p:ext uri="{BB962C8B-B14F-4D97-AF65-F5344CB8AC3E}">
        <p14:creationId xmlns:p14="http://schemas.microsoft.com/office/powerpoint/2010/main" val="35925489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p:nvPr/>
        </p:nvSpPr>
        <p:spPr>
          <a:xfrm>
            <a:off x="0" y="58000"/>
            <a:ext cx="12192000" cy="640000"/>
          </a:xfrm>
          <a:prstGeom prst="rect">
            <a:avLst/>
          </a:prstGeom>
          <a:solidFill>
            <a:srgbClr val="7FB3D3"/>
          </a:solidFill>
          <a:ln w="0">
            <a:noFill/>
          </a:ln>
        </p:spPr>
        <p:txBody>
          <a:bodyPr wrap="square" anchor="ctr"/>
          <a:lstStyle/>
          <a:p>
            <a:pPr algn="ctr">
              <a:buNone/>
            </a:pPr>
            <a:r>
              <a:rPr lang="ja-JP" sz="2400" b="1" dirty="0">
                <a:solidFill>
                  <a:srgbClr val="FFFFFF"/>
                </a:solidFill>
                <a:latin typeface="BIZ UDPGothic"/>
                <a:ea typeface="BIZ UDPGothic"/>
              </a:rPr>
              <a:t>3. スコープ ― 対象範囲</a:t>
            </a:r>
          </a:p>
        </p:txBody>
      </p:sp>
      <p:sp>
        <p:nvSpPr>
          <p:cNvPr id="20" name="SNum0"/>
          <p:cNvSpPr/>
          <p:nvPr/>
        </p:nvSpPr>
        <p:spPr>
          <a:xfrm>
            <a:off x="548640" y="941440"/>
            <a:ext cx="400000" cy="400000"/>
          </a:xfrm>
          <a:prstGeom prst="ellipse">
            <a:avLst/>
          </a:prstGeom>
          <a:solidFill>
            <a:srgbClr val="7FB3D3"/>
          </a:solidFill>
          <a:ln w="0">
            <a:noFill/>
          </a:ln>
        </p:spPr>
        <p:txBody>
          <a:bodyPr wrap="none" lIns="0" tIns="0" rIns="0" bIns="0" anchor="ctr"/>
          <a:lstStyle/>
          <a:p>
            <a:pPr algn="ctr">
              <a:buNone/>
            </a:pPr>
            <a:r>
              <a:rPr lang="en-US" sz="1600" b="1" dirty="0">
                <a:solidFill>
                  <a:srgbClr val="FFFFFF"/>
                </a:solidFill>
                <a:latin typeface="BIZ UDPGothic"/>
                <a:ea typeface="BIZ UDPGothic"/>
              </a:rPr>
              <a:t>1</a:t>
            </a:r>
          </a:p>
        </p:txBody>
      </p:sp>
      <p:sp>
        <p:nvSpPr>
          <p:cNvPr id="21" name="SCard0"/>
          <p:cNvSpPr/>
          <p:nvPr/>
        </p:nvSpPr>
        <p:spPr>
          <a:xfrm>
            <a:off x="457200" y="850000"/>
            <a:ext cx="3500000" cy="1100000"/>
          </a:xfrm>
          <a:prstGeom prst="roundRect">
            <a:avLst>
              <a:gd name="adj" fmla="val 6000"/>
            </a:avLst>
          </a:prstGeom>
          <a:solidFill>
            <a:srgbClr val="EBF5FB"/>
          </a:solidFill>
          <a:ln w="12700">
            <a:solidFill>
              <a:srgbClr val="7FB3D3"/>
            </a:solidFill>
          </a:ln>
        </p:spPr>
        <p:txBody>
          <a:bodyPr wrap="square" lIns="548640" tIns="45720" rIns="91440" bIns="45720" anchor="ctr"/>
          <a:lstStyle/>
          <a:p>
            <a:pPr algn="l">
              <a:buNone/>
            </a:pPr>
            <a:r>
              <a:rPr lang="ja-JP" sz="1200" dirty="0">
                <a:solidFill>
                  <a:srgbClr val="2D3748"/>
                </a:solidFill>
                <a:latin typeface="BIZ UDPGothic"/>
                <a:ea typeface="BIZ UDPGothic"/>
              </a:rPr>
              <a:t>train.csv を対象とした単一データセット分析</a:t>
            </a:r>
          </a:p>
        </p:txBody>
      </p:sp>
      <p:sp>
        <p:nvSpPr>
          <p:cNvPr id="22" name="SNum1"/>
          <p:cNvSpPr/>
          <p:nvPr/>
        </p:nvSpPr>
        <p:spPr>
          <a:xfrm>
            <a:off x="4248640" y="941440"/>
            <a:ext cx="400000" cy="400000"/>
          </a:xfrm>
          <a:prstGeom prst="ellipse">
            <a:avLst/>
          </a:prstGeom>
          <a:solidFill>
            <a:srgbClr val="A8D5BA"/>
          </a:solidFill>
          <a:ln w="0">
            <a:noFill/>
          </a:ln>
        </p:spPr>
        <p:txBody>
          <a:bodyPr wrap="none" lIns="0" tIns="0" rIns="0" bIns="0" anchor="ctr"/>
          <a:lstStyle/>
          <a:p>
            <a:pPr algn="ctr">
              <a:buNone/>
            </a:pPr>
            <a:r>
              <a:rPr lang="en-US" sz="1600" b="1" dirty="0">
                <a:solidFill>
                  <a:srgbClr val="FFFFFF"/>
                </a:solidFill>
                <a:latin typeface="BIZ UDPGothic"/>
                <a:ea typeface="BIZ UDPGothic"/>
              </a:rPr>
              <a:t>2</a:t>
            </a:r>
          </a:p>
        </p:txBody>
      </p:sp>
      <p:sp>
        <p:nvSpPr>
          <p:cNvPr id="23" name="SCard1"/>
          <p:cNvSpPr/>
          <p:nvPr/>
        </p:nvSpPr>
        <p:spPr>
          <a:xfrm>
            <a:off x="4157200" y="850000"/>
            <a:ext cx="3500000" cy="1100000"/>
          </a:xfrm>
          <a:prstGeom prst="roundRect">
            <a:avLst>
              <a:gd name="adj" fmla="val 6000"/>
            </a:avLst>
          </a:prstGeom>
          <a:solidFill>
            <a:srgbClr val="E8F8F5"/>
          </a:solidFill>
          <a:ln w="12700">
            <a:solidFill>
              <a:srgbClr val="A8D5BA"/>
            </a:solidFill>
          </a:ln>
        </p:spPr>
        <p:txBody>
          <a:bodyPr wrap="square" lIns="548640" tIns="45720" rIns="91440" bIns="45720" anchor="ctr"/>
          <a:lstStyle/>
          <a:p>
            <a:pPr algn="l">
              <a:buNone/>
            </a:pPr>
            <a:r>
              <a:rPr lang="ja-JP" sz="1200" dirty="0">
                <a:solidFill>
                  <a:srgbClr val="2D3748"/>
                </a:solidFill>
                <a:latin typeface="BIZ UDPGothic"/>
                <a:ea typeface="BIZ UDPGothic"/>
              </a:rPr>
              <a:t>目的変数 y に対する二値分類モデルの初期版構築</a:t>
            </a:r>
          </a:p>
        </p:txBody>
      </p:sp>
      <p:sp>
        <p:nvSpPr>
          <p:cNvPr id="24" name="SNum2"/>
          <p:cNvSpPr/>
          <p:nvPr/>
        </p:nvSpPr>
        <p:spPr>
          <a:xfrm>
            <a:off x="7948640" y="941440"/>
            <a:ext cx="400000" cy="400000"/>
          </a:xfrm>
          <a:prstGeom prst="ellipse">
            <a:avLst/>
          </a:prstGeom>
          <a:solidFill>
            <a:srgbClr val="F6C89F"/>
          </a:solidFill>
          <a:ln w="0">
            <a:noFill/>
          </a:ln>
        </p:spPr>
        <p:txBody>
          <a:bodyPr wrap="none" lIns="0" tIns="0" rIns="0" bIns="0" anchor="ctr"/>
          <a:lstStyle/>
          <a:p>
            <a:pPr algn="ctr">
              <a:buNone/>
            </a:pPr>
            <a:r>
              <a:rPr lang="en-US" sz="1600" b="1" dirty="0">
                <a:solidFill>
                  <a:srgbClr val="FFFFFF"/>
                </a:solidFill>
                <a:latin typeface="BIZ UDPGothic"/>
                <a:ea typeface="BIZ UDPGothic"/>
              </a:rPr>
              <a:t>3</a:t>
            </a:r>
          </a:p>
        </p:txBody>
      </p:sp>
      <p:sp>
        <p:nvSpPr>
          <p:cNvPr id="25" name="SCard2"/>
          <p:cNvSpPr/>
          <p:nvPr/>
        </p:nvSpPr>
        <p:spPr>
          <a:xfrm>
            <a:off x="7857200" y="850000"/>
            <a:ext cx="3500000" cy="1100000"/>
          </a:xfrm>
          <a:prstGeom prst="roundRect">
            <a:avLst>
              <a:gd name="adj" fmla="val 6000"/>
            </a:avLst>
          </a:prstGeom>
          <a:solidFill>
            <a:srgbClr val="FEF5E7"/>
          </a:solidFill>
          <a:ln w="12700">
            <a:solidFill>
              <a:srgbClr val="F6C89F"/>
            </a:solidFill>
          </a:ln>
        </p:spPr>
        <p:txBody>
          <a:bodyPr wrap="square" lIns="548640" tIns="45720" rIns="91440" bIns="45720" anchor="ctr"/>
          <a:lstStyle/>
          <a:p>
            <a:pPr algn="l">
              <a:buNone/>
            </a:pPr>
            <a:r>
              <a:rPr lang="ja-JP" sz="1200" dirty="0">
                <a:solidFill>
                  <a:srgbClr val="2D3748"/>
                </a:solidFill>
                <a:latin typeface="BIZ UDPGothic"/>
                <a:ea typeface="BIZ UDPGothic"/>
              </a:rPr>
              <a:t>探索的データ分析（分布確認・目的変数関係・カテゴリ別契約率・外れ値確認）</a:t>
            </a:r>
          </a:p>
        </p:txBody>
      </p:sp>
      <p:sp>
        <p:nvSpPr>
          <p:cNvPr id="26" name="SNum3"/>
          <p:cNvSpPr/>
          <p:nvPr/>
        </p:nvSpPr>
        <p:spPr>
          <a:xfrm>
            <a:off x="548640" y="2191440"/>
            <a:ext cx="400000" cy="400000"/>
          </a:xfrm>
          <a:prstGeom prst="ellipse">
            <a:avLst/>
          </a:prstGeom>
          <a:solidFill>
            <a:srgbClr val="D4A5C9"/>
          </a:solidFill>
          <a:ln w="0">
            <a:noFill/>
          </a:ln>
        </p:spPr>
        <p:txBody>
          <a:bodyPr wrap="none" lIns="0" tIns="0" rIns="0" bIns="0" anchor="ctr"/>
          <a:lstStyle/>
          <a:p>
            <a:pPr algn="ctr">
              <a:buNone/>
            </a:pPr>
            <a:r>
              <a:rPr lang="en-US" sz="1600" b="1" dirty="0">
                <a:solidFill>
                  <a:srgbClr val="FFFFFF"/>
                </a:solidFill>
                <a:latin typeface="BIZ UDPGothic"/>
                <a:ea typeface="BIZ UDPGothic"/>
              </a:rPr>
              <a:t>4</a:t>
            </a:r>
          </a:p>
        </p:txBody>
      </p:sp>
      <p:sp>
        <p:nvSpPr>
          <p:cNvPr id="27" name="SCard3"/>
          <p:cNvSpPr/>
          <p:nvPr/>
        </p:nvSpPr>
        <p:spPr>
          <a:xfrm>
            <a:off x="457200" y="2100000"/>
            <a:ext cx="3500000" cy="1100000"/>
          </a:xfrm>
          <a:prstGeom prst="roundRect">
            <a:avLst>
              <a:gd name="adj" fmla="val 6000"/>
            </a:avLst>
          </a:prstGeom>
          <a:solidFill>
            <a:srgbClr val="F5EEF8"/>
          </a:solidFill>
          <a:ln w="12700">
            <a:solidFill>
              <a:srgbClr val="D4A5C9"/>
            </a:solidFill>
          </a:ln>
        </p:spPr>
        <p:txBody>
          <a:bodyPr wrap="square" lIns="548640" tIns="45720" rIns="91440" bIns="45720" anchor="ctr"/>
          <a:lstStyle/>
          <a:p>
            <a:pPr algn="l">
              <a:buNone/>
            </a:pPr>
            <a:r>
              <a:rPr lang="ja-JP" sz="1200" dirty="0">
                <a:solidFill>
                  <a:srgbClr val="2D3748"/>
                </a:solidFill>
                <a:latin typeface="BIZ UDPGothic"/>
                <a:ea typeface="BIZ UDPGothic"/>
              </a:rPr>
              <a:t>前処理方針の設計（変数型整理・unknown独立カテゴリ・pdays=-1特別値・エンコーディング）</a:t>
            </a:r>
          </a:p>
        </p:txBody>
      </p:sp>
      <p:sp>
        <p:nvSpPr>
          <p:cNvPr id="28" name="SNum4"/>
          <p:cNvSpPr/>
          <p:nvPr/>
        </p:nvSpPr>
        <p:spPr>
          <a:xfrm>
            <a:off x="4248640" y="2191440"/>
            <a:ext cx="400000" cy="400000"/>
          </a:xfrm>
          <a:prstGeom prst="ellipse">
            <a:avLst/>
          </a:prstGeom>
          <a:solidFill>
            <a:srgbClr val="F9B9B7"/>
          </a:solidFill>
          <a:ln w="0">
            <a:noFill/>
          </a:ln>
        </p:spPr>
        <p:txBody>
          <a:bodyPr wrap="none" lIns="0" tIns="0" rIns="0" bIns="0" anchor="ctr"/>
          <a:lstStyle/>
          <a:p>
            <a:pPr algn="ctr">
              <a:buNone/>
            </a:pPr>
            <a:r>
              <a:rPr lang="en-US" sz="1600" b="1" dirty="0">
                <a:solidFill>
                  <a:srgbClr val="FFFFFF"/>
                </a:solidFill>
                <a:latin typeface="BIZ UDPGothic"/>
                <a:ea typeface="BIZ UDPGothic"/>
              </a:rPr>
              <a:t>5</a:t>
            </a:r>
          </a:p>
        </p:txBody>
      </p:sp>
      <p:sp>
        <p:nvSpPr>
          <p:cNvPr id="29" name="SCard4"/>
          <p:cNvSpPr/>
          <p:nvPr/>
        </p:nvSpPr>
        <p:spPr>
          <a:xfrm>
            <a:off x="4157200" y="2100000"/>
            <a:ext cx="3500000" cy="1100000"/>
          </a:xfrm>
          <a:prstGeom prst="roundRect">
            <a:avLst>
              <a:gd name="adj" fmla="val 6000"/>
            </a:avLst>
          </a:prstGeom>
          <a:solidFill>
            <a:srgbClr val="FDEDEC"/>
          </a:solidFill>
          <a:ln w="12700">
            <a:solidFill>
              <a:srgbClr val="F9B9B7"/>
            </a:solidFill>
          </a:ln>
        </p:spPr>
        <p:txBody>
          <a:bodyPr wrap="square" lIns="548640" tIns="45720" rIns="91440" bIns="45720" anchor="ctr"/>
          <a:lstStyle/>
          <a:p>
            <a:pPr algn="l">
              <a:buNone/>
            </a:pPr>
            <a:r>
              <a:rPr lang="ja-JP" sz="1200" dirty="0">
                <a:solidFill>
                  <a:srgbClr val="2D3748"/>
                </a:solidFill>
                <a:latin typeface="BIZ UDPGothic"/>
                <a:ea typeface="BIZ UDPGothic"/>
              </a:rPr>
              <a:t>ベースラインモデルおよび説明可能なモデルの比較評価</a:t>
            </a:r>
          </a:p>
        </p:txBody>
      </p:sp>
      <p:sp>
        <p:nvSpPr>
          <p:cNvPr id="30" name="SNum5"/>
          <p:cNvSpPr/>
          <p:nvPr/>
        </p:nvSpPr>
        <p:spPr>
          <a:xfrm>
            <a:off x="7948640" y="2191440"/>
            <a:ext cx="400000" cy="400000"/>
          </a:xfrm>
          <a:prstGeom prst="ellipse">
            <a:avLst/>
          </a:prstGeom>
          <a:solidFill>
            <a:srgbClr val="B8D4E8"/>
          </a:solidFill>
          <a:ln w="0">
            <a:noFill/>
          </a:ln>
        </p:spPr>
        <p:txBody>
          <a:bodyPr wrap="none" lIns="0" tIns="0" rIns="0" bIns="0" anchor="ctr"/>
          <a:lstStyle/>
          <a:p>
            <a:pPr algn="ctr">
              <a:buNone/>
            </a:pPr>
            <a:r>
              <a:rPr lang="en-US" sz="1600" b="1" dirty="0">
                <a:solidFill>
                  <a:srgbClr val="FFFFFF"/>
                </a:solidFill>
                <a:latin typeface="BIZ UDPGothic"/>
                <a:ea typeface="BIZ UDPGothic"/>
              </a:rPr>
              <a:t>6</a:t>
            </a:r>
          </a:p>
        </p:txBody>
      </p:sp>
      <p:sp>
        <p:nvSpPr>
          <p:cNvPr id="31" name="SCard5"/>
          <p:cNvSpPr/>
          <p:nvPr/>
        </p:nvSpPr>
        <p:spPr>
          <a:xfrm>
            <a:off x="7857200" y="2100000"/>
            <a:ext cx="3500000" cy="1100000"/>
          </a:xfrm>
          <a:prstGeom prst="roundRect">
            <a:avLst>
              <a:gd name="adj" fmla="val 6000"/>
            </a:avLst>
          </a:prstGeom>
          <a:solidFill>
            <a:srgbClr val="E8F0F8"/>
          </a:solidFill>
          <a:ln w="12700">
            <a:solidFill>
              <a:srgbClr val="B8D4E8"/>
            </a:solidFill>
          </a:ln>
        </p:spPr>
        <p:txBody>
          <a:bodyPr wrap="square" lIns="548640" tIns="45720" rIns="91440" bIns="45720" anchor="ctr"/>
          <a:lstStyle/>
          <a:p>
            <a:pPr algn="l">
              <a:buNone/>
            </a:pPr>
            <a:r>
              <a:rPr lang="ja-JP" sz="1200" dirty="0">
                <a:solidFill>
                  <a:srgbClr val="2D3748"/>
                </a:solidFill>
                <a:latin typeface="BIZ UDPGothic"/>
                <a:ea typeface="BIZ UDPGothic"/>
              </a:rPr>
              <a:t>duration含有モデルと非含有モデルの比較整理</a:t>
            </a:r>
          </a:p>
        </p:txBody>
      </p:sp>
      <p:sp>
        <p:nvSpPr>
          <p:cNvPr id="32" name="SNum6"/>
          <p:cNvSpPr/>
          <p:nvPr/>
        </p:nvSpPr>
        <p:spPr>
          <a:xfrm>
            <a:off x="548640" y="3441440"/>
            <a:ext cx="400000" cy="400000"/>
          </a:xfrm>
          <a:prstGeom prst="ellipse">
            <a:avLst/>
          </a:prstGeom>
          <a:solidFill>
            <a:srgbClr val="7FB3D3"/>
          </a:solidFill>
          <a:ln w="0">
            <a:noFill/>
          </a:ln>
        </p:spPr>
        <p:txBody>
          <a:bodyPr wrap="none" lIns="0" tIns="0" rIns="0" bIns="0" anchor="ctr"/>
          <a:lstStyle/>
          <a:p>
            <a:pPr algn="ctr">
              <a:buNone/>
            </a:pPr>
            <a:r>
              <a:rPr lang="en-US" sz="1600" b="1" dirty="0">
                <a:solidFill>
                  <a:srgbClr val="FFFFFF"/>
                </a:solidFill>
                <a:latin typeface="BIZ UDPGothic"/>
                <a:ea typeface="BIZ UDPGothic"/>
              </a:rPr>
              <a:t>7</a:t>
            </a:r>
          </a:p>
        </p:txBody>
      </p:sp>
      <p:sp>
        <p:nvSpPr>
          <p:cNvPr id="33" name="SCard6"/>
          <p:cNvSpPr/>
          <p:nvPr/>
        </p:nvSpPr>
        <p:spPr>
          <a:xfrm>
            <a:off x="457200" y="3350000"/>
            <a:ext cx="3500000" cy="1100000"/>
          </a:xfrm>
          <a:prstGeom prst="roundRect">
            <a:avLst>
              <a:gd name="adj" fmla="val 6000"/>
            </a:avLst>
          </a:prstGeom>
          <a:solidFill>
            <a:srgbClr val="EBF5FB"/>
          </a:solidFill>
          <a:ln w="12700">
            <a:solidFill>
              <a:srgbClr val="7FB3D3"/>
            </a:solidFill>
          </a:ln>
        </p:spPr>
        <p:txBody>
          <a:bodyPr wrap="square" lIns="548640" tIns="45720" rIns="91440" bIns="45720" anchor="ctr"/>
          <a:lstStyle/>
          <a:p>
            <a:pPr algn="l">
              <a:buNone/>
            </a:pPr>
            <a:r>
              <a:rPr lang="ja-JP" sz="1200" dirty="0">
                <a:solidFill>
                  <a:srgbClr val="2D3748"/>
                </a:solidFill>
                <a:latin typeface="BIZ UDPGothic"/>
                <a:ea typeface="BIZ UDPGothic"/>
              </a:rPr>
              <a:t>性能評価、重要変数分析、セグメント別示唆の整理</a:t>
            </a:r>
          </a:p>
        </p:txBody>
      </p:sp>
      <p:sp>
        <p:nvSpPr>
          <p:cNvPr id="34" name="SNum7"/>
          <p:cNvSpPr/>
          <p:nvPr/>
        </p:nvSpPr>
        <p:spPr>
          <a:xfrm>
            <a:off x="4248640" y="3441440"/>
            <a:ext cx="400000" cy="400000"/>
          </a:xfrm>
          <a:prstGeom prst="ellipse">
            <a:avLst/>
          </a:prstGeom>
          <a:solidFill>
            <a:srgbClr val="A8D5BA"/>
          </a:solidFill>
          <a:ln w="0">
            <a:noFill/>
          </a:ln>
        </p:spPr>
        <p:txBody>
          <a:bodyPr wrap="none" lIns="0" tIns="0" rIns="0" bIns="0" anchor="ctr"/>
          <a:lstStyle/>
          <a:p>
            <a:pPr algn="ctr">
              <a:buNone/>
            </a:pPr>
            <a:r>
              <a:rPr lang="en-US" sz="1600" b="1" dirty="0">
                <a:solidFill>
                  <a:srgbClr val="FFFFFF"/>
                </a:solidFill>
                <a:latin typeface="BIZ UDPGothic"/>
                <a:ea typeface="BIZ UDPGothic"/>
              </a:rPr>
              <a:t>8</a:t>
            </a:r>
          </a:p>
        </p:txBody>
      </p:sp>
      <p:sp>
        <p:nvSpPr>
          <p:cNvPr id="35" name="SCard7"/>
          <p:cNvSpPr/>
          <p:nvPr/>
        </p:nvSpPr>
        <p:spPr>
          <a:xfrm>
            <a:off x="4157200" y="3350000"/>
            <a:ext cx="3500000" cy="1100000"/>
          </a:xfrm>
          <a:prstGeom prst="roundRect">
            <a:avLst>
              <a:gd name="adj" fmla="val 6000"/>
            </a:avLst>
          </a:prstGeom>
          <a:solidFill>
            <a:srgbClr val="E8F8F5"/>
          </a:solidFill>
          <a:ln w="12700">
            <a:solidFill>
              <a:srgbClr val="A8D5BA"/>
            </a:solidFill>
          </a:ln>
        </p:spPr>
        <p:txBody>
          <a:bodyPr wrap="square" lIns="548640" tIns="45720" rIns="91440" bIns="45720" anchor="ctr"/>
          <a:lstStyle/>
          <a:p>
            <a:pPr algn="l">
              <a:buNone/>
            </a:pPr>
            <a:r>
              <a:rPr lang="ja-JP" sz="1200" dirty="0">
                <a:solidFill>
                  <a:srgbClr val="2D3748"/>
                </a:solidFill>
                <a:latin typeface="BIZ UDPGothic"/>
                <a:ea typeface="BIZ UDPGothic"/>
              </a:rPr>
              <a:t>監査・再現性を意識したドキュメント整備</a:t>
            </a:r>
          </a:p>
        </p:txBody>
      </p:sp>
      <p:sp>
        <p:nvSpPr>
          <p:cNvPr id="36" name="SNum8"/>
          <p:cNvSpPr/>
          <p:nvPr/>
        </p:nvSpPr>
        <p:spPr>
          <a:xfrm>
            <a:off x="7948640" y="3441440"/>
            <a:ext cx="400000" cy="400000"/>
          </a:xfrm>
          <a:prstGeom prst="ellipse">
            <a:avLst/>
          </a:prstGeom>
          <a:solidFill>
            <a:srgbClr val="F6C89F"/>
          </a:solidFill>
          <a:ln w="0">
            <a:noFill/>
          </a:ln>
        </p:spPr>
        <p:txBody>
          <a:bodyPr wrap="none" lIns="0" tIns="0" rIns="0" bIns="0" anchor="ctr"/>
          <a:lstStyle/>
          <a:p>
            <a:pPr algn="ctr">
              <a:buNone/>
            </a:pPr>
            <a:r>
              <a:rPr lang="en-US" sz="1600" b="1" dirty="0">
                <a:solidFill>
                  <a:srgbClr val="FFFFFF"/>
                </a:solidFill>
                <a:latin typeface="BIZ UDPGothic"/>
                <a:ea typeface="BIZ UDPGothic"/>
              </a:rPr>
              <a:t>9</a:t>
            </a:r>
          </a:p>
        </p:txBody>
      </p:sp>
      <p:sp>
        <p:nvSpPr>
          <p:cNvPr id="37" name="SCard8"/>
          <p:cNvSpPr/>
          <p:nvPr/>
        </p:nvSpPr>
        <p:spPr>
          <a:xfrm>
            <a:off x="7857200" y="3350000"/>
            <a:ext cx="3500000" cy="1100000"/>
          </a:xfrm>
          <a:prstGeom prst="roundRect">
            <a:avLst>
              <a:gd name="adj" fmla="val 6000"/>
            </a:avLst>
          </a:prstGeom>
          <a:solidFill>
            <a:srgbClr val="FEF5E7"/>
          </a:solidFill>
          <a:ln w="12700">
            <a:solidFill>
              <a:srgbClr val="F6C89F"/>
            </a:solidFill>
          </a:ln>
        </p:spPr>
        <p:txBody>
          <a:bodyPr wrap="square" lIns="548640" tIns="45720" rIns="91440" bIns="45720" anchor="ctr"/>
          <a:lstStyle/>
          <a:p>
            <a:pPr algn="l">
              <a:buNone/>
            </a:pPr>
            <a:r>
              <a:rPr lang="ja-JP" sz="1200" dirty="0">
                <a:solidFill>
                  <a:srgbClr val="2D3748"/>
                </a:solidFill>
                <a:latin typeface="BIZ UDPGothic"/>
                <a:ea typeface="BIZ UDPGothic"/>
              </a:rPr>
              <a:t>中間報告および最終報告の実施</a:t>
            </a:r>
          </a:p>
        </p:txBody>
      </p:sp>
      <p:sp>
        <p:nvSpPr>
          <p:cNvPr id="2" name="テキスト ボックス 1">
            <a:extLst>
              <a:ext uri="{FF2B5EF4-FFF2-40B4-BE49-F238E27FC236}">
                <a16:creationId xmlns:a16="http://schemas.microsoft.com/office/drawing/2014/main" id="{E1735081-CD07-4B84-BCA7-37CE10D84C86}"/>
              </a:ext>
            </a:extLst>
          </p:cNvPr>
          <p:cNvSpPr txBox="1"/>
          <p:nvPr/>
        </p:nvSpPr>
        <p:spPr>
          <a:xfrm>
            <a:off x="11430000" y="6375400"/>
            <a:ext cx="508000" cy="317500"/>
          </a:xfrm>
          <a:prstGeom prst="rect">
            <a:avLst/>
          </a:prstGeom>
          <a:noFill/>
        </p:spPr>
        <p:txBody>
          <a:bodyPr vertOverflow="overflow" vert="horz" wrap="none" rtlCol="0" anchor="ctr" anchorCtr="0">
            <a:noAutofit/>
          </a:bodyPr>
          <a:lstStyle/>
          <a:p>
            <a:pPr algn="l"/>
            <a:r>
              <a:rPr lang="en-US" altLang="ja-JP" sz="1400">
                <a:solidFill>
                  <a:srgbClr val="718096"/>
                </a:solidFill>
                <a:latin typeface="BIZ UDPGothic"/>
                <a:ea typeface="BIZ UDPGothic"/>
              </a:rPr>
              <a:t>4</a:t>
            </a:r>
            <a:endParaRPr lang="ja-JP" altLang="en-US" sz="1400">
              <a:solidFill>
                <a:srgbClr val="718096"/>
              </a:solidFill>
              <a:latin typeface="BIZ UDPGothic"/>
              <a:ea typeface="BIZ UDPGothic"/>
            </a:endParaRPr>
          </a:p>
        </p:txBody>
      </p:sp>
    </p:spTree>
    <p:extLst>
      <p:ext uri="{BB962C8B-B14F-4D97-AF65-F5344CB8AC3E}">
        <p14:creationId xmlns:p14="http://schemas.microsoft.com/office/powerpoint/2010/main" val="2345865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p:nvPr/>
        </p:nvSpPr>
        <p:spPr>
          <a:xfrm>
            <a:off x="0" y="58000"/>
            <a:ext cx="12192000" cy="640000"/>
          </a:xfrm>
          <a:prstGeom prst="rect">
            <a:avLst/>
          </a:prstGeom>
          <a:solidFill>
            <a:srgbClr val="7FB3D3"/>
          </a:solidFill>
          <a:ln w="0">
            <a:noFill/>
          </a:ln>
        </p:spPr>
        <p:txBody>
          <a:bodyPr wrap="square" anchor="ctr"/>
          <a:lstStyle/>
          <a:p>
            <a:pPr algn="ctr">
              <a:buNone/>
            </a:pPr>
            <a:r>
              <a:rPr lang="ja-JP" sz="2400" b="1" dirty="0">
                <a:solidFill>
                  <a:srgbClr val="FFFFFF"/>
                </a:solidFill>
                <a:latin typeface="BIZ UDPGothic"/>
                <a:ea typeface="BIZ UDPGothic"/>
              </a:rPr>
              <a:t>3. スコープ ― 対象外</a:t>
            </a:r>
          </a:p>
        </p:txBody>
      </p:sp>
      <p:sp>
        <p:nvSpPr>
          <p:cNvPr id="20" name="XMark0"/>
          <p:cNvSpPr/>
          <p:nvPr/>
        </p:nvSpPr>
        <p:spPr>
          <a:xfrm>
            <a:off x="457200" y="925000"/>
            <a:ext cx="400000" cy="400000"/>
          </a:xfrm>
          <a:prstGeom prst="ellipse">
            <a:avLst/>
          </a:prstGeom>
          <a:solidFill>
            <a:srgbClr val="F9B9B7"/>
          </a:solidFill>
          <a:ln w="0">
            <a:noFill/>
          </a:ln>
        </p:spPr>
        <p:txBody>
          <a:bodyPr wrap="none" lIns="0" tIns="0" rIns="0" bIns="0" anchor="ctr"/>
          <a:lstStyle/>
          <a:p>
            <a:pPr algn="ctr">
              <a:buNone/>
            </a:pPr>
            <a:r>
              <a:rPr lang="en-US" sz="1800" b="1" dirty="0">
                <a:solidFill>
                  <a:srgbClr val="FFFFFF"/>
                </a:solidFill>
                <a:latin typeface="BIZ UDPGothic"/>
                <a:ea typeface="BIZ UDPGothic"/>
              </a:rPr>
              <a:t>✕</a:t>
            </a:r>
          </a:p>
        </p:txBody>
      </p:sp>
      <p:sp>
        <p:nvSpPr>
          <p:cNvPr id="21" name="OutItem0"/>
          <p:cNvSpPr txBox="1"/>
          <p:nvPr/>
        </p:nvSpPr>
        <p:spPr>
          <a:xfrm>
            <a:off x="937200" y="850000"/>
            <a:ext cx="4920000" cy="550000"/>
          </a:xfrm>
          <a:prstGeom prst="rect">
            <a:avLst/>
          </a:prstGeom>
          <a:solidFill>
            <a:srgbClr val="FDEDEC"/>
          </a:solidFill>
          <a:ln w="0">
            <a:noFill/>
          </a:ln>
        </p:spPr>
        <p:txBody>
          <a:bodyPr wrap="square" lIns="137160" rIns="91440" anchor="ctr"/>
          <a:lstStyle/>
          <a:p>
            <a:pPr algn="l">
              <a:buNone/>
            </a:pPr>
            <a:r>
              <a:rPr lang="ja-JP" sz="1300" dirty="0">
                <a:solidFill>
                  <a:srgbClr val="4A5568"/>
                </a:solidFill>
                <a:latin typeface="BIZ UDPGothic"/>
                <a:ea typeface="BIZ UDPGothic"/>
              </a:rPr>
              <a:t>本番システム実装</a:t>
            </a:r>
          </a:p>
        </p:txBody>
      </p:sp>
      <p:sp>
        <p:nvSpPr>
          <p:cNvPr id="22" name="XMark1"/>
          <p:cNvSpPr/>
          <p:nvPr/>
        </p:nvSpPr>
        <p:spPr>
          <a:xfrm>
            <a:off x="6107200" y="925000"/>
            <a:ext cx="400000" cy="400000"/>
          </a:xfrm>
          <a:prstGeom prst="ellipse">
            <a:avLst/>
          </a:prstGeom>
          <a:solidFill>
            <a:srgbClr val="F9B9B7"/>
          </a:solidFill>
          <a:ln w="0">
            <a:noFill/>
          </a:ln>
        </p:spPr>
        <p:txBody>
          <a:bodyPr wrap="none" lIns="0" tIns="0" rIns="0" bIns="0" anchor="ctr"/>
          <a:lstStyle/>
          <a:p>
            <a:pPr algn="ctr">
              <a:buNone/>
            </a:pPr>
            <a:r>
              <a:rPr lang="en-US" sz="1800" b="1" dirty="0">
                <a:solidFill>
                  <a:srgbClr val="FFFFFF"/>
                </a:solidFill>
                <a:latin typeface="BIZ UDPGothic"/>
                <a:ea typeface="BIZ UDPGothic"/>
              </a:rPr>
              <a:t>✕</a:t>
            </a:r>
          </a:p>
        </p:txBody>
      </p:sp>
      <p:sp>
        <p:nvSpPr>
          <p:cNvPr id="23" name="OutItem1"/>
          <p:cNvSpPr txBox="1"/>
          <p:nvPr/>
        </p:nvSpPr>
        <p:spPr>
          <a:xfrm>
            <a:off x="6587200" y="850000"/>
            <a:ext cx="4920000" cy="550000"/>
          </a:xfrm>
          <a:prstGeom prst="rect">
            <a:avLst/>
          </a:prstGeom>
          <a:solidFill>
            <a:srgbClr val="FDEDEC"/>
          </a:solidFill>
          <a:ln w="0">
            <a:noFill/>
          </a:ln>
        </p:spPr>
        <p:txBody>
          <a:bodyPr wrap="square" lIns="137160" rIns="91440" anchor="ctr"/>
          <a:lstStyle/>
          <a:p>
            <a:pPr algn="l">
              <a:buNone/>
            </a:pPr>
            <a:r>
              <a:rPr lang="ja-JP" sz="1300" dirty="0">
                <a:solidFill>
                  <a:srgbClr val="4A5568"/>
                </a:solidFill>
                <a:latin typeface="BIZ UDPGothic"/>
                <a:ea typeface="BIZ UDPGothic"/>
              </a:rPr>
              <a:t>API化、バッチ実装、業務システム連携</a:t>
            </a:r>
          </a:p>
        </p:txBody>
      </p:sp>
      <p:sp>
        <p:nvSpPr>
          <p:cNvPr id="24" name="XMark2"/>
          <p:cNvSpPr/>
          <p:nvPr/>
        </p:nvSpPr>
        <p:spPr>
          <a:xfrm>
            <a:off x="457200" y="1575000"/>
            <a:ext cx="400000" cy="400000"/>
          </a:xfrm>
          <a:prstGeom prst="ellipse">
            <a:avLst/>
          </a:prstGeom>
          <a:solidFill>
            <a:srgbClr val="F9B9B7"/>
          </a:solidFill>
          <a:ln w="0">
            <a:noFill/>
          </a:ln>
        </p:spPr>
        <p:txBody>
          <a:bodyPr wrap="none" lIns="0" tIns="0" rIns="0" bIns="0" anchor="ctr"/>
          <a:lstStyle/>
          <a:p>
            <a:pPr algn="ctr">
              <a:buNone/>
            </a:pPr>
            <a:r>
              <a:rPr lang="en-US" sz="1800" b="1" dirty="0">
                <a:solidFill>
                  <a:srgbClr val="FFFFFF"/>
                </a:solidFill>
                <a:latin typeface="BIZ UDPGothic"/>
                <a:ea typeface="BIZ UDPGothic"/>
              </a:rPr>
              <a:t>✕</a:t>
            </a:r>
          </a:p>
        </p:txBody>
      </p:sp>
      <p:sp>
        <p:nvSpPr>
          <p:cNvPr id="25" name="OutItem2"/>
          <p:cNvSpPr txBox="1"/>
          <p:nvPr/>
        </p:nvSpPr>
        <p:spPr>
          <a:xfrm>
            <a:off x="937200" y="1500000"/>
            <a:ext cx="4920000" cy="550000"/>
          </a:xfrm>
          <a:prstGeom prst="rect">
            <a:avLst/>
          </a:prstGeom>
          <a:solidFill>
            <a:srgbClr val="FDEDEC"/>
          </a:solidFill>
          <a:ln w="0">
            <a:noFill/>
          </a:ln>
        </p:spPr>
        <p:txBody>
          <a:bodyPr wrap="square" lIns="137160" rIns="91440" anchor="ctr"/>
          <a:lstStyle/>
          <a:p>
            <a:pPr algn="l">
              <a:buNone/>
            </a:pPr>
            <a:r>
              <a:rPr lang="ja-JP" sz="1300" dirty="0">
                <a:solidFill>
                  <a:srgbClr val="4A5568"/>
                </a:solidFill>
                <a:latin typeface="BIZ UDPGothic"/>
                <a:ea typeface="BIZ UDPGothic"/>
              </a:rPr>
              <a:t>外部データの新規取得、名寄せ、統合</a:t>
            </a:r>
          </a:p>
        </p:txBody>
      </p:sp>
      <p:sp>
        <p:nvSpPr>
          <p:cNvPr id="26" name="XMark3"/>
          <p:cNvSpPr/>
          <p:nvPr/>
        </p:nvSpPr>
        <p:spPr>
          <a:xfrm>
            <a:off x="6107200" y="1575000"/>
            <a:ext cx="400000" cy="400000"/>
          </a:xfrm>
          <a:prstGeom prst="ellipse">
            <a:avLst/>
          </a:prstGeom>
          <a:solidFill>
            <a:srgbClr val="F9B9B7"/>
          </a:solidFill>
          <a:ln w="0">
            <a:noFill/>
          </a:ln>
        </p:spPr>
        <p:txBody>
          <a:bodyPr wrap="none" lIns="0" tIns="0" rIns="0" bIns="0" anchor="ctr"/>
          <a:lstStyle/>
          <a:p>
            <a:pPr algn="ctr">
              <a:buNone/>
            </a:pPr>
            <a:r>
              <a:rPr lang="en-US" sz="1800" b="1" dirty="0">
                <a:solidFill>
                  <a:srgbClr val="FFFFFF"/>
                </a:solidFill>
                <a:latin typeface="BIZ UDPGothic"/>
                <a:ea typeface="BIZ UDPGothic"/>
              </a:rPr>
              <a:t>✕</a:t>
            </a:r>
          </a:p>
        </p:txBody>
      </p:sp>
      <p:sp>
        <p:nvSpPr>
          <p:cNvPr id="27" name="OutItem3"/>
          <p:cNvSpPr txBox="1"/>
          <p:nvPr/>
        </p:nvSpPr>
        <p:spPr>
          <a:xfrm>
            <a:off x="6587200" y="1500000"/>
            <a:ext cx="4920000" cy="550000"/>
          </a:xfrm>
          <a:prstGeom prst="rect">
            <a:avLst/>
          </a:prstGeom>
          <a:solidFill>
            <a:srgbClr val="FDEDEC"/>
          </a:solidFill>
          <a:ln w="0">
            <a:noFill/>
          </a:ln>
        </p:spPr>
        <p:txBody>
          <a:bodyPr wrap="square" lIns="137160" rIns="91440" anchor="ctr"/>
          <a:lstStyle/>
          <a:p>
            <a:pPr algn="l">
              <a:buNone/>
            </a:pPr>
            <a:r>
              <a:rPr lang="ja-JP" sz="1300" dirty="0">
                <a:solidFill>
                  <a:srgbClr val="4A5568"/>
                </a:solidFill>
                <a:latin typeface="BIZ UDPGothic"/>
                <a:ea typeface="BIZ UDPGothic"/>
              </a:rPr>
              <a:t>継続運用設計の詳細化</a:t>
            </a:r>
          </a:p>
        </p:txBody>
      </p:sp>
      <p:sp>
        <p:nvSpPr>
          <p:cNvPr id="28" name="XMark4"/>
          <p:cNvSpPr/>
          <p:nvPr/>
        </p:nvSpPr>
        <p:spPr>
          <a:xfrm>
            <a:off x="457200" y="2225000"/>
            <a:ext cx="400000" cy="400000"/>
          </a:xfrm>
          <a:prstGeom prst="ellipse">
            <a:avLst/>
          </a:prstGeom>
          <a:solidFill>
            <a:srgbClr val="F9B9B7"/>
          </a:solidFill>
          <a:ln w="0">
            <a:noFill/>
          </a:ln>
        </p:spPr>
        <p:txBody>
          <a:bodyPr wrap="none" lIns="0" tIns="0" rIns="0" bIns="0" anchor="ctr"/>
          <a:lstStyle/>
          <a:p>
            <a:pPr algn="ctr">
              <a:buNone/>
            </a:pPr>
            <a:r>
              <a:rPr lang="en-US" sz="1800" b="1" dirty="0">
                <a:solidFill>
                  <a:srgbClr val="FFFFFF"/>
                </a:solidFill>
                <a:latin typeface="BIZ UDPGothic"/>
                <a:ea typeface="BIZ UDPGothic"/>
              </a:rPr>
              <a:t>✕</a:t>
            </a:r>
          </a:p>
        </p:txBody>
      </p:sp>
      <p:sp>
        <p:nvSpPr>
          <p:cNvPr id="29" name="OutItem4"/>
          <p:cNvSpPr txBox="1"/>
          <p:nvPr/>
        </p:nvSpPr>
        <p:spPr>
          <a:xfrm>
            <a:off x="937200" y="2150000"/>
            <a:ext cx="4920000" cy="550000"/>
          </a:xfrm>
          <a:prstGeom prst="rect">
            <a:avLst/>
          </a:prstGeom>
          <a:solidFill>
            <a:srgbClr val="FDEDEC"/>
          </a:solidFill>
          <a:ln w="0">
            <a:noFill/>
          </a:ln>
        </p:spPr>
        <p:txBody>
          <a:bodyPr wrap="square" lIns="137160" rIns="91440" anchor="ctr"/>
          <a:lstStyle/>
          <a:p>
            <a:pPr algn="l">
              <a:buNone/>
            </a:pPr>
            <a:r>
              <a:rPr lang="ja-JP" sz="1300" dirty="0">
                <a:solidFill>
                  <a:srgbClr val="4A5568"/>
                </a:solidFill>
                <a:latin typeface="BIZ UDPGothic"/>
                <a:ea typeface="BIZ UDPGothic"/>
              </a:rPr>
              <a:t>本番運用監視指標の実装</a:t>
            </a:r>
          </a:p>
        </p:txBody>
      </p:sp>
      <p:sp>
        <p:nvSpPr>
          <p:cNvPr id="30" name="XMark5"/>
          <p:cNvSpPr/>
          <p:nvPr/>
        </p:nvSpPr>
        <p:spPr>
          <a:xfrm>
            <a:off x="6107200" y="2225000"/>
            <a:ext cx="400000" cy="400000"/>
          </a:xfrm>
          <a:prstGeom prst="ellipse">
            <a:avLst/>
          </a:prstGeom>
          <a:solidFill>
            <a:srgbClr val="F9B9B7"/>
          </a:solidFill>
          <a:ln w="0">
            <a:noFill/>
          </a:ln>
        </p:spPr>
        <p:txBody>
          <a:bodyPr wrap="none" lIns="0" tIns="0" rIns="0" bIns="0" anchor="ctr"/>
          <a:lstStyle/>
          <a:p>
            <a:pPr algn="ctr">
              <a:buNone/>
            </a:pPr>
            <a:r>
              <a:rPr lang="en-US" sz="1800" b="1" dirty="0">
                <a:solidFill>
                  <a:srgbClr val="FFFFFF"/>
                </a:solidFill>
                <a:latin typeface="BIZ UDPGothic"/>
                <a:ea typeface="BIZ UDPGothic"/>
              </a:rPr>
              <a:t>✕</a:t>
            </a:r>
          </a:p>
        </p:txBody>
      </p:sp>
      <p:sp>
        <p:nvSpPr>
          <p:cNvPr id="31" name="OutItem5"/>
          <p:cNvSpPr txBox="1"/>
          <p:nvPr/>
        </p:nvSpPr>
        <p:spPr>
          <a:xfrm>
            <a:off x="6587200" y="2150000"/>
            <a:ext cx="4920000" cy="550000"/>
          </a:xfrm>
          <a:prstGeom prst="rect">
            <a:avLst/>
          </a:prstGeom>
          <a:solidFill>
            <a:srgbClr val="FDEDEC"/>
          </a:solidFill>
          <a:ln w="0">
            <a:noFill/>
          </a:ln>
        </p:spPr>
        <p:txBody>
          <a:bodyPr wrap="square" lIns="137160" rIns="91440" anchor="ctr"/>
          <a:lstStyle/>
          <a:p>
            <a:pPr algn="l">
              <a:buNone/>
            </a:pPr>
            <a:r>
              <a:rPr lang="ja-JP" sz="1300" dirty="0">
                <a:solidFill>
                  <a:srgbClr val="4A5568"/>
                </a:solidFill>
                <a:latin typeface="BIZ UDPGothic"/>
                <a:ea typeface="BIZ UDPGothic"/>
              </a:rPr>
              <a:t>法務・監査部門向け正式審査資料の作成代行</a:t>
            </a:r>
          </a:p>
        </p:txBody>
      </p:sp>
      <p:sp>
        <p:nvSpPr>
          <p:cNvPr id="32" name="XMark6"/>
          <p:cNvSpPr/>
          <p:nvPr/>
        </p:nvSpPr>
        <p:spPr>
          <a:xfrm>
            <a:off x="457200" y="2875000"/>
            <a:ext cx="400000" cy="400000"/>
          </a:xfrm>
          <a:prstGeom prst="ellipse">
            <a:avLst/>
          </a:prstGeom>
          <a:solidFill>
            <a:srgbClr val="F9B9B7"/>
          </a:solidFill>
          <a:ln w="0">
            <a:noFill/>
          </a:ln>
        </p:spPr>
        <p:txBody>
          <a:bodyPr wrap="none" lIns="0" tIns="0" rIns="0" bIns="0" anchor="ctr"/>
          <a:lstStyle/>
          <a:p>
            <a:pPr algn="ctr">
              <a:buNone/>
            </a:pPr>
            <a:r>
              <a:rPr lang="en-US" sz="1800" b="1" dirty="0">
                <a:solidFill>
                  <a:srgbClr val="FFFFFF"/>
                </a:solidFill>
                <a:latin typeface="BIZ UDPGothic"/>
                <a:ea typeface="BIZ UDPGothic"/>
              </a:rPr>
              <a:t>✕</a:t>
            </a:r>
          </a:p>
        </p:txBody>
      </p:sp>
      <p:sp>
        <p:nvSpPr>
          <p:cNvPr id="33" name="OutItem6"/>
          <p:cNvSpPr txBox="1"/>
          <p:nvPr/>
        </p:nvSpPr>
        <p:spPr>
          <a:xfrm>
            <a:off x="937200" y="2800000"/>
            <a:ext cx="4920000" cy="550000"/>
          </a:xfrm>
          <a:prstGeom prst="rect">
            <a:avLst/>
          </a:prstGeom>
          <a:solidFill>
            <a:srgbClr val="FDEDEC"/>
          </a:solidFill>
          <a:ln w="0">
            <a:noFill/>
          </a:ln>
        </p:spPr>
        <p:txBody>
          <a:bodyPr wrap="square" lIns="137160" rIns="91440" anchor="ctr"/>
          <a:lstStyle/>
          <a:p>
            <a:pPr algn="l">
              <a:buNone/>
            </a:pPr>
            <a:r>
              <a:rPr lang="ja-JP" sz="1300" dirty="0">
                <a:solidFill>
                  <a:srgbClr val="4A5568"/>
                </a:solidFill>
                <a:latin typeface="BIZ UDPGothic"/>
                <a:ea typeface="BIZ UDPGothic"/>
              </a:rPr>
              <a:t>契約締結後の追加分析テーマ対応</a:t>
            </a:r>
          </a:p>
        </p:txBody>
      </p:sp>
      <p:sp>
        <p:nvSpPr>
          <p:cNvPr id="34" name="XMark7"/>
          <p:cNvSpPr/>
          <p:nvPr/>
        </p:nvSpPr>
        <p:spPr>
          <a:xfrm>
            <a:off x="6107200" y="2875000"/>
            <a:ext cx="400000" cy="400000"/>
          </a:xfrm>
          <a:prstGeom prst="ellipse">
            <a:avLst/>
          </a:prstGeom>
          <a:solidFill>
            <a:srgbClr val="F9B9B7"/>
          </a:solidFill>
          <a:ln w="0">
            <a:noFill/>
          </a:ln>
        </p:spPr>
        <p:txBody>
          <a:bodyPr wrap="none" lIns="0" tIns="0" rIns="0" bIns="0" anchor="ctr"/>
          <a:lstStyle/>
          <a:p>
            <a:pPr algn="ctr">
              <a:buNone/>
            </a:pPr>
            <a:r>
              <a:rPr lang="en-US" sz="1800" b="1" dirty="0">
                <a:solidFill>
                  <a:srgbClr val="FFFFFF"/>
                </a:solidFill>
                <a:latin typeface="BIZ UDPGothic"/>
                <a:ea typeface="BIZ UDPGothic"/>
              </a:rPr>
              <a:t>✕</a:t>
            </a:r>
          </a:p>
        </p:txBody>
      </p:sp>
      <p:sp>
        <p:nvSpPr>
          <p:cNvPr id="35" name="OutItem7"/>
          <p:cNvSpPr txBox="1"/>
          <p:nvPr/>
        </p:nvSpPr>
        <p:spPr>
          <a:xfrm>
            <a:off x="6587200" y="2800000"/>
            <a:ext cx="4920000" cy="550000"/>
          </a:xfrm>
          <a:prstGeom prst="rect">
            <a:avLst/>
          </a:prstGeom>
          <a:solidFill>
            <a:srgbClr val="FDEDEC"/>
          </a:solidFill>
          <a:ln w="0">
            <a:noFill/>
          </a:ln>
        </p:spPr>
        <p:txBody>
          <a:bodyPr wrap="square" lIns="137160" rIns="91440" anchor="ctr"/>
          <a:lstStyle/>
          <a:p>
            <a:pPr algn="l">
              <a:buNone/>
            </a:pPr>
            <a:r>
              <a:rPr lang="ja-JP" sz="1300" dirty="0">
                <a:solidFill>
                  <a:srgbClr val="4A5568"/>
                </a:solidFill>
                <a:latin typeface="BIZ UDPGothic"/>
                <a:ea typeface="BIZ UDPGothic"/>
              </a:rPr>
              <a:t>train.csv以外のデータソースを前提とした精度改善</a:t>
            </a:r>
          </a:p>
        </p:txBody>
      </p:sp>
      <p:sp>
        <p:nvSpPr>
          <p:cNvPr id="36" name="XMark8"/>
          <p:cNvSpPr/>
          <p:nvPr/>
        </p:nvSpPr>
        <p:spPr>
          <a:xfrm>
            <a:off x="457200" y="3525000"/>
            <a:ext cx="400000" cy="400000"/>
          </a:xfrm>
          <a:prstGeom prst="ellipse">
            <a:avLst/>
          </a:prstGeom>
          <a:solidFill>
            <a:srgbClr val="F9B9B7"/>
          </a:solidFill>
          <a:ln w="0">
            <a:noFill/>
          </a:ln>
        </p:spPr>
        <p:txBody>
          <a:bodyPr wrap="none" lIns="0" tIns="0" rIns="0" bIns="0" anchor="ctr"/>
          <a:lstStyle/>
          <a:p>
            <a:pPr algn="ctr">
              <a:buNone/>
            </a:pPr>
            <a:r>
              <a:rPr lang="en-US" sz="1800" b="1" dirty="0">
                <a:solidFill>
                  <a:srgbClr val="FFFFFF"/>
                </a:solidFill>
                <a:latin typeface="BIZ UDPGothic"/>
                <a:ea typeface="BIZ UDPGothic"/>
              </a:rPr>
              <a:t>✕</a:t>
            </a:r>
          </a:p>
        </p:txBody>
      </p:sp>
      <p:sp>
        <p:nvSpPr>
          <p:cNvPr id="37" name="OutItem8"/>
          <p:cNvSpPr txBox="1"/>
          <p:nvPr/>
        </p:nvSpPr>
        <p:spPr>
          <a:xfrm>
            <a:off x="937200" y="3450000"/>
            <a:ext cx="4920000" cy="550000"/>
          </a:xfrm>
          <a:prstGeom prst="rect">
            <a:avLst/>
          </a:prstGeom>
          <a:solidFill>
            <a:srgbClr val="FDEDEC"/>
          </a:solidFill>
          <a:ln w="0">
            <a:noFill/>
          </a:ln>
        </p:spPr>
        <p:txBody>
          <a:bodyPr wrap="square" lIns="137160" rIns="91440" anchor="ctr"/>
          <a:lstStyle/>
          <a:p>
            <a:pPr algn="l">
              <a:buNone/>
            </a:pPr>
            <a:r>
              <a:rPr lang="ja-JP" sz="1300" dirty="0">
                <a:solidFill>
                  <a:srgbClr val="4A5568"/>
                </a:solidFill>
                <a:latin typeface="BIZ UDPGothic"/>
                <a:ea typeface="BIZ UDPGothic"/>
              </a:rPr>
              <a:t>厳密な因果推論</a:t>
            </a:r>
          </a:p>
        </p:txBody>
      </p:sp>
      <p:sp>
        <p:nvSpPr>
          <p:cNvPr id="38" name="XMark9"/>
          <p:cNvSpPr/>
          <p:nvPr/>
        </p:nvSpPr>
        <p:spPr>
          <a:xfrm>
            <a:off x="6107200" y="3525000"/>
            <a:ext cx="400000" cy="400000"/>
          </a:xfrm>
          <a:prstGeom prst="ellipse">
            <a:avLst/>
          </a:prstGeom>
          <a:solidFill>
            <a:srgbClr val="F9B9B7"/>
          </a:solidFill>
          <a:ln w="0">
            <a:noFill/>
          </a:ln>
        </p:spPr>
        <p:txBody>
          <a:bodyPr wrap="none" lIns="0" tIns="0" rIns="0" bIns="0" anchor="ctr"/>
          <a:lstStyle/>
          <a:p>
            <a:pPr algn="ctr">
              <a:buNone/>
            </a:pPr>
            <a:r>
              <a:rPr lang="en-US" sz="1800" b="1" dirty="0">
                <a:solidFill>
                  <a:srgbClr val="FFFFFF"/>
                </a:solidFill>
                <a:latin typeface="BIZ UDPGothic"/>
                <a:ea typeface="BIZ UDPGothic"/>
              </a:rPr>
              <a:t>✕</a:t>
            </a:r>
          </a:p>
        </p:txBody>
      </p:sp>
      <p:sp>
        <p:nvSpPr>
          <p:cNvPr id="39" name="OutItem9"/>
          <p:cNvSpPr txBox="1"/>
          <p:nvPr/>
        </p:nvSpPr>
        <p:spPr>
          <a:xfrm>
            <a:off x="6587200" y="3450000"/>
            <a:ext cx="4920000" cy="550000"/>
          </a:xfrm>
          <a:prstGeom prst="rect">
            <a:avLst/>
          </a:prstGeom>
          <a:solidFill>
            <a:srgbClr val="FDEDEC"/>
          </a:solidFill>
          <a:ln w="0">
            <a:noFill/>
          </a:ln>
        </p:spPr>
        <p:txBody>
          <a:bodyPr wrap="square" lIns="137160" rIns="91440" anchor="ctr"/>
          <a:lstStyle/>
          <a:p>
            <a:pPr algn="l">
              <a:buNone/>
            </a:pPr>
            <a:r>
              <a:rPr lang="ja-JP" sz="1300" dirty="0">
                <a:solidFill>
                  <a:srgbClr val="4A5568"/>
                </a:solidFill>
                <a:latin typeface="BIZ UDPGothic"/>
                <a:ea typeface="BIZ UDPGothic"/>
              </a:rPr>
              <a:t>y以外の新規目的変数設計</a:t>
            </a:r>
          </a:p>
        </p:txBody>
      </p:sp>
      <p:sp>
        <p:nvSpPr>
          <p:cNvPr id="2" name="テキスト ボックス 1">
            <a:extLst>
              <a:ext uri="{FF2B5EF4-FFF2-40B4-BE49-F238E27FC236}">
                <a16:creationId xmlns:a16="http://schemas.microsoft.com/office/drawing/2014/main" id="{1F26D5C7-A2EE-4775-B991-BEFA7C2CC52E}"/>
              </a:ext>
            </a:extLst>
          </p:cNvPr>
          <p:cNvSpPr txBox="1"/>
          <p:nvPr/>
        </p:nvSpPr>
        <p:spPr>
          <a:xfrm>
            <a:off x="11430000" y="6375400"/>
            <a:ext cx="508000" cy="317500"/>
          </a:xfrm>
          <a:prstGeom prst="rect">
            <a:avLst/>
          </a:prstGeom>
          <a:noFill/>
        </p:spPr>
        <p:txBody>
          <a:bodyPr vertOverflow="overflow" vert="horz" wrap="none" rtlCol="0" anchor="ctr" anchorCtr="0">
            <a:noAutofit/>
          </a:bodyPr>
          <a:lstStyle/>
          <a:p>
            <a:pPr algn="l"/>
            <a:r>
              <a:rPr lang="en-US" altLang="ja-JP" sz="1400">
                <a:solidFill>
                  <a:srgbClr val="718096"/>
                </a:solidFill>
                <a:latin typeface="BIZ UDPGothic"/>
                <a:ea typeface="BIZ UDPGothic"/>
              </a:rPr>
              <a:t>5</a:t>
            </a:r>
            <a:endParaRPr lang="ja-JP" altLang="en-US" sz="1400">
              <a:solidFill>
                <a:srgbClr val="718096"/>
              </a:solidFill>
              <a:latin typeface="BIZ UDPGothic"/>
              <a:ea typeface="BIZ UDPGothic"/>
            </a:endParaRPr>
          </a:p>
        </p:txBody>
      </p:sp>
    </p:spTree>
    <p:extLst>
      <p:ext uri="{BB962C8B-B14F-4D97-AF65-F5344CB8AC3E}">
        <p14:creationId xmlns:p14="http://schemas.microsoft.com/office/powerpoint/2010/main" val="35233268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p:nvPr/>
        </p:nvSpPr>
        <p:spPr>
          <a:xfrm>
            <a:off x="0" y="58000"/>
            <a:ext cx="12192000" cy="640000"/>
          </a:xfrm>
          <a:prstGeom prst="rect">
            <a:avLst/>
          </a:prstGeom>
          <a:solidFill>
            <a:srgbClr val="7FB3D3"/>
          </a:solidFill>
          <a:ln w="0">
            <a:noFill/>
          </a:ln>
        </p:spPr>
        <p:txBody>
          <a:bodyPr wrap="square" anchor="ctr"/>
          <a:lstStyle/>
          <a:p>
            <a:pPr algn="ctr">
              <a:buNone/>
            </a:pPr>
            <a:r>
              <a:rPr lang="ja-JP" sz="2400" b="1" dirty="0">
                <a:solidFill>
                  <a:srgbClr val="FFFFFF"/>
                </a:solidFill>
                <a:latin typeface="BIZ UDPGothic"/>
                <a:ea typeface="BIZ UDPGothic"/>
              </a:rPr>
              <a:t>4. 分析アプローチ ― 全体像</a:t>
            </a:r>
          </a:p>
        </p:txBody>
      </p:sp>
      <p:sp>
        <p:nvSpPr>
          <p:cNvPr id="20" name="Phase0"/>
          <p:cNvSpPr/>
          <p:nvPr/>
        </p:nvSpPr>
        <p:spPr>
          <a:xfrm>
            <a:off x="975360" y="950000"/>
            <a:ext cx="1828800" cy="1200000"/>
          </a:xfrm>
          <a:prstGeom prst="roundRect">
            <a:avLst>
              <a:gd name="adj" fmla="val 10000"/>
            </a:avLst>
          </a:prstGeom>
          <a:solidFill>
            <a:srgbClr val="7FB3D3"/>
          </a:solidFill>
          <a:ln w="0">
            <a:noFill/>
          </a:ln>
        </p:spPr>
        <p:txBody>
          <a:bodyPr wrap="square" lIns="45720" tIns="45720" rIns="45720" bIns="45720" anchor="ctr"/>
          <a:lstStyle/>
          <a:p>
            <a:pPr algn="ctr">
              <a:buNone/>
            </a:pPr>
            <a:r>
              <a:rPr lang="en-US" sz="1400" b="1" dirty="0">
                <a:solidFill>
                  <a:srgbClr val="FFFFFF"/>
                </a:solidFill>
                <a:latin typeface="BIZ UDPGothic"/>
                <a:ea typeface="BIZ UDPGothic"/>
              </a:rPr>
              <a:t>4.1</a:t>
            </a:r>
          </a:p>
          <a:p>
            <a:pPr algn="ctr">
              <a:buNone/>
            </a:pPr>
            <a:r>
              <a:rPr lang="ja-JP" sz="1400" b="1" dirty="0">
                <a:solidFill>
                  <a:srgbClr val="FFFFFF"/>
                </a:solidFill>
                <a:latin typeface="BIZ UDPGothic"/>
                <a:ea typeface="BIZ UDPGothic"/>
              </a:rPr>
              <a:t>データ理解
品質確認</a:t>
            </a:r>
          </a:p>
        </p:txBody>
      </p:sp>
      <p:sp>
        <p:nvSpPr>
          <p:cNvPr id="30" name="Arrow0"/>
          <p:cNvSpPr/>
          <p:nvPr/>
        </p:nvSpPr>
        <p:spPr>
          <a:xfrm>
            <a:off x="2804160" y="1367120"/>
            <a:ext cx="274320" cy="365760"/>
          </a:xfrm>
          <a:prstGeom prst="rightArrow">
            <a:avLst/>
          </a:prstGeom>
          <a:solidFill>
            <a:srgbClr val="CBD5E0"/>
          </a:solidFill>
          <a:ln w="0">
            <a:noFill/>
          </a:ln>
        </p:spPr>
        <p:txBody>
          <a:bodyPr/>
          <a:lstStyle/>
          <a:p>
            <a:endParaRPr lang="ja-JP"/>
          </a:p>
        </p:txBody>
      </p:sp>
      <p:sp>
        <p:nvSpPr>
          <p:cNvPr id="21" name="Phase1"/>
          <p:cNvSpPr/>
          <p:nvPr/>
        </p:nvSpPr>
        <p:spPr>
          <a:xfrm>
            <a:off x="3078480" y="950000"/>
            <a:ext cx="1828800" cy="1200000"/>
          </a:xfrm>
          <a:prstGeom prst="roundRect">
            <a:avLst>
              <a:gd name="adj" fmla="val 10000"/>
            </a:avLst>
          </a:prstGeom>
          <a:solidFill>
            <a:srgbClr val="A8D5BA"/>
          </a:solidFill>
          <a:ln w="0">
            <a:noFill/>
          </a:ln>
        </p:spPr>
        <p:txBody>
          <a:bodyPr wrap="square" lIns="45720" tIns="45720" rIns="45720" bIns="45720" anchor="ctr"/>
          <a:lstStyle/>
          <a:p>
            <a:pPr algn="ctr">
              <a:buNone/>
            </a:pPr>
            <a:r>
              <a:rPr lang="en-US" sz="1400" b="1" dirty="0">
                <a:solidFill>
                  <a:srgbClr val="FFFFFF"/>
                </a:solidFill>
                <a:latin typeface="BIZ UDPGothic"/>
                <a:ea typeface="BIZ UDPGothic"/>
              </a:rPr>
              <a:t>4.2</a:t>
            </a:r>
          </a:p>
          <a:p>
            <a:pPr algn="ctr">
              <a:buNone/>
            </a:pPr>
            <a:r>
              <a:rPr lang="ja-JP" sz="1400" b="1" dirty="0">
                <a:solidFill>
                  <a:srgbClr val="FFFFFF"/>
                </a:solidFill>
                <a:latin typeface="BIZ UDPGothic"/>
                <a:ea typeface="BIZ UDPGothic"/>
              </a:rPr>
              <a:t>探索的
データ分析</a:t>
            </a:r>
          </a:p>
        </p:txBody>
      </p:sp>
      <p:sp>
        <p:nvSpPr>
          <p:cNvPr id="31" name="Arrow1"/>
          <p:cNvSpPr/>
          <p:nvPr/>
        </p:nvSpPr>
        <p:spPr>
          <a:xfrm>
            <a:off x="4907280" y="1367120"/>
            <a:ext cx="274320" cy="365760"/>
          </a:xfrm>
          <a:prstGeom prst="rightArrow">
            <a:avLst/>
          </a:prstGeom>
          <a:solidFill>
            <a:srgbClr val="CBD5E0"/>
          </a:solidFill>
          <a:ln w="0">
            <a:noFill/>
          </a:ln>
        </p:spPr>
        <p:txBody>
          <a:bodyPr/>
          <a:lstStyle/>
          <a:p>
            <a:endParaRPr lang="ja-JP"/>
          </a:p>
        </p:txBody>
      </p:sp>
      <p:sp>
        <p:nvSpPr>
          <p:cNvPr id="22" name="Phase2"/>
          <p:cNvSpPr/>
          <p:nvPr/>
        </p:nvSpPr>
        <p:spPr>
          <a:xfrm>
            <a:off x="5181600" y="950000"/>
            <a:ext cx="1828800" cy="1200000"/>
          </a:xfrm>
          <a:prstGeom prst="roundRect">
            <a:avLst>
              <a:gd name="adj" fmla="val 10000"/>
            </a:avLst>
          </a:prstGeom>
          <a:solidFill>
            <a:srgbClr val="F6C89F"/>
          </a:solidFill>
          <a:ln w="0">
            <a:noFill/>
          </a:ln>
        </p:spPr>
        <p:txBody>
          <a:bodyPr wrap="square" lIns="45720" tIns="45720" rIns="45720" bIns="45720" anchor="ctr"/>
          <a:lstStyle/>
          <a:p>
            <a:pPr algn="ctr">
              <a:buNone/>
            </a:pPr>
            <a:r>
              <a:rPr lang="en-US" sz="1400" b="1" dirty="0">
                <a:solidFill>
                  <a:srgbClr val="FFFFFF"/>
                </a:solidFill>
                <a:latin typeface="BIZ UDPGothic"/>
                <a:ea typeface="BIZ UDPGothic"/>
              </a:rPr>
              <a:t>4.3</a:t>
            </a:r>
          </a:p>
          <a:p>
            <a:pPr algn="ctr">
              <a:buNone/>
            </a:pPr>
            <a:r>
              <a:rPr lang="ja-JP" sz="1400" b="1" dirty="0">
                <a:solidFill>
                  <a:srgbClr val="FFFFFF"/>
                </a:solidFill>
                <a:latin typeface="BIZ UDPGothic"/>
                <a:ea typeface="BIZ UDPGothic"/>
              </a:rPr>
              <a:t>前処理
特徴量設計</a:t>
            </a:r>
          </a:p>
        </p:txBody>
      </p:sp>
      <p:sp>
        <p:nvSpPr>
          <p:cNvPr id="32" name="Arrow2"/>
          <p:cNvSpPr/>
          <p:nvPr/>
        </p:nvSpPr>
        <p:spPr>
          <a:xfrm>
            <a:off x="7010400" y="1367120"/>
            <a:ext cx="274320" cy="365760"/>
          </a:xfrm>
          <a:prstGeom prst="rightArrow">
            <a:avLst/>
          </a:prstGeom>
          <a:solidFill>
            <a:srgbClr val="CBD5E0"/>
          </a:solidFill>
          <a:ln w="0">
            <a:noFill/>
          </a:ln>
        </p:spPr>
        <p:txBody>
          <a:bodyPr/>
          <a:lstStyle/>
          <a:p>
            <a:endParaRPr lang="ja-JP"/>
          </a:p>
        </p:txBody>
      </p:sp>
      <p:sp>
        <p:nvSpPr>
          <p:cNvPr id="23" name="Phase3"/>
          <p:cNvSpPr/>
          <p:nvPr/>
        </p:nvSpPr>
        <p:spPr>
          <a:xfrm>
            <a:off x="7284720" y="950000"/>
            <a:ext cx="1828800" cy="1200000"/>
          </a:xfrm>
          <a:prstGeom prst="roundRect">
            <a:avLst>
              <a:gd name="adj" fmla="val 10000"/>
            </a:avLst>
          </a:prstGeom>
          <a:solidFill>
            <a:srgbClr val="D4A5C9"/>
          </a:solidFill>
          <a:ln w="0">
            <a:noFill/>
          </a:ln>
        </p:spPr>
        <p:txBody>
          <a:bodyPr wrap="square" lIns="45720" tIns="45720" rIns="45720" bIns="45720" anchor="ctr"/>
          <a:lstStyle/>
          <a:p>
            <a:pPr algn="ctr">
              <a:buNone/>
            </a:pPr>
            <a:r>
              <a:rPr lang="en-US" sz="1400" b="1" dirty="0">
                <a:solidFill>
                  <a:srgbClr val="FFFFFF"/>
                </a:solidFill>
                <a:latin typeface="BIZ UDPGothic"/>
                <a:ea typeface="BIZ UDPGothic"/>
              </a:rPr>
              <a:t>4.4</a:t>
            </a:r>
          </a:p>
          <a:p>
            <a:pPr algn="ctr">
              <a:buNone/>
            </a:pPr>
            <a:r>
              <a:rPr lang="ja-JP" sz="1400" b="1" dirty="0">
                <a:solidFill>
                  <a:srgbClr val="FFFFFF"/>
                </a:solidFill>
                <a:latin typeface="BIZ UDPGothic"/>
                <a:ea typeface="BIZ UDPGothic"/>
              </a:rPr>
              <a:t>モデル構築
評価</a:t>
            </a:r>
          </a:p>
        </p:txBody>
      </p:sp>
      <p:sp>
        <p:nvSpPr>
          <p:cNvPr id="33" name="Arrow3"/>
          <p:cNvSpPr/>
          <p:nvPr/>
        </p:nvSpPr>
        <p:spPr>
          <a:xfrm>
            <a:off x="9113520" y="1367120"/>
            <a:ext cx="274320" cy="365760"/>
          </a:xfrm>
          <a:prstGeom prst="rightArrow">
            <a:avLst/>
          </a:prstGeom>
          <a:solidFill>
            <a:srgbClr val="CBD5E0"/>
          </a:solidFill>
          <a:ln w="0">
            <a:noFill/>
          </a:ln>
        </p:spPr>
        <p:txBody>
          <a:bodyPr/>
          <a:lstStyle/>
          <a:p>
            <a:endParaRPr lang="ja-JP"/>
          </a:p>
        </p:txBody>
      </p:sp>
      <p:sp>
        <p:nvSpPr>
          <p:cNvPr id="24" name="Phase4"/>
          <p:cNvSpPr/>
          <p:nvPr/>
        </p:nvSpPr>
        <p:spPr>
          <a:xfrm>
            <a:off x="9387840" y="950000"/>
            <a:ext cx="1828800" cy="1200000"/>
          </a:xfrm>
          <a:prstGeom prst="roundRect">
            <a:avLst>
              <a:gd name="adj" fmla="val 10000"/>
            </a:avLst>
          </a:prstGeom>
          <a:solidFill>
            <a:srgbClr val="F9B9B7"/>
          </a:solidFill>
          <a:ln w="0">
            <a:noFill/>
          </a:ln>
        </p:spPr>
        <p:txBody>
          <a:bodyPr wrap="square" lIns="45720" tIns="45720" rIns="45720" bIns="45720" anchor="ctr"/>
          <a:lstStyle/>
          <a:p>
            <a:pPr algn="ctr">
              <a:buNone/>
            </a:pPr>
            <a:r>
              <a:rPr lang="en-US" sz="1400" b="1" dirty="0">
                <a:solidFill>
                  <a:srgbClr val="FFFFFF"/>
                </a:solidFill>
                <a:latin typeface="BIZ UDPGothic"/>
                <a:ea typeface="BIZ UDPGothic"/>
              </a:rPr>
              <a:t>4.5</a:t>
            </a:r>
          </a:p>
          <a:p>
            <a:pPr algn="ctr">
              <a:buNone/>
            </a:pPr>
            <a:r>
              <a:rPr lang="ja-JP" sz="1400" b="1" dirty="0">
                <a:solidFill>
                  <a:srgbClr val="FFFFFF"/>
                </a:solidFill>
                <a:latin typeface="BIZ UDPGothic"/>
                <a:ea typeface="BIZ UDPGothic"/>
              </a:rPr>
              <a:t>説明可能性
ガバナンス</a:t>
            </a:r>
          </a:p>
        </p:txBody>
      </p:sp>
      <p:sp>
        <p:nvSpPr>
          <p:cNvPr id="40" name="Detail0"/>
          <p:cNvSpPr txBox="1"/>
          <p:nvPr/>
        </p:nvSpPr>
        <p:spPr>
          <a:xfrm>
            <a:off x="975360" y="2300000"/>
            <a:ext cx="1828800" cy="2000000"/>
          </a:xfrm>
          <a:prstGeom prst="roundRect">
            <a:avLst>
              <a:gd name="adj" fmla="val 6000"/>
            </a:avLst>
          </a:prstGeom>
          <a:solidFill>
            <a:srgbClr val="EBF5FB"/>
          </a:solidFill>
          <a:ln w="12700">
            <a:solidFill>
              <a:srgbClr val="7FB3D3"/>
            </a:solidFill>
          </a:ln>
        </p:spPr>
        <p:txBody>
          <a:bodyPr wrap="square" lIns="91440" tIns="91440" rIns="91440" bIns="45720" anchor="t"/>
          <a:lstStyle/>
          <a:p>
            <a:pPr marL="171450" indent="-171450" algn="l">
              <a:buFont typeface="Arial"/>
              <a:buChar char="●"/>
            </a:pPr>
            <a:r>
              <a:rPr lang="ja-JP" sz="1050" dirty="0">
                <a:solidFill>
                  <a:srgbClr val="4A5568"/>
                </a:solidFill>
                <a:latin typeface="BIZ UDPGothic"/>
                <a:ea typeface="BIZ UDPGothic"/>
              </a:rPr>
              <a:t>正本データ受領確認</a:t>
            </a:r>
          </a:p>
          <a:p>
            <a:pPr marL="171450" indent="-171450" algn="l">
              <a:buFont typeface="Arial"/>
              <a:buChar char="●"/>
            </a:pPr>
            <a:r>
              <a:rPr lang="ja-JP" sz="1050" dirty="0">
                <a:solidFill>
                  <a:srgbClr val="4A5568"/>
                </a:solidFill>
                <a:latin typeface="BIZ UDPGothic"/>
                <a:ea typeface="BIZ UDPGothic"/>
              </a:rPr>
              <a:t>カラム定義参照</a:t>
            </a:r>
          </a:p>
          <a:p>
            <a:pPr marL="171450" indent="-171450" algn="l">
              <a:buFont typeface="Arial"/>
              <a:buChar char="●"/>
            </a:pPr>
            <a:r>
              <a:rPr lang="ja-JP" sz="1050" dirty="0">
                <a:solidFill>
                  <a:srgbClr val="4A5568"/>
                </a:solidFill>
                <a:latin typeface="BIZ UDPGothic"/>
                <a:ea typeface="BIZ UDPGothic"/>
              </a:rPr>
              <a:t>業務上不明値の識別</a:t>
            </a:r>
          </a:p>
          <a:p>
            <a:pPr marL="171450" indent="-171450" algn="l">
              <a:buFont typeface="Arial"/>
              <a:buChar char="●"/>
            </a:pPr>
            <a:r>
              <a:rPr lang="ja-JP" sz="1050" dirty="0">
                <a:solidFill>
                  <a:srgbClr val="4A5568"/>
                </a:solidFill>
                <a:latin typeface="BIZ UDPGothic"/>
                <a:ea typeface="BIZ UDPGothic"/>
              </a:rPr>
              <a:t>unknown/pdays=-1の扱い設計</a:t>
            </a:r>
          </a:p>
        </p:txBody>
      </p:sp>
      <p:sp>
        <p:nvSpPr>
          <p:cNvPr id="41" name="Detail1"/>
          <p:cNvSpPr txBox="1"/>
          <p:nvPr/>
        </p:nvSpPr>
        <p:spPr>
          <a:xfrm>
            <a:off x="3078480" y="2300000"/>
            <a:ext cx="1828800" cy="2000000"/>
          </a:xfrm>
          <a:prstGeom prst="roundRect">
            <a:avLst>
              <a:gd name="adj" fmla="val 6000"/>
            </a:avLst>
          </a:prstGeom>
          <a:solidFill>
            <a:srgbClr val="E8F8F5"/>
          </a:solidFill>
          <a:ln w="12700">
            <a:solidFill>
              <a:srgbClr val="A8D5BA"/>
            </a:solidFill>
          </a:ln>
        </p:spPr>
        <p:txBody>
          <a:bodyPr wrap="square" lIns="91440" tIns="91440" rIns="91440" bIns="45720" anchor="t"/>
          <a:lstStyle/>
          <a:p>
            <a:pPr marL="171450" indent="-171450" algn="l">
              <a:buFont typeface="Arial"/>
              <a:buChar char="●"/>
            </a:pPr>
            <a:r>
              <a:rPr lang="ja-JP" sz="1050" dirty="0">
                <a:solidFill>
                  <a:srgbClr val="4A5568"/>
                </a:solidFill>
                <a:latin typeface="BIZ UDPGothic"/>
                <a:ea typeface="BIZ UDPGothic"/>
              </a:rPr>
              <a:t>契約率11.7%の分布確認</a:t>
            </a:r>
          </a:p>
          <a:p>
            <a:pPr marL="171450" indent="-171450" algn="l">
              <a:buFont typeface="Arial"/>
              <a:buChar char="●"/>
            </a:pPr>
            <a:r>
              <a:rPr lang="ja-JP" sz="1050" dirty="0">
                <a:solidFill>
                  <a:srgbClr val="4A5568"/>
                </a:solidFill>
                <a:latin typeface="BIZ UDPGothic"/>
                <a:ea typeface="BIZ UDPGothic"/>
              </a:rPr>
              <a:t>属性別・接触別契約率整理</a:t>
            </a:r>
          </a:p>
          <a:p>
            <a:pPr marL="171450" indent="-171450" algn="l">
              <a:buFont typeface="Arial"/>
              <a:buChar char="●"/>
            </a:pPr>
            <a:r>
              <a:rPr lang="ja-JP" sz="1050" dirty="0">
                <a:solidFill>
                  <a:srgbClr val="4A5568"/>
                </a:solidFill>
                <a:latin typeface="BIZ UDPGothic"/>
                <a:ea typeface="BIZ UDPGothic"/>
              </a:rPr>
              <a:t>外れ値・裾分布の確認</a:t>
            </a:r>
          </a:p>
          <a:p>
            <a:pPr marL="171450" indent="-171450" algn="l">
              <a:buFont typeface="Arial"/>
              <a:buChar char="●"/>
            </a:pPr>
            <a:r>
              <a:rPr lang="ja-JP" sz="1050" dirty="0">
                <a:solidFill>
                  <a:srgbClr val="4A5568"/>
                </a:solidFill>
                <a:latin typeface="BIZ UDPGothic"/>
                <a:ea typeface="BIZ UDPGothic"/>
              </a:rPr>
              <a:t>高見込み顧客の仮説形成</a:t>
            </a:r>
          </a:p>
        </p:txBody>
      </p:sp>
      <p:sp>
        <p:nvSpPr>
          <p:cNvPr id="42" name="Detail2"/>
          <p:cNvSpPr txBox="1"/>
          <p:nvPr/>
        </p:nvSpPr>
        <p:spPr>
          <a:xfrm>
            <a:off x="5181600" y="2300000"/>
            <a:ext cx="1828800" cy="2000000"/>
          </a:xfrm>
          <a:prstGeom prst="roundRect">
            <a:avLst>
              <a:gd name="adj" fmla="val 6000"/>
            </a:avLst>
          </a:prstGeom>
          <a:solidFill>
            <a:srgbClr val="FEF5E7"/>
          </a:solidFill>
          <a:ln w="12700">
            <a:solidFill>
              <a:srgbClr val="F6C89F"/>
            </a:solidFill>
          </a:ln>
        </p:spPr>
        <p:txBody>
          <a:bodyPr wrap="square" lIns="91440" tIns="91440" rIns="91440" bIns="45720" anchor="t"/>
          <a:lstStyle/>
          <a:p>
            <a:pPr marL="171450" indent="-171450" algn="l">
              <a:buFont typeface="Arial"/>
              <a:buChar char="●"/>
            </a:pPr>
            <a:r>
              <a:rPr lang="ja-JP" sz="1050" dirty="0">
                <a:solidFill>
                  <a:srgbClr val="4A5568"/>
                </a:solidFill>
                <a:latin typeface="BIZ UDPGothic"/>
                <a:ea typeface="BIZ UDPGothic"/>
              </a:rPr>
              <a:t>id除外・カテゴリ値維持</a:t>
            </a:r>
          </a:p>
          <a:p>
            <a:pPr marL="171450" indent="-171450" algn="l">
              <a:buFont typeface="Arial"/>
              <a:buChar char="●"/>
            </a:pPr>
            <a:r>
              <a:rPr lang="ja-JP" sz="1050" dirty="0">
                <a:solidFill>
                  <a:srgbClr val="4A5568"/>
                </a:solidFill>
                <a:latin typeface="BIZ UDPGothic"/>
                <a:ea typeface="BIZ UDPGothic"/>
              </a:rPr>
              <a:t>数値変換・ビニング適用</a:t>
            </a:r>
          </a:p>
          <a:p>
            <a:pPr marL="171450" indent="-171450" algn="l">
              <a:buFont typeface="Arial"/>
              <a:buChar char="●"/>
            </a:pPr>
            <a:r>
              <a:rPr lang="ja-JP" sz="1050" dirty="0">
                <a:solidFill>
                  <a:srgbClr val="4A5568"/>
                </a:solidFill>
                <a:latin typeface="BIZ UDPGothic"/>
                <a:ea typeface="BIZ UDPGothic"/>
              </a:rPr>
              <a:t>学習/検証データ分割固定</a:t>
            </a:r>
          </a:p>
          <a:p>
            <a:pPr marL="171450" indent="-171450" algn="l">
              <a:buFont typeface="Arial"/>
              <a:buChar char="●"/>
            </a:pPr>
            <a:r>
              <a:rPr lang="ja-JP" sz="1050" dirty="0">
                <a:solidFill>
                  <a:srgbClr val="4A5568"/>
                </a:solidFill>
                <a:latin typeface="BIZ UDPGothic"/>
                <a:ea typeface="BIZ UDPGothic"/>
              </a:rPr>
              <a:t>duration含有/非含有の分離</a:t>
            </a:r>
          </a:p>
        </p:txBody>
      </p:sp>
      <p:sp>
        <p:nvSpPr>
          <p:cNvPr id="43" name="Detail3"/>
          <p:cNvSpPr txBox="1"/>
          <p:nvPr/>
        </p:nvSpPr>
        <p:spPr>
          <a:xfrm>
            <a:off x="7284720" y="2300000"/>
            <a:ext cx="1828800" cy="2000000"/>
          </a:xfrm>
          <a:prstGeom prst="roundRect">
            <a:avLst>
              <a:gd name="adj" fmla="val 6000"/>
            </a:avLst>
          </a:prstGeom>
          <a:solidFill>
            <a:srgbClr val="F5EEF8"/>
          </a:solidFill>
          <a:ln w="12700">
            <a:solidFill>
              <a:srgbClr val="D4A5C9"/>
            </a:solidFill>
          </a:ln>
        </p:spPr>
        <p:txBody>
          <a:bodyPr wrap="square" lIns="91440" tIns="91440" rIns="91440" bIns="45720" anchor="t"/>
          <a:lstStyle/>
          <a:p>
            <a:pPr marL="171450" indent="-171450" algn="l">
              <a:buFont typeface="Arial"/>
              <a:buChar char="●"/>
            </a:pPr>
            <a:r>
              <a:rPr lang="ja-JP" sz="1050" dirty="0">
                <a:solidFill>
                  <a:srgbClr val="4A5568"/>
                </a:solidFill>
                <a:latin typeface="BIZ UDPGothic"/>
                <a:ea typeface="BIZ UDPGothic"/>
              </a:rPr>
              <a:t>ロジスティック回帰を第一候補</a:t>
            </a:r>
          </a:p>
          <a:p>
            <a:pPr marL="171450" indent="-171450" algn="l">
              <a:buFont typeface="Arial"/>
              <a:buChar char="●"/>
            </a:pPr>
            <a:r>
              <a:rPr lang="ja-JP" sz="1050" dirty="0">
                <a:solidFill>
                  <a:srgbClr val="4A5568"/>
                </a:solidFill>
                <a:latin typeface="BIZ UDPGothic"/>
                <a:ea typeface="BIZ UDPGothic"/>
              </a:rPr>
              <a:t>木系モデルとの比較評価</a:t>
            </a:r>
          </a:p>
          <a:p>
            <a:pPr marL="171450" indent="-171450" algn="l">
              <a:buFont typeface="Arial"/>
              <a:buChar char="●"/>
            </a:pPr>
            <a:r>
              <a:rPr lang="ja-JP" sz="1050" dirty="0">
                <a:solidFill>
                  <a:srgbClr val="4A5568"/>
                </a:solidFill>
                <a:latin typeface="BIZ UDPGothic"/>
                <a:ea typeface="BIZ UDPGothic"/>
              </a:rPr>
              <a:t>AUC/Precision/Recall/F1併用</a:t>
            </a:r>
          </a:p>
          <a:p>
            <a:pPr marL="171450" indent="-171450" algn="l">
              <a:buFont typeface="Arial"/>
              <a:buChar char="●"/>
            </a:pPr>
            <a:r>
              <a:rPr lang="ja-JP" sz="1050" dirty="0">
                <a:solidFill>
                  <a:srgbClr val="4A5568"/>
                </a:solidFill>
                <a:latin typeface="BIZ UDPGothic"/>
                <a:ea typeface="BIZ UDPGothic"/>
              </a:rPr>
              <a:t>上位スコア群契約率算出</a:t>
            </a:r>
          </a:p>
        </p:txBody>
      </p:sp>
      <p:sp>
        <p:nvSpPr>
          <p:cNvPr id="44" name="Detail4"/>
          <p:cNvSpPr txBox="1"/>
          <p:nvPr/>
        </p:nvSpPr>
        <p:spPr>
          <a:xfrm>
            <a:off x="9387840" y="2300000"/>
            <a:ext cx="1828800" cy="2000000"/>
          </a:xfrm>
          <a:prstGeom prst="roundRect">
            <a:avLst>
              <a:gd name="adj" fmla="val 6000"/>
            </a:avLst>
          </a:prstGeom>
          <a:solidFill>
            <a:srgbClr val="FDEDEC"/>
          </a:solidFill>
          <a:ln w="12700">
            <a:solidFill>
              <a:srgbClr val="F9B9B7"/>
            </a:solidFill>
          </a:ln>
        </p:spPr>
        <p:txBody>
          <a:bodyPr wrap="square" lIns="91440" tIns="91440" rIns="91440" bIns="45720" anchor="t"/>
          <a:lstStyle/>
          <a:p>
            <a:pPr marL="171450" indent="-171450" algn="l">
              <a:buFont typeface="Arial"/>
              <a:buChar char="●"/>
            </a:pPr>
            <a:r>
              <a:rPr lang="ja-JP" sz="1050" dirty="0">
                <a:solidFill>
                  <a:srgbClr val="4A5568"/>
                </a:solidFill>
                <a:latin typeface="BIZ UDPGothic"/>
                <a:ea typeface="BIZ UDPGothic"/>
              </a:rPr>
              <a:t>重要変数ランキング提示</a:t>
            </a:r>
          </a:p>
          <a:p>
            <a:pPr marL="171450" indent="-171450" algn="l">
              <a:buFont typeface="Arial"/>
              <a:buChar char="●"/>
            </a:pPr>
            <a:r>
              <a:rPr lang="ja-JP" sz="1050" dirty="0">
                <a:solidFill>
                  <a:srgbClr val="4A5568"/>
                </a:solidFill>
                <a:latin typeface="BIZ UDPGothic"/>
                <a:ea typeface="BIZ UDPGothic"/>
              </a:rPr>
              <a:t>公平性・バイアス初期確認</a:t>
            </a:r>
          </a:p>
          <a:p>
            <a:pPr marL="171450" indent="-171450" algn="l">
              <a:buFont typeface="Arial"/>
              <a:buChar char="●"/>
            </a:pPr>
            <a:r>
              <a:rPr lang="ja-JP" sz="1050" dirty="0">
                <a:solidFill>
                  <a:srgbClr val="4A5568"/>
                </a:solidFill>
                <a:latin typeface="BIZ UDPGothic"/>
                <a:ea typeface="BIZ UDPGothic"/>
              </a:rPr>
              <a:t>監査証跡の整備</a:t>
            </a:r>
          </a:p>
          <a:p>
            <a:pPr marL="171450" indent="-171450" algn="l">
              <a:buFont typeface="Arial"/>
              <a:buChar char="●"/>
            </a:pPr>
            <a:r>
              <a:rPr lang="ja-JP" sz="1050" dirty="0">
                <a:solidFill>
                  <a:srgbClr val="4A5568"/>
                </a:solidFill>
                <a:latin typeface="BIZ UDPGothic"/>
                <a:ea typeface="BIZ UDPGothic"/>
              </a:rPr>
              <a:t>モデル採用理由の明文化</a:t>
            </a:r>
          </a:p>
        </p:txBody>
      </p:sp>
      <p:sp>
        <p:nvSpPr>
          <p:cNvPr id="2" name="テキスト ボックス 1">
            <a:extLst>
              <a:ext uri="{FF2B5EF4-FFF2-40B4-BE49-F238E27FC236}">
                <a16:creationId xmlns:a16="http://schemas.microsoft.com/office/drawing/2014/main" id="{DF3862B4-4AAA-44A7-BA16-5CBC2B75FD01}"/>
              </a:ext>
            </a:extLst>
          </p:cNvPr>
          <p:cNvSpPr txBox="1"/>
          <p:nvPr/>
        </p:nvSpPr>
        <p:spPr>
          <a:xfrm>
            <a:off x="11430000" y="6375400"/>
            <a:ext cx="508000" cy="317500"/>
          </a:xfrm>
          <a:prstGeom prst="rect">
            <a:avLst/>
          </a:prstGeom>
          <a:noFill/>
        </p:spPr>
        <p:txBody>
          <a:bodyPr vertOverflow="overflow" vert="horz" wrap="none" rtlCol="0" anchor="ctr" anchorCtr="0">
            <a:noAutofit/>
          </a:bodyPr>
          <a:lstStyle/>
          <a:p>
            <a:pPr algn="l"/>
            <a:r>
              <a:rPr lang="en-US" altLang="ja-JP" sz="1400">
                <a:solidFill>
                  <a:srgbClr val="718096"/>
                </a:solidFill>
                <a:latin typeface="BIZ UDPGothic"/>
                <a:ea typeface="BIZ UDPGothic"/>
              </a:rPr>
              <a:t>6</a:t>
            </a:r>
            <a:endParaRPr lang="ja-JP" altLang="en-US" sz="1400">
              <a:solidFill>
                <a:srgbClr val="718096"/>
              </a:solidFill>
              <a:latin typeface="BIZ UDPGothic"/>
              <a:ea typeface="BIZ UDPGothic"/>
            </a:endParaRPr>
          </a:p>
        </p:txBody>
      </p:sp>
    </p:spTree>
    <p:extLst>
      <p:ext uri="{BB962C8B-B14F-4D97-AF65-F5344CB8AC3E}">
        <p14:creationId xmlns:p14="http://schemas.microsoft.com/office/powerpoint/2010/main" val="36750384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p:nvPr/>
        </p:nvSpPr>
        <p:spPr>
          <a:xfrm>
            <a:off x="0" y="58000"/>
            <a:ext cx="12192000" cy="640000"/>
          </a:xfrm>
          <a:prstGeom prst="rect">
            <a:avLst/>
          </a:prstGeom>
          <a:solidFill>
            <a:srgbClr val="7FB3D3"/>
          </a:solidFill>
          <a:ln w="0">
            <a:noFill/>
          </a:ln>
        </p:spPr>
        <p:txBody>
          <a:bodyPr wrap="square" anchor="ctr"/>
          <a:lstStyle/>
          <a:p>
            <a:pPr algn="ctr">
              <a:buNone/>
            </a:pPr>
            <a:r>
              <a:rPr lang="ja-JP" sz="2400" b="1" dirty="0">
                <a:solidFill>
                  <a:srgbClr val="FFFFFF"/>
                </a:solidFill>
                <a:latin typeface="BIZ UDPGothic"/>
                <a:ea typeface="BIZ UDPGothic"/>
              </a:rPr>
              <a:t>4.1 データ理解・品質確認 / 4.2 探索的データ分析</a:t>
            </a:r>
          </a:p>
        </p:txBody>
      </p:sp>
      <p:sp>
        <p:nvSpPr>
          <p:cNvPr id="11" name="Label41"/>
          <p:cNvSpPr/>
          <p:nvPr/>
        </p:nvSpPr>
        <p:spPr>
          <a:xfrm>
            <a:off x="457200" y="850000"/>
            <a:ext cx="5334000" cy="380000"/>
          </a:xfrm>
          <a:prstGeom prst="roundRect">
            <a:avLst>
              <a:gd name="adj" fmla="val 16000"/>
            </a:avLst>
          </a:prstGeom>
          <a:solidFill>
            <a:srgbClr val="7FB3D3"/>
          </a:solidFill>
          <a:ln w="0">
            <a:noFill/>
          </a:ln>
        </p:spPr>
        <p:txBody>
          <a:bodyPr wrap="square" lIns="137160" anchor="ctr"/>
          <a:lstStyle/>
          <a:p>
            <a:pPr algn="l">
              <a:buNone/>
            </a:pPr>
            <a:r>
              <a:rPr lang="ja-JP" sz="1600" b="1" dirty="0">
                <a:solidFill>
                  <a:srgbClr val="FFFFFF"/>
                </a:solidFill>
                <a:latin typeface="BIZ UDPGothic"/>
                <a:ea typeface="BIZ UDPGothic"/>
              </a:rPr>
              <a:t>4.1 データ理解・品質確認</a:t>
            </a:r>
          </a:p>
        </p:txBody>
      </p:sp>
      <p:sp>
        <p:nvSpPr>
          <p:cNvPr id="12" name="Content41"/>
          <p:cNvSpPr txBox="1"/>
          <p:nvPr/>
        </p:nvSpPr>
        <p:spPr>
          <a:xfrm>
            <a:off x="457200" y="1300000"/>
            <a:ext cx="5334000" cy="2400000"/>
          </a:xfrm>
          <a:prstGeom prst="roundRect">
            <a:avLst>
              <a:gd name="adj" fmla="val 5000"/>
            </a:avLst>
          </a:prstGeom>
          <a:solidFill>
            <a:srgbClr val="EBF5FB"/>
          </a:solidFill>
          <a:ln w="12700">
            <a:solidFill>
              <a:srgbClr val="7FB3D3"/>
            </a:solidFill>
          </a:ln>
        </p:spPr>
        <p:txBody>
          <a:bodyPr wrap="square" lIns="137160" tIns="91440" rIns="91440" bIns="45720" anchor="t"/>
          <a:lstStyle/>
          <a:p>
            <a:pPr marL="228600" indent="-228600" algn="l">
              <a:buFont typeface="Arial"/>
              <a:buChar char="●"/>
            </a:pPr>
            <a:r>
              <a:rPr lang="ja-JP" sz="1200" dirty="0">
                <a:solidFill>
                  <a:srgbClr val="2D3748"/>
                </a:solidFill>
                <a:latin typeface="BIZ UDPGothic"/>
                <a:ea typeface="BIZ UDPGothic"/>
              </a:rPr>
              <a:t>train.csv を正本データとして受領確認</a:t>
            </a:r>
          </a:p>
          <a:p>
            <a:pPr marL="228600" indent="-228600" algn="l">
              <a:buFont typeface="Arial"/>
              <a:buChar char="●"/>
            </a:pPr>
            <a:r>
              <a:rPr lang="ja-JP" sz="1200" dirty="0">
                <a:solidFill>
                  <a:srgbClr val="2D3748"/>
                </a:solidFill>
                <a:latin typeface="BIZ UDPGothic"/>
                <a:ea typeface="BIZ UDPGothic"/>
              </a:rPr>
              <a:t>カラム説明.md を正式なカラム定義として参照</a:t>
            </a:r>
          </a:p>
          <a:p>
            <a:pPr marL="228600" indent="-228600" algn="l">
              <a:buFont typeface="Arial"/>
              <a:buChar char="●"/>
            </a:pPr>
            <a:r>
              <a:rPr lang="ja-JP" sz="1200" dirty="0">
                <a:solidFill>
                  <a:srgbClr val="2D3748"/>
                </a:solidFill>
                <a:latin typeface="BIZ UDPGothic"/>
                <a:ea typeface="BIZ UDPGothic"/>
              </a:rPr>
              <a:t>欠損件数0件を前提に、業務上の不明値カテゴリを識別</a:t>
            </a:r>
          </a:p>
          <a:p>
            <a:pPr marL="228600" indent="-228600" algn="l">
              <a:buFont typeface="Arial"/>
              <a:buChar char="●"/>
            </a:pPr>
            <a:r>
              <a:rPr lang="ja-JP" sz="1200" dirty="0">
                <a:solidFill>
                  <a:srgbClr val="2D3748"/>
                </a:solidFill>
                <a:latin typeface="BIZ UDPGothic"/>
                <a:ea typeface="BIZ UDPGothic"/>
              </a:rPr>
              <a:t>education=unknown、contact=unknown、poutcome=unknown は欠損補完せず有効カテゴリとして保持</a:t>
            </a:r>
          </a:p>
          <a:p>
            <a:pPr marL="228600" indent="-228600" algn="l">
              <a:buFont typeface="Arial"/>
              <a:buChar char="●"/>
            </a:pPr>
            <a:r>
              <a:rPr lang="ja-JP" sz="1200" dirty="0">
                <a:solidFill>
                  <a:srgbClr val="2D3748"/>
                </a:solidFill>
                <a:latin typeface="BIZ UDPGothic"/>
                <a:ea typeface="BIZ UDPGothic"/>
              </a:rPr>
              <a:t>pdays=-1 は前回未接触を示す特別値として扱い、数値とフラグの両面から有効性を検証</a:t>
            </a:r>
          </a:p>
        </p:txBody>
      </p:sp>
      <p:sp>
        <p:nvSpPr>
          <p:cNvPr id="13" name="Label42"/>
          <p:cNvSpPr/>
          <p:nvPr/>
        </p:nvSpPr>
        <p:spPr>
          <a:xfrm>
            <a:off x="6400800" y="850000"/>
            <a:ext cx="5334000" cy="380000"/>
          </a:xfrm>
          <a:prstGeom prst="roundRect">
            <a:avLst>
              <a:gd name="adj" fmla="val 16000"/>
            </a:avLst>
          </a:prstGeom>
          <a:solidFill>
            <a:srgbClr val="A8D5BA"/>
          </a:solidFill>
          <a:ln w="0">
            <a:noFill/>
          </a:ln>
        </p:spPr>
        <p:txBody>
          <a:bodyPr wrap="square" lIns="137160" anchor="ctr"/>
          <a:lstStyle/>
          <a:p>
            <a:pPr algn="l">
              <a:buNone/>
            </a:pPr>
            <a:r>
              <a:rPr lang="ja-JP" sz="1600" b="1" dirty="0">
                <a:solidFill>
                  <a:srgbClr val="FFFFFF"/>
                </a:solidFill>
                <a:latin typeface="BIZ UDPGothic"/>
                <a:ea typeface="BIZ UDPGothic"/>
              </a:rPr>
              <a:t>4.2 探索的データ分析</a:t>
            </a:r>
          </a:p>
        </p:txBody>
      </p:sp>
      <p:sp>
        <p:nvSpPr>
          <p:cNvPr id="14" name="Content42"/>
          <p:cNvSpPr txBox="1"/>
          <p:nvPr/>
        </p:nvSpPr>
        <p:spPr>
          <a:xfrm>
            <a:off x="6400800" y="1300000"/>
            <a:ext cx="5334000" cy="2400000"/>
          </a:xfrm>
          <a:prstGeom prst="roundRect">
            <a:avLst>
              <a:gd name="adj" fmla="val 5000"/>
            </a:avLst>
          </a:prstGeom>
          <a:solidFill>
            <a:srgbClr val="E8F8F5"/>
          </a:solidFill>
          <a:ln w="12700">
            <a:solidFill>
              <a:srgbClr val="A8D5BA"/>
            </a:solidFill>
          </a:ln>
        </p:spPr>
        <p:txBody>
          <a:bodyPr wrap="square" lIns="137160" tIns="91440" rIns="91440" bIns="45720" anchor="t"/>
          <a:lstStyle/>
          <a:p>
            <a:pPr marL="228600" indent="-228600" algn="l">
              <a:buFont typeface="Arial"/>
              <a:buChar char="●"/>
            </a:pPr>
            <a:r>
              <a:rPr lang="ja-JP" sz="1200" dirty="0">
                <a:solidFill>
                  <a:srgbClr val="2D3748"/>
                </a:solidFill>
                <a:latin typeface="BIZ UDPGothic"/>
                <a:ea typeface="BIZ UDPGothic"/>
              </a:rPr>
              <a:t>目的変数 y の分布と契約率11.7%を確認</a:t>
            </a:r>
          </a:p>
          <a:p>
            <a:pPr marL="228600" indent="-228600" algn="l">
              <a:buFont typeface="Arial"/>
              <a:buChar char="●"/>
            </a:pPr>
            <a:r>
              <a:rPr lang="ja-JP" sz="1200" dirty="0">
                <a:solidFill>
                  <a:srgbClr val="2D3748"/>
                </a:solidFill>
                <a:latin typeface="BIZ UDPGothic"/>
                <a:ea typeface="BIZ UDPGothic"/>
              </a:rPr>
              <a:t>顧客属性別、接触履歴別、過去成果別の契約率を整理</a:t>
            </a:r>
          </a:p>
          <a:p>
            <a:pPr marL="228600" indent="-228600" algn="l">
              <a:buFont typeface="Arial"/>
              <a:buChar char="●"/>
            </a:pPr>
            <a:r>
              <a:rPr lang="ja-JP" sz="1200" dirty="0">
                <a:solidFill>
                  <a:srgbClr val="2D3748"/>
                </a:solidFill>
                <a:latin typeface="BIZ UDPGothic"/>
                <a:ea typeface="BIZ UDPGothic"/>
              </a:rPr>
              <a:t>balance、duration、campaign、previous 等の外れ値・裾の長い分布を確認</a:t>
            </a:r>
          </a:p>
          <a:p>
            <a:pPr marL="228600" indent="-228600" algn="l">
              <a:buFont typeface="Arial"/>
              <a:buChar char="●"/>
            </a:pPr>
            <a:r>
              <a:rPr lang="ja-JP" sz="1200" dirty="0">
                <a:solidFill>
                  <a:srgbClr val="2D3748"/>
                </a:solidFill>
                <a:latin typeface="BIZ UDPGothic"/>
                <a:ea typeface="BIZ UDPGothic"/>
              </a:rPr>
              <a:t>高見込み顧客の特徴仮説を形成し、中間レビューで妥当性を確認</a:t>
            </a:r>
          </a:p>
        </p:txBody>
      </p:sp>
      <p:sp>
        <p:nvSpPr>
          <p:cNvPr id="15" name="DataSummary"/>
          <p:cNvSpPr/>
          <p:nvPr/>
        </p:nvSpPr>
        <p:spPr>
          <a:xfrm>
            <a:off x="457200" y="3900000"/>
            <a:ext cx="11277600" cy="1200000"/>
          </a:xfrm>
          <a:prstGeom prst="roundRect">
            <a:avLst>
              <a:gd name="adj" fmla="val 5000"/>
            </a:avLst>
          </a:prstGeom>
          <a:solidFill>
            <a:srgbClr val="F7FAFC"/>
          </a:solidFill>
          <a:ln w="19050">
            <a:solidFill>
              <a:srgbClr val="7FB3D3"/>
            </a:solidFill>
          </a:ln>
        </p:spPr>
        <p:txBody>
          <a:bodyPr wrap="square" lIns="182880" rIns="91440" anchor="ctr"/>
          <a:lstStyle/>
          <a:p>
            <a:pPr algn="l">
              <a:buNone/>
            </a:pPr>
            <a:r>
              <a:rPr lang="ja-JP" sz="1400" b="1" dirty="0">
                <a:solidFill>
                  <a:srgbClr val="2D3748"/>
                </a:solidFill>
                <a:latin typeface="BIZ UDPGothic"/>
                <a:ea typeface="BIZ UDPGothic"/>
              </a:rPr>
              <a:t>対象データ概要</a:t>
            </a:r>
          </a:p>
          <a:p>
            <a:pPr algn="l">
              <a:buNone/>
            </a:pPr>
            <a:r>
              <a:rPr lang="ja-JP" sz="1300" dirty="0">
                <a:solidFill>
                  <a:srgbClr val="4A5568"/>
                </a:solidFill>
                <a:latin typeface="BIZ UDPGothic"/>
                <a:ea typeface="BIZ UDPGothic"/>
              </a:rPr>
              <a:t>データセット: train.csv ｜ レコード数: 27,128件 ｜ カラム数: 18 ｜ 目的変数: y (契約有無) ｜ 契約率: 11.7% ｜ 欠損: 0件</a:t>
            </a:r>
          </a:p>
        </p:txBody>
      </p:sp>
      <p:sp>
        <p:nvSpPr>
          <p:cNvPr id="2" name="テキスト ボックス 1">
            <a:extLst>
              <a:ext uri="{FF2B5EF4-FFF2-40B4-BE49-F238E27FC236}">
                <a16:creationId xmlns:a16="http://schemas.microsoft.com/office/drawing/2014/main" id="{BBF937AC-16E6-4553-B79F-967F6791EC10}"/>
              </a:ext>
            </a:extLst>
          </p:cNvPr>
          <p:cNvSpPr txBox="1"/>
          <p:nvPr/>
        </p:nvSpPr>
        <p:spPr>
          <a:xfrm>
            <a:off x="11430000" y="6375400"/>
            <a:ext cx="508000" cy="317500"/>
          </a:xfrm>
          <a:prstGeom prst="rect">
            <a:avLst/>
          </a:prstGeom>
          <a:noFill/>
        </p:spPr>
        <p:txBody>
          <a:bodyPr vertOverflow="overflow" vert="horz" wrap="none" rtlCol="0" anchor="ctr" anchorCtr="0">
            <a:noAutofit/>
          </a:bodyPr>
          <a:lstStyle/>
          <a:p>
            <a:pPr algn="l"/>
            <a:r>
              <a:rPr lang="en-US" altLang="ja-JP" sz="1400">
                <a:solidFill>
                  <a:srgbClr val="718096"/>
                </a:solidFill>
                <a:latin typeface="BIZ UDPGothic"/>
                <a:ea typeface="BIZ UDPGothic"/>
              </a:rPr>
              <a:t>7</a:t>
            </a:r>
            <a:endParaRPr lang="ja-JP" altLang="en-US" sz="1400">
              <a:solidFill>
                <a:srgbClr val="718096"/>
              </a:solidFill>
              <a:latin typeface="BIZ UDPGothic"/>
              <a:ea typeface="BIZ UDPGothic"/>
            </a:endParaRPr>
          </a:p>
        </p:txBody>
      </p:sp>
    </p:spTree>
    <p:extLst>
      <p:ext uri="{BB962C8B-B14F-4D97-AF65-F5344CB8AC3E}">
        <p14:creationId xmlns:p14="http://schemas.microsoft.com/office/powerpoint/2010/main" val="25410486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p:nvPr/>
        </p:nvSpPr>
        <p:spPr>
          <a:xfrm>
            <a:off x="0" y="58000"/>
            <a:ext cx="12192000" cy="640000"/>
          </a:xfrm>
          <a:prstGeom prst="rect">
            <a:avLst/>
          </a:prstGeom>
          <a:solidFill>
            <a:srgbClr val="7FB3D3"/>
          </a:solidFill>
          <a:ln w="0">
            <a:noFill/>
          </a:ln>
        </p:spPr>
        <p:txBody>
          <a:bodyPr wrap="square" anchor="ctr"/>
          <a:lstStyle/>
          <a:p>
            <a:pPr algn="ctr">
              <a:buNone/>
            </a:pPr>
            <a:r>
              <a:rPr lang="ja-JP" sz="2400" b="1" dirty="0">
                <a:solidFill>
                  <a:srgbClr val="FFFFFF"/>
                </a:solidFill>
                <a:latin typeface="BIZ UDPGothic"/>
                <a:ea typeface="BIZ UDPGothic"/>
              </a:rPr>
              <a:t>4.3 前処理・特徴量設計</a:t>
            </a:r>
          </a:p>
        </p:txBody>
      </p:sp>
      <p:sp>
        <p:nvSpPr>
          <p:cNvPr id="20" name="StepNum0"/>
          <p:cNvSpPr/>
          <p:nvPr/>
        </p:nvSpPr>
        <p:spPr>
          <a:xfrm>
            <a:off x="457200" y="1000000"/>
            <a:ext cx="500000" cy="500000"/>
          </a:xfrm>
          <a:prstGeom prst="roundRect">
            <a:avLst>
              <a:gd name="adj" fmla="val 16000"/>
            </a:avLst>
          </a:prstGeom>
          <a:solidFill>
            <a:srgbClr val="7FB3D3"/>
          </a:solidFill>
          <a:ln w="0">
            <a:noFill/>
          </a:ln>
        </p:spPr>
        <p:txBody>
          <a:bodyPr wrap="none" lIns="0" tIns="0" rIns="0" bIns="0" anchor="ctr"/>
          <a:lstStyle/>
          <a:p>
            <a:pPr algn="ctr">
              <a:buNone/>
            </a:pPr>
            <a:r>
              <a:rPr lang="ja-JP" sz="1400" b="1" dirty="0">
                <a:solidFill>
                  <a:srgbClr val="FFFFFF"/>
                </a:solidFill>
                <a:latin typeface="BIZ UDPGothic"/>
                <a:ea typeface="BIZ UDPGothic"/>
              </a:rPr>
              <a:t>STEP</a:t>
            </a:r>
          </a:p>
          <a:p>
            <a:pPr algn="ctr">
              <a:buNone/>
            </a:pPr>
            <a:r>
              <a:rPr lang="en-US" sz="1600" b="1" dirty="0">
                <a:solidFill>
                  <a:srgbClr val="FFFFFF"/>
                </a:solidFill>
                <a:latin typeface="BIZ UDPGothic"/>
                <a:ea typeface="BIZ UDPGothic"/>
              </a:rPr>
              <a:t>1</a:t>
            </a:r>
          </a:p>
        </p:txBody>
      </p:sp>
      <p:sp>
        <p:nvSpPr>
          <p:cNvPr id="21" name="StepCard0"/>
          <p:cNvSpPr/>
          <p:nvPr/>
        </p:nvSpPr>
        <p:spPr>
          <a:xfrm>
            <a:off x="1057200" y="850000"/>
            <a:ext cx="5334000" cy="800000"/>
          </a:xfrm>
          <a:prstGeom prst="roundRect">
            <a:avLst>
              <a:gd name="adj" fmla="val 6000"/>
            </a:avLst>
          </a:prstGeom>
          <a:solidFill>
            <a:srgbClr val="EBF5FB"/>
          </a:solidFill>
          <a:ln w="12700">
            <a:solidFill>
              <a:srgbClr val="7FB3D3"/>
            </a:solidFill>
          </a:ln>
        </p:spPr>
        <p:txBody>
          <a:bodyPr wrap="square" lIns="182880" tIns="45720" rIns="91440" bIns="45720" anchor="ctr"/>
          <a:lstStyle/>
          <a:p>
            <a:pPr algn="l">
              <a:buNone/>
            </a:pPr>
            <a:r>
              <a:rPr lang="ja-JP" sz="1500" b="1" dirty="0">
                <a:solidFill>
                  <a:srgbClr val="2D3748"/>
                </a:solidFill>
                <a:latin typeface="BIZ UDPGothic"/>
                <a:ea typeface="BIZ UDPGothic"/>
              </a:rPr>
              <a:t>変数整理</a:t>
            </a:r>
          </a:p>
          <a:p>
            <a:pPr algn="l">
              <a:buNone/>
            </a:pPr>
            <a:r>
              <a:rPr lang="ja-JP" sz="1200" dirty="0">
                <a:solidFill>
                  <a:srgbClr val="4A5568"/>
                </a:solidFill>
                <a:latin typeface="BIZ UDPGothic"/>
                <a:ea typeface="BIZ UDPGothic"/>
              </a:rPr>
              <a:t>idは識別子として除外。カテゴリ変数はCSV原文値を維持し、表記揺れなく管理する</a:t>
            </a:r>
          </a:p>
        </p:txBody>
      </p:sp>
      <p:sp>
        <p:nvSpPr>
          <p:cNvPr id="50" name="StepArrow0"/>
          <p:cNvSpPr/>
          <p:nvPr/>
        </p:nvSpPr>
        <p:spPr>
          <a:xfrm>
            <a:off x="607200" y="1650000"/>
            <a:ext cx="200000" cy="130000"/>
          </a:xfrm>
          <a:prstGeom prst="downArrow">
            <a:avLst/>
          </a:prstGeom>
          <a:solidFill>
            <a:srgbClr val="CBD5E0"/>
          </a:solidFill>
          <a:ln w="0">
            <a:noFill/>
          </a:ln>
        </p:spPr>
        <p:txBody>
          <a:bodyPr/>
          <a:lstStyle/>
          <a:p>
            <a:endParaRPr lang="ja-JP"/>
          </a:p>
        </p:txBody>
      </p:sp>
      <p:sp>
        <p:nvSpPr>
          <p:cNvPr id="22" name="StepNum1"/>
          <p:cNvSpPr/>
          <p:nvPr/>
        </p:nvSpPr>
        <p:spPr>
          <a:xfrm>
            <a:off x="457200" y="1930000"/>
            <a:ext cx="500000" cy="500000"/>
          </a:xfrm>
          <a:prstGeom prst="roundRect">
            <a:avLst>
              <a:gd name="adj" fmla="val 16000"/>
            </a:avLst>
          </a:prstGeom>
          <a:solidFill>
            <a:srgbClr val="A8D5BA"/>
          </a:solidFill>
          <a:ln w="0">
            <a:noFill/>
          </a:ln>
        </p:spPr>
        <p:txBody>
          <a:bodyPr wrap="none" lIns="0" tIns="0" rIns="0" bIns="0" anchor="ctr"/>
          <a:lstStyle/>
          <a:p>
            <a:pPr algn="ctr">
              <a:buNone/>
            </a:pPr>
            <a:r>
              <a:rPr lang="ja-JP" sz="1400" b="1" dirty="0">
                <a:solidFill>
                  <a:srgbClr val="FFFFFF"/>
                </a:solidFill>
                <a:latin typeface="BIZ UDPGothic"/>
                <a:ea typeface="BIZ UDPGothic"/>
              </a:rPr>
              <a:t>STEP</a:t>
            </a:r>
          </a:p>
          <a:p>
            <a:pPr algn="ctr">
              <a:buNone/>
            </a:pPr>
            <a:r>
              <a:rPr lang="en-US" sz="1600" b="1" dirty="0">
                <a:solidFill>
                  <a:srgbClr val="FFFFFF"/>
                </a:solidFill>
                <a:latin typeface="BIZ UDPGothic"/>
                <a:ea typeface="BIZ UDPGothic"/>
              </a:rPr>
              <a:t>2</a:t>
            </a:r>
          </a:p>
        </p:txBody>
      </p:sp>
      <p:sp>
        <p:nvSpPr>
          <p:cNvPr id="23" name="StepCard1"/>
          <p:cNvSpPr/>
          <p:nvPr/>
        </p:nvSpPr>
        <p:spPr>
          <a:xfrm>
            <a:off x="1057200" y="1780000"/>
            <a:ext cx="5334000" cy="800000"/>
          </a:xfrm>
          <a:prstGeom prst="roundRect">
            <a:avLst>
              <a:gd name="adj" fmla="val 6000"/>
            </a:avLst>
          </a:prstGeom>
          <a:solidFill>
            <a:srgbClr val="E8F8F5"/>
          </a:solidFill>
          <a:ln w="12700">
            <a:solidFill>
              <a:srgbClr val="A8D5BA"/>
            </a:solidFill>
          </a:ln>
        </p:spPr>
        <p:txBody>
          <a:bodyPr wrap="square" lIns="182880" tIns="45720" rIns="91440" bIns="45720" anchor="ctr"/>
          <a:lstStyle/>
          <a:p>
            <a:pPr algn="l">
              <a:buNone/>
            </a:pPr>
            <a:r>
              <a:rPr lang="ja-JP" sz="1500" b="1" dirty="0">
                <a:solidFill>
                  <a:srgbClr val="2D3748"/>
                </a:solidFill>
                <a:latin typeface="BIZ UDPGothic"/>
                <a:ea typeface="BIZ UDPGothic"/>
              </a:rPr>
              <a:t>特別値設計</a:t>
            </a:r>
          </a:p>
          <a:p>
            <a:pPr algn="l">
              <a:buNone/>
            </a:pPr>
            <a:r>
              <a:rPr lang="ja-JP" sz="1200" dirty="0">
                <a:solidFill>
                  <a:srgbClr val="4A5568"/>
                </a:solidFill>
                <a:latin typeface="BIZ UDPGothic"/>
                <a:ea typeface="BIZ UDPGothic"/>
              </a:rPr>
              <a:t>unknown は独立カテゴリ。pdays=-1 は業務上特別値として数値とフラグの両面で設計する</a:t>
            </a:r>
          </a:p>
        </p:txBody>
      </p:sp>
      <p:sp>
        <p:nvSpPr>
          <p:cNvPr id="51" name="StepArrow1"/>
          <p:cNvSpPr/>
          <p:nvPr/>
        </p:nvSpPr>
        <p:spPr>
          <a:xfrm>
            <a:off x="607200" y="2580000"/>
            <a:ext cx="200000" cy="130000"/>
          </a:xfrm>
          <a:prstGeom prst="downArrow">
            <a:avLst/>
          </a:prstGeom>
          <a:solidFill>
            <a:srgbClr val="CBD5E0"/>
          </a:solidFill>
          <a:ln w="0">
            <a:noFill/>
          </a:ln>
        </p:spPr>
        <p:txBody>
          <a:bodyPr/>
          <a:lstStyle/>
          <a:p>
            <a:endParaRPr lang="ja-JP"/>
          </a:p>
        </p:txBody>
      </p:sp>
      <p:sp>
        <p:nvSpPr>
          <p:cNvPr id="24" name="StepNum2"/>
          <p:cNvSpPr/>
          <p:nvPr/>
        </p:nvSpPr>
        <p:spPr>
          <a:xfrm>
            <a:off x="457200" y="2860000"/>
            <a:ext cx="500000" cy="500000"/>
          </a:xfrm>
          <a:prstGeom prst="roundRect">
            <a:avLst>
              <a:gd name="adj" fmla="val 16000"/>
            </a:avLst>
          </a:prstGeom>
          <a:solidFill>
            <a:srgbClr val="F6C89F"/>
          </a:solidFill>
          <a:ln w="0">
            <a:noFill/>
          </a:ln>
        </p:spPr>
        <p:txBody>
          <a:bodyPr wrap="none" lIns="0" tIns="0" rIns="0" bIns="0" anchor="ctr"/>
          <a:lstStyle/>
          <a:p>
            <a:pPr algn="ctr">
              <a:buNone/>
            </a:pPr>
            <a:r>
              <a:rPr lang="ja-JP" sz="1400" b="1" dirty="0">
                <a:solidFill>
                  <a:srgbClr val="FFFFFF"/>
                </a:solidFill>
                <a:latin typeface="BIZ UDPGothic"/>
                <a:ea typeface="BIZ UDPGothic"/>
              </a:rPr>
              <a:t>STEP</a:t>
            </a:r>
          </a:p>
          <a:p>
            <a:pPr algn="ctr">
              <a:buNone/>
            </a:pPr>
            <a:r>
              <a:rPr lang="en-US" sz="1600" b="1" dirty="0">
                <a:solidFill>
                  <a:srgbClr val="FFFFFF"/>
                </a:solidFill>
                <a:latin typeface="BIZ UDPGothic"/>
                <a:ea typeface="BIZ UDPGothic"/>
              </a:rPr>
              <a:t>3</a:t>
            </a:r>
          </a:p>
        </p:txBody>
      </p:sp>
      <p:sp>
        <p:nvSpPr>
          <p:cNvPr id="25" name="StepCard2"/>
          <p:cNvSpPr/>
          <p:nvPr/>
        </p:nvSpPr>
        <p:spPr>
          <a:xfrm>
            <a:off x="1057200" y="2710000"/>
            <a:ext cx="5334000" cy="800000"/>
          </a:xfrm>
          <a:prstGeom prst="roundRect">
            <a:avLst>
              <a:gd name="adj" fmla="val 6000"/>
            </a:avLst>
          </a:prstGeom>
          <a:solidFill>
            <a:srgbClr val="FEF5E7"/>
          </a:solidFill>
          <a:ln w="12700">
            <a:solidFill>
              <a:srgbClr val="F6C89F"/>
            </a:solidFill>
          </a:ln>
        </p:spPr>
        <p:txBody>
          <a:bodyPr wrap="square" lIns="182880" tIns="45720" rIns="91440" bIns="45720" anchor="ctr"/>
          <a:lstStyle/>
          <a:p>
            <a:pPr algn="l">
              <a:buNone/>
            </a:pPr>
            <a:r>
              <a:rPr lang="ja-JP" sz="1500" b="1" dirty="0">
                <a:solidFill>
                  <a:srgbClr val="2D3748"/>
                </a:solidFill>
                <a:latin typeface="BIZ UDPGothic"/>
                <a:ea typeface="BIZ UDPGothic"/>
              </a:rPr>
              <a:t>数値変換</a:t>
            </a:r>
          </a:p>
          <a:p>
            <a:pPr algn="l">
              <a:buNone/>
            </a:pPr>
            <a:r>
              <a:rPr lang="ja-JP" sz="1200" dirty="0">
                <a:solidFill>
                  <a:srgbClr val="4A5568"/>
                </a:solidFill>
                <a:latin typeface="BIZ UDPGothic"/>
                <a:ea typeface="BIZ UDPGothic"/>
              </a:rPr>
              <a:t>数値変数については必要に応じてロバストな変換やビニングを適用する</a:t>
            </a:r>
          </a:p>
        </p:txBody>
      </p:sp>
      <p:sp>
        <p:nvSpPr>
          <p:cNvPr id="52" name="StepArrow2"/>
          <p:cNvSpPr/>
          <p:nvPr/>
        </p:nvSpPr>
        <p:spPr>
          <a:xfrm>
            <a:off x="607200" y="3510000"/>
            <a:ext cx="200000" cy="130000"/>
          </a:xfrm>
          <a:prstGeom prst="downArrow">
            <a:avLst/>
          </a:prstGeom>
          <a:solidFill>
            <a:srgbClr val="CBD5E0"/>
          </a:solidFill>
          <a:ln w="0">
            <a:noFill/>
          </a:ln>
        </p:spPr>
        <p:txBody>
          <a:bodyPr/>
          <a:lstStyle/>
          <a:p>
            <a:endParaRPr lang="ja-JP"/>
          </a:p>
        </p:txBody>
      </p:sp>
      <p:sp>
        <p:nvSpPr>
          <p:cNvPr id="26" name="StepNum3"/>
          <p:cNvSpPr/>
          <p:nvPr/>
        </p:nvSpPr>
        <p:spPr>
          <a:xfrm>
            <a:off x="457200" y="3790000"/>
            <a:ext cx="500000" cy="500000"/>
          </a:xfrm>
          <a:prstGeom prst="roundRect">
            <a:avLst>
              <a:gd name="adj" fmla="val 16000"/>
            </a:avLst>
          </a:prstGeom>
          <a:solidFill>
            <a:srgbClr val="D4A5C9"/>
          </a:solidFill>
          <a:ln w="0">
            <a:noFill/>
          </a:ln>
        </p:spPr>
        <p:txBody>
          <a:bodyPr wrap="none" lIns="0" tIns="0" rIns="0" bIns="0" anchor="ctr"/>
          <a:lstStyle/>
          <a:p>
            <a:pPr algn="ctr">
              <a:buNone/>
            </a:pPr>
            <a:r>
              <a:rPr lang="ja-JP" sz="1400" b="1" dirty="0">
                <a:solidFill>
                  <a:srgbClr val="FFFFFF"/>
                </a:solidFill>
                <a:latin typeface="BIZ UDPGothic"/>
                <a:ea typeface="BIZ UDPGothic"/>
              </a:rPr>
              <a:t>STEP</a:t>
            </a:r>
          </a:p>
          <a:p>
            <a:pPr algn="ctr">
              <a:buNone/>
            </a:pPr>
            <a:r>
              <a:rPr lang="en-US" sz="1600" b="1" dirty="0">
                <a:solidFill>
                  <a:srgbClr val="FFFFFF"/>
                </a:solidFill>
                <a:latin typeface="BIZ UDPGothic"/>
                <a:ea typeface="BIZ UDPGothic"/>
              </a:rPr>
              <a:t>4</a:t>
            </a:r>
          </a:p>
        </p:txBody>
      </p:sp>
      <p:sp>
        <p:nvSpPr>
          <p:cNvPr id="27" name="StepCard3"/>
          <p:cNvSpPr/>
          <p:nvPr/>
        </p:nvSpPr>
        <p:spPr>
          <a:xfrm>
            <a:off x="1057200" y="3640000"/>
            <a:ext cx="5334000" cy="800000"/>
          </a:xfrm>
          <a:prstGeom prst="roundRect">
            <a:avLst>
              <a:gd name="adj" fmla="val 6000"/>
            </a:avLst>
          </a:prstGeom>
          <a:solidFill>
            <a:srgbClr val="F5EEF8"/>
          </a:solidFill>
          <a:ln w="12700">
            <a:solidFill>
              <a:srgbClr val="D4A5C9"/>
            </a:solidFill>
          </a:ln>
        </p:spPr>
        <p:txBody>
          <a:bodyPr wrap="square" lIns="182880" tIns="45720" rIns="91440" bIns="45720" anchor="ctr"/>
          <a:lstStyle/>
          <a:p>
            <a:pPr algn="l">
              <a:buNone/>
            </a:pPr>
            <a:r>
              <a:rPr lang="ja-JP" sz="1500" b="1" dirty="0">
                <a:solidFill>
                  <a:srgbClr val="2D3748"/>
                </a:solidFill>
                <a:latin typeface="BIZ UDPGothic"/>
                <a:ea typeface="BIZ UDPGothic"/>
              </a:rPr>
              <a:t>データ分割</a:t>
            </a:r>
          </a:p>
          <a:p>
            <a:pPr algn="l">
              <a:buNone/>
            </a:pPr>
            <a:r>
              <a:rPr lang="ja-JP" sz="1200" dirty="0">
                <a:solidFill>
                  <a:srgbClr val="4A5568"/>
                </a:solidFill>
                <a:latin typeface="BIZ UDPGothic"/>
                <a:ea typeface="BIZ UDPGothic"/>
              </a:rPr>
              <a:t>学習・検証データの分割条件を固定し、再現可能な評価環境を整備する</a:t>
            </a:r>
          </a:p>
        </p:txBody>
      </p:sp>
      <p:sp>
        <p:nvSpPr>
          <p:cNvPr id="60" name="DurLabel"/>
          <p:cNvSpPr/>
          <p:nvPr/>
        </p:nvSpPr>
        <p:spPr>
          <a:xfrm>
            <a:off x="6858000" y="850000"/>
            <a:ext cx="4876800" cy="400000"/>
          </a:xfrm>
          <a:prstGeom prst="roundRect">
            <a:avLst>
              <a:gd name="adj" fmla="val 16000"/>
            </a:avLst>
          </a:prstGeom>
          <a:solidFill>
            <a:srgbClr val="F9B9B7"/>
          </a:solidFill>
          <a:ln w="0">
            <a:noFill/>
          </a:ln>
        </p:spPr>
        <p:txBody>
          <a:bodyPr wrap="square" lIns="137160" anchor="ctr"/>
          <a:lstStyle/>
          <a:p>
            <a:pPr algn="ctr">
              <a:buNone/>
            </a:pPr>
            <a:r>
              <a:rPr lang="ja-JP" sz="1500" b="1" dirty="0">
                <a:solidFill>
                  <a:srgbClr val="FFFFFF"/>
                </a:solidFill>
                <a:latin typeface="BIZ UDPGothic"/>
                <a:ea typeface="BIZ UDPGothic"/>
              </a:rPr>
              <a:t>duration による2系統分離</a:t>
            </a:r>
          </a:p>
        </p:txBody>
      </p:sp>
      <p:sp>
        <p:nvSpPr>
          <p:cNvPr id="61" name="ModelA"/>
          <p:cNvSpPr/>
          <p:nvPr/>
        </p:nvSpPr>
        <p:spPr>
          <a:xfrm>
            <a:off x="6858000" y="1400000"/>
            <a:ext cx="2286000" cy="1500000"/>
          </a:xfrm>
          <a:prstGeom prst="roundRect">
            <a:avLst>
              <a:gd name="adj" fmla="val 8000"/>
            </a:avLst>
          </a:prstGeom>
          <a:solidFill>
            <a:srgbClr val="FDEDEC"/>
          </a:solidFill>
          <a:ln w="19050">
            <a:solidFill>
              <a:srgbClr val="F9B9B7"/>
            </a:solidFill>
          </a:ln>
        </p:spPr>
        <p:txBody>
          <a:bodyPr wrap="square" lIns="137160" tIns="91440" rIns="91440" bIns="91440" anchor="ctr"/>
          <a:lstStyle/>
          <a:p>
            <a:pPr algn="ctr">
              <a:buNone/>
            </a:pPr>
            <a:r>
              <a:rPr lang="ja-JP" sz="1400" b="1" dirty="0">
                <a:solidFill>
                  <a:srgbClr val="2D3748"/>
                </a:solidFill>
                <a:latin typeface="BIZ UDPGothic"/>
                <a:ea typeface="BIZ UDPGothic"/>
              </a:rPr>
              <a:t>事後分析モデル</a:t>
            </a:r>
          </a:p>
          <a:p>
            <a:pPr algn="ctr">
              <a:buNone/>
            </a:pPr>
            <a:r>
              <a:rPr lang="ja-JP" sz="1200" dirty="0">
                <a:solidFill>
                  <a:srgbClr val="4A5568"/>
                </a:solidFill>
                <a:latin typeface="BIZ UDPGothic"/>
                <a:ea typeface="BIZ UDPGothic"/>
              </a:rPr>
              <a:t>duration を含む
（接触後の振り返り分析用途）</a:t>
            </a:r>
          </a:p>
        </p:txBody>
      </p:sp>
      <p:sp>
        <p:nvSpPr>
          <p:cNvPr id="62" name="ModelB"/>
          <p:cNvSpPr/>
          <p:nvPr/>
        </p:nvSpPr>
        <p:spPr>
          <a:xfrm>
            <a:off x="9448800" y="1400000"/>
            <a:ext cx="2286000" cy="1500000"/>
          </a:xfrm>
          <a:prstGeom prst="roundRect">
            <a:avLst>
              <a:gd name="adj" fmla="val 8000"/>
            </a:avLst>
          </a:prstGeom>
          <a:solidFill>
            <a:srgbClr val="E8F8F5"/>
          </a:solidFill>
          <a:ln w="19050">
            <a:solidFill>
              <a:srgbClr val="A8D5BA"/>
            </a:solidFill>
          </a:ln>
        </p:spPr>
        <p:txBody>
          <a:bodyPr wrap="square" lIns="137160" tIns="91440" rIns="91440" bIns="91440" anchor="ctr"/>
          <a:lstStyle/>
          <a:p>
            <a:pPr algn="ctr">
              <a:buNone/>
            </a:pPr>
            <a:r>
              <a:rPr lang="ja-JP" sz="1400" b="1" dirty="0">
                <a:solidFill>
                  <a:srgbClr val="2D3748"/>
                </a:solidFill>
                <a:latin typeface="BIZ UDPGothic"/>
                <a:ea typeface="BIZ UDPGothic"/>
              </a:rPr>
              <a:t>事前判断モデル</a:t>
            </a:r>
          </a:p>
          <a:p>
            <a:pPr algn="ctr">
              <a:buNone/>
            </a:pPr>
            <a:r>
              <a:rPr lang="ja-JP" sz="1200" dirty="0">
                <a:solidFill>
                  <a:srgbClr val="4A5568"/>
                </a:solidFill>
                <a:latin typeface="BIZ UDPGothic"/>
                <a:ea typeface="BIZ UDPGothic"/>
              </a:rPr>
              <a:t>duration を除く
（接触前の優先順位付け用途）</a:t>
            </a:r>
          </a:p>
        </p:txBody>
      </p:sp>
      <p:sp>
        <p:nvSpPr>
          <p:cNvPr id="63" name="Warning"/>
          <p:cNvSpPr txBox="1"/>
          <p:nvPr/>
        </p:nvSpPr>
        <p:spPr>
          <a:xfrm>
            <a:off x="6858000" y="3050000"/>
            <a:ext cx="4876800" cy="700000"/>
          </a:xfrm>
          <a:prstGeom prst="roundRect">
            <a:avLst>
              <a:gd name="adj" fmla="val 8000"/>
            </a:avLst>
          </a:prstGeom>
          <a:solidFill>
            <a:srgbClr val="FEF5E7"/>
          </a:solidFill>
          <a:ln w="12700">
            <a:solidFill>
              <a:srgbClr val="F6C89F"/>
            </a:solidFill>
          </a:ln>
        </p:spPr>
        <p:txBody>
          <a:bodyPr wrap="square" lIns="137160" rIns="91440" anchor="ctr"/>
          <a:lstStyle/>
          <a:p>
            <a:pPr algn="l">
              <a:buNone/>
            </a:pPr>
            <a:r>
              <a:rPr lang="ja-JP" sz="1200" dirty="0">
                <a:solidFill>
                  <a:srgbClr val="4A5568"/>
                </a:solidFill>
                <a:latin typeface="BIZ UDPGothic"/>
                <a:ea typeface="BIZ UDPGothic"/>
              </a:rPr>
              <a:t>⚠ durationは接触後確定情報の可能性があるため、情報リークを防ぐ目的で2系統に分離する</a:t>
            </a:r>
          </a:p>
        </p:txBody>
      </p:sp>
      <p:sp>
        <p:nvSpPr>
          <p:cNvPr id="2" name="テキスト ボックス 1">
            <a:extLst>
              <a:ext uri="{FF2B5EF4-FFF2-40B4-BE49-F238E27FC236}">
                <a16:creationId xmlns:a16="http://schemas.microsoft.com/office/drawing/2014/main" id="{29FC0C48-EA7D-4A6E-80A7-0C1F3A5EFA75}"/>
              </a:ext>
            </a:extLst>
          </p:cNvPr>
          <p:cNvSpPr txBox="1"/>
          <p:nvPr/>
        </p:nvSpPr>
        <p:spPr>
          <a:xfrm>
            <a:off x="11430000" y="6375400"/>
            <a:ext cx="508000" cy="317500"/>
          </a:xfrm>
          <a:prstGeom prst="rect">
            <a:avLst/>
          </a:prstGeom>
          <a:noFill/>
        </p:spPr>
        <p:txBody>
          <a:bodyPr vertOverflow="overflow" vert="horz" wrap="none" rtlCol="0" anchor="ctr" anchorCtr="0">
            <a:noAutofit/>
          </a:bodyPr>
          <a:lstStyle/>
          <a:p>
            <a:pPr algn="l"/>
            <a:r>
              <a:rPr lang="en-US" altLang="ja-JP" sz="1400">
                <a:solidFill>
                  <a:srgbClr val="718096"/>
                </a:solidFill>
                <a:latin typeface="BIZ UDPGothic"/>
                <a:ea typeface="BIZ UDPGothic"/>
              </a:rPr>
              <a:t>8</a:t>
            </a:r>
            <a:endParaRPr lang="ja-JP" altLang="en-US" sz="1400">
              <a:solidFill>
                <a:srgbClr val="718096"/>
              </a:solidFill>
              <a:latin typeface="BIZ UDPGothic"/>
              <a:ea typeface="BIZ UDPGothic"/>
            </a:endParaRPr>
          </a:p>
        </p:txBody>
      </p:sp>
    </p:spTree>
    <p:extLst>
      <p:ext uri="{BB962C8B-B14F-4D97-AF65-F5344CB8AC3E}">
        <p14:creationId xmlns:p14="http://schemas.microsoft.com/office/powerpoint/2010/main" val="16974791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p:nvPr/>
        </p:nvSpPr>
        <p:spPr>
          <a:xfrm>
            <a:off x="0" y="58000"/>
            <a:ext cx="12192000" cy="640000"/>
          </a:xfrm>
          <a:prstGeom prst="rect">
            <a:avLst/>
          </a:prstGeom>
          <a:solidFill>
            <a:srgbClr val="7FB3D3"/>
          </a:solidFill>
          <a:ln w="0">
            <a:noFill/>
          </a:ln>
        </p:spPr>
        <p:txBody>
          <a:bodyPr wrap="square" anchor="ctr"/>
          <a:lstStyle/>
          <a:p>
            <a:pPr algn="ctr">
              <a:buNone/>
            </a:pPr>
            <a:r>
              <a:rPr lang="ja-JP" sz="2400" b="1" dirty="0">
                <a:solidFill>
                  <a:srgbClr val="FFFFFF"/>
                </a:solidFill>
                <a:latin typeface="BIZ UDPGothic"/>
                <a:ea typeface="BIZ UDPGothic"/>
              </a:rPr>
              <a:t>4.4 モデル構築・評価 / 4.5 説明可能性・ガバナンス</a:t>
            </a:r>
          </a:p>
        </p:txBody>
      </p:sp>
      <p:sp>
        <p:nvSpPr>
          <p:cNvPr id="11" name="Label44"/>
          <p:cNvSpPr/>
          <p:nvPr/>
        </p:nvSpPr>
        <p:spPr>
          <a:xfrm>
            <a:off x="457200" y="850000"/>
            <a:ext cx="5334000" cy="380000"/>
          </a:xfrm>
          <a:prstGeom prst="roundRect">
            <a:avLst>
              <a:gd name="adj" fmla="val 16000"/>
            </a:avLst>
          </a:prstGeom>
          <a:solidFill>
            <a:srgbClr val="D4A5C9"/>
          </a:solidFill>
          <a:ln w="0">
            <a:noFill/>
          </a:ln>
        </p:spPr>
        <p:txBody>
          <a:bodyPr wrap="square" lIns="137160" anchor="ctr"/>
          <a:lstStyle/>
          <a:p>
            <a:pPr algn="l">
              <a:buNone/>
            </a:pPr>
            <a:r>
              <a:rPr lang="ja-JP" sz="1600" b="1" dirty="0">
                <a:solidFill>
                  <a:srgbClr val="FFFFFF"/>
                </a:solidFill>
                <a:latin typeface="BIZ UDPGothic"/>
                <a:ea typeface="BIZ UDPGothic"/>
              </a:rPr>
              <a:t>4.4 モデル構築・評価</a:t>
            </a:r>
          </a:p>
        </p:txBody>
      </p:sp>
      <p:sp>
        <p:nvSpPr>
          <p:cNvPr id="12" name="Content44"/>
          <p:cNvSpPr txBox="1"/>
          <p:nvPr/>
        </p:nvSpPr>
        <p:spPr>
          <a:xfrm>
            <a:off x="457200" y="1300000"/>
            <a:ext cx="5334000" cy="2100000"/>
          </a:xfrm>
          <a:prstGeom prst="roundRect">
            <a:avLst>
              <a:gd name="adj" fmla="val 5000"/>
            </a:avLst>
          </a:prstGeom>
          <a:solidFill>
            <a:srgbClr val="F5EEF8"/>
          </a:solidFill>
          <a:ln w="12700">
            <a:solidFill>
              <a:srgbClr val="D4A5C9"/>
            </a:solidFill>
          </a:ln>
        </p:spPr>
        <p:txBody>
          <a:bodyPr wrap="square" lIns="137160" tIns="91440" rIns="91440" bIns="45720" anchor="t"/>
          <a:lstStyle/>
          <a:p>
            <a:pPr marL="228600" indent="-228600" algn="l">
              <a:buFont typeface="Arial"/>
              <a:buChar char="●"/>
            </a:pPr>
            <a:r>
              <a:rPr lang="ja-JP" sz="1200" dirty="0">
                <a:solidFill>
                  <a:srgbClr val="2D3748"/>
                </a:solidFill>
                <a:latin typeface="BIZ UDPGothic"/>
                <a:ea typeface="BIZ UDPGothic"/>
              </a:rPr>
              <a:t>説明しやすいロジスティック回帰等を第一候補として採用</a:t>
            </a:r>
          </a:p>
          <a:p>
            <a:pPr marL="228600" indent="-228600" algn="l">
              <a:buFont typeface="Arial"/>
              <a:buChar char="●"/>
            </a:pPr>
            <a:r>
              <a:rPr lang="ja-JP" sz="1200" dirty="0">
                <a:solidFill>
                  <a:srgbClr val="2D3748"/>
                </a:solidFill>
                <a:latin typeface="BIZ UDPGothic"/>
                <a:ea typeface="BIZ UDPGothic"/>
              </a:rPr>
              <a:t>比較対象として必要に応じて木系モデル等を評価</a:t>
            </a:r>
          </a:p>
          <a:p>
            <a:pPr marL="228600" indent="-228600" algn="l">
              <a:buFont typeface="Arial"/>
              <a:buChar char="●"/>
            </a:pPr>
            <a:r>
              <a:rPr lang="ja-JP" sz="1200" dirty="0">
                <a:solidFill>
                  <a:srgbClr val="2D3748"/>
                </a:solidFill>
                <a:latin typeface="BIZ UDPGothic"/>
                <a:ea typeface="BIZ UDPGothic"/>
              </a:rPr>
              <a:t>Accuracy単独で評価せず、AUC、Precision、Recall、F1を併用</a:t>
            </a:r>
          </a:p>
          <a:p>
            <a:pPr marL="228600" indent="-228600" algn="l">
              <a:buFont typeface="Arial"/>
              <a:buChar char="●"/>
            </a:pPr>
            <a:r>
              <a:rPr lang="ja-JP" sz="1200" dirty="0">
                <a:solidFill>
                  <a:srgbClr val="2D3748"/>
                </a:solidFill>
                <a:latin typeface="BIZ UDPGothic"/>
                <a:ea typeface="BIZ UDPGothic"/>
              </a:rPr>
              <a:t>上位10%・20%・30%のスコア群における契約率を算出</a:t>
            </a:r>
          </a:p>
          <a:p>
            <a:pPr marL="228600" indent="-228600" algn="l">
              <a:buFont typeface="Arial"/>
              <a:buChar char="●"/>
            </a:pPr>
            <a:r>
              <a:rPr lang="ja-JP" sz="1200" dirty="0">
                <a:solidFill>
                  <a:srgbClr val="2D3748"/>
                </a:solidFill>
                <a:latin typeface="BIZ UDPGothic"/>
                <a:ea typeface="BIZ UDPGothic"/>
              </a:rPr>
              <a:t>学習用・検証用の性能差を確認し、過学習リスクを点検</a:t>
            </a:r>
          </a:p>
        </p:txBody>
      </p:sp>
      <p:sp>
        <p:nvSpPr>
          <p:cNvPr id="13" name="Label45"/>
          <p:cNvSpPr/>
          <p:nvPr/>
        </p:nvSpPr>
        <p:spPr>
          <a:xfrm>
            <a:off x="6400800" y="850000"/>
            <a:ext cx="5334000" cy="380000"/>
          </a:xfrm>
          <a:prstGeom prst="roundRect">
            <a:avLst>
              <a:gd name="adj" fmla="val 16000"/>
            </a:avLst>
          </a:prstGeom>
          <a:solidFill>
            <a:srgbClr val="F9B9B7"/>
          </a:solidFill>
          <a:ln w="0">
            <a:noFill/>
          </a:ln>
        </p:spPr>
        <p:txBody>
          <a:bodyPr wrap="square" lIns="137160" anchor="ctr"/>
          <a:lstStyle/>
          <a:p>
            <a:pPr algn="l">
              <a:buNone/>
            </a:pPr>
            <a:r>
              <a:rPr lang="ja-JP" sz="1600" b="1" dirty="0">
                <a:solidFill>
                  <a:srgbClr val="FFFFFF"/>
                </a:solidFill>
                <a:latin typeface="BIZ UDPGothic"/>
                <a:ea typeface="BIZ UDPGothic"/>
              </a:rPr>
              <a:t>4.5 説明可能性・ガバナンス</a:t>
            </a:r>
          </a:p>
        </p:txBody>
      </p:sp>
      <p:sp>
        <p:nvSpPr>
          <p:cNvPr id="14" name="Content45"/>
          <p:cNvSpPr txBox="1"/>
          <p:nvPr/>
        </p:nvSpPr>
        <p:spPr>
          <a:xfrm>
            <a:off x="6400800" y="1300000"/>
            <a:ext cx="5334000" cy="2100000"/>
          </a:xfrm>
          <a:prstGeom prst="roundRect">
            <a:avLst>
              <a:gd name="adj" fmla="val 5000"/>
            </a:avLst>
          </a:prstGeom>
          <a:solidFill>
            <a:srgbClr val="FDEDEC"/>
          </a:solidFill>
          <a:ln w="12700">
            <a:solidFill>
              <a:srgbClr val="F9B9B7"/>
            </a:solidFill>
          </a:ln>
        </p:spPr>
        <p:txBody>
          <a:bodyPr wrap="square" lIns="137160" tIns="91440" rIns="91440" bIns="45720" anchor="t"/>
          <a:lstStyle/>
          <a:p>
            <a:pPr marL="228600" indent="-228600" algn="l">
              <a:buFont typeface="Arial"/>
              <a:buChar char="●"/>
            </a:pPr>
            <a:r>
              <a:rPr lang="ja-JP" sz="1200" dirty="0">
                <a:solidFill>
                  <a:srgbClr val="2D3748"/>
                </a:solidFill>
                <a:latin typeface="BIZ UDPGothic"/>
                <a:ea typeface="BIZ UDPGothic"/>
              </a:rPr>
              <a:t>重要変数ランキング、方向性、個票レベル説明例を成果物に整理</a:t>
            </a:r>
          </a:p>
          <a:p>
            <a:pPr marL="228600" indent="-228600" algn="l">
              <a:buFont typeface="Arial"/>
              <a:buChar char="●"/>
            </a:pPr>
            <a:r>
              <a:rPr lang="ja-JP" sz="1200" dirty="0">
                <a:solidFill>
                  <a:srgbClr val="2D3748"/>
                </a:solidFill>
                <a:latin typeface="BIZ UDPGothic"/>
                <a:ea typeface="BIZ UDPGothic"/>
              </a:rPr>
              <a:t>age 等の属性情報について、公平性・バイアス観点の初期確認を実施</a:t>
            </a:r>
          </a:p>
          <a:p>
            <a:pPr marL="228600" indent="-228600" algn="l">
              <a:buFont typeface="Arial"/>
              <a:buChar char="●"/>
            </a:pPr>
            <a:r>
              <a:rPr lang="ja-JP" sz="1200" dirty="0">
                <a:solidFill>
                  <a:srgbClr val="2D3748"/>
                </a:solidFill>
                <a:latin typeface="BIZ UDPGothic"/>
                <a:ea typeface="BIZ UDPGothic"/>
              </a:rPr>
              <a:t>入力条件、前処理条件、評価条件、成果物版数を記録し、監査証跡を整備</a:t>
            </a:r>
          </a:p>
          <a:p>
            <a:pPr marL="228600" indent="-228600" algn="l">
              <a:buFont typeface="Arial"/>
              <a:buChar char="●"/>
            </a:pPr>
            <a:r>
              <a:rPr lang="ja-JP" sz="1200" dirty="0">
                <a:solidFill>
                  <a:srgbClr val="2D3748"/>
                </a:solidFill>
                <a:latin typeface="BIZ UDPGothic"/>
                <a:ea typeface="BIZ UDPGothic"/>
              </a:rPr>
              <a:t>金融業務における説明責任を満たすため、モデル採用理由と留意点を明文化</a:t>
            </a:r>
          </a:p>
        </p:txBody>
      </p:sp>
      <p:sp>
        <p:nvSpPr>
          <p:cNvPr id="15" name="MetricsBox"/>
          <p:cNvSpPr/>
          <p:nvPr/>
        </p:nvSpPr>
        <p:spPr>
          <a:xfrm>
            <a:off x="457200" y="3600000"/>
            <a:ext cx="11277600" cy="1500000"/>
          </a:xfrm>
          <a:prstGeom prst="roundRect">
            <a:avLst>
              <a:gd name="adj" fmla="val 5000"/>
            </a:avLst>
          </a:prstGeom>
          <a:solidFill>
            <a:srgbClr val="F7FAFC"/>
          </a:solidFill>
          <a:ln w="19050">
            <a:solidFill>
              <a:srgbClr val="7FB3D3"/>
            </a:solidFill>
          </a:ln>
        </p:spPr>
        <p:txBody>
          <a:bodyPr wrap="square" lIns="182880" tIns="91440" rIns="91440" bIns="45720" anchor="t"/>
          <a:lstStyle/>
          <a:p>
            <a:pPr algn="l">
              <a:buNone/>
            </a:pPr>
            <a:r>
              <a:rPr lang="ja-JP" sz="1400" b="1" dirty="0">
                <a:solidFill>
                  <a:srgbClr val="2D3748"/>
                </a:solidFill>
                <a:latin typeface="BIZ UDPGothic"/>
                <a:ea typeface="BIZ UDPGothic"/>
              </a:rPr>
              <a:t>評価指標体系</a:t>
            </a:r>
          </a:p>
          <a:p>
            <a:pPr algn="l">
              <a:buNone/>
            </a:pPr>
            <a:r>
              <a:rPr lang="ja-JP" sz="1200" dirty="0">
                <a:solidFill>
                  <a:srgbClr val="4A5568"/>
                </a:solidFill>
                <a:latin typeface="BIZ UDPGothic"/>
                <a:ea typeface="BIZ UDPGothic"/>
              </a:rPr>
              <a:t>一次KPI: AUC / Accuracy / Precision / Recall / F1 / 上位スコア群契約率</a:t>
            </a:r>
          </a:p>
          <a:p>
            <a:pPr algn="l">
              <a:buNone/>
            </a:pPr>
            <a:r>
              <a:rPr lang="ja-JP" sz="1200" dirty="0">
                <a:solidFill>
                  <a:srgbClr val="718096"/>
                </a:solidFill>
                <a:latin typeface="BIZ UDPGothic"/>
                <a:ea typeface="BIZ UDPGothic"/>
              </a:rPr>
              <a:t>参考指標: default rate / expected loss / approval quality / recovery ratio （目的変数と直接一致しないため参考扱い）</a:t>
            </a:r>
          </a:p>
        </p:txBody>
      </p:sp>
      <p:sp>
        <p:nvSpPr>
          <p:cNvPr id="2" name="テキスト ボックス 1">
            <a:extLst>
              <a:ext uri="{FF2B5EF4-FFF2-40B4-BE49-F238E27FC236}">
                <a16:creationId xmlns:a16="http://schemas.microsoft.com/office/drawing/2014/main" id="{17DBD20D-28CC-442E-9338-622D5120DFAF}"/>
              </a:ext>
            </a:extLst>
          </p:cNvPr>
          <p:cNvSpPr txBox="1"/>
          <p:nvPr/>
        </p:nvSpPr>
        <p:spPr>
          <a:xfrm>
            <a:off x="11430000" y="6375400"/>
            <a:ext cx="508000" cy="317500"/>
          </a:xfrm>
          <a:prstGeom prst="rect">
            <a:avLst/>
          </a:prstGeom>
          <a:noFill/>
        </p:spPr>
        <p:txBody>
          <a:bodyPr vertOverflow="overflow" vert="horz" wrap="none" rtlCol="0" anchor="ctr" anchorCtr="0">
            <a:noAutofit/>
          </a:bodyPr>
          <a:lstStyle/>
          <a:p>
            <a:pPr algn="l"/>
            <a:r>
              <a:rPr lang="en-US" altLang="ja-JP" sz="1400">
                <a:solidFill>
                  <a:srgbClr val="718096"/>
                </a:solidFill>
                <a:latin typeface="BIZ UDPGothic"/>
                <a:ea typeface="BIZ UDPGothic"/>
              </a:rPr>
              <a:t>9</a:t>
            </a:r>
            <a:endParaRPr lang="ja-JP" altLang="en-US" sz="1400">
              <a:solidFill>
                <a:srgbClr val="718096"/>
              </a:solidFill>
              <a:latin typeface="BIZ UDPGothic"/>
              <a:ea typeface="BIZ UDPGothic"/>
            </a:endParaRPr>
          </a:p>
        </p:txBody>
      </p:sp>
    </p:spTree>
    <p:extLst>
      <p:ext uri="{BB962C8B-B14F-4D97-AF65-F5344CB8AC3E}">
        <p14:creationId xmlns:p14="http://schemas.microsoft.com/office/powerpoint/2010/main" val="12751725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p:nvPr/>
        </p:nvSpPr>
        <p:spPr>
          <a:xfrm>
            <a:off x="0" y="58000"/>
            <a:ext cx="12192000" cy="640000"/>
          </a:xfrm>
          <a:prstGeom prst="rect">
            <a:avLst/>
          </a:prstGeom>
          <a:solidFill>
            <a:srgbClr val="7FB3D3"/>
          </a:solidFill>
          <a:ln w="0">
            <a:noFill/>
          </a:ln>
        </p:spPr>
        <p:txBody>
          <a:bodyPr wrap="square" anchor="ctr"/>
          <a:lstStyle/>
          <a:p>
            <a:pPr algn="ctr">
              <a:buNone/>
            </a:pPr>
            <a:r>
              <a:rPr lang="ja-JP" sz="2400" b="1" dirty="0">
                <a:solidFill>
                  <a:srgbClr val="FFFFFF"/>
                </a:solidFill>
                <a:latin typeface="BIZ UDPGothic"/>
                <a:ea typeface="BIZ UDPGothic"/>
              </a:rPr>
              <a:t>5. 実施体制</a:t>
            </a:r>
          </a:p>
        </p:txBody>
      </p:sp>
      <p:sp>
        <p:nvSpPr>
          <p:cNvPr id="11" name="ClientLabel"/>
          <p:cNvSpPr/>
          <p:nvPr/>
        </p:nvSpPr>
        <p:spPr>
          <a:xfrm>
            <a:off x="457200" y="850000"/>
            <a:ext cx="5334000" cy="350000"/>
          </a:xfrm>
          <a:prstGeom prst="roundRect">
            <a:avLst>
              <a:gd name="adj" fmla="val 16000"/>
            </a:avLst>
          </a:prstGeom>
          <a:solidFill>
            <a:srgbClr val="A8D5BA"/>
          </a:solidFill>
          <a:ln w="0">
            <a:noFill/>
          </a:ln>
        </p:spPr>
        <p:txBody>
          <a:bodyPr wrap="square" lIns="137160" anchor="ctr"/>
          <a:lstStyle/>
          <a:p>
            <a:pPr algn="ctr">
              <a:buNone/>
            </a:pPr>
            <a:r>
              <a:rPr lang="ja-JP" sz="1400" b="1" dirty="0">
                <a:solidFill>
                  <a:srgbClr val="FFFFFF"/>
                </a:solidFill>
                <a:latin typeface="BIZ UDPGothic"/>
                <a:ea typeface="BIZ UDPGothic"/>
              </a:rPr>
              <a:t>発注者：京橋信用ソリューションズ株式会社</a:t>
            </a:r>
          </a:p>
        </p:txBody>
      </p:sp>
      <p:sp>
        <p:nvSpPr>
          <p:cNvPr id="12" name="VendorLabel"/>
          <p:cNvSpPr/>
          <p:nvPr/>
        </p:nvSpPr>
        <p:spPr>
          <a:xfrm>
            <a:off x="6400800" y="850000"/>
            <a:ext cx="5334000" cy="350000"/>
          </a:xfrm>
          <a:prstGeom prst="roundRect">
            <a:avLst>
              <a:gd name="adj" fmla="val 16000"/>
            </a:avLst>
          </a:prstGeom>
          <a:solidFill>
            <a:srgbClr val="7FB3D3"/>
          </a:solidFill>
          <a:ln w="0">
            <a:noFill/>
          </a:ln>
        </p:spPr>
        <p:txBody>
          <a:bodyPr wrap="square" lIns="137160" anchor="ctr"/>
          <a:lstStyle/>
          <a:p>
            <a:pPr algn="ctr">
              <a:buNone/>
            </a:pPr>
            <a:r>
              <a:rPr lang="ja-JP" sz="1400" b="1" dirty="0">
                <a:solidFill>
                  <a:srgbClr val="FFFFFF"/>
                </a:solidFill>
                <a:latin typeface="BIZ UDPGothic"/>
                <a:ea typeface="BIZ UDPGothic"/>
              </a:rPr>
              <a:t>受託者：株式会社データアステル</a:t>
            </a:r>
          </a:p>
        </p:txBody>
      </p:sp>
      <p:sp>
        <p:nvSpPr>
          <p:cNvPr id="13" name="ClientCard"/>
          <p:cNvSpPr/>
          <p:nvPr/>
        </p:nvSpPr>
        <p:spPr>
          <a:xfrm>
            <a:off x="457200" y="1350000"/>
            <a:ext cx="5334000" cy="1200000"/>
          </a:xfrm>
          <a:prstGeom prst="roundRect">
            <a:avLst>
              <a:gd name="adj" fmla="val 6000"/>
            </a:avLst>
          </a:prstGeom>
          <a:solidFill>
            <a:srgbClr val="E8F8F5"/>
          </a:solidFill>
          <a:ln w="12700">
            <a:solidFill>
              <a:srgbClr val="A8D5BA"/>
            </a:solidFill>
          </a:ln>
        </p:spPr>
        <p:txBody>
          <a:bodyPr wrap="square" lIns="182880" tIns="91440" rIns="91440" bIns="91440" anchor="ctr"/>
          <a:lstStyle/>
          <a:p>
            <a:pPr algn="l">
              <a:buNone/>
            </a:pPr>
            <a:r>
              <a:rPr lang="ja-JP" sz="1400" b="1" dirty="0">
                <a:solidFill>
                  <a:srgbClr val="2D3748"/>
                </a:solidFill>
                <a:latin typeface="BIZ UDPGothic"/>
                <a:ea typeface="BIZ UDPGothic"/>
              </a:rPr>
              <a:t>高橋 恒一 課長</a:t>
            </a:r>
          </a:p>
          <a:p>
            <a:pPr algn="l">
              <a:buNone/>
            </a:pPr>
            <a:r>
              <a:rPr lang="ja-JP" sz="1200" dirty="0">
                <a:solidFill>
                  <a:srgbClr val="4A5568"/>
                </a:solidFill>
                <a:latin typeface="BIZ UDPGothic"/>
                <a:ea typeface="BIZ UDPGothic"/>
              </a:rPr>
              <a:t>リスク管理部 与信モデル統括課</a:t>
            </a:r>
          </a:p>
          <a:p>
            <a:pPr algn="l">
              <a:buNone/>
            </a:pPr>
            <a:r>
              <a:rPr lang="ja-JP" sz="1200" dirty="0">
                <a:solidFill>
                  <a:srgbClr val="4A5568"/>
                </a:solidFill>
                <a:latin typeface="BIZ UDPGothic"/>
                <a:ea typeface="BIZ UDPGothic"/>
              </a:rPr>
              <a:t>成果物レビューおよび検収の窓口、業務観点の妥当性確認</a:t>
            </a:r>
          </a:p>
        </p:txBody>
      </p:sp>
      <p:sp>
        <p:nvSpPr>
          <p:cNvPr id="20" name="TeamCard0"/>
          <p:cNvSpPr/>
          <p:nvPr/>
        </p:nvSpPr>
        <p:spPr>
          <a:xfrm>
            <a:off x="6400800" y="1350000"/>
            <a:ext cx="2514600" cy="1100000"/>
          </a:xfrm>
          <a:prstGeom prst="roundRect">
            <a:avLst>
              <a:gd name="adj" fmla="val 8000"/>
            </a:avLst>
          </a:prstGeom>
          <a:solidFill>
            <a:srgbClr val="EBF5FB"/>
          </a:solidFill>
          <a:ln w="0">
            <a:noFill/>
          </a:ln>
        </p:spPr>
        <p:txBody>
          <a:bodyPr wrap="square" lIns="91440" tIns="91440" rIns="91440" bIns="45720" anchor="t"/>
          <a:lstStyle/>
          <a:p>
            <a:pPr algn="l">
              <a:buNone/>
            </a:pPr>
            <a:r>
              <a:rPr lang="ja-JP" sz="1000" dirty="0">
                <a:solidFill>
                  <a:srgbClr val="7FB3D3"/>
                </a:solidFill>
                <a:latin typeface="BIZ UDPGothic"/>
                <a:ea typeface="BIZ UDPGothic"/>
              </a:rPr>
              <a:t>エグゼクティブスポンサー</a:t>
            </a:r>
          </a:p>
          <a:p>
            <a:pPr algn="l">
              <a:buNone/>
            </a:pPr>
            <a:r>
              <a:rPr lang="ja-JP" sz="1400" b="1" dirty="0">
                <a:solidFill>
                  <a:srgbClr val="2D3748"/>
                </a:solidFill>
                <a:latin typeface="BIZ UDPGothic"/>
                <a:ea typeface="BIZ UDPGothic"/>
              </a:rPr>
              <a:t>山田 直樹</a:t>
            </a:r>
          </a:p>
          <a:p>
            <a:pPr algn="l">
              <a:buNone/>
            </a:pPr>
            <a:r>
              <a:rPr lang="ja-JP" sz="1000" dirty="0">
                <a:solidFill>
                  <a:srgbClr val="4A5568"/>
                </a:solidFill>
                <a:latin typeface="BIZ UDPGothic"/>
                <a:ea typeface="BIZ UDPGothic"/>
              </a:rPr>
              <a:t>全体統括、重要課題時の意思決定支援</a:t>
            </a:r>
          </a:p>
        </p:txBody>
      </p:sp>
      <p:sp>
        <p:nvSpPr>
          <p:cNvPr id="21" name="TeamCard1"/>
          <p:cNvSpPr/>
          <p:nvPr/>
        </p:nvSpPr>
        <p:spPr>
          <a:xfrm>
            <a:off x="9067800" y="1350000"/>
            <a:ext cx="2514600" cy="1100000"/>
          </a:xfrm>
          <a:prstGeom prst="roundRect">
            <a:avLst>
              <a:gd name="adj" fmla="val 8000"/>
            </a:avLst>
          </a:prstGeom>
          <a:solidFill>
            <a:srgbClr val="EBF5FB"/>
          </a:solidFill>
          <a:ln w="0">
            <a:noFill/>
          </a:ln>
        </p:spPr>
        <p:txBody>
          <a:bodyPr wrap="square" lIns="91440" tIns="91440" rIns="91440" bIns="45720" anchor="t"/>
          <a:lstStyle/>
          <a:p>
            <a:pPr algn="l">
              <a:buNone/>
            </a:pPr>
            <a:r>
              <a:rPr lang="ja-JP" sz="1000" dirty="0">
                <a:solidFill>
                  <a:srgbClr val="7FB3D3"/>
                </a:solidFill>
                <a:latin typeface="BIZ UDPGothic"/>
                <a:ea typeface="BIZ UDPGothic"/>
              </a:rPr>
              <a:t>プロジェクトマネージャー</a:t>
            </a:r>
          </a:p>
          <a:p>
            <a:pPr algn="l">
              <a:buNone/>
            </a:pPr>
            <a:r>
              <a:rPr lang="ja-JP" sz="1400" b="1" dirty="0">
                <a:solidFill>
                  <a:srgbClr val="2D3748"/>
                </a:solidFill>
                <a:latin typeface="BIZ UDPGothic"/>
                <a:ea typeface="BIZ UDPGothic"/>
              </a:rPr>
              <a:t>佐藤 健一</a:t>
            </a:r>
          </a:p>
          <a:p>
            <a:pPr algn="l">
              <a:buNone/>
            </a:pPr>
            <a:r>
              <a:rPr lang="ja-JP" sz="1000" dirty="0">
                <a:solidFill>
                  <a:srgbClr val="4A5568"/>
                </a:solidFill>
                <a:latin typeface="BIZ UDPGothic"/>
                <a:ea typeface="BIZ UDPGothic"/>
              </a:rPr>
              <a:t>進行管理、会議体運営、課題・変更管理、納品管理</a:t>
            </a:r>
          </a:p>
        </p:txBody>
      </p:sp>
      <p:sp>
        <p:nvSpPr>
          <p:cNvPr id="22" name="TeamCard2"/>
          <p:cNvSpPr/>
          <p:nvPr/>
        </p:nvSpPr>
        <p:spPr>
          <a:xfrm>
            <a:off x="6400800" y="2580000"/>
            <a:ext cx="2514600" cy="1100000"/>
          </a:xfrm>
          <a:prstGeom prst="roundRect">
            <a:avLst>
              <a:gd name="adj" fmla="val 8000"/>
            </a:avLst>
          </a:prstGeom>
          <a:solidFill>
            <a:srgbClr val="EBF5FB"/>
          </a:solidFill>
          <a:ln w="0">
            <a:noFill/>
          </a:ln>
        </p:spPr>
        <p:txBody>
          <a:bodyPr wrap="square" lIns="91440" tIns="91440" rIns="91440" bIns="45720" anchor="t"/>
          <a:lstStyle/>
          <a:p>
            <a:pPr algn="l">
              <a:buNone/>
            </a:pPr>
            <a:r>
              <a:rPr lang="ja-JP" sz="1000" dirty="0">
                <a:solidFill>
                  <a:srgbClr val="D4A5C9"/>
                </a:solidFill>
                <a:latin typeface="BIZ UDPGothic"/>
                <a:ea typeface="BIZ UDPGothic"/>
              </a:rPr>
              <a:t>リードデータサイエンティスト</a:t>
            </a:r>
          </a:p>
          <a:p>
            <a:pPr algn="l">
              <a:buNone/>
            </a:pPr>
            <a:r>
              <a:rPr lang="ja-JP" sz="1400" b="1" dirty="0">
                <a:solidFill>
                  <a:srgbClr val="2D3748"/>
                </a:solidFill>
                <a:latin typeface="BIZ UDPGothic"/>
                <a:ea typeface="BIZ UDPGothic"/>
              </a:rPr>
              <a:t>鈴木 美咲</a:t>
            </a:r>
          </a:p>
          <a:p>
            <a:pPr algn="l">
              <a:buNone/>
            </a:pPr>
            <a:r>
              <a:rPr lang="ja-JP" sz="1000" dirty="0">
                <a:solidFill>
                  <a:srgbClr val="4A5568"/>
                </a:solidFill>
                <a:latin typeface="BIZ UDPGothic"/>
                <a:ea typeface="BIZ UDPGothic"/>
              </a:rPr>
              <a:t>分析設計、モデル方針策定、評価設計、説明可能性整理</a:t>
            </a:r>
          </a:p>
        </p:txBody>
      </p:sp>
      <p:sp>
        <p:nvSpPr>
          <p:cNvPr id="23" name="TeamCard3"/>
          <p:cNvSpPr/>
          <p:nvPr/>
        </p:nvSpPr>
        <p:spPr>
          <a:xfrm>
            <a:off x="9067800" y="2580000"/>
            <a:ext cx="2514600" cy="1100000"/>
          </a:xfrm>
          <a:prstGeom prst="roundRect">
            <a:avLst>
              <a:gd name="adj" fmla="val 8000"/>
            </a:avLst>
          </a:prstGeom>
          <a:solidFill>
            <a:srgbClr val="EBF5FB"/>
          </a:solidFill>
          <a:ln w="0">
            <a:noFill/>
          </a:ln>
        </p:spPr>
        <p:txBody>
          <a:bodyPr wrap="square" lIns="91440" tIns="91440" rIns="91440" bIns="45720" anchor="t"/>
          <a:lstStyle/>
          <a:p>
            <a:pPr algn="l">
              <a:buNone/>
            </a:pPr>
            <a:r>
              <a:rPr lang="ja-JP" sz="1000" dirty="0">
                <a:solidFill>
                  <a:srgbClr val="F6C89F"/>
                </a:solidFill>
                <a:latin typeface="BIZ UDPGothic"/>
                <a:ea typeface="BIZ UDPGothic"/>
              </a:rPr>
              <a:t>データエンジニア</a:t>
            </a:r>
          </a:p>
          <a:p>
            <a:pPr algn="l">
              <a:buNone/>
            </a:pPr>
            <a:r>
              <a:rPr lang="ja-JP" sz="1400" b="1" dirty="0">
                <a:solidFill>
                  <a:srgbClr val="2D3748"/>
                </a:solidFill>
                <a:latin typeface="BIZ UDPGothic"/>
                <a:ea typeface="BIZ UDPGothic"/>
              </a:rPr>
              <a:t>斎藤 悠斗</a:t>
            </a:r>
          </a:p>
          <a:p>
            <a:pPr algn="l">
              <a:buNone/>
            </a:pPr>
            <a:r>
              <a:rPr lang="ja-JP" sz="1000" dirty="0">
                <a:solidFill>
                  <a:srgbClr val="4A5568"/>
                </a:solidFill>
                <a:latin typeface="BIZ UDPGothic"/>
                <a:ea typeface="BIZ UDPGothic"/>
              </a:rPr>
              <a:t>データ取込、前処理実装、再現可能な分析環境整備</a:t>
            </a:r>
          </a:p>
        </p:txBody>
      </p:sp>
      <p:sp>
        <p:nvSpPr>
          <p:cNvPr id="24" name="TeamCard4"/>
          <p:cNvSpPr/>
          <p:nvPr/>
        </p:nvSpPr>
        <p:spPr>
          <a:xfrm>
            <a:off x="6400800" y="3810000"/>
            <a:ext cx="2514600" cy="1100000"/>
          </a:xfrm>
          <a:prstGeom prst="roundRect">
            <a:avLst>
              <a:gd name="adj" fmla="val 8000"/>
            </a:avLst>
          </a:prstGeom>
          <a:solidFill>
            <a:srgbClr val="EBF5FB"/>
          </a:solidFill>
          <a:ln w="0">
            <a:noFill/>
          </a:ln>
        </p:spPr>
        <p:txBody>
          <a:bodyPr wrap="square" lIns="91440" tIns="91440" rIns="91440" bIns="45720" anchor="t"/>
          <a:lstStyle/>
          <a:p>
            <a:pPr algn="l">
              <a:buNone/>
            </a:pPr>
            <a:r>
              <a:rPr lang="ja-JP" sz="1000" dirty="0">
                <a:solidFill>
                  <a:srgbClr val="A8D5BA"/>
                </a:solidFill>
                <a:latin typeface="BIZ UDPGothic"/>
                <a:ea typeface="BIZ UDPGothic"/>
              </a:rPr>
              <a:t>ビジネスアナリスト</a:t>
            </a:r>
          </a:p>
          <a:p>
            <a:pPr algn="l">
              <a:buNone/>
            </a:pPr>
            <a:r>
              <a:rPr lang="ja-JP" sz="1400" b="1" dirty="0">
                <a:solidFill>
                  <a:srgbClr val="2D3748"/>
                </a:solidFill>
                <a:latin typeface="BIZ UDPGothic"/>
                <a:ea typeface="BIZ UDPGothic"/>
              </a:rPr>
              <a:t>井上 里奈</a:t>
            </a:r>
          </a:p>
          <a:p>
            <a:pPr algn="l">
              <a:buNone/>
            </a:pPr>
            <a:r>
              <a:rPr lang="ja-JP" sz="1000" dirty="0">
                <a:solidFill>
                  <a:srgbClr val="4A5568"/>
                </a:solidFill>
                <a:latin typeface="BIZ UDPGothic"/>
                <a:ea typeface="BIZ UDPGothic"/>
              </a:rPr>
              <a:t>業務要件整理、KPI整備、示唆の業務接続</a:t>
            </a:r>
          </a:p>
        </p:txBody>
      </p:sp>
      <p:sp>
        <p:nvSpPr>
          <p:cNvPr id="25" name="TeamCard5"/>
          <p:cNvSpPr/>
          <p:nvPr/>
        </p:nvSpPr>
        <p:spPr>
          <a:xfrm>
            <a:off x="9067800" y="3810000"/>
            <a:ext cx="2514600" cy="1100000"/>
          </a:xfrm>
          <a:prstGeom prst="roundRect">
            <a:avLst>
              <a:gd name="adj" fmla="val 8000"/>
            </a:avLst>
          </a:prstGeom>
          <a:solidFill>
            <a:srgbClr val="EBF5FB"/>
          </a:solidFill>
          <a:ln w="0">
            <a:noFill/>
          </a:ln>
        </p:spPr>
        <p:txBody>
          <a:bodyPr wrap="square" lIns="91440" tIns="91440" rIns="91440" bIns="45720" anchor="t"/>
          <a:lstStyle/>
          <a:p>
            <a:pPr algn="l">
              <a:buNone/>
            </a:pPr>
            <a:r>
              <a:rPr lang="ja-JP" sz="1000" dirty="0">
                <a:solidFill>
                  <a:srgbClr val="F9B9B7"/>
                </a:solidFill>
                <a:latin typeface="BIZ UDPGothic"/>
                <a:ea typeface="BIZ UDPGothic"/>
              </a:rPr>
              <a:t>QAレビューアー</a:t>
            </a:r>
          </a:p>
          <a:p>
            <a:pPr algn="l">
              <a:buNone/>
            </a:pPr>
            <a:r>
              <a:rPr lang="ja-JP" sz="1400" b="1" dirty="0">
                <a:solidFill>
                  <a:srgbClr val="2D3748"/>
                </a:solidFill>
                <a:latin typeface="BIZ UDPGothic"/>
                <a:ea typeface="BIZ UDPGothic"/>
              </a:rPr>
              <a:t>池田 恒一</a:t>
            </a:r>
          </a:p>
          <a:p>
            <a:pPr algn="l">
              <a:buNone/>
            </a:pPr>
            <a:r>
              <a:rPr lang="ja-JP" sz="1000" dirty="0">
                <a:solidFill>
                  <a:srgbClr val="4A5568"/>
                </a:solidFill>
                <a:latin typeface="BIZ UDPGothic"/>
                <a:ea typeface="BIZ UDPGothic"/>
              </a:rPr>
              <a:t>成果物品質レビュー、数値・整合性チェック</a:t>
            </a:r>
          </a:p>
        </p:txBody>
      </p:sp>
      <p:sp>
        <p:nvSpPr>
          <p:cNvPr id="30" name="RoleNote"/>
          <p:cNvSpPr txBox="1"/>
          <p:nvPr/>
        </p:nvSpPr>
        <p:spPr>
          <a:xfrm>
            <a:off x="457200" y="5016500"/>
            <a:ext cx="11277600" cy="380000"/>
          </a:xfrm>
          <a:prstGeom prst="rect">
            <a:avLst/>
          </a:prstGeom>
          <a:noFill/>
        </p:spPr>
        <p:txBody>
          <a:bodyPr wrap="square" anchor="ctr"/>
          <a:lstStyle/>
          <a:p>
            <a:pPr algn="l">
              <a:buNone/>
            </a:pPr>
            <a:r>
              <a:rPr lang="ja-JP" sz="1100" dirty="0">
                <a:solidFill>
                  <a:srgbClr val="718096"/>
                </a:solidFill>
                <a:latin typeface="BIZ UDPGothic"/>
                <a:ea typeface="BIZ UDPGothic"/>
              </a:rPr>
              <a:t>※ PMを単一窓口として進行管理・論点整理・変更管理を統括。QAレビューアーは分析実施者と独立した品質確認を実施する</a:t>
            </a:r>
          </a:p>
        </p:txBody>
      </p:sp>
      <p:sp>
        <p:nvSpPr>
          <p:cNvPr id="2" name="テキスト ボックス 1">
            <a:extLst>
              <a:ext uri="{FF2B5EF4-FFF2-40B4-BE49-F238E27FC236}">
                <a16:creationId xmlns:a16="http://schemas.microsoft.com/office/drawing/2014/main" id="{F807E759-180E-4B44-81F3-767A7AE0549B}"/>
              </a:ext>
            </a:extLst>
          </p:cNvPr>
          <p:cNvSpPr txBox="1"/>
          <p:nvPr/>
        </p:nvSpPr>
        <p:spPr>
          <a:xfrm>
            <a:off x="11430000" y="6375400"/>
            <a:ext cx="508000" cy="317500"/>
          </a:xfrm>
          <a:prstGeom prst="rect">
            <a:avLst/>
          </a:prstGeom>
          <a:noFill/>
        </p:spPr>
        <p:txBody>
          <a:bodyPr vertOverflow="overflow" vert="horz" wrap="none" rtlCol="0" anchor="ctr" anchorCtr="0">
            <a:noAutofit/>
          </a:bodyPr>
          <a:lstStyle/>
          <a:p>
            <a:pPr algn="l"/>
            <a:r>
              <a:rPr lang="en-US" altLang="ja-JP" sz="1400">
                <a:solidFill>
                  <a:srgbClr val="718096"/>
                </a:solidFill>
                <a:latin typeface="BIZ UDPGothic"/>
                <a:ea typeface="BIZ UDPGothic"/>
              </a:rPr>
              <a:t>10</a:t>
            </a:r>
            <a:endParaRPr lang="ja-JP" altLang="en-US" sz="1400">
              <a:solidFill>
                <a:srgbClr val="718096"/>
              </a:solidFill>
              <a:latin typeface="BIZ UDPGothic"/>
              <a:ea typeface="BIZ UDPGothic"/>
            </a:endParaRPr>
          </a:p>
        </p:txBody>
      </p:sp>
    </p:spTree>
    <p:extLst>
      <p:ext uri="{BB962C8B-B14F-4D97-AF65-F5344CB8AC3E}">
        <p14:creationId xmlns:p14="http://schemas.microsoft.com/office/powerpoint/2010/main" val="10520672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p:nvPr/>
        </p:nvSpPr>
        <p:spPr>
          <a:xfrm>
            <a:off x="0" y="58000"/>
            <a:ext cx="12192000" cy="640000"/>
          </a:xfrm>
          <a:prstGeom prst="rect">
            <a:avLst/>
          </a:prstGeom>
          <a:solidFill>
            <a:srgbClr val="7FB3D3"/>
          </a:solidFill>
          <a:ln w="0">
            <a:noFill/>
          </a:ln>
        </p:spPr>
        <p:txBody>
          <a:bodyPr wrap="square" anchor="ctr"/>
          <a:lstStyle/>
          <a:p>
            <a:pPr algn="ctr">
              <a:buNone/>
            </a:pPr>
            <a:r>
              <a:rPr lang="ja-JP" sz="2400" b="1" dirty="0">
                <a:solidFill>
                  <a:srgbClr val="FFFFFF"/>
                </a:solidFill>
                <a:latin typeface="BIZ UDPGothic"/>
                <a:ea typeface="BIZ UDPGothic"/>
              </a:rPr>
              <a:t>6. スケジュール案（6週間）</a:t>
            </a:r>
          </a:p>
        </p:txBody>
      </p:sp>
      <p:sp>
        <p:nvSpPr>
          <p:cNvPr id="11" name="DateRange"/>
          <p:cNvSpPr txBox="1"/>
          <p:nvPr/>
        </p:nvSpPr>
        <p:spPr>
          <a:xfrm>
            <a:off x="457200" y="800000"/>
            <a:ext cx="11277600" cy="300000"/>
          </a:xfrm>
          <a:prstGeom prst="rect">
            <a:avLst/>
          </a:prstGeom>
          <a:noFill/>
        </p:spPr>
        <p:txBody>
          <a:bodyPr wrap="square" anchor="ctr"/>
          <a:lstStyle/>
          <a:p>
            <a:pPr algn="l">
              <a:buNone/>
            </a:pPr>
            <a:r>
              <a:rPr lang="ja-JP" sz="1300" dirty="0">
                <a:solidFill>
                  <a:srgbClr val="4A5568"/>
                </a:solidFill>
                <a:latin typeface="BIZ UDPGothic"/>
                <a:ea typeface="BIZ UDPGothic"/>
              </a:rPr>
              <a:t>契約開始日: 2025-10-01 ｜ 契約期間: 6週間 ｜ 完了予定: 2025-11-11</a:t>
            </a:r>
          </a:p>
        </p:txBody>
      </p:sp>
      <p:sp>
        <p:nvSpPr>
          <p:cNvPr id="20" name="WLabel0"/>
          <p:cNvSpPr/>
          <p:nvPr/>
        </p:nvSpPr>
        <p:spPr>
          <a:xfrm>
            <a:off x="457200" y="1200000"/>
            <a:ext cx="1100000" cy="600000"/>
          </a:xfrm>
          <a:prstGeom prst="roundRect">
            <a:avLst>
              <a:gd name="adj" fmla="val 12000"/>
            </a:avLst>
          </a:prstGeom>
          <a:solidFill>
            <a:srgbClr val="7FB3D3"/>
          </a:solidFill>
          <a:ln w="0">
            <a:noFill/>
          </a:ln>
        </p:spPr>
        <p:txBody>
          <a:bodyPr wrap="square" lIns="45720" tIns="0" rIns="45720" bIns="0" anchor="ctr"/>
          <a:lstStyle/>
          <a:p>
            <a:pPr algn="ctr">
              <a:buNone/>
            </a:pPr>
            <a:r>
              <a:rPr lang="en-US" sz="1600" b="1" dirty="0">
                <a:solidFill>
                  <a:srgbClr val="FFFFFF"/>
                </a:solidFill>
                <a:latin typeface="BIZ UDPGothic"/>
                <a:ea typeface="BIZ UDPGothic"/>
              </a:rPr>
              <a:t>W1</a:t>
            </a:r>
          </a:p>
          <a:p>
            <a:pPr algn="ctr">
              <a:buNone/>
            </a:pPr>
            <a:r>
              <a:rPr lang="en-US" sz="900" dirty="0">
                <a:solidFill>
                  <a:srgbClr val="FFFFFF"/>
                </a:solidFill>
                <a:latin typeface="BIZ UDPGothic"/>
                <a:ea typeface="BIZ UDPGothic"/>
              </a:rPr>
              <a:t>10/01-10/07</a:t>
            </a:r>
          </a:p>
        </p:txBody>
      </p:sp>
      <p:sp>
        <p:nvSpPr>
          <p:cNvPr id="21" name="TaskBar0"/>
          <p:cNvSpPr/>
          <p:nvPr/>
        </p:nvSpPr>
        <p:spPr>
          <a:xfrm>
            <a:off x="1650000" y="1200000"/>
            <a:ext cx="6400000" cy="600000"/>
          </a:xfrm>
          <a:prstGeom prst="roundRect">
            <a:avLst>
              <a:gd name="adj" fmla="val 12000"/>
            </a:avLst>
          </a:prstGeom>
          <a:solidFill>
            <a:srgbClr val="7FB3D3">
              <a:alpha val="20000"/>
            </a:srgbClr>
          </a:solidFill>
          <a:ln w="12700">
            <a:solidFill>
              <a:srgbClr val="7FB3D3"/>
            </a:solidFill>
          </a:ln>
        </p:spPr>
        <p:txBody>
          <a:bodyPr wrap="square" lIns="137160" rIns="91440" anchor="ctr"/>
          <a:lstStyle/>
          <a:p>
            <a:pPr algn="l">
              <a:buNone/>
            </a:pPr>
            <a:r>
              <a:rPr lang="ja-JP" sz="1100" dirty="0">
                <a:solidFill>
                  <a:srgbClr val="2D3748"/>
                </a:solidFill>
                <a:latin typeface="BIZ UDPGothic"/>
                <a:ea typeface="BIZ UDPGothic"/>
              </a:rPr>
              <a:t>キックオフ、目的・活用場面確認、データ受領確認、カラム定義確認</a:t>
            </a:r>
          </a:p>
        </p:txBody>
      </p:sp>
      <p:sp>
        <p:nvSpPr>
          <p:cNvPr id="22" name="MS0"/>
          <p:cNvSpPr/>
          <p:nvPr/>
        </p:nvSpPr>
        <p:spPr>
          <a:xfrm>
            <a:off x="8150000" y="1300000"/>
            <a:ext cx="1900000" cy="400000"/>
          </a:xfrm>
          <a:prstGeom prst="roundRect">
            <a:avLst>
              <a:gd name="adj" fmla="val 16000"/>
            </a:avLst>
          </a:prstGeom>
          <a:solidFill>
            <a:srgbClr val="7FB3D3"/>
          </a:solidFill>
          <a:ln w="0">
            <a:noFill/>
          </a:ln>
        </p:spPr>
        <p:txBody>
          <a:bodyPr wrap="square" lIns="45720" tIns="0" rIns="45720" bIns="0" anchor="ctr"/>
          <a:lstStyle/>
          <a:p>
            <a:pPr algn="ctr">
              <a:buNone/>
            </a:pPr>
            <a:r>
              <a:rPr lang="ja-JP" sz="900" b="1" dirty="0">
                <a:solidFill>
                  <a:srgbClr val="FFFFFF"/>
                </a:solidFill>
                <a:latin typeface="BIZ UDPGothic"/>
                <a:ea typeface="BIZ UDPGothic"/>
              </a:rPr>
              <a:t>M1: キックオフ完了</a:t>
            </a:r>
          </a:p>
        </p:txBody>
      </p:sp>
      <p:sp>
        <p:nvSpPr>
          <p:cNvPr id="23" name="WLabel1"/>
          <p:cNvSpPr/>
          <p:nvPr/>
        </p:nvSpPr>
        <p:spPr>
          <a:xfrm>
            <a:off x="457200" y="1850000"/>
            <a:ext cx="1100000" cy="600000"/>
          </a:xfrm>
          <a:prstGeom prst="roundRect">
            <a:avLst>
              <a:gd name="adj" fmla="val 12000"/>
            </a:avLst>
          </a:prstGeom>
          <a:solidFill>
            <a:srgbClr val="A8D5BA"/>
          </a:solidFill>
          <a:ln w="0">
            <a:noFill/>
          </a:ln>
        </p:spPr>
        <p:txBody>
          <a:bodyPr wrap="square" lIns="45720" tIns="0" rIns="45720" bIns="0" anchor="ctr"/>
          <a:lstStyle/>
          <a:p>
            <a:pPr algn="ctr">
              <a:buNone/>
            </a:pPr>
            <a:r>
              <a:rPr lang="en-US" sz="1600" b="1" dirty="0">
                <a:solidFill>
                  <a:srgbClr val="FFFFFF"/>
                </a:solidFill>
                <a:latin typeface="BIZ UDPGothic"/>
                <a:ea typeface="BIZ UDPGothic"/>
              </a:rPr>
              <a:t>W2</a:t>
            </a:r>
          </a:p>
          <a:p>
            <a:pPr algn="ctr">
              <a:buNone/>
            </a:pPr>
            <a:r>
              <a:rPr lang="en-US" sz="900" dirty="0">
                <a:solidFill>
                  <a:srgbClr val="FFFFFF"/>
                </a:solidFill>
                <a:latin typeface="BIZ UDPGothic"/>
                <a:ea typeface="BIZ UDPGothic"/>
              </a:rPr>
              <a:t>10/08-10/14</a:t>
            </a:r>
          </a:p>
        </p:txBody>
      </p:sp>
      <p:sp>
        <p:nvSpPr>
          <p:cNvPr id="24" name="TaskBar1"/>
          <p:cNvSpPr/>
          <p:nvPr/>
        </p:nvSpPr>
        <p:spPr>
          <a:xfrm>
            <a:off x="1650000" y="1850000"/>
            <a:ext cx="6400000" cy="600000"/>
          </a:xfrm>
          <a:prstGeom prst="roundRect">
            <a:avLst>
              <a:gd name="adj" fmla="val 12000"/>
            </a:avLst>
          </a:prstGeom>
          <a:solidFill>
            <a:srgbClr val="A8D5BA">
              <a:alpha val="20000"/>
            </a:srgbClr>
          </a:solidFill>
          <a:ln w="12700">
            <a:solidFill>
              <a:srgbClr val="A8D5BA"/>
            </a:solidFill>
          </a:ln>
        </p:spPr>
        <p:txBody>
          <a:bodyPr wrap="square" lIns="137160" rIns="91440" anchor="ctr"/>
          <a:lstStyle/>
          <a:p>
            <a:pPr algn="l">
              <a:buNone/>
            </a:pPr>
            <a:r>
              <a:rPr lang="ja-JP" sz="1100" dirty="0">
                <a:solidFill>
                  <a:srgbClr val="2D3748"/>
                </a:solidFill>
                <a:latin typeface="BIZ UDPGothic"/>
                <a:ea typeface="BIZ UDPGothic"/>
              </a:rPr>
              <a:t>データ品質確認、EDA、契約率・カテゴリ別傾向確認、初期論点整理</a:t>
            </a:r>
          </a:p>
        </p:txBody>
      </p:sp>
      <p:sp>
        <p:nvSpPr>
          <p:cNvPr id="25" name="MS1"/>
          <p:cNvSpPr/>
          <p:nvPr/>
        </p:nvSpPr>
        <p:spPr>
          <a:xfrm>
            <a:off x="8150000" y="1950000"/>
            <a:ext cx="1900000" cy="400000"/>
          </a:xfrm>
          <a:prstGeom prst="roundRect">
            <a:avLst>
              <a:gd name="adj" fmla="val 16000"/>
            </a:avLst>
          </a:prstGeom>
          <a:solidFill>
            <a:srgbClr val="A8D5BA"/>
          </a:solidFill>
          <a:ln w="0">
            <a:noFill/>
          </a:ln>
        </p:spPr>
        <p:txBody>
          <a:bodyPr wrap="square" lIns="45720" tIns="0" rIns="45720" bIns="0" anchor="ctr"/>
          <a:lstStyle/>
          <a:p>
            <a:pPr algn="ctr">
              <a:buNone/>
            </a:pPr>
            <a:r>
              <a:rPr lang="ja-JP" sz="900" b="1" dirty="0">
                <a:solidFill>
                  <a:srgbClr val="FFFFFF"/>
                </a:solidFill>
                <a:latin typeface="BIZ UDPGothic"/>
                <a:ea typeface="BIZ UDPGothic"/>
              </a:rPr>
              <a:t>M2: EDA完了</a:t>
            </a:r>
          </a:p>
        </p:txBody>
      </p:sp>
      <p:sp>
        <p:nvSpPr>
          <p:cNvPr id="26" name="WLabel2"/>
          <p:cNvSpPr/>
          <p:nvPr/>
        </p:nvSpPr>
        <p:spPr>
          <a:xfrm>
            <a:off x="457200" y="2500000"/>
            <a:ext cx="1100000" cy="600000"/>
          </a:xfrm>
          <a:prstGeom prst="roundRect">
            <a:avLst>
              <a:gd name="adj" fmla="val 12000"/>
            </a:avLst>
          </a:prstGeom>
          <a:solidFill>
            <a:srgbClr val="F6C89F"/>
          </a:solidFill>
          <a:ln w="0">
            <a:noFill/>
          </a:ln>
        </p:spPr>
        <p:txBody>
          <a:bodyPr wrap="square" lIns="45720" tIns="0" rIns="45720" bIns="0" anchor="ctr"/>
          <a:lstStyle/>
          <a:p>
            <a:pPr algn="ctr">
              <a:buNone/>
            </a:pPr>
            <a:r>
              <a:rPr lang="en-US" sz="1600" b="1" dirty="0">
                <a:solidFill>
                  <a:srgbClr val="FFFFFF"/>
                </a:solidFill>
                <a:latin typeface="BIZ UDPGothic"/>
                <a:ea typeface="BIZ UDPGothic"/>
              </a:rPr>
              <a:t>W3</a:t>
            </a:r>
          </a:p>
          <a:p>
            <a:pPr algn="ctr">
              <a:buNone/>
            </a:pPr>
            <a:r>
              <a:rPr lang="en-US" sz="900" dirty="0">
                <a:solidFill>
                  <a:srgbClr val="FFFFFF"/>
                </a:solidFill>
                <a:latin typeface="BIZ UDPGothic"/>
                <a:ea typeface="BIZ UDPGothic"/>
              </a:rPr>
              <a:t>10/15-10/21</a:t>
            </a:r>
          </a:p>
        </p:txBody>
      </p:sp>
      <p:sp>
        <p:nvSpPr>
          <p:cNvPr id="27" name="TaskBar2"/>
          <p:cNvSpPr/>
          <p:nvPr/>
        </p:nvSpPr>
        <p:spPr>
          <a:xfrm>
            <a:off x="1650000" y="2500000"/>
            <a:ext cx="6400000" cy="600000"/>
          </a:xfrm>
          <a:prstGeom prst="roundRect">
            <a:avLst>
              <a:gd name="adj" fmla="val 12000"/>
            </a:avLst>
          </a:prstGeom>
          <a:solidFill>
            <a:srgbClr val="F6C89F">
              <a:alpha val="20000"/>
            </a:srgbClr>
          </a:solidFill>
          <a:ln w="12700">
            <a:solidFill>
              <a:srgbClr val="F6C89F"/>
            </a:solidFill>
          </a:ln>
        </p:spPr>
        <p:txBody>
          <a:bodyPr wrap="square" lIns="137160" rIns="91440" anchor="ctr"/>
          <a:lstStyle/>
          <a:p>
            <a:pPr algn="l">
              <a:buNone/>
            </a:pPr>
            <a:r>
              <a:rPr lang="ja-JP" sz="1100" dirty="0">
                <a:solidFill>
                  <a:srgbClr val="2D3748"/>
                </a:solidFill>
                <a:latin typeface="BIZ UDPGothic"/>
                <a:ea typeface="BIZ UDPGothic"/>
              </a:rPr>
              <a:t>前処理設計、学習/検証分割、ベースラインモデル構築、duration分岐設計</a:t>
            </a:r>
          </a:p>
        </p:txBody>
      </p:sp>
      <p:sp>
        <p:nvSpPr>
          <p:cNvPr id="28" name="MS2"/>
          <p:cNvSpPr/>
          <p:nvPr/>
        </p:nvSpPr>
        <p:spPr>
          <a:xfrm>
            <a:off x="8150000" y="2600000"/>
            <a:ext cx="1900000" cy="400000"/>
          </a:xfrm>
          <a:prstGeom prst="roundRect">
            <a:avLst>
              <a:gd name="adj" fmla="val 16000"/>
            </a:avLst>
          </a:prstGeom>
          <a:solidFill>
            <a:srgbClr val="F6C89F"/>
          </a:solidFill>
          <a:ln w="0">
            <a:noFill/>
          </a:ln>
        </p:spPr>
        <p:txBody>
          <a:bodyPr wrap="square" lIns="45720" tIns="0" rIns="45720" bIns="0" anchor="ctr"/>
          <a:lstStyle/>
          <a:p>
            <a:pPr algn="ctr">
              <a:buNone/>
            </a:pPr>
            <a:r>
              <a:rPr lang="ja-JP" sz="900" b="1" dirty="0">
                <a:solidFill>
                  <a:srgbClr val="FFFFFF"/>
                </a:solidFill>
                <a:latin typeface="BIZ UDPGothic"/>
                <a:ea typeface="BIZ UDPGothic"/>
              </a:rPr>
              <a:t>M3: ベースライン評価完了</a:t>
            </a:r>
          </a:p>
        </p:txBody>
      </p:sp>
      <p:sp>
        <p:nvSpPr>
          <p:cNvPr id="29" name="WLabel3"/>
          <p:cNvSpPr/>
          <p:nvPr/>
        </p:nvSpPr>
        <p:spPr>
          <a:xfrm>
            <a:off x="457200" y="3150000"/>
            <a:ext cx="1100000" cy="600000"/>
          </a:xfrm>
          <a:prstGeom prst="roundRect">
            <a:avLst>
              <a:gd name="adj" fmla="val 12000"/>
            </a:avLst>
          </a:prstGeom>
          <a:solidFill>
            <a:srgbClr val="D4A5C9"/>
          </a:solidFill>
          <a:ln w="0">
            <a:noFill/>
          </a:ln>
        </p:spPr>
        <p:txBody>
          <a:bodyPr wrap="square" lIns="45720" tIns="0" rIns="45720" bIns="0" anchor="ctr"/>
          <a:lstStyle/>
          <a:p>
            <a:pPr algn="ctr">
              <a:buNone/>
            </a:pPr>
            <a:r>
              <a:rPr lang="en-US" sz="1600" b="1" dirty="0">
                <a:solidFill>
                  <a:srgbClr val="FFFFFF"/>
                </a:solidFill>
                <a:latin typeface="BIZ UDPGothic"/>
                <a:ea typeface="BIZ UDPGothic"/>
              </a:rPr>
              <a:t>W4</a:t>
            </a:r>
          </a:p>
          <a:p>
            <a:pPr algn="ctr">
              <a:buNone/>
            </a:pPr>
            <a:r>
              <a:rPr lang="en-US" sz="900" dirty="0">
                <a:solidFill>
                  <a:srgbClr val="FFFFFF"/>
                </a:solidFill>
                <a:latin typeface="BIZ UDPGothic"/>
                <a:ea typeface="BIZ UDPGothic"/>
              </a:rPr>
              <a:t>10/22-10/28</a:t>
            </a:r>
          </a:p>
        </p:txBody>
      </p:sp>
      <p:sp>
        <p:nvSpPr>
          <p:cNvPr id="30" name="TaskBar3"/>
          <p:cNvSpPr/>
          <p:nvPr/>
        </p:nvSpPr>
        <p:spPr>
          <a:xfrm>
            <a:off x="1650000" y="3150000"/>
            <a:ext cx="8200000" cy="600000"/>
          </a:xfrm>
          <a:prstGeom prst="roundRect">
            <a:avLst>
              <a:gd name="adj" fmla="val 12000"/>
            </a:avLst>
          </a:prstGeom>
          <a:solidFill>
            <a:srgbClr val="D4A5C9">
              <a:alpha val="20000"/>
            </a:srgbClr>
          </a:solidFill>
          <a:ln w="12700">
            <a:solidFill>
              <a:srgbClr val="D4A5C9"/>
            </a:solidFill>
          </a:ln>
        </p:spPr>
        <p:txBody>
          <a:bodyPr wrap="square" lIns="137160" rIns="91440" anchor="ctr"/>
          <a:lstStyle/>
          <a:p>
            <a:pPr algn="l">
              <a:buNone/>
            </a:pPr>
            <a:r>
              <a:rPr lang="ja-JP" sz="1100" dirty="0">
                <a:solidFill>
                  <a:srgbClr val="2D3748"/>
                </a:solidFill>
                <a:latin typeface="BIZ UDPGothic"/>
                <a:ea typeface="BIZ UDPGothic"/>
              </a:rPr>
              <a:t>複数手法比較、性能評価、重要変数分析、セグメント分析、公平性確認</a:t>
            </a:r>
          </a:p>
        </p:txBody>
      </p:sp>
      <p:sp>
        <p:nvSpPr>
          <p:cNvPr id="32" name="WLabel4"/>
          <p:cNvSpPr/>
          <p:nvPr/>
        </p:nvSpPr>
        <p:spPr>
          <a:xfrm>
            <a:off x="457200" y="3800000"/>
            <a:ext cx="1100000" cy="600000"/>
          </a:xfrm>
          <a:prstGeom prst="roundRect">
            <a:avLst>
              <a:gd name="adj" fmla="val 12000"/>
            </a:avLst>
          </a:prstGeom>
          <a:solidFill>
            <a:srgbClr val="F9B9B7"/>
          </a:solidFill>
          <a:ln w="0">
            <a:noFill/>
          </a:ln>
        </p:spPr>
        <p:txBody>
          <a:bodyPr wrap="square" lIns="45720" tIns="0" rIns="45720" bIns="0" anchor="ctr"/>
          <a:lstStyle/>
          <a:p>
            <a:pPr algn="ctr">
              <a:buNone/>
            </a:pPr>
            <a:r>
              <a:rPr lang="en-US" sz="1600" b="1" dirty="0">
                <a:solidFill>
                  <a:srgbClr val="FFFFFF"/>
                </a:solidFill>
                <a:latin typeface="BIZ UDPGothic"/>
                <a:ea typeface="BIZ UDPGothic"/>
              </a:rPr>
              <a:t>W5</a:t>
            </a:r>
          </a:p>
          <a:p>
            <a:pPr algn="ctr">
              <a:buNone/>
            </a:pPr>
            <a:r>
              <a:rPr lang="en-US" sz="900" dirty="0">
                <a:solidFill>
                  <a:srgbClr val="FFFFFF"/>
                </a:solidFill>
                <a:latin typeface="BIZ UDPGothic"/>
                <a:ea typeface="BIZ UDPGothic"/>
              </a:rPr>
              <a:t>10/29-11/04</a:t>
            </a:r>
          </a:p>
        </p:txBody>
      </p:sp>
      <p:sp>
        <p:nvSpPr>
          <p:cNvPr id="33" name="TaskBar4"/>
          <p:cNvSpPr/>
          <p:nvPr/>
        </p:nvSpPr>
        <p:spPr>
          <a:xfrm>
            <a:off x="1650000" y="3800000"/>
            <a:ext cx="6400000" cy="600000"/>
          </a:xfrm>
          <a:prstGeom prst="roundRect">
            <a:avLst>
              <a:gd name="adj" fmla="val 12000"/>
            </a:avLst>
          </a:prstGeom>
          <a:solidFill>
            <a:srgbClr val="F9B9B7">
              <a:alpha val="20000"/>
            </a:srgbClr>
          </a:solidFill>
          <a:ln w="12700">
            <a:solidFill>
              <a:srgbClr val="F9B9B7"/>
            </a:solidFill>
          </a:ln>
        </p:spPr>
        <p:txBody>
          <a:bodyPr wrap="square" lIns="137160" rIns="91440" anchor="ctr"/>
          <a:lstStyle/>
          <a:p>
            <a:pPr algn="l">
              <a:buNone/>
            </a:pPr>
            <a:r>
              <a:rPr lang="ja-JP" sz="1100" dirty="0">
                <a:solidFill>
                  <a:srgbClr val="2D3748"/>
                </a:solidFill>
                <a:latin typeface="BIZ UDPGothic"/>
                <a:ea typeface="BIZ UDPGothic"/>
              </a:rPr>
              <a:t>中間報告、レビュー反映、最終モデル方針確定、監査・再現性記録整理</a:t>
            </a:r>
          </a:p>
        </p:txBody>
      </p:sp>
      <p:sp>
        <p:nvSpPr>
          <p:cNvPr id="34" name="MS4"/>
          <p:cNvSpPr/>
          <p:nvPr/>
        </p:nvSpPr>
        <p:spPr>
          <a:xfrm>
            <a:off x="8150000" y="3900000"/>
            <a:ext cx="1900000" cy="400000"/>
          </a:xfrm>
          <a:prstGeom prst="roundRect">
            <a:avLst>
              <a:gd name="adj" fmla="val 16000"/>
            </a:avLst>
          </a:prstGeom>
          <a:solidFill>
            <a:srgbClr val="F9B9B7"/>
          </a:solidFill>
          <a:ln w="0">
            <a:noFill/>
          </a:ln>
        </p:spPr>
        <p:txBody>
          <a:bodyPr wrap="square" lIns="45720" tIns="0" rIns="45720" bIns="0" anchor="ctr"/>
          <a:lstStyle/>
          <a:p>
            <a:pPr algn="ctr">
              <a:buNone/>
            </a:pPr>
            <a:r>
              <a:rPr lang="ja-JP" sz="900" b="1" dirty="0">
                <a:solidFill>
                  <a:srgbClr val="FFFFFF"/>
                </a:solidFill>
                <a:latin typeface="BIZ UDPGothic"/>
                <a:ea typeface="BIZ UDPGothic"/>
              </a:rPr>
              <a:t>M4: 中間報告完了</a:t>
            </a:r>
          </a:p>
        </p:txBody>
      </p:sp>
      <p:sp>
        <p:nvSpPr>
          <p:cNvPr id="35" name="WLabel5"/>
          <p:cNvSpPr/>
          <p:nvPr/>
        </p:nvSpPr>
        <p:spPr>
          <a:xfrm>
            <a:off x="457200" y="4450000"/>
            <a:ext cx="1100000" cy="600000"/>
          </a:xfrm>
          <a:prstGeom prst="roundRect">
            <a:avLst>
              <a:gd name="adj" fmla="val 12000"/>
            </a:avLst>
          </a:prstGeom>
          <a:solidFill>
            <a:srgbClr val="B8D4E8"/>
          </a:solidFill>
          <a:ln w="0">
            <a:noFill/>
          </a:ln>
        </p:spPr>
        <p:txBody>
          <a:bodyPr wrap="square" lIns="45720" tIns="0" rIns="45720" bIns="0" anchor="ctr"/>
          <a:lstStyle/>
          <a:p>
            <a:pPr algn="ctr">
              <a:buNone/>
            </a:pPr>
            <a:r>
              <a:rPr lang="en-US" sz="1600" b="1" dirty="0">
                <a:solidFill>
                  <a:srgbClr val="FFFFFF"/>
                </a:solidFill>
                <a:latin typeface="BIZ UDPGothic"/>
                <a:ea typeface="BIZ UDPGothic"/>
              </a:rPr>
              <a:t>W6</a:t>
            </a:r>
          </a:p>
          <a:p>
            <a:pPr algn="ctr">
              <a:buNone/>
            </a:pPr>
            <a:r>
              <a:rPr lang="en-US" sz="900" dirty="0">
                <a:solidFill>
                  <a:srgbClr val="FFFFFF"/>
                </a:solidFill>
                <a:latin typeface="BIZ UDPGothic"/>
                <a:ea typeface="BIZ UDPGothic"/>
              </a:rPr>
              <a:t>11/05-11/11</a:t>
            </a:r>
          </a:p>
        </p:txBody>
      </p:sp>
      <p:sp>
        <p:nvSpPr>
          <p:cNvPr id="36" name="TaskBar5"/>
          <p:cNvSpPr/>
          <p:nvPr/>
        </p:nvSpPr>
        <p:spPr>
          <a:xfrm>
            <a:off x="1650000" y="4450000"/>
            <a:ext cx="6400000" cy="600000"/>
          </a:xfrm>
          <a:prstGeom prst="roundRect">
            <a:avLst>
              <a:gd name="adj" fmla="val 12000"/>
            </a:avLst>
          </a:prstGeom>
          <a:solidFill>
            <a:srgbClr val="B8D4E8">
              <a:alpha val="20000"/>
            </a:srgbClr>
          </a:solidFill>
          <a:ln w="12700">
            <a:solidFill>
              <a:srgbClr val="B8D4E8"/>
            </a:solidFill>
          </a:ln>
        </p:spPr>
        <p:txBody>
          <a:bodyPr wrap="square" lIns="137160" rIns="91440" anchor="ctr"/>
          <a:lstStyle/>
          <a:p>
            <a:pPr algn="l">
              <a:buNone/>
            </a:pPr>
            <a:r>
              <a:rPr lang="ja-JP" sz="1100" dirty="0">
                <a:solidFill>
                  <a:srgbClr val="2D3748"/>
                </a:solidFill>
                <a:latin typeface="BIZ UDPGothic"/>
                <a:ea typeface="BIZ UDPGothic"/>
              </a:rPr>
              <a:t>最終報告、最終成果物提出、QA反映、検収対応</a:t>
            </a:r>
          </a:p>
        </p:txBody>
      </p:sp>
      <p:sp>
        <p:nvSpPr>
          <p:cNvPr id="37" name="MS5"/>
          <p:cNvSpPr/>
          <p:nvPr/>
        </p:nvSpPr>
        <p:spPr>
          <a:xfrm>
            <a:off x="8150000" y="4550000"/>
            <a:ext cx="1900000" cy="400000"/>
          </a:xfrm>
          <a:prstGeom prst="roundRect">
            <a:avLst>
              <a:gd name="adj" fmla="val 16000"/>
            </a:avLst>
          </a:prstGeom>
          <a:solidFill>
            <a:srgbClr val="B8D4E8"/>
          </a:solidFill>
          <a:ln w="0">
            <a:noFill/>
          </a:ln>
        </p:spPr>
        <p:txBody>
          <a:bodyPr wrap="square" lIns="45720" tIns="0" rIns="45720" bIns="0" anchor="ctr"/>
          <a:lstStyle/>
          <a:p>
            <a:pPr algn="ctr">
              <a:buNone/>
            </a:pPr>
            <a:r>
              <a:rPr lang="ja-JP" sz="900" b="1" dirty="0">
                <a:solidFill>
                  <a:srgbClr val="FFFFFF"/>
                </a:solidFill>
                <a:latin typeface="BIZ UDPGothic"/>
                <a:ea typeface="BIZ UDPGothic"/>
              </a:rPr>
              <a:t>M5: 最終報告 / M6: 検収</a:t>
            </a:r>
          </a:p>
        </p:txBody>
      </p:sp>
      <p:sp>
        <p:nvSpPr>
          <p:cNvPr id="2" name="テキスト ボックス 1">
            <a:extLst>
              <a:ext uri="{FF2B5EF4-FFF2-40B4-BE49-F238E27FC236}">
                <a16:creationId xmlns:a16="http://schemas.microsoft.com/office/drawing/2014/main" id="{A7CFF5B1-1503-4C81-BD25-FC8EEB986B94}"/>
              </a:ext>
            </a:extLst>
          </p:cNvPr>
          <p:cNvSpPr txBox="1"/>
          <p:nvPr/>
        </p:nvSpPr>
        <p:spPr>
          <a:xfrm>
            <a:off x="11430000" y="6375400"/>
            <a:ext cx="508000" cy="317500"/>
          </a:xfrm>
          <a:prstGeom prst="rect">
            <a:avLst/>
          </a:prstGeom>
          <a:noFill/>
        </p:spPr>
        <p:txBody>
          <a:bodyPr vertOverflow="overflow" vert="horz" wrap="none" rtlCol="0" anchor="ctr" anchorCtr="0">
            <a:noAutofit/>
          </a:bodyPr>
          <a:lstStyle/>
          <a:p>
            <a:pPr algn="l"/>
            <a:r>
              <a:rPr lang="en-US" altLang="ja-JP" sz="1400">
                <a:solidFill>
                  <a:srgbClr val="718096"/>
                </a:solidFill>
                <a:latin typeface="BIZ UDPGothic"/>
                <a:ea typeface="BIZ UDPGothic"/>
              </a:rPr>
              <a:t>11</a:t>
            </a:r>
            <a:endParaRPr lang="ja-JP" altLang="en-US" sz="1400">
              <a:solidFill>
                <a:srgbClr val="718096"/>
              </a:solidFill>
              <a:latin typeface="BIZ UDPGothic"/>
              <a:ea typeface="BIZ UDPGothic"/>
            </a:endParaRPr>
          </a:p>
        </p:txBody>
      </p:sp>
    </p:spTree>
    <p:extLst>
      <p:ext uri="{BB962C8B-B14F-4D97-AF65-F5344CB8AC3E}">
        <p14:creationId xmlns:p14="http://schemas.microsoft.com/office/powerpoint/2010/main" val="4753318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FC26F3B-CF38-465C-A319-758CD3B65C3A}"/>
              </a:ext>
            </a:extLst>
          </p:cNvPr>
          <p:cNvSpPr txBox="1"/>
          <p:nvPr/>
        </p:nvSpPr>
        <p:spPr>
          <a:xfrm>
            <a:off x="0" y="50800"/>
            <a:ext cx="12192000" cy="635000"/>
          </a:xfrm>
          <a:prstGeom prst="rect">
            <a:avLst/>
          </a:prstGeom>
          <a:solidFill>
            <a:srgbClr val="7FB3D3"/>
          </a:solidFill>
        </p:spPr>
        <p:txBody>
          <a:bodyPr vertOverflow="overflow" vert="horz" wrap="square" rtlCol="0" anchor="ctr" anchorCtr="0">
            <a:spAutoFit/>
          </a:bodyPr>
          <a:lstStyle/>
          <a:p>
            <a:pPr algn="l"/>
            <a:r>
              <a:rPr lang="en-US" altLang="ja-JP" sz="2400" b="1">
                <a:solidFill>
                  <a:srgbClr val="FFFFFF"/>
                </a:solidFill>
                <a:latin typeface="BIZ UDPGothic"/>
                <a:ea typeface="BIZ UDPGothic"/>
              </a:rPr>
              <a:t>7. </a:t>
            </a:r>
            <a:r>
              <a:rPr lang="ja-JP" altLang="en-US" sz="2400" b="1">
                <a:solidFill>
                  <a:srgbClr val="FFFFFF"/>
                </a:solidFill>
                <a:latin typeface="BIZ UDPGothic"/>
                <a:ea typeface="BIZ UDPGothic"/>
              </a:rPr>
              <a:t>成果物定義</a:t>
            </a:r>
          </a:p>
        </p:txBody>
      </p:sp>
      <p:graphicFrame>
        <p:nvGraphicFramePr>
          <p:cNvPr id="4" name="表 3">
            <a:extLst>
              <a:ext uri="{FF2B5EF4-FFF2-40B4-BE49-F238E27FC236}">
                <a16:creationId xmlns:a16="http://schemas.microsoft.com/office/drawing/2014/main" id="{DEE19F5A-9418-47F3-B4BA-A8512DDA10A5}"/>
              </a:ext>
            </a:extLst>
          </p:cNvPr>
          <p:cNvGraphicFramePr>
            <a:graphicFrameLocks noGrp="1"/>
          </p:cNvGraphicFramePr>
          <p:nvPr>
            <p:extLst>
              <p:ext uri="{D42A27DB-BD31-4B8C-83A1-F6EECF244321}">
                <p14:modId xmlns:p14="http://schemas.microsoft.com/office/powerpoint/2010/main" val="1533724455"/>
              </p:ext>
            </p:extLst>
          </p:nvPr>
        </p:nvGraphicFramePr>
        <p:xfrm>
          <a:off x="457200" y="889000"/>
          <a:ext cx="11277600" cy="5334003"/>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224571732"/>
                    </a:ext>
                  </a:extLst>
                </a:gridCol>
                <a:gridCol w="8991600">
                  <a:extLst>
                    <a:ext uri="{9D8B030D-6E8A-4147-A177-3AD203B41FA5}">
                      <a16:colId xmlns:a16="http://schemas.microsoft.com/office/drawing/2014/main" val="1717802394"/>
                    </a:ext>
                  </a:extLst>
                </a:gridCol>
              </a:tblGrid>
              <a:tr h="592667">
                <a:tc>
                  <a:txBody>
                    <a:bodyPr/>
                    <a:lstStyle/>
                    <a:p>
                      <a:pPr algn="ctr"/>
                      <a:r>
                        <a:rPr lang="ja-JP" altLang="en-US" sz="1400" b="1">
                          <a:solidFill>
                            <a:srgbClr val="FFFFFF"/>
                          </a:solidFill>
                          <a:latin typeface="BIZ UDPGothic"/>
                          <a:ea typeface="BIZ UDPGothic"/>
                        </a:rPr>
                        <a:t>成果物</a:t>
                      </a:r>
                    </a:p>
                  </a:txBody>
                  <a:tcPr anchor="ctr">
                    <a:solidFill>
                      <a:srgbClr val="7FB3D3"/>
                    </a:solidFill>
                  </a:tcPr>
                </a:tc>
                <a:tc>
                  <a:txBody>
                    <a:bodyPr/>
                    <a:lstStyle/>
                    <a:p>
                      <a:pPr algn="ctr"/>
                      <a:r>
                        <a:rPr lang="ja-JP" altLang="en-US" sz="1400" b="1">
                          <a:solidFill>
                            <a:srgbClr val="FFFFFF"/>
                          </a:solidFill>
                          <a:latin typeface="BIZ UDPGothic"/>
                          <a:ea typeface="BIZ UDPGothic"/>
                        </a:rPr>
                        <a:t>内容</a:t>
                      </a:r>
                    </a:p>
                  </a:txBody>
                  <a:tcPr anchor="ctr">
                    <a:solidFill>
                      <a:srgbClr val="7FB3D3"/>
                    </a:solidFill>
                  </a:tcPr>
                </a:tc>
                <a:extLst>
                  <a:ext uri="{0D108BD9-81ED-4DB2-BD59-A6C34878D82A}">
                    <a16:rowId xmlns:a16="http://schemas.microsoft.com/office/drawing/2014/main" val="3436251010"/>
                  </a:ext>
                </a:extLst>
              </a:tr>
              <a:tr h="592667">
                <a:tc>
                  <a:txBody>
                    <a:bodyPr/>
                    <a:lstStyle/>
                    <a:p>
                      <a:pPr algn="ctr"/>
                      <a:r>
                        <a:rPr lang="ja-JP" altLang="en-US" sz="1400" b="1">
                          <a:solidFill>
                            <a:srgbClr val="2D3748"/>
                          </a:solidFill>
                          <a:latin typeface="BIZ UDPGothic"/>
                          <a:ea typeface="BIZ UDPGothic"/>
                        </a:rPr>
                        <a:t>提案書</a:t>
                      </a:r>
                    </a:p>
                  </a:txBody>
                  <a:tcPr anchor="ctr">
                    <a:solidFill>
                      <a:srgbClr val="EBF5FB"/>
                    </a:solidFill>
                  </a:tcPr>
                </a:tc>
                <a:tc>
                  <a:txBody>
                    <a:bodyPr/>
                    <a:lstStyle/>
                    <a:p>
                      <a:pPr algn="l"/>
                      <a:r>
                        <a:rPr lang="ja-JP" altLang="en-US" sz="1400">
                          <a:solidFill>
                            <a:srgbClr val="4A5568"/>
                          </a:solidFill>
                          <a:latin typeface="BIZ UDPGothic"/>
                          <a:ea typeface="BIZ UDPGothic"/>
                        </a:rPr>
                        <a:t>背景、課題、分析方針、体制、スケジュール、見積前提を記載</a:t>
                      </a:r>
                    </a:p>
                  </a:txBody>
                  <a:tcPr anchor="ctr">
                    <a:solidFill>
                      <a:srgbClr val="EBF5FB"/>
                    </a:solidFill>
                  </a:tcPr>
                </a:tc>
                <a:extLst>
                  <a:ext uri="{0D108BD9-81ED-4DB2-BD59-A6C34878D82A}">
                    <a16:rowId xmlns:a16="http://schemas.microsoft.com/office/drawing/2014/main" val="3079799317"/>
                  </a:ext>
                </a:extLst>
              </a:tr>
              <a:tr h="592667">
                <a:tc>
                  <a:txBody>
                    <a:bodyPr/>
                    <a:lstStyle/>
                    <a:p>
                      <a:pPr algn="ctr"/>
                      <a:r>
                        <a:rPr lang="ja-JP" altLang="en-US" sz="1400" b="1">
                          <a:solidFill>
                            <a:srgbClr val="2D3748"/>
                          </a:solidFill>
                          <a:latin typeface="BIZ UDPGothic"/>
                          <a:ea typeface="BIZ UDPGothic"/>
                        </a:rPr>
                        <a:t>契約ドラフト</a:t>
                      </a:r>
                    </a:p>
                  </a:txBody>
                  <a:tcPr anchor="ctr">
                    <a:solidFill>
                      <a:srgbClr val="E8F8F5"/>
                    </a:solidFill>
                  </a:tcPr>
                </a:tc>
                <a:tc>
                  <a:txBody>
                    <a:bodyPr/>
                    <a:lstStyle/>
                    <a:p>
                      <a:pPr algn="l"/>
                      <a:r>
                        <a:rPr lang="ja-JP" altLang="en-US" sz="1400">
                          <a:solidFill>
                            <a:srgbClr val="4A5568"/>
                          </a:solidFill>
                          <a:latin typeface="BIZ UDPGothic"/>
                          <a:ea typeface="BIZ UDPGothic"/>
                        </a:rPr>
                        <a:t>スコープ、納品物、金額、支払条件、変更管理条件を記載</a:t>
                      </a:r>
                    </a:p>
                  </a:txBody>
                  <a:tcPr anchor="ctr">
                    <a:solidFill>
                      <a:srgbClr val="E8F8F5"/>
                    </a:solidFill>
                  </a:tcPr>
                </a:tc>
                <a:extLst>
                  <a:ext uri="{0D108BD9-81ED-4DB2-BD59-A6C34878D82A}">
                    <a16:rowId xmlns:a16="http://schemas.microsoft.com/office/drawing/2014/main" val="4079860679"/>
                  </a:ext>
                </a:extLst>
              </a:tr>
              <a:tr h="592667">
                <a:tc>
                  <a:txBody>
                    <a:bodyPr/>
                    <a:lstStyle/>
                    <a:p>
                      <a:pPr algn="ctr"/>
                      <a:r>
                        <a:rPr lang="ja-JP" altLang="en-US" sz="1400" b="1">
                          <a:solidFill>
                            <a:srgbClr val="2D3748"/>
                          </a:solidFill>
                          <a:latin typeface="BIZ UDPGothic"/>
                          <a:ea typeface="BIZ UDPGothic"/>
                        </a:rPr>
                        <a:t>スケジュール</a:t>
                      </a:r>
                    </a:p>
                  </a:txBody>
                  <a:tcPr anchor="ctr">
                    <a:solidFill>
                      <a:srgbClr val="EBF5FB"/>
                    </a:solidFill>
                  </a:tcPr>
                </a:tc>
                <a:tc>
                  <a:txBody>
                    <a:bodyPr/>
                    <a:lstStyle/>
                    <a:p>
                      <a:pPr algn="l"/>
                      <a:r>
                        <a:rPr lang="ja-JP" altLang="en-US" sz="1400">
                          <a:solidFill>
                            <a:srgbClr val="4A5568"/>
                          </a:solidFill>
                          <a:latin typeface="BIZ UDPGothic"/>
                          <a:ea typeface="BIZ UDPGothic"/>
                        </a:rPr>
                        <a:t>6週間の作業計画、レビュー日、納品日を記載</a:t>
                      </a:r>
                    </a:p>
                  </a:txBody>
                  <a:tcPr anchor="ctr">
                    <a:solidFill>
                      <a:srgbClr val="EBF5FB"/>
                    </a:solidFill>
                  </a:tcPr>
                </a:tc>
                <a:extLst>
                  <a:ext uri="{0D108BD9-81ED-4DB2-BD59-A6C34878D82A}">
                    <a16:rowId xmlns:a16="http://schemas.microsoft.com/office/drawing/2014/main" val="604310766"/>
                  </a:ext>
                </a:extLst>
              </a:tr>
              <a:tr h="592667">
                <a:tc>
                  <a:txBody>
                    <a:bodyPr/>
                    <a:lstStyle/>
                    <a:p>
                      <a:pPr algn="ctr"/>
                      <a:r>
                        <a:rPr lang="ja-JP" altLang="en-US" sz="1400" b="1">
                          <a:solidFill>
                            <a:srgbClr val="2D3748"/>
                          </a:solidFill>
                          <a:latin typeface="BIZ UDPGothic"/>
                          <a:ea typeface="BIZ UDPGothic"/>
                        </a:rPr>
                        <a:t>議事録</a:t>
                      </a:r>
                    </a:p>
                  </a:txBody>
                  <a:tcPr anchor="ctr">
                    <a:solidFill>
                      <a:srgbClr val="E8F8F5"/>
                    </a:solidFill>
                  </a:tcPr>
                </a:tc>
                <a:tc>
                  <a:txBody>
                    <a:bodyPr/>
                    <a:lstStyle/>
                    <a:p>
                      <a:pPr algn="l"/>
                      <a:r>
                        <a:rPr lang="ja-JP" altLang="en-US" sz="1400">
                          <a:solidFill>
                            <a:srgbClr val="4A5568"/>
                          </a:solidFill>
                          <a:latin typeface="BIZ UDPGothic"/>
                          <a:ea typeface="BIZ UDPGothic"/>
                        </a:rPr>
                        <a:t>キックオフ、要件確認、中間報告、最終報告の記録</a:t>
                      </a:r>
                    </a:p>
                  </a:txBody>
                  <a:tcPr anchor="ctr">
                    <a:solidFill>
                      <a:srgbClr val="E8F8F5"/>
                    </a:solidFill>
                  </a:tcPr>
                </a:tc>
                <a:extLst>
                  <a:ext uri="{0D108BD9-81ED-4DB2-BD59-A6C34878D82A}">
                    <a16:rowId xmlns:a16="http://schemas.microsoft.com/office/drawing/2014/main" val="2594564429"/>
                  </a:ext>
                </a:extLst>
              </a:tr>
              <a:tr h="592667">
                <a:tc>
                  <a:txBody>
                    <a:bodyPr/>
                    <a:lstStyle/>
                    <a:p>
                      <a:pPr algn="ctr"/>
                      <a:r>
                        <a:rPr lang="ja-JP" altLang="en-US" sz="1400" b="1">
                          <a:solidFill>
                            <a:srgbClr val="2D3748"/>
                          </a:solidFill>
                          <a:latin typeface="BIZ UDPGothic"/>
                          <a:ea typeface="BIZ UDPGothic"/>
                        </a:rPr>
                        <a:t>中間報告書</a:t>
                      </a:r>
                    </a:p>
                  </a:txBody>
                  <a:tcPr anchor="ctr">
                    <a:solidFill>
                      <a:srgbClr val="EBF5FB"/>
                    </a:solidFill>
                  </a:tcPr>
                </a:tc>
                <a:tc>
                  <a:txBody>
                    <a:bodyPr/>
                    <a:lstStyle/>
                    <a:p>
                      <a:pPr algn="l"/>
                      <a:r>
                        <a:rPr lang="ja-JP" altLang="en-US" sz="1400">
                          <a:solidFill>
                            <a:srgbClr val="4A5568"/>
                          </a:solidFill>
                          <a:latin typeface="BIZ UDPGothic"/>
                          <a:ea typeface="BIZ UDPGothic"/>
                        </a:rPr>
                        <a:t>データ理解、EDA結果、前処理方針、初期モデル結果、論点整理</a:t>
                      </a:r>
                    </a:p>
                  </a:txBody>
                  <a:tcPr anchor="ctr">
                    <a:solidFill>
                      <a:srgbClr val="EBF5FB"/>
                    </a:solidFill>
                  </a:tcPr>
                </a:tc>
                <a:extLst>
                  <a:ext uri="{0D108BD9-81ED-4DB2-BD59-A6C34878D82A}">
                    <a16:rowId xmlns:a16="http://schemas.microsoft.com/office/drawing/2014/main" val="45210449"/>
                  </a:ext>
                </a:extLst>
              </a:tr>
              <a:tr h="592667">
                <a:tc>
                  <a:txBody>
                    <a:bodyPr/>
                    <a:lstStyle/>
                    <a:p>
                      <a:pPr algn="ctr"/>
                      <a:r>
                        <a:rPr lang="ja-JP" altLang="en-US" sz="1400" b="1">
                          <a:solidFill>
                            <a:srgbClr val="2D3748"/>
                          </a:solidFill>
                          <a:latin typeface="BIZ UDPGothic"/>
                          <a:ea typeface="BIZ UDPGothic"/>
                        </a:rPr>
                        <a:t>最終報告書</a:t>
                      </a:r>
                    </a:p>
                  </a:txBody>
                  <a:tcPr anchor="ctr">
                    <a:solidFill>
                      <a:srgbClr val="E8F8F5"/>
                    </a:solidFill>
                  </a:tcPr>
                </a:tc>
                <a:tc>
                  <a:txBody>
                    <a:bodyPr/>
                    <a:lstStyle/>
                    <a:p>
                      <a:pPr algn="l"/>
                      <a:r>
                        <a:rPr lang="ja-JP" altLang="en-US" sz="1400">
                          <a:solidFill>
                            <a:srgbClr val="4A5568"/>
                          </a:solidFill>
                          <a:latin typeface="BIZ UDPGothic"/>
                          <a:ea typeface="BIZ UDPGothic"/>
                        </a:rPr>
                        <a:t>モデル評価結果、重要変数、セグメント示唆、リスク・制約、次段階提案</a:t>
                      </a:r>
                    </a:p>
                  </a:txBody>
                  <a:tcPr anchor="ctr">
                    <a:solidFill>
                      <a:srgbClr val="E8F8F5"/>
                    </a:solidFill>
                  </a:tcPr>
                </a:tc>
                <a:extLst>
                  <a:ext uri="{0D108BD9-81ED-4DB2-BD59-A6C34878D82A}">
                    <a16:rowId xmlns:a16="http://schemas.microsoft.com/office/drawing/2014/main" val="3462115979"/>
                  </a:ext>
                </a:extLst>
              </a:tr>
              <a:tr h="592667">
                <a:tc>
                  <a:txBody>
                    <a:bodyPr/>
                    <a:lstStyle/>
                    <a:p>
                      <a:pPr algn="ctr"/>
                      <a:r>
                        <a:rPr lang="ja-JP" altLang="en-US" sz="1400" b="1">
                          <a:solidFill>
                            <a:srgbClr val="2D3748"/>
                          </a:solidFill>
                          <a:latin typeface="BIZ UDPGothic"/>
                          <a:ea typeface="BIZ UDPGothic"/>
                        </a:rPr>
                        <a:t>分析補足資料</a:t>
                      </a:r>
                    </a:p>
                  </a:txBody>
                  <a:tcPr anchor="ctr">
                    <a:solidFill>
                      <a:srgbClr val="EBF5FB"/>
                    </a:solidFill>
                  </a:tcPr>
                </a:tc>
                <a:tc>
                  <a:txBody>
                    <a:bodyPr/>
                    <a:lstStyle/>
                    <a:p>
                      <a:pPr algn="l"/>
                      <a:r>
                        <a:rPr lang="ja-JP" altLang="en-US" sz="1400">
                          <a:solidFill>
                            <a:srgbClr val="4A5568"/>
                          </a:solidFill>
                          <a:latin typeface="BIZ UDPGothic"/>
                          <a:ea typeface="BIZ UDPGothic"/>
                        </a:rPr>
                        <a:t>カラム一覧、変数採用/除外理由、duration含有/非含有モデル比較、指標定義一覧</a:t>
                      </a:r>
                    </a:p>
                  </a:txBody>
                  <a:tcPr anchor="ctr">
                    <a:solidFill>
                      <a:srgbClr val="EBF5FB"/>
                    </a:solidFill>
                  </a:tcPr>
                </a:tc>
                <a:extLst>
                  <a:ext uri="{0D108BD9-81ED-4DB2-BD59-A6C34878D82A}">
                    <a16:rowId xmlns:a16="http://schemas.microsoft.com/office/drawing/2014/main" val="1123005989"/>
                  </a:ext>
                </a:extLst>
              </a:tr>
              <a:tr h="592667">
                <a:tc>
                  <a:txBody>
                    <a:bodyPr/>
                    <a:lstStyle/>
                    <a:p>
                      <a:pPr algn="ctr"/>
                      <a:r>
                        <a:rPr lang="ja-JP" altLang="en-US" sz="1400" b="1">
                          <a:solidFill>
                            <a:srgbClr val="2D3748"/>
                          </a:solidFill>
                          <a:latin typeface="BIZ UDPGothic"/>
                          <a:ea typeface="BIZ UDPGothic"/>
                        </a:rPr>
                        <a:t>再現性管理情報</a:t>
                      </a:r>
                    </a:p>
                  </a:txBody>
                  <a:tcPr anchor="ctr">
                    <a:solidFill>
                      <a:srgbClr val="E8F8F5"/>
                    </a:solidFill>
                  </a:tcPr>
                </a:tc>
                <a:tc>
                  <a:txBody>
                    <a:bodyPr/>
                    <a:lstStyle/>
                    <a:p>
                      <a:pPr algn="l"/>
                      <a:r>
                        <a:rPr lang="ja-JP" altLang="en-US" sz="1400">
                          <a:solidFill>
                            <a:srgbClr val="4A5568"/>
                          </a:solidFill>
                          <a:latin typeface="BIZ UDPGothic"/>
                          <a:ea typeface="BIZ UDPGothic"/>
                        </a:rPr>
                        <a:t>使用ファイル、前処理条件、実行条件、成果物版数、作成日</a:t>
                      </a:r>
                    </a:p>
                  </a:txBody>
                  <a:tcPr anchor="ctr">
                    <a:solidFill>
                      <a:srgbClr val="E8F8F5"/>
                    </a:solidFill>
                  </a:tcPr>
                </a:tc>
                <a:extLst>
                  <a:ext uri="{0D108BD9-81ED-4DB2-BD59-A6C34878D82A}">
                    <a16:rowId xmlns:a16="http://schemas.microsoft.com/office/drawing/2014/main" val="4273992392"/>
                  </a:ext>
                </a:extLst>
              </a:tr>
            </a:tbl>
          </a:graphicData>
        </a:graphic>
      </p:graphicFrame>
      <p:sp>
        <p:nvSpPr>
          <p:cNvPr id="5" name="テキスト ボックス 4">
            <a:extLst>
              <a:ext uri="{FF2B5EF4-FFF2-40B4-BE49-F238E27FC236}">
                <a16:creationId xmlns:a16="http://schemas.microsoft.com/office/drawing/2014/main" id="{95F9DE02-9C33-4BBE-89BB-C2876B42B1B6}"/>
              </a:ext>
            </a:extLst>
          </p:cNvPr>
          <p:cNvSpPr txBox="1"/>
          <p:nvPr/>
        </p:nvSpPr>
        <p:spPr>
          <a:xfrm>
            <a:off x="457200" y="6350000"/>
            <a:ext cx="11277600" cy="381000"/>
          </a:xfrm>
          <a:prstGeom prst="rect">
            <a:avLst/>
          </a:prstGeom>
          <a:noFill/>
        </p:spPr>
        <p:txBody>
          <a:bodyPr vertOverflow="overflow" vert="horz" wrap="square" rtlCol="0" anchor="t">
            <a:spAutoFit/>
          </a:bodyPr>
          <a:lstStyle/>
          <a:p>
            <a:pPr algn="l"/>
            <a:r>
              <a:rPr lang="en-US" altLang="ja-JP" sz="1400">
                <a:solidFill>
                  <a:srgbClr val="718096"/>
                </a:solidFill>
                <a:latin typeface="BIZ UDPGothic"/>
                <a:ea typeface="BIZ UDPGothic"/>
              </a:rPr>
              <a:t>※ </a:t>
            </a:r>
            <a:r>
              <a:rPr lang="ja-JP" altLang="en-US" sz="1400">
                <a:solidFill>
                  <a:srgbClr val="718096"/>
                </a:solidFill>
                <a:latin typeface="BIZ UDPGothic"/>
                <a:ea typeface="BIZ UDPGothic"/>
              </a:rPr>
              <a:t>成果物はいずれも、監査証跡、アクセス制御、説明可能性を重視した金融業務向け文書品質で整備する</a:t>
            </a:r>
          </a:p>
        </p:txBody>
      </p:sp>
      <p:sp>
        <p:nvSpPr>
          <p:cNvPr id="6" name="テキスト ボックス 5">
            <a:extLst>
              <a:ext uri="{FF2B5EF4-FFF2-40B4-BE49-F238E27FC236}">
                <a16:creationId xmlns:a16="http://schemas.microsoft.com/office/drawing/2014/main" id="{EDD4AA48-7CAA-4392-B7F7-041D254C3C6F}"/>
              </a:ext>
            </a:extLst>
          </p:cNvPr>
          <p:cNvSpPr txBox="1"/>
          <p:nvPr/>
        </p:nvSpPr>
        <p:spPr>
          <a:xfrm>
            <a:off x="11430000" y="6375400"/>
            <a:ext cx="508000" cy="317500"/>
          </a:xfrm>
          <a:prstGeom prst="rect">
            <a:avLst/>
          </a:prstGeom>
          <a:noFill/>
        </p:spPr>
        <p:txBody>
          <a:bodyPr vertOverflow="overflow" vert="horz" wrap="none" rtlCol="0" anchor="ctr" anchorCtr="0">
            <a:noAutofit/>
          </a:bodyPr>
          <a:lstStyle/>
          <a:p>
            <a:pPr algn="l"/>
            <a:r>
              <a:rPr lang="en-US" altLang="ja-JP" sz="1400">
                <a:solidFill>
                  <a:srgbClr val="718096"/>
                </a:solidFill>
                <a:latin typeface="BIZ UDPGothic"/>
                <a:ea typeface="BIZ UDPGothic"/>
              </a:rPr>
              <a:t>12</a:t>
            </a:r>
            <a:endParaRPr lang="ja-JP" altLang="en-US" sz="1400">
              <a:solidFill>
                <a:srgbClr val="718096"/>
              </a:solidFill>
              <a:latin typeface="BIZ UDPGothic"/>
              <a:ea typeface="BIZ UDPGothic"/>
            </a:endParaRPr>
          </a:p>
        </p:txBody>
      </p:sp>
    </p:spTree>
    <p:extLst>
      <p:ext uri="{BB962C8B-B14F-4D97-AF65-F5344CB8AC3E}">
        <p14:creationId xmlns:p14="http://schemas.microsoft.com/office/powerpoint/2010/main" val="23190271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p:nvPr/>
        </p:nvSpPr>
        <p:spPr>
          <a:xfrm>
            <a:off x="0" y="58000"/>
            <a:ext cx="12192000" cy="640000"/>
          </a:xfrm>
          <a:prstGeom prst="rect">
            <a:avLst/>
          </a:prstGeom>
          <a:solidFill>
            <a:srgbClr val="7FB3D3"/>
          </a:solidFill>
          <a:ln w="0">
            <a:noFill/>
          </a:ln>
        </p:spPr>
        <p:txBody>
          <a:bodyPr wrap="square" anchor="ctr"/>
          <a:lstStyle/>
          <a:p>
            <a:pPr algn="ctr">
              <a:buNone/>
            </a:pPr>
            <a:r>
              <a:rPr lang="ja-JP" sz="2400" b="1" dirty="0">
                <a:solidFill>
                  <a:srgbClr val="FFFFFF"/>
                </a:solidFill>
                <a:latin typeface="BIZ UDPGothic"/>
                <a:ea typeface="BIZ UDPGothic"/>
              </a:rPr>
              <a:t>8. 費用見積</a:t>
            </a:r>
          </a:p>
        </p:txBody>
      </p:sp>
      <p:sp>
        <p:nvSpPr>
          <p:cNvPr id="20" name="Amt0"/>
          <p:cNvSpPr/>
          <p:nvPr/>
        </p:nvSpPr>
        <p:spPr>
          <a:xfrm>
            <a:off x="457200" y="900000"/>
            <a:ext cx="3500000" cy="1100000"/>
          </a:xfrm>
          <a:prstGeom prst="roundRect">
            <a:avLst>
              <a:gd name="adj" fmla="val 8000"/>
            </a:avLst>
          </a:prstGeom>
          <a:solidFill>
            <a:srgbClr val="7FB3D3">
              <a:alpha val="15000"/>
            </a:srgbClr>
          </a:solidFill>
          <a:ln w="19050">
            <a:solidFill>
              <a:srgbClr val="7FB3D3"/>
            </a:solidFill>
          </a:ln>
        </p:spPr>
        <p:txBody>
          <a:bodyPr wrap="square" lIns="91440" tIns="91440" rIns="91440" bIns="91440" anchor="ctr"/>
          <a:lstStyle/>
          <a:p>
            <a:pPr algn="ctr">
              <a:buNone/>
            </a:pPr>
            <a:r>
              <a:rPr lang="ja-JP" sz="1400" dirty="0">
                <a:solidFill>
                  <a:srgbClr val="4A5568"/>
                </a:solidFill>
                <a:latin typeface="BIZ UDPGothic"/>
                <a:ea typeface="BIZ UDPGothic"/>
              </a:rPr>
              <a:t>契約金額（税抜）</a:t>
            </a:r>
          </a:p>
          <a:p>
            <a:pPr algn="ctr">
              <a:buNone/>
            </a:pPr>
            <a:r>
              <a:rPr lang="en-US" sz="2800" b="1" dirty="0">
                <a:solidFill>
                  <a:srgbClr val="2D3748"/>
                </a:solidFill>
                <a:latin typeface="BIZ UDPGothic"/>
                <a:ea typeface="BIZ UDPGothic"/>
              </a:rPr>
              <a:t>¥5,250,000</a:t>
            </a:r>
          </a:p>
        </p:txBody>
      </p:sp>
      <p:sp>
        <p:nvSpPr>
          <p:cNvPr id="21" name="Amt1"/>
          <p:cNvSpPr/>
          <p:nvPr/>
        </p:nvSpPr>
        <p:spPr>
          <a:xfrm>
            <a:off x="4157200" y="900000"/>
            <a:ext cx="3500000" cy="1100000"/>
          </a:xfrm>
          <a:prstGeom prst="roundRect">
            <a:avLst>
              <a:gd name="adj" fmla="val 8000"/>
            </a:avLst>
          </a:prstGeom>
          <a:solidFill>
            <a:srgbClr val="A8D5BA">
              <a:alpha val="15000"/>
            </a:srgbClr>
          </a:solidFill>
          <a:ln w="19050">
            <a:solidFill>
              <a:srgbClr val="A8D5BA"/>
            </a:solidFill>
          </a:ln>
        </p:spPr>
        <p:txBody>
          <a:bodyPr wrap="square" lIns="91440" tIns="91440" rIns="91440" bIns="91440" anchor="ctr"/>
          <a:lstStyle/>
          <a:p>
            <a:pPr algn="ctr">
              <a:buNone/>
            </a:pPr>
            <a:r>
              <a:rPr lang="ja-JP" sz="1400" dirty="0">
                <a:solidFill>
                  <a:srgbClr val="4A5568"/>
                </a:solidFill>
                <a:latin typeface="BIZ UDPGothic"/>
                <a:ea typeface="BIZ UDPGothic"/>
              </a:rPr>
              <a:t>消費税額</a:t>
            </a:r>
          </a:p>
          <a:p>
            <a:pPr algn="ctr">
              <a:buNone/>
            </a:pPr>
            <a:r>
              <a:rPr lang="en-US" sz="2800" b="1" dirty="0">
                <a:solidFill>
                  <a:srgbClr val="2D3748"/>
                </a:solidFill>
                <a:latin typeface="BIZ UDPGothic"/>
                <a:ea typeface="BIZ UDPGothic"/>
              </a:rPr>
              <a:t>¥525,000</a:t>
            </a:r>
          </a:p>
        </p:txBody>
      </p:sp>
      <p:sp>
        <p:nvSpPr>
          <p:cNvPr id="22" name="Amt2"/>
          <p:cNvSpPr/>
          <p:nvPr/>
        </p:nvSpPr>
        <p:spPr>
          <a:xfrm>
            <a:off x="7857200" y="900000"/>
            <a:ext cx="3500000" cy="1100000"/>
          </a:xfrm>
          <a:prstGeom prst="roundRect">
            <a:avLst>
              <a:gd name="adj" fmla="val 8000"/>
            </a:avLst>
          </a:prstGeom>
          <a:solidFill>
            <a:srgbClr val="D4A5C9">
              <a:alpha val="15000"/>
            </a:srgbClr>
          </a:solidFill>
          <a:ln w="19050">
            <a:solidFill>
              <a:srgbClr val="D4A5C9"/>
            </a:solidFill>
          </a:ln>
        </p:spPr>
        <p:txBody>
          <a:bodyPr wrap="square" lIns="91440" tIns="91440" rIns="91440" bIns="91440" anchor="ctr"/>
          <a:lstStyle/>
          <a:p>
            <a:pPr algn="ctr">
              <a:buNone/>
            </a:pPr>
            <a:r>
              <a:rPr lang="ja-JP" sz="1400" dirty="0">
                <a:solidFill>
                  <a:srgbClr val="4A5568"/>
                </a:solidFill>
                <a:latin typeface="BIZ UDPGothic"/>
                <a:ea typeface="BIZ UDPGothic"/>
              </a:rPr>
              <a:t>契約金額（税込）</a:t>
            </a:r>
          </a:p>
          <a:p>
            <a:pPr algn="ctr">
              <a:buNone/>
            </a:pPr>
            <a:r>
              <a:rPr lang="en-US" sz="2800" b="1" dirty="0">
                <a:solidFill>
                  <a:srgbClr val="2D3748"/>
                </a:solidFill>
                <a:latin typeface="BIZ UDPGothic"/>
                <a:ea typeface="BIZ UDPGothic"/>
              </a:rPr>
              <a:t>¥5,775,000</a:t>
            </a:r>
          </a:p>
        </p:txBody>
      </p:sp>
      <p:sp>
        <p:nvSpPr>
          <p:cNvPr id="25" name="ContractType"/>
          <p:cNvSpPr/>
          <p:nvPr/>
        </p:nvSpPr>
        <p:spPr>
          <a:xfrm>
            <a:off x="457200" y="2150000"/>
            <a:ext cx="11277600" cy="350000"/>
          </a:xfrm>
          <a:prstGeom prst="roundRect">
            <a:avLst>
              <a:gd name="adj" fmla="val 16000"/>
            </a:avLst>
          </a:prstGeom>
          <a:solidFill>
            <a:srgbClr val="FEF5E7"/>
          </a:solidFill>
          <a:ln w="12700">
            <a:solidFill>
              <a:srgbClr val="F6C89F"/>
            </a:solidFill>
          </a:ln>
        </p:spPr>
        <p:txBody>
          <a:bodyPr wrap="square" lIns="182880" anchor="ctr"/>
          <a:lstStyle/>
          <a:p>
            <a:pPr algn="l">
              <a:buNone/>
            </a:pPr>
            <a:r>
              <a:rPr lang="ja-JP" sz="1300" b="1" dirty="0">
                <a:solidFill>
                  <a:srgbClr val="2D3748"/>
                </a:solidFill>
                <a:latin typeface="BIZ UDPGothic"/>
                <a:ea typeface="BIZ UDPGothic"/>
              </a:rPr>
              <a:t>契約形態: 固定価格契約 ― 契約時に金額を固定し、工数実績による事後精算は行わない</a:t>
            </a:r>
          </a:p>
        </p:txBody>
      </p:sp>
      <p:sp>
        <p:nvSpPr>
          <p:cNvPr id="26" name="PayLabel"/>
          <p:cNvSpPr/>
          <p:nvPr/>
        </p:nvSpPr>
        <p:spPr>
          <a:xfrm>
            <a:off x="457200" y="2650000"/>
            <a:ext cx="2200000" cy="350000"/>
          </a:xfrm>
          <a:prstGeom prst="roundRect">
            <a:avLst>
              <a:gd name="adj" fmla="val 16000"/>
            </a:avLst>
          </a:prstGeom>
          <a:solidFill>
            <a:srgbClr val="7FB3D3"/>
          </a:solidFill>
          <a:ln w="0">
            <a:noFill/>
          </a:ln>
        </p:spPr>
        <p:txBody>
          <a:bodyPr wrap="square" lIns="137160" anchor="ctr"/>
          <a:lstStyle/>
          <a:p>
            <a:pPr algn="ctr">
              <a:buNone/>
            </a:pPr>
            <a:r>
              <a:rPr lang="ja-JP" sz="1400" b="1" dirty="0">
                <a:solidFill>
                  <a:srgbClr val="FFFFFF"/>
                </a:solidFill>
                <a:latin typeface="BIZ UDPGothic"/>
                <a:ea typeface="BIZ UDPGothic"/>
              </a:rPr>
              <a:t>支払条件</a:t>
            </a:r>
          </a:p>
        </p:txBody>
      </p:sp>
      <p:sp>
        <p:nvSpPr>
          <p:cNvPr id="30" name="Pay0"/>
          <p:cNvSpPr/>
          <p:nvPr/>
        </p:nvSpPr>
        <p:spPr>
          <a:xfrm>
            <a:off x="457200" y="3100000"/>
            <a:ext cx="5500000" cy="1700000"/>
          </a:xfrm>
          <a:prstGeom prst="roundRect">
            <a:avLst>
              <a:gd name="adj" fmla="val 6000"/>
            </a:avLst>
          </a:prstGeom>
          <a:solidFill>
            <a:srgbClr val="EBF5FB"/>
          </a:solidFill>
          <a:ln w="12700">
            <a:solidFill>
              <a:srgbClr val="7FB3D3"/>
            </a:solidFill>
          </a:ln>
        </p:spPr>
        <p:txBody>
          <a:bodyPr wrap="square" lIns="182880" tIns="137160" rIns="137160" bIns="91440" anchor="t"/>
          <a:lstStyle/>
          <a:p>
            <a:pPr algn="l">
              <a:buNone/>
            </a:pPr>
            <a:r>
              <a:rPr lang="ja-JP" sz="1600" b="1" dirty="0">
                <a:solidFill>
                  <a:srgbClr val="2D3748"/>
                </a:solidFill>
                <a:latin typeface="BIZ UDPGothic"/>
                <a:ea typeface="BIZ UDPGothic"/>
              </a:rPr>
              <a:t>第1回（着手金）  50%</a:t>
            </a:r>
          </a:p>
          <a:p>
            <a:pPr algn="l">
              <a:buNone/>
            </a:pPr>
            <a:r>
              <a:rPr lang="ja-JP" sz="1200" dirty="0">
                <a:solidFill>
                  <a:srgbClr val="4A5568"/>
                </a:solidFill>
                <a:latin typeface="BIZ UDPGothic"/>
                <a:ea typeface="BIZ UDPGothic"/>
              </a:rPr>
              <a:t>条件: 契約締結後5営業日以内</a:t>
            </a:r>
          </a:p>
          <a:p>
            <a:pPr algn="l">
              <a:buNone/>
            </a:pPr>
            <a:r>
              <a:rPr lang="ja-JP" sz="1200" dirty="0">
                <a:solidFill>
                  <a:srgbClr val="4A5568"/>
                </a:solidFill>
                <a:latin typeface="BIZ UDPGothic"/>
                <a:ea typeface="BIZ UDPGothic"/>
              </a:rPr>
              <a:t>税抜: ¥2,625,000 ｜ 消費税: ¥262,500</a:t>
            </a:r>
          </a:p>
          <a:p>
            <a:pPr algn="l">
              <a:buNone/>
            </a:pPr>
            <a:r>
              <a:rPr lang="ja-JP" sz="1600" b="1" dirty="0">
                <a:solidFill>
                  <a:srgbClr val="7FB3D3"/>
                </a:solidFill>
                <a:latin typeface="BIZ UDPGothic"/>
                <a:ea typeface="BIZ UDPGothic"/>
              </a:rPr>
              <a:t>税込合計: ¥2,887,500</a:t>
            </a:r>
          </a:p>
        </p:txBody>
      </p:sp>
      <p:sp>
        <p:nvSpPr>
          <p:cNvPr id="31" name="Pay1"/>
          <p:cNvSpPr/>
          <p:nvPr/>
        </p:nvSpPr>
        <p:spPr>
          <a:xfrm>
            <a:off x="6157200" y="3100000"/>
            <a:ext cx="5500000" cy="1700000"/>
          </a:xfrm>
          <a:prstGeom prst="roundRect">
            <a:avLst>
              <a:gd name="adj" fmla="val 6000"/>
            </a:avLst>
          </a:prstGeom>
          <a:solidFill>
            <a:srgbClr val="E8F8F5"/>
          </a:solidFill>
          <a:ln w="12700">
            <a:solidFill>
              <a:srgbClr val="A8D5BA"/>
            </a:solidFill>
          </a:ln>
        </p:spPr>
        <p:txBody>
          <a:bodyPr wrap="square" lIns="182880" tIns="137160" rIns="137160" bIns="91440" anchor="t"/>
          <a:lstStyle/>
          <a:p>
            <a:pPr algn="l">
              <a:buNone/>
            </a:pPr>
            <a:r>
              <a:rPr lang="ja-JP" sz="1600" b="1" dirty="0">
                <a:solidFill>
                  <a:srgbClr val="2D3748"/>
                </a:solidFill>
                <a:latin typeface="BIZ UDPGothic"/>
                <a:ea typeface="BIZ UDPGothic"/>
              </a:rPr>
              <a:t>第2回（検収金）  50%</a:t>
            </a:r>
          </a:p>
          <a:p>
            <a:pPr algn="l">
              <a:buNone/>
            </a:pPr>
            <a:r>
              <a:rPr lang="ja-JP" sz="1200" dirty="0">
                <a:solidFill>
                  <a:srgbClr val="4A5568"/>
                </a:solidFill>
                <a:latin typeface="BIZ UDPGothic"/>
                <a:ea typeface="BIZ UDPGothic"/>
              </a:rPr>
              <a:t>条件: 最終成果物の検収完了後5営業日以内</a:t>
            </a:r>
          </a:p>
          <a:p>
            <a:pPr algn="l">
              <a:buNone/>
            </a:pPr>
            <a:r>
              <a:rPr lang="ja-JP" sz="1200" dirty="0">
                <a:solidFill>
                  <a:srgbClr val="4A5568"/>
                </a:solidFill>
                <a:latin typeface="BIZ UDPGothic"/>
                <a:ea typeface="BIZ UDPGothic"/>
              </a:rPr>
              <a:t>税抜: ¥2,625,000 ｜ 消費税: ¥262,500</a:t>
            </a:r>
          </a:p>
          <a:p>
            <a:pPr algn="l">
              <a:buNone/>
            </a:pPr>
            <a:r>
              <a:rPr lang="ja-JP" sz="1600" b="1" dirty="0">
                <a:solidFill>
                  <a:srgbClr val="A8D5BA"/>
                </a:solidFill>
                <a:latin typeface="BIZ UDPGothic"/>
                <a:ea typeface="BIZ UDPGothic"/>
              </a:rPr>
              <a:t>税込合計: ¥2,887,500</a:t>
            </a:r>
          </a:p>
        </p:txBody>
      </p:sp>
      <p:sp>
        <p:nvSpPr>
          <p:cNvPr id="35" name="SupNote"/>
          <p:cNvSpPr txBox="1"/>
          <p:nvPr/>
        </p:nvSpPr>
        <p:spPr>
          <a:xfrm>
            <a:off x="457200" y="4950000"/>
            <a:ext cx="11277600" cy="250000"/>
          </a:xfrm>
          <a:prstGeom prst="rect">
            <a:avLst/>
          </a:prstGeom>
          <a:noFill/>
        </p:spPr>
        <p:txBody>
          <a:bodyPr wrap="square" anchor="t"/>
          <a:lstStyle/>
          <a:p>
            <a:pPr algn="l">
              <a:buNone/>
            </a:pPr>
            <a:r>
              <a:rPr lang="ja-JP" sz="1000" dirty="0">
                <a:solidFill>
                  <a:srgbClr val="718096"/>
                </a:solidFill>
                <a:latin typeface="BIZ UDPGothic"/>
                <a:ea typeface="BIZ UDPGothic"/>
              </a:rPr>
              <a:t>※ 契約範囲外の追加対応は、変更管理手続に基づき別途協議のうえ対応する</a:t>
            </a:r>
          </a:p>
        </p:txBody>
      </p:sp>
      <p:sp>
        <p:nvSpPr>
          <p:cNvPr id="2" name="テキスト ボックス 1">
            <a:extLst>
              <a:ext uri="{FF2B5EF4-FFF2-40B4-BE49-F238E27FC236}">
                <a16:creationId xmlns:a16="http://schemas.microsoft.com/office/drawing/2014/main" id="{74A3CAE1-D56B-450E-B5A9-6FFE735A8A33}"/>
              </a:ext>
            </a:extLst>
          </p:cNvPr>
          <p:cNvSpPr txBox="1"/>
          <p:nvPr/>
        </p:nvSpPr>
        <p:spPr>
          <a:xfrm>
            <a:off x="11430000" y="6375400"/>
            <a:ext cx="508000" cy="317500"/>
          </a:xfrm>
          <a:prstGeom prst="rect">
            <a:avLst/>
          </a:prstGeom>
          <a:noFill/>
        </p:spPr>
        <p:txBody>
          <a:bodyPr vertOverflow="overflow" vert="horz" wrap="none" rtlCol="0" anchor="ctr" anchorCtr="0">
            <a:noAutofit/>
          </a:bodyPr>
          <a:lstStyle/>
          <a:p>
            <a:pPr algn="l"/>
            <a:r>
              <a:rPr lang="en-US" altLang="ja-JP" sz="1400">
                <a:solidFill>
                  <a:srgbClr val="718096"/>
                </a:solidFill>
                <a:latin typeface="BIZ UDPGothic"/>
                <a:ea typeface="BIZ UDPGothic"/>
              </a:rPr>
              <a:t>13</a:t>
            </a:r>
            <a:endParaRPr lang="ja-JP" altLang="en-US" sz="1400">
              <a:solidFill>
                <a:srgbClr val="718096"/>
              </a:solidFill>
              <a:latin typeface="BIZ UDPGothic"/>
              <a:ea typeface="BIZ UDPGothic"/>
            </a:endParaRPr>
          </a:p>
        </p:txBody>
      </p:sp>
    </p:spTree>
    <p:extLst>
      <p:ext uri="{BB962C8B-B14F-4D97-AF65-F5344CB8AC3E}">
        <p14:creationId xmlns:p14="http://schemas.microsoft.com/office/powerpoint/2010/main" val="22197968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p:nvPr/>
        </p:nvSpPr>
        <p:spPr>
          <a:xfrm>
            <a:off x="0" y="58000"/>
            <a:ext cx="12192000" cy="640000"/>
          </a:xfrm>
          <a:prstGeom prst="rect">
            <a:avLst/>
          </a:prstGeom>
          <a:solidFill>
            <a:srgbClr val="7FB3D3"/>
          </a:solidFill>
          <a:ln w="0">
            <a:noFill/>
          </a:ln>
        </p:spPr>
        <p:txBody>
          <a:bodyPr wrap="square" anchor="ctr"/>
          <a:lstStyle/>
          <a:p>
            <a:pPr algn="ctr">
              <a:buNone/>
            </a:pPr>
            <a:r>
              <a:rPr lang="ja-JP" sz="2400" b="1" dirty="0">
                <a:solidFill>
                  <a:srgbClr val="FFFFFF"/>
                </a:solidFill>
                <a:latin typeface="BIZ UDPGothic"/>
                <a:ea typeface="BIZ UDPGothic"/>
              </a:rPr>
              <a:t>9. リスクと対応策（1/2）</a:t>
            </a:r>
          </a:p>
        </p:txBody>
      </p:sp>
      <p:sp>
        <p:nvSpPr>
          <p:cNvPr id="20" name="Risk0"/>
          <p:cNvSpPr/>
          <p:nvPr/>
        </p:nvSpPr>
        <p:spPr>
          <a:xfrm>
            <a:off x="457200" y="850000"/>
            <a:ext cx="5400000" cy="950000"/>
          </a:xfrm>
          <a:prstGeom prst="roundRect">
            <a:avLst>
              <a:gd name="adj" fmla="val 6000"/>
            </a:avLst>
          </a:prstGeom>
          <a:solidFill>
            <a:srgbClr val="FDEDEC"/>
          </a:solidFill>
          <a:ln w="12700">
            <a:solidFill>
              <a:srgbClr val="F9B9B7"/>
            </a:solidFill>
          </a:ln>
        </p:spPr>
        <p:txBody>
          <a:bodyPr wrap="square" lIns="137160" tIns="91440" rIns="91440" bIns="45720" anchor="t"/>
          <a:lstStyle/>
          <a:p>
            <a:pPr algn="l">
              <a:buNone/>
            </a:pPr>
            <a:r>
              <a:rPr lang="ja-JP" sz="1400" b="1" dirty="0">
                <a:solidFill>
                  <a:srgbClr val="2D3748"/>
                </a:solidFill>
                <a:latin typeface="BIZ UDPGothic"/>
                <a:ea typeface="BIZ UDPGothic"/>
              </a:rPr>
              <a:t>⚠ クラス不均衡による評価誤認</a:t>
            </a:r>
          </a:p>
          <a:p>
            <a:pPr algn="l">
              <a:buNone/>
            </a:pPr>
            <a:r>
              <a:rPr lang="ja-JP" sz="1100" dirty="0">
                <a:solidFill>
                  <a:srgbClr val="4A5568"/>
                </a:solidFill>
                <a:latin typeface="BIZ UDPGothic"/>
                <a:ea typeface="BIZ UDPGothic"/>
              </a:rPr>
              <a:t>契約率11.7%のため、Accuracyが高くても業務価値が低い可能性がある</a:t>
            </a:r>
          </a:p>
          <a:p>
            <a:pPr algn="l">
              <a:buNone/>
            </a:pPr>
            <a:r>
              <a:rPr lang="ja-JP" sz="1100" dirty="0">
                <a:solidFill>
                  <a:srgbClr val="F9B9B7"/>
                </a:solidFill>
                <a:latin typeface="BIZ UDPGothic"/>
                <a:ea typeface="BIZ UDPGothic"/>
              </a:rPr>
              <a:t>▶ </a:t>
            </a:r>
            <a:r>
              <a:rPr lang="ja-JP" sz="1100" b="1" dirty="0">
                <a:solidFill>
                  <a:srgbClr val="2D3748"/>
                </a:solidFill>
                <a:latin typeface="BIZ UDPGothic"/>
                <a:ea typeface="BIZ UDPGothic"/>
              </a:rPr>
              <a:t>AUC、Precision、Recall、F1、上位スコア群契約率を併用し、Accuracy単独評価を避ける</a:t>
            </a:r>
          </a:p>
        </p:txBody>
      </p:sp>
      <p:sp>
        <p:nvSpPr>
          <p:cNvPr id="21" name="Risk1"/>
          <p:cNvSpPr/>
          <p:nvPr/>
        </p:nvSpPr>
        <p:spPr>
          <a:xfrm>
            <a:off x="6107200" y="850000"/>
            <a:ext cx="5400000" cy="950000"/>
          </a:xfrm>
          <a:prstGeom prst="roundRect">
            <a:avLst>
              <a:gd name="adj" fmla="val 6000"/>
            </a:avLst>
          </a:prstGeom>
          <a:solidFill>
            <a:srgbClr val="FEF5E7"/>
          </a:solidFill>
          <a:ln w="12700">
            <a:solidFill>
              <a:srgbClr val="F6C89F"/>
            </a:solidFill>
          </a:ln>
        </p:spPr>
        <p:txBody>
          <a:bodyPr wrap="square" lIns="137160" tIns="91440" rIns="91440" bIns="45720" anchor="t"/>
          <a:lstStyle/>
          <a:p>
            <a:pPr algn="l">
              <a:buNone/>
            </a:pPr>
            <a:r>
              <a:rPr lang="ja-JP" sz="1400" b="1" dirty="0">
                <a:solidFill>
                  <a:srgbClr val="2D3748"/>
                </a:solidFill>
                <a:latin typeface="BIZ UDPGothic"/>
                <a:ea typeface="BIZ UDPGothic"/>
              </a:rPr>
              <a:t>⚠ durationによる情報リーク</a:t>
            </a:r>
          </a:p>
          <a:p>
            <a:pPr algn="l">
              <a:buNone/>
            </a:pPr>
            <a:r>
              <a:rPr lang="ja-JP" sz="1100" dirty="0">
                <a:solidFill>
                  <a:srgbClr val="4A5568"/>
                </a:solidFill>
                <a:latin typeface="BIZ UDPGothic"/>
                <a:ea typeface="BIZ UDPGothic"/>
              </a:rPr>
              <a:t>接触前判断用途では不適切な高精度が出る可能性がある</a:t>
            </a:r>
          </a:p>
          <a:p>
            <a:pPr algn="l">
              <a:buNone/>
            </a:pPr>
            <a:r>
              <a:rPr lang="ja-JP" sz="1100" dirty="0">
                <a:solidFill>
                  <a:srgbClr val="F6C89F"/>
                </a:solidFill>
                <a:latin typeface="BIZ UDPGothic"/>
                <a:ea typeface="BIZ UDPGothic"/>
              </a:rPr>
              <a:t>▶ </a:t>
            </a:r>
            <a:r>
              <a:rPr lang="ja-JP" sz="1100" b="1" dirty="0">
                <a:solidFill>
                  <a:srgbClr val="2D3748"/>
                </a:solidFill>
                <a:latin typeface="BIZ UDPGothic"/>
                <a:ea typeface="BIZ UDPGothic"/>
              </a:rPr>
              <a:t>duration含有モデルと非含有モデルを分離し、用途別に明確に報告する</a:t>
            </a:r>
          </a:p>
        </p:txBody>
      </p:sp>
      <p:sp>
        <p:nvSpPr>
          <p:cNvPr id="22" name="Risk2"/>
          <p:cNvSpPr/>
          <p:nvPr/>
        </p:nvSpPr>
        <p:spPr>
          <a:xfrm>
            <a:off x="457200" y="1930000"/>
            <a:ext cx="5400000" cy="950000"/>
          </a:xfrm>
          <a:prstGeom prst="roundRect">
            <a:avLst>
              <a:gd name="adj" fmla="val 6000"/>
            </a:avLst>
          </a:prstGeom>
          <a:solidFill>
            <a:srgbClr val="F5EEF8"/>
          </a:solidFill>
          <a:ln w="12700">
            <a:solidFill>
              <a:srgbClr val="D4A5C9"/>
            </a:solidFill>
          </a:ln>
        </p:spPr>
        <p:txBody>
          <a:bodyPr wrap="square" lIns="137160" tIns="91440" rIns="91440" bIns="45720" anchor="t"/>
          <a:lstStyle/>
          <a:p>
            <a:pPr algn="l">
              <a:buNone/>
            </a:pPr>
            <a:r>
              <a:rPr lang="ja-JP" sz="1400" b="1" dirty="0">
                <a:solidFill>
                  <a:srgbClr val="2D3748"/>
                </a:solidFill>
                <a:latin typeface="BIZ UDPGothic"/>
                <a:ea typeface="BIZ UDPGothic"/>
              </a:rPr>
              <a:t>⚠ 年情報欠如による時系列制約</a:t>
            </a:r>
          </a:p>
          <a:p>
            <a:pPr algn="l">
              <a:buNone/>
            </a:pPr>
            <a:r>
              <a:rPr lang="ja-JP" sz="1100" dirty="0">
                <a:solidFill>
                  <a:srgbClr val="4A5568"/>
                </a:solidFill>
                <a:latin typeface="BIZ UDPGothic"/>
                <a:ea typeface="BIZ UDPGothic"/>
              </a:rPr>
              <a:t>day・monthのみで厳密な時系列安定性評価が困難</a:t>
            </a:r>
          </a:p>
          <a:p>
            <a:pPr algn="l">
              <a:buNone/>
            </a:pPr>
            <a:r>
              <a:rPr lang="ja-JP" sz="1100" dirty="0">
                <a:solidFill>
                  <a:srgbClr val="D4A5C9"/>
                </a:solidFill>
                <a:latin typeface="BIZ UDPGothic"/>
                <a:ea typeface="BIZ UDPGothic"/>
              </a:rPr>
              <a:t>▶ </a:t>
            </a:r>
            <a:r>
              <a:rPr lang="ja-JP" sz="1100" b="1" dirty="0">
                <a:solidFill>
                  <a:srgbClr val="2D3748"/>
                </a:solidFill>
                <a:latin typeface="BIZ UDPGothic"/>
                <a:ea typeface="BIZ UDPGothic"/>
              </a:rPr>
              <a:t>時系列予測ではなく表形式分類問題として扱い、制約を報告書に明示する</a:t>
            </a:r>
          </a:p>
        </p:txBody>
      </p:sp>
      <p:sp>
        <p:nvSpPr>
          <p:cNvPr id="23" name="Risk3"/>
          <p:cNvSpPr/>
          <p:nvPr/>
        </p:nvSpPr>
        <p:spPr>
          <a:xfrm>
            <a:off x="6107200" y="1930000"/>
            <a:ext cx="5400000" cy="950000"/>
          </a:xfrm>
          <a:prstGeom prst="roundRect">
            <a:avLst>
              <a:gd name="adj" fmla="val 6000"/>
            </a:avLst>
          </a:prstGeom>
          <a:solidFill>
            <a:srgbClr val="EBF5FB"/>
          </a:solidFill>
          <a:ln w="12700">
            <a:solidFill>
              <a:srgbClr val="7FB3D3"/>
            </a:solidFill>
          </a:ln>
        </p:spPr>
        <p:txBody>
          <a:bodyPr wrap="square" lIns="137160" tIns="91440" rIns="91440" bIns="45720" anchor="t"/>
          <a:lstStyle/>
          <a:p>
            <a:pPr algn="l">
              <a:buNone/>
            </a:pPr>
            <a:r>
              <a:rPr lang="ja-JP" sz="1400" b="1" dirty="0">
                <a:solidFill>
                  <a:srgbClr val="2D3748"/>
                </a:solidFill>
                <a:latin typeface="BIZ UDPGothic"/>
                <a:ea typeface="BIZ UDPGothic"/>
              </a:rPr>
              <a:t>⚠ 外れ値の影響</a:t>
            </a:r>
          </a:p>
          <a:p>
            <a:pPr algn="l">
              <a:buNone/>
            </a:pPr>
            <a:r>
              <a:rPr lang="ja-JP" sz="1100" dirty="0">
                <a:solidFill>
                  <a:srgbClr val="4A5568"/>
                </a:solidFill>
                <a:latin typeface="BIZ UDPGothic"/>
                <a:ea typeface="BIZ UDPGothic"/>
              </a:rPr>
              <a:t>balance、duration、campaign、previousの極端値がモデル挙動を歪める可能性がある</a:t>
            </a:r>
          </a:p>
          <a:p>
            <a:pPr algn="l">
              <a:buNone/>
            </a:pPr>
            <a:r>
              <a:rPr lang="ja-JP" sz="1100" dirty="0">
                <a:solidFill>
                  <a:srgbClr val="7FB3D3"/>
                </a:solidFill>
                <a:latin typeface="BIZ UDPGothic"/>
                <a:ea typeface="BIZ UDPGothic"/>
              </a:rPr>
              <a:t>▶ </a:t>
            </a:r>
            <a:r>
              <a:rPr lang="ja-JP" sz="1100" b="1" dirty="0">
                <a:solidFill>
                  <a:srgbClr val="2D3748"/>
                </a:solidFill>
                <a:latin typeface="BIZ UDPGothic"/>
                <a:ea typeface="BIZ UDPGothic"/>
              </a:rPr>
              <a:t>分布確認、ロバスト処理、変換、ビニング等の妥当性を検証する</a:t>
            </a:r>
          </a:p>
        </p:txBody>
      </p:sp>
      <p:sp>
        <p:nvSpPr>
          <p:cNvPr id="2" name="テキスト ボックス 1">
            <a:extLst>
              <a:ext uri="{FF2B5EF4-FFF2-40B4-BE49-F238E27FC236}">
                <a16:creationId xmlns:a16="http://schemas.microsoft.com/office/drawing/2014/main" id="{6AE69B17-F671-4E2C-B960-2352A0A29632}"/>
              </a:ext>
            </a:extLst>
          </p:cNvPr>
          <p:cNvSpPr txBox="1"/>
          <p:nvPr/>
        </p:nvSpPr>
        <p:spPr>
          <a:xfrm>
            <a:off x="11430000" y="6375400"/>
            <a:ext cx="508000" cy="317500"/>
          </a:xfrm>
          <a:prstGeom prst="rect">
            <a:avLst/>
          </a:prstGeom>
          <a:noFill/>
        </p:spPr>
        <p:txBody>
          <a:bodyPr vertOverflow="overflow" vert="horz" wrap="none" rtlCol="0" anchor="ctr" anchorCtr="0">
            <a:noAutofit/>
          </a:bodyPr>
          <a:lstStyle/>
          <a:p>
            <a:pPr algn="l"/>
            <a:r>
              <a:rPr lang="en-US" altLang="ja-JP" sz="1400">
                <a:solidFill>
                  <a:srgbClr val="718096"/>
                </a:solidFill>
                <a:latin typeface="BIZ UDPGothic"/>
                <a:ea typeface="BIZ UDPGothic"/>
              </a:rPr>
              <a:t>14</a:t>
            </a:r>
            <a:endParaRPr lang="ja-JP" altLang="en-US" sz="1400">
              <a:solidFill>
                <a:srgbClr val="718096"/>
              </a:solidFill>
              <a:latin typeface="BIZ UDPGothic"/>
              <a:ea typeface="BIZ UDPGothic"/>
            </a:endParaRPr>
          </a:p>
        </p:txBody>
      </p:sp>
    </p:spTree>
    <p:extLst>
      <p:ext uri="{BB962C8B-B14F-4D97-AF65-F5344CB8AC3E}">
        <p14:creationId xmlns:p14="http://schemas.microsoft.com/office/powerpoint/2010/main" val="24110574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p:nvPr/>
        </p:nvSpPr>
        <p:spPr>
          <a:xfrm>
            <a:off x="0" y="58000"/>
            <a:ext cx="12192000" cy="640000"/>
          </a:xfrm>
          <a:prstGeom prst="rect">
            <a:avLst/>
          </a:prstGeom>
          <a:solidFill>
            <a:srgbClr val="7FB3D3"/>
          </a:solidFill>
          <a:ln w="0">
            <a:noFill/>
          </a:ln>
        </p:spPr>
        <p:txBody>
          <a:bodyPr wrap="square" anchor="ctr"/>
          <a:lstStyle/>
          <a:p>
            <a:pPr algn="ctr">
              <a:buNone/>
            </a:pPr>
            <a:r>
              <a:rPr lang="ja-JP" sz="2400" b="1" dirty="0">
                <a:solidFill>
                  <a:srgbClr val="FFFFFF"/>
                </a:solidFill>
                <a:latin typeface="BIZ UDPGothic"/>
                <a:ea typeface="BIZ UDPGothic"/>
              </a:rPr>
              <a:t>9. リスクと対応策（2/2）</a:t>
            </a:r>
          </a:p>
        </p:txBody>
      </p:sp>
      <p:sp>
        <p:nvSpPr>
          <p:cNvPr id="20" name="Risk4"/>
          <p:cNvSpPr/>
          <p:nvPr/>
        </p:nvSpPr>
        <p:spPr>
          <a:xfrm>
            <a:off x="457200" y="850000"/>
            <a:ext cx="5400000" cy="950000"/>
          </a:xfrm>
          <a:prstGeom prst="roundRect">
            <a:avLst>
              <a:gd name="adj" fmla="val 6000"/>
            </a:avLst>
          </a:prstGeom>
          <a:solidFill>
            <a:srgbClr val="E8F8F5"/>
          </a:solidFill>
          <a:ln w="12700">
            <a:solidFill>
              <a:srgbClr val="A8D5BA"/>
            </a:solidFill>
          </a:ln>
        </p:spPr>
        <p:txBody>
          <a:bodyPr wrap="square" lIns="137160" tIns="91440" rIns="91440" bIns="45720" anchor="t"/>
          <a:lstStyle/>
          <a:p>
            <a:pPr algn="l">
              <a:buNone/>
            </a:pPr>
            <a:r>
              <a:rPr lang="ja-JP" sz="1400" b="1" dirty="0">
                <a:solidFill>
                  <a:srgbClr val="2D3748"/>
                </a:solidFill>
                <a:latin typeface="BIZ UDPGothic"/>
                <a:ea typeface="BIZ UDPGothic"/>
              </a:rPr>
              <a:t>⚠ 公平性・属性利用の論点</a:t>
            </a:r>
          </a:p>
          <a:p>
            <a:pPr algn="l">
              <a:buNone/>
            </a:pPr>
            <a:r>
              <a:rPr lang="ja-JP" sz="1100" dirty="0">
                <a:solidFill>
                  <a:srgbClr val="4A5568"/>
                </a:solidFill>
                <a:latin typeface="BIZ UDPGothic"/>
                <a:ea typeface="BIZ UDPGothic"/>
              </a:rPr>
              <a:t>age等の属性に起因する判断差が説明責任上の論点となる</a:t>
            </a:r>
          </a:p>
          <a:p>
            <a:pPr algn="l">
              <a:buNone/>
            </a:pPr>
            <a:r>
              <a:rPr lang="ja-JP" sz="1100" dirty="0">
                <a:solidFill>
                  <a:srgbClr val="A8D5BA"/>
                </a:solidFill>
                <a:latin typeface="BIZ UDPGothic"/>
                <a:ea typeface="BIZ UDPGothic"/>
              </a:rPr>
              <a:t>▶ </a:t>
            </a:r>
            <a:r>
              <a:rPr lang="ja-JP" sz="1100" b="1" dirty="0">
                <a:solidFill>
                  <a:srgbClr val="2D3748"/>
                </a:solidFill>
                <a:latin typeface="BIZ UDPGothic"/>
                <a:ea typeface="BIZ UDPGothic"/>
              </a:rPr>
              <a:t>重要変数の寄与を可視化し、公平性・バイアスの初期確認結果を成果物に含める</a:t>
            </a:r>
          </a:p>
        </p:txBody>
      </p:sp>
      <p:sp>
        <p:nvSpPr>
          <p:cNvPr id="21" name="Risk5"/>
          <p:cNvSpPr/>
          <p:nvPr/>
        </p:nvSpPr>
        <p:spPr>
          <a:xfrm>
            <a:off x="6107200" y="850000"/>
            <a:ext cx="5400000" cy="950000"/>
          </a:xfrm>
          <a:prstGeom prst="roundRect">
            <a:avLst>
              <a:gd name="adj" fmla="val 6000"/>
            </a:avLst>
          </a:prstGeom>
          <a:solidFill>
            <a:srgbClr val="E8F0F8"/>
          </a:solidFill>
          <a:ln w="12700">
            <a:solidFill>
              <a:srgbClr val="B8D4E8"/>
            </a:solidFill>
          </a:ln>
        </p:spPr>
        <p:txBody>
          <a:bodyPr wrap="square" lIns="137160" tIns="91440" rIns="91440" bIns="45720" anchor="t"/>
          <a:lstStyle/>
          <a:p>
            <a:pPr algn="l">
              <a:buNone/>
            </a:pPr>
            <a:r>
              <a:rPr lang="ja-JP" sz="1400" b="1" dirty="0">
                <a:solidFill>
                  <a:srgbClr val="2D3748"/>
                </a:solidFill>
                <a:latin typeface="BIZ UDPGothic"/>
                <a:ea typeface="BIZ UDPGothic"/>
              </a:rPr>
              <a:t>⚠ 単一データソース依存</a:t>
            </a:r>
          </a:p>
          <a:p>
            <a:pPr algn="l">
              <a:buNone/>
            </a:pPr>
            <a:r>
              <a:rPr lang="ja-JP" sz="1100" dirty="0">
                <a:solidFill>
                  <a:srgbClr val="4A5568"/>
                </a:solidFill>
                <a:latin typeface="BIZ UDPGothic"/>
                <a:ea typeface="BIZ UDPGothic"/>
              </a:rPr>
              <a:t>外部要因を加味できず、業務上の完全判断には限界がある</a:t>
            </a:r>
          </a:p>
          <a:p>
            <a:pPr algn="l">
              <a:buNone/>
            </a:pPr>
            <a:r>
              <a:rPr lang="ja-JP" sz="1100" dirty="0">
                <a:solidFill>
                  <a:srgbClr val="B8D4E8"/>
                </a:solidFill>
                <a:latin typeface="BIZ UDPGothic"/>
                <a:ea typeface="BIZ UDPGothic"/>
              </a:rPr>
              <a:t>▶ </a:t>
            </a:r>
            <a:r>
              <a:rPr lang="ja-JP" sz="1100" b="1" dirty="0">
                <a:solidFill>
                  <a:srgbClr val="2D3748"/>
                </a:solidFill>
                <a:latin typeface="BIZ UDPGothic"/>
                <a:ea typeface="BIZ UDPGothic"/>
              </a:rPr>
              <a:t>本分析結果を優先順位付け支援と位置づけ、判断補助としての利用前提を明記する</a:t>
            </a:r>
          </a:p>
        </p:txBody>
      </p:sp>
      <p:sp>
        <p:nvSpPr>
          <p:cNvPr id="22" name="Risk6"/>
          <p:cNvSpPr/>
          <p:nvPr/>
        </p:nvSpPr>
        <p:spPr>
          <a:xfrm>
            <a:off x="457200" y="1930000"/>
            <a:ext cx="5400000" cy="950000"/>
          </a:xfrm>
          <a:prstGeom prst="roundRect">
            <a:avLst>
              <a:gd name="adj" fmla="val 6000"/>
            </a:avLst>
          </a:prstGeom>
          <a:solidFill>
            <a:srgbClr val="FDEDEC"/>
          </a:solidFill>
          <a:ln w="12700">
            <a:solidFill>
              <a:srgbClr val="F9B9B7"/>
            </a:solidFill>
          </a:ln>
        </p:spPr>
        <p:txBody>
          <a:bodyPr wrap="square" lIns="137160" tIns="91440" rIns="91440" bIns="45720" anchor="t"/>
          <a:lstStyle/>
          <a:p>
            <a:pPr algn="l">
              <a:buNone/>
            </a:pPr>
            <a:r>
              <a:rPr lang="ja-JP" sz="1400" b="1" dirty="0">
                <a:solidFill>
                  <a:srgbClr val="2D3748"/>
                </a:solidFill>
                <a:latin typeface="BIZ UDPGothic"/>
                <a:ea typeface="BIZ UDPGothic"/>
              </a:rPr>
              <a:t>⚠ スケジュール圧縮</a:t>
            </a:r>
          </a:p>
          <a:p>
            <a:pPr algn="l">
              <a:buNone/>
            </a:pPr>
            <a:r>
              <a:rPr lang="ja-JP" sz="1100" dirty="0">
                <a:solidFill>
                  <a:srgbClr val="4A5568"/>
                </a:solidFill>
                <a:latin typeface="BIZ UDPGothic"/>
                <a:ea typeface="BIZ UDPGothic"/>
              </a:rPr>
              <a:t>6週間の短期間でレビュー遅延が生じると品質・納期に影響する</a:t>
            </a:r>
          </a:p>
          <a:p>
            <a:pPr algn="l">
              <a:buNone/>
            </a:pPr>
            <a:r>
              <a:rPr lang="ja-JP" sz="1100" dirty="0">
                <a:solidFill>
                  <a:srgbClr val="F9B9B7"/>
                </a:solidFill>
                <a:latin typeface="BIZ UDPGothic"/>
                <a:ea typeface="BIZ UDPGothic"/>
              </a:rPr>
              <a:t>▶ </a:t>
            </a:r>
            <a:r>
              <a:rPr lang="ja-JP" sz="1100" b="1" dirty="0">
                <a:solidFill>
                  <a:srgbClr val="2D3748"/>
                </a:solidFill>
                <a:latin typeface="BIZ UDPGothic"/>
                <a:ea typeface="BIZ UDPGothic"/>
              </a:rPr>
              <a:t>週次で進捗・論点を共有し、中間報告で意思決定事項を早期確定する</a:t>
            </a:r>
          </a:p>
        </p:txBody>
      </p:sp>
      <p:sp>
        <p:nvSpPr>
          <p:cNvPr id="23" name="Risk7"/>
          <p:cNvSpPr/>
          <p:nvPr/>
        </p:nvSpPr>
        <p:spPr>
          <a:xfrm>
            <a:off x="6107200" y="1930000"/>
            <a:ext cx="5400000" cy="950000"/>
          </a:xfrm>
          <a:prstGeom prst="roundRect">
            <a:avLst>
              <a:gd name="adj" fmla="val 6000"/>
            </a:avLst>
          </a:prstGeom>
          <a:solidFill>
            <a:srgbClr val="FEF5E7"/>
          </a:solidFill>
          <a:ln w="12700">
            <a:solidFill>
              <a:srgbClr val="F6C89F"/>
            </a:solidFill>
          </a:ln>
        </p:spPr>
        <p:txBody>
          <a:bodyPr wrap="square" lIns="137160" tIns="91440" rIns="91440" bIns="45720" anchor="t"/>
          <a:lstStyle/>
          <a:p>
            <a:pPr algn="l">
              <a:buNone/>
            </a:pPr>
            <a:r>
              <a:rPr lang="ja-JP" sz="1400" b="1" dirty="0">
                <a:solidFill>
                  <a:srgbClr val="2D3748"/>
                </a:solidFill>
                <a:latin typeface="BIZ UDPGothic"/>
                <a:ea typeface="BIZ UDPGothic"/>
              </a:rPr>
              <a:t>⚠ 文書整合性リスク</a:t>
            </a:r>
          </a:p>
          <a:p>
            <a:pPr algn="l">
              <a:buNone/>
            </a:pPr>
            <a:r>
              <a:rPr lang="ja-JP" sz="1100" dirty="0">
                <a:solidFill>
                  <a:srgbClr val="4A5568"/>
                </a:solidFill>
                <a:latin typeface="BIZ UDPGothic"/>
                <a:ea typeface="BIZ UDPGothic"/>
              </a:rPr>
              <a:t>複数成果物間で定義や数値が不整合となる可能性がある</a:t>
            </a:r>
          </a:p>
          <a:p>
            <a:pPr algn="l">
              <a:buNone/>
            </a:pPr>
            <a:r>
              <a:rPr lang="ja-JP" sz="1100" dirty="0">
                <a:solidFill>
                  <a:srgbClr val="F6C89F"/>
                </a:solidFill>
                <a:latin typeface="BIZ UDPGothic"/>
                <a:ea typeface="BIZ UDPGothic"/>
              </a:rPr>
              <a:t>▶ </a:t>
            </a:r>
            <a:r>
              <a:rPr lang="ja-JP" sz="1100" b="1" dirty="0">
                <a:solidFill>
                  <a:srgbClr val="2D3748"/>
                </a:solidFill>
                <a:latin typeface="BIZ UDPGothic"/>
                <a:ea typeface="BIZ UDPGothic"/>
              </a:rPr>
              <a:t>本プロジェクト概要を単一正本として扱い、QAレビューで整合性確認を実施する</a:t>
            </a:r>
          </a:p>
        </p:txBody>
      </p:sp>
      <p:sp>
        <p:nvSpPr>
          <p:cNvPr id="2" name="テキスト ボックス 1">
            <a:extLst>
              <a:ext uri="{FF2B5EF4-FFF2-40B4-BE49-F238E27FC236}">
                <a16:creationId xmlns:a16="http://schemas.microsoft.com/office/drawing/2014/main" id="{CE3969FC-4D9A-433B-97CF-CD29EA0CE860}"/>
              </a:ext>
            </a:extLst>
          </p:cNvPr>
          <p:cNvSpPr txBox="1"/>
          <p:nvPr/>
        </p:nvSpPr>
        <p:spPr>
          <a:xfrm>
            <a:off x="11430000" y="6375400"/>
            <a:ext cx="508000" cy="317500"/>
          </a:xfrm>
          <a:prstGeom prst="rect">
            <a:avLst/>
          </a:prstGeom>
          <a:noFill/>
        </p:spPr>
        <p:txBody>
          <a:bodyPr vertOverflow="overflow" vert="horz" wrap="none" rtlCol="0" anchor="ctr" anchorCtr="0">
            <a:noAutofit/>
          </a:bodyPr>
          <a:lstStyle/>
          <a:p>
            <a:pPr algn="l"/>
            <a:r>
              <a:rPr lang="en-US" altLang="ja-JP" sz="1400">
                <a:solidFill>
                  <a:srgbClr val="718096"/>
                </a:solidFill>
                <a:latin typeface="BIZ UDPGothic"/>
                <a:ea typeface="BIZ UDPGothic"/>
              </a:rPr>
              <a:t>15</a:t>
            </a:r>
            <a:endParaRPr lang="ja-JP" altLang="en-US" sz="1400">
              <a:solidFill>
                <a:srgbClr val="718096"/>
              </a:solidFill>
              <a:latin typeface="BIZ UDPGothic"/>
              <a:ea typeface="BIZ UDPGothic"/>
            </a:endParaRPr>
          </a:p>
        </p:txBody>
      </p:sp>
    </p:spTree>
    <p:extLst>
      <p:ext uri="{BB962C8B-B14F-4D97-AF65-F5344CB8AC3E}">
        <p14:creationId xmlns:p14="http://schemas.microsoft.com/office/powerpoint/2010/main" val="32916296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p:nvPr/>
        </p:nvSpPr>
        <p:spPr>
          <a:xfrm>
            <a:off x="0" y="58000"/>
            <a:ext cx="12192000" cy="640000"/>
          </a:xfrm>
          <a:prstGeom prst="rect">
            <a:avLst/>
          </a:prstGeom>
          <a:solidFill>
            <a:srgbClr val="7FB3D3"/>
          </a:solidFill>
          <a:ln w="0">
            <a:noFill/>
          </a:ln>
        </p:spPr>
        <p:txBody>
          <a:bodyPr wrap="square" anchor="ctr"/>
          <a:lstStyle/>
          <a:p>
            <a:pPr algn="ctr">
              <a:buNone/>
            </a:pPr>
            <a:r>
              <a:rPr lang="ja-JP" sz="2400" b="1" dirty="0">
                <a:solidFill>
                  <a:srgbClr val="FFFFFF"/>
                </a:solidFill>
                <a:latin typeface="BIZ UDPGothic"/>
                <a:ea typeface="BIZ UDPGothic"/>
              </a:rPr>
              <a:t>10. 前提条件と除外事項</a:t>
            </a:r>
          </a:p>
        </p:txBody>
      </p:sp>
      <p:sp>
        <p:nvSpPr>
          <p:cNvPr id="11" name="PreLabel"/>
          <p:cNvSpPr/>
          <p:nvPr/>
        </p:nvSpPr>
        <p:spPr>
          <a:xfrm>
            <a:off x="457200" y="850000"/>
            <a:ext cx="5334000" cy="350000"/>
          </a:xfrm>
          <a:prstGeom prst="roundRect">
            <a:avLst>
              <a:gd name="adj" fmla="val 16000"/>
            </a:avLst>
          </a:prstGeom>
          <a:solidFill>
            <a:srgbClr val="A8D5BA"/>
          </a:solidFill>
          <a:ln w="0">
            <a:noFill/>
          </a:ln>
        </p:spPr>
        <p:txBody>
          <a:bodyPr wrap="square" lIns="137160" anchor="ctr"/>
          <a:lstStyle/>
          <a:p>
            <a:pPr algn="ctr">
              <a:buNone/>
            </a:pPr>
            <a:r>
              <a:rPr lang="ja-JP" sz="1500" b="1" dirty="0">
                <a:solidFill>
                  <a:srgbClr val="FFFFFF"/>
                </a:solidFill>
                <a:latin typeface="BIZ UDPGothic"/>
                <a:ea typeface="BIZ UDPGothic"/>
              </a:rPr>
              <a:t>前提条件</a:t>
            </a:r>
          </a:p>
        </p:txBody>
      </p:sp>
      <p:sp>
        <p:nvSpPr>
          <p:cNvPr id="12" name="PreContent"/>
          <p:cNvSpPr txBox="1"/>
          <p:nvPr/>
        </p:nvSpPr>
        <p:spPr>
          <a:xfrm>
            <a:off x="457200" y="1280000"/>
            <a:ext cx="5334000" cy="2800000"/>
          </a:xfrm>
          <a:prstGeom prst="roundRect">
            <a:avLst>
              <a:gd name="adj" fmla="val 4000"/>
            </a:avLst>
          </a:prstGeom>
          <a:solidFill>
            <a:srgbClr val="E8F8F5"/>
          </a:solidFill>
          <a:ln w="12700">
            <a:solidFill>
              <a:srgbClr val="A8D5BA"/>
            </a:solidFill>
          </a:ln>
        </p:spPr>
        <p:txBody>
          <a:bodyPr wrap="square" lIns="137160" tIns="91440" rIns="91440" bIns="45720" anchor="t"/>
          <a:lstStyle/>
          <a:p>
            <a:pPr marL="228600" indent="-228600" algn="l">
              <a:buFont typeface="Arial"/>
              <a:buChar char="✓"/>
            </a:pPr>
            <a:r>
              <a:rPr lang="ja-JP" sz="1050" dirty="0">
                <a:solidFill>
                  <a:srgbClr val="2D3748"/>
                </a:solidFill>
                <a:latin typeface="BIZ UDPGothic"/>
                <a:ea typeface="BIZ UDPGothic"/>
              </a:rPr>
              <a:t>train.csv を正本データとして利用</a:t>
            </a:r>
          </a:p>
          <a:p>
            <a:pPr marL="228600" indent="-228600" algn="l">
              <a:buFont typeface="Arial"/>
              <a:buChar char="✓"/>
            </a:pPr>
            <a:r>
              <a:rPr lang="ja-JP" sz="1050" dirty="0">
                <a:solidFill>
                  <a:srgbClr val="2D3748"/>
                </a:solidFill>
                <a:latin typeface="BIZ UDPGothic"/>
                <a:ea typeface="BIZ UDPGothic"/>
              </a:rPr>
              <a:t>カラム説明.md を正式カラム定義として利用</a:t>
            </a:r>
          </a:p>
          <a:p>
            <a:pPr marL="228600" indent="-228600" algn="l">
              <a:buFont typeface="Arial"/>
              <a:buChar char="✓"/>
            </a:pPr>
            <a:r>
              <a:rPr lang="ja-JP" sz="1050" dirty="0">
                <a:solidFill>
                  <a:srgbClr val="2D3748"/>
                </a:solidFill>
                <a:latin typeface="BIZ UDPGothic"/>
                <a:ea typeface="BIZ UDPGothic"/>
              </a:rPr>
              <a:t>目的変数 y は 1=契約、0=未契約を正しく表す前提</a:t>
            </a:r>
          </a:p>
          <a:p>
            <a:pPr marL="228600" indent="-228600" algn="l">
              <a:buFont typeface="Arial"/>
              <a:buChar char="✓"/>
            </a:pPr>
            <a:r>
              <a:rPr lang="ja-JP" sz="1050" dirty="0">
                <a:solidFill>
                  <a:srgbClr val="2D3748"/>
                </a:solidFill>
                <a:latin typeface="BIZ UDPGothic"/>
                <a:ea typeface="BIZ UDPGothic"/>
              </a:rPr>
              <a:t>id は重複のない識別子として扱い、予測説明変数から除外</a:t>
            </a:r>
          </a:p>
          <a:p>
            <a:pPr marL="228600" indent="-228600" algn="l">
              <a:buFont typeface="Arial"/>
              <a:buChar char="✓"/>
            </a:pPr>
            <a:r>
              <a:rPr lang="ja-JP" sz="1050" dirty="0">
                <a:solidFill>
                  <a:srgbClr val="2D3748"/>
                </a:solidFill>
                <a:latin typeface="BIZ UDPGothic"/>
                <a:ea typeface="BIZ UDPGothic"/>
              </a:rPr>
              <a:t>unknown は欠損ではなく有効カテゴリとして扱う</a:t>
            </a:r>
          </a:p>
          <a:p>
            <a:pPr marL="228600" indent="-228600" algn="l">
              <a:buFont typeface="Arial"/>
              <a:buChar char="✓"/>
            </a:pPr>
            <a:r>
              <a:rPr lang="ja-JP" sz="1050" dirty="0">
                <a:solidFill>
                  <a:srgbClr val="2D3748"/>
                </a:solidFill>
                <a:latin typeface="BIZ UDPGothic"/>
                <a:ea typeface="BIZ UDPGothic"/>
              </a:rPr>
              <a:t>pdays=-1 は前回未連絡を示す有効値として扱う</a:t>
            </a:r>
          </a:p>
          <a:p>
            <a:pPr marL="228600" indent="-228600" algn="l">
              <a:buFont typeface="Arial"/>
              <a:buChar char="✓"/>
            </a:pPr>
            <a:r>
              <a:rPr lang="ja-JP" sz="1050" dirty="0">
                <a:solidFill>
                  <a:srgbClr val="2D3748"/>
                </a:solidFill>
                <a:latin typeface="BIZ UDPGothic"/>
                <a:ea typeface="BIZ UDPGothic"/>
              </a:rPr>
              <a:t>duration は含有/非含有モデルを分けて評価</a:t>
            </a:r>
          </a:p>
          <a:p>
            <a:pPr marL="228600" indent="-228600" algn="l">
              <a:buFont typeface="Arial"/>
              <a:buChar char="✓"/>
            </a:pPr>
            <a:r>
              <a:rPr lang="ja-JP" sz="1050" dirty="0">
                <a:solidFill>
                  <a:srgbClr val="2D3748"/>
                </a:solidFill>
                <a:latin typeface="BIZ UDPGothic"/>
                <a:ea typeface="BIZ UDPGothic"/>
              </a:rPr>
              <a:t>分析・報告までを対象とし、本番実装は対象外</a:t>
            </a:r>
          </a:p>
          <a:p>
            <a:pPr marL="228600" indent="-228600" algn="l">
              <a:buFont typeface="Arial"/>
              <a:buChar char="✓"/>
            </a:pPr>
            <a:r>
              <a:rPr lang="ja-JP" sz="1050" dirty="0">
                <a:solidFill>
                  <a:srgbClr val="2D3748"/>
                </a:solidFill>
                <a:latin typeface="BIZ UDPGothic"/>
                <a:ea typeface="BIZ UDPGothic"/>
              </a:rPr>
              <a:t>監査証跡必須、アクセス制御必須、説明可能性必須</a:t>
            </a:r>
          </a:p>
        </p:txBody>
      </p:sp>
      <p:sp>
        <p:nvSpPr>
          <p:cNvPr id="13" name="ExLabel"/>
          <p:cNvSpPr/>
          <p:nvPr/>
        </p:nvSpPr>
        <p:spPr>
          <a:xfrm>
            <a:off x="6400800" y="850000"/>
            <a:ext cx="5334000" cy="350000"/>
          </a:xfrm>
          <a:prstGeom prst="roundRect">
            <a:avLst>
              <a:gd name="adj" fmla="val 16000"/>
            </a:avLst>
          </a:prstGeom>
          <a:solidFill>
            <a:srgbClr val="F9B9B7"/>
          </a:solidFill>
          <a:ln w="0">
            <a:noFill/>
          </a:ln>
        </p:spPr>
        <p:txBody>
          <a:bodyPr wrap="square" lIns="137160" anchor="ctr"/>
          <a:lstStyle/>
          <a:p>
            <a:pPr algn="ctr">
              <a:buNone/>
            </a:pPr>
            <a:r>
              <a:rPr lang="ja-JP" sz="1500" b="1" dirty="0">
                <a:solidFill>
                  <a:srgbClr val="FFFFFF"/>
                </a:solidFill>
                <a:latin typeface="BIZ UDPGothic"/>
                <a:ea typeface="BIZ UDPGothic"/>
              </a:rPr>
              <a:t>除外事項</a:t>
            </a:r>
          </a:p>
        </p:txBody>
      </p:sp>
      <p:sp>
        <p:nvSpPr>
          <p:cNvPr id="14" name="ExContent"/>
          <p:cNvSpPr txBox="1"/>
          <p:nvPr/>
        </p:nvSpPr>
        <p:spPr>
          <a:xfrm>
            <a:off x="6400800" y="1280000"/>
            <a:ext cx="5334000" cy="2800000"/>
          </a:xfrm>
          <a:prstGeom prst="roundRect">
            <a:avLst>
              <a:gd name="adj" fmla="val 4000"/>
            </a:avLst>
          </a:prstGeom>
          <a:solidFill>
            <a:srgbClr val="FDEDEC"/>
          </a:solidFill>
          <a:ln w="12700">
            <a:solidFill>
              <a:srgbClr val="F9B9B7"/>
            </a:solidFill>
          </a:ln>
        </p:spPr>
        <p:txBody>
          <a:bodyPr wrap="square" lIns="137160" tIns="91440" rIns="91440" bIns="45720" anchor="t"/>
          <a:lstStyle/>
          <a:p>
            <a:pPr marL="228600" indent="-228600" algn="l">
              <a:buFont typeface="Arial"/>
              <a:buChar char="✕"/>
            </a:pPr>
            <a:r>
              <a:rPr lang="ja-JP" sz="1100" dirty="0">
                <a:solidFill>
                  <a:srgbClr val="2D3748"/>
                </a:solidFill>
                <a:latin typeface="BIZ UDPGothic"/>
                <a:ea typeface="BIZ UDPGothic"/>
              </a:rPr>
              <a:t>本番システム、業務システム、API、バッチ等への実装</a:t>
            </a:r>
          </a:p>
          <a:p>
            <a:pPr marL="228600" indent="-228600" algn="l">
              <a:buFont typeface="Arial"/>
              <a:buChar char="✕"/>
            </a:pPr>
            <a:r>
              <a:rPr lang="ja-JP" sz="1100" dirty="0">
                <a:solidFill>
                  <a:srgbClr val="2D3748"/>
                </a:solidFill>
                <a:latin typeface="BIZ UDPGothic"/>
                <a:ea typeface="BIZ UDPGothic"/>
              </a:rPr>
              <a:t>外部データの追加取得やデータ統合</a:t>
            </a:r>
          </a:p>
          <a:p>
            <a:pPr marL="228600" indent="-228600" algn="l">
              <a:buFont typeface="Arial"/>
              <a:buChar char="✕"/>
            </a:pPr>
            <a:r>
              <a:rPr lang="ja-JP" sz="1100" dirty="0">
                <a:solidFill>
                  <a:srgbClr val="2D3748"/>
                </a:solidFill>
                <a:latin typeface="BIZ UDPGothic"/>
                <a:ea typeface="BIZ UDPGothic"/>
              </a:rPr>
              <a:t>本番運用監視設計および保守運用</a:t>
            </a:r>
          </a:p>
          <a:p>
            <a:pPr marL="228600" indent="-228600" algn="l">
              <a:buFont typeface="Arial"/>
              <a:buChar char="✕"/>
            </a:pPr>
            <a:r>
              <a:rPr lang="ja-JP" sz="1100" dirty="0">
                <a:solidFill>
                  <a:srgbClr val="2D3748"/>
                </a:solidFill>
                <a:latin typeface="BIZ UDPGothic"/>
                <a:ea typeface="BIZ UDPGothic"/>
              </a:rPr>
              <a:t>追加テーマの分析、追加帳票、追加会議体運営</a:t>
            </a:r>
          </a:p>
          <a:p>
            <a:pPr marL="228600" indent="-228600" algn="l">
              <a:buFont typeface="Arial"/>
              <a:buChar char="✕"/>
            </a:pPr>
            <a:r>
              <a:rPr lang="ja-JP" sz="1100" dirty="0">
                <a:solidFill>
                  <a:srgbClr val="2D3748"/>
                </a:solidFill>
                <a:latin typeface="BIZ UDPGothic"/>
                <a:ea typeface="BIZ UDPGothic"/>
              </a:rPr>
              <a:t>法務・監査部門向け正式審査資料の作成代行</a:t>
            </a:r>
          </a:p>
          <a:p>
            <a:pPr marL="228600" indent="-228600" algn="l">
              <a:buFont typeface="Arial"/>
              <a:buChar char="✕"/>
            </a:pPr>
            <a:r>
              <a:rPr lang="ja-JP" sz="1100" dirty="0">
                <a:solidFill>
                  <a:srgbClr val="2D3748"/>
                </a:solidFill>
                <a:latin typeface="BIZ UDPGothic"/>
                <a:ea typeface="BIZ UDPGothic"/>
              </a:rPr>
              <a:t>train.csv 以外を用いた追加精度改善</a:t>
            </a:r>
          </a:p>
          <a:p>
            <a:pPr marL="228600" indent="-228600" algn="l">
              <a:buFont typeface="Arial"/>
              <a:buChar char="✕"/>
            </a:pPr>
            <a:r>
              <a:rPr lang="ja-JP" sz="1100" dirty="0">
                <a:solidFill>
                  <a:srgbClr val="2D3748"/>
                </a:solidFill>
                <a:latin typeface="BIZ UDPGothic"/>
                <a:ea typeface="BIZ UDPGothic"/>
              </a:rPr>
              <a:t>厳密な因果推論や新規目的変数設計</a:t>
            </a:r>
          </a:p>
        </p:txBody>
      </p:sp>
      <p:sp>
        <p:nvSpPr>
          <p:cNvPr id="15" name="ChangeLabel"/>
          <p:cNvSpPr/>
          <p:nvPr/>
        </p:nvSpPr>
        <p:spPr>
          <a:xfrm>
            <a:off x="457200" y="4250000"/>
            <a:ext cx="2200000" cy="350000"/>
          </a:xfrm>
          <a:prstGeom prst="roundRect">
            <a:avLst>
              <a:gd name="adj" fmla="val 16000"/>
            </a:avLst>
          </a:prstGeom>
          <a:solidFill>
            <a:srgbClr val="F6C89F"/>
          </a:solidFill>
          <a:ln w="0">
            <a:noFill/>
          </a:ln>
        </p:spPr>
        <p:txBody>
          <a:bodyPr wrap="square" lIns="137160" anchor="ctr"/>
          <a:lstStyle/>
          <a:p>
            <a:pPr algn="ctr">
              <a:buNone/>
            </a:pPr>
            <a:r>
              <a:rPr lang="ja-JP" sz="1400" b="1" dirty="0">
                <a:solidFill>
                  <a:srgbClr val="FFFFFF"/>
                </a:solidFill>
                <a:latin typeface="BIZ UDPGothic"/>
                <a:ea typeface="BIZ UDPGothic"/>
              </a:rPr>
              <a:t>変更管理方針</a:t>
            </a:r>
          </a:p>
        </p:txBody>
      </p:sp>
      <p:sp>
        <p:nvSpPr>
          <p:cNvPr id="16" name="ChangeContent"/>
          <p:cNvSpPr/>
          <p:nvPr/>
        </p:nvSpPr>
        <p:spPr>
          <a:xfrm>
            <a:off x="457200" y="4700000"/>
            <a:ext cx="11277600" cy="500000"/>
          </a:xfrm>
          <a:prstGeom prst="roundRect">
            <a:avLst>
              <a:gd name="adj" fmla="val 8000"/>
            </a:avLst>
          </a:prstGeom>
          <a:solidFill>
            <a:srgbClr val="FEF5E7"/>
          </a:solidFill>
          <a:ln w="12700">
            <a:solidFill>
              <a:srgbClr val="F6C89F"/>
            </a:solidFill>
          </a:ln>
        </p:spPr>
        <p:txBody>
          <a:bodyPr wrap="square" lIns="182880" rIns="91440" anchor="ctr"/>
          <a:lstStyle/>
          <a:p>
            <a:pPr algn="l">
              <a:buNone/>
            </a:pPr>
            <a:r>
              <a:rPr lang="ja-JP" sz="1200" dirty="0">
                <a:solidFill>
                  <a:srgbClr val="2D3748"/>
                </a:solidFill>
                <a:latin typeface="BIZ UDPGothic"/>
                <a:ea typeface="BIZ UDPGothic"/>
              </a:rPr>
              <a:t>契約範囲外の追加対応は、別紙見積にて金額・納期を事前合意のうえ実施する。追加対応が発生しない前提で本契約を締結する。固定価格契約のため、工数実績による事後精算は行わない。</a:t>
            </a:r>
          </a:p>
        </p:txBody>
      </p:sp>
      <p:sp>
        <p:nvSpPr>
          <p:cNvPr id="2" name="テキスト ボックス 1">
            <a:extLst>
              <a:ext uri="{FF2B5EF4-FFF2-40B4-BE49-F238E27FC236}">
                <a16:creationId xmlns:a16="http://schemas.microsoft.com/office/drawing/2014/main" id="{AB05C4A1-9A31-40B2-8FD8-BB3D40D31B61}"/>
              </a:ext>
            </a:extLst>
          </p:cNvPr>
          <p:cNvSpPr txBox="1"/>
          <p:nvPr/>
        </p:nvSpPr>
        <p:spPr>
          <a:xfrm>
            <a:off x="11430000" y="6375400"/>
            <a:ext cx="508000" cy="317500"/>
          </a:xfrm>
          <a:prstGeom prst="rect">
            <a:avLst/>
          </a:prstGeom>
          <a:noFill/>
        </p:spPr>
        <p:txBody>
          <a:bodyPr vertOverflow="overflow" vert="horz" wrap="none" rtlCol="0" anchor="ctr" anchorCtr="0">
            <a:noAutofit/>
          </a:bodyPr>
          <a:lstStyle/>
          <a:p>
            <a:pPr algn="l"/>
            <a:r>
              <a:rPr lang="en-US" altLang="ja-JP" sz="1400">
                <a:solidFill>
                  <a:srgbClr val="718096"/>
                </a:solidFill>
                <a:latin typeface="BIZ UDPGothic"/>
                <a:ea typeface="BIZ UDPGothic"/>
              </a:rPr>
              <a:t>16</a:t>
            </a:r>
            <a:endParaRPr lang="ja-JP" altLang="en-US" sz="1400">
              <a:solidFill>
                <a:srgbClr val="718096"/>
              </a:solidFill>
              <a:latin typeface="BIZ UDPGothic"/>
              <a:ea typeface="BIZ UDPGothic"/>
            </a:endParaRPr>
          </a:p>
        </p:txBody>
      </p:sp>
    </p:spTree>
    <p:extLst>
      <p:ext uri="{BB962C8B-B14F-4D97-AF65-F5344CB8AC3E}">
        <p14:creationId xmlns:p14="http://schemas.microsoft.com/office/powerpoint/2010/main" val="24061832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Bar"/>
          <p:cNvSpPr/>
          <p:nvPr/>
        </p:nvSpPr>
        <p:spPr>
          <a:xfrm>
            <a:off x="0" y="58000"/>
            <a:ext cx="12192000" cy="640000"/>
          </a:xfrm>
          <a:prstGeom prst="rect">
            <a:avLst/>
          </a:prstGeom>
          <a:solidFill>
            <a:srgbClr val="7FB3D3"/>
          </a:solidFill>
          <a:ln w="0">
            <a:noFill/>
          </a:ln>
        </p:spPr>
        <p:txBody>
          <a:bodyPr wrap="square" anchor="ctr"/>
          <a:lstStyle/>
          <a:p>
            <a:pPr algn="ctr">
              <a:buNone/>
            </a:pPr>
            <a:r>
              <a:rPr lang="ja-JP" sz="2400" b="1" dirty="0">
                <a:solidFill>
                  <a:srgbClr val="FFFFFF"/>
                </a:solidFill>
                <a:latin typeface="BIZ UDPGothic"/>
                <a:ea typeface="BIZ UDPGothic"/>
              </a:rPr>
              <a:t>11. 次アクション</a:t>
            </a:r>
          </a:p>
        </p:txBody>
      </p:sp>
      <p:sp>
        <p:nvSpPr>
          <p:cNvPr id="20" name="ANum0"/>
          <p:cNvSpPr/>
          <p:nvPr/>
        </p:nvSpPr>
        <p:spPr>
          <a:xfrm>
            <a:off x="1742400" y="900000"/>
            <a:ext cx="457200" cy="457200"/>
          </a:xfrm>
          <a:prstGeom prst="ellipse">
            <a:avLst/>
          </a:prstGeom>
          <a:solidFill>
            <a:srgbClr val="7FB3D3"/>
          </a:solidFill>
          <a:ln w="0">
            <a:noFill/>
          </a:ln>
        </p:spPr>
        <p:txBody>
          <a:bodyPr wrap="none" lIns="0" tIns="0" rIns="0" bIns="0" anchor="ctr"/>
          <a:lstStyle/>
          <a:p>
            <a:pPr algn="ctr">
              <a:buNone/>
            </a:pPr>
            <a:r>
              <a:rPr lang="en-US" sz="2000" b="1" dirty="0">
                <a:solidFill>
                  <a:srgbClr val="FFFFFF"/>
                </a:solidFill>
                <a:latin typeface="BIZ UDPGothic"/>
                <a:ea typeface="BIZ UDPGothic"/>
              </a:rPr>
              <a:t>1</a:t>
            </a:r>
          </a:p>
        </p:txBody>
      </p:sp>
      <p:sp>
        <p:nvSpPr>
          <p:cNvPr id="21" name="ACard0"/>
          <p:cNvSpPr/>
          <p:nvPr/>
        </p:nvSpPr>
        <p:spPr>
          <a:xfrm>
            <a:off x="671000" y="1400000"/>
            <a:ext cx="2600000" cy="800000"/>
          </a:xfrm>
          <a:prstGeom prst="roundRect">
            <a:avLst>
              <a:gd name="adj" fmla="val 10000"/>
            </a:avLst>
          </a:prstGeom>
          <a:solidFill>
            <a:srgbClr val="EBF5FB"/>
          </a:solidFill>
          <a:ln w="12700">
            <a:solidFill>
              <a:srgbClr val="7FB3D3"/>
            </a:solidFill>
          </a:ln>
        </p:spPr>
        <p:txBody>
          <a:bodyPr wrap="square" lIns="91440" tIns="45720" rIns="91440" bIns="45720" anchor="ctr"/>
          <a:lstStyle/>
          <a:p>
            <a:pPr algn="ctr">
              <a:buNone/>
            </a:pPr>
            <a:r>
              <a:rPr lang="ja-JP" sz="1200" dirty="0">
                <a:solidFill>
                  <a:srgbClr val="2D3748"/>
                </a:solidFill>
                <a:latin typeface="BIZ UDPGothic"/>
                <a:ea typeface="BIZ UDPGothic"/>
              </a:rPr>
              <a:t>本提案書の内容確認および合意</a:t>
            </a:r>
          </a:p>
        </p:txBody>
      </p:sp>
      <p:sp>
        <p:nvSpPr>
          <p:cNvPr id="22" name="ANum1"/>
          <p:cNvSpPr/>
          <p:nvPr/>
        </p:nvSpPr>
        <p:spPr>
          <a:xfrm>
            <a:off x="4492400" y="900000"/>
            <a:ext cx="457200" cy="457200"/>
          </a:xfrm>
          <a:prstGeom prst="ellipse">
            <a:avLst/>
          </a:prstGeom>
          <a:solidFill>
            <a:srgbClr val="A8D5BA"/>
          </a:solidFill>
          <a:ln w="0">
            <a:noFill/>
          </a:ln>
        </p:spPr>
        <p:txBody>
          <a:bodyPr wrap="none" lIns="0" tIns="0" rIns="0" bIns="0" anchor="ctr"/>
          <a:lstStyle/>
          <a:p>
            <a:pPr algn="ctr">
              <a:buNone/>
            </a:pPr>
            <a:r>
              <a:rPr lang="en-US" sz="2000" b="1" dirty="0">
                <a:solidFill>
                  <a:srgbClr val="FFFFFF"/>
                </a:solidFill>
                <a:latin typeface="BIZ UDPGothic"/>
                <a:ea typeface="BIZ UDPGothic"/>
              </a:rPr>
              <a:t>2</a:t>
            </a:r>
          </a:p>
        </p:txBody>
      </p:sp>
      <p:sp>
        <p:nvSpPr>
          <p:cNvPr id="23" name="ACard1"/>
          <p:cNvSpPr/>
          <p:nvPr/>
        </p:nvSpPr>
        <p:spPr>
          <a:xfrm>
            <a:off x="3421000" y="1400000"/>
            <a:ext cx="2600000" cy="800000"/>
          </a:xfrm>
          <a:prstGeom prst="roundRect">
            <a:avLst>
              <a:gd name="adj" fmla="val 10000"/>
            </a:avLst>
          </a:prstGeom>
          <a:solidFill>
            <a:srgbClr val="E8F8F5"/>
          </a:solidFill>
          <a:ln w="12700">
            <a:solidFill>
              <a:srgbClr val="A8D5BA"/>
            </a:solidFill>
          </a:ln>
        </p:spPr>
        <p:txBody>
          <a:bodyPr wrap="square" lIns="91440" tIns="45720" rIns="91440" bIns="45720" anchor="ctr"/>
          <a:lstStyle/>
          <a:p>
            <a:pPr algn="ctr">
              <a:buNone/>
            </a:pPr>
            <a:r>
              <a:rPr lang="ja-JP" sz="1200" dirty="0">
                <a:solidFill>
                  <a:srgbClr val="2D3748"/>
                </a:solidFill>
                <a:latin typeface="BIZ UDPGothic"/>
                <a:ea typeface="BIZ UDPGothic"/>
              </a:rPr>
              <a:t>契約ドラフトの確認</a:t>
            </a:r>
          </a:p>
        </p:txBody>
      </p:sp>
      <p:sp>
        <p:nvSpPr>
          <p:cNvPr id="24" name="ANum2"/>
          <p:cNvSpPr/>
          <p:nvPr/>
        </p:nvSpPr>
        <p:spPr>
          <a:xfrm>
            <a:off x="7242400" y="900000"/>
            <a:ext cx="457200" cy="457200"/>
          </a:xfrm>
          <a:prstGeom prst="ellipse">
            <a:avLst/>
          </a:prstGeom>
          <a:solidFill>
            <a:srgbClr val="F6C89F"/>
          </a:solidFill>
          <a:ln w="0">
            <a:noFill/>
          </a:ln>
        </p:spPr>
        <p:txBody>
          <a:bodyPr wrap="none" lIns="0" tIns="0" rIns="0" bIns="0" anchor="ctr"/>
          <a:lstStyle/>
          <a:p>
            <a:pPr algn="ctr">
              <a:buNone/>
            </a:pPr>
            <a:r>
              <a:rPr lang="en-US" sz="2000" b="1" dirty="0">
                <a:solidFill>
                  <a:srgbClr val="FFFFFF"/>
                </a:solidFill>
                <a:latin typeface="BIZ UDPGothic"/>
                <a:ea typeface="BIZ UDPGothic"/>
              </a:rPr>
              <a:t>3</a:t>
            </a:r>
          </a:p>
        </p:txBody>
      </p:sp>
      <p:sp>
        <p:nvSpPr>
          <p:cNvPr id="25" name="ACard2"/>
          <p:cNvSpPr/>
          <p:nvPr/>
        </p:nvSpPr>
        <p:spPr>
          <a:xfrm>
            <a:off x="6171000" y="1400000"/>
            <a:ext cx="2600000" cy="800000"/>
          </a:xfrm>
          <a:prstGeom prst="roundRect">
            <a:avLst>
              <a:gd name="adj" fmla="val 10000"/>
            </a:avLst>
          </a:prstGeom>
          <a:solidFill>
            <a:srgbClr val="FEF5E7"/>
          </a:solidFill>
          <a:ln w="12700">
            <a:solidFill>
              <a:srgbClr val="F6C89F"/>
            </a:solidFill>
          </a:ln>
        </p:spPr>
        <p:txBody>
          <a:bodyPr wrap="square" lIns="91440" tIns="45720" rIns="91440" bIns="45720" anchor="ctr"/>
          <a:lstStyle/>
          <a:p>
            <a:pPr algn="ctr">
              <a:buNone/>
            </a:pPr>
            <a:r>
              <a:rPr lang="ja-JP" sz="1200" dirty="0">
                <a:solidFill>
                  <a:srgbClr val="2D3748"/>
                </a:solidFill>
                <a:latin typeface="BIZ UDPGothic"/>
                <a:ea typeface="BIZ UDPGothic"/>
              </a:rPr>
              <a:t>キックオフ日程の確定</a:t>
            </a:r>
          </a:p>
        </p:txBody>
      </p:sp>
      <p:sp>
        <p:nvSpPr>
          <p:cNvPr id="26" name="ANum3"/>
          <p:cNvSpPr/>
          <p:nvPr/>
        </p:nvSpPr>
        <p:spPr>
          <a:xfrm>
            <a:off x="9992400" y="900000"/>
            <a:ext cx="457200" cy="457200"/>
          </a:xfrm>
          <a:prstGeom prst="ellipse">
            <a:avLst/>
          </a:prstGeom>
          <a:solidFill>
            <a:srgbClr val="D4A5C9"/>
          </a:solidFill>
          <a:ln w="0">
            <a:noFill/>
          </a:ln>
        </p:spPr>
        <p:txBody>
          <a:bodyPr wrap="none" lIns="0" tIns="0" rIns="0" bIns="0" anchor="ctr"/>
          <a:lstStyle/>
          <a:p>
            <a:pPr algn="ctr">
              <a:buNone/>
            </a:pPr>
            <a:r>
              <a:rPr lang="en-US" sz="2000" b="1" dirty="0">
                <a:solidFill>
                  <a:srgbClr val="FFFFFF"/>
                </a:solidFill>
                <a:latin typeface="BIZ UDPGothic"/>
                <a:ea typeface="BIZ UDPGothic"/>
              </a:rPr>
              <a:t>4</a:t>
            </a:r>
          </a:p>
        </p:txBody>
      </p:sp>
      <p:sp>
        <p:nvSpPr>
          <p:cNvPr id="27" name="ACard3"/>
          <p:cNvSpPr/>
          <p:nvPr/>
        </p:nvSpPr>
        <p:spPr>
          <a:xfrm>
            <a:off x="8921000" y="1400000"/>
            <a:ext cx="2600000" cy="800000"/>
          </a:xfrm>
          <a:prstGeom prst="roundRect">
            <a:avLst>
              <a:gd name="adj" fmla="val 10000"/>
            </a:avLst>
          </a:prstGeom>
          <a:solidFill>
            <a:srgbClr val="F5EEF8"/>
          </a:solidFill>
          <a:ln w="12700">
            <a:solidFill>
              <a:srgbClr val="D4A5C9"/>
            </a:solidFill>
          </a:ln>
        </p:spPr>
        <p:txBody>
          <a:bodyPr wrap="square" lIns="91440" tIns="45720" rIns="91440" bIns="45720" anchor="ctr"/>
          <a:lstStyle/>
          <a:p>
            <a:pPr algn="ctr">
              <a:buNone/>
            </a:pPr>
            <a:r>
              <a:rPr lang="ja-JP" sz="1200" dirty="0">
                <a:solidFill>
                  <a:srgbClr val="2D3748"/>
                </a:solidFill>
                <a:latin typeface="BIZ UDPGothic"/>
                <a:ea typeface="BIZ UDPGothic"/>
              </a:rPr>
              <a:t>train.csv およびカラム説明.md の正式受領確認</a:t>
            </a:r>
          </a:p>
        </p:txBody>
      </p:sp>
      <p:sp>
        <p:nvSpPr>
          <p:cNvPr id="28" name="ANum4"/>
          <p:cNvSpPr/>
          <p:nvPr/>
        </p:nvSpPr>
        <p:spPr>
          <a:xfrm>
            <a:off x="3117400" y="2400000"/>
            <a:ext cx="457200" cy="457200"/>
          </a:xfrm>
          <a:prstGeom prst="ellipse">
            <a:avLst/>
          </a:prstGeom>
          <a:solidFill>
            <a:srgbClr val="F9B9B7"/>
          </a:solidFill>
          <a:ln w="0">
            <a:noFill/>
          </a:ln>
        </p:spPr>
        <p:txBody>
          <a:bodyPr wrap="none" lIns="0" tIns="0" rIns="0" bIns="0" anchor="ctr"/>
          <a:lstStyle/>
          <a:p>
            <a:pPr algn="ctr">
              <a:buNone/>
            </a:pPr>
            <a:r>
              <a:rPr lang="en-US" sz="2000" b="1" dirty="0">
                <a:solidFill>
                  <a:srgbClr val="FFFFFF"/>
                </a:solidFill>
                <a:latin typeface="BIZ UDPGothic"/>
                <a:ea typeface="BIZ UDPGothic"/>
              </a:rPr>
              <a:t>5</a:t>
            </a:r>
          </a:p>
        </p:txBody>
      </p:sp>
      <p:sp>
        <p:nvSpPr>
          <p:cNvPr id="29" name="ACard4"/>
          <p:cNvSpPr/>
          <p:nvPr/>
        </p:nvSpPr>
        <p:spPr>
          <a:xfrm>
            <a:off x="2046000" y="2900000"/>
            <a:ext cx="2600000" cy="800000"/>
          </a:xfrm>
          <a:prstGeom prst="roundRect">
            <a:avLst>
              <a:gd name="adj" fmla="val 10000"/>
            </a:avLst>
          </a:prstGeom>
          <a:solidFill>
            <a:srgbClr val="FDEDEC"/>
          </a:solidFill>
          <a:ln w="12700">
            <a:solidFill>
              <a:srgbClr val="F9B9B7"/>
            </a:solidFill>
          </a:ln>
        </p:spPr>
        <p:txBody>
          <a:bodyPr wrap="square" lIns="91440" tIns="45720" rIns="91440" bIns="45720" anchor="ctr"/>
          <a:lstStyle/>
          <a:p>
            <a:pPr algn="ctr">
              <a:buNone/>
            </a:pPr>
            <a:r>
              <a:rPr lang="ja-JP" sz="1200" dirty="0">
                <a:solidFill>
                  <a:srgbClr val="2D3748"/>
                </a:solidFill>
                <a:latin typeface="BIZ UDPGothic"/>
                <a:ea typeface="BIZ UDPGothic"/>
              </a:rPr>
              <a:t>成果物レビュー体制および検収フローの確認</a:t>
            </a:r>
          </a:p>
        </p:txBody>
      </p:sp>
      <p:sp>
        <p:nvSpPr>
          <p:cNvPr id="30" name="ANum5"/>
          <p:cNvSpPr/>
          <p:nvPr/>
        </p:nvSpPr>
        <p:spPr>
          <a:xfrm>
            <a:off x="5867400" y="2400000"/>
            <a:ext cx="457200" cy="457200"/>
          </a:xfrm>
          <a:prstGeom prst="ellipse">
            <a:avLst/>
          </a:prstGeom>
          <a:solidFill>
            <a:srgbClr val="B8D4E8"/>
          </a:solidFill>
          <a:ln w="0">
            <a:noFill/>
          </a:ln>
        </p:spPr>
        <p:txBody>
          <a:bodyPr wrap="none" lIns="0" tIns="0" rIns="0" bIns="0" anchor="ctr"/>
          <a:lstStyle/>
          <a:p>
            <a:pPr algn="ctr">
              <a:buNone/>
            </a:pPr>
            <a:r>
              <a:rPr lang="en-US" sz="2000" b="1" dirty="0">
                <a:solidFill>
                  <a:srgbClr val="FFFFFF"/>
                </a:solidFill>
                <a:latin typeface="BIZ UDPGothic"/>
                <a:ea typeface="BIZ UDPGothic"/>
              </a:rPr>
              <a:t>6</a:t>
            </a:r>
          </a:p>
        </p:txBody>
      </p:sp>
      <p:sp>
        <p:nvSpPr>
          <p:cNvPr id="31" name="ACard5"/>
          <p:cNvSpPr/>
          <p:nvPr/>
        </p:nvSpPr>
        <p:spPr>
          <a:xfrm>
            <a:off x="4796000" y="2900000"/>
            <a:ext cx="2600000" cy="800000"/>
          </a:xfrm>
          <a:prstGeom prst="roundRect">
            <a:avLst>
              <a:gd name="adj" fmla="val 10000"/>
            </a:avLst>
          </a:prstGeom>
          <a:solidFill>
            <a:srgbClr val="E8F0F8"/>
          </a:solidFill>
          <a:ln w="12700">
            <a:solidFill>
              <a:srgbClr val="B8D4E8"/>
            </a:solidFill>
          </a:ln>
        </p:spPr>
        <p:txBody>
          <a:bodyPr wrap="square" lIns="91440" tIns="45720" rIns="91440" bIns="45720" anchor="ctr"/>
          <a:lstStyle/>
          <a:p>
            <a:pPr algn="ctr">
              <a:buNone/>
            </a:pPr>
            <a:r>
              <a:rPr lang="ja-JP" sz="1200" dirty="0">
                <a:solidFill>
                  <a:srgbClr val="2D3748"/>
                </a:solidFill>
                <a:latin typeface="BIZ UDPGothic"/>
                <a:ea typeface="BIZ UDPGothic"/>
              </a:rPr>
              <a:t>契約締結後5営業日以内に第1回支払（着手金）を実施</a:t>
            </a:r>
          </a:p>
        </p:txBody>
      </p:sp>
      <p:sp>
        <p:nvSpPr>
          <p:cNvPr id="32" name="ANum6"/>
          <p:cNvSpPr/>
          <p:nvPr/>
        </p:nvSpPr>
        <p:spPr>
          <a:xfrm>
            <a:off x="8617400" y="2400000"/>
            <a:ext cx="457200" cy="457200"/>
          </a:xfrm>
          <a:prstGeom prst="ellipse">
            <a:avLst/>
          </a:prstGeom>
          <a:solidFill>
            <a:srgbClr val="7FB3D3"/>
          </a:solidFill>
          <a:ln w="0">
            <a:noFill/>
          </a:ln>
        </p:spPr>
        <p:txBody>
          <a:bodyPr wrap="none" lIns="0" tIns="0" rIns="0" bIns="0" anchor="ctr"/>
          <a:lstStyle/>
          <a:p>
            <a:pPr algn="ctr">
              <a:buNone/>
            </a:pPr>
            <a:r>
              <a:rPr lang="en-US" sz="2000" b="1" dirty="0">
                <a:solidFill>
                  <a:srgbClr val="FFFFFF"/>
                </a:solidFill>
                <a:latin typeface="BIZ UDPGothic"/>
                <a:ea typeface="BIZ UDPGothic"/>
              </a:rPr>
              <a:t>7</a:t>
            </a:r>
          </a:p>
        </p:txBody>
      </p:sp>
      <p:sp>
        <p:nvSpPr>
          <p:cNvPr id="33" name="ACard6"/>
          <p:cNvSpPr/>
          <p:nvPr/>
        </p:nvSpPr>
        <p:spPr>
          <a:xfrm>
            <a:off x="7546000" y="2900000"/>
            <a:ext cx="2600000" cy="800000"/>
          </a:xfrm>
          <a:prstGeom prst="roundRect">
            <a:avLst>
              <a:gd name="adj" fmla="val 10000"/>
            </a:avLst>
          </a:prstGeom>
          <a:solidFill>
            <a:srgbClr val="EBF5FB"/>
          </a:solidFill>
          <a:ln w="12700">
            <a:solidFill>
              <a:srgbClr val="7FB3D3"/>
            </a:solidFill>
          </a:ln>
        </p:spPr>
        <p:txBody>
          <a:bodyPr wrap="square" lIns="91440" tIns="45720" rIns="91440" bIns="45720" anchor="ctr"/>
          <a:lstStyle/>
          <a:p>
            <a:pPr algn="ctr">
              <a:buNone/>
            </a:pPr>
            <a:r>
              <a:rPr lang="ja-JP" sz="1200" dirty="0">
                <a:solidFill>
                  <a:srgbClr val="2D3748"/>
                </a:solidFill>
                <a:latin typeface="BIZ UDPGothic"/>
                <a:ea typeface="BIZ UDPGothic"/>
              </a:rPr>
              <a:t>2025-10-01 を開始日としてプロジェクトを着手</a:t>
            </a:r>
          </a:p>
        </p:txBody>
      </p:sp>
      <p:sp>
        <p:nvSpPr>
          <p:cNvPr id="40" name="Summary"/>
          <p:cNvSpPr/>
          <p:nvPr/>
        </p:nvSpPr>
        <p:spPr>
          <a:xfrm>
            <a:off x="457200" y="4400000"/>
            <a:ext cx="11277600" cy="650000"/>
          </a:xfrm>
          <a:prstGeom prst="roundRect">
            <a:avLst>
              <a:gd name="adj" fmla="val 8000"/>
            </a:avLst>
          </a:prstGeom>
          <a:solidFill>
            <a:srgbClr val="7FB3D3">
              <a:alpha val="15000"/>
            </a:srgbClr>
          </a:solidFill>
          <a:ln w="19050">
            <a:solidFill>
              <a:srgbClr val="7FB3D3"/>
            </a:solidFill>
          </a:ln>
        </p:spPr>
        <p:txBody>
          <a:bodyPr wrap="square" lIns="182880" rIns="91440" anchor="ctr"/>
          <a:lstStyle/>
          <a:p>
            <a:pPr algn="l">
              <a:buNone/>
            </a:pPr>
            <a:r>
              <a:rPr lang="ja-JP" sz="1300" b="1" dirty="0">
                <a:solidFill>
                  <a:srgbClr val="2D3748"/>
                </a:solidFill>
                <a:latin typeface="BIZ UDPGothic"/>
                <a:ea typeface="BIZ UDPGothic"/>
              </a:rPr>
              <a:t>▶ 6週間で説明可能性・監査対応性を備えた分析成果を確実に納品し、後続の業務活用に接続できる状態を実現する</a:t>
            </a:r>
          </a:p>
        </p:txBody>
      </p:sp>
      <p:sp>
        <p:nvSpPr>
          <p:cNvPr id="2" name="テキスト ボックス 1">
            <a:extLst>
              <a:ext uri="{FF2B5EF4-FFF2-40B4-BE49-F238E27FC236}">
                <a16:creationId xmlns:a16="http://schemas.microsoft.com/office/drawing/2014/main" id="{A6BD7D60-5EC2-49E7-A76F-BDB0B152481C}"/>
              </a:ext>
            </a:extLst>
          </p:cNvPr>
          <p:cNvSpPr txBox="1"/>
          <p:nvPr/>
        </p:nvSpPr>
        <p:spPr>
          <a:xfrm>
            <a:off x="11430000" y="6375400"/>
            <a:ext cx="508000" cy="317500"/>
          </a:xfrm>
          <a:prstGeom prst="rect">
            <a:avLst/>
          </a:prstGeom>
          <a:noFill/>
        </p:spPr>
        <p:txBody>
          <a:bodyPr vertOverflow="overflow" vert="horz" wrap="none" rtlCol="0" anchor="ctr" anchorCtr="0">
            <a:noAutofit/>
          </a:bodyPr>
          <a:lstStyle/>
          <a:p>
            <a:pPr algn="l"/>
            <a:r>
              <a:rPr lang="en-US" altLang="ja-JP" sz="1400">
                <a:solidFill>
                  <a:srgbClr val="718096"/>
                </a:solidFill>
                <a:latin typeface="BIZ UDPGothic"/>
                <a:ea typeface="BIZ UDPGothic"/>
              </a:rPr>
              <a:t>17</a:t>
            </a:r>
            <a:endParaRPr lang="ja-JP" altLang="en-US" sz="1400">
              <a:solidFill>
                <a:srgbClr val="718096"/>
              </a:solidFill>
              <a:latin typeface="BIZ UDPGothic"/>
              <a:ea typeface="BIZ UDPGothic"/>
            </a:endParaRPr>
          </a:p>
        </p:txBody>
      </p:sp>
    </p:spTree>
    <p:extLst>
      <p:ext uri="{BB962C8B-B14F-4D97-AF65-F5344CB8AC3E}">
        <p14:creationId xmlns:p14="http://schemas.microsoft.com/office/powerpoint/2010/main" val="7487586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LeftAccent"/>
          <p:cNvSpPr/>
          <p:nvPr/>
        </p:nvSpPr>
        <p:spPr>
          <a:xfrm>
            <a:off x="0" y="0"/>
            <a:ext cx="4572000" cy="6858000"/>
          </a:xfrm>
          <a:prstGeom prst="rect">
            <a:avLst/>
          </a:prstGeom>
          <a:solidFill>
            <a:srgbClr val="7FB3D3">
              <a:alpha val="15000"/>
            </a:srgbClr>
          </a:solidFill>
          <a:ln w="0">
            <a:noFill/>
          </a:ln>
        </p:spPr>
        <p:txBody>
          <a:bodyPr/>
          <a:lstStyle/>
          <a:p>
            <a:endParaRPr lang="ja-JP"/>
          </a:p>
        </p:txBody>
      </p:sp>
      <p:sp>
        <p:nvSpPr>
          <p:cNvPr id="11" name="Circle1"/>
          <p:cNvSpPr/>
          <p:nvPr/>
        </p:nvSpPr>
        <p:spPr>
          <a:xfrm>
            <a:off x="9601200" y="-457200"/>
            <a:ext cx="2743200" cy="2743200"/>
          </a:xfrm>
          <a:prstGeom prst="ellipse">
            <a:avLst/>
          </a:prstGeom>
          <a:solidFill>
            <a:srgbClr val="A8D5BA">
              <a:alpha val="20000"/>
            </a:srgbClr>
          </a:solidFill>
          <a:ln w="0">
            <a:noFill/>
          </a:ln>
        </p:spPr>
        <p:txBody>
          <a:bodyPr/>
          <a:lstStyle/>
          <a:p>
            <a:endParaRPr lang="ja-JP"/>
          </a:p>
        </p:txBody>
      </p:sp>
      <p:sp>
        <p:nvSpPr>
          <p:cNvPr id="12" name="Circle2"/>
          <p:cNvSpPr/>
          <p:nvPr/>
        </p:nvSpPr>
        <p:spPr>
          <a:xfrm>
            <a:off x="-457200" y="4572000"/>
            <a:ext cx="2286000" cy="2286000"/>
          </a:xfrm>
          <a:prstGeom prst="ellipse">
            <a:avLst/>
          </a:prstGeom>
          <a:solidFill>
            <a:srgbClr val="F6C89F">
              <a:alpha val="20000"/>
            </a:srgbClr>
          </a:solidFill>
          <a:ln w="0">
            <a:noFill/>
          </a:ln>
        </p:spPr>
        <p:txBody>
          <a:bodyPr/>
          <a:lstStyle/>
          <a:p>
            <a:endParaRPr lang="ja-JP"/>
          </a:p>
        </p:txBody>
      </p:sp>
      <p:sp>
        <p:nvSpPr>
          <p:cNvPr id="13" name="ThankYou"/>
          <p:cNvSpPr txBox="1"/>
          <p:nvPr/>
        </p:nvSpPr>
        <p:spPr>
          <a:xfrm>
            <a:off x="1524000" y="1371600"/>
            <a:ext cx="9144000" cy="914400"/>
          </a:xfrm>
          <a:prstGeom prst="rect">
            <a:avLst/>
          </a:prstGeom>
          <a:noFill/>
        </p:spPr>
        <p:txBody>
          <a:bodyPr wrap="square" anchor="b"/>
          <a:lstStyle/>
          <a:p>
            <a:pPr algn="l">
              <a:buNone/>
            </a:pPr>
            <a:r>
              <a:rPr lang="ja-JP" sz="3200" b="1" dirty="0">
                <a:solidFill>
                  <a:srgbClr val="2D3748"/>
                </a:solidFill>
                <a:latin typeface="BIZ UDPGothic"/>
                <a:ea typeface="BIZ UDPGothic"/>
              </a:rPr>
              <a:t>ご検討のほど、よろしくお願いいたします</a:t>
            </a:r>
          </a:p>
        </p:txBody>
      </p:sp>
      <p:sp>
        <p:nvSpPr>
          <p:cNvPr id="14" name="AccLine"/>
          <p:cNvSpPr/>
          <p:nvPr/>
        </p:nvSpPr>
        <p:spPr>
          <a:xfrm>
            <a:off x="1524000" y="2400000"/>
            <a:ext cx="3048000" cy="45720"/>
          </a:xfrm>
          <a:prstGeom prst="rect">
            <a:avLst/>
          </a:prstGeom>
          <a:solidFill>
            <a:srgbClr val="7FB3D3"/>
          </a:solidFill>
          <a:ln w="0">
            <a:noFill/>
          </a:ln>
        </p:spPr>
        <p:txBody>
          <a:bodyPr/>
          <a:lstStyle/>
          <a:p>
            <a:endParaRPr lang="ja-JP"/>
          </a:p>
        </p:txBody>
      </p:sp>
      <p:sp>
        <p:nvSpPr>
          <p:cNvPr id="15" name="Highlights"/>
          <p:cNvSpPr txBox="1"/>
          <p:nvPr/>
        </p:nvSpPr>
        <p:spPr>
          <a:xfrm>
            <a:off x="1524000" y="2600000"/>
            <a:ext cx="9144000" cy="1800000"/>
          </a:xfrm>
          <a:prstGeom prst="rect">
            <a:avLst/>
          </a:prstGeom>
          <a:noFill/>
        </p:spPr>
        <p:txBody>
          <a:bodyPr wrap="square" anchor="t"/>
          <a:lstStyle/>
          <a:p>
            <a:pPr marL="228600" indent="-228600" algn="l">
              <a:buFont typeface="Arial"/>
              <a:buChar char="●"/>
            </a:pPr>
            <a:r>
              <a:rPr lang="ja-JP" sz="1600" dirty="0">
                <a:solidFill>
                  <a:srgbClr val="4A5568"/>
                </a:solidFill>
                <a:latin typeface="BIZ UDPGothic"/>
                <a:ea typeface="BIZ UDPGothic"/>
              </a:rPr>
              <a:t>データ: 27,128件・18カラム、契約率11.7%</a:t>
            </a:r>
          </a:p>
          <a:p>
            <a:pPr marL="228600" indent="-228600" algn="l">
              <a:buFont typeface="Arial"/>
              <a:buChar char="●"/>
            </a:pPr>
            <a:r>
              <a:rPr lang="ja-JP" sz="1600" dirty="0">
                <a:solidFill>
                  <a:srgbClr val="4A5568"/>
                </a:solidFill>
                <a:latin typeface="BIZ UDPGothic"/>
                <a:ea typeface="BIZ UDPGothic"/>
              </a:rPr>
              <a:t>期間: 2025-10-01 ～ 2025-11-11（6週間）</a:t>
            </a:r>
          </a:p>
          <a:p>
            <a:pPr marL="228600" indent="-228600" algn="l">
              <a:buFont typeface="Arial"/>
              <a:buChar char="●"/>
            </a:pPr>
            <a:r>
              <a:rPr lang="ja-JP" sz="1600" dirty="0">
                <a:solidFill>
                  <a:srgbClr val="4A5568"/>
                </a:solidFill>
                <a:latin typeface="BIZ UDPGothic"/>
                <a:ea typeface="BIZ UDPGothic"/>
              </a:rPr>
              <a:t>費用: ¥5,775,000（税込・固定価格）</a:t>
            </a:r>
          </a:p>
          <a:p>
            <a:pPr marL="228600" indent="-228600" algn="l">
              <a:buFont typeface="Arial"/>
              <a:buChar char="●"/>
            </a:pPr>
            <a:r>
              <a:rPr lang="ja-JP" sz="1600" dirty="0">
                <a:solidFill>
                  <a:srgbClr val="4A5568"/>
                </a:solidFill>
                <a:latin typeface="BIZ UDPGothic"/>
                <a:ea typeface="BIZ UDPGothic"/>
              </a:rPr>
              <a:t>重点: 説明可能性・監査対応・ガバナンス</a:t>
            </a:r>
          </a:p>
        </p:txBody>
      </p:sp>
      <p:sp>
        <p:nvSpPr>
          <p:cNvPr id="16" name="Company"/>
          <p:cNvSpPr txBox="1"/>
          <p:nvPr/>
        </p:nvSpPr>
        <p:spPr>
          <a:xfrm>
            <a:off x="1524000" y="4700000"/>
            <a:ext cx="9144000" cy="700000"/>
          </a:xfrm>
          <a:prstGeom prst="rect">
            <a:avLst/>
          </a:prstGeom>
          <a:noFill/>
        </p:spPr>
        <p:txBody>
          <a:bodyPr wrap="square" anchor="t"/>
          <a:lstStyle/>
          <a:p>
            <a:pPr algn="l">
              <a:buNone/>
            </a:pPr>
            <a:r>
              <a:rPr lang="ja-JP" sz="1400" dirty="0">
                <a:solidFill>
                  <a:srgbClr val="7FB3D3"/>
                </a:solidFill>
                <a:latin typeface="BIZ UDPGothic"/>
                <a:ea typeface="BIZ UDPGothic"/>
              </a:rPr>
              <a:t>株式会社データアステル データサイエンス部</a:t>
            </a:r>
          </a:p>
        </p:txBody>
      </p:sp>
      <p:sp>
        <p:nvSpPr>
          <p:cNvPr id="2" name="テキスト ボックス 1">
            <a:extLst>
              <a:ext uri="{FF2B5EF4-FFF2-40B4-BE49-F238E27FC236}">
                <a16:creationId xmlns:a16="http://schemas.microsoft.com/office/drawing/2014/main" id="{9972199C-89DB-4C06-92C1-3B9F68DA762A}"/>
              </a:ext>
            </a:extLst>
          </p:cNvPr>
          <p:cNvSpPr txBox="1"/>
          <p:nvPr/>
        </p:nvSpPr>
        <p:spPr>
          <a:xfrm>
            <a:off x="11430000" y="6375400"/>
            <a:ext cx="508000" cy="317500"/>
          </a:xfrm>
          <a:prstGeom prst="rect">
            <a:avLst/>
          </a:prstGeom>
          <a:noFill/>
        </p:spPr>
        <p:txBody>
          <a:bodyPr vertOverflow="overflow" vert="horz" wrap="none" rtlCol="0" anchor="ctr" anchorCtr="0">
            <a:noAutofit/>
          </a:bodyPr>
          <a:lstStyle/>
          <a:p>
            <a:pPr algn="l"/>
            <a:r>
              <a:rPr lang="en-US" altLang="ja-JP" sz="1400">
                <a:solidFill>
                  <a:srgbClr val="718096"/>
                </a:solidFill>
                <a:latin typeface="BIZ UDPGothic"/>
                <a:ea typeface="BIZ UDPGothic"/>
              </a:rPr>
              <a:t>18</a:t>
            </a:r>
            <a:endParaRPr lang="ja-JP" altLang="en-US" sz="1400">
              <a:solidFill>
                <a:srgbClr val="718096"/>
              </a:solidFill>
              <a:latin typeface="BIZ UDPGothic"/>
              <a:ea typeface="BIZ UDPGothic"/>
            </a:endParaRPr>
          </a:p>
        </p:txBody>
      </p:sp>
    </p:spTree>
    <p:extLst>
      <p:ext uri="{BB962C8B-B14F-4D97-AF65-F5344CB8AC3E}">
        <p14:creationId xmlns:p14="http://schemas.microsoft.com/office/powerpoint/2010/main" val="2216152455"/>
      </p:ext>
    </p:extLst>
  </p:cSld>
  <p:clrMapOvr>
    <a:masterClrMapping/>
  </p:clrMapOvr>
</p:sld>
</file>

<file path=ppt/theme/theme1.xml><?xml version="1.0" encoding="utf-8"?>
<a:theme xmlns:a="http://schemas.openxmlformats.org/drawingml/2006/main" name="Office テーマ">
  <a:themeElements>
    <a:clrScheme name="Pastel Proposal">
      <a:dk1>
        <a:srgbClr val="2D3748"/>
      </a:dk1>
      <a:lt1>
        <a:srgbClr val="FFFFFF"/>
      </a:lt1>
      <a:dk2>
        <a:srgbClr val="4A5568"/>
      </a:dk2>
      <a:lt2>
        <a:srgbClr val="F7FAFC"/>
      </a:lt2>
      <a:accent1>
        <a:srgbClr val="7FB3D3"/>
      </a:accent1>
      <a:accent2>
        <a:srgbClr val="A8D5BA"/>
      </a:accent2>
      <a:accent3>
        <a:srgbClr val="F6C89F"/>
      </a:accent3>
      <a:accent4>
        <a:srgbClr val="D4A5C9"/>
      </a:accent4>
      <a:accent5>
        <a:srgbClr val="F9B9B7"/>
      </a:accent5>
      <a:accent6>
        <a:srgbClr val="B8D4E8"/>
      </a:accent6>
      <a:hlink>
        <a:srgbClr val="467886"/>
      </a:hlink>
      <a:folHlink>
        <a:srgbClr val="96607D"/>
      </a:folHlink>
    </a:clrScheme>
    <a:fontScheme name="BIZ UDPGothic">
      <a:majorFont>
        <a:latin typeface="BIZ UDPGothic" panose="02110004020202020204"/>
        <a:ea typeface="BIZ UDPGothic"/>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IZ UDPGothic" panose="02110004020202020204"/>
        <a:ea typeface="BIZ UDPGothic"/>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92C46AD-52B7-428E-84DA-9BEB2F1750C0}">
  <we:reference id="WA200010001" version="1.0.0.1" store="Omex" storeType="OMEX"/>
  <we:alternateReferences>
    <we:reference id="WA200010001" version="1.0.0.1" store="WA200010001" storeType="OMEX"/>
  </we:alternateReferences>
  <we:properties>
    <we:property name="Office.AutoShowTaskpaneWithDocument" value="true"/>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39</TotalTime>
  <Words>2635</Words>
  <Application>Microsoft Office PowerPoint</Application>
  <PresentationFormat>ワイド画面</PresentationFormat>
  <Paragraphs>338</Paragraphs>
  <Slides>18</Slides>
  <Notes>0</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18</vt:i4>
      </vt:variant>
    </vt:vector>
  </HeadingPairs>
  <TitlesOfParts>
    <vt:vector size="21" baseType="lpstr">
      <vt:lpstr>BIZ UDPGothic</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h.ikeshita</dc:creator>
  <cp:lastModifiedBy>h.ikeshita</cp:lastModifiedBy>
  <cp:revision>1</cp:revision>
  <dcterms:created xsi:type="dcterms:W3CDTF">2026-03-17T08:40:44Z</dcterms:created>
  <dcterms:modified xsi:type="dcterms:W3CDTF">2026-03-17T09:20:38Z</dcterms:modified>
</cp:coreProperties>
</file>