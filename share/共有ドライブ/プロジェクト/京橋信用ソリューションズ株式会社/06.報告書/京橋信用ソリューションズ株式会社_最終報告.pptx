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1" r:id="rId4"/>
    <p:sldId id="263" r:id="rId5"/>
    <p:sldId id="265" r:id="rId6"/>
    <p:sldId id="267" r:id="rId7"/>
    <p:sldId id="269" r:id="rId8"/>
    <p:sldId id="271" r:id="rId9"/>
    <p:sldId id="273" r:id="rId10"/>
    <p:sldId id="275" r:id="rId11"/>
    <p:sldId id="277" r:id="rId12"/>
    <p:sldId id="279" r:id="rId13"/>
    <p:sldId id="281" r:id="rId14"/>
    <p:sldId id="283" r:id="rId15"/>
    <p:sldId id="285" r:id="rId16"/>
    <p:sldId id="287" r:id="rId17"/>
    <p:sldId id="289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6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600">
                <a:latin typeface="BIZ UDPゴシック"/>
                <a:ea typeface="BIZ UDPゴシック"/>
              </a:defRPr>
            </a:pPr>
            <a:r>
              <a:rPr lang="ja-JP" sz="1600" b="1">
                <a:latin typeface="BIZ UDPゴシック"/>
                <a:ea typeface="BIZ UDPゴシック"/>
              </a:rPr>
              <a:t>F1 (macro) - モデル比較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F1 (macro)</c:v>
          </c:tx>
          <c:spPr>
            <a:solidFill>
              <a:srgbClr val="8B2500"/>
            </a:solidFill>
          </c:spPr>
          <c:invertIfNegative val="1"/>
          <c:dLbls>
            <c:numFmt formatCode="0.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BIZ UDPゴシック"/>
                    <a:ea typeface="BIZ UDPゴシック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GB #1</c:v>
              </c:pt>
              <c:pt idx="1">
                <c:v>RF #2</c:v>
              </c:pt>
              <c:pt idx="2">
                <c:v>RF #3</c:v>
              </c:pt>
              <c:pt idx="3">
                <c:v>RF #4</c:v>
              </c:pt>
              <c:pt idx="4">
                <c:v>RF #5</c:v>
              </c:pt>
              <c:pt idx="5">
                <c:v>RF #6</c:v>
              </c:pt>
            </c:strLit>
          </c:cat>
          <c:val>
            <c:numLit>
              <c:formatCode>General</c:formatCode>
              <c:ptCount val="6"/>
              <c:pt idx="0">
                <c:v>0.72243000000000002</c:v>
              </c:pt>
              <c:pt idx="1">
                <c:v>0.71486000000000005</c:v>
              </c:pt>
              <c:pt idx="2">
                <c:v>0.70972000000000002</c:v>
              </c:pt>
              <c:pt idx="3">
                <c:v>0.70496000000000003</c:v>
              </c:pt>
              <c:pt idx="4">
                <c:v>0.70172000000000001</c:v>
              </c:pt>
              <c:pt idx="5">
                <c:v>0.70148999999999995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CF0-4AD7-8678-39070035C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BIZ UDPゴシック"/>
                <a:ea typeface="BIZ UDPゴシック"/>
              </a:defRPr>
            </a:pPr>
            <a:endParaRPr lang="ja-JP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0.73"/>
          <c:min val="0.69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BIZ UDPゴシック"/>
                <a:ea typeface="BIZ UDPゴシック"/>
              </a:defRPr>
            </a:pPr>
            <a:endParaRPr lang="ja-JP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latin typeface="BIZ UDPゴシック"/>
              <a:ea typeface="BIZ UDPゴシック"/>
            </a:defRPr>
          </a:pPr>
          <a:endParaRPr lang="ja-JP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72FCF0-FF20-D9B4-FB2B-4E08908BB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2A6171-8404-241E-2AD5-987ADFA2E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D1C1AC-40E7-C58B-3F2C-664BADA6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1A7BD7-D4CF-4B2C-2A7E-7F6486E7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1BC0AB-4F44-F275-1FC0-3172833A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26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7CF3E-DDD7-EC12-9184-C4717C30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E91FD9-6647-2834-7A5E-2884DCEF7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0813DC-0AC2-E3F7-10E6-908FB80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C30101-0FBD-9868-A8DB-5640D347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5FE92-22CC-8C6B-119B-7A4BDB39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30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4E582-5300-1C9D-DE8C-149A9E1C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DD8ECD-4117-114B-EEDB-303FEDBEA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FB06FE-1897-D233-6132-08F85DC7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699DFF-9224-D96C-72AE-63FD3A44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C27B21-1983-7F40-E295-306D6663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23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76781-329C-12A9-3709-3B23A1BD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52517C-A477-1ACE-CC2E-1C800E163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ACC2FA-CDBE-59BF-91BA-812D6CEC4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93B26F-D8A0-E089-CE09-6D50C085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FFDE2C-7CE8-ED51-235A-3D748F33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EF11E6-C2E6-081E-F4BD-2C5D7AE5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24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1F0452-6A38-C3A9-74F8-5FB102B4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962FEA-3759-A316-6775-263EE1D49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441A2A-F507-EF04-513C-BEE3209D7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33AE6E-ACE6-C27F-6347-BE51752AD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B488DA-8982-8830-E5FF-2DF50AE7D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E2E06D-9BDC-33A4-40A9-9F544BDD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8F36F2-C82B-68C6-40C4-83056CAB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7EF56C0-7B3D-F922-021E-46B48928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4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C5023E-EBB1-6FE9-0CC0-BC63C9DB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81E73A-8676-B8D4-4537-7C666AAA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DDB9128-88A9-6B8E-AA58-6B8168DA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2380CC8-A436-64A6-B0E3-F96C1929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90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6327F8-0E2E-063B-2B8A-7CC3B2D4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C2D936-D2B0-D389-D7DD-1518BC4E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68D79B-2A68-82EA-E9C9-C94487B2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77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0C62A-03CA-F5E2-8D07-B1748F66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5E255F-0CFF-5704-AAA1-FAEB29FD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80712C-73FC-BCF6-05D8-0893E93C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6C0966-3B92-A6CD-394E-AD136A1B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6A5A27-AEEE-4FE3-85D0-5B71BDC8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02C5B0-6945-433D-55ED-6D17A67A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73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B946DA-DB89-84D2-91D8-D3908921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A238819-C28A-C67F-8BEE-4D96409A8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BC9A8C-C25F-6DCD-F8C0-474A93FA9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89507E-A6C9-D5D9-DE26-22EAC741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5972E1-305A-58EA-E039-BB338265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84733B-896D-5992-F124-ECBD9893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138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0A07C6-B689-16FA-E425-86641AA7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2A64A4-554A-A71D-BDDB-BA746046F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BC295F-07B1-B407-61E3-E138FC29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1773B6-4FF7-E012-E35C-BE08AF4A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92694-3648-C506-E3B4-5CE0FD61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28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E7F106-D1D3-7138-7D81-781FD78A4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22EECA-A555-497E-C323-B4071F785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53C404-EB44-9FCE-387A-43EBC8EF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6866A-3288-F8E5-4237-F2B949A2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483005-FC91-54A2-6ECD-4D6311DA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4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E178DE-1EF6-D0D0-B859-3F824A21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A3BAB3-EC03-48F1-2176-FB68F710A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B37226-26EE-1028-A9B8-7EE5D786F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23CC4-38DA-433C-8320-2F0052A58CAC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2A06FC-82B0-2CD2-99B6-A67FEE6FD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143992-A208-09FD-52ED-2B39E77A4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04566-3FE4-4FF9-8909-2E98438A8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1" name="BottomLine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33132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D3D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Panel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" name="RedStrip"/>
          <p:cNvSpPr/>
          <p:nvPr/>
        </p:nvSpPr>
        <p:spPr>
          <a:xfrm>
            <a:off x="8229600" y="0"/>
            <a:ext cx="91440" cy="685800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" name="RightPanel"/>
          <p:cNvSpPr/>
          <p:nvPr/>
        </p:nvSpPr>
        <p:spPr>
          <a:xfrm>
            <a:off x="8321040" y="0"/>
            <a:ext cx="3870960" cy="6858000"/>
          </a:xfrm>
          <a:prstGeom prst="rect">
            <a:avLst/>
          </a:prstGeom>
          <a:solidFill>
            <a:srgbClr val="F2F0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" name="Divider"/>
          <p:cNvSpPr/>
          <p:nvPr/>
        </p:nvSpPr>
        <p:spPr>
          <a:xfrm>
            <a:off x="609600" y="3100000"/>
            <a:ext cx="3600000" cy="27432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" name="MainTitle"/>
          <p:cNvSpPr/>
          <p:nvPr/>
        </p:nvSpPr>
        <p:spPr>
          <a:xfrm>
            <a:off x="609600" y="1524000"/>
            <a:ext cx="7162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ja-JP" sz="3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最終分析報告書</a:t>
            </a:r>
          </a:p>
        </p:txBody>
      </p:sp>
      <p:sp>
        <p:nvSpPr>
          <p:cNvPr id="14" name="Subtitle"/>
          <p:cNvSpPr/>
          <p:nvPr/>
        </p:nvSpPr>
        <p:spPr>
          <a:xfrm>
            <a:off x="609600" y="3200000"/>
            <a:ext cx="716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400"/>
              </a:lnSpc>
              <a:buNone/>
            </a:pPr>
            <a:r>
              <a:rPr lang="ja-JP" sz="1600" dirty="0">
                <a:solidFill>
                  <a:srgbClr val="AAAAAA"/>
                </a:solidFill>
                <a:latin typeface="BIZ UDPゴシック"/>
                <a:ea typeface="BIZ UDPゴシック"/>
              </a:rPr>
              <a:t>定期預金契約有無予測・説明可能性分析プロジェクト</a:t>
            </a:r>
          </a:p>
        </p:txBody>
      </p:sp>
      <p:sp>
        <p:nvSpPr>
          <p:cNvPr id="16" name="RightInfo"/>
          <p:cNvSpPr/>
          <p:nvPr/>
        </p:nvSpPr>
        <p:spPr>
          <a:xfrm>
            <a:off x="8550000" y="2000000"/>
            <a:ext cx="340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ja-JP" sz="11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甲</a:t>
            </a:r>
          </a:p>
          <a:p>
            <a:pPr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京橋信用ソリューションズ株式会社</a:t>
            </a:r>
          </a:p>
          <a:p>
            <a:pPr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ja-JP" sz="1000" dirty="0">
                <a:solidFill>
                  <a:srgbClr val="6B6B6B"/>
                </a:solidFill>
                <a:latin typeface="BIZ UDPゴシック"/>
                <a:ea typeface="BIZ UDPゴシック"/>
              </a:rPr>
              <a:t>リスク管理部 与信モデル統括課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ja-JP" sz="11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乙</a:t>
            </a:r>
          </a:p>
          <a:p>
            <a:pPr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株式会社データアステル</a:t>
            </a:r>
          </a:p>
          <a:p>
            <a:pPr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ja-JP" sz="1000" dirty="0">
                <a:solidFill>
                  <a:srgbClr val="6B6B6B"/>
                </a:solidFill>
                <a:latin typeface="BIZ UDPゴシック"/>
                <a:ea typeface="BIZ UDPゴシック"/>
              </a:rPr>
              <a:t>データサイエンス部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ja-JP" sz="11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報告日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2025年11月11日</a:t>
            </a:r>
          </a:p>
        </p:txBody>
      </p:sp>
    </p:spTree>
    <p:extLst>
      <p:ext uri="{BB962C8B-B14F-4D97-AF65-F5344CB8AC3E}">
        <p14:creationId xmlns:p14="http://schemas.microsoft.com/office/powerpoint/2010/main" val="76980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ard0Bg"/>
          <p:cNvSpPr/>
          <p:nvPr/>
        </p:nvSpPr>
        <p:spPr>
          <a:xfrm>
            <a:off x="457200" y="1280000"/>
            <a:ext cx="3500000" cy="52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Card0Accent"/>
          <p:cNvSpPr/>
          <p:nvPr/>
        </p:nvSpPr>
        <p:spPr>
          <a:xfrm>
            <a:off x="640080" y="1462880"/>
            <a:ext cx="548640" cy="457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2" name="Card0Label"/>
          <p:cNvSpPr/>
          <p:nvPr/>
        </p:nvSpPr>
        <p:spPr>
          <a:xfrm>
            <a:off x="640080" y="1600000"/>
            <a:ext cx="313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ビジネス成果</a:t>
            </a:r>
          </a:p>
        </p:txBody>
      </p:sp>
      <p:sp>
        <p:nvSpPr>
          <p:cNvPr id="33" name="Card0Content"/>
          <p:cNvSpPr/>
          <p:nvPr/>
        </p:nvSpPr>
        <p:spPr>
          <a:xfrm>
            <a:off x="640080" y="2010000"/>
            <a:ext cx="313424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予測スコア上位10%のPrecision = 0.589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上位層に契約が濃縮されることを確認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営業効率化の初期導出に成功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説明可能性情報を整備し、実運用性の議論基礎を提供</a:t>
            </a:r>
          </a:p>
        </p:txBody>
      </p:sp>
      <p:sp>
        <p:nvSpPr>
          <p:cNvPr id="40" name="Card1Bg"/>
          <p:cNvSpPr/>
          <p:nvPr/>
        </p:nvSpPr>
        <p:spPr>
          <a:xfrm>
            <a:off x="4267200" y="1280000"/>
            <a:ext cx="3500000" cy="52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1" name="Card1Accent"/>
          <p:cNvSpPr/>
          <p:nvPr/>
        </p:nvSpPr>
        <p:spPr>
          <a:xfrm>
            <a:off x="4450080" y="1462880"/>
            <a:ext cx="548640" cy="457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2" name="Card1Label"/>
          <p:cNvSpPr/>
          <p:nvPr/>
        </p:nvSpPr>
        <p:spPr>
          <a:xfrm>
            <a:off x="4450080" y="1600000"/>
            <a:ext cx="313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分析成果</a:t>
            </a:r>
          </a:p>
        </p:txBody>
      </p:sp>
      <p:sp>
        <p:nvSpPr>
          <p:cNvPr id="43" name="Card1Content"/>
          <p:cNvSpPr/>
          <p:nvPr/>
        </p:nvSpPr>
        <p:spPr>
          <a:xfrm>
            <a:off x="4450080" y="2010000"/>
            <a:ext cx="313424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AUC(ROC) = 0.925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Accuracy = 0.900 / F1(macro) = 0.722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Brier score = 0.066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gradient_boosting を中心に検証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duration含有/非含有モデルを分離評価</a:t>
            </a:r>
          </a:p>
        </p:txBody>
      </p:sp>
      <p:sp>
        <p:nvSpPr>
          <p:cNvPr id="50" name="Card2Bg"/>
          <p:cNvSpPr/>
          <p:nvPr/>
        </p:nvSpPr>
        <p:spPr>
          <a:xfrm>
            <a:off x="8077200" y="1280000"/>
            <a:ext cx="3500000" cy="52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" name="Card2Accent"/>
          <p:cNvSpPr/>
          <p:nvPr/>
        </p:nvSpPr>
        <p:spPr>
          <a:xfrm>
            <a:off x="8260080" y="1462880"/>
            <a:ext cx="548640" cy="457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52" name="Card2Label"/>
          <p:cNvSpPr/>
          <p:nvPr/>
        </p:nvSpPr>
        <p:spPr>
          <a:xfrm>
            <a:off x="8260080" y="1600000"/>
            <a:ext cx="313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運用提言（要点）</a:t>
            </a:r>
          </a:p>
        </p:txBody>
      </p:sp>
      <p:sp>
        <p:nvSpPr>
          <p:cNvPr id="53" name="Card2Content"/>
          <p:cNvSpPr/>
          <p:nvPr/>
        </p:nvSpPr>
        <p:spPr>
          <a:xfrm>
            <a:off x="8260080" y="2010000"/>
            <a:ext cx="313424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事前判断にはduration除外モデルを使用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上位スコア群でA/Bテストを短期実施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業務効果を定量検証すること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監査証跡・アクセス制御を本番化前に実装</a:t>
            </a:r>
          </a:p>
        </p:txBody>
      </p:sp>
      <p:sp>
        <p:nvSpPr>
          <p:cNvPr id="20" name="TitleBar"/>
          <p:cNvSpPr/>
          <p:nvPr/>
        </p:nvSpPr>
        <p:spPr>
          <a:xfrm>
            <a:off x="0" y="91440"/>
            <a:ext cx="1219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1. エグゼクティブサマリー</a:t>
            </a:r>
          </a:p>
        </p:txBody>
      </p:sp>
      <p:sp>
        <p:nvSpPr>
          <p:cNvPr id="21" name="TitleLine"/>
          <p:cNvSpPr/>
          <p:nvPr/>
        </p:nvSpPr>
        <p:spPr>
          <a:xfrm>
            <a:off x="457200" y="73152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2" name="SubTitle"/>
          <p:cNvSpPr/>
          <p:nvPr/>
        </p:nvSpPr>
        <p:spPr>
          <a:xfrm>
            <a:off x="457200" y="804672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甲：京橋信用ソリューションズ株式会社 / 乙：株式会社データアステル｜契約期間 2025-10-01 ～ 6週間｜固定価格契約</a:t>
            </a:r>
          </a:p>
        </p:txBody>
      </p:sp>
    </p:spTree>
    <p:extLst>
      <p:ext uri="{BB962C8B-B14F-4D97-AF65-F5344CB8AC3E}">
        <p14:creationId xmlns:p14="http://schemas.microsoft.com/office/powerpoint/2010/main" val="67139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2. プロジェクト目的とスコープ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PurpBg"/>
          <p:cNvSpPr/>
          <p:nvPr/>
        </p:nvSpPr>
        <p:spPr>
          <a:xfrm>
            <a:off x="457200" y="800000"/>
            <a:ext cx="5334000" cy="26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PurpLabel"/>
          <p:cNvSpPr/>
          <p:nvPr/>
        </p:nvSpPr>
        <p:spPr>
          <a:xfrm>
            <a:off x="640080" y="900000"/>
            <a:ext cx="4968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目的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顧客属性・接触履歴から二値目的変数 y（定期預金契約有無）を予測する初期版モデルを構築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説明可能な判断材料を整備する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監査対応・再現性・説明可能性を確保し、後続の業務実装・運用設計に接続可能な成果物を納品する</a:t>
            </a:r>
          </a:p>
        </p:txBody>
      </p:sp>
      <p:sp>
        <p:nvSpPr>
          <p:cNvPr id="40" name="ScopeBg"/>
          <p:cNvSpPr/>
          <p:nvPr/>
        </p:nvSpPr>
        <p:spPr>
          <a:xfrm>
            <a:off x="6096000" y="800000"/>
            <a:ext cx="5638800" cy="26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1" name="ScopeLabel"/>
          <p:cNvSpPr/>
          <p:nvPr/>
        </p:nvSpPr>
        <p:spPr>
          <a:xfrm>
            <a:off x="6278880" y="900000"/>
            <a:ext cx="527208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スコープ（契約書 §3 準拠）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対象データ: train.csv（27,128件、18カラム）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EDA、前処理方針、ベースライン及び比較モデル、説明可能性整理、中間報告、最終報告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対象外:</a:t>
            </a: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 本番システム実装、API化、外部データ取得、監査部門向け最終審査資料作成代行</a:t>
            </a:r>
          </a:p>
        </p:txBody>
      </p:sp>
      <p:sp>
        <p:nvSpPr>
          <p:cNvPr id="50" name="KPIBg"/>
          <p:cNvSpPr/>
          <p:nvPr/>
        </p:nvSpPr>
        <p:spPr>
          <a:xfrm>
            <a:off x="457200" y="3600000"/>
            <a:ext cx="11277600" cy="300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51" name="KPITitle"/>
          <p:cNvSpPr/>
          <p:nvPr/>
        </p:nvSpPr>
        <p:spPr>
          <a:xfrm>
            <a:off x="640080" y="3750000"/>
            <a:ext cx="1091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KPI定義</a:t>
            </a:r>
          </a:p>
        </p:txBody>
      </p:sp>
      <p:sp>
        <p:nvSpPr>
          <p:cNvPr id="52" name="KPIBiz"/>
          <p:cNvSpPr/>
          <p:nvPr/>
        </p:nvSpPr>
        <p:spPr>
          <a:xfrm>
            <a:off x="640080" y="4150000"/>
            <a:ext cx="500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業務KPI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○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上位抽出による契約率向上（基準：全体契約率 11.7%）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○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接触優先順位の業務利用性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○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説明可能性確保、監査対応性</a:t>
            </a:r>
          </a:p>
        </p:txBody>
      </p:sp>
      <p:sp>
        <p:nvSpPr>
          <p:cNvPr id="53" name="KPIAnal"/>
          <p:cNvSpPr/>
          <p:nvPr/>
        </p:nvSpPr>
        <p:spPr>
          <a:xfrm>
            <a:off x="6000000" y="4150000"/>
            <a:ext cx="5552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分析KPI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○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AUC、Precision/Recall/F1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○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上位10/20/30%の契約率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○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学習/検証の安定性</a:t>
            </a:r>
          </a:p>
        </p:txBody>
      </p:sp>
      <p:sp>
        <p:nvSpPr>
          <p:cNvPr id="54" name="KPIDivider"/>
          <p:cNvSpPr/>
          <p:nvPr/>
        </p:nvSpPr>
        <p:spPr>
          <a:xfrm>
            <a:off x="5800000" y="4150000"/>
            <a:ext cx="18288" cy="2100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3289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3. 実施方法 ─ 分析プロセス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Step0"/>
          <p:cNvSpPr/>
          <p:nvPr/>
        </p:nvSpPr>
        <p:spPr>
          <a:xfrm>
            <a:off x="22860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データ理解</a:t>
            </a:r>
          </a:p>
        </p:txBody>
      </p:sp>
      <p:sp>
        <p:nvSpPr>
          <p:cNvPr id="31" name="Step1"/>
          <p:cNvSpPr/>
          <p:nvPr/>
        </p:nvSpPr>
        <p:spPr>
          <a:xfrm>
            <a:off x="153924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EDA</a:t>
            </a:r>
          </a:p>
        </p:txBody>
      </p:sp>
      <p:sp>
        <p:nvSpPr>
          <p:cNvPr id="32" name="Step2"/>
          <p:cNvSpPr/>
          <p:nvPr/>
        </p:nvSpPr>
        <p:spPr>
          <a:xfrm>
            <a:off x="284988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前処理設計</a:t>
            </a:r>
          </a:p>
        </p:txBody>
      </p:sp>
      <p:sp>
        <p:nvSpPr>
          <p:cNvPr id="33" name="Step3"/>
          <p:cNvSpPr/>
          <p:nvPr/>
        </p:nvSpPr>
        <p:spPr>
          <a:xfrm>
            <a:off x="416052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学習/検証
分割</a:t>
            </a:r>
          </a:p>
        </p:txBody>
      </p:sp>
      <p:sp>
        <p:nvSpPr>
          <p:cNvPr id="34" name="Step4"/>
          <p:cNvSpPr/>
          <p:nvPr/>
        </p:nvSpPr>
        <p:spPr>
          <a:xfrm>
            <a:off x="547116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ベースライン
構築</a:t>
            </a:r>
          </a:p>
        </p:txBody>
      </p:sp>
      <p:sp>
        <p:nvSpPr>
          <p:cNvPr id="35" name="Step5"/>
          <p:cNvSpPr/>
          <p:nvPr/>
        </p:nvSpPr>
        <p:spPr>
          <a:xfrm>
            <a:off x="678180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比較モデル
評価</a:t>
            </a:r>
          </a:p>
        </p:txBody>
      </p:sp>
      <p:sp>
        <p:nvSpPr>
          <p:cNvPr id="36" name="Step6"/>
          <p:cNvSpPr/>
          <p:nvPr/>
        </p:nvSpPr>
        <p:spPr>
          <a:xfrm>
            <a:off x="809244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4A4A4A"/>
          </a:solidFill>
          <a:ln w="6350">
            <a:solidFill>
              <a:srgbClr val="4A4A4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説明可能性
整理</a:t>
            </a:r>
          </a:p>
        </p:txBody>
      </p:sp>
      <p:sp>
        <p:nvSpPr>
          <p:cNvPr id="37" name="Step7"/>
          <p:cNvSpPr/>
          <p:nvPr/>
        </p:nvSpPr>
        <p:spPr>
          <a:xfrm>
            <a:off x="940308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4A4A4A"/>
          </a:solidFill>
          <a:ln w="6350">
            <a:solidFill>
              <a:srgbClr val="4A4A4A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中間報告</a:t>
            </a:r>
          </a:p>
        </p:txBody>
      </p:sp>
      <p:sp>
        <p:nvSpPr>
          <p:cNvPr id="38" name="Step8"/>
          <p:cNvSpPr/>
          <p:nvPr/>
        </p:nvSpPr>
        <p:spPr>
          <a:xfrm>
            <a:off x="10713720" y="850000"/>
            <a:ext cx="1219200" cy="457200"/>
          </a:xfrm>
          <a:prstGeom prst="chevron">
            <a:avLst>
              <a:gd name="adj" fmla="val 25000"/>
            </a:avLst>
          </a:prstGeom>
          <a:solidFill>
            <a:srgbClr val="8B2500"/>
          </a:solidFill>
          <a:ln w="6350">
            <a:solidFill>
              <a:srgbClr val="8B2500"/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最終報告</a:t>
            </a:r>
          </a:p>
        </p:txBody>
      </p:sp>
      <p:sp>
        <p:nvSpPr>
          <p:cNvPr id="60" name="PBg0"/>
          <p:cNvSpPr/>
          <p:nvPr/>
        </p:nvSpPr>
        <p:spPr>
          <a:xfrm>
            <a:off x="457200" y="1550000"/>
            <a:ext cx="3500000" cy="15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61" name="PAcc0"/>
          <p:cNvSpPr/>
          <p:nvPr/>
        </p:nvSpPr>
        <p:spPr>
          <a:xfrm>
            <a:off x="457200" y="1550000"/>
            <a:ext cx="54864" cy="150000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0" name="PTxt0"/>
          <p:cNvSpPr/>
          <p:nvPr/>
        </p:nvSpPr>
        <p:spPr>
          <a:xfrm>
            <a:off x="640080" y="1641440"/>
            <a:ext cx="3225680" cy="1317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duration分離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durationを含む事後モデルと含まない事前モデルを明確に分離して評価・提供</a:t>
            </a:r>
          </a:p>
        </p:txBody>
      </p:sp>
      <p:sp>
        <p:nvSpPr>
          <p:cNvPr id="62" name="PBg1"/>
          <p:cNvSpPr/>
          <p:nvPr/>
        </p:nvSpPr>
        <p:spPr>
          <a:xfrm>
            <a:off x="4227200" y="1550000"/>
            <a:ext cx="3500000" cy="15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63" name="PAcc1"/>
          <p:cNvSpPr/>
          <p:nvPr/>
        </p:nvSpPr>
        <p:spPr>
          <a:xfrm>
            <a:off x="4227200" y="1550000"/>
            <a:ext cx="54864" cy="1500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1" name="PTxt1"/>
          <p:cNvSpPr/>
          <p:nvPr/>
        </p:nvSpPr>
        <p:spPr>
          <a:xfrm>
            <a:off x="4410080" y="1641440"/>
            <a:ext cx="3225680" cy="1317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4A4A4A"/>
                </a:solidFill>
                <a:latin typeface="BIZ UDPゴシック"/>
                <a:ea typeface="BIZ UDPゴシック"/>
              </a:rPr>
              <a:t>再現性管理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実行ログ、入力ファイル一覧、前処理スクリプト、成果物版管理を保存</a:t>
            </a:r>
          </a:p>
        </p:txBody>
      </p:sp>
      <p:sp>
        <p:nvSpPr>
          <p:cNvPr id="64" name="PBg2"/>
          <p:cNvSpPr/>
          <p:nvPr/>
        </p:nvSpPr>
        <p:spPr>
          <a:xfrm>
            <a:off x="7997200" y="1550000"/>
            <a:ext cx="3500000" cy="15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65" name="PAcc2"/>
          <p:cNvSpPr/>
          <p:nvPr/>
        </p:nvSpPr>
        <p:spPr>
          <a:xfrm>
            <a:off x="7997200" y="1550000"/>
            <a:ext cx="54864" cy="15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2" name="PTxt2"/>
          <p:cNvSpPr/>
          <p:nvPr/>
        </p:nvSpPr>
        <p:spPr>
          <a:xfrm>
            <a:off x="8180080" y="1641440"/>
            <a:ext cx="3225680" cy="1317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監査証跡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監査対応を重視し、すべての実行結果・メトリクスをartifacts/analysis_outputsに保存</a:t>
            </a:r>
          </a:p>
        </p:txBody>
      </p:sp>
      <p:sp>
        <p:nvSpPr>
          <p:cNvPr id="80" name="PolicyLabel"/>
          <p:cNvSpPr/>
          <p:nvPr/>
        </p:nvSpPr>
        <p:spPr>
          <a:xfrm>
            <a:off x="457200" y="330000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データ処理上の主要方針</a:t>
            </a:r>
          </a:p>
        </p:txBody>
      </p:sp>
      <p:sp>
        <p:nvSpPr>
          <p:cNvPr id="90" name="Pol0"/>
          <p:cNvSpPr/>
          <p:nvPr/>
        </p:nvSpPr>
        <p:spPr>
          <a:xfrm>
            <a:off x="457200" y="3750000"/>
            <a:ext cx="265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square" lIns="137160" tIns="91440" rIns="137160" bIns="91440" anchor="t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unknown</a:t>
            </a:r>
          </a:p>
          <a:p>
            <a:pPr algn="ctr">
              <a:lnSpc>
                <a:spcPts val="16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欠損ではなく独立カテゴリとして保持</a:t>
            </a:r>
          </a:p>
        </p:txBody>
      </p:sp>
      <p:sp>
        <p:nvSpPr>
          <p:cNvPr id="91" name="Pol1"/>
          <p:cNvSpPr/>
          <p:nvPr/>
        </p:nvSpPr>
        <p:spPr>
          <a:xfrm>
            <a:off x="3287200" y="3750000"/>
            <a:ext cx="265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square" lIns="137160" tIns="91440" rIns="137160" bIns="91440" anchor="t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pdays = -1</a:t>
            </a:r>
          </a:p>
          <a:p>
            <a:pPr algn="ctr">
              <a:lnSpc>
                <a:spcPts val="16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未接触フラグとして扱い、フラグ化・別変換を実施</a:t>
            </a:r>
          </a:p>
        </p:txBody>
      </p:sp>
      <p:sp>
        <p:nvSpPr>
          <p:cNvPr id="92" name="Pol2"/>
          <p:cNvSpPr/>
          <p:nvPr/>
        </p:nvSpPr>
        <p:spPr>
          <a:xfrm>
            <a:off x="6117200" y="3750000"/>
            <a:ext cx="265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square" lIns="137160" tIns="91440" rIns="137160" bIns="91440" anchor="t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id</a:t>
            </a:r>
          </a:p>
          <a:p>
            <a:pPr algn="ctr">
              <a:lnSpc>
                <a:spcPts val="16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説明変数から除外（追跡キーとして保持）</a:t>
            </a:r>
          </a:p>
        </p:txBody>
      </p:sp>
      <p:sp>
        <p:nvSpPr>
          <p:cNvPr id="93" name="Pol3"/>
          <p:cNvSpPr/>
          <p:nvPr/>
        </p:nvSpPr>
        <p:spPr>
          <a:xfrm>
            <a:off x="8947200" y="3750000"/>
            <a:ext cx="265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square" lIns="137160" tIns="91440" rIns="137160" bIns="91440" anchor="t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duration</a:t>
            </a:r>
          </a:p>
          <a:p>
            <a:pPr algn="ctr">
              <a:lnSpc>
                <a:spcPts val="16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情報リークリスクを踏まえ、用途別にモデルを使い分け</a:t>
            </a:r>
          </a:p>
        </p:txBody>
      </p:sp>
    </p:spTree>
    <p:extLst>
      <p:ext uri="{BB962C8B-B14F-4D97-AF65-F5344CB8AC3E}">
        <p14:creationId xmlns:p14="http://schemas.microsoft.com/office/powerpoint/2010/main" val="356534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3. プロジェクト体制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KoBg"/>
          <p:cNvSpPr/>
          <p:nvPr/>
        </p:nvSpPr>
        <p:spPr>
          <a:xfrm>
            <a:off x="457200" y="800000"/>
            <a:ext cx="3657600" cy="280000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1" name="KoTxt"/>
          <p:cNvSpPr/>
          <p:nvPr/>
        </p:nvSpPr>
        <p:spPr>
          <a:xfrm>
            <a:off x="640080" y="900000"/>
            <a:ext cx="329184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8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甲（発注者）</a:t>
            </a:r>
          </a:p>
          <a:p>
            <a:pPr algn="l">
              <a:lnSpc>
                <a:spcPts val="2200"/>
              </a:lnSpc>
              <a:buNone/>
            </a:pPr>
            <a:r>
              <a:rPr lang="ja-JP" sz="1400" dirty="0">
                <a:solidFill>
                  <a:srgbClr val="FFFFFF"/>
                </a:solidFill>
                <a:latin typeface="BIZ UDPゴシック"/>
                <a:ea typeface="BIZ UDPゴシック"/>
              </a:rPr>
              <a:t>京橋信用ソリューションズ株式会社</a:t>
            </a:r>
          </a:p>
          <a:p>
            <a:pPr algn="l">
              <a:lnSpc>
                <a:spcPts val="2200"/>
              </a:lnSpc>
              <a:buNone/>
            </a:pPr>
            <a:r>
              <a:rPr lang="ja-JP" sz="1200" dirty="0">
                <a:solidFill>
                  <a:srgbClr val="AAAAAA"/>
                </a:solidFill>
                <a:latin typeface="BIZ UDPゴシック"/>
                <a:ea typeface="BIZ UDPゴシック"/>
              </a:rPr>
              <a:t>リスク管理部 与信モデル統括課</a:t>
            </a:r>
          </a:p>
          <a:p>
            <a:pPr algn="l">
              <a:lnSpc>
                <a:spcPts val="2800"/>
              </a:lnSpc>
              <a:buNone/>
            </a:pPr>
            <a:r>
              <a:rPr lang="ja-JP" sz="1200" dirty="0">
                <a:solidFill>
                  <a:srgbClr val="AAAAAA"/>
                </a:solidFill>
                <a:latin typeface="BIZ UDPゴシック"/>
                <a:ea typeface="BIZ UDPゴシック"/>
              </a:rPr>
              <a:t>窓口:</a:t>
            </a: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 高橋 恒一</a:t>
            </a:r>
            <a:r>
              <a:rPr lang="ja-JP" sz="1200" dirty="0">
                <a:solidFill>
                  <a:srgbClr val="AAAAAA"/>
                </a:solidFill>
                <a:latin typeface="BIZ UDPゴシック"/>
                <a:ea typeface="BIZ UDPゴシック"/>
              </a:rPr>
              <a:t>（課長）</a:t>
            </a:r>
          </a:p>
        </p:txBody>
      </p:sp>
      <p:sp>
        <p:nvSpPr>
          <p:cNvPr id="40" name="OtBg"/>
          <p:cNvSpPr/>
          <p:nvPr/>
        </p:nvSpPr>
        <p:spPr>
          <a:xfrm>
            <a:off x="4419600" y="800000"/>
            <a:ext cx="7315200" cy="28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1" name="OtTitle"/>
          <p:cNvSpPr/>
          <p:nvPr/>
        </p:nvSpPr>
        <p:spPr>
          <a:xfrm>
            <a:off x="4602480" y="900000"/>
            <a:ext cx="694944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8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乙（受注者）─ 株式会社データアステル データサイエンス部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山田 直樹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 ─ エグゼクティブスポンサー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佐藤 健一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 ─ プロジェクトマネージャー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鈴木 美咲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 ─ リードデータサイエンティスト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斎藤 悠斗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 ─ データエンジニア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井上 里奈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 ─ ビジネスアナリスト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池田 恒一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 ─ QA</a:t>
            </a:r>
          </a:p>
        </p:txBody>
      </p:sp>
      <p:sp>
        <p:nvSpPr>
          <p:cNvPr id="55" name="Timeline"/>
          <p:cNvSpPr/>
          <p:nvPr/>
        </p:nvSpPr>
        <p:spPr>
          <a:xfrm>
            <a:off x="1600000" y="4500000"/>
            <a:ext cx="90000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56" name="MLabel"/>
          <p:cNvSpPr/>
          <p:nvPr/>
        </p:nvSpPr>
        <p:spPr>
          <a:xfrm>
            <a:off x="457200" y="3850000"/>
            <a:ext cx="30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主要会議タイムライン</a:t>
            </a:r>
          </a:p>
        </p:txBody>
      </p:sp>
      <p:sp>
        <p:nvSpPr>
          <p:cNvPr id="60" name="MC0"/>
          <p:cNvSpPr/>
          <p:nvPr/>
        </p:nvSpPr>
        <p:spPr>
          <a:xfrm>
            <a:off x="1462840" y="4362840"/>
            <a:ext cx="274320" cy="2743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1" name="MT0"/>
          <p:cNvSpPr/>
          <p:nvPr/>
        </p:nvSpPr>
        <p:spPr>
          <a:xfrm>
            <a:off x="800000" y="4750000"/>
            <a:ext cx="16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100"/>
              </a:spcAft>
              <a:buNone/>
            </a:pPr>
            <a:r>
              <a:rPr lang="ja-JP" sz="1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M01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2025-10-01</a:t>
            </a:r>
          </a:p>
          <a:p>
            <a:pPr algn="ctr"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キックオフ</a:t>
            </a:r>
          </a:p>
        </p:txBody>
      </p:sp>
      <p:sp>
        <p:nvSpPr>
          <p:cNvPr id="63" name="MC1"/>
          <p:cNvSpPr/>
          <p:nvPr/>
        </p:nvSpPr>
        <p:spPr>
          <a:xfrm>
            <a:off x="5462840" y="4362840"/>
            <a:ext cx="274320" cy="27432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4" name="MT1"/>
          <p:cNvSpPr/>
          <p:nvPr/>
        </p:nvSpPr>
        <p:spPr>
          <a:xfrm>
            <a:off x="4800000" y="4750000"/>
            <a:ext cx="16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100"/>
              </a:spcAft>
              <a:buNone/>
            </a:pPr>
            <a:r>
              <a:rPr lang="ja-JP" sz="1400" b="1" dirty="0">
                <a:solidFill>
                  <a:srgbClr val="4A4A4A"/>
                </a:solidFill>
                <a:latin typeface="BIZ UDPゴシック"/>
                <a:ea typeface="BIZ UDPゴシック"/>
              </a:rPr>
              <a:t>M02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2025-10-29</a:t>
            </a:r>
          </a:p>
          <a:p>
            <a:pPr algn="ctr"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中間報告</a:t>
            </a:r>
          </a:p>
        </p:txBody>
      </p:sp>
      <p:sp>
        <p:nvSpPr>
          <p:cNvPr id="66" name="MC2"/>
          <p:cNvSpPr/>
          <p:nvPr/>
        </p:nvSpPr>
        <p:spPr>
          <a:xfrm>
            <a:off x="9462840" y="4362840"/>
            <a:ext cx="274320" cy="27432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7" name="MT2"/>
          <p:cNvSpPr/>
          <p:nvPr/>
        </p:nvSpPr>
        <p:spPr>
          <a:xfrm>
            <a:off x="8800000" y="4750000"/>
            <a:ext cx="16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100"/>
              </a:spcAft>
              <a:buNone/>
            </a:pPr>
            <a:r>
              <a:rPr lang="ja-JP" sz="1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M03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2025-11-11</a:t>
            </a:r>
          </a:p>
          <a:p>
            <a:pPr algn="ctr"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最終報告・検収会</a:t>
            </a:r>
          </a:p>
        </p:txBody>
      </p:sp>
    </p:spTree>
    <p:extLst>
      <p:ext uri="{BB962C8B-B14F-4D97-AF65-F5344CB8AC3E}">
        <p14:creationId xmlns:p14="http://schemas.microsoft.com/office/powerpoint/2010/main" val="269079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4. 主要分析結果 ─ モデル性能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2" name="DataBar"/>
          <p:cNvSpPr/>
          <p:nvPr/>
        </p:nvSpPr>
        <p:spPr>
          <a:xfrm>
            <a:off x="457200" y="770000"/>
            <a:ext cx="11277600" cy="400000"/>
          </a:xfrm>
          <a:prstGeom prst="roundRect">
            <a:avLst>
              <a:gd name="adj" fmla="val 10000"/>
            </a:avLst>
          </a:prstGeom>
          <a:solidFill>
            <a:srgbClr val="F2F0ED"/>
          </a:solidFill>
          <a:ln>
            <a:noFill/>
          </a:ln>
        </p:spPr>
        <p:txBody>
          <a:bodyPr wrap="square" lIns="182880" tIns="0" rIns="182880" bIns="0" anchor="ctr"/>
          <a:lstStyle/>
          <a:p>
            <a:pPr algn="l"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データ: 27,128件 / 18カラム　｜　学習: 21,702件　｜　テスト: 5,426件　｜　モデル: gradient_boosting</a:t>
            </a:r>
          </a:p>
        </p:txBody>
      </p:sp>
      <p:sp>
        <p:nvSpPr>
          <p:cNvPr id="30" name="KPI0Bg"/>
          <p:cNvSpPr/>
          <p:nvPr/>
        </p:nvSpPr>
        <p:spPr>
          <a:xfrm>
            <a:off x="457200" y="1350000"/>
            <a:ext cx="210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2500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AUC (ROC)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32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0.925</a:t>
            </a:r>
          </a:p>
          <a:p>
            <a:pPr algn="ctr">
              <a:buNone/>
            </a:pPr>
            <a:r>
              <a:rPr lang="ja-JP" sz="1100" dirty="0">
                <a:solidFill>
                  <a:srgbClr val="999999"/>
                </a:solidFill>
                <a:latin typeface="BIZ UDPゴシック"/>
                <a:ea typeface="BIZ UDPゴシック"/>
              </a:rPr>
              <a:t>識別能力</a:t>
            </a:r>
          </a:p>
        </p:txBody>
      </p:sp>
      <p:sp>
        <p:nvSpPr>
          <p:cNvPr id="32" name="KPI1Bg"/>
          <p:cNvSpPr/>
          <p:nvPr/>
        </p:nvSpPr>
        <p:spPr>
          <a:xfrm>
            <a:off x="2692200" y="1350000"/>
            <a:ext cx="210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Accuracy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3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0.900</a:t>
            </a:r>
          </a:p>
          <a:p>
            <a:pPr algn="ctr">
              <a:buNone/>
            </a:pPr>
            <a:r>
              <a:rPr lang="ja-JP" sz="1100" dirty="0">
                <a:solidFill>
                  <a:srgbClr val="999999"/>
                </a:solidFill>
                <a:latin typeface="BIZ UDPゴシック"/>
                <a:ea typeface="BIZ UDPゴシック"/>
              </a:rPr>
              <a:t>正確度</a:t>
            </a:r>
          </a:p>
        </p:txBody>
      </p:sp>
      <p:sp>
        <p:nvSpPr>
          <p:cNvPr id="34" name="KPI2Bg"/>
          <p:cNvSpPr/>
          <p:nvPr/>
        </p:nvSpPr>
        <p:spPr>
          <a:xfrm>
            <a:off x="4927200" y="1350000"/>
            <a:ext cx="210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4A4A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F1 (macro)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3200" b="1" dirty="0">
                <a:solidFill>
                  <a:srgbClr val="4A4A4A"/>
                </a:solidFill>
                <a:latin typeface="BIZ UDPゴシック"/>
                <a:ea typeface="BIZ UDPゴシック"/>
              </a:rPr>
              <a:t>0.722</a:t>
            </a:r>
          </a:p>
          <a:p>
            <a:pPr algn="ctr">
              <a:buNone/>
            </a:pPr>
            <a:r>
              <a:rPr lang="ja-JP" sz="1100" dirty="0">
                <a:solidFill>
                  <a:srgbClr val="999999"/>
                </a:solidFill>
                <a:latin typeface="BIZ UDPゴシック"/>
                <a:ea typeface="BIZ UDPゴシック"/>
              </a:rPr>
              <a:t>総合精度</a:t>
            </a:r>
          </a:p>
        </p:txBody>
      </p:sp>
      <p:sp>
        <p:nvSpPr>
          <p:cNvPr id="36" name="KPI3Bg"/>
          <p:cNvSpPr/>
          <p:nvPr/>
        </p:nvSpPr>
        <p:spPr>
          <a:xfrm>
            <a:off x="7162200" y="1350000"/>
            <a:ext cx="210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Brier Score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3200" b="1" dirty="0">
                <a:solidFill>
                  <a:srgbClr val="6B6B6B"/>
                </a:solidFill>
                <a:latin typeface="BIZ UDPゴシック"/>
                <a:ea typeface="BIZ UDPゴシック"/>
              </a:rPr>
              <a:t>0.066</a:t>
            </a:r>
          </a:p>
          <a:p>
            <a:pPr algn="ctr">
              <a:buNone/>
            </a:pPr>
            <a:r>
              <a:rPr lang="ja-JP" sz="1100" dirty="0">
                <a:solidFill>
                  <a:srgbClr val="999999"/>
                </a:solidFill>
                <a:latin typeface="BIZ UDPゴシック"/>
                <a:ea typeface="BIZ UDPゴシック"/>
              </a:rPr>
              <a:t>確率較正</a:t>
            </a:r>
          </a:p>
        </p:txBody>
      </p:sp>
      <p:sp>
        <p:nvSpPr>
          <p:cNvPr id="38" name="KPI4Bg"/>
          <p:cNvSpPr/>
          <p:nvPr/>
        </p:nvSpPr>
        <p:spPr>
          <a:xfrm>
            <a:off x="9397200" y="1350000"/>
            <a:ext cx="2100000" cy="1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2500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100"/>
              </a:spcAft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Precision@Top10%</a:t>
            </a:r>
          </a:p>
          <a:p>
            <a:pPr algn="ctr">
              <a:spcAft>
                <a:spcPts val="100"/>
              </a:spcAft>
              <a:buNone/>
            </a:pPr>
            <a:r>
              <a:rPr lang="ja-JP" sz="32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0.589</a:t>
            </a:r>
          </a:p>
          <a:p>
            <a:pPr algn="ctr">
              <a:buNone/>
            </a:pPr>
            <a:r>
              <a:rPr lang="ja-JP" sz="1100" dirty="0">
                <a:solidFill>
                  <a:srgbClr val="999999"/>
                </a:solidFill>
                <a:latin typeface="BIZ UDPゴシック"/>
                <a:ea typeface="BIZ UDPゴシック"/>
              </a:rPr>
              <a:t>上位抽出精度</a:t>
            </a:r>
          </a:p>
        </p:txBody>
      </p:sp>
      <p:sp>
        <p:nvSpPr>
          <p:cNvPr id="50" name="InterpBg"/>
          <p:cNvSpPr/>
          <p:nvPr/>
        </p:nvSpPr>
        <p:spPr>
          <a:xfrm>
            <a:off x="457200" y="3400000"/>
            <a:ext cx="11277600" cy="320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51" name="InterpTxt"/>
          <p:cNvSpPr/>
          <p:nvPr/>
        </p:nvSpPr>
        <p:spPr>
          <a:xfrm>
            <a:off x="640080" y="3550000"/>
            <a:ext cx="10912000" cy="2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解釈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高いAUCと上位抽出精度（Precision@Top10% ≈ 0.589）は、スコア上位の顧客群に契約が濃縮されていることを示す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接触優先度付けの初期運用に有用である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目的変数は不均衡（全体契約率 11.7%）であり、Accuracy単独の評価は誤解を招く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業務評価ではAUC/上位抽出指標を重視すべきである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Brier scoreの値は確率閾値設定時の較正参考情報として有用</a:t>
            </a:r>
          </a:p>
        </p:txBody>
      </p:sp>
    </p:spTree>
    <p:extLst>
      <p:ext uri="{BB962C8B-B14F-4D97-AF65-F5344CB8AC3E}">
        <p14:creationId xmlns:p14="http://schemas.microsoft.com/office/powerpoint/2010/main" val="1088489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DFBC615-DC3D-4DAC-A405-0E2D559CB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25924"/>
              </p:ext>
            </p:extLst>
          </p:nvPr>
        </p:nvGraphicFramePr>
        <p:xfrm>
          <a:off x="1206127" y="1621118"/>
          <a:ext cx="965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54470405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487781598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325706683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9906078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Rank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モデル種別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F1 (macro)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53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1</a:t>
                      </a:r>
                    </a:p>
                  </a:txBody>
                  <a:tcPr anchor="ctr"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gradient_boosting</a:t>
                      </a:r>
                    </a:p>
                  </a:txBody>
                  <a:tcPr anchor="ctr"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0.72243</a:t>
                      </a:r>
                    </a:p>
                  </a:txBody>
                  <a:tcPr anchor="ctr"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0.89993</a:t>
                      </a:r>
                    </a:p>
                  </a:txBody>
                  <a:tcPr anchor="ctr">
                    <a:solidFill>
                      <a:srgbClr val="FD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452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2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0.71486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0.90527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497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0.70972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0.90269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498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4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0.70496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0.90270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31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0.70172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0.89956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7918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6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0.70149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0.90327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003"/>
                  </a:ext>
                </a:extLst>
              </a:tr>
            </a:tbl>
          </a:graphicData>
        </a:graphic>
      </p:graphicFrame>
      <p:sp>
        <p:nvSpPr>
          <p:cNvPr id="10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4. モデル比較 ─ リーダーボード</a:t>
            </a:r>
          </a:p>
        </p:txBody>
      </p:sp>
      <p:sp>
        <p:nvSpPr>
          <p:cNvPr id="10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2" name="DurBg"/>
          <p:cNvSpPr/>
          <p:nvPr/>
        </p:nvSpPr>
        <p:spPr>
          <a:xfrm>
            <a:off x="484094" y="2078691"/>
            <a:ext cx="11277600" cy="2400000"/>
          </a:xfrm>
          <a:prstGeom prst="roundRect">
            <a:avLst>
              <a:gd name="adj" fmla="val 3000"/>
            </a:avLst>
          </a:prstGeom>
          <a:solidFill>
            <a:srgbClr val="FDF0EC"/>
          </a:solidFill>
          <a:ln w="12700">
            <a:solidFill>
              <a:srgbClr val="8B2500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3" name="DurTxt"/>
          <p:cNvSpPr/>
          <p:nvPr/>
        </p:nvSpPr>
        <p:spPr>
          <a:xfrm>
            <a:off x="754380" y="2639359"/>
            <a:ext cx="10912000" cy="2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duration変数の影響と運用留意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durationを含むモデルは事後分析で性能が向上する傾向がある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接触前の意思決定用には</a:t>
            </a:r>
            <a:r>
              <a:rPr lang="ja-JP" sz="12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情報リーク</a:t>
            </a: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となるため、事前用途ではduration除外モデルを採用する（方針は提案書・契約で既定）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重要変数ランキング・方向性・個票説明は成果物にて提示済み</a:t>
            </a:r>
          </a:p>
        </p:txBody>
      </p:sp>
    </p:spTree>
    <p:extLst>
      <p:ext uri="{BB962C8B-B14F-4D97-AF65-F5344CB8AC3E}">
        <p14:creationId xmlns:p14="http://schemas.microsoft.com/office/powerpoint/2010/main" val="410448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4. モデル性能比較 ─ チャート</a:t>
            </a:r>
          </a:p>
        </p:txBody>
      </p:sp>
      <p:sp>
        <p:nvSpPr>
          <p:cNvPr id="20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801757285"/>
              </p:ext>
            </p:extLst>
          </p:nvPr>
        </p:nvGraphicFramePr>
        <p:xfrm>
          <a:off x="457200" y="800000"/>
          <a:ext cx="11277600" cy="5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407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5. 業務提言 ─ 運用方法と閾値設定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PilotBg"/>
          <p:cNvSpPr/>
          <p:nvPr/>
        </p:nvSpPr>
        <p:spPr>
          <a:xfrm>
            <a:off x="457200" y="800000"/>
            <a:ext cx="5638800" cy="2800000"/>
          </a:xfrm>
          <a:prstGeom prst="roundRect">
            <a:avLst>
              <a:gd name="adj" fmla="val 3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PilotTxt"/>
          <p:cNvSpPr/>
          <p:nvPr/>
        </p:nvSpPr>
        <p:spPr>
          <a:xfrm>
            <a:off x="640080" y="900000"/>
            <a:ext cx="5272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8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1. パイロット運用（短期即実行）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限定地域・担当者でのパイロット運用を実施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上位スコア群に対し優先接触を実行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効果計測: 接触成功率、受注率、営業工数（4〜8週間）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事前意思決定ではduration除外モデルを必ず使用する</a:t>
            </a:r>
          </a:p>
        </p:txBody>
      </p:sp>
      <p:sp>
        <p:nvSpPr>
          <p:cNvPr id="40" name="ThreshBg"/>
          <p:cNvSpPr/>
          <p:nvPr/>
        </p:nvSpPr>
        <p:spPr>
          <a:xfrm>
            <a:off x="6400000" y="800000"/>
            <a:ext cx="5334800" cy="280000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1" name="ThreshTitle"/>
          <p:cNvSpPr/>
          <p:nvPr/>
        </p:nvSpPr>
        <p:spPr>
          <a:xfrm>
            <a:off x="6583000" y="900000"/>
            <a:ext cx="496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8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2. 推奨閾値設定</a:t>
            </a:r>
          </a:p>
        </p:txBody>
      </p:sp>
      <p:sp>
        <p:nvSpPr>
          <p:cNvPr id="50" name="Tier0"/>
          <p:cNvSpPr/>
          <p:nvPr/>
        </p:nvSpPr>
        <p:spPr>
          <a:xfrm>
            <a:off x="6583000" y="1400000"/>
            <a:ext cx="4968800" cy="420000"/>
          </a:xfrm>
          <a:prstGeom prst="roundRect">
            <a:avLst>
              <a:gd name="adj" fmla="val 15000"/>
            </a:avLst>
          </a:prstGeom>
          <a:solidFill>
            <a:srgbClr val="8B2500"/>
          </a:solidFill>
          <a:ln>
            <a:noFill/>
          </a:ln>
        </p:spPr>
        <p:txBody>
          <a:bodyPr wrap="square" lIns="182880" tIns="0" rIns="182880" bIns="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上位 10%</a:t>
            </a:r>
            <a:r>
              <a:rPr lang="ja-JP" sz="1400" dirty="0">
                <a:solidFill>
                  <a:srgbClr val="FFFFFF"/>
                </a:solidFill>
                <a:latin typeface="BIZ UDPゴシック"/>
                <a:ea typeface="BIZ UDPゴシック"/>
              </a:rPr>
              <a:t>　→　</a:t>
            </a: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高優先</a:t>
            </a:r>
          </a:p>
        </p:txBody>
      </p:sp>
      <p:sp>
        <p:nvSpPr>
          <p:cNvPr id="51" name="Tier1"/>
          <p:cNvSpPr/>
          <p:nvPr/>
        </p:nvSpPr>
        <p:spPr>
          <a:xfrm>
            <a:off x="6583000" y="1950000"/>
            <a:ext cx="4968800" cy="420000"/>
          </a:xfrm>
          <a:prstGeom prst="roundRect">
            <a:avLst>
              <a:gd name="adj" fmla="val 15000"/>
            </a:avLst>
          </a:prstGeom>
          <a:solidFill>
            <a:srgbClr val="C44E2B"/>
          </a:solidFill>
          <a:ln>
            <a:noFill/>
          </a:ln>
        </p:spPr>
        <p:txBody>
          <a:bodyPr wrap="square" lIns="182880" tIns="0" rIns="182880" bIns="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10 ─ 30%</a:t>
            </a:r>
            <a:r>
              <a:rPr lang="ja-JP" sz="1400" dirty="0">
                <a:solidFill>
                  <a:srgbClr val="FFFFFF"/>
                </a:solidFill>
                <a:latin typeface="BIZ UDPゴシック"/>
                <a:ea typeface="BIZ UDPゴシック"/>
              </a:rPr>
              <a:t>　→　</a:t>
            </a: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候補</a:t>
            </a:r>
          </a:p>
        </p:txBody>
      </p:sp>
      <p:sp>
        <p:nvSpPr>
          <p:cNvPr id="52" name="Tier2"/>
          <p:cNvSpPr/>
          <p:nvPr/>
        </p:nvSpPr>
        <p:spPr>
          <a:xfrm>
            <a:off x="6583000" y="2500000"/>
            <a:ext cx="4968800" cy="420000"/>
          </a:xfrm>
          <a:prstGeom prst="roundRect">
            <a:avLst>
              <a:gd name="adj" fmla="val 15000"/>
            </a:avLst>
          </a:prstGeom>
          <a:solidFill>
            <a:srgbClr val="6B6B6B"/>
          </a:solidFill>
          <a:ln>
            <a:noFill/>
          </a:ln>
        </p:spPr>
        <p:txBody>
          <a:bodyPr wrap="square" lIns="182880" tIns="0" rIns="182880" bIns="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30% 以下</a:t>
            </a:r>
            <a:r>
              <a:rPr lang="ja-JP" sz="1400" dirty="0">
                <a:solidFill>
                  <a:srgbClr val="FFFFFF"/>
                </a:solidFill>
                <a:latin typeface="BIZ UDPゴシック"/>
                <a:ea typeface="BIZ UDPゴシック"/>
              </a:rPr>
              <a:t>　→　</a:t>
            </a: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低優先</a:t>
            </a:r>
          </a:p>
        </p:txBody>
      </p:sp>
      <p:sp>
        <p:nvSpPr>
          <p:cNvPr id="55" name="TierNote"/>
          <p:cNvSpPr/>
          <p:nvPr/>
        </p:nvSpPr>
        <p:spPr>
          <a:xfrm>
            <a:off x="6583000" y="3050000"/>
            <a:ext cx="4968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100" dirty="0">
                <a:solidFill>
                  <a:srgbClr val="999999"/>
                </a:solidFill>
                <a:latin typeface="BIZ UDPゴシック"/>
                <a:ea typeface="BIZ UDPゴシック"/>
              </a:rPr>
              <a:t>※ 閾値はA/Bテスト結果により調整する</a:t>
            </a:r>
          </a:p>
        </p:txBody>
      </p:sp>
      <p:sp>
        <p:nvSpPr>
          <p:cNvPr id="60" name="KPIBar"/>
          <p:cNvSpPr/>
          <p:nvPr/>
        </p:nvSpPr>
        <p:spPr>
          <a:xfrm>
            <a:off x="457200" y="3900000"/>
            <a:ext cx="11277600" cy="2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61" name="KPITxt"/>
          <p:cNvSpPr/>
          <p:nvPr/>
        </p:nvSpPr>
        <p:spPr>
          <a:xfrm>
            <a:off x="640080" y="4050000"/>
            <a:ext cx="10912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各閾値に対する期待効果のKPI定量評価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増分契約率: 各閾値層での契約率向上を定量評価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コスト効率: 接触あたりの販促コストと受注額の比率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説明ログと閾値設定を標準化する</a:t>
            </a:r>
          </a:p>
        </p:txBody>
      </p:sp>
    </p:spTree>
    <p:extLst>
      <p:ext uri="{BB962C8B-B14F-4D97-AF65-F5344CB8AC3E}">
        <p14:creationId xmlns:p14="http://schemas.microsoft.com/office/powerpoint/2010/main" val="2345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5. 業務提言 ─ ガバナンス・品質管理・公平性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SBg0"/>
          <p:cNvSpPr/>
          <p:nvPr/>
        </p:nvSpPr>
        <p:spPr>
          <a:xfrm>
            <a:off x="457200" y="800000"/>
            <a:ext cx="3580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SAcc0"/>
          <p:cNvSpPr/>
          <p:nvPr/>
        </p:nvSpPr>
        <p:spPr>
          <a:xfrm>
            <a:off x="457200" y="800000"/>
            <a:ext cx="3580000" cy="54864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2" name="STxt0"/>
          <p:cNvSpPr/>
          <p:nvPr/>
        </p:nvSpPr>
        <p:spPr>
          <a:xfrm>
            <a:off x="640080" y="950000"/>
            <a:ext cx="3214240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3. ガバナンス・説明性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すべてのスコア出力に主要寄与要因を併記（上位3要因程度）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営業担当者が説明・エスカレーションできる体制を構築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モデル説明資料（変数定義・重要度・方向性）を整備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データ受領トレース、前処理スクリプト、実行ログを検収環境に保存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監査証跡を維持する</a:t>
            </a:r>
          </a:p>
        </p:txBody>
      </p:sp>
      <p:sp>
        <p:nvSpPr>
          <p:cNvPr id="40" name="SBg1"/>
          <p:cNvSpPr/>
          <p:nvPr/>
        </p:nvSpPr>
        <p:spPr>
          <a:xfrm>
            <a:off x="4237200" y="800000"/>
            <a:ext cx="3580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1" name="SAcc1"/>
          <p:cNvSpPr/>
          <p:nvPr/>
        </p:nvSpPr>
        <p:spPr>
          <a:xfrm>
            <a:off x="4237200" y="800000"/>
            <a:ext cx="3580000" cy="54864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2" name="STxt1"/>
          <p:cNvSpPr/>
          <p:nvPr/>
        </p:nvSpPr>
        <p:spPr>
          <a:xfrm>
            <a:off x="4420080" y="950000"/>
            <a:ext cx="3214240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4A4A4A"/>
                </a:solidFill>
                <a:latin typeface="BIZ UDPゴシック"/>
                <a:ea typeface="BIZ UDPゴシック"/>
              </a:rPr>
              <a:t>4. 品質管理・継続的改善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入力分布のドリフト検知（balance, campaign, duration等）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スコアと実績の乖離（Calibration drift）の監視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上位抽出の契約率、FP/FNの業務コスト評価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再学習サイクル: 四半期毎（または入力量の大幅変化時に随時）</a:t>
            </a:r>
          </a:p>
        </p:txBody>
      </p:sp>
      <p:sp>
        <p:nvSpPr>
          <p:cNvPr id="50" name="SBg2"/>
          <p:cNvSpPr/>
          <p:nvPr/>
        </p:nvSpPr>
        <p:spPr>
          <a:xfrm>
            <a:off x="8017200" y="800000"/>
            <a:ext cx="3580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" name="SAcc2"/>
          <p:cNvSpPr/>
          <p:nvPr/>
        </p:nvSpPr>
        <p:spPr>
          <a:xfrm>
            <a:off x="8017200" y="800000"/>
            <a:ext cx="3580000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52" name="STxt2"/>
          <p:cNvSpPr/>
          <p:nvPr/>
        </p:nvSpPr>
        <p:spPr>
          <a:xfrm>
            <a:off x="8200080" y="950000"/>
            <a:ext cx="3214240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5. 公平性・社内承認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age等の属性変数を用いる際の公平性レビューを社内規程に従い実施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顧客接触頻度やバイアス除去措置は法務/コンプライアンス部門と事前協議の上で確定</a:t>
            </a:r>
          </a:p>
          <a:p>
            <a:pPr marL="228600" indent="-228600" algn="l">
              <a:lnSpc>
                <a:spcPts val="20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重要な運用ルールを文書化し承認プロセスを経る</a:t>
            </a:r>
          </a:p>
        </p:txBody>
      </p:sp>
    </p:spTree>
    <p:extLst>
      <p:ext uri="{BB962C8B-B14F-4D97-AF65-F5344CB8AC3E}">
        <p14:creationId xmlns:p14="http://schemas.microsoft.com/office/powerpoint/2010/main" val="4193292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6. 実装・運用計画 ─ フェーズ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PBg0"/>
          <p:cNvSpPr/>
          <p:nvPr/>
        </p:nvSpPr>
        <p:spPr>
          <a:xfrm>
            <a:off x="457200" y="800000"/>
            <a:ext cx="2700000" cy="32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8B2500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PHdr0"/>
          <p:cNvSpPr/>
          <p:nvPr/>
        </p:nvSpPr>
        <p:spPr>
          <a:xfrm>
            <a:off x="457200" y="800000"/>
            <a:ext cx="2700000" cy="64008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Phase 1</a:t>
            </a:r>
          </a:p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パイロット設計</a:t>
            </a:r>
          </a:p>
        </p:txBody>
      </p:sp>
      <p:sp>
        <p:nvSpPr>
          <p:cNvPr id="32" name="PPer0"/>
          <p:cNvSpPr/>
          <p:nvPr/>
        </p:nvSpPr>
        <p:spPr>
          <a:xfrm>
            <a:off x="594360" y="1520000"/>
            <a:ext cx="2425680" cy="320000"/>
          </a:xfrm>
          <a:prstGeom prst="roundRect">
            <a:avLst>
              <a:gd name="adj" fmla="val 20000"/>
            </a:avLst>
          </a:prstGeom>
          <a:solidFill>
            <a:srgbClr val="F2F0E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2週間</a:t>
            </a:r>
          </a:p>
        </p:txBody>
      </p:sp>
      <p:sp>
        <p:nvSpPr>
          <p:cNvPr id="33" name="PItems0"/>
          <p:cNvSpPr/>
          <p:nvPr/>
        </p:nvSpPr>
        <p:spPr>
          <a:xfrm>
            <a:off x="594360" y="1900000"/>
            <a:ext cx="242568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対象範囲の確定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担当者・KPIの設定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A/B設計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運用フロー確定</a:t>
            </a:r>
          </a:p>
        </p:txBody>
      </p:sp>
      <p:sp>
        <p:nvSpPr>
          <p:cNvPr id="80" name="Arrow0"/>
          <p:cNvSpPr/>
          <p:nvPr/>
        </p:nvSpPr>
        <p:spPr>
          <a:xfrm>
            <a:off x="3187200" y="2200000"/>
            <a:ext cx="274320" cy="3657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4" name="PBg1"/>
          <p:cNvSpPr/>
          <p:nvPr/>
        </p:nvSpPr>
        <p:spPr>
          <a:xfrm>
            <a:off x="3460080" y="800000"/>
            <a:ext cx="2700000" cy="32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4E2B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5" name="PHdr1"/>
          <p:cNvSpPr/>
          <p:nvPr/>
        </p:nvSpPr>
        <p:spPr>
          <a:xfrm>
            <a:off x="3460080" y="800000"/>
            <a:ext cx="2700000" cy="640080"/>
          </a:xfrm>
          <a:prstGeom prst="rect">
            <a:avLst/>
          </a:prstGeom>
          <a:solidFill>
            <a:srgbClr val="C44E2B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Phase 2</a:t>
            </a:r>
          </a:p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スコア配信基盤</a:t>
            </a:r>
          </a:p>
        </p:txBody>
      </p:sp>
      <p:sp>
        <p:nvSpPr>
          <p:cNvPr id="36" name="PPer1"/>
          <p:cNvSpPr/>
          <p:nvPr/>
        </p:nvSpPr>
        <p:spPr>
          <a:xfrm>
            <a:off x="3597240" y="1520000"/>
            <a:ext cx="2425680" cy="320000"/>
          </a:xfrm>
          <a:prstGeom prst="roundRect">
            <a:avLst>
              <a:gd name="adj" fmla="val 20000"/>
            </a:avLst>
          </a:prstGeom>
          <a:solidFill>
            <a:srgbClr val="F2F0E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C44E2B"/>
                </a:solidFill>
                <a:latin typeface="BIZ UDPゴシック"/>
                <a:ea typeface="BIZ UDPゴシック"/>
              </a:rPr>
              <a:t>別途見積</a:t>
            </a:r>
          </a:p>
        </p:txBody>
      </p:sp>
      <p:sp>
        <p:nvSpPr>
          <p:cNvPr id="37" name="PItems1"/>
          <p:cNvSpPr/>
          <p:nvPr/>
        </p:nvSpPr>
        <p:spPr>
          <a:xfrm>
            <a:off x="3597240" y="1900000"/>
            <a:ext cx="242568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週次バッチスコア出力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営業向けダッシュボード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CSV出力またはAPI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（外部実装は契約外）</a:t>
            </a:r>
          </a:p>
        </p:txBody>
      </p:sp>
      <p:sp>
        <p:nvSpPr>
          <p:cNvPr id="81" name="Arrow1"/>
          <p:cNvSpPr/>
          <p:nvPr/>
        </p:nvSpPr>
        <p:spPr>
          <a:xfrm>
            <a:off x="6190080" y="2200000"/>
            <a:ext cx="274320" cy="3657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8" name="PBg2"/>
          <p:cNvSpPr/>
          <p:nvPr/>
        </p:nvSpPr>
        <p:spPr>
          <a:xfrm>
            <a:off x="6462960" y="800000"/>
            <a:ext cx="2700000" cy="32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A4A4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9" name="PHdr2"/>
          <p:cNvSpPr/>
          <p:nvPr/>
        </p:nvSpPr>
        <p:spPr>
          <a:xfrm>
            <a:off x="6462960" y="800000"/>
            <a:ext cx="2700000" cy="6400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Phase 3</a:t>
            </a:r>
          </a:p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パイロット運用</a:t>
            </a:r>
          </a:p>
        </p:txBody>
      </p:sp>
      <p:sp>
        <p:nvSpPr>
          <p:cNvPr id="40" name="PPer2"/>
          <p:cNvSpPr/>
          <p:nvPr/>
        </p:nvSpPr>
        <p:spPr>
          <a:xfrm>
            <a:off x="6600120" y="1520000"/>
            <a:ext cx="2425680" cy="320000"/>
          </a:xfrm>
          <a:prstGeom prst="roundRect">
            <a:avLst>
              <a:gd name="adj" fmla="val 20000"/>
            </a:avLst>
          </a:prstGeom>
          <a:solidFill>
            <a:srgbClr val="F2F0E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4A4A4A"/>
                </a:solidFill>
                <a:latin typeface="BIZ UDPゴシック"/>
                <a:ea typeface="BIZ UDPゴシック"/>
              </a:rPr>
              <a:t>4〜8週間</a:t>
            </a:r>
          </a:p>
        </p:txBody>
      </p:sp>
      <p:sp>
        <p:nvSpPr>
          <p:cNvPr id="41" name="PItems2"/>
          <p:cNvSpPr/>
          <p:nvPr/>
        </p:nvSpPr>
        <p:spPr>
          <a:xfrm>
            <a:off x="6600120" y="1900000"/>
            <a:ext cx="242568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実績測定の実施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閾値の調整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フィードバック収集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効果の定量評価</a:t>
            </a:r>
          </a:p>
        </p:txBody>
      </p:sp>
      <p:sp>
        <p:nvSpPr>
          <p:cNvPr id="82" name="Arrow2"/>
          <p:cNvSpPr/>
          <p:nvPr/>
        </p:nvSpPr>
        <p:spPr>
          <a:xfrm>
            <a:off x="9192960" y="2200000"/>
            <a:ext cx="274320" cy="3657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2" name="PBg3"/>
          <p:cNvSpPr/>
          <p:nvPr/>
        </p:nvSpPr>
        <p:spPr>
          <a:xfrm>
            <a:off x="9465840" y="800000"/>
            <a:ext cx="2700000" cy="32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3" name="PHdr3"/>
          <p:cNvSpPr/>
          <p:nvPr/>
        </p:nvSpPr>
        <p:spPr>
          <a:xfrm>
            <a:off x="9465840" y="800000"/>
            <a:ext cx="270000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Phase 4</a:t>
            </a:r>
          </a:p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本番化</a:t>
            </a:r>
          </a:p>
        </p:txBody>
      </p:sp>
      <p:sp>
        <p:nvSpPr>
          <p:cNvPr id="44" name="PPer3"/>
          <p:cNvSpPr/>
          <p:nvPr/>
        </p:nvSpPr>
        <p:spPr>
          <a:xfrm>
            <a:off x="9603000" y="1520000"/>
            <a:ext cx="2425680" cy="320000"/>
          </a:xfrm>
          <a:prstGeom prst="roundRect">
            <a:avLst>
              <a:gd name="adj" fmla="val 20000"/>
            </a:avLst>
          </a:prstGeom>
          <a:solidFill>
            <a:srgbClr val="F2F0E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別途契約</a:t>
            </a:r>
          </a:p>
        </p:txBody>
      </p:sp>
      <p:sp>
        <p:nvSpPr>
          <p:cNvPr id="45" name="PItems3"/>
          <p:cNvSpPr/>
          <p:nvPr/>
        </p:nvSpPr>
        <p:spPr>
          <a:xfrm>
            <a:off x="9603000" y="1900000"/>
            <a:ext cx="242568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運用体制・SLA策定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監視設計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データパイプライン安定化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ゴシック"/>
                <a:ea typeface="BIZ UDPゴシック"/>
              </a:rPr>
              <a:t>条件付き移行</a:t>
            </a:r>
          </a:p>
        </p:txBody>
      </p:sp>
      <p:sp>
        <p:nvSpPr>
          <p:cNvPr id="90" name="MonBg"/>
          <p:cNvSpPr/>
          <p:nvPr/>
        </p:nvSpPr>
        <p:spPr>
          <a:xfrm>
            <a:off x="457200" y="4250000"/>
            <a:ext cx="11277600" cy="240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1" name="MonTxt"/>
          <p:cNvSpPr/>
          <p:nvPr/>
        </p:nvSpPr>
        <p:spPr>
          <a:xfrm>
            <a:off x="640080" y="4400000"/>
            <a:ext cx="10912000" cy="2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sz="16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必須監視項目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データ品質: 行数、主要カラムのmissing/unknown比率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スコア分布変化: 中央値、上位10/20/30%の閾値変動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上位抽出の実績契約率（毎週）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モデル実行ログ・説明ログの保存（監査証跡）</a:t>
            </a:r>
          </a:p>
          <a:p>
            <a:pPr marL="228600" indent="-228600" algn="l">
              <a:lnSpc>
                <a:spcPts val="18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CCCCCC"/>
                </a:solidFill>
                <a:latin typeface="BIZ UDPゴシック"/>
                <a:ea typeface="BIZ UDPゴシック"/>
              </a:rPr>
              <a:t>セキュリティ: スコア出力・モデルコード・元データへのアクセス権限管理</a:t>
            </a:r>
          </a:p>
        </p:txBody>
      </p:sp>
    </p:spTree>
    <p:extLst>
      <p:ext uri="{BB962C8B-B14F-4D97-AF65-F5344CB8AC3E}">
        <p14:creationId xmlns:p14="http://schemas.microsoft.com/office/powerpoint/2010/main" val="1910170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1B8AB4D-ABF8-4A69-8BFB-4C3427277FB7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095500"/>
          <a:ext cx="1016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92929829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92887521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10605785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ロール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担当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責任範囲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9509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プロダクトオーナー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高橋 恒一（甲側）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意思決定・業務採用判断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69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データプロダクション管理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甲＋乙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甲: 運用データ提供 / 乙: モデル更新支援（別途委託）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06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運用担当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甲側 営業現場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使用・フィードバック収集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661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技術サポート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乙側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モデル改訂・再学習・説明性資料更新（別途契約）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667255"/>
                  </a:ext>
                </a:extLst>
              </a:tr>
            </a:tbl>
          </a:graphicData>
        </a:graphic>
      </p:graphicFrame>
      <p:sp>
        <p:nvSpPr>
          <p:cNvPr id="10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6. ロールと責任（推奨体制）</a:t>
            </a:r>
          </a:p>
        </p:txBody>
      </p:sp>
      <p:sp>
        <p:nvSpPr>
          <p:cNvPr id="10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53597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7. 制約事項と残余リスク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ConBg"/>
          <p:cNvSpPr/>
          <p:nvPr/>
        </p:nvSpPr>
        <p:spPr>
          <a:xfrm>
            <a:off x="457200" y="800000"/>
            <a:ext cx="5334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ConTxt"/>
          <p:cNvSpPr/>
          <p:nvPr/>
        </p:nvSpPr>
        <p:spPr>
          <a:xfrm>
            <a:off x="640080" y="900000"/>
            <a:ext cx="4968000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8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制約事項（確定事実）</a:t>
            </a:r>
          </a:p>
          <a:p>
            <a:pPr marL="228600" indent="-228600" algn="l">
              <a:lnSpc>
                <a:spcPts val="22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train.csvのみを用いた単一データソース分析（契約上の制約）</a:t>
            </a:r>
          </a:p>
          <a:p>
            <a:pPr marL="228600" indent="-228600" algn="l">
              <a:lnSpc>
                <a:spcPts val="22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固定価格契約: 税抜 5,250,000円（税込 5,775,000円）</a:t>
            </a:r>
          </a:p>
          <a:p>
            <a:pPr marL="228600" indent="-228600" algn="l">
              <a:lnSpc>
                <a:spcPts val="2200"/>
              </a:lnSpc>
              <a:spcBef>
                <a:spcPts val="100"/>
              </a:spcBef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ゴシック"/>
                <a:ea typeface="BIZ UDPゴシック"/>
              </a:rPr>
              <a:t>本番実装・API化等は契約範囲外（別途見積りが必要）</a:t>
            </a:r>
          </a:p>
        </p:txBody>
      </p:sp>
      <p:sp>
        <p:nvSpPr>
          <p:cNvPr id="40" name="RiskBg"/>
          <p:cNvSpPr/>
          <p:nvPr/>
        </p:nvSpPr>
        <p:spPr>
          <a:xfrm>
            <a:off x="6096000" y="800000"/>
            <a:ext cx="5638800" cy="580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1" name="RiskTxt"/>
          <p:cNvSpPr/>
          <p:nvPr/>
        </p:nvSpPr>
        <p:spPr>
          <a:xfrm>
            <a:off x="6278880" y="900000"/>
            <a:ext cx="5272000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ja-JP" sz="18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残余リスクと対応策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クラス不均衡による評価誤読</a:t>
            </a:r>
          </a:p>
          <a:p>
            <a:pPr marL="457200" indent="-228600" algn="l">
              <a:lnSpc>
                <a:spcPts val="1800"/>
              </a:lnSpc>
              <a:buFont typeface="Arial"/>
              <a:buChar char="→"/>
            </a:pPr>
            <a:r>
              <a:rPr lang="ja-JP" sz="1100" dirty="0">
                <a:solidFill>
                  <a:srgbClr val="AAAAAA"/>
                </a:solidFill>
                <a:latin typeface="BIZ UDPゴシック"/>
                <a:ea typeface="BIZ UDPゴシック"/>
              </a:rPr>
              <a:t> AUC・上位抽出指標の運用徹底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durationによる情報リーク</a:t>
            </a:r>
          </a:p>
          <a:p>
            <a:pPr marL="457200" indent="-228600" algn="l">
              <a:lnSpc>
                <a:spcPts val="1800"/>
              </a:lnSpc>
              <a:buFont typeface="Arial"/>
              <a:buChar char="→"/>
            </a:pPr>
            <a:r>
              <a:rPr lang="ja-JP" sz="1100" dirty="0">
                <a:solidFill>
                  <a:srgbClr val="AAAAAA"/>
                </a:solidFill>
                <a:latin typeface="BIZ UDPゴシック"/>
                <a:ea typeface="BIZ UDPゴシック"/>
              </a:rPr>
              <a:t> 用途別モデルの厳格運用ルール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単一データ依存（外部要因未考慮）</a:t>
            </a:r>
          </a:p>
          <a:p>
            <a:pPr marL="457200" indent="-228600" algn="l">
              <a:lnSpc>
                <a:spcPts val="1800"/>
              </a:lnSpc>
              <a:buFont typeface="Arial"/>
              <a:buChar char="→"/>
            </a:pPr>
            <a:r>
              <a:rPr lang="ja-JP" sz="1100" dirty="0">
                <a:solidFill>
                  <a:srgbClr val="AAAAAA"/>
                </a:solidFill>
                <a:latin typeface="BIZ UDPゴシック"/>
                <a:ea typeface="BIZ UDPゴシック"/>
              </a:rPr>
              <a:t> 将来的に外部データ取り込みを検討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公平性リスク（属性バイアス）</a:t>
            </a:r>
          </a:p>
          <a:p>
            <a:pPr marL="457200" indent="-228600" algn="l">
              <a:lnSpc>
                <a:spcPts val="1800"/>
              </a:lnSpc>
              <a:buFont typeface="Arial"/>
              <a:buChar char="→"/>
            </a:pPr>
            <a:r>
              <a:rPr lang="ja-JP" sz="1100" dirty="0">
                <a:solidFill>
                  <a:srgbClr val="AAAAAA"/>
                </a:solidFill>
                <a:latin typeface="BIZ UDPゴシック"/>
                <a:ea typeface="BIZ UDPゴシック"/>
              </a:rPr>
              <a:t> 定期的な公平性レビュー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運用時のモデルドリフト未検知</a:t>
            </a:r>
          </a:p>
          <a:p>
            <a:pPr marL="457200" indent="-228600" algn="l">
              <a:lnSpc>
                <a:spcPts val="1800"/>
              </a:lnSpc>
              <a:buFont typeface="Arial"/>
              <a:buChar char="→"/>
            </a:pPr>
            <a:r>
              <a:rPr lang="ja-JP" sz="1100" dirty="0">
                <a:solidFill>
                  <a:srgbClr val="AAAAAA"/>
                </a:solidFill>
                <a:latin typeface="BIZ UDPゴシック"/>
                <a:ea typeface="BIZ UDPゴシック"/>
              </a:rPr>
              <a:t> 監視設計の導入</a:t>
            </a:r>
          </a:p>
        </p:txBody>
      </p:sp>
    </p:spTree>
    <p:extLst>
      <p:ext uri="{BB962C8B-B14F-4D97-AF65-F5344CB8AC3E}">
        <p14:creationId xmlns:p14="http://schemas.microsoft.com/office/powerpoint/2010/main" val="415311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8. 今後の拡張ロードマップ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RBg0"/>
          <p:cNvSpPr/>
          <p:nvPr/>
        </p:nvSpPr>
        <p:spPr>
          <a:xfrm>
            <a:off x="457200" y="800000"/>
            <a:ext cx="3580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RHdr0"/>
          <p:cNvSpPr/>
          <p:nvPr/>
        </p:nvSpPr>
        <p:spPr>
          <a:xfrm>
            <a:off x="457200" y="800000"/>
            <a:ext cx="3580000" cy="54864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0" rIns="137160" bIns="0" anchor="ctr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短期（0〜3ヶ月）</a:t>
            </a:r>
          </a:p>
        </p:txBody>
      </p:sp>
      <p:sp>
        <p:nvSpPr>
          <p:cNvPr id="32" name="RNum00"/>
          <p:cNvSpPr/>
          <p:nvPr/>
        </p:nvSpPr>
        <p:spPr>
          <a:xfrm>
            <a:off x="594360" y="15000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1</a:t>
            </a:r>
          </a:p>
        </p:txBody>
      </p:sp>
      <p:sp>
        <p:nvSpPr>
          <p:cNvPr id="33" name="RTxt00"/>
          <p:cNvSpPr/>
          <p:nvPr/>
        </p:nvSpPr>
        <p:spPr>
          <a:xfrm>
            <a:off x="1057200" y="15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パイロット実施と評価</a:t>
            </a:r>
          </a:p>
          <a:p>
            <a:pPr algn="l">
              <a:buNone/>
            </a:pPr>
            <a:r>
              <a:rPr lang="ja-JP" sz="1100" dirty="0">
                <a:solidFill>
                  <a:srgbClr val="8B2500"/>
                </a:solidFill>
                <a:latin typeface="BIZ UDPゴシック"/>
                <a:ea typeface="BIZ UDPゴシック"/>
              </a:rPr>
              <a:t>4〜8週間</a:t>
            </a:r>
          </a:p>
        </p:txBody>
      </p:sp>
      <p:sp>
        <p:nvSpPr>
          <p:cNvPr id="34" name="RNum01"/>
          <p:cNvSpPr/>
          <p:nvPr/>
        </p:nvSpPr>
        <p:spPr>
          <a:xfrm>
            <a:off x="594360" y="31000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2</a:t>
            </a:r>
          </a:p>
        </p:txBody>
      </p:sp>
      <p:sp>
        <p:nvSpPr>
          <p:cNvPr id="35" name="RTxt01"/>
          <p:cNvSpPr/>
          <p:nvPr/>
        </p:nvSpPr>
        <p:spPr>
          <a:xfrm>
            <a:off x="1057200" y="31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モデル安定性モニタリング基盤構築</a:t>
            </a:r>
          </a:p>
          <a:p>
            <a:pPr algn="l">
              <a:buNone/>
            </a:pPr>
            <a:r>
              <a:rPr lang="ja-JP" sz="1100" dirty="0">
                <a:solidFill>
                  <a:srgbClr val="8B2500"/>
                </a:solidFill>
                <a:latin typeface="BIZ UDPゴシック"/>
                <a:ea typeface="BIZ UDPゴシック"/>
              </a:rPr>
              <a:t>2〜3週間</a:t>
            </a:r>
          </a:p>
        </p:txBody>
      </p:sp>
      <p:sp>
        <p:nvSpPr>
          <p:cNvPr id="36" name="RNum02"/>
          <p:cNvSpPr/>
          <p:nvPr/>
        </p:nvSpPr>
        <p:spPr>
          <a:xfrm>
            <a:off x="594360" y="47000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3</a:t>
            </a:r>
          </a:p>
        </p:txBody>
      </p:sp>
      <p:sp>
        <p:nvSpPr>
          <p:cNvPr id="37" name="RTxt02"/>
          <p:cNvSpPr/>
          <p:nvPr/>
        </p:nvSpPr>
        <p:spPr>
          <a:xfrm>
            <a:off x="1057200" y="47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閾値最適化と運用マニュアル作成</a:t>
            </a:r>
          </a:p>
          <a:p>
            <a:pPr algn="l">
              <a:buNone/>
            </a:pPr>
            <a:r>
              <a:rPr lang="ja-JP" sz="1100" dirty="0">
                <a:solidFill>
                  <a:srgbClr val="8B2500"/>
                </a:solidFill>
                <a:latin typeface="BIZ UDPゴシック"/>
                <a:ea typeface="BIZ UDPゴシック"/>
              </a:rPr>
              <a:t>1〜2週間</a:t>
            </a:r>
          </a:p>
        </p:txBody>
      </p:sp>
      <p:sp>
        <p:nvSpPr>
          <p:cNvPr id="40" name="RBg1"/>
          <p:cNvSpPr/>
          <p:nvPr/>
        </p:nvSpPr>
        <p:spPr>
          <a:xfrm>
            <a:off x="4237200" y="800000"/>
            <a:ext cx="3580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1" name="RHdr1"/>
          <p:cNvSpPr/>
          <p:nvPr/>
        </p:nvSpPr>
        <p:spPr>
          <a:xfrm>
            <a:off x="4237200" y="800000"/>
            <a:ext cx="3580000" cy="5486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0" rIns="137160" bIns="0" anchor="ctr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中期（3〜6ヶ月）</a:t>
            </a:r>
          </a:p>
        </p:txBody>
      </p:sp>
      <p:sp>
        <p:nvSpPr>
          <p:cNvPr id="42" name="RNum10"/>
          <p:cNvSpPr/>
          <p:nvPr/>
        </p:nvSpPr>
        <p:spPr>
          <a:xfrm>
            <a:off x="4374360" y="1500000"/>
            <a:ext cx="365760" cy="36576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1</a:t>
            </a:r>
          </a:p>
        </p:txBody>
      </p:sp>
      <p:sp>
        <p:nvSpPr>
          <p:cNvPr id="43" name="RTxt10"/>
          <p:cNvSpPr/>
          <p:nvPr/>
        </p:nvSpPr>
        <p:spPr>
          <a:xfrm>
            <a:off x="4837200" y="15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本番実装（バッチ/API）設計・実装</a:t>
            </a:r>
          </a:p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ゴシック"/>
                <a:ea typeface="BIZ UDPゴシック"/>
              </a:rPr>
              <a:t>4〜8週間（別見積）</a:t>
            </a:r>
          </a:p>
        </p:txBody>
      </p:sp>
      <p:sp>
        <p:nvSpPr>
          <p:cNvPr id="44" name="RNum11"/>
          <p:cNvSpPr/>
          <p:nvPr/>
        </p:nvSpPr>
        <p:spPr>
          <a:xfrm>
            <a:off x="4374360" y="3100000"/>
            <a:ext cx="365760" cy="36576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2</a:t>
            </a:r>
          </a:p>
        </p:txBody>
      </p:sp>
      <p:sp>
        <p:nvSpPr>
          <p:cNvPr id="45" name="RTxt11"/>
          <p:cNvSpPr/>
          <p:nvPr/>
        </p:nvSpPr>
        <p:spPr>
          <a:xfrm>
            <a:off x="4837200" y="31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自動再学習パイプライン設計</a:t>
            </a:r>
          </a:p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ゴシック"/>
                <a:ea typeface="BIZ UDPゴシック"/>
              </a:rPr>
              <a:t>6〜10週間</a:t>
            </a:r>
          </a:p>
        </p:txBody>
      </p:sp>
      <p:sp>
        <p:nvSpPr>
          <p:cNvPr id="46" name="RNum12"/>
          <p:cNvSpPr/>
          <p:nvPr/>
        </p:nvSpPr>
        <p:spPr>
          <a:xfrm>
            <a:off x="4374360" y="4700000"/>
            <a:ext cx="365760" cy="36576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3</a:t>
            </a:r>
          </a:p>
        </p:txBody>
      </p:sp>
      <p:sp>
        <p:nvSpPr>
          <p:cNvPr id="47" name="RTxt12"/>
          <p:cNvSpPr/>
          <p:nvPr/>
        </p:nvSpPr>
        <p:spPr>
          <a:xfrm>
            <a:off x="4837200" y="47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外部データ取り込み検討・PoC</a:t>
            </a:r>
          </a:p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ゴシック"/>
                <a:ea typeface="BIZ UDPゴシック"/>
              </a:rPr>
              <a:t>4〜8週間</a:t>
            </a:r>
          </a:p>
        </p:txBody>
      </p:sp>
      <p:sp>
        <p:nvSpPr>
          <p:cNvPr id="50" name="RBg2"/>
          <p:cNvSpPr/>
          <p:nvPr/>
        </p:nvSpPr>
        <p:spPr>
          <a:xfrm>
            <a:off x="8017200" y="800000"/>
            <a:ext cx="3580000" cy="5800000"/>
          </a:xfrm>
          <a:prstGeom prst="roundRect">
            <a:avLst>
              <a:gd name="adj" fmla="val 2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" name="RHdr2"/>
          <p:cNvSpPr/>
          <p:nvPr/>
        </p:nvSpPr>
        <p:spPr>
          <a:xfrm>
            <a:off x="8017200" y="800000"/>
            <a:ext cx="358000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0" rIns="137160" bIns="0" anchor="ctr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長期（6〜12ヶ月）</a:t>
            </a:r>
          </a:p>
        </p:txBody>
      </p:sp>
      <p:sp>
        <p:nvSpPr>
          <p:cNvPr id="52" name="RNum20"/>
          <p:cNvSpPr/>
          <p:nvPr/>
        </p:nvSpPr>
        <p:spPr>
          <a:xfrm>
            <a:off x="8154360" y="150000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1</a:t>
            </a:r>
          </a:p>
        </p:txBody>
      </p:sp>
      <p:sp>
        <p:nvSpPr>
          <p:cNvPr id="53" name="RTxt20"/>
          <p:cNvSpPr/>
          <p:nvPr/>
        </p:nvSpPr>
        <p:spPr>
          <a:xfrm>
            <a:off x="8617200" y="15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A/Bテストのスケール化とROI評価フレーム</a:t>
            </a:r>
          </a:p>
        </p:txBody>
      </p:sp>
      <p:sp>
        <p:nvSpPr>
          <p:cNvPr id="54" name="RNum21"/>
          <p:cNvSpPr/>
          <p:nvPr/>
        </p:nvSpPr>
        <p:spPr>
          <a:xfrm>
            <a:off x="8154360" y="310000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2</a:t>
            </a:r>
          </a:p>
        </p:txBody>
      </p:sp>
      <p:sp>
        <p:nvSpPr>
          <p:cNvPr id="55" name="RTxt21"/>
          <p:cNvSpPr/>
          <p:nvPr/>
        </p:nvSpPr>
        <p:spPr>
          <a:xfrm>
            <a:off x="8617200" y="31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公平性・説明性の定量化フレーム</a:t>
            </a:r>
          </a:p>
        </p:txBody>
      </p:sp>
      <p:sp>
        <p:nvSpPr>
          <p:cNvPr id="56" name="RNum22"/>
          <p:cNvSpPr/>
          <p:nvPr/>
        </p:nvSpPr>
        <p:spPr>
          <a:xfrm>
            <a:off x="8154360" y="470000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3</a:t>
            </a:r>
          </a:p>
        </p:txBody>
      </p:sp>
      <p:sp>
        <p:nvSpPr>
          <p:cNvPr id="57" name="RTxt22"/>
          <p:cNvSpPr/>
          <p:nvPr/>
        </p:nvSpPr>
        <p:spPr>
          <a:xfrm>
            <a:off x="8617200" y="4700000"/>
            <a:ext cx="288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12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運用ガバナンス定着化（定期レビュー、SLA、インシデント対応）</a:t>
            </a:r>
          </a:p>
        </p:txBody>
      </p:sp>
    </p:spTree>
    <p:extLst>
      <p:ext uri="{BB962C8B-B14F-4D97-AF65-F5344CB8AC3E}">
        <p14:creationId xmlns:p14="http://schemas.microsoft.com/office/powerpoint/2010/main" val="376773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570D2F28-5AB6-4422-91B8-B5B078AD5DC3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095500"/>
          <a:ext cx="1016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221704525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21130420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354105156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成果物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状態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</a:rPr>
                        <a:t>参照先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177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提案書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提供資料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5275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契約書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合意済（2025-10-01）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提供資料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0041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スケジュール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artifacts/スケジュール資料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7703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議事録 M01/M02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artifacts/meeting_minutes/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054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中間報告書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提出済（M02）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artifacts/reports/報告資料_2025-10-29.md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930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最終報告書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提出日 2025-11-11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本書</a:t>
                      </a:r>
                    </a:p>
                  </a:txBody>
                  <a:tcPr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287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分析補足・再現性情報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ゴシック"/>
                          <a:ea typeface="BIZ UDPゴシック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ゴシック"/>
                          <a:ea typeface="BIZ UDPゴシック"/>
                        </a:rPr>
                        <a:t>artifacts/analysis_outputs/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0520"/>
                  </a:ext>
                </a:extLst>
              </a:tr>
            </a:tbl>
          </a:graphicData>
        </a:graphic>
      </p:graphicFrame>
      <p:sp>
        <p:nvSpPr>
          <p:cNvPr id="10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9. 成果物サマリー</a:t>
            </a:r>
          </a:p>
        </p:txBody>
      </p:sp>
      <p:sp>
        <p:nvSpPr>
          <p:cNvPr id="10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964113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/>
          <p:nvPr/>
        </p:nvSpPr>
        <p:spPr>
          <a:xfrm>
            <a:off x="457200" y="9144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24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11. 提案・契約との差分管理</a:t>
            </a:r>
          </a:p>
        </p:txBody>
      </p:sp>
      <p:sp>
        <p:nvSpPr>
          <p:cNvPr id="21" name="TL"/>
          <p:cNvSpPr/>
          <p:nvPr/>
        </p:nvSpPr>
        <p:spPr>
          <a:xfrm>
            <a:off x="457200" y="640080"/>
            <a:ext cx="27432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DiffBg0"/>
          <p:cNvSpPr/>
          <p:nvPr/>
        </p:nvSpPr>
        <p:spPr>
          <a:xfrm>
            <a:off x="457200" y="800000"/>
            <a:ext cx="11277600" cy="750000"/>
          </a:xfrm>
          <a:prstGeom prst="roundRect">
            <a:avLst>
              <a:gd name="adj" fmla="val 5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" name="DiffTxt0"/>
          <p:cNvSpPr/>
          <p:nvPr/>
        </p:nvSpPr>
        <p:spPr>
          <a:xfrm>
            <a:off x="640080" y="891440"/>
            <a:ext cx="10912000" cy="567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成果物</a:t>
            </a:r>
            <a:r>
              <a:rPr lang="ja-JP" sz="1400" dirty="0">
                <a:solidFill>
                  <a:srgbClr val="3D3D3D"/>
                </a:solidFill>
                <a:latin typeface="BIZ UDPゴシック"/>
                <a:ea typeface="BIZ UDPゴシック"/>
              </a:rPr>
              <a:t>　　</a:t>
            </a:r>
            <a:r>
              <a:rPr lang="ja-JP" sz="1400" b="1" dirty="0">
                <a:solidFill>
                  <a:srgbClr val="4A7A48"/>
                </a:solidFill>
                <a:latin typeface="BIZ UDPゴシック"/>
                <a:ea typeface="BIZ UDPゴシック"/>
              </a:rPr>
              <a:t>差分なし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　　全成果物は契約定義どおり作成・格納済み</a:t>
            </a:r>
          </a:p>
        </p:txBody>
      </p:sp>
      <p:sp>
        <p:nvSpPr>
          <p:cNvPr id="32" name="DiffBg1"/>
          <p:cNvSpPr/>
          <p:nvPr/>
        </p:nvSpPr>
        <p:spPr>
          <a:xfrm>
            <a:off x="457200" y="1700000"/>
            <a:ext cx="11277600" cy="750000"/>
          </a:xfrm>
          <a:prstGeom prst="roundRect">
            <a:avLst>
              <a:gd name="adj" fmla="val 5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3" name="DiffTxt1"/>
          <p:cNvSpPr/>
          <p:nvPr/>
        </p:nvSpPr>
        <p:spPr>
          <a:xfrm>
            <a:off x="640080" y="1791440"/>
            <a:ext cx="10912000" cy="567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スコープ</a:t>
            </a:r>
            <a:r>
              <a:rPr lang="ja-JP" sz="1400" dirty="0">
                <a:solidFill>
                  <a:srgbClr val="3D3D3D"/>
                </a:solidFill>
                <a:latin typeface="BIZ UDPゴシック"/>
                <a:ea typeface="BIZ UDPゴシック"/>
              </a:rPr>
              <a:t>　　</a:t>
            </a:r>
            <a:r>
              <a:rPr lang="ja-JP" sz="1400" b="1" dirty="0">
                <a:solidFill>
                  <a:srgbClr val="4A7A48"/>
                </a:solidFill>
                <a:latin typeface="BIZ UDPゴシック"/>
                <a:ea typeface="BIZ UDPゴシック"/>
              </a:rPr>
              <a:t>差分なし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　　契約範囲内で実施。外部データ取込・本番実装は行っていない</a:t>
            </a:r>
          </a:p>
        </p:txBody>
      </p:sp>
      <p:sp>
        <p:nvSpPr>
          <p:cNvPr id="34" name="DiffBg2"/>
          <p:cNvSpPr/>
          <p:nvPr/>
        </p:nvSpPr>
        <p:spPr>
          <a:xfrm>
            <a:off x="457200" y="2600000"/>
            <a:ext cx="11277600" cy="750000"/>
          </a:xfrm>
          <a:prstGeom prst="roundRect">
            <a:avLst>
              <a:gd name="adj" fmla="val 5000"/>
            </a:avLst>
          </a:prstGeom>
          <a:solidFill>
            <a:srgbClr val="F7F5F2"/>
          </a:solidFill>
          <a:ln w="6350">
            <a:solidFill>
              <a:srgbClr val="E0DC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5" name="DiffTxt2"/>
          <p:cNvSpPr/>
          <p:nvPr/>
        </p:nvSpPr>
        <p:spPr>
          <a:xfrm>
            <a:off x="640080" y="2691440"/>
            <a:ext cx="10912000" cy="567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ゴシック"/>
                <a:ea typeface="BIZ UDPゴシック"/>
              </a:rPr>
              <a:t>KPI / 受入基準</a:t>
            </a:r>
            <a:r>
              <a:rPr lang="ja-JP" sz="1400" dirty="0">
                <a:solidFill>
                  <a:srgbClr val="3D3D3D"/>
                </a:solidFill>
                <a:latin typeface="BIZ UDPゴシック"/>
                <a:ea typeface="BIZ UDPゴシック"/>
              </a:rPr>
              <a:t>　　</a:t>
            </a:r>
            <a:r>
              <a:rPr lang="ja-JP" sz="1400" b="1" dirty="0">
                <a:solidFill>
                  <a:srgbClr val="4A7A48"/>
                </a:solidFill>
                <a:latin typeface="BIZ UDPゴシック"/>
                <a:ea typeface="BIZ UDPゴシック"/>
              </a:rPr>
              <a:t>差分なし</a:t>
            </a: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　　最終成果物は契約納品日（2025-11-11）に提出。受入基準は契約に従い運用</a:t>
            </a:r>
          </a:p>
        </p:txBody>
      </p:sp>
      <p:sp>
        <p:nvSpPr>
          <p:cNvPr id="50" name="PayBg"/>
          <p:cNvSpPr/>
          <p:nvPr/>
        </p:nvSpPr>
        <p:spPr>
          <a:xfrm>
            <a:off x="457200" y="3550000"/>
            <a:ext cx="11277600" cy="3200000"/>
          </a:xfrm>
          <a:prstGeom prst="roundRect">
            <a:avLst>
              <a:gd name="adj" fmla="val 2000"/>
            </a:avLst>
          </a:prstGeom>
          <a:solidFill>
            <a:srgbClr val="FDF0EC"/>
          </a:solidFill>
          <a:ln w="12700">
            <a:solidFill>
              <a:srgbClr val="8B2500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" name="PayTxt"/>
          <p:cNvSpPr/>
          <p:nvPr/>
        </p:nvSpPr>
        <p:spPr>
          <a:xfrm>
            <a:off x="640080" y="3700000"/>
            <a:ext cx="10912000" cy="2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契約形態・支払条件 ─ 支払遅延なし</a:t>
            </a:r>
          </a:p>
          <a:p>
            <a:pPr algn="l">
              <a:spcAft>
                <a:spcPts val="300"/>
              </a:spcAft>
              <a:buNone/>
            </a:pP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固定価格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: 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税抜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5,250,000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円（税込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5,775,000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円）、支払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2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回分割（着手金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50%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、検収金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50%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）</a:t>
            </a:r>
          </a:p>
          <a:p>
            <a:pPr algn="l">
              <a:spcAft>
                <a:spcPts val="300"/>
              </a:spcAft>
              <a:buNone/>
            </a:pP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着手金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: 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契約条件に従い請求・入金確認まで完了</a:t>
            </a:r>
          </a:p>
          <a:p>
            <a:pPr algn="l">
              <a:spcAft>
                <a:spcPts val="300"/>
              </a:spcAft>
              <a:buNone/>
            </a:pP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第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2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回支払期日は契約書（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2025-11-19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）を正とし、スケジュール（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2025-11-18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）は内部管理日付として整理済</a:t>
            </a:r>
          </a:p>
          <a:p>
            <a:pPr algn="l">
              <a:spcAft>
                <a:spcPts val="300"/>
              </a:spcAft>
              <a:buNone/>
            </a:pP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結論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: 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現時点で支払遅延は発生しておらず、請求</a:t>
            </a:r>
            <a:r>
              <a:rPr lang="en-US" altLang="ja-JP" sz="1600" b="1">
                <a:solidFill>
                  <a:srgbClr val="8B2500"/>
                </a:solidFill>
                <a:latin typeface="BIZ UDPゴシック"/>
                <a:ea typeface="BIZ UDPゴシック"/>
              </a:rPr>
              <a:t>/</a:t>
            </a:r>
            <a:r>
              <a:rPr lang="ja-JP" altLang="en-US" sz="1600" b="1">
                <a:solidFill>
                  <a:srgbClr val="8B2500"/>
                </a:solidFill>
                <a:latin typeface="BIZ UDPゴシック"/>
                <a:ea typeface="BIZ UDPゴシック"/>
              </a:rPr>
              <a:t>入金トレースも確認済み</a:t>
            </a:r>
            <a:endParaRPr lang="ja-JP" sz="1200" dirty="0">
              <a:solidFill>
                <a:srgbClr val="3D3D3D"/>
              </a:solidFill>
              <a:latin typeface="BIZ UDPゴシック"/>
              <a:ea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731081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ll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" name="AccLine"/>
          <p:cNvSpPr/>
          <p:nvPr/>
        </p:nvSpPr>
        <p:spPr>
          <a:xfrm>
            <a:off x="609600" y="1400000"/>
            <a:ext cx="3600000" cy="36576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Title"/>
          <p:cNvSpPr/>
          <p:nvPr/>
        </p:nvSpPr>
        <p:spPr>
          <a:xfrm>
            <a:off x="609600" y="8000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ja-JP" sz="32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10. 総括</a:t>
            </a:r>
          </a:p>
        </p:txBody>
      </p:sp>
      <p:sp>
        <p:nvSpPr>
          <p:cNvPr id="30" name="SumText"/>
          <p:cNvSpPr/>
          <p:nvPr/>
        </p:nvSpPr>
        <p:spPr>
          <a:xfrm>
            <a:off x="609600" y="1600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400"/>
              </a:lnSpc>
              <a:buNone/>
            </a:pPr>
            <a:r>
              <a:rPr lang="ja-JP" sz="1400" dirty="0">
                <a:solidFill>
                  <a:srgbClr val="AAAAAA"/>
                </a:solidFill>
                <a:latin typeface="BIZ UDPゴシック"/>
                <a:ea typeface="BIZ UDPゴシック"/>
              </a:rPr>
              <a:t>契約に定める範囲内でEDA、ベースラインおよび比較モデル構築、説明可能性資料、監査証跡情報の整理を完了した。主要モデル指標（AUC ≈ 0.925、Precision@Top10% ≈ 0.589）は、接触優先度付け支援として実務的価値を示している。</a:t>
            </a:r>
          </a:p>
        </p:txBody>
      </p:sp>
      <p:sp>
        <p:nvSpPr>
          <p:cNvPr id="40" name="ABg0"/>
          <p:cNvSpPr/>
          <p:nvPr/>
        </p:nvSpPr>
        <p:spPr>
          <a:xfrm>
            <a:off x="609600" y="3200000"/>
            <a:ext cx="3400000" cy="2000000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6350">
            <a:solidFill>
              <a:srgbClr val="3D3D3D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1" name="ATxt0"/>
          <p:cNvSpPr/>
          <p:nvPr/>
        </p:nvSpPr>
        <p:spPr>
          <a:xfrm>
            <a:off x="792480" y="3337160"/>
            <a:ext cx="3034240" cy="172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2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01</a:t>
            </a:r>
          </a:p>
          <a:p>
            <a:pPr algn="l">
              <a:spcAft>
                <a:spcPts val="200"/>
              </a:spcAft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duration取り扱い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AAAAAA"/>
                </a:solidFill>
                <a:latin typeface="BIZ UDPゴシック"/>
                <a:ea typeface="BIZ UDPゴシック"/>
              </a:rPr>
              <a:t>事前運用では必ず除外するルールを適用する</a:t>
            </a:r>
          </a:p>
        </p:txBody>
      </p:sp>
      <p:sp>
        <p:nvSpPr>
          <p:cNvPr id="43" name="ABg1"/>
          <p:cNvSpPr/>
          <p:nvPr/>
        </p:nvSpPr>
        <p:spPr>
          <a:xfrm>
            <a:off x="4267200" y="3200000"/>
            <a:ext cx="3400000" cy="2000000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6350">
            <a:solidFill>
              <a:srgbClr val="3D3D3D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4" name="ATxt1"/>
          <p:cNvSpPr/>
          <p:nvPr/>
        </p:nvSpPr>
        <p:spPr>
          <a:xfrm>
            <a:off x="4450080" y="3337160"/>
            <a:ext cx="3034240" cy="172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2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02</a:t>
            </a:r>
          </a:p>
          <a:p>
            <a:pPr algn="l">
              <a:spcAft>
                <a:spcPts val="200"/>
              </a:spcAft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監査証跡の本番化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AAAAAA"/>
                </a:solidFill>
                <a:latin typeface="BIZ UDPゴシック"/>
                <a:ea typeface="BIZ UDPゴシック"/>
              </a:rPr>
              <a:t>監査証跡・アクセス制御・説明ログの本番化対応を行う</a:t>
            </a:r>
          </a:p>
        </p:txBody>
      </p:sp>
      <p:sp>
        <p:nvSpPr>
          <p:cNvPr id="46" name="ABg2"/>
          <p:cNvSpPr/>
          <p:nvPr/>
        </p:nvSpPr>
        <p:spPr>
          <a:xfrm>
            <a:off x="7924800" y="3200000"/>
            <a:ext cx="3400000" cy="2000000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6350">
            <a:solidFill>
              <a:srgbClr val="3D3D3D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47" name="ATxt2"/>
          <p:cNvSpPr/>
          <p:nvPr/>
        </p:nvSpPr>
        <p:spPr>
          <a:xfrm>
            <a:off x="8107680" y="3337160"/>
            <a:ext cx="3034240" cy="172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ja-JP" sz="2400" b="1" dirty="0">
                <a:solidFill>
                  <a:srgbClr val="8B2500"/>
                </a:solidFill>
                <a:latin typeface="BIZ UDPゴシック"/>
                <a:ea typeface="BIZ UDPゴシック"/>
              </a:rPr>
              <a:t>03</a:t>
            </a:r>
          </a:p>
          <a:p>
            <a:pPr algn="l">
              <a:spcAft>
                <a:spcPts val="200"/>
              </a:spcAft>
              <a:buNone/>
            </a:pPr>
            <a:r>
              <a:rPr lang="ja-JP" sz="1600" b="1" dirty="0">
                <a:solidFill>
                  <a:srgbClr val="FFFFFF"/>
                </a:solidFill>
                <a:latin typeface="BIZ UDPゴシック"/>
                <a:ea typeface="BIZ UDPゴシック"/>
              </a:rPr>
              <a:t>パイロット実施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AAAAAA"/>
                </a:solidFill>
                <a:latin typeface="BIZ UDPゴシック"/>
                <a:ea typeface="BIZ UDPゴシック"/>
              </a:rPr>
              <a:t>A/Bテストによる実績確認と閾値調整を行う</a:t>
            </a:r>
          </a:p>
        </p:txBody>
      </p:sp>
      <p:sp>
        <p:nvSpPr>
          <p:cNvPr id="60" name="Footer"/>
          <p:cNvSpPr/>
          <p:nvPr/>
        </p:nvSpPr>
        <p:spPr>
          <a:xfrm>
            <a:off x="609600" y="5700000"/>
            <a:ext cx="10972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lnSpc>
                <a:spcPts val="2000"/>
              </a:lnSpc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本書をもって本契約範囲での作業は完了報告とする。</a:t>
            </a:r>
          </a:p>
          <a:p>
            <a:pPr algn="l">
              <a:lnSpc>
                <a:spcPts val="2000"/>
              </a:lnSpc>
              <a:buNone/>
            </a:pPr>
            <a:r>
              <a:rPr lang="ja-JP" sz="1200" dirty="0">
                <a:solidFill>
                  <a:srgbClr val="6B6B6B"/>
                </a:solidFill>
                <a:latin typeface="BIZ UDPゴシック"/>
                <a:ea typeface="BIZ UDPゴシック"/>
              </a:rPr>
              <a:t>後続の本番実装・運用支援については、別途見積・契約を検討されたい。</a:t>
            </a:r>
          </a:p>
        </p:txBody>
      </p:sp>
    </p:spTree>
    <p:extLst>
      <p:ext uri="{BB962C8B-B14F-4D97-AF65-F5344CB8AC3E}">
        <p14:creationId xmlns:p14="http://schemas.microsoft.com/office/powerpoint/2010/main" val="223296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Kyobashi Report">
      <a:dk1>
        <a:srgbClr val="1A1A1A"/>
      </a:dk1>
      <a:lt1>
        <a:srgbClr val="FFFFFF"/>
      </a:lt1>
      <a:dk2>
        <a:srgbClr val="3D3D3D"/>
      </a:dk2>
      <a:lt2>
        <a:srgbClr val="F2F0ED"/>
      </a:lt2>
      <a:accent1>
        <a:srgbClr val="8B2500"/>
      </a:accent1>
      <a:accent2>
        <a:srgbClr val="4A4A4A"/>
      </a:accent2>
      <a:accent3>
        <a:srgbClr val="6B6B6B"/>
      </a:accent3>
      <a:accent4>
        <a:srgbClr val="C44E2B"/>
      </a:accent4>
      <a:accent5>
        <a:srgbClr val="2B2B2B"/>
      </a:accent5>
      <a:accent6>
        <a:srgbClr val="999999"/>
      </a:accent6>
      <a:hlink>
        <a:srgbClr val="467886"/>
      </a:hlink>
      <a:folHlink>
        <a:srgbClr val="96607D"/>
      </a:folHlink>
    </a:clrScheme>
    <a:fontScheme name="BIZ UDPGothic">
      <a:majorFont>
        <a:latin typeface="BIZ UDPゴシック" panose="02110004020202020204"/>
        <a:ea typeface="BIZ UDPゴシック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 panose="02110004020202020204"/>
        <a:ea typeface="BIZ UDP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B55274-CD84-481C-B13E-8AE21DF5DC2B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1959</Words>
  <Application>Microsoft Office PowerPoint</Application>
  <PresentationFormat>ワイド画面</PresentationFormat>
  <Paragraphs>324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0" baseType="lpstr">
      <vt:lpstr>BIZ UDPゴシック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5</cp:revision>
  <dcterms:created xsi:type="dcterms:W3CDTF">2026-03-19T02:24:10Z</dcterms:created>
  <dcterms:modified xsi:type="dcterms:W3CDTF">2026-03-20T01:41:59Z</dcterms:modified>
</cp:coreProperties>
</file>