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59" r:id="rId3"/>
    <p:sldId id="261" r:id="rId4"/>
    <p:sldId id="263" r:id="rId5"/>
    <p:sldId id="266" r:id="rId6"/>
    <p:sldId id="267" r:id="rId7"/>
    <p:sldId id="273" r:id="rId8"/>
    <p:sldId id="274" r:id="rId9"/>
    <p:sldId id="275" r:id="rId10"/>
    <p:sldId id="276" r:id="rId11"/>
    <p:sldId id="277" r:id="rId12"/>
    <p:sldId id="281" r:id="rId13"/>
    <p:sldId id="282" r:id="rId14"/>
    <p:sldId id="296" r:id="rId15"/>
    <p:sldId id="290" r:id="rId16"/>
    <p:sldId id="295" r:id="rId17"/>
    <p:sldId id="292" r:id="rId18"/>
    <p:sldId id="293" r:id="rId19"/>
    <p:sldId id="29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700" autoAdjust="0"/>
  </p:normalViewPr>
  <p:slideViewPr>
    <p:cSldViewPr snapToGrid="0">
      <p:cViewPr varScale="1">
        <p:scale>
          <a:sx n="131" d="100"/>
          <a:sy n="131" d="100"/>
        </p:scale>
        <p:origin x="1401"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EB1AA9-4D44-42DE-9310-1B1D76F62A90}" type="datetimeFigureOut">
              <a:rPr kumimoji="1" lang="ja-JP" altLang="en-US" smtClean="0"/>
              <a:t>2026/4/8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F4DEE-4D30-4B17-969A-13F4DC1F7C5F}" type="slidenum">
              <a:rPr kumimoji="1" lang="ja-JP" altLang="en-US" smtClean="0"/>
              <a:t>‹#›</a:t>
            </a:fld>
            <a:endParaRPr kumimoji="1" lang="ja-JP" altLang="en-US"/>
          </a:p>
        </p:txBody>
      </p:sp>
    </p:spTree>
    <p:extLst>
      <p:ext uri="{BB962C8B-B14F-4D97-AF65-F5344CB8AC3E}">
        <p14:creationId xmlns:p14="http://schemas.microsoft.com/office/powerpoint/2010/main" val="21060172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備考</a:t>
            </a:r>
            <a:r>
              <a:rPr kumimoji="1" lang="en-US" altLang="ja-JP" dirty="0"/>
              <a:t>】</a:t>
            </a:r>
          </a:p>
          <a:p>
            <a:r>
              <a:rPr kumimoji="1" lang="ja-JP" altLang="en-US" dirty="0"/>
              <a:t>スコープ対象外</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1" dirty="0">
                <a:solidFill>
                  <a:srgbClr val="8B2500"/>
                </a:solidFill>
                <a:latin typeface="BIZ UDPGothic"/>
                <a:ea typeface="BIZ UDPGothic"/>
              </a:rPr>
              <a:t>✖  </a:t>
            </a:r>
            <a:r>
              <a:rPr lang="ja-JP" altLang="ja-JP" sz="1200" dirty="0">
                <a:solidFill>
                  <a:srgbClr val="333333"/>
                </a:solidFill>
                <a:latin typeface="BIZ UDPGothic"/>
                <a:ea typeface="BIZ UDPGothic"/>
              </a:rPr>
              <a:t>実運用システムへの組込み、API化、電子カルテ連携</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1" dirty="0">
                <a:solidFill>
                  <a:srgbClr val="8B2500"/>
                </a:solidFill>
                <a:latin typeface="BIZ UDPGothic"/>
                <a:ea typeface="BIZ UDPGothic"/>
              </a:rPr>
              <a:t>✖  </a:t>
            </a:r>
            <a:r>
              <a:rPr lang="ja-JP" altLang="ja-JP" sz="1200" dirty="0">
                <a:solidFill>
                  <a:srgbClr val="333333"/>
                </a:solidFill>
                <a:latin typeface="BIZ UDPGothic"/>
                <a:ea typeface="BIZ UDPGothic"/>
              </a:rPr>
              <a:t>医師の診断を代替する臨床判断ロジックの確定</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1" dirty="0">
                <a:solidFill>
                  <a:srgbClr val="8B2500"/>
                </a:solidFill>
                <a:latin typeface="BIZ UDPGothic"/>
                <a:ea typeface="BIZ UDPGothic"/>
              </a:rPr>
              <a:t>✖  </a:t>
            </a:r>
            <a:r>
              <a:rPr lang="ja-JP" altLang="ja-JP" sz="1200" dirty="0">
                <a:solidFill>
                  <a:srgbClr val="333333"/>
                </a:solidFill>
                <a:latin typeface="BIZ UDPGothic"/>
                <a:ea typeface="BIZ UDPGothic"/>
              </a:rPr>
              <a:t>外部データ取得、追加アノテーション、他システムとのデータ統合</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1" dirty="0">
                <a:solidFill>
                  <a:srgbClr val="8B2500"/>
                </a:solidFill>
                <a:latin typeface="BIZ UDPGothic"/>
                <a:ea typeface="BIZ UDPGothic"/>
              </a:rPr>
              <a:t>✖  </a:t>
            </a:r>
            <a:r>
              <a:rPr lang="ja-JP" altLang="ja-JP" sz="1200" dirty="0">
                <a:solidFill>
                  <a:srgbClr val="333333"/>
                </a:solidFill>
                <a:latin typeface="BIZ UDPGothic"/>
                <a:ea typeface="BIZ UDPGothic"/>
              </a:rPr>
              <a:t>本データに存在しないKPIの算出</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1" dirty="0">
                <a:solidFill>
                  <a:srgbClr val="8B2500"/>
                </a:solidFill>
                <a:latin typeface="BIZ UDPGothic"/>
                <a:ea typeface="BIZ UDPGothic"/>
              </a:rPr>
              <a:t>✖  </a:t>
            </a:r>
            <a:r>
              <a:rPr lang="ja-JP" altLang="ja-JP" sz="1200" dirty="0">
                <a:solidFill>
                  <a:srgbClr val="333333"/>
                </a:solidFill>
                <a:latin typeface="BIZ UDPGothic"/>
                <a:ea typeface="BIZ UDPGothic"/>
              </a:rPr>
              <a:t>本番監視、継続学習、MLOps基盤構築</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1" dirty="0">
                <a:solidFill>
                  <a:srgbClr val="8B2500"/>
                </a:solidFill>
                <a:latin typeface="BIZ UDPGothic"/>
                <a:ea typeface="BIZ UDPGothic"/>
              </a:rPr>
              <a:t>✖  </a:t>
            </a:r>
            <a:r>
              <a:rPr lang="ja-JP" altLang="ja-JP" sz="1200" dirty="0">
                <a:solidFill>
                  <a:srgbClr val="333333"/>
                </a:solidFill>
                <a:latin typeface="BIZ UDPGothic"/>
                <a:ea typeface="BIZ UDPGothic"/>
              </a:rPr>
              <a:t>別途評価用データを前提とした本番精度保証</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1" dirty="0">
                <a:solidFill>
                  <a:srgbClr val="8B2500"/>
                </a:solidFill>
                <a:latin typeface="BIZ UDPGothic"/>
                <a:ea typeface="BIZ UDPGothic"/>
              </a:rPr>
              <a:t>✖  </a:t>
            </a:r>
            <a:r>
              <a:rPr lang="ja-JP" altLang="ja-JP" sz="1200" dirty="0">
                <a:solidFill>
                  <a:srgbClr val="333333"/>
                </a:solidFill>
                <a:latin typeface="BIZ UDPGothic"/>
                <a:ea typeface="BIZ UDPGothic"/>
              </a:rPr>
              <a:t>個票レベルでの個人特定、患者追跡、属性拡張</a:t>
            </a:r>
          </a:p>
        </p:txBody>
      </p:sp>
      <p:sp>
        <p:nvSpPr>
          <p:cNvPr id="4" name="スライド番号プレースホルダー 3"/>
          <p:cNvSpPr>
            <a:spLocks noGrp="1"/>
          </p:cNvSpPr>
          <p:nvPr>
            <p:ph type="sldNum" sz="quarter" idx="5"/>
          </p:nvPr>
        </p:nvSpPr>
        <p:spPr/>
        <p:txBody>
          <a:bodyPr/>
          <a:lstStyle/>
          <a:p>
            <a:fld id="{A2DF4DEE-4D30-4B17-969A-13F4DC1F7C5F}" type="slidenum">
              <a:rPr kumimoji="1" lang="ja-JP" altLang="en-US" smtClean="0"/>
              <a:t>6</a:t>
            </a:fld>
            <a:endParaRPr kumimoji="1" lang="ja-JP" altLang="en-US"/>
          </a:p>
        </p:txBody>
      </p:sp>
    </p:spTree>
    <p:extLst>
      <p:ext uri="{BB962C8B-B14F-4D97-AF65-F5344CB8AC3E}">
        <p14:creationId xmlns:p14="http://schemas.microsoft.com/office/powerpoint/2010/main" val="4076858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BBFCB3-A714-81CC-66C1-571CA894347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7AC54D2-10A9-596D-2963-8924358333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32400BF-407E-30FA-CD46-5176068FAFDD}"/>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54686F74-3A46-AF73-E240-6C8354D0DE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584542-3137-4AF5-54B7-6A279EF557EE}"/>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3395068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2F1194-E25E-A3F9-978B-3886ED19BD3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E16A0BD-4F03-DA71-EA1E-DDC3DEED72C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3232BC5-61BF-A654-56B4-A0826D6D0F07}"/>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CAC3EB8C-F7E8-DDA8-777C-06F7A28D3C4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4FC771-C78D-45C3-8468-DB3ECB5C38D9}"/>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3422012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53BC71-3F8D-3B0B-5EE7-087912A666A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57DCD2-D3AC-6611-48C7-FA7F39B751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078AF0B-B08C-E9BE-5934-9B97E2A818B7}"/>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E43A4103-58BE-04CD-4E39-7AA04EB553D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4BBD02F-73D1-7956-4743-6FE9725074F7}"/>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1024255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FB9FA9-9E84-98CB-2CA5-4EC4AFB9810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3BB706B-A51F-F3DE-27F0-FCEC429F216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F5C405-5B6C-2364-448B-9E8113957CD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8DF42D3-86F5-AED3-9746-7AA377C6671C}"/>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6" name="フッター プレースホルダー 5">
            <a:extLst>
              <a:ext uri="{FF2B5EF4-FFF2-40B4-BE49-F238E27FC236}">
                <a16:creationId xmlns:a16="http://schemas.microsoft.com/office/drawing/2014/main" id="{CA47D082-A0BC-FF3D-D127-5AD6E572D60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9A8087A-7D34-2A7B-C8DE-04D759DA444D}"/>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3269007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237D2E-945F-D6AA-BD33-EA81FA8B8FD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D33C1DC-85E6-2923-70B5-A3AB44C424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2A59852-9982-784F-6C4C-67F7D527EBB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CC6FCD4-78C7-E8F6-09AF-251554A25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CFDED58-6421-757F-1714-51FAD6E3697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0026113-4767-8CBE-C310-0EB78C8E91B8}"/>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8" name="フッター プレースホルダー 7">
            <a:extLst>
              <a:ext uri="{FF2B5EF4-FFF2-40B4-BE49-F238E27FC236}">
                <a16:creationId xmlns:a16="http://schemas.microsoft.com/office/drawing/2014/main" id="{2B8A62EB-3FCB-65B2-7FBE-C75FFE9F163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10AE256-7766-5D44-7A45-EE001491AC2F}"/>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1474889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C15FD1-5808-482B-E9C0-4142F432176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1D144F7-3B8C-E3E7-907B-F4449BD7B407}"/>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4" name="フッター プレースホルダー 3">
            <a:extLst>
              <a:ext uri="{FF2B5EF4-FFF2-40B4-BE49-F238E27FC236}">
                <a16:creationId xmlns:a16="http://schemas.microsoft.com/office/drawing/2014/main" id="{9F37358F-805F-97FB-F34F-C00E3FD7D22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4A60D0D-34F9-6D19-C210-A0E8898032A6}"/>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407872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AEF7B73-FAF6-1103-97A5-839A465C8BDE}"/>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3" name="フッター プレースホルダー 2">
            <a:extLst>
              <a:ext uri="{FF2B5EF4-FFF2-40B4-BE49-F238E27FC236}">
                <a16:creationId xmlns:a16="http://schemas.microsoft.com/office/drawing/2014/main" id="{CC03F53A-5F6B-63C5-F1D9-6666757EC35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9703E38-3EE1-8ED6-6E2D-D732C6316CF9}"/>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1974981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35A9B4-2F55-9AE7-5D81-DD7D9A57733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168494C-42A5-F332-8631-8AE1893218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E1569BE-1758-A1A4-D08C-E6F05CB00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1D75B28-2260-A80B-F640-493ACBE33C56}"/>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6" name="フッター プレースホルダー 5">
            <a:extLst>
              <a:ext uri="{FF2B5EF4-FFF2-40B4-BE49-F238E27FC236}">
                <a16:creationId xmlns:a16="http://schemas.microsoft.com/office/drawing/2014/main" id="{ABE9A3CF-F9EB-6A24-4733-D9D750B9BD0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39C46B8-1A85-71C6-6CAD-B4DC9EFC7643}"/>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358022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3AAA3-67BB-7BF0-421C-4F22FF0539F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ADCDDE1-C945-315F-C8F5-C85E24B2EB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2D6009C-4977-F04A-DBD4-F2FD7CAB91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0318B6F-4A0B-CC8B-A6C1-78CD33EF7542}"/>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6" name="フッター プレースホルダー 5">
            <a:extLst>
              <a:ext uri="{FF2B5EF4-FFF2-40B4-BE49-F238E27FC236}">
                <a16:creationId xmlns:a16="http://schemas.microsoft.com/office/drawing/2014/main" id="{FF7C40B4-604D-6B99-E479-5EA46B6D71F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7D1DADC-939E-E706-4D65-7778067B6461}"/>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205932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0B32D2-FBDB-679A-2CDC-98360AA1F31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9C4D6A2-AE00-8C0D-8BCF-4E60F2065E0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CAA430-FA3E-A427-9ECB-9FB9C0F3CF0B}"/>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74B02D71-2AA1-78DA-2CBA-E5FD8B0162E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8EE809-693B-EA91-B3FD-36237C4CF940}"/>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115649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57B5A9-E0A5-DB9D-5FFE-FDC0206B2EC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5F90676-9B12-7C88-636C-49818E681C7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723A4B2-39CA-2FE8-35AA-356FF4339E5A}"/>
              </a:ext>
            </a:extLst>
          </p:cNvPr>
          <p:cNvSpPr>
            <a:spLocks noGrp="1"/>
          </p:cNvSpPr>
          <p:nvPr>
            <p:ph type="dt" sz="half" idx="10"/>
          </p:nvPr>
        </p:nvSpPr>
        <p:spPr/>
        <p:txBody>
          <a:bodyPr/>
          <a:lstStyle/>
          <a:p>
            <a:fld id="{2FB901F3-96E8-4D0A-844A-9D1BDE1E5B9E}"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48B16987-4BB0-A8D1-850F-8319A58FD98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FFD175-9F73-18B4-6F37-A8BBBC30801D}"/>
              </a:ext>
            </a:extLst>
          </p:cNvPr>
          <p:cNvSpPr>
            <a:spLocks noGrp="1"/>
          </p:cNvSpPr>
          <p:nvPr>
            <p:ph type="sldNum" sz="quarter" idx="12"/>
          </p:nvPr>
        </p:nvSpPr>
        <p:spPr/>
        <p:txBody>
          <a:bodyPr/>
          <a:lstStyle/>
          <a:p>
            <a:fld id="{2747BE48-BA0A-4036-B1D4-958535BCE59F}" type="slidenum">
              <a:rPr kumimoji="1" lang="ja-JP" altLang="en-US" smtClean="0"/>
              <a:t>‹#›</a:t>
            </a:fld>
            <a:endParaRPr kumimoji="1" lang="ja-JP" altLang="en-US"/>
          </a:p>
        </p:txBody>
      </p:sp>
    </p:spTree>
    <p:extLst>
      <p:ext uri="{BB962C8B-B14F-4D97-AF65-F5344CB8AC3E}">
        <p14:creationId xmlns:p14="http://schemas.microsoft.com/office/powerpoint/2010/main" val="2947324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807B875-FAF3-05D6-2942-C2020BDEF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D3EEF58-1802-FA06-1C3E-FBFEC5022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64920C1-2A3D-193F-6CD7-DC52DBAF95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B901F3-96E8-4D0A-844A-9D1BDE1E5B9E}"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CC163723-478A-7C9D-3230-9ACBCD6285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6BF767D-A56A-AA91-FB2D-5417B54148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47BE48-BA0A-4036-B1D4-958535BCE59F}" type="slidenum">
              <a:rPr kumimoji="1" lang="ja-JP" altLang="en-US" smtClean="0"/>
              <a:t>‹#›</a:t>
            </a:fld>
            <a:endParaRPr kumimoji="1" lang="ja-JP" altLang="en-US"/>
          </a:p>
        </p:txBody>
      </p:sp>
      <p:sp>
        <p:nvSpPr>
          <p:cNvPr id="900" name="BottomBar"/>
          <p:cNvSpPr/>
          <p:nvPr/>
        </p:nvSpPr>
        <p:spPr>
          <a:xfrm>
            <a:off x="0" y="6583050"/>
            <a:ext cx="12192000" cy="274320"/>
          </a:xfrm>
          <a:prstGeom prst="rect">
            <a:avLst/>
          </a:prstGeom>
          <a:solidFill>
            <a:srgbClr val="8B2500"/>
          </a:solidFill>
          <a:ln w="0">
            <a:noFill/>
          </a:ln>
        </p:spPr>
        <p:txBody>
          <a:bodyPr/>
          <a:lstStyle/>
          <a:p>
            <a:endParaRPr lang="ja-JP"/>
          </a:p>
        </p:txBody>
      </p:sp>
      <p:sp>
        <p:nvSpPr>
          <p:cNvPr id="901" name="LeftLine"/>
          <p:cNvSpPr/>
          <p:nvPr/>
        </p:nvSpPr>
        <p:spPr>
          <a:xfrm>
            <a:off x="0" y="0"/>
            <a:ext cx="73152" cy="6858000"/>
          </a:xfrm>
          <a:prstGeom prst="rect">
            <a:avLst/>
          </a:prstGeom>
          <a:solidFill>
            <a:srgbClr val="1A1A1A"/>
          </a:solidFill>
          <a:ln w="0">
            <a:noFill/>
          </a:ln>
        </p:spPr>
        <p:txBody>
          <a:bodyPr/>
          <a:lstStyle/>
          <a:p>
            <a:endParaRPr lang="ja-JP"/>
          </a:p>
        </p:txBody>
      </p:sp>
    </p:spTree>
    <p:extLst>
      <p:ext uri="{BB962C8B-B14F-4D97-AF65-F5344CB8AC3E}">
        <p14:creationId xmlns:p14="http://schemas.microsoft.com/office/powerpoint/2010/main" val="3792652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opBar"/>
          <p:cNvSpPr/>
          <p:nvPr/>
        </p:nvSpPr>
        <p:spPr>
          <a:xfrm>
            <a:off x="0" y="0"/>
            <a:ext cx="12192000" cy="2286000"/>
          </a:xfrm>
          <a:prstGeom prst="rect">
            <a:avLst/>
          </a:prstGeom>
          <a:solidFill>
            <a:srgbClr val="1A1A1A"/>
          </a:solidFill>
          <a:ln w="0">
            <a:noFill/>
          </a:ln>
        </p:spPr>
        <p:txBody>
          <a:bodyPr/>
          <a:lstStyle/>
          <a:p>
            <a:endParaRPr lang="ja-JP"/>
          </a:p>
        </p:txBody>
      </p:sp>
      <p:sp>
        <p:nvSpPr>
          <p:cNvPr id="11" name="RedLine"/>
          <p:cNvSpPr/>
          <p:nvPr/>
        </p:nvSpPr>
        <p:spPr>
          <a:xfrm>
            <a:off x="0" y="2286000"/>
            <a:ext cx="12192000" cy="73152"/>
          </a:xfrm>
          <a:prstGeom prst="rect">
            <a:avLst/>
          </a:prstGeom>
          <a:solidFill>
            <a:srgbClr val="8B2500"/>
          </a:solidFill>
          <a:ln w="0">
            <a:noFill/>
          </a:ln>
        </p:spPr>
        <p:txBody>
          <a:bodyPr/>
          <a:lstStyle/>
          <a:p>
            <a:endParaRPr lang="ja-JP"/>
          </a:p>
        </p:txBody>
      </p:sp>
      <p:sp>
        <p:nvSpPr>
          <p:cNvPr id="12" name="MainTitle"/>
          <p:cNvSpPr/>
          <p:nvPr/>
        </p:nvSpPr>
        <p:spPr>
          <a:xfrm>
            <a:off x="914400" y="457200"/>
            <a:ext cx="10363200" cy="1371600"/>
          </a:xfrm>
          <a:prstGeom prst="rect">
            <a:avLst/>
          </a:prstGeom>
          <a:noFill/>
          <a:ln w="0">
            <a:noFill/>
          </a:ln>
        </p:spPr>
        <p:txBody>
          <a:bodyPr anchor="ctr"/>
          <a:lstStyle/>
          <a:p>
            <a:pPr algn="l">
              <a:buNone/>
            </a:pPr>
            <a:r>
              <a:rPr lang="ja-JP" sz="3600" b="1" dirty="0">
                <a:solidFill>
                  <a:srgbClr val="FFFFFF"/>
                </a:solidFill>
                <a:latin typeface="BIZ UDPGothic"/>
                <a:ea typeface="BIZ UDPGothic"/>
              </a:rPr>
              <a:t>データ分析プロジェクト提案書</a:t>
            </a:r>
          </a:p>
          <a:p>
            <a:pPr algn="l">
              <a:buNone/>
            </a:pPr>
            <a:r>
              <a:rPr lang="ja-JP" sz="1800" dirty="0">
                <a:solidFill>
                  <a:srgbClr val="C8C8C8"/>
                </a:solidFill>
                <a:latin typeface="BIZ UDPGothic"/>
                <a:ea typeface="BIZ UDPGothic"/>
              </a:rPr>
              <a:t>胆疾患有無の判定支援に向けた分析基盤および初期予測モデルの整備</a:t>
            </a:r>
          </a:p>
        </p:txBody>
      </p:sp>
      <p:sp>
        <p:nvSpPr>
          <p:cNvPr id="13" name="ClientInfo"/>
          <p:cNvSpPr/>
          <p:nvPr/>
        </p:nvSpPr>
        <p:spPr>
          <a:xfrm>
            <a:off x="914400" y="2727717"/>
            <a:ext cx="10363200" cy="1143000"/>
          </a:xfrm>
          <a:prstGeom prst="rect">
            <a:avLst/>
          </a:prstGeom>
          <a:noFill/>
          <a:ln w="0">
            <a:noFill/>
          </a:ln>
        </p:spPr>
        <p:txBody>
          <a:bodyPr anchor="t"/>
          <a:lstStyle/>
          <a:p>
            <a:pPr algn="l">
              <a:buNone/>
            </a:pPr>
            <a:r>
              <a:rPr lang="ja-JP" sz="1600" dirty="0">
                <a:solidFill>
                  <a:srgbClr val="4A4A4A"/>
                </a:solidFill>
                <a:latin typeface="BIZ UDPGothic"/>
                <a:ea typeface="BIZ UDPGothic"/>
              </a:rPr>
              <a:t>提出先：医療法人社団 恒一会 かえで総合病院様</a:t>
            </a:r>
          </a:p>
          <a:p>
            <a:pPr algn="l">
              <a:buNone/>
            </a:pPr>
            <a:r>
              <a:rPr lang="ja-JP" sz="1600" dirty="0">
                <a:solidFill>
                  <a:srgbClr val="4A4A4A"/>
                </a:solidFill>
                <a:latin typeface="BIZ UDPGothic"/>
                <a:ea typeface="BIZ UDPGothic"/>
              </a:rPr>
              <a:t>提出元：株式会社データアステル データサイエンス部</a:t>
            </a:r>
          </a:p>
        </p:txBody>
      </p:sp>
      <p:sp>
        <p:nvSpPr>
          <p:cNvPr id="15" name="Confidential"/>
          <p:cNvSpPr/>
          <p:nvPr/>
        </p:nvSpPr>
        <p:spPr>
          <a:xfrm>
            <a:off x="8686800" y="5943600"/>
            <a:ext cx="3048000" cy="457200"/>
          </a:xfrm>
          <a:prstGeom prst="rect">
            <a:avLst/>
          </a:prstGeom>
          <a:noFill/>
          <a:ln w="0">
            <a:noFill/>
          </a:ln>
        </p:spPr>
        <p:txBody>
          <a:bodyPr anchor="b"/>
          <a:lstStyle/>
          <a:p>
            <a:pPr algn="r">
              <a:buNone/>
            </a:pPr>
            <a:r>
              <a:rPr lang="en-US" sz="1000" dirty="0">
                <a:solidFill>
                  <a:srgbClr val="A0A0A0"/>
                </a:solidFill>
                <a:latin typeface="BIZ UDPGothic"/>
                <a:ea typeface="BIZ UDPGothic"/>
              </a:rPr>
              <a:t>CONFIDENTIAL</a:t>
            </a:r>
          </a:p>
        </p:txBody>
      </p:sp>
    </p:spTree>
    <p:extLst>
      <p:ext uri="{BB962C8B-B14F-4D97-AF65-F5344CB8AC3E}">
        <p14:creationId xmlns:p14="http://schemas.microsoft.com/office/powerpoint/2010/main" val="1273631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OCTitle"/>
          <p:cNvSpPr/>
          <p:nvPr/>
        </p:nvSpPr>
        <p:spPr>
          <a:xfrm>
            <a:off x="457200" y="228600"/>
            <a:ext cx="11277600" cy="548640"/>
          </a:xfrm>
          <a:prstGeom prst="rect">
            <a:avLst/>
          </a:prstGeom>
          <a:noFill/>
          <a:ln w="0">
            <a:noFill/>
          </a:ln>
        </p:spPr>
        <p:txBody>
          <a:bodyPr anchor="b"/>
          <a:lstStyle/>
          <a:p>
            <a:pPr algn="l">
              <a:buNone/>
            </a:pPr>
            <a:r>
              <a:rPr lang="ja-JP" sz="2800" b="1" dirty="0">
                <a:solidFill>
                  <a:srgbClr val="1A1A1A"/>
                </a:solidFill>
                <a:latin typeface="BIZ UDPGothic"/>
                <a:ea typeface="BIZ UDPGothic"/>
              </a:rPr>
              <a:t>目次</a:t>
            </a:r>
          </a:p>
        </p:txBody>
      </p:sp>
      <p:sp>
        <p:nvSpPr>
          <p:cNvPr id="21" name="TitleUnderline"/>
          <p:cNvSpPr/>
          <p:nvPr/>
        </p:nvSpPr>
        <p:spPr>
          <a:xfrm>
            <a:off x="457200" y="800100"/>
            <a:ext cx="1828800" cy="36576"/>
          </a:xfrm>
          <a:prstGeom prst="rect">
            <a:avLst/>
          </a:prstGeom>
          <a:solidFill>
            <a:srgbClr val="8B2500"/>
          </a:solidFill>
          <a:ln w="0">
            <a:noFill/>
          </a:ln>
        </p:spPr>
        <p:txBody>
          <a:bodyPr/>
          <a:lstStyle/>
          <a:p>
            <a:endParaRPr lang="ja-JP"/>
          </a:p>
        </p:txBody>
      </p:sp>
      <p:sp>
        <p:nvSpPr>
          <p:cNvPr id="30" name="TOCNum0"/>
          <p:cNvSpPr/>
          <p:nvPr/>
        </p:nvSpPr>
        <p:spPr>
          <a:xfrm>
            <a:off x="457200" y="109728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01</a:t>
            </a:r>
          </a:p>
        </p:txBody>
      </p:sp>
      <p:sp>
        <p:nvSpPr>
          <p:cNvPr id="31" name="TOCLabel0"/>
          <p:cNvSpPr/>
          <p:nvPr/>
        </p:nvSpPr>
        <p:spPr>
          <a:xfrm>
            <a:off x="914400" y="109728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背景</a:t>
            </a:r>
          </a:p>
        </p:txBody>
      </p:sp>
      <p:sp>
        <p:nvSpPr>
          <p:cNvPr id="32" name="TOCNum1"/>
          <p:cNvSpPr/>
          <p:nvPr/>
        </p:nvSpPr>
        <p:spPr>
          <a:xfrm>
            <a:off x="457200" y="146304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02</a:t>
            </a:r>
          </a:p>
        </p:txBody>
      </p:sp>
      <p:sp>
        <p:nvSpPr>
          <p:cNvPr id="33" name="TOCLabel1"/>
          <p:cNvSpPr/>
          <p:nvPr/>
        </p:nvSpPr>
        <p:spPr>
          <a:xfrm>
            <a:off x="914400" y="146304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目的</a:t>
            </a:r>
          </a:p>
        </p:txBody>
      </p:sp>
      <p:sp>
        <p:nvSpPr>
          <p:cNvPr id="34" name="TOCNum2"/>
          <p:cNvSpPr/>
          <p:nvPr/>
        </p:nvSpPr>
        <p:spPr>
          <a:xfrm>
            <a:off x="457200" y="182880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03</a:t>
            </a:r>
          </a:p>
        </p:txBody>
      </p:sp>
      <p:sp>
        <p:nvSpPr>
          <p:cNvPr id="35" name="TOCLabel2"/>
          <p:cNvSpPr/>
          <p:nvPr/>
        </p:nvSpPr>
        <p:spPr>
          <a:xfrm>
            <a:off x="914400" y="182880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スコープ</a:t>
            </a:r>
          </a:p>
        </p:txBody>
      </p:sp>
      <p:sp>
        <p:nvSpPr>
          <p:cNvPr id="36" name="TOCNum3"/>
          <p:cNvSpPr/>
          <p:nvPr/>
        </p:nvSpPr>
        <p:spPr>
          <a:xfrm>
            <a:off x="457200" y="219456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04</a:t>
            </a:r>
          </a:p>
        </p:txBody>
      </p:sp>
      <p:sp>
        <p:nvSpPr>
          <p:cNvPr id="37" name="TOCLabel3"/>
          <p:cNvSpPr/>
          <p:nvPr/>
        </p:nvSpPr>
        <p:spPr>
          <a:xfrm>
            <a:off x="914400" y="219456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分析アプローチ</a:t>
            </a:r>
          </a:p>
        </p:txBody>
      </p:sp>
      <p:sp>
        <p:nvSpPr>
          <p:cNvPr id="38" name="TOCNum4"/>
          <p:cNvSpPr/>
          <p:nvPr/>
        </p:nvSpPr>
        <p:spPr>
          <a:xfrm>
            <a:off x="457200" y="256032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05</a:t>
            </a:r>
          </a:p>
        </p:txBody>
      </p:sp>
      <p:sp>
        <p:nvSpPr>
          <p:cNvPr id="39" name="TOCLabel4"/>
          <p:cNvSpPr/>
          <p:nvPr/>
        </p:nvSpPr>
        <p:spPr>
          <a:xfrm>
            <a:off x="914400" y="256032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実施体制</a:t>
            </a:r>
          </a:p>
        </p:txBody>
      </p:sp>
      <p:sp>
        <p:nvSpPr>
          <p:cNvPr id="40" name="TOCNum5"/>
          <p:cNvSpPr/>
          <p:nvPr/>
        </p:nvSpPr>
        <p:spPr>
          <a:xfrm>
            <a:off x="457200" y="292608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06</a:t>
            </a:r>
          </a:p>
        </p:txBody>
      </p:sp>
      <p:sp>
        <p:nvSpPr>
          <p:cNvPr id="41" name="TOCLabel5"/>
          <p:cNvSpPr/>
          <p:nvPr/>
        </p:nvSpPr>
        <p:spPr>
          <a:xfrm>
            <a:off x="914400" y="292608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スケジュール案</a:t>
            </a:r>
          </a:p>
        </p:txBody>
      </p:sp>
      <p:sp>
        <p:nvSpPr>
          <p:cNvPr id="42" name="TOCNum6"/>
          <p:cNvSpPr/>
          <p:nvPr/>
        </p:nvSpPr>
        <p:spPr>
          <a:xfrm>
            <a:off x="6096000" y="109728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07</a:t>
            </a:r>
          </a:p>
        </p:txBody>
      </p:sp>
      <p:sp>
        <p:nvSpPr>
          <p:cNvPr id="43" name="TOCLabel6"/>
          <p:cNvSpPr/>
          <p:nvPr/>
        </p:nvSpPr>
        <p:spPr>
          <a:xfrm>
            <a:off x="6553200" y="109728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成果物定義</a:t>
            </a:r>
          </a:p>
        </p:txBody>
      </p:sp>
      <p:sp>
        <p:nvSpPr>
          <p:cNvPr id="44" name="TOCNum7"/>
          <p:cNvSpPr/>
          <p:nvPr/>
        </p:nvSpPr>
        <p:spPr>
          <a:xfrm>
            <a:off x="6096000" y="146304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08</a:t>
            </a:r>
          </a:p>
        </p:txBody>
      </p:sp>
      <p:sp>
        <p:nvSpPr>
          <p:cNvPr id="45" name="TOCLabel7"/>
          <p:cNvSpPr/>
          <p:nvPr/>
        </p:nvSpPr>
        <p:spPr>
          <a:xfrm>
            <a:off x="6553200" y="146304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費用見積</a:t>
            </a:r>
          </a:p>
        </p:txBody>
      </p:sp>
      <p:sp>
        <p:nvSpPr>
          <p:cNvPr id="46" name="TOCNum8"/>
          <p:cNvSpPr/>
          <p:nvPr/>
        </p:nvSpPr>
        <p:spPr>
          <a:xfrm>
            <a:off x="6096000" y="182880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09</a:t>
            </a:r>
          </a:p>
        </p:txBody>
      </p:sp>
      <p:sp>
        <p:nvSpPr>
          <p:cNvPr id="47" name="TOCLabel8"/>
          <p:cNvSpPr/>
          <p:nvPr/>
        </p:nvSpPr>
        <p:spPr>
          <a:xfrm>
            <a:off x="6553200" y="182880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リスクと対応策</a:t>
            </a:r>
          </a:p>
        </p:txBody>
      </p:sp>
      <p:sp>
        <p:nvSpPr>
          <p:cNvPr id="48" name="TOCNum9"/>
          <p:cNvSpPr/>
          <p:nvPr/>
        </p:nvSpPr>
        <p:spPr>
          <a:xfrm>
            <a:off x="6096000" y="219456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10</a:t>
            </a:r>
          </a:p>
        </p:txBody>
      </p:sp>
      <p:sp>
        <p:nvSpPr>
          <p:cNvPr id="49" name="TOCLabel9"/>
          <p:cNvSpPr/>
          <p:nvPr/>
        </p:nvSpPr>
        <p:spPr>
          <a:xfrm>
            <a:off x="6553200" y="219456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前提条件</a:t>
            </a:r>
          </a:p>
        </p:txBody>
      </p:sp>
      <p:sp>
        <p:nvSpPr>
          <p:cNvPr id="50" name="TOCNum10"/>
          <p:cNvSpPr/>
          <p:nvPr/>
        </p:nvSpPr>
        <p:spPr>
          <a:xfrm>
            <a:off x="6096000" y="2560320"/>
            <a:ext cx="365760" cy="365760"/>
          </a:xfrm>
          <a:prstGeom prst="ellipse">
            <a:avLst/>
          </a:prstGeom>
          <a:solidFill>
            <a:srgbClr val="8B2500"/>
          </a:solidFill>
          <a:ln w="0">
            <a:noFill/>
          </a:ln>
        </p:spPr>
        <p:txBody>
          <a:bodyPr lIns="0" tIns="0" rIns="0" bIns="0" anchor="ctr"/>
          <a:lstStyle/>
          <a:p>
            <a:pPr algn="ctr">
              <a:buNone/>
            </a:pPr>
            <a:r>
              <a:rPr lang="en-US" sz="1200" b="1" dirty="0">
                <a:solidFill>
                  <a:srgbClr val="FFFFFF"/>
                </a:solidFill>
                <a:latin typeface="BIZ UDPGothic"/>
                <a:ea typeface="BIZ UDPGothic"/>
              </a:rPr>
              <a:t>11</a:t>
            </a:r>
          </a:p>
        </p:txBody>
      </p:sp>
      <p:sp>
        <p:nvSpPr>
          <p:cNvPr id="51" name="TOCLabel10"/>
          <p:cNvSpPr/>
          <p:nvPr/>
        </p:nvSpPr>
        <p:spPr>
          <a:xfrm>
            <a:off x="6553200" y="2560320"/>
            <a:ext cx="4572000" cy="365760"/>
          </a:xfrm>
          <a:prstGeom prst="rect">
            <a:avLst/>
          </a:prstGeom>
          <a:noFill/>
          <a:ln w="0">
            <a:noFill/>
          </a:ln>
        </p:spPr>
        <p:txBody>
          <a:bodyPr anchor="ctr"/>
          <a:lstStyle/>
          <a:p>
            <a:pPr algn="l">
              <a:buNone/>
            </a:pPr>
            <a:r>
              <a:rPr lang="ja-JP" sz="1600" dirty="0">
                <a:solidFill>
                  <a:srgbClr val="333333"/>
                </a:solidFill>
                <a:latin typeface="BIZ UDPGothic"/>
                <a:ea typeface="BIZ UDPGothic"/>
              </a:rPr>
              <a:t>次アクション</a:t>
            </a:r>
          </a:p>
        </p:txBody>
      </p:sp>
    </p:spTree>
    <p:extLst>
      <p:ext uri="{BB962C8B-B14F-4D97-AF65-F5344CB8AC3E}">
        <p14:creationId xmlns:p14="http://schemas.microsoft.com/office/powerpoint/2010/main" val="1375617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en-US" sz="2400" b="1" dirty="0">
                <a:solidFill>
                  <a:srgbClr val="FFFFFF"/>
                </a:solidFill>
                <a:latin typeface="BIZ UDPGothic"/>
                <a:ea typeface="BIZ UDPGothic"/>
              </a:rPr>
              <a:t>01</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背景</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BoxHead0"/>
          <p:cNvSpPr/>
          <p:nvPr/>
        </p:nvSpPr>
        <p:spPr>
          <a:xfrm>
            <a:off x="457200" y="1005840"/>
            <a:ext cx="3429000" cy="365760"/>
          </a:xfrm>
          <a:prstGeom prst="roundRect">
            <a:avLst/>
          </a:prstGeom>
          <a:solidFill>
            <a:srgbClr val="1A1A1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医療の質向上の要請</a:t>
            </a:r>
          </a:p>
        </p:txBody>
      </p:sp>
      <p:sp>
        <p:nvSpPr>
          <p:cNvPr id="111" name="BoxBody0"/>
          <p:cNvSpPr/>
          <p:nvPr/>
        </p:nvSpPr>
        <p:spPr>
          <a:xfrm>
            <a:off x="457200" y="1371600"/>
            <a:ext cx="3429000" cy="1234440"/>
          </a:xfrm>
          <a:prstGeom prst="roundRect">
            <a:avLst/>
          </a:prstGeom>
          <a:solidFill>
            <a:srgbClr val="F2F2F2"/>
          </a:solidFill>
          <a:ln w="0">
            <a:noFill/>
          </a:ln>
        </p:spPr>
        <p:txBody>
          <a:bodyPr lIns="91440" tIns="45720" rIns="91440" bIns="45720" anchor="ctr"/>
          <a:lstStyle/>
          <a:p>
            <a:pPr algn="l">
              <a:buNone/>
            </a:pPr>
            <a:r>
              <a:rPr lang="ja-JP" sz="1200" dirty="0">
                <a:solidFill>
                  <a:srgbClr val="333333"/>
                </a:solidFill>
                <a:latin typeface="BIZ UDPGothic"/>
                <a:ea typeface="BIZ UDPGothic"/>
              </a:rPr>
              <a:t>かえで総合病院では、医療の質向上、業務効率化、患者安全性の確保を目的として、診療・検査データの活用高度化が求められている。</a:t>
            </a:r>
          </a:p>
        </p:txBody>
      </p:sp>
      <p:sp>
        <p:nvSpPr>
          <p:cNvPr id="112" name="BoxHead1"/>
          <p:cNvSpPr/>
          <p:nvPr/>
        </p:nvSpPr>
        <p:spPr>
          <a:xfrm>
            <a:off x="4160520" y="1005840"/>
            <a:ext cx="3429000" cy="365760"/>
          </a:xfrm>
          <a:prstGeom prst="roundRect">
            <a:avLst/>
          </a:prstGeom>
          <a:solidFill>
            <a:srgbClr val="1A1A1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現状の課題</a:t>
            </a:r>
          </a:p>
        </p:txBody>
      </p:sp>
      <p:sp>
        <p:nvSpPr>
          <p:cNvPr id="113" name="BoxBody1"/>
          <p:cNvSpPr/>
          <p:nvPr/>
        </p:nvSpPr>
        <p:spPr>
          <a:xfrm>
            <a:off x="4160520" y="1371600"/>
            <a:ext cx="3429000" cy="1234440"/>
          </a:xfrm>
          <a:prstGeom prst="roundRect">
            <a:avLst/>
          </a:prstGeom>
          <a:solidFill>
            <a:srgbClr val="F2F2F2"/>
          </a:solidFill>
          <a:ln w="0">
            <a:noFill/>
          </a:ln>
        </p:spPr>
        <p:txBody>
          <a:bodyPr lIns="91440" tIns="45720" rIns="91440" bIns="45720" anchor="ctr"/>
          <a:lstStyle/>
          <a:p>
            <a:pPr algn="l">
              <a:buNone/>
            </a:pPr>
            <a:r>
              <a:rPr lang="ja-JP" sz="1200" dirty="0">
                <a:solidFill>
                  <a:srgbClr val="333333"/>
                </a:solidFill>
                <a:latin typeface="BIZ UDPGothic"/>
                <a:ea typeface="BIZ UDPGothic"/>
              </a:rPr>
              <a:t>diseaseの判定に関する定量的な分析基盤や初期予測モデルが未整備であり、判断材料が担当者依存となる余地がある。</a:t>
            </a:r>
          </a:p>
        </p:txBody>
      </p:sp>
      <p:sp>
        <p:nvSpPr>
          <p:cNvPr id="114" name="BoxHead2"/>
          <p:cNvSpPr/>
          <p:nvPr/>
        </p:nvSpPr>
        <p:spPr>
          <a:xfrm>
            <a:off x="7863840" y="1005840"/>
            <a:ext cx="3429000" cy="365760"/>
          </a:xfrm>
          <a:prstGeom prst="roundRect">
            <a:avLst/>
          </a:prstGeom>
          <a:solidFill>
            <a:srgbClr val="1A1A1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医療データ特有の留意点</a:t>
            </a:r>
          </a:p>
        </p:txBody>
      </p:sp>
      <p:sp>
        <p:nvSpPr>
          <p:cNvPr id="115" name="BoxBody2"/>
          <p:cNvSpPr/>
          <p:nvPr/>
        </p:nvSpPr>
        <p:spPr>
          <a:xfrm>
            <a:off x="7863840" y="1371600"/>
            <a:ext cx="3429000" cy="1234440"/>
          </a:xfrm>
          <a:prstGeom prst="roundRect">
            <a:avLst/>
          </a:prstGeom>
          <a:solidFill>
            <a:srgbClr val="F2F2F2"/>
          </a:solidFill>
          <a:ln w="0">
            <a:noFill/>
          </a:ln>
        </p:spPr>
        <p:txBody>
          <a:bodyPr lIns="91440" tIns="45720" rIns="91440" bIns="45720" anchor="ctr"/>
          <a:lstStyle/>
          <a:p>
            <a:pPr algn="l">
              <a:buNone/>
            </a:pPr>
            <a:r>
              <a:rPr lang="ja-JP" sz="1200" dirty="0">
                <a:solidFill>
                  <a:srgbClr val="333333"/>
                </a:solidFill>
                <a:latin typeface="BIZ UDPGothic"/>
                <a:ea typeface="BIZ UDPGothic"/>
              </a:rPr>
              <a:t>入力不整合、臨床運用差異、外れ値の扱い、解釈の過大主張防止、トレーサビリティ確保への配慮が不可欠である。</a:t>
            </a:r>
          </a:p>
        </p:txBody>
      </p:sp>
      <p:sp>
        <p:nvSpPr>
          <p:cNvPr id="120" name="Arrow"/>
          <p:cNvSpPr/>
          <p:nvPr/>
        </p:nvSpPr>
        <p:spPr>
          <a:xfrm>
            <a:off x="5715000" y="2743200"/>
            <a:ext cx="762000" cy="365760"/>
          </a:xfrm>
          <a:prstGeom prst="roundRect">
            <a:avLst/>
          </a:prstGeom>
          <a:solidFill>
            <a:srgbClr val="8B2500"/>
          </a:solidFill>
          <a:ln w="0">
            <a:noFill/>
          </a:ln>
        </p:spPr>
        <p:txBody>
          <a:bodyPr lIns="91440" tIns="45720" rIns="91440" bIns="45720" anchor="ctr"/>
          <a:lstStyle/>
          <a:p>
            <a:pPr algn="ctr">
              <a:buNone/>
            </a:pPr>
            <a:r>
              <a:rPr lang="ja-JP" sz="1400" b="1" dirty="0">
                <a:solidFill>
                  <a:srgbClr val="FFFFFF"/>
                </a:solidFill>
                <a:latin typeface="BIZ UDPGothic"/>
                <a:ea typeface="BIZ UDPGothic"/>
              </a:rPr>
              <a:t>▼</a:t>
            </a:r>
          </a:p>
        </p:txBody>
      </p:sp>
      <p:sp>
        <p:nvSpPr>
          <p:cNvPr id="121" name="Conclusion"/>
          <p:cNvSpPr/>
          <p:nvPr/>
        </p:nvSpPr>
        <p:spPr>
          <a:xfrm>
            <a:off x="457200" y="3200400"/>
            <a:ext cx="11277600" cy="1828800"/>
          </a:xfrm>
          <a:prstGeom prst="rect">
            <a:avLst/>
          </a:prstGeom>
          <a:noFill/>
          <a:ln w="0">
            <a:noFill/>
          </a:ln>
        </p:spPr>
        <p:txBody>
          <a:bodyPr lIns="91440" tIns="45720" rIns="91440" bIns="45720" anchor="ctr"/>
          <a:lstStyle/>
          <a:p>
            <a:pPr algn="l">
              <a:buNone/>
            </a:pPr>
            <a:r>
              <a:rPr lang="ja-JP" sz="1600" b="1" dirty="0">
                <a:solidFill>
                  <a:srgbClr val="8B2500"/>
                </a:solidFill>
                <a:latin typeface="BIZ UDPGothic"/>
                <a:ea typeface="BIZ UDPGothic"/>
              </a:rPr>
              <a:t>本プロジェクトの位置づけ</a:t>
            </a:r>
          </a:p>
          <a:p>
            <a:pPr algn="l">
              <a:buNone/>
            </a:pPr>
            <a:r>
              <a:rPr lang="ja-JP" sz="1400" dirty="0">
                <a:solidFill>
                  <a:srgbClr val="333333"/>
                </a:solidFill>
                <a:latin typeface="BIZ UDPGothic"/>
                <a:ea typeface="BIZ UDPGothic"/>
              </a:rPr>
              <a:t>data\train.csv（3,500行、12列、UTF-8-SIG）を対象に、目的変数 disease（0:無、1:有）について、分析基盤と初期予測モデルを整備し、今後の業務実装可否を判断できる状態を作ることを目的とする。</a:t>
            </a:r>
          </a:p>
          <a:p>
            <a:pPr algn="l">
              <a:buNone/>
            </a:pPr>
            <a:r>
              <a:rPr lang="ja-JP" sz="1200" i="1" dirty="0">
                <a:solidFill>
                  <a:srgbClr val="787878"/>
                </a:solidFill>
                <a:latin typeface="BIZ UDPGothic"/>
                <a:ea typeface="BIZ UDPGothic"/>
              </a:rPr>
              <a:t>※本取り組みは診断行為を代替するものではなく、判定支援材料を整備する分析プロジェクトとして位置づける。</a:t>
            </a:r>
          </a:p>
        </p:txBody>
      </p:sp>
      <p:sp>
        <p:nvSpPr>
          <p:cNvPr id="122" name="ConcBorder"/>
          <p:cNvSpPr/>
          <p:nvPr/>
        </p:nvSpPr>
        <p:spPr>
          <a:xfrm>
            <a:off x="457200" y="3200400"/>
            <a:ext cx="11277600" cy="1828800"/>
          </a:xfrm>
          <a:prstGeom prst="roundRect">
            <a:avLst/>
          </a:prstGeom>
          <a:noFill/>
          <a:ln w="19050">
            <a:solidFill>
              <a:srgbClr val="8B2500"/>
            </a:solidFill>
          </a:ln>
        </p:spPr>
        <p:txBody>
          <a:bodyPr/>
          <a:lstStyle/>
          <a:p>
            <a:endParaRPr lang="ja-JP"/>
          </a:p>
        </p:txBody>
      </p:sp>
    </p:spTree>
    <p:extLst>
      <p:ext uri="{BB962C8B-B14F-4D97-AF65-F5344CB8AC3E}">
        <p14:creationId xmlns:p14="http://schemas.microsoft.com/office/powerpoint/2010/main" val="1523340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02</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目的</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ObjNum0"/>
          <p:cNvSpPr/>
          <p:nvPr/>
        </p:nvSpPr>
        <p:spPr>
          <a:xfrm>
            <a:off x="457200" y="960120"/>
            <a:ext cx="320040" cy="320040"/>
          </a:xfrm>
          <a:prstGeom prst="roundRect">
            <a:avLst/>
          </a:prstGeom>
          <a:solidFill>
            <a:srgbClr val="4A4A4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1</a:t>
            </a:r>
          </a:p>
        </p:txBody>
      </p:sp>
      <p:sp>
        <p:nvSpPr>
          <p:cNvPr id="111" name="ObjText0"/>
          <p:cNvSpPr/>
          <p:nvPr/>
        </p:nvSpPr>
        <p:spPr>
          <a:xfrm>
            <a:off x="868680" y="960120"/>
            <a:ext cx="5532120" cy="320040"/>
          </a:xfrm>
          <a:prstGeom prst="rect">
            <a:avLst/>
          </a:prstGeom>
          <a:noFill/>
          <a:ln w="0">
            <a:noFill/>
          </a:ln>
        </p:spPr>
        <p:txBody>
          <a:bodyPr lIns="91440" tIns="45720" rIns="91440" bIns="45720" anchor="ctr"/>
          <a:lstStyle/>
          <a:p>
            <a:pPr algn="l">
              <a:buNone/>
            </a:pPr>
            <a:r>
              <a:rPr lang="ja-JP" sz="1400" dirty="0">
                <a:solidFill>
                  <a:srgbClr val="333333"/>
                </a:solidFill>
                <a:latin typeface="BIZ UDPGothic"/>
                <a:ea typeface="BIZ UDPGothic"/>
              </a:rPr>
              <a:t>データ品質、分布、利用可能性の明確化</a:t>
            </a:r>
          </a:p>
        </p:txBody>
      </p:sp>
      <p:sp>
        <p:nvSpPr>
          <p:cNvPr id="112" name="ObjNum1"/>
          <p:cNvSpPr/>
          <p:nvPr/>
        </p:nvSpPr>
        <p:spPr>
          <a:xfrm>
            <a:off x="457200" y="1353312"/>
            <a:ext cx="320040" cy="320040"/>
          </a:xfrm>
          <a:prstGeom prst="roundRect">
            <a:avLst/>
          </a:prstGeom>
          <a:solidFill>
            <a:srgbClr val="4A4A4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2</a:t>
            </a:r>
          </a:p>
        </p:txBody>
      </p:sp>
      <p:sp>
        <p:nvSpPr>
          <p:cNvPr id="113" name="ObjText1"/>
          <p:cNvSpPr/>
          <p:nvPr/>
        </p:nvSpPr>
        <p:spPr>
          <a:xfrm>
            <a:off x="868680" y="1353312"/>
            <a:ext cx="5532120" cy="320040"/>
          </a:xfrm>
          <a:prstGeom prst="rect">
            <a:avLst/>
          </a:prstGeom>
          <a:noFill/>
          <a:ln w="0">
            <a:noFill/>
          </a:ln>
        </p:spPr>
        <p:txBody>
          <a:bodyPr lIns="91440" tIns="45720" rIns="91440" bIns="45720" anchor="ctr"/>
          <a:lstStyle/>
          <a:p>
            <a:pPr algn="l">
              <a:buNone/>
            </a:pPr>
            <a:r>
              <a:rPr lang="ja-JP" sz="1400" dirty="0">
                <a:solidFill>
                  <a:srgbClr val="333333"/>
                </a:solidFill>
                <a:latin typeface="BIZ UDPGothic"/>
                <a:ea typeface="BIZ UDPGothic"/>
              </a:rPr>
              <a:t>diseaseを目的変数とした初期予測モデルの構築</a:t>
            </a:r>
          </a:p>
        </p:txBody>
      </p:sp>
      <p:sp>
        <p:nvSpPr>
          <p:cNvPr id="114" name="ObjNum2"/>
          <p:cNvSpPr/>
          <p:nvPr/>
        </p:nvSpPr>
        <p:spPr>
          <a:xfrm>
            <a:off x="457200" y="1746504"/>
            <a:ext cx="320040" cy="320040"/>
          </a:xfrm>
          <a:prstGeom prst="roundRect">
            <a:avLst/>
          </a:prstGeom>
          <a:solidFill>
            <a:srgbClr val="4A4A4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3</a:t>
            </a:r>
          </a:p>
        </p:txBody>
      </p:sp>
      <p:sp>
        <p:nvSpPr>
          <p:cNvPr id="115" name="ObjText2"/>
          <p:cNvSpPr/>
          <p:nvPr/>
        </p:nvSpPr>
        <p:spPr>
          <a:xfrm>
            <a:off x="868680" y="1746504"/>
            <a:ext cx="5532120" cy="320040"/>
          </a:xfrm>
          <a:prstGeom prst="rect">
            <a:avLst/>
          </a:prstGeom>
          <a:noFill/>
          <a:ln w="0">
            <a:noFill/>
          </a:ln>
        </p:spPr>
        <p:txBody>
          <a:bodyPr lIns="91440" tIns="45720" rIns="91440" bIns="45720" anchor="ctr"/>
          <a:lstStyle/>
          <a:p>
            <a:pPr algn="l">
              <a:buNone/>
            </a:pPr>
            <a:r>
              <a:rPr lang="ja-JP" sz="1400" dirty="0">
                <a:solidFill>
                  <a:srgbClr val="333333"/>
                </a:solidFill>
                <a:latin typeface="BIZ UDPGothic"/>
                <a:ea typeface="BIZ UDPGothic"/>
              </a:rPr>
              <a:t>モデル精度と解釈可能性の両面評価</a:t>
            </a:r>
          </a:p>
        </p:txBody>
      </p:sp>
      <p:sp>
        <p:nvSpPr>
          <p:cNvPr id="116" name="ObjNum3"/>
          <p:cNvSpPr/>
          <p:nvPr/>
        </p:nvSpPr>
        <p:spPr>
          <a:xfrm>
            <a:off x="457200" y="2139696"/>
            <a:ext cx="320040" cy="320040"/>
          </a:xfrm>
          <a:prstGeom prst="roundRect">
            <a:avLst/>
          </a:prstGeom>
          <a:solidFill>
            <a:srgbClr val="4A4A4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4</a:t>
            </a:r>
          </a:p>
        </p:txBody>
      </p:sp>
      <p:sp>
        <p:nvSpPr>
          <p:cNvPr id="117" name="ObjText3"/>
          <p:cNvSpPr/>
          <p:nvPr/>
        </p:nvSpPr>
        <p:spPr>
          <a:xfrm>
            <a:off x="868680" y="2139696"/>
            <a:ext cx="5532120" cy="320040"/>
          </a:xfrm>
          <a:prstGeom prst="rect">
            <a:avLst/>
          </a:prstGeom>
          <a:noFill/>
          <a:ln w="0">
            <a:noFill/>
          </a:ln>
        </p:spPr>
        <p:txBody>
          <a:bodyPr lIns="91440" tIns="45720" rIns="91440" bIns="45720" anchor="ctr"/>
          <a:lstStyle/>
          <a:p>
            <a:pPr algn="l">
              <a:buNone/>
            </a:pPr>
            <a:r>
              <a:rPr lang="ja-JP" sz="1400" dirty="0">
                <a:solidFill>
                  <a:srgbClr val="333333"/>
                </a:solidFill>
                <a:latin typeface="BIZ UDPGothic"/>
                <a:ea typeface="BIZ UDPGothic"/>
              </a:rPr>
              <a:t>業務活用可否を判断するための材料整理</a:t>
            </a:r>
          </a:p>
        </p:txBody>
      </p:sp>
      <p:sp>
        <p:nvSpPr>
          <p:cNvPr id="118" name="ObjNum4"/>
          <p:cNvSpPr/>
          <p:nvPr/>
        </p:nvSpPr>
        <p:spPr>
          <a:xfrm>
            <a:off x="457200" y="2532888"/>
            <a:ext cx="320040" cy="320040"/>
          </a:xfrm>
          <a:prstGeom prst="roundRect">
            <a:avLst/>
          </a:prstGeom>
          <a:solidFill>
            <a:srgbClr val="4A4A4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5</a:t>
            </a:r>
          </a:p>
        </p:txBody>
      </p:sp>
      <p:sp>
        <p:nvSpPr>
          <p:cNvPr id="119" name="ObjText4"/>
          <p:cNvSpPr/>
          <p:nvPr/>
        </p:nvSpPr>
        <p:spPr>
          <a:xfrm>
            <a:off x="868680" y="2532888"/>
            <a:ext cx="5532120" cy="320040"/>
          </a:xfrm>
          <a:prstGeom prst="rect">
            <a:avLst/>
          </a:prstGeom>
          <a:noFill/>
          <a:ln w="0">
            <a:noFill/>
          </a:ln>
        </p:spPr>
        <p:txBody>
          <a:bodyPr lIns="91440" tIns="45720" rIns="91440" bIns="45720" anchor="ctr"/>
          <a:lstStyle/>
          <a:p>
            <a:pPr algn="l">
              <a:buNone/>
            </a:pPr>
            <a:r>
              <a:rPr lang="ja-JP" sz="1400" dirty="0">
                <a:solidFill>
                  <a:srgbClr val="333333"/>
                </a:solidFill>
                <a:latin typeface="BIZ UDPGothic"/>
                <a:ea typeface="BIZ UDPGothic"/>
              </a:rPr>
              <a:t>後続文書における用語・前提・制約・評価指標の統一</a:t>
            </a:r>
          </a:p>
        </p:txBody>
      </p:sp>
      <p:sp>
        <p:nvSpPr>
          <p:cNvPr id="130" name="KPIHeader"/>
          <p:cNvSpPr/>
          <p:nvPr/>
        </p:nvSpPr>
        <p:spPr>
          <a:xfrm>
            <a:off x="6858000" y="960120"/>
            <a:ext cx="4876800" cy="411480"/>
          </a:xfrm>
          <a:prstGeom prst="roundRect">
            <a:avLst/>
          </a:prstGeom>
          <a:solidFill>
            <a:srgbClr val="1A1A1A"/>
          </a:solidFill>
          <a:ln w="0">
            <a:noFill/>
          </a:ln>
        </p:spPr>
        <p:txBody>
          <a:bodyPr lIns="91440" tIns="45720" rIns="91440" bIns="45720" anchor="ctr"/>
          <a:lstStyle/>
          <a:p>
            <a:pPr algn="ctr">
              <a:buNone/>
            </a:pPr>
            <a:r>
              <a:rPr lang="ja-JP" sz="1600" b="1" dirty="0">
                <a:solidFill>
                  <a:srgbClr val="FFFFFF"/>
                </a:solidFill>
                <a:latin typeface="BIZ UDPGothic"/>
                <a:ea typeface="BIZ UDPGothic"/>
              </a:rPr>
              <a:t>分析KPI</a:t>
            </a:r>
          </a:p>
        </p:txBody>
      </p:sp>
      <p:sp>
        <p:nvSpPr>
          <p:cNvPr id="140" name="KPI0"/>
          <p:cNvSpPr/>
          <p:nvPr/>
        </p:nvSpPr>
        <p:spPr>
          <a:xfrm>
            <a:off x="6858000" y="1371600"/>
            <a:ext cx="1600200" cy="274320"/>
          </a:xfrm>
          <a:prstGeom prst="roundRect">
            <a:avLst/>
          </a:prstGeom>
          <a:solidFill>
            <a:srgbClr val="F2F2F2"/>
          </a:solidFill>
          <a:ln w="0">
            <a:noFill/>
          </a:ln>
        </p:spPr>
        <p:txBody>
          <a:bodyPr lIns="91440" tIns="45720" rIns="91440" bIns="45720" anchor="ctr"/>
          <a:lstStyle/>
          <a:p>
            <a:pPr algn="ctr">
              <a:buNone/>
            </a:pPr>
            <a:r>
              <a:rPr lang="ja-JP" sz="1100" b="1" dirty="0">
                <a:solidFill>
                  <a:srgbClr val="1A1A1A"/>
                </a:solidFill>
                <a:latin typeface="BIZ UDPGothic"/>
                <a:ea typeface="BIZ UDPGothic"/>
              </a:rPr>
              <a:t>ROC-AUC</a:t>
            </a:r>
          </a:p>
        </p:txBody>
      </p:sp>
      <p:sp>
        <p:nvSpPr>
          <p:cNvPr id="141" name="KPIDesc0"/>
          <p:cNvSpPr/>
          <p:nvPr/>
        </p:nvSpPr>
        <p:spPr>
          <a:xfrm>
            <a:off x="8549640" y="1371600"/>
            <a:ext cx="3185160" cy="274320"/>
          </a:xfrm>
          <a:prstGeom prst="rect">
            <a:avLst/>
          </a:prstGeom>
          <a:noFill/>
          <a:ln w="0">
            <a:noFill/>
          </a:ln>
        </p:spPr>
        <p:txBody>
          <a:bodyPr lIns="91440" tIns="45720" rIns="91440" bIns="45720" anchor="ctr"/>
          <a:lstStyle/>
          <a:p>
            <a:pPr algn="l">
              <a:buNone/>
            </a:pPr>
            <a:r>
              <a:rPr lang="ja-JP" sz="1100" dirty="0">
                <a:solidFill>
                  <a:srgbClr val="333333"/>
                </a:solidFill>
                <a:latin typeface="BIZ UDPGothic"/>
                <a:ea typeface="BIZ UDPGothic"/>
              </a:rPr>
              <a:t>モデル全体の識別力</a:t>
            </a:r>
          </a:p>
        </p:txBody>
      </p:sp>
      <p:sp>
        <p:nvSpPr>
          <p:cNvPr id="142" name="KPI1"/>
          <p:cNvSpPr/>
          <p:nvPr/>
        </p:nvSpPr>
        <p:spPr>
          <a:xfrm>
            <a:off x="6858000" y="1676400"/>
            <a:ext cx="1600200" cy="274320"/>
          </a:xfrm>
          <a:prstGeom prst="roundRect">
            <a:avLst/>
          </a:prstGeom>
          <a:solidFill>
            <a:srgbClr val="F2F2F2"/>
          </a:solidFill>
          <a:ln w="0">
            <a:noFill/>
          </a:ln>
        </p:spPr>
        <p:txBody>
          <a:bodyPr lIns="91440" tIns="45720" rIns="91440" bIns="45720" anchor="ctr"/>
          <a:lstStyle/>
          <a:p>
            <a:pPr algn="ctr">
              <a:buNone/>
            </a:pPr>
            <a:r>
              <a:rPr lang="ja-JP" sz="1100" b="1" dirty="0">
                <a:solidFill>
                  <a:srgbClr val="1A1A1A"/>
                </a:solidFill>
                <a:latin typeface="BIZ UDPGothic"/>
                <a:ea typeface="BIZ UDPGothic"/>
              </a:rPr>
              <a:t>Accuracy</a:t>
            </a:r>
          </a:p>
        </p:txBody>
      </p:sp>
      <p:sp>
        <p:nvSpPr>
          <p:cNvPr id="143" name="KPIDesc1"/>
          <p:cNvSpPr/>
          <p:nvPr/>
        </p:nvSpPr>
        <p:spPr>
          <a:xfrm>
            <a:off x="8549640" y="1676400"/>
            <a:ext cx="3185160" cy="274320"/>
          </a:xfrm>
          <a:prstGeom prst="rect">
            <a:avLst/>
          </a:prstGeom>
          <a:noFill/>
          <a:ln w="0">
            <a:noFill/>
          </a:ln>
        </p:spPr>
        <p:txBody>
          <a:bodyPr lIns="91440" tIns="45720" rIns="91440" bIns="45720" anchor="ctr"/>
          <a:lstStyle/>
          <a:p>
            <a:pPr algn="l">
              <a:buNone/>
            </a:pPr>
            <a:r>
              <a:rPr lang="ja-JP" sz="1100" dirty="0">
                <a:solidFill>
                  <a:srgbClr val="333333"/>
                </a:solidFill>
                <a:latin typeface="BIZ UDPGothic"/>
                <a:ea typeface="BIZ UDPGothic"/>
              </a:rPr>
              <a:t>全体正解率</a:t>
            </a:r>
          </a:p>
        </p:txBody>
      </p:sp>
      <p:sp>
        <p:nvSpPr>
          <p:cNvPr id="144" name="KPI2"/>
          <p:cNvSpPr/>
          <p:nvPr/>
        </p:nvSpPr>
        <p:spPr>
          <a:xfrm>
            <a:off x="6858000" y="1981200"/>
            <a:ext cx="1600200" cy="274320"/>
          </a:xfrm>
          <a:prstGeom prst="roundRect">
            <a:avLst/>
          </a:prstGeom>
          <a:solidFill>
            <a:srgbClr val="F2F2F2"/>
          </a:solidFill>
          <a:ln w="0">
            <a:noFill/>
          </a:ln>
        </p:spPr>
        <p:txBody>
          <a:bodyPr lIns="91440" tIns="45720" rIns="91440" bIns="45720" anchor="ctr"/>
          <a:lstStyle/>
          <a:p>
            <a:pPr algn="ctr">
              <a:buNone/>
            </a:pPr>
            <a:r>
              <a:rPr lang="ja-JP" sz="1100" b="1" dirty="0">
                <a:solidFill>
                  <a:srgbClr val="1A1A1A"/>
                </a:solidFill>
                <a:latin typeface="BIZ UDPGothic"/>
                <a:ea typeface="BIZ UDPGothic"/>
              </a:rPr>
              <a:t>Precision</a:t>
            </a:r>
          </a:p>
        </p:txBody>
      </p:sp>
      <p:sp>
        <p:nvSpPr>
          <p:cNvPr id="145" name="KPIDesc2"/>
          <p:cNvSpPr/>
          <p:nvPr/>
        </p:nvSpPr>
        <p:spPr>
          <a:xfrm>
            <a:off x="8549640" y="1981200"/>
            <a:ext cx="3185160" cy="274320"/>
          </a:xfrm>
          <a:prstGeom prst="rect">
            <a:avLst/>
          </a:prstGeom>
          <a:noFill/>
          <a:ln w="0">
            <a:noFill/>
          </a:ln>
        </p:spPr>
        <p:txBody>
          <a:bodyPr lIns="91440" tIns="45720" rIns="91440" bIns="45720" anchor="ctr"/>
          <a:lstStyle/>
          <a:p>
            <a:pPr algn="l">
              <a:buNone/>
            </a:pPr>
            <a:r>
              <a:rPr lang="ja-JP" sz="1100" dirty="0">
                <a:solidFill>
                  <a:srgbClr val="333333"/>
                </a:solidFill>
                <a:latin typeface="BIZ UDPGothic"/>
                <a:ea typeface="BIZ UDPGothic"/>
              </a:rPr>
              <a:t>陽性予測の正確さ</a:t>
            </a:r>
          </a:p>
        </p:txBody>
      </p:sp>
      <p:sp>
        <p:nvSpPr>
          <p:cNvPr id="146" name="KPI3"/>
          <p:cNvSpPr/>
          <p:nvPr/>
        </p:nvSpPr>
        <p:spPr>
          <a:xfrm>
            <a:off x="6858000" y="2286000"/>
            <a:ext cx="1600200" cy="274320"/>
          </a:xfrm>
          <a:prstGeom prst="roundRect">
            <a:avLst/>
          </a:prstGeom>
          <a:solidFill>
            <a:srgbClr val="8B2500"/>
          </a:solidFill>
          <a:ln w="0">
            <a:noFill/>
          </a:ln>
        </p:spPr>
        <p:txBody>
          <a:bodyPr lIns="91440" tIns="45720" rIns="91440" bIns="45720" anchor="ctr"/>
          <a:lstStyle/>
          <a:p>
            <a:pPr algn="ctr">
              <a:buNone/>
            </a:pPr>
            <a:r>
              <a:rPr lang="ja-JP" sz="1100" b="1" dirty="0">
                <a:solidFill>
                  <a:srgbClr val="FFFFFF"/>
                </a:solidFill>
                <a:latin typeface="BIZ UDPGothic"/>
                <a:ea typeface="BIZ UDPGothic"/>
              </a:rPr>
              <a:t>Recall ★重視</a:t>
            </a:r>
          </a:p>
        </p:txBody>
      </p:sp>
      <p:sp>
        <p:nvSpPr>
          <p:cNvPr id="147" name="KPIDesc3"/>
          <p:cNvSpPr/>
          <p:nvPr/>
        </p:nvSpPr>
        <p:spPr>
          <a:xfrm>
            <a:off x="8549640" y="2286000"/>
            <a:ext cx="3185160" cy="274320"/>
          </a:xfrm>
          <a:prstGeom prst="rect">
            <a:avLst/>
          </a:prstGeom>
          <a:noFill/>
          <a:ln w="0">
            <a:noFill/>
          </a:ln>
        </p:spPr>
        <p:txBody>
          <a:bodyPr lIns="91440" tIns="45720" rIns="91440" bIns="45720" anchor="ctr"/>
          <a:lstStyle/>
          <a:p>
            <a:pPr algn="l">
              <a:buNone/>
            </a:pPr>
            <a:r>
              <a:rPr lang="ja-JP" sz="1100" dirty="0">
                <a:solidFill>
                  <a:srgbClr val="FFFFFF"/>
                </a:solidFill>
                <a:latin typeface="BIZ UDPGothic"/>
                <a:ea typeface="BIZ UDPGothic"/>
              </a:rPr>
              <a:t>見逃し抑制（医療文脈で最重要）</a:t>
            </a:r>
          </a:p>
        </p:txBody>
      </p:sp>
      <p:sp>
        <p:nvSpPr>
          <p:cNvPr id="148" name="KPI4"/>
          <p:cNvSpPr/>
          <p:nvPr/>
        </p:nvSpPr>
        <p:spPr>
          <a:xfrm>
            <a:off x="6858000" y="2590800"/>
            <a:ext cx="1600200" cy="274320"/>
          </a:xfrm>
          <a:prstGeom prst="roundRect">
            <a:avLst/>
          </a:prstGeom>
          <a:solidFill>
            <a:srgbClr val="F2F2F2"/>
          </a:solidFill>
          <a:ln w="0">
            <a:noFill/>
          </a:ln>
        </p:spPr>
        <p:txBody>
          <a:bodyPr lIns="91440" tIns="45720" rIns="91440" bIns="45720" anchor="ctr"/>
          <a:lstStyle/>
          <a:p>
            <a:pPr algn="ctr">
              <a:buNone/>
            </a:pPr>
            <a:r>
              <a:rPr lang="ja-JP" sz="1100" b="1" dirty="0">
                <a:solidFill>
                  <a:srgbClr val="1A1A1A"/>
                </a:solidFill>
                <a:latin typeface="BIZ UDPGothic"/>
                <a:ea typeface="BIZ UDPGothic"/>
              </a:rPr>
              <a:t>F1-score</a:t>
            </a:r>
          </a:p>
        </p:txBody>
      </p:sp>
      <p:sp>
        <p:nvSpPr>
          <p:cNvPr id="149" name="KPIDesc4"/>
          <p:cNvSpPr/>
          <p:nvPr/>
        </p:nvSpPr>
        <p:spPr>
          <a:xfrm>
            <a:off x="8549640" y="2590800"/>
            <a:ext cx="3185160" cy="274320"/>
          </a:xfrm>
          <a:prstGeom prst="rect">
            <a:avLst/>
          </a:prstGeom>
          <a:noFill/>
          <a:ln w="0">
            <a:noFill/>
          </a:ln>
        </p:spPr>
        <p:txBody>
          <a:bodyPr lIns="91440" tIns="45720" rIns="91440" bIns="45720" anchor="ctr"/>
          <a:lstStyle/>
          <a:p>
            <a:pPr algn="l">
              <a:buNone/>
            </a:pPr>
            <a:r>
              <a:rPr lang="ja-JP" sz="1100" dirty="0">
                <a:solidFill>
                  <a:srgbClr val="333333"/>
                </a:solidFill>
                <a:latin typeface="BIZ UDPGothic"/>
                <a:ea typeface="BIZ UDPGothic"/>
              </a:rPr>
              <a:t>PrecisionとRecallの調和平均</a:t>
            </a:r>
          </a:p>
        </p:txBody>
      </p:sp>
      <p:sp>
        <p:nvSpPr>
          <p:cNvPr id="160" name="Note"/>
          <p:cNvSpPr/>
          <p:nvPr/>
        </p:nvSpPr>
        <p:spPr>
          <a:xfrm>
            <a:off x="457200" y="4800600"/>
            <a:ext cx="11277600" cy="457200"/>
          </a:xfrm>
          <a:prstGeom prst="rect">
            <a:avLst/>
          </a:prstGeom>
          <a:noFill/>
          <a:ln w="0">
            <a:noFill/>
          </a:ln>
        </p:spPr>
        <p:txBody>
          <a:bodyPr lIns="91440" tIns="45720" rIns="91440" bIns="45720" anchor="ctr"/>
          <a:lstStyle/>
          <a:p>
            <a:pPr algn="l">
              <a:buNone/>
            </a:pPr>
            <a:r>
              <a:rPr lang="ja-JP" sz="1200" i="1" dirty="0">
                <a:solidFill>
                  <a:srgbClr val="787878"/>
                </a:solidFill>
                <a:latin typeface="BIZ UDPGothic"/>
                <a:ea typeface="BIZ UDPGothic"/>
              </a:rPr>
              <a:t>※単純な正解率のみでの判断は行わない。医療文脈上は見逃し抑制の観点からRecallを重視しつつ、誤検知過多を避けるためPrecisionも併記する。</a:t>
            </a:r>
          </a:p>
        </p:txBody>
      </p:sp>
    </p:spTree>
    <p:extLst>
      <p:ext uri="{BB962C8B-B14F-4D97-AF65-F5344CB8AC3E}">
        <p14:creationId xmlns:p14="http://schemas.microsoft.com/office/powerpoint/2010/main" val="1283806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03</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スコープ ─ 対象範囲</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StepNum0"/>
          <p:cNvSpPr/>
          <p:nvPr/>
        </p:nvSpPr>
        <p:spPr>
          <a:xfrm>
            <a:off x="457200" y="960120"/>
            <a:ext cx="274320" cy="274320"/>
          </a:xfrm>
          <a:prstGeom prst="ellipse">
            <a:avLst/>
          </a:prstGeom>
          <a:solidFill>
            <a:srgbClr val="4A4A4A"/>
          </a:solidFill>
          <a:ln w="0">
            <a:noFill/>
          </a:ln>
        </p:spPr>
        <p:txBody>
          <a:bodyPr lIns="91440" tIns="45720" rIns="91440" bIns="45720" anchor="ctr"/>
          <a:lstStyle/>
          <a:p>
            <a:pPr algn="ctr">
              <a:buNone/>
            </a:pPr>
            <a:r>
              <a:rPr lang="ja-JP" sz="1200" b="1" dirty="0">
                <a:solidFill>
                  <a:srgbClr val="FFFFFF"/>
                </a:solidFill>
                <a:latin typeface="BIZ UDPGothic"/>
                <a:ea typeface="BIZ UDPGothic"/>
              </a:rPr>
              <a:t>1</a:t>
            </a:r>
          </a:p>
        </p:txBody>
      </p:sp>
      <p:sp>
        <p:nvSpPr>
          <p:cNvPr id="111" name="StepTitle0"/>
          <p:cNvSpPr/>
          <p:nvPr/>
        </p:nvSpPr>
        <p:spPr>
          <a:xfrm>
            <a:off x="822960" y="960120"/>
            <a:ext cx="5120640" cy="274320"/>
          </a:xfrm>
          <a:prstGeom prst="rect">
            <a:avLst/>
          </a:prstGeom>
          <a:noFill/>
          <a:ln w="0">
            <a:noFill/>
          </a:ln>
        </p:spPr>
        <p:txBody>
          <a:bodyPr lIns="91440" tIns="45720" rIns="91440" bIns="45720" anchor="ctr"/>
          <a:lstStyle/>
          <a:p>
            <a:pPr algn="l">
              <a:buNone/>
            </a:pPr>
            <a:r>
              <a:rPr lang="ja-JP" sz="1400" b="1" dirty="0">
                <a:solidFill>
                  <a:srgbClr val="1A1A1A"/>
                </a:solidFill>
                <a:latin typeface="BIZ UDPGothic"/>
                <a:ea typeface="BIZ UDPGothic"/>
              </a:rPr>
              <a:t>データ読込・構造確認</a:t>
            </a:r>
          </a:p>
        </p:txBody>
      </p:sp>
      <p:sp>
        <p:nvSpPr>
          <p:cNvPr id="112" name="StepDesc0"/>
          <p:cNvSpPr/>
          <p:nvPr/>
        </p:nvSpPr>
        <p:spPr>
          <a:xfrm>
            <a:off x="822960" y="1234440"/>
            <a:ext cx="5120640" cy="27432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train.csvの読込、構造確認、品質確認、基本集計</a:t>
            </a:r>
          </a:p>
        </p:txBody>
      </p:sp>
      <p:sp>
        <p:nvSpPr>
          <p:cNvPr id="113" name="StepLine0"/>
          <p:cNvSpPr/>
          <p:nvPr/>
        </p:nvSpPr>
        <p:spPr>
          <a:xfrm>
            <a:off x="594360" y="1234440"/>
            <a:ext cx="9144" cy="365760"/>
          </a:xfrm>
          <a:prstGeom prst="rect">
            <a:avLst/>
          </a:prstGeom>
          <a:solidFill>
            <a:srgbClr val="C8C8C8"/>
          </a:solidFill>
          <a:ln w="0">
            <a:noFill/>
          </a:ln>
        </p:spPr>
        <p:txBody>
          <a:bodyPr lIns="91440" tIns="45720" rIns="91440" bIns="45720" anchor="ctr"/>
          <a:lstStyle/>
          <a:p>
            <a:endParaRPr lang="ja-JP"/>
          </a:p>
        </p:txBody>
      </p:sp>
      <p:sp>
        <p:nvSpPr>
          <p:cNvPr id="2" name="StepNum1"/>
          <p:cNvSpPr/>
          <p:nvPr/>
        </p:nvSpPr>
        <p:spPr>
          <a:xfrm>
            <a:off x="457200" y="1645920"/>
            <a:ext cx="274320" cy="274320"/>
          </a:xfrm>
          <a:prstGeom prst="ellipse">
            <a:avLst/>
          </a:prstGeom>
          <a:solidFill>
            <a:srgbClr val="4A4A4A"/>
          </a:solidFill>
          <a:ln w="0">
            <a:noFill/>
          </a:ln>
        </p:spPr>
        <p:txBody>
          <a:bodyPr lIns="91440" tIns="45720" rIns="91440" bIns="45720" anchor="ctr"/>
          <a:lstStyle/>
          <a:p>
            <a:pPr algn="ctr">
              <a:buNone/>
            </a:pPr>
            <a:r>
              <a:rPr lang="ja-JP" sz="1200" b="1" dirty="0">
                <a:solidFill>
                  <a:srgbClr val="FFFFFF"/>
                </a:solidFill>
                <a:latin typeface="BIZ UDPGothic"/>
                <a:ea typeface="BIZ UDPGothic"/>
              </a:rPr>
              <a:t>2</a:t>
            </a:r>
          </a:p>
        </p:txBody>
      </p:sp>
      <p:sp>
        <p:nvSpPr>
          <p:cNvPr id="114" name="StepTitle1"/>
          <p:cNvSpPr/>
          <p:nvPr/>
        </p:nvSpPr>
        <p:spPr>
          <a:xfrm>
            <a:off x="822960" y="1645920"/>
            <a:ext cx="5120640" cy="274320"/>
          </a:xfrm>
          <a:prstGeom prst="rect">
            <a:avLst/>
          </a:prstGeom>
          <a:noFill/>
          <a:ln w="0">
            <a:noFill/>
          </a:ln>
        </p:spPr>
        <p:txBody>
          <a:bodyPr lIns="91440" tIns="45720" rIns="91440" bIns="45720" anchor="ctr"/>
          <a:lstStyle/>
          <a:p>
            <a:pPr algn="l">
              <a:buNone/>
            </a:pPr>
            <a:r>
              <a:rPr lang="ja-JP" sz="1400" b="1" dirty="0">
                <a:solidFill>
                  <a:srgbClr val="1A1A1A"/>
                </a:solidFill>
                <a:latin typeface="BIZ UDPGothic"/>
                <a:ea typeface="BIZ UDPGothic"/>
              </a:rPr>
              <a:t>二値分類分析</a:t>
            </a:r>
          </a:p>
        </p:txBody>
      </p:sp>
      <p:sp>
        <p:nvSpPr>
          <p:cNvPr id="115" name="StepDesc1"/>
          <p:cNvSpPr/>
          <p:nvPr/>
        </p:nvSpPr>
        <p:spPr>
          <a:xfrm>
            <a:off x="822960" y="1920240"/>
            <a:ext cx="5120640" cy="27432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diseaseを目的変数とした分類分析の実施</a:t>
            </a:r>
          </a:p>
        </p:txBody>
      </p:sp>
      <p:sp>
        <p:nvSpPr>
          <p:cNvPr id="116" name="StepLine1"/>
          <p:cNvSpPr/>
          <p:nvPr/>
        </p:nvSpPr>
        <p:spPr>
          <a:xfrm>
            <a:off x="594360" y="1920240"/>
            <a:ext cx="9144" cy="365760"/>
          </a:xfrm>
          <a:prstGeom prst="rect">
            <a:avLst/>
          </a:prstGeom>
          <a:solidFill>
            <a:srgbClr val="C8C8C8"/>
          </a:solidFill>
          <a:ln w="0">
            <a:noFill/>
          </a:ln>
        </p:spPr>
        <p:txBody>
          <a:bodyPr lIns="91440" tIns="45720" rIns="91440" bIns="45720" anchor="ctr"/>
          <a:lstStyle/>
          <a:p>
            <a:endParaRPr lang="ja-JP"/>
          </a:p>
        </p:txBody>
      </p:sp>
      <p:sp>
        <p:nvSpPr>
          <p:cNvPr id="3" name="StepNum2"/>
          <p:cNvSpPr/>
          <p:nvPr/>
        </p:nvSpPr>
        <p:spPr>
          <a:xfrm>
            <a:off x="457200" y="2331720"/>
            <a:ext cx="274320" cy="274320"/>
          </a:xfrm>
          <a:prstGeom prst="ellipse">
            <a:avLst/>
          </a:prstGeom>
          <a:solidFill>
            <a:srgbClr val="4A4A4A"/>
          </a:solidFill>
          <a:ln w="0">
            <a:noFill/>
          </a:ln>
        </p:spPr>
        <p:txBody>
          <a:bodyPr lIns="91440" tIns="45720" rIns="91440" bIns="45720" anchor="ctr"/>
          <a:lstStyle/>
          <a:p>
            <a:pPr algn="ctr">
              <a:buNone/>
            </a:pPr>
            <a:r>
              <a:rPr lang="ja-JP" sz="1200" b="1" dirty="0">
                <a:solidFill>
                  <a:srgbClr val="FFFFFF"/>
                </a:solidFill>
                <a:latin typeface="BIZ UDPGothic"/>
                <a:ea typeface="BIZ UDPGothic"/>
              </a:rPr>
              <a:t>3</a:t>
            </a:r>
          </a:p>
        </p:txBody>
      </p:sp>
      <p:sp>
        <p:nvSpPr>
          <p:cNvPr id="117" name="StepTitle2"/>
          <p:cNvSpPr/>
          <p:nvPr/>
        </p:nvSpPr>
        <p:spPr>
          <a:xfrm>
            <a:off x="822960" y="2331720"/>
            <a:ext cx="5120640" cy="274320"/>
          </a:xfrm>
          <a:prstGeom prst="rect">
            <a:avLst/>
          </a:prstGeom>
          <a:noFill/>
          <a:ln w="0">
            <a:noFill/>
          </a:ln>
        </p:spPr>
        <p:txBody>
          <a:bodyPr lIns="91440" tIns="45720" rIns="91440" bIns="45720" anchor="ctr"/>
          <a:lstStyle/>
          <a:p>
            <a:pPr algn="l">
              <a:buNone/>
            </a:pPr>
            <a:r>
              <a:rPr lang="ja-JP" sz="1400" b="1" dirty="0">
                <a:solidFill>
                  <a:srgbClr val="1A1A1A"/>
                </a:solidFill>
                <a:latin typeface="BIZ UDPGothic"/>
                <a:ea typeface="BIZ UDPGothic"/>
              </a:rPr>
              <a:t>前処理設計・実装</a:t>
            </a:r>
          </a:p>
        </p:txBody>
      </p:sp>
      <p:sp>
        <p:nvSpPr>
          <p:cNvPr id="118" name="StepDesc2"/>
          <p:cNvSpPr/>
          <p:nvPr/>
        </p:nvSpPr>
        <p:spPr>
          <a:xfrm>
            <a:off x="822960" y="2606040"/>
            <a:ext cx="5120640" cy="27432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idを除く説明変数の前処理設計と実装</a:t>
            </a:r>
          </a:p>
        </p:txBody>
      </p:sp>
      <p:sp>
        <p:nvSpPr>
          <p:cNvPr id="119" name="StepLine2"/>
          <p:cNvSpPr/>
          <p:nvPr/>
        </p:nvSpPr>
        <p:spPr>
          <a:xfrm>
            <a:off x="594360" y="2606040"/>
            <a:ext cx="9144" cy="365760"/>
          </a:xfrm>
          <a:prstGeom prst="rect">
            <a:avLst/>
          </a:prstGeom>
          <a:solidFill>
            <a:srgbClr val="C8C8C8"/>
          </a:solidFill>
          <a:ln w="0">
            <a:noFill/>
          </a:ln>
        </p:spPr>
        <p:txBody>
          <a:bodyPr lIns="91440" tIns="45720" rIns="91440" bIns="45720" anchor="ctr"/>
          <a:lstStyle/>
          <a:p>
            <a:endParaRPr lang="ja-JP"/>
          </a:p>
        </p:txBody>
      </p:sp>
      <p:sp>
        <p:nvSpPr>
          <p:cNvPr id="4" name="StepNum3"/>
          <p:cNvSpPr/>
          <p:nvPr/>
        </p:nvSpPr>
        <p:spPr>
          <a:xfrm>
            <a:off x="457200" y="3017520"/>
            <a:ext cx="274320" cy="274320"/>
          </a:xfrm>
          <a:prstGeom prst="ellipse">
            <a:avLst/>
          </a:prstGeom>
          <a:solidFill>
            <a:srgbClr val="4A4A4A"/>
          </a:solidFill>
          <a:ln w="0">
            <a:noFill/>
          </a:ln>
        </p:spPr>
        <p:txBody>
          <a:bodyPr lIns="91440" tIns="45720" rIns="91440" bIns="45720" anchor="ctr"/>
          <a:lstStyle/>
          <a:p>
            <a:pPr algn="ctr">
              <a:buNone/>
            </a:pPr>
            <a:r>
              <a:rPr lang="ja-JP" sz="1200" b="1" dirty="0">
                <a:solidFill>
                  <a:srgbClr val="FFFFFF"/>
                </a:solidFill>
                <a:latin typeface="BIZ UDPGothic"/>
                <a:ea typeface="BIZ UDPGothic"/>
              </a:rPr>
              <a:t>4</a:t>
            </a:r>
          </a:p>
        </p:txBody>
      </p:sp>
      <p:sp>
        <p:nvSpPr>
          <p:cNvPr id="120" name="StepTitle3"/>
          <p:cNvSpPr/>
          <p:nvPr/>
        </p:nvSpPr>
        <p:spPr>
          <a:xfrm>
            <a:off x="822960" y="3017520"/>
            <a:ext cx="5120640" cy="274320"/>
          </a:xfrm>
          <a:prstGeom prst="rect">
            <a:avLst/>
          </a:prstGeom>
          <a:noFill/>
          <a:ln w="0">
            <a:noFill/>
          </a:ln>
        </p:spPr>
        <p:txBody>
          <a:bodyPr lIns="91440" tIns="45720" rIns="91440" bIns="45720" anchor="ctr"/>
          <a:lstStyle/>
          <a:p>
            <a:pPr algn="l">
              <a:buNone/>
            </a:pPr>
            <a:r>
              <a:rPr lang="ja-JP" sz="1400" b="1" dirty="0">
                <a:solidFill>
                  <a:srgbClr val="1A1A1A"/>
                </a:solidFill>
                <a:latin typeface="BIZ UDPGothic"/>
                <a:ea typeface="BIZ UDPGothic"/>
              </a:rPr>
              <a:t>探索的データ分析</a:t>
            </a:r>
          </a:p>
        </p:txBody>
      </p:sp>
      <p:sp>
        <p:nvSpPr>
          <p:cNvPr id="121" name="StepDesc3"/>
          <p:cNvSpPr/>
          <p:nvPr/>
        </p:nvSpPr>
        <p:spPr>
          <a:xfrm>
            <a:off x="822960" y="3291840"/>
            <a:ext cx="5120640" cy="27432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分布、外れ値傾向、目的変数との関係把握</a:t>
            </a:r>
          </a:p>
        </p:txBody>
      </p:sp>
      <p:sp>
        <p:nvSpPr>
          <p:cNvPr id="122" name="StepNum4"/>
          <p:cNvSpPr/>
          <p:nvPr/>
        </p:nvSpPr>
        <p:spPr>
          <a:xfrm>
            <a:off x="6400800" y="960120"/>
            <a:ext cx="274320" cy="274320"/>
          </a:xfrm>
          <a:prstGeom prst="ellipse">
            <a:avLst/>
          </a:prstGeom>
          <a:solidFill>
            <a:srgbClr val="4A4A4A"/>
          </a:solidFill>
          <a:ln w="0">
            <a:noFill/>
          </a:ln>
        </p:spPr>
        <p:txBody>
          <a:bodyPr lIns="91440" tIns="45720" rIns="91440" bIns="45720" anchor="ctr"/>
          <a:lstStyle/>
          <a:p>
            <a:pPr algn="ctr">
              <a:buNone/>
            </a:pPr>
            <a:r>
              <a:rPr lang="ja-JP" sz="1200" b="1" dirty="0">
                <a:solidFill>
                  <a:srgbClr val="FFFFFF"/>
                </a:solidFill>
                <a:latin typeface="BIZ UDPGothic"/>
                <a:ea typeface="BIZ UDPGothic"/>
              </a:rPr>
              <a:t>5</a:t>
            </a:r>
          </a:p>
        </p:txBody>
      </p:sp>
      <p:sp>
        <p:nvSpPr>
          <p:cNvPr id="123" name="StepTitle4"/>
          <p:cNvSpPr/>
          <p:nvPr/>
        </p:nvSpPr>
        <p:spPr>
          <a:xfrm>
            <a:off x="6766560" y="960120"/>
            <a:ext cx="5120640" cy="274320"/>
          </a:xfrm>
          <a:prstGeom prst="rect">
            <a:avLst/>
          </a:prstGeom>
          <a:noFill/>
          <a:ln w="0">
            <a:noFill/>
          </a:ln>
        </p:spPr>
        <p:txBody>
          <a:bodyPr lIns="91440" tIns="45720" rIns="91440" bIns="45720" anchor="ctr"/>
          <a:lstStyle/>
          <a:p>
            <a:pPr algn="l">
              <a:buNone/>
            </a:pPr>
            <a:r>
              <a:rPr lang="ja-JP" sz="1400" b="1" dirty="0">
                <a:solidFill>
                  <a:srgbClr val="1A1A1A"/>
                </a:solidFill>
                <a:latin typeface="BIZ UDPGothic"/>
                <a:ea typeface="BIZ UDPGothic"/>
              </a:rPr>
              <a:t>モデル構築・比較</a:t>
            </a:r>
          </a:p>
        </p:txBody>
      </p:sp>
      <p:sp>
        <p:nvSpPr>
          <p:cNvPr id="124" name="StepDesc4"/>
          <p:cNvSpPr/>
          <p:nvPr/>
        </p:nvSpPr>
        <p:spPr>
          <a:xfrm>
            <a:off x="6766560" y="1234440"/>
            <a:ext cx="5120640" cy="27432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初期モデルの構築および複数モデルの比較評価</a:t>
            </a:r>
          </a:p>
        </p:txBody>
      </p:sp>
      <p:sp>
        <p:nvSpPr>
          <p:cNvPr id="125" name="StepLine4"/>
          <p:cNvSpPr/>
          <p:nvPr/>
        </p:nvSpPr>
        <p:spPr>
          <a:xfrm>
            <a:off x="6537960" y="1234440"/>
            <a:ext cx="9144" cy="365760"/>
          </a:xfrm>
          <a:prstGeom prst="rect">
            <a:avLst/>
          </a:prstGeom>
          <a:solidFill>
            <a:srgbClr val="C8C8C8"/>
          </a:solidFill>
          <a:ln w="0">
            <a:noFill/>
          </a:ln>
        </p:spPr>
        <p:txBody>
          <a:bodyPr lIns="91440" tIns="45720" rIns="91440" bIns="45720" anchor="ctr"/>
          <a:lstStyle/>
          <a:p>
            <a:endParaRPr lang="ja-JP"/>
          </a:p>
        </p:txBody>
      </p:sp>
      <p:sp>
        <p:nvSpPr>
          <p:cNvPr id="5" name="StepNum5"/>
          <p:cNvSpPr/>
          <p:nvPr/>
        </p:nvSpPr>
        <p:spPr>
          <a:xfrm>
            <a:off x="6400800" y="1645920"/>
            <a:ext cx="274320" cy="274320"/>
          </a:xfrm>
          <a:prstGeom prst="ellipse">
            <a:avLst/>
          </a:prstGeom>
          <a:solidFill>
            <a:srgbClr val="4A4A4A"/>
          </a:solidFill>
          <a:ln w="0">
            <a:noFill/>
          </a:ln>
        </p:spPr>
        <p:txBody>
          <a:bodyPr lIns="91440" tIns="45720" rIns="91440" bIns="45720" anchor="ctr"/>
          <a:lstStyle/>
          <a:p>
            <a:pPr algn="ctr">
              <a:buNone/>
            </a:pPr>
            <a:r>
              <a:rPr lang="ja-JP" sz="1200" b="1" dirty="0">
                <a:solidFill>
                  <a:srgbClr val="FFFFFF"/>
                </a:solidFill>
                <a:latin typeface="BIZ UDPGothic"/>
                <a:ea typeface="BIZ UDPGothic"/>
              </a:rPr>
              <a:t>6</a:t>
            </a:r>
          </a:p>
        </p:txBody>
      </p:sp>
      <p:sp>
        <p:nvSpPr>
          <p:cNvPr id="126" name="StepTitle5"/>
          <p:cNvSpPr/>
          <p:nvPr/>
        </p:nvSpPr>
        <p:spPr>
          <a:xfrm>
            <a:off x="6766560" y="1645920"/>
            <a:ext cx="5120640" cy="274320"/>
          </a:xfrm>
          <a:prstGeom prst="rect">
            <a:avLst/>
          </a:prstGeom>
          <a:noFill/>
          <a:ln w="0">
            <a:noFill/>
          </a:ln>
        </p:spPr>
        <p:txBody>
          <a:bodyPr lIns="91440" tIns="45720" rIns="91440" bIns="45720" anchor="ctr"/>
          <a:lstStyle/>
          <a:p>
            <a:pPr algn="l">
              <a:buNone/>
            </a:pPr>
            <a:r>
              <a:rPr lang="ja-JP" sz="1400" b="1" dirty="0">
                <a:solidFill>
                  <a:srgbClr val="1A1A1A"/>
                </a:solidFill>
                <a:latin typeface="BIZ UDPGothic"/>
                <a:ea typeface="BIZ UDPGothic"/>
              </a:rPr>
              <a:t>性能確認・重要度整理</a:t>
            </a:r>
          </a:p>
        </p:txBody>
      </p:sp>
      <p:sp>
        <p:nvSpPr>
          <p:cNvPr id="127" name="StepDesc5"/>
          <p:cNvSpPr/>
          <p:nvPr/>
        </p:nvSpPr>
        <p:spPr>
          <a:xfrm>
            <a:off x="6766560" y="1920240"/>
            <a:ext cx="5120640" cy="27432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評価指標に基づく性能確認、変数重要度の整理</a:t>
            </a:r>
          </a:p>
        </p:txBody>
      </p:sp>
      <p:sp>
        <p:nvSpPr>
          <p:cNvPr id="128" name="StepLine5"/>
          <p:cNvSpPr/>
          <p:nvPr/>
        </p:nvSpPr>
        <p:spPr>
          <a:xfrm>
            <a:off x="6537960" y="1920240"/>
            <a:ext cx="9144" cy="365760"/>
          </a:xfrm>
          <a:prstGeom prst="rect">
            <a:avLst/>
          </a:prstGeom>
          <a:solidFill>
            <a:srgbClr val="C8C8C8"/>
          </a:solidFill>
          <a:ln w="0">
            <a:noFill/>
          </a:ln>
        </p:spPr>
        <p:txBody>
          <a:bodyPr lIns="91440" tIns="45720" rIns="91440" bIns="45720" anchor="ctr"/>
          <a:lstStyle/>
          <a:p>
            <a:endParaRPr lang="ja-JP"/>
          </a:p>
        </p:txBody>
      </p:sp>
      <p:sp>
        <p:nvSpPr>
          <p:cNvPr id="6" name="StepNum6"/>
          <p:cNvSpPr/>
          <p:nvPr/>
        </p:nvSpPr>
        <p:spPr>
          <a:xfrm>
            <a:off x="6400800" y="2331720"/>
            <a:ext cx="274320" cy="274320"/>
          </a:xfrm>
          <a:prstGeom prst="ellipse">
            <a:avLst/>
          </a:prstGeom>
          <a:solidFill>
            <a:srgbClr val="4A4A4A"/>
          </a:solidFill>
          <a:ln w="0">
            <a:noFill/>
          </a:ln>
        </p:spPr>
        <p:txBody>
          <a:bodyPr lIns="91440" tIns="45720" rIns="91440" bIns="45720" anchor="ctr"/>
          <a:lstStyle/>
          <a:p>
            <a:pPr algn="ctr">
              <a:buNone/>
            </a:pPr>
            <a:r>
              <a:rPr lang="ja-JP" sz="1200" b="1" dirty="0">
                <a:solidFill>
                  <a:srgbClr val="FFFFFF"/>
                </a:solidFill>
                <a:latin typeface="BIZ UDPGothic"/>
                <a:ea typeface="BIZ UDPGothic"/>
              </a:rPr>
              <a:t>7</a:t>
            </a:r>
          </a:p>
        </p:txBody>
      </p:sp>
      <p:sp>
        <p:nvSpPr>
          <p:cNvPr id="129" name="StepTitle6"/>
          <p:cNvSpPr/>
          <p:nvPr/>
        </p:nvSpPr>
        <p:spPr>
          <a:xfrm>
            <a:off x="6766560" y="2331720"/>
            <a:ext cx="5120640" cy="274320"/>
          </a:xfrm>
          <a:prstGeom prst="rect">
            <a:avLst/>
          </a:prstGeom>
          <a:noFill/>
          <a:ln w="0">
            <a:noFill/>
          </a:ln>
        </p:spPr>
        <p:txBody>
          <a:bodyPr lIns="91440" tIns="45720" rIns="91440" bIns="45720" anchor="ctr"/>
          <a:lstStyle/>
          <a:p>
            <a:pPr algn="l">
              <a:buNone/>
            </a:pPr>
            <a:r>
              <a:rPr lang="ja-JP" sz="1400" b="1" dirty="0">
                <a:solidFill>
                  <a:srgbClr val="1A1A1A"/>
                </a:solidFill>
                <a:latin typeface="BIZ UDPGothic"/>
                <a:ea typeface="BIZ UDPGothic"/>
              </a:rPr>
              <a:t>業務示唆・報告</a:t>
            </a:r>
          </a:p>
        </p:txBody>
      </p:sp>
      <p:sp>
        <p:nvSpPr>
          <p:cNvPr id="130" name="StepDesc6"/>
          <p:cNvSpPr/>
          <p:nvPr/>
        </p:nvSpPr>
        <p:spPr>
          <a:xfrm>
            <a:off x="6766560" y="2606040"/>
            <a:ext cx="5120640" cy="27432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業務活用観点での示唆整理、報告資料・成果物作成</a:t>
            </a:r>
          </a:p>
        </p:txBody>
      </p:sp>
    </p:spTree>
    <p:extLst>
      <p:ext uri="{BB962C8B-B14F-4D97-AF65-F5344CB8AC3E}">
        <p14:creationId xmlns:p14="http://schemas.microsoft.com/office/powerpoint/2010/main" val="3292070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03</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スコープ ─ 対象データ</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DataHeader"/>
          <p:cNvSpPr/>
          <p:nvPr/>
        </p:nvSpPr>
        <p:spPr>
          <a:xfrm>
            <a:off x="2012301" y="1417320"/>
            <a:ext cx="7840825" cy="411480"/>
          </a:xfrm>
          <a:prstGeom prst="roundRect">
            <a:avLst/>
          </a:prstGeom>
          <a:solidFill>
            <a:srgbClr val="1A1A1A"/>
          </a:solidFill>
          <a:ln w="0">
            <a:noFill/>
          </a:ln>
        </p:spPr>
        <p:txBody>
          <a:bodyPr lIns="91440" tIns="45720" rIns="91440" bIns="45720" anchor="ctr"/>
          <a:lstStyle/>
          <a:p>
            <a:pPr algn="ctr">
              <a:buNone/>
            </a:pPr>
            <a:r>
              <a:rPr lang="ja-JP" sz="1600" b="1" dirty="0">
                <a:solidFill>
                  <a:srgbClr val="FFFFFF"/>
                </a:solidFill>
                <a:latin typeface="BIZ UDPGothic"/>
                <a:ea typeface="BIZ UDPGothic"/>
              </a:rPr>
              <a:t>対象データ</a:t>
            </a:r>
          </a:p>
        </p:txBody>
      </p:sp>
      <p:sp>
        <p:nvSpPr>
          <p:cNvPr id="120" name="DataRow0"/>
          <p:cNvSpPr/>
          <p:nvPr/>
        </p:nvSpPr>
        <p:spPr>
          <a:xfrm>
            <a:off x="2012301" y="1828800"/>
            <a:ext cx="7840825" cy="320040"/>
          </a:xfrm>
          <a:prstGeom prst="rect">
            <a:avLst/>
          </a:prstGeom>
          <a:solidFill>
            <a:srgbClr val="F2F2F2"/>
          </a:solidFill>
          <a:ln w="0">
            <a:noFill/>
          </a:ln>
        </p:spPr>
        <p:txBody>
          <a:bodyPr lIns="91440" tIns="45720" rIns="91440" bIns="45720" anchor="ctr"/>
          <a:lstStyle/>
          <a:p>
            <a:pPr algn="l">
              <a:buNone/>
            </a:pPr>
            <a:r>
              <a:rPr lang="ja-JP" sz="1200" b="1" dirty="0">
                <a:solidFill>
                  <a:srgbClr val="8B2500"/>
                </a:solidFill>
                <a:latin typeface="BIZ UDPGothic"/>
                <a:ea typeface="BIZ UDPGothic"/>
              </a:rPr>
              <a:t>ファイル　</a:t>
            </a:r>
            <a:r>
              <a:rPr lang="ja-JP" sz="1200" dirty="0">
                <a:solidFill>
                  <a:srgbClr val="333333"/>
                </a:solidFill>
                <a:latin typeface="BIZ UDPGothic"/>
                <a:ea typeface="BIZ UDPGothic"/>
              </a:rPr>
              <a:t>data\train.csv</a:t>
            </a:r>
          </a:p>
        </p:txBody>
      </p:sp>
      <p:sp>
        <p:nvSpPr>
          <p:cNvPr id="121" name="DataRow1"/>
          <p:cNvSpPr/>
          <p:nvPr/>
        </p:nvSpPr>
        <p:spPr>
          <a:xfrm>
            <a:off x="2012301" y="2148840"/>
            <a:ext cx="7840825" cy="320040"/>
          </a:xfrm>
          <a:prstGeom prst="rect">
            <a:avLst/>
          </a:prstGeom>
          <a:solidFill>
            <a:srgbClr val="FFFFFF"/>
          </a:solidFill>
          <a:ln w="0">
            <a:noFill/>
          </a:ln>
        </p:spPr>
        <p:txBody>
          <a:bodyPr lIns="91440" tIns="45720" rIns="91440" bIns="45720" anchor="ctr"/>
          <a:lstStyle/>
          <a:p>
            <a:pPr algn="l">
              <a:buNone/>
            </a:pPr>
            <a:r>
              <a:rPr lang="ja-JP" sz="1200" b="1" dirty="0">
                <a:solidFill>
                  <a:srgbClr val="8B2500"/>
                </a:solidFill>
                <a:latin typeface="BIZ UDPGothic"/>
                <a:ea typeface="BIZ UDPGothic"/>
              </a:rPr>
              <a:t>行数　</a:t>
            </a:r>
            <a:r>
              <a:rPr lang="ja-JP" sz="1200" dirty="0">
                <a:solidFill>
                  <a:srgbClr val="333333"/>
                </a:solidFill>
                <a:latin typeface="BIZ UDPGothic"/>
                <a:ea typeface="BIZ UDPGothic"/>
              </a:rPr>
              <a:t>3,500</a:t>
            </a:r>
          </a:p>
        </p:txBody>
      </p:sp>
      <p:sp>
        <p:nvSpPr>
          <p:cNvPr id="122" name="DataRow2"/>
          <p:cNvSpPr/>
          <p:nvPr/>
        </p:nvSpPr>
        <p:spPr>
          <a:xfrm>
            <a:off x="2012301" y="2468880"/>
            <a:ext cx="7840825" cy="320040"/>
          </a:xfrm>
          <a:prstGeom prst="rect">
            <a:avLst/>
          </a:prstGeom>
          <a:solidFill>
            <a:srgbClr val="F2F2F2"/>
          </a:solidFill>
          <a:ln w="0">
            <a:noFill/>
          </a:ln>
        </p:spPr>
        <p:txBody>
          <a:bodyPr lIns="91440" tIns="45720" rIns="91440" bIns="45720" anchor="ctr"/>
          <a:lstStyle/>
          <a:p>
            <a:pPr algn="l">
              <a:buNone/>
            </a:pPr>
            <a:r>
              <a:rPr lang="ja-JP" sz="1200" b="1" dirty="0">
                <a:solidFill>
                  <a:srgbClr val="8B2500"/>
                </a:solidFill>
                <a:latin typeface="BIZ UDPGothic"/>
                <a:ea typeface="BIZ UDPGothic"/>
              </a:rPr>
              <a:t>列数　</a:t>
            </a:r>
            <a:r>
              <a:rPr lang="ja-JP" sz="1200" dirty="0">
                <a:solidFill>
                  <a:srgbClr val="333333"/>
                </a:solidFill>
                <a:latin typeface="BIZ UDPGothic"/>
                <a:ea typeface="BIZ UDPGothic"/>
              </a:rPr>
              <a:t>12</a:t>
            </a:r>
          </a:p>
        </p:txBody>
      </p:sp>
      <p:sp>
        <p:nvSpPr>
          <p:cNvPr id="123" name="DataRow3"/>
          <p:cNvSpPr/>
          <p:nvPr/>
        </p:nvSpPr>
        <p:spPr>
          <a:xfrm>
            <a:off x="2012301" y="2788920"/>
            <a:ext cx="7840825" cy="320040"/>
          </a:xfrm>
          <a:prstGeom prst="rect">
            <a:avLst/>
          </a:prstGeom>
          <a:solidFill>
            <a:srgbClr val="FFFFFF"/>
          </a:solidFill>
          <a:ln w="0">
            <a:noFill/>
          </a:ln>
        </p:spPr>
        <p:txBody>
          <a:bodyPr lIns="91440" tIns="45720" rIns="91440" bIns="45720" anchor="ctr"/>
          <a:lstStyle/>
          <a:p>
            <a:pPr algn="l">
              <a:buNone/>
            </a:pPr>
            <a:r>
              <a:rPr lang="ja-JP" sz="1200" b="1" dirty="0">
                <a:solidFill>
                  <a:srgbClr val="8B2500"/>
                </a:solidFill>
                <a:latin typeface="BIZ UDPGothic"/>
                <a:ea typeface="BIZ UDPGothic"/>
              </a:rPr>
              <a:t>目的変数　</a:t>
            </a:r>
            <a:r>
              <a:rPr lang="ja-JP" sz="1200" dirty="0">
                <a:solidFill>
                  <a:srgbClr val="333333"/>
                </a:solidFill>
                <a:latin typeface="BIZ UDPGothic"/>
                <a:ea typeface="BIZ UDPGothic"/>
              </a:rPr>
              <a:t>disease（0:無、1:有）</a:t>
            </a:r>
          </a:p>
        </p:txBody>
      </p:sp>
      <p:sp>
        <p:nvSpPr>
          <p:cNvPr id="124" name="DataRow4"/>
          <p:cNvSpPr/>
          <p:nvPr/>
        </p:nvSpPr>
        <p:spPr>
          <a:xfrm>
            <a:off x="2012301" y="3108960"/>
            <a:ext cx="7840825" cy="320040"/>
          </a:xfrm>
          <a:prstGeom prst="rect">
            <a:avLst/>
          </a:prstGeom>
          <a:solidFill>
            <a:srgbClr val="F2F2F2"/>
          </a:solidFill>
          <a:ln w="0">
            <a:noFill/>
          </a:ln>
        </p:spPr>
        <p:txBody>
          <a:bodyPr lIns="91440" tIns="45720" rIns="91440" bIns="45720" anchor="ctr"/>
          <a:lstStyle/>
          <a:p>
            <a:pPr algn="l">
              <a:buNone/>
            </a:pPr>
            <a:r>
              <a:rPr lang="ja-JP" sz="1200" b="1" dirty="0">
                <a:solidFill>
                  <a:srgbClr val="8B2500"/>
                </a:solidFill>
                <a:latin typeface="BIZ UDPGothic"/>
                <a:ea typeface="BIZ UDPGothic"/>
              </a:rPr>
              <a:t>粒度　</a:t>
            </a:r>
            <a:r>
              <a:rPr lang="ja-JP" sz="1200" dirty="0">
                <a:solidFill>
                  <a:srgbClr val="333333"/>
                </a:solidFill>
                <a:latin typeface="BIZ UDPGothic"/>
                <a:ea typeface="BIZ UDPGothic"/>
              </a:rPr>
              <a:t>患者単位スナップショット（時系列なし）</a:t>
            </a:r>
          </a:p>
        </p:txBody>
      </p:sp>
    </p:spTree>
    <p:extLst>
      <p:ext uri="{BB962C8B-B14F-4D97-AF65-F5344CB8AC3E}">
        <p14:creationId xmlns:p14="http://schemas.microsoft.com/office/powerpoint/2010/main" val="1176341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04</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分析アプローチ ─ 全体フロー</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03" name="Subtitle"/>
          <p:cNvSpPr/>
          <p:nvPr/>
        </p:nvSpPr>
        <p:spPr>
          <a:xfrm>
            <a:off x="457200" y="868680"/>
            <a:ext cx="11277600" cy="365760"/>
          </a:xfrm>
          <a:prstGeom prst="rect">
            <a:avLst/>
          </a:prstGeom>
          <a:noFill/>
          <a:ln w="0">
            <a:noFill/>
          </a:ln>
        </p:spPr>
        <p:txBody>
          <a:bodyPr lIns="91440" tIns="45720" rIns="91440" bIns="45720" anchor="ctr"/>
          <a:lstStyle/>
          <a:p>
            <a:pPr algn="l">
              <a:buNone/>
            </a:pPr>
            <a:r>
              <a:rPr lang="ja-JP" sz="1400" dirty="0">
                <a:solidFill>
                  <a:srgbClr val="787878"/>
                </a:solidFill>
                <a:latin typeface="BIZ UDPGothic"/>
                <a:ea typeface="BIZ UDPGothic"/>
              </a:rPr>
              <a:t>再現可能性、説明可能性、医療分野における慎重な解釈を重視した分析プロセス</a:t>
            </a:r>
          </a:p>
        </p:txBody>
      </p:sp>
      <p:sp>
        <p:nvSpPr>
          <p:cNvPr id="110" name="Step0"/>
          <p:cNvSpPr/>
          <p:nvPr/>
        </p:nvSpPr>
        <p:spPr>
          <a:xfrm>
            <a:off x="457200" y="1371600"/>
            <a:ext cx="2011680" cy="1554480"/>
          </a:xfrm>
          <a:prstGeom prst="roundRect">
            <a:avLst/>
          </a:prstGeom>
          <a:solidFill>
            <a:srgbClr val="F2F2F2"/>
          </a:solidFill>
          <a:ln w="0">
            <a:noFill/>
          </a:ln>
        </p:spPr>
        <p:txBody>
          <a:bodyPr lIns="91440" tIns="45720" rIns="91440" bIns="45720" anchor="ctr"/>
          <a:lstStyle/>
          <a:p>
            <a:pPr algn="ctr">
              <a:buNone/>
            </a:pPr>
            <a:r>
              <a:rPr lang="ja-JP" sz="1100" b="1" dirty="0">
                <a:solidFill>
                  <a:srgbClr val="8B2500"/>
                </a:solidFill>
                <a:latin typeface="BIZ UDPGothic"/>
                <a:ea typeface="BIZ UDPGothic"/>
              </a:rPr>
              <a:t>4.1</a:t>
            </a:r>
          </a:p>
          <a:p>
            <a:pPr algn="ctr">
              <a:buNone/>
            </a:pPr>
            <a:r>
              <a:rPr lang="ja-JP" sz="1400" b="1" dirty="0">
                <a:solidFill>
                  <a:srgbClr val="1A1A1A"/>
                </a:solidFill>
                <a:latin typeface="BIZ UDPGothic"/>
                <a:ea typeface="BIZ UDPGothic"/>
              </a:rPr>
              <a:t>データ理解
品質確認</a:t>
            </a:r>
          </a:p>
          <a:p>
            <a:pPr algn="ctr">
              <a:buNone/>
            </a:pPr>
            <a:r>
              <a:rPr lang="ja-JP" sz="1100" dirty="0">
                <a:solidFill>
                  <a:srgbClr val="787878"/>
                </a:solidFill>
                <a:latin typeface="BIZ UDPGothic"/>
                <a:ea typeface="BIZ UDPGothic"/>
              </a:rPr>
              <a:t>カラム定義、分布
外れ値・入力不整合</a:t>
            </a:r>
          </a:p>
        </p:txBody>
      </p:sp>
      <p:sp>
        <p:nvSpPr>
          <p:cNvPr id="111" name="Arrow0"/>
          <p:cNvSpPr/>
          <p:nvPr/>
        </p:nvSpPr>
        <p:spPr>
          <a:xfrm>
            <a:off x="2468880" y="2011680"/>
            <a:ext cx="274320" cy="27432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13" name="Step1"/>
          <p:cNvSpPr/>
          <p:nvPr/>
        </p:nvSpPr>
        <p:spPr>
          <a:xfrm>
            <a:off x="2743200" y="1371600"/>
            <a:ext cx="2011680" cy="1554480"/>
          </a:xfrm>
          <a:prstGeom prst="roundRect">
            <a:avLst/>
          </a:prstGeom>
          <a:solidFill>
            <a:srgbClr val="F2F2F2"/>
          </a:solidFill>
          <a:ln w="0">
            <a:noFill/>
          </a:ln>
        </p:spPr>
        <p:txBody>
          <a:bodyPr lIns="91440" tIns="45720" rIns="91440" bIns="45720" anchor="ctr"/>
          <a:lstStyle/>
          <a:p>
            <a:pPr algn="ctr">
              <a:buNone/>
            </a:pPr>
            <a:r>
              <a:rPr lang="ja-JP" sz="1100" b="1" dirty="0">
                <a:solidFill>
                  <a:srgbClr val="8B2500"/>
                </a:solidFill>
                <a:latin typeface="BIZ UDPGothic"/>
                <a:ea typeface="BIZ UDPGothic"/>
              </a:rPr>
              <a:t>4.2</a:t>
            </a:r>
          </a:p>
          <a:p>
            <a:pPr algn="ctr">
              <a:buNone/>
            </a:pPr>
            <a:r>
              <a:rPr lang="ja-JP" sz="1400" b="1" dirty="0">
                <a:solidFill>
                  <a:srgbClr val="1A1A1A"/>
                </a:solidFill>
                <a:latin typeface="BIZ UDPGothic"/>
                <a:ea typeface="BIZ UDPGothic"/>
              </a:rPr>
              <a:t>前処理</a:t>
            </a:r>
          </a:p>
          <a:p>
            <a:pPr algn="ctr">
              <a:buNone/>
            </a:pPr>
            <a:r>
              <a:rPr lang="ja-JP" sz="1100" dirty="0">
                <a:solidFill>
                  <a:srgbClr val="787878"/>
                </a:solidFill>
                <a:latin typeface="BIZ UDPGothic"/>
                <a:ea typeface="BIZ UDPGothic"/>
              </a:rPr>
              <a:t>欠損補完、カテゴリ変換
id除外、再現性確保</a:t>
            </a:r>
          </a:p>
        </p:txBody>
      </p:sp>
      <p:sp>
        <p:nvSpPr>
          <p:cNvPr id="114" name="Arrow1"/>
          <p:cNvSpPr/>
          <p:nvPr/>
        </p:nvSpPr>
        <p:spPr>
          <a:xfrm>
            <a:off x="4754880" y="2011680"/>
            <a:ext cx="274320" cy="27432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16" name="Step2"/>
          <p:cNvSpPr/>
          <p:nvPr/>
        </p:nvSpPr>
        <p:spPr>
          <a:xfrm>
            <a:off x="5029200" y="1371600"/>
            <a:ext cx="2011680" cy="1554480"/>
          </a:xfrm>
          <a:prstGeom prst="roundRect">
            <a:avLst/>
          </a:prstGeom>
          <a:solidFill>
            <a:srgbClr val="F2F2F2"/>
          </a:solidFill>
          <a:ln w="0">
            <a:noFill/>
          </a:ln>
        </p:spPr>
        <p:txBody>
          <a:bodyPr lIns="91440" tIns="45720" rIns="91440" bIns="45720" anchor="ctr"/>
          <a:lstStyle/>
          <a:p>
            <a:pPr algn="ctr">
              <a:buNone/>
            </a:pPr>
            <a:r>
              <a:rPr lang="ja-JP" sz="1100" b="1" dirty="0">
                <a:solidFill>
                  <a:srgbClr val="8B2500"/>
                </a:solidFill>
                <a:latin typeface="BIZ UDPGothic"/>
                <a:ea typeface="BIZ UDPGothic"/>
              </a:rPr>
              <a:t>4.3</a:t>
            </a:r>
          </a:p>
          <a:p>
            <a:pPr algn="ctr">
              <a:buNone/>
            </a:pPr>
            <a:r>
              <a:rPr lang="ja-JP" sz="1400" b="1" dirty="0">
                <a:solidFill>
                  <a:srgbClr val="1A1A1A"/>
                </a:solidFill>
                <a:latin typeface="BIZ UDPGothic"/>
                <a:ea typeface="BIZ UDPGothic"/>
              </a:rPr>
              <a:t>モデル構築</a:t>
            </a:r>
          </a:p>
          <a:p>
            <a:pPr algn="ctr">
              <a:buNone/>
            </a:pPr>
            <a:r>
              <a:rPr lang="ja-JP" sz="1100" dirty="0">
                <a:solidFill>
                  <a:srgbClr val="787878"/>
                </a:solidFill>
                <a:latin typeface="BIZ UDPGothic"/>
                <a:ea typeface="BIZ UDPGothic"/>
              </a:rPr>
              <a:t>複数モデル比較
ROC-AUC等で評価</a:t>
            </a:r>
          </a:p>
        </p:txBody>
      </p:sp>
      <p:sp>
        <p:nvSpPr>
          <p:cNvPr id="117" name="Arrow2"/>
          <p:cNvSpPr/>
          <p:nvPr/>
        </p:nvSpPr>
        <p:spPr>
          <a:xfrm>
            <a:off x="7040880" y="2011680"/>
            <a:ext cx="274320" cy="27432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19" name="Step3"/>
          <p:cNvSpPr/>
          <p:nvPr/>
        </p:nvSpPr>
        <p:spPr>
          <a:xfrm>
            <a:off x="7315200" y="1371600"/>
            <a:ext cx="2011680" cy="1554480"/>
          </a:xfrm>
          <a:prstGeom prst="roundRect">
            <a:avLst/>
          </a:prstGeom>
          <a:solidFill>
            <a:srgbClr val="F2F2F2"/>
          </a:solidFill>
          <a:ln w="0">
            <a:noFill/>
          </a:ln>
        </p:spPr>
        <p:txBody>
          <a:bodyPr lIns="91440" tIns="45720" rIns="91440" bIns="45720" anchor="ctr"/>
          <a:lstStyle/>
          <a:p>
            <a:pPr algn="ctr">
              <a:buNone/>
            </a:pPr>
            <a:r>
              <a:rPr lang="ja-JP" sz="1100" b="1" dirty="0">
                <a:solidFill>
                  <a:srgbClr val="8B2500"/>
                </a:solidFill>
                <a:latin typeface="BIZ UDPGothic"/>
                <a:ea typeface="BIZ UDPGothic"/>
              </a:rPr>
              <a:t>4.4</a:t>
            </a:r>
          </a:p>
          <a:p>
            <a:pPr algn="ctr">
              <a:buNone/>
            </a:pPr>
            <a:r>
              <a:rPr lang="ja-JP" sz="1400" b="1" dirty="0">
                <a:solidFill>
                  <a:srgbClr val="1A1A1A"/>
                </a:solidFill>
                <a:latin typeface="BIZ UDPGothic"/>
                <a:ea typeface="BIZ UDPGothic"/>
              </a:rPr>
              <a:t>解釈・示唆</a:t>
            </a:r>
          </a:p>
          <a:p>
            <a:pPr algn="ctr">
              <a:buNone/>
            </a:pPr>
            <a:r>
              <a:rPr lang="ja-JP" sz="1100" dirty="0">
                <a:solidFill>
                  <a:srgbClr val="787878"/>
                </a:solidFill>
                <a:latin typeface="BIZ UDPGothic"/>
                <a:ea typeface="BIZ UDPGothic"/>
              </a:rPr>
              <a:t>重要特徴量、誤判定
業務利用の可能性</a:t>
            </a:r>
          </a:p>
        </p:txBody>
      </p:sp>
      <p:sp>
        <p:nvSpPr>
          <p:cNvPr id="120" name="Arrow3"/>
          <p:cNvSpPr/>
          <p:nvPr/>
        </p:nvSpPr>
        <p:spPr>
          <a:xfrm>
            <a:off x="9326880" y="2011680"/>
            <a:ext cx="274320" cy="27432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22" name="Step4"/>
          <p:cNvSpPr/>
          <p:nvPr/>
        </p:nvSpPr>
        <p:spPr>
          <a:xfrm>
            <a:off x="9601200" y="1371600"/>
            <a:ext cx="2011680" cy="1554480"/>
          </a:xfrm>
          <a:prstGeom prst="roundRect">
            <a:avLst/>
          </a:prstGeom>
          <a:solidFill>
            <a:srgbClr val="F2F2F2"/>
          </a:solidFill>
          <a:ln w="0">
            <a:noFill/>
          </a:ln>
        </p:spPr>
        <p:txBody>
          <a:bodyPr lIns="91440" tIns="45720" rIns="91440" bIns="45720" anchor="ctr"/>
          <a:lstStyle/>
          <a:p>
            <a:pPr algn="ctr">
              <a:buNone/>
            </a:pPr>
            <a:r>
              <a:rPr lang="ja-JP" sz="1100" b="1" dirty="0">
                <a:solidFill>
                  <a:srgbClr val="8B2500"/>
                </a:solidFill>
                <a:latin typeface="BIZ UDPGothic"/>
                <a:ea typeface="BIZ UDPGothic"/>
              </a:rPr>
              <a:t>4.5</a:t>
            </a:r>
          </a:p>
          <a:p>
            <a:pPr algn="ctr">
              <a:buNone/>
            </a:pPr>
            <a:r>
              <a:rPr lang="ja-JP" sz="1400" b="1" dirty="0">
                <a:solidFill>
                  <a:srgbClr val="1A1A1A"/>
                </a:solidFill>
                <a:latin typeface="BIZ UDPGothic"/>
                <a:ea typeface="BIZ UDPGothic"/>
              </a:rPr>
              <a:t>成果の
位置づけ</a:t>
            </a:r>
          </a:p>
          <a:p>
            <a:pPr algn="ctr">
              <a:buNone/>
            </a:pPr>
            <a:r>
              <a:rPr lang="ja-JP" sz="1100" dirty="0">
                <a:solidFill>
                  <a:srgbClr val="787878"/>
                </a:solidFill>
                <a:latin typeface="BIZ UDPGothic"/>
                <a:ea typeface="BIZ UDPGothic"/>
              </a:rPr>
              <a:t>初期分析として
次段階への基礎資料</a:t>
            </a:r>
          </a:p>
        </p:txBody>
      </p:sp>
      <p:sp>
        <p:nvSpPr>
          <p:cNvPr id="130" name="EmphasisBar"/>
          <p:cNvSpPr/>
          <p:nvPr/>
        </p:nvSpPr>
        <p:spPr>
          <a:xfrm>
            <a:off x="457200" y="3200400"/>
            <a:ext cx="11277600" cy="548640"/>
          </a:xfrm>
          <a:prstGeom prst="roundRect">
            <a:avLst/>
          </a:prstGeom>
          <a:solidFill>
            <a:srgbClr val="1A1A1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各フェーズの詳細は次スライド以降で説明</a:t>
            </a:r>
          </a:p>
        </p:txBody>
      </p:sp>
    </p:spTree>
    <p:extLst>
      <p:ext uri="{BB962C8B-B14F-4D97-AF65-F5344CB8AC3E}">
        <p14:creationId xmlns:p14="http://schemas.microsoft.com/office/powerpoint/2010/main" val="3289606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04</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400" b="1" dirty="0">
                <a:solidFill>
                  <a:srgbClr val="1A1A1A"/>
                </a:solidFill>
                <a:latin typeface="BIZ UDPGothic"/>
                <a:ea typeface="BIZ UDPGothic"/>
              </a:rPr>
              <a:t>4.1 データ理解・品質確認</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Check0"/>
          <p:cNvSpPr/>
          <p:nvPr/>
        </p:nvSpPr>
        <p:spPr>
          <a:xfrm>
            <a:off x="457200" y="960120"/>
            <a:ext cx="5334000" cy="1828800"/>
          </a:xfrm>
          <a:prstGeom prst="roundRect">
            <a:avLst/>
          </a:prstGeom>
          <a:solidFill>
            <a:srgbClr val="F2F2F2"/>
          </a:solidFill>
          <a:ln w="0">
            <a:noFill/>
          </a:ln>
        </p:spPr>
        <p:txBody>
          <a:bodyPr lIns="91440" tIns="45720" rIns="91440" bIns="45720" anchor="ctr"/>
          <a:lstStyle/>
          <a:p>
            <a:pPr algn="l">
              <a:buNone/>
            </a:pPr>
            <a:r>
              <a:rPr lang="ja-JP" sz="2000" b="1" dirty="0">
                <a:solidFill>
                  <a:srgbClr val="8B2500"/>
                </a:solidFill>
                <a:latin typeface="BIZ UDPGothic"/>
                <a:ea typeface="BIZ UDPGothic"/>
              </a:rPr>
              <a:t>①</a:t>
            </a:r>
            <a:r>
              <a:rPr lang="ja-JP" sz="1600" b="1" dirty="0">
                <a:solidFill>
                  <a:srgbClr val="1A1A1A"/>
                </a:solidFill>
                <a:latin typeface="BIZ UDPGothic"/>
                <a:ea typeface="BIZ UDPGothic"/>
              </a:rPr>
              <a:t>  カラム定義・型・分布</a:t>
            </a:r>
          </a:p>
          <a:p>
            <a:pPr algn="l">
              <a:buNone/>
            </a:pPr>
            <a:r>
              <a:rPr lang="ja-JP" sz="1300" dirty="0">
                <a:solidFill>
                  <a:srgbClr val="333333"/>
                </a:solidFill>
                <a:latin typeface="BIZ UDPGothic"/>
                <a:ea typeface="BIZ UDPGothic"/>
              </a:rPr>
              <a:t>各列の定義、データ型、分布特性、目的変数（disease）の比率を確認する。</a:t>
            </a:r>
          </a:p>
        </p:txBody>
      </p:sp>
      <p:sp>
        <p:nvSpPr>
          <p:cNvPr id="111" name="Check1"/>
          <p:cNvSpPr/>
          <p:nvPr/>
        </p:nvSpPr>
        <p:spPr>
          <a:xfrm>
            <a:off x="6065520" y="960120"/>
            <a:ext cx="5334000" cy="1828800"/>
          </a:xfrm>
          <a:prstGeom prst="roundRect">
            <a:avLst/>
          </a:prstGeom>
          <a:solidFill>
            <a:srgbClr val="F2F2F2"/>
          </a:solidFill>
          <a:ln w="0">
            <a:noFill/>
          </a:ln>
        </p:spPr>
        <p:txBody>
          <a:bodyPr lIns="91440" tIns="45720" rIns="91440" bIns="45720" anchor="ctr"/>
          <a:lstStyle/>
          <a:p>
            <a:pPr algn="l">
              <a:buNone/>
            </a:pPr>
            <a:r>
              <a:rPr lang="ja-JP" sz="2000" b="1" dirty="0">
                <a:solidFill>
                  <a:srgbClr val="8B2500"/>
                </a:solidFill>
                <a:latin typeface="BIZ UDPGothic"/>
                <a:ea typeface="BIZ UDPGothic"/>
              </a:rPr>
              <a:t>②</a:t>
            </a:r>
            <a:r>
              <a:rPr lang="ja-JP" sz="1600" b="1" dirty="0">
                <a:solidFill>
                  <a:srgbClr val="1A1A1A"/>
                </a:solidFill>
                <a:latin typeface="BIZ UDPGothic"/>
                <a:ea typeface="BIZ UDPGothic"/>
              </a:rPr>
              <a:t>  id列の除外確認</a:t>
            </a:r>
          </a:p>
          <a:p>
            <a:pPr algn="l">
              <a:buNone/>
            </a:pPr>
            <a:r>
              <a:rPr lang="ja-JP" sz="1300" dirty="0">
                <a:solidFill>
                  <a:srgbClr val="333333"/>
                </a:solidFill>
                <a:latin typeface="BIZ UDPGothic"/>
                <a:ea typeface="BIZ UDPGothic"/>
              </a:rPr>
              <a:t>idはインデックス用途であり、モデリング対象から除外する。予測特徴量として使用しない。</a:t>
            </a:r>
          </a:p>
        </p:txBody>
      </p:sp>
      <p:sp>
        <p:nvSpPr>
          <p:cNvPr id="112" name="Check2"/>
          <p:cNvSpPr/>
          <p:nvPr/>
        </p:nvSpPr>
        <p:spPr>
          <a:xfrm>
            <a:off x="457200" y="3063240"/>
            <a:ext cx="5334000" cy="1828800"/>
          </a:xfrm>
          <a:prstGeom prst="roundRect">
            <a:avLst/>
          </a:prstGeom>
          <a:solidFill>
            <a:srgbClr val="F2F2F2"/>
          </a:solidFill>
          <a:ln w="0">
            <a:noFill/>
          </a:ln>
        </p:spPr>
        <p:txBody>
          <a:bodyPr lIns="91440" tIns="45720" rIns="91440" bIns="45720" anchor="ctr"/>
          <a:lstStyle/>
          <a:p>
            <a:pPr algn="l">
              <a:buNone/>
            </a:pPr>
            <a:r>
              <a:rPr lang="ja-JP" sz="2000" b="1" dirty="0">
                <a:solidFill>
                  <a:srgbClr val="8B2500"/>
                </a:solidFill>
                <a:latin typeface="BIZ UDPGothic"/>
                <a:ea typeface="BIZ UDPGothic"/>
              </a:rPr>
              <a:t>③</a:t>
            </a:r>
            <a:r>
              <a:rPr lang="ja-JP" sz="1600" b="1" dirty="0">
                <a:solidFill>
                  <a:srgbClr val="1A1A1A"/>
                </a:solidFill>
                <a:latin typeface="BIZ UDPGothic"/>
                <a:ea typeface="BIZ UDPGothic"/>
              </a:rPr>
              <a:t>  外れ値・歪度・レンジ</a:t>
            </a:r>
          </a:p>
          <a:p>
            <a:pPr algn="l">
              <a:buNone/>
            </a:pPr>
            <a:r>
              <a:rPr lang="ja-JP" sz="1300" dirty="0">
                <a:solidFill>
                  <a:srgbClr val="333333"/>
                </a:solidFill>
                <a:latin typeface="BIZ UDPGothic"/>
                <a:ea typeface="BIZ UDPGothic"/>
              </a:rPr>
              <a:t>数値項目の外れ値傾向、歪度、レンジを確認し、異常値候補を整理する。</a:t>
            </a:r>
          </a:p>
        </p:txBody>
      </p:sp>
      <p:sp>
        <p:nvSpPr>
          <p:cNvPr id="113" name="Check3"/>
          <p:cNvSpPr/>
          <p:nvPr/>
        </p:nvSpPr>
        <p:spPr>
          <a:xfrm>
            <a:off x="6065520" y="3063240"/>
            <a:ext cx="5334000" cy="1828800"/>
          </a:xfrm>
          <a:prstGeom prst="roundRect">
            <a:avLst/>
          </a:prstGeom>
          <a:solidFill>
            <a:srgbClr val="F2F2F2"/>
          </a:solidFill>
          <a:ln w="0">
            <a:noFill/>
          </a:ln>
        </p:spPr>
        <p:txBody>
          <a:bodyPr lIns="91440" tIns="45720" rIns="91440" bIns="45720" anchor="ctr"/>
          <a:lstStyle/>
          <a:p>
            <a:pPr algn="l">
              <a:buNone/>
            </a:pPr>
            <a:r>
              <a:rPr lang="ja-JP" sz="2000" b="1" dirty="0">
                <a:solidFill>
                  <a:srgbClr val="8B2500"/>
                </a:solidFill>
                <a:latin typeface="BIZ UDPGothic"/>
                <a:ea typeface="BIZ UDPGothic"/>
              </a:rPr>
              <a:t>④</a:t>
            </a:r>
            <a:r>
              <a:rPr lang="ja-JP" sz="1600" b="1" dirty="0">
                <a:solidFill>
                  <a:srgbClr val="1A1A1A"/>
                </a:solidFill>
                <a:latin typeface="BIZ UDPGothic"/>
                <a:ea typeface="BIZ UDPGothic"/>
              </a:rPr>
              <a:t>  値妥当性・入力不整合</a:t>
            </a:r>
          </a:p>
          <a:p>
            <a:pPr algn="l">
              <a:buNone/>
            </a:pPr>
            <a:r>
              <a:rPr lang="ja-JP" sz="1300" dirty="0">
                <a:solidFill>
                  <a:srgbClr val="333333"/>
                </a:solidFill>
                <a:latin typeface="BIZ UDPGothic"/>
                <a:ea typeface="BIZ UDPGothic"/>
              </a:rPr>
              <a:t>値の妥当性および入力不整合の有無を確認し、データ品質を担保する。</a:t>
            </a:r>
          </a:p>
        </p:txBody>
      </p:sp>
    </p:spTree>
    <p:extLst>
      <p:ext uri="{BB962C8B-B14F-4D97-AF65-F5344CB8AC3E}">
        <p14:creationId xmlns:p14="http://schemas.microsoft.com/office/powerpoint/2010/main" val="298884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04</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400" b="1" dirty="0">
                <a:solidFill>
                  <a:srgbClr val="1A1A1A"/>
                </a:solidFill>
                <a:latin typeface="BIZ UDPGothic"/>
                <a:ea typeface="BIZ UDPGothic"/>
              </a:rPr>
              <a:t>4.2 前処理方針</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THCat"/>
          <p:cNvSpPr/>
          <p:nvPr/>
        </p:nvSpPr>
        <p:spPr>
          <a:xfrm>
            <a:off x="457200" y="960120"/>
            <a:ext cx="2286000" cy="365760"/>
          </a:xfrm>
          <a:prstGeom prst="rect">
            <a:avLst/>
          </a:prstGeom>
          <a:solidFill>
            <a:srgbClr val="1A1A1A"/>
          </a:solidFill>
          <a:ln w="0">
            <a:noFill/>
          </a:ln>
        </p:spPr>
        <p:txBody>
          <a:bodyPr lIns="91440" tIns="45720" rIns="91440" bIns="45720" anchor="ctr"/>
          <a:lstStyle/>
          <a:p>
            <a:pPr algn="ctr">
              <a:buNone/>
            </a:pPr>
            <a:r>
              <a:rPr lang="ja-JP" sz="1300" b="1" dirty="0">
                <a:solidFill>
                  <a:srgbClr val="FFFFFF"/>
                </a:solidFill>
                <a:latin typeface="BIZ UDPGothic"/>
                <a:ea typeface="BIZ UDPGothic"/>
              </a:rPr>
              <a:t>対象</a:t>
            </a:r>
          </a:p>
        </p:txBody>
      </p:sp>
      <p:sp>
        <p:nvSpPr>
          <p:cNvPr id="111" name="THRule"/>
          <p:cNvSpPr/>
          <p:nvPr/>
        </p:nvSpPr>
        <p:spPr>
          <a:xfrm>
            <a:off x="2743200" y="960120"/>
            <a:ext cx="2743200" cy="365760"/>
          </a:xfrm>
          <a:prstGeom prst="rect">
            <a:avLst/>
          </a:prstGeom>
          <a:solidFill>
            <a:srgbClr val="1A1A1A"/>
          </a:solidFill>
          <a:ln w="0">
            <a:noFill/>
          </a:ln>
        </p:spPr>
        <p:txBody>
          <a:bodyPr lIns="91440" tIns="45720" rIns="91440" bIns="45720" anchor="ctr"/>
          <a:lstStyle/>
          <a:p>
            <a:pPr algn="ctr">
              <a:buNone/>
            </a:pPr>
            <a:r>
              <a:rPr lang="ja-JP" sz="1300" b="1" dirty="0">
                <a:solidFill>
                  <a:srgbClr val="FFFFFF"/>
                </a:solidFill>
                <a:latin typeface="BIZ UDPGothic"/>
                <a:ea typeface="BIZ UDPGothic"/>
              </a:rPr>
              <a:t>処理方法</a:t>
            </a:r>
          </a:p>
        </p:txBody>
      </p:sp>
      <p:sp>
        <p:nvSpPr>
          <p:cNvPr id="112" name="THDetail"/>
          <p:cNvSpPr/>
          <p:nvPr/>
        </p:nvSpPr>
        <p:spPr>
          <a:xfrm>
            <a:off x="5486400" y="960120"/>
            <a:ext cx="6248400" cy="365760"/>
          </a:xfrm>
          <a:prstGeom prst="rect">
            <a:avLst/>
          </a:prstGeom>
          <a:solidFill>
            <a:srgbClr val="1A1A1A"/>
          </a:solidFill>
          <a:ln w="0">
            <a:noFill/>
          </a:ln>
        </p:spPr>
        <p:txBody>
          <a:bodyPr lIns="91440" tIns="45720" rIns="91440" bIns="45720" anchor="ctr"/>
          <a:lstStyle/>
          <a:p>
            <a:pPr algn="ctr">
              <a:buNone/>
            </a:pPr>
            <a:r>
              <a:rPr lang="ja-JP" sz="1300" b="1" dirty="0">
                <a:solidFill>
                  <a:srgbClr val="FFFFFF"/>
                </a:solidFill>
                <a:latin typeface="BIZ UDPGothic"/>
                <a:ea typeface="BIZ UDPGothic"/>
              </a:rPr>
              <a:t>詳細</a:t>
            </a:r>
          </a:p>
        </p:txBody>
      </p:sp>
      <p:sp>
        <p:nvSpPr>
          <p:cNvPr id="120" name="RCat0"/>
          <p:cNvSpPr/>
          <p:nvPr/>
        </p:nvSpPr>
        <p:spPr>
          <a:xfrm>
            <a:off x="457200" y="1325880"/>
            <a:ext cx="22860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8B2500"/>
                </a:solidFill>
                <a:latin typeface="BIZ UDPGothic"/>
                <a:ea typeface="BIZ UDPGothic"/>
              </a:rPr>
              <a:t>除外</a:t>
            </a:r>
          </a:p>
        </p:txBody>
      </p:sp>
      <p:sp>
        <p:nvSpPr>
          <p:cNvPr id="121" name="RRule0"/>
          <p:cNvSpPr/>
          <p:nvPr/>
        </p:nvSpPr>
        <p:spPr>
          <a:xfrm>
            <a:off x="2743200" y="1325880"/>
            <a:ext cx="27432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1A1A1A"/>
                </a:solidFill>
                <a:latin typeface="BIZ UDPGothic"/>
                <a:ea typeface="BIZ UDPGothic"/>
              </a:rPr>
              <a:t>id列</a:t>
            </a:r>
          </a:p>
        </p:txBody>
      </p:sp>
      <p:sp>
        <p:nvSpPr>
          <p:cNvPr id="122" name="RDetail0"/>
          <p:cNvSpPr/>
          <p:nvPr/>
        </p:nvSpPr>
        <p:spPr>
          <a:xfrm>
            <a:off x="5486400" y="1325880"/>
            <a:ext cx="6248400" cy="365760"/>
          </a:xfrm>
          <a:prstGeom prst="rect">
            <a:avLst/>
          </a:prstGeom>
          <a:solidFill>
            <a:srgbClr val="F2F2F2"/>
          </a:solidFill>
          <a:ln w="0">
            <a:noFill/>
          </a:ln>
        </p:spPr>
        <p:txBody>
          <a:bodyPr lIns="91440" tIns="45720" rIns="91440" bIns="45720" anchor="ctr"/>
          <a:lstStyle/>
          <a:p>
            <a:pPr algn="l">
              <a:buNone/>
            </a:pPr>
            <a:r>
              <a:rPr lang="ja-JP" sz="1200" dirty="0">
                <a:solidFill>
                  <a:srgbClr val="333333"/>
                </a:solidFill>
                <a:latin typeface="BIZ UDPGothic"/>
                <a:ea typeface="BIZ UDPGothic"/>
              </a:rPr>
              <a:t>識別子のためモデリングから除外</a:t>
            </a:r>
          </a:p>
        </p:txBody>
      </p:sp>
      <p:sp>
        <p:nvSpPr>
          <p:cNvPr id="123" name="RCat1"/>
          <p:cNvSpPr/>
          <p:nvPr/>
        </p:nvSpPr>
        <p:spPr>
          <a:xfrm>
            <a:off x="457200" y="1691640"/>
            <a:ext cx="2286000" cy="365760"/>
          </a:xfrm>
          <a:prstGeom prst="rect">
            <a:avLst/>
          </a:prstGeom>
          <a:solidFill>
            <a:srgbClr val="FFFFFF"/>
          </a:solidFill>
          <a:ln w="0">
            <a:noFill/>
          </a:ln>
        </p:spPr>
        <p:txBody>
          <a:bodyPr lIns="91440" tIns="45720" rIns="91440" bIns="45720" anchor="ctr"/>
          <a:lstStyle/>
          <a:p>
            <a:pPr algn="ctr">
              <a:buNone/>
            </a:pPr>
            <a:r>
              <a:rPr lang="ja-JP" sz="1200" b="1" dirty="0">
                <a:solidFill>
                  <a:srgbClr val="8B2500"/>
                </a:solidFill>
                <a:latin typeface="BIZ UDPGothic"/>
                <a:ea typeface="BIZ UDPGothic"/>
              </a:rPr>
              <a:t>除外</a:t>
            </a:r>
          </a:p>
        </p:txBody>
      </p:sp>
      <p:sp>
        <p:nvSpPr>
          <p:cNvPr id="124" name="RRule1"/>
          <p:cNvSpPr/>
          <p:nvPr/>
        </p:nvSpPr>
        <p:spPr>
          <a:xfrm>
            <a:off x="2743200" y="1691640"/>
            <a:ext cx="2743200" cy="365760"/>
          </a:xfrm>
          <a:prstGeom prst="rect">
            <a:avLst/>
          </a:prstGeom>
          <a:solidFill>
            <a:srgbClr val="FFFFFF"/>
          </a:solidFill>
          <a:ln w="0">
            <a:noFill/>
          </a:ln>
        </p:spPr>
        <p:txBody>
          <a:bodyPr lIns="91440" tIns="45720" rIns="91440" bIns="45720" anchor="ctr"/>
          <a:lstStyle/>
          <a:p>
            <a:pPr algn="ctr">
              <a:buNone/>
            </a:pPr>
            <a:r>
              <a:rPr lang="ja-JP" sz="1200" b="1" dirty="0">
                <a:solidFill>
                  <a:srgbClr val="1A1A1A"/>
                </a:solidFill>
                <a:latin typeface="BIZ UDPGothic"/>
                <a:ea typeface="BIZ UDPGothic"/>
              </a:rPr>
              <a:t>日付列</a:t>
            </a:r>
          </a:p>
        </p:txBody>
      </p:sp>
      <p:sp>
        <p:nvSpPr>
          <p:cNvPr id="125" name="RDetail1"/>
          <p:cNvSpPr/>
          <p:nvPr/>
        </p:nvSpPr>
        <p:spPr>
          <a:xfrm>
            <a:off x="5486400" y="1691640"/>
            <a:ext cx="6248400" cy="365760"/>
          </a:xfrm>
          <a:prstGeom prst="rect">
            <a:avLst/>
          </a:prstGeom>
          <a:solidFill>
            <a:srgbClr val="FFFFFF"/>
          </a:solidFill>
          <a:ln w="0">
            <a:noFill/>
          </a:ln>
        </p:spPr>
        <p:txBody>
          <a:bodyPr lIns="91440" tIns="45720" rIns="91440" bIns="45720" anchor="ctr"/>
          <a:lstStyle/>
          <a:p>
            <a:pPr algn="l">
              <a:buNone/>
            </a:pPr>
            <a:r>
              <a:rPr lang="ja-JP" sz="1200" dirty="0">
                <a:solidFill>
                  <a:srgbClr val="333333"/>
                </a:solidFill>
                <a:latin typeface="BIZ UDPGothic"/>
                <a:ea typeface="BIZ UDPGothic"/>
              </a:rPr>
              <a:t>本件データに日時情報がないため実施しない</a:t>
            </a:r>
          </a:p>
        </p:txBody>
      </p:sp>
      <p:sp>
        <p:nvSpPr>
          <p:cNvPr id="126" name="RCat2"/>
          <p:cNvSpPr/>
          <p:nvPr/>
        </p:nvSpPr>
        <p:spPr>
          <a:xfrm>
            <a:off x="457200" y="2057400"/>
            <a:ext cx="22860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8B2500"/>
                </a:solidFill>
                <a:latin typeface="BIZ UDPGothic"/>
                <a:ea typeface="BIZ UDPGothic"/>
              </a:rPr>
              <a:t>数値欠損</a:t>
            </a:r>
          </a:p>
        </p:txBody>
      </p:sp>
      <p:sp>
        <p:nvSpPr>
          <p:cNvPr id="127" name="RRule2"/>
          <p:cNvSpPr/>
          <p:nvPr/>
        </p:nvSpPr>
        <p:spPr>
          <a:xfrm>
            <a:off x="2743200" y="2057400"/>
            <a:ext cx="27432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1A1A1A"/>
                </a:solidFill>
                <a:latin typeface="BIZ UDPGothic"/>
                <a:ea typeface="BIZ UDPGothic"/>
              </a:rPr>
              <a:t>中央値補完</a:t>
            </a:r>
          </a:p>
        </p:txBody>
      </p:sp>
      <p:sp>
        <p:nvSpPr>
          <p:cNvPr id="128" name="RDetail2"/>
          <p:cNvSpPr/>
          <p:nvPr/>
        </p:nvSpPr>
        <p:spPr>
          <a:xfrm>
            <a:off x="5486400" y="2057400"/>
            <a:ext cx="6248400" cy="365760"/>
          </a:xfrm>
          <a:prstGeom prst="rect">
            <a:avLst/>
          </a:prstGeom>
          <a:solidFill>
            <a:srgbClr val="F2F2F2"/>
          </a:solidFill>
          <a:ln w="0">
            <a:noFill/>
          </a:ln>
        </p:spPr>
        <p:txBody>
          <a:bodyPr lIns="91440" tIns="45720" rIns="91440" bIns="45720" anchor="ctr"/>
          <a:lstStyle/>
          <a:p>
            <a:pPr algn="l">
              <a:buNone/>
            </a:pPr>
            <a:r>
              <a:rPr lang="ja-JP" sz="1200" dirty="0">
                <a:solidFill>
                  <a:srgbClr val="333333"/>
                </a:solidFill>
                <a:latin typeface="BIZ UDPGothic"/>
                <a:ea typeface="BIZ UDPGothic"/>
              </a:rPr>
              <a:t>数値欠損値が存在する場合に適用</a:t>
            </a:r>
          </a:p>
        </p:txBody>
      </p:sp>
      <p:sp>
        <p:nvSpPr>
          <p:cNvPr id="129" name="RCat3"/>
          <p:cNvSpPr/>
          <p:nvPr/>
        </p:nvSpPr>
        <p:spPr>
          <a:xfrm>
            <a:off x="457200" y="2423160"/>
            <a:ext cx="2286000" cy="365760"/>
          </a:xfrm>
          <a:prstGeom prst="rect">
            <a:avLst/>
          </a:prstGeom>
          <a:solidFill>
            <a:srgbClr val="FFFFFF"/>
          </a:solidFill>
          <a:ln w="0">
            <a:noFill/>
          </a:ln>
        </p:spPr>
        <p:txBody>
          <a:bodyPr lIns="91440" tIns="45720" rIns="91440" bIns="45720" anchor="ctr"/>
          <a:lstStyle/>
          <a:p>
            <a:pPr algn="ctr">
              <a:buNone/>
            </a:pPr>
            <a:r>
              <a:rPr lang="ja-JP" sz="1200" b="1" dirty="0">
                <a:solidFill>
                  <a:srgbClr val="8B2500"/>
                </a:solidFill>
                <a:latin typeface="BIZ UDPGothic"/>
                <a:ea typeface="BIZ UDPGothic"/>
              </a:rPr>
              <a:t>カテゴリ欠損</a:t>
            </a:r>
          </a:p>
        </p:txBody>
      </p:sp>
      <p:sp>
        <p:nvSpPr>
          <p:cNvPr id="130" name="RRule3"/>
          <p:cNvSpPr/>
          <p:nvPr/>
        </p:nvSpPr>
        <p:spPr>
          <a:xfrm>
            <a:off x="2743200" y="2423160"/>
            <a:ext cx="2743200" cy="365760"/>
          </a:xfrm>
          <a:prstGeom prst="rect">
            <a:avLst/>
          </a:prstGeom>
          <a:solidFill>
            <a:srgbClr val="FFFFFF"/>
          </a:solidFill>
          <a:ln w="0">
            <a:noFill/>
          </a:ln>
        </p:spPr>
        <p:txBody>
          <a:bodyPr lIns="91440" tIns="45720" rIns="91440" bIns="45720" anchor="ctr"/>
          <a:lstStyle/>
          <a:p>
            <a:pPr algn="ctr">
              <a:buNone/>
            </a:pPr>
            <a:r>
              <a:rPr lang="ja-JP" sz="1200" b="1" dirty="0">
                <a:solidFill>
                  <a:srgbClr val="1A1A1A"/>
                </a:solidFill>
                <a:latin typeface="BIZ UDPGothic"/>
                <a:ea typeface="BIZ UDPGothic"/>
              </a:rPr>
              <a:t>最頻値補完</a:t>
            </a:r>
          </a:p>
        </p:txBody>
      </p:sp>
      <p:sp>
        <p:nvSpPr>
          <p:cNvPr id="131" name="RDetail3"/>
          <p:cNvSpPr/>
          <p:nvPr/>
        </p:nvSpPr>
        <p:spPr>
          <a:xfrm>
            <a:off x="5486400" y="2423160"/>
            <a:ext cx="6248400" cy="365760"/>
          </a:xfrm>
          <a:prstGeom prst="rect">
            <a:avLst/>
          </a:prstGeom>
          <a:solidFill>
            <a:srgbClr val="FFFFFF"/>
          </a:solidFill>
          <a:ln w="0">
            <a:noFill/>
          </a:ln>
        </p:spPr>
        <p:txBody>
          <a:bodyPr lIns="91440" tIns="45720" rIns="91440" bIns="45720" anchor="ctr"/>
          <a:lstStyle/>
          <a:p>
            <a:pPr algn="l">
              <a:buNone/>
            </a:pPr>
            <a:r>
              <a:rPr lang="ja-JP" sz="1200" dirty="0">
                <a:solidFill>
                  <a:srgbClr val="333333"/>
                </a:solidFill>
                <a:latin typeface="BIZ UDPGothic"/>
                <a:ea typeface="BIZ UDPGothic"/>
              </a:rPr>
              <a:t>カテゴリ欠損値が存在する場合に適用</a:t>
            </a:r>
          </a:p>
        </p:txBody>
      </p:sp>
      <p:sp>
        <p:nvSpPr>
          <p:cNvPr id="132" name="RCat4"/>
          <p:cNvSpPr/>
          <p:nvPr/>
        </p:nvSpPr>
        <p:spPr>
          <a:xfrm>
            <a:off x="457200" y="2788920"/>
            <a:ext cx="22860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8B2500"/>
                </a:solidFill>
                <a:latin typeface="BIZ UDPGothic"/>
                <a:ea typeface="BIZ UDPGothic"/>
              </a:rPr>
              <a:t>カテゴリ変換</a:t>
            </a:r>
          </a:p>
        </p:txBody>
      </p:sp>
      <p:sp>
        <p:nvSpPr>
          <p:cNvPr id="133" name="RRule4"/>
          <p:cNvSpPr/>
          <p:nvPr/>
        </p:nvSpPr>
        <p:spPr>
          <a:xfrm>
            <a:off x="2743200" y="2788920"/>
            <a:ext cx="27432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1A1A1A"/>
                </a:solidFill>
                <a:latin typeface="BIZ UDPGothic"/>
                <a:ea typeface="BIZ UDPGothic"/>
              </a:rPr>
              <a:t>One-Hot Encoding</a:t>
            </a:r>
          </a:p>
        </p:txBody>
      </p:sp>
      <p:sp>
        <p:nvSpPr>
          <p:cNvPr id="134" name="RDetail4"/>
          <p:cNvSpPr/>
          <p:nvPr/>
        </p:nvSpPr>
        <p:spPr>
          <a:xfrm>
            <a:off x="5486400" y="2788920"/>
            <a:ext cx="6248400" cy="365760"/>
          </a:xfrm>
          <a:prstGeom prst="rect">
            <a:avLst/>
          </a:prstGeom>
          <a:solidFill>
            <a:srgbClr val="F2F2F2"/>
          </a:solidFill>
          <a:ln w="0">
            <a:noFill/>
          </a:ln>
        </p:spPr>
        <p:txBody>
          <a:bodyPr lIns="91440" tIns="45720" rIns="91440" bIns="45720" anchor="ctr"/>
          <a:lstStyle/>
          <a:p>
            <a:pPr algn="l">
              <a:buNone/>
            </a:pPr>
            <a:r>
              <a:rPr lang="ja-JP" sz="1200" dirty="0">
                <a:solidFill>
                  <a:srgbClr val="333333"/>
                </a:solidFill>
                <a:latin typeface="BIZ UDPGothic"/>
                <a:ea typeface="BIZ UDPGothic"/>
              </a:rPr>
              <a:t>閾値未満のカテゴリ数の場合に適用</a:t>
            </a:r>
          </a:p>
        </p:txBody>
      </p:sp>
      <p:sp>
        <p:nvSpPr>
          <p:cNvPr id="135" name="RCat5"/>
          <p:cNvSpPr/>
          <p:nvPr/>
        </p:nvSpPr>
        <p:spPr>
          <a:xfrm>
            <a:off x="457200" y="3154680"/>
            <a:ext cx="2286000" cy="365760"/>
          </a:xfrm>
          <a:prstGeom prst="rect">
            <a:avLst/>
          </a:prstGeom>
          <a:solidFill>
            <a:srgbClr val="FFFFFF"/>
          </a:solidFill>
          <a:ln w="0">
            <a:noFill/>
          </a:ln>
        </p:spPr>
        <p:txBody>
          <a:bodyPr lIns="91440" tIns="45720" rIns="91440" bIns="45720" anchor="ctr"/>
          <a:lstStyle/>
          <a:p>
            <a:pPr algn="ctr">
              <a:buNone/>
            </a:pPr>
            <a:r>
              <a:rPr lang="ja-JP" sz="1200" b="1" dirty="0">
                <a:solidFill>
                  <a:srgbClr val="8B2500"/>
                </a:solidFill>
                <a:latin typeface="BIZ UDPGothic"/>
                <a:ea typeface="BIZ UDPGothic"/>
              </a:rPr>
              <a:t>高カーディナリティ</a:t>
            </a:r>
          </a:p>
        </p:txBody>
      </p:sp>
      <p:sp>
        <p:nvSpPr>
          <p:cNvPr id="136" name="RRule5"/>
          <p:cNvSpPr/>
          <p:nvPr/>
        </p:nvSpPr>
        <p:spPr>
          <a:xfrm>
            <a:off x="2743200" y="3154680"/>
            <a:ext cx="2743200" cy="365760"/>
          </a:xfrm>
          <a:prstGeom prst="rect">
            <a:avLst/>
          </a:prstGeom>
          <a:solidFill>
            <a:srgbClr val="FFFFFF"/>
          </a:solidFill>
          <a:ln w="0">
            <a:noFill/>
          </a:ln>
        </p:spPr>
        <p:txBody>
          <a:bodyPr lIns="91440" tIns="45720" rIns="91440" bIns="45720" anchor="ctr"/>
          <a:lstStyle/>
          <a:p>
            <a:pPr algn="ctr">
              <a:buNone/>
            </a:pPr>
            <a:r>
              <a:rPr lang="ja-JP" sz="1200" b="1" dirty="0">
                <a:solidFill>
                  <a:srgbClr val="1A1A1A"/>
                </a:solidFill>
                <a:latin typeface="BIZ UDPGothic"/>
                <a:ea typeface="BIZ UDPGothic"/>
              </a:rPr>
              <a:t>除外</a:t>
            </a:r>
          </a:p>
        </p:txBody>
      </p:sp>
      <p:sp>
        <p:nvSpPr>
          <p:cNvPr id="137" name="RDetail5"/>
          <p:cNvSpPr/>
          <p:nvPr/>
        </p:nvSpPr>
        <p:spPr>
          <a:xfrm>
            <a:off x="5486400" y="3154680"/>
            <a:ext cx="6248400" cy="365760"/>
          </a:xfrm>
          <a:prstGeom prst="rect">
            <a:avLst/>
          </a:prstGeom>
          <a:solidFill>
            <a:srgbClr val="FFFFFF"/>
          </a:solidFill>
          <a:ln w="0">
            <a:noFill/>
          </a:ln>
        </p:spPr>
        <p:txBody>
          <a:bodyPr lIns="91440" tIns="45720" rIns="91440" bIns="45720" anchor="ctr"/>
          <a:lstStyle/>
          <a:p>
            <a:pPr algn="l">
              <a:buNone/>
            </a:pPr>
            <a:r>
              <a:rPr lang="ja-JP" sz="1200" dirty="0">
                <a:solidFill>
                  <a:srgbClr val="333333"/>
                </a:solidFill>
                <a:latin typeface="BIZ UDPGothic"/>
                <a:ea typeface="BIZ UDPGothic"/>
              </a:rPr>
              <a:t>高カーディナリティのカテゴリ列は除外</a:t>
            </a:r>
          </a:p>
        </p:txBody>
      </p:sp>
      <p:sp>
        <p:nvSpPr>
          <p:cNvPr id="138" name="RCat6"/>
          <p:cNvSpPr/>
          <p:nvPr/>
        </p:nvSpPr>
        <p:spPr>
          <a:xfrm>
            <a:off x="457200" y="3520440"/>
            <a:ext cx="22860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8B2500"/>
                </a:solidFill>
                <a:latin typeface="BIZ UDPGothic"/>
                <a:ea typeface="BIZ UDPGothic"/>
              </a:rPr>
              <a:t>Gender列</a:t>
            </a:r>
          </a:p>
        </p:txBody>
      </p:sp>
      <p:sp>
        <p:nvSpPr>
          <p:cNvPr id="139" name="RRule6"/>
          <p:cNvSpPr/>
          <p:nvPr/>
        </p:nvSpPr>
        <p:spPr>
          <a:xfrm>
            <a:off x="2743200" y="3520440"/>
            <a:ext cx="2743200" cy="365760"/>
          </a:xfrm>
          <a:prstGeom prst="rect">
            <a:avLst/>
          </a:prstGeom>
          <a:solidFill>
            <a:srgbClr val="F2F2F2"/>
          </a:solidFill>
          <a:ln w="0">
            <a:noFill/>
          </a:ln>
        </p:spPr>
        <p:txBody>
          <a:bodyPr lIns="91440" tIns="45720" rIns="91440" bIns="45720" anchor="ctr"/>
          <a:lstStyle/>
          <a:p>
            <a:pPr algn="ctr">
              <a:buNone/>
            </a:pPr>
            <a:r>
              <a:rPr lang="ja-JP" sz="1200" b="1" dirty="0">
                <a:solidFill>
                  <a:srgbClr val="1A1A1A"/>
                </a:solidFill>
                <a:latin typeface="BIZ UDPGothic"/>
                <a:ea typeface="BIZ UDPGothic"/>
              </a:rPr>
              <a:t>標準カテゴリ変換</a:t>
            </a:r>
          </a:p>
        </p:txBody>
      </p:sp>
      <p:sp>
        <p:nvSpPr>
          <p:cNvPr id="140" name="RDetail6"/>
          <p:cNvSpPr/>
          <p:nvPr/>
        </p:nvSpPr>
        <p:spPr>
          <a:xfrm>
            <a:off x="5486400" y="3520440"/>
            <a:ext cx="6248400" cy="365760"/>
          </a:xfrm>
          <a:prstGeom prst="rect">
            <a:avLst/>
          </a:prstGeom>
          <a:solidFill>
            <a:srgbClr val="F2F2F2"/>
          </a:solidFill>
          <a:ln w="0">
            <a:noFill/>
          </a:ln>
        </p:spPr>
        <p:txBody>
          <a:bodyPr lIns="91440" tIns="45720" rIns="91440" bIns="45720" anchor="ctr"/>
          <a:lstStyle/>
          <a:p>
            <a:pPr algn="l">
              <a:buNone/>
            </a:pPr>
            <a:r>
              <a:rPr lang="ja-JP" sz="1200" dirty="0">
                <a:solidFill>
                  <a:srgbClr val="333333"/>
                </a:solidFill>
                <a:latin typeface="BIZ UDPGothic"/>
                <a:ea typeface="BIZ UDPGothic"/>
              </a:rPr>
              <a:t>2値カテゴリのため標準的な変換対象</a:t>
            </a:r>
          </a:p>
        </p:txBody>
      </p:sp>
      <p:sp>
        <p:nvSpPr>
          <p:cNvPr id="150" name="Note"/>
          <p:cNvSpPr/>
          <p:nvPr/>
        </p:nvSpPr>
        <p:spPr>
          <a:xfrm>
            <a:off x="457200" y="4069080"/>
            <a:ext cx="11277600" cy="457200"/>
          </a:xfrm>
          <a:prstGeom prst="rect">
            <a:avLst/>
          </a:prstGeom>
          <a:noFill/>
          <a:ln w="0">
            <a:noFill/>
          </a:ln>
        </p:spPr>
        <p:txBody>
          <a:bodyPr lIns="91440" tIns="45720" rIns="91440" bIns="45720" anchor="ctr"/>
          <a:lstStyle/>
          <a:p>
            <a:pPr algn="l">
              <a:buNone/>
            </a:pPr>
            <a:r>
              <a:rPr lang="ja-JP" sz="1200" dirty="0">
                <a:solidFill>
                  <a:srgbClr val="787878"/>
                </a:solidFill>
                <a:latin typeface="BIZ UDPGothic"/>
                <a:ea typeface="BIZ UDPGothic"/>
              </a:rPr>
              <a:t>※本データでは欠損値は存在しない前提であるが、実装上は再現性確保のため補完ルールを定義したうえで処理系に組み込む。</a:t>
            </a:r>
          </a:p>
        </p:txBody>
      </p:sp>
    </p:spTree>
    <p:extLst>
      <p:ext uri="{BB962C8B-B14F-4D97-AF65-F5344CB8AC3E}">
        <p14:creationId xmlns:p14="http://schemas.microsoft.com/office/powerpoint/2010/main" val="1764411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04</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400" b="1" dirty="0">
                <a:solidFill>
                  <a:srgbClr val="1A1A1A"/>
                </a:solidFill>
                <a:latin typeface="BIZ UDPGothic"/>
                <a:ea typeface="BIZ UDPGothic"/>
              </a:rPr>
              <a:t>4.3 モデル構築  /  4.4 解釈・示唆整理</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ModelHeader"/>
          <p:cNvSpPr/>
          <p:nvPr/>
        </p:nvSpPr>
        <p:spPr>
          <a:xfrm>
            <a:off x="457200" y="960120"/>
            <a:ext cx="5486400" cy="411480"/>
          </a:xfrm>
          <a:prstGeom prst="roundRect">
            <a:avLst/>
          </a:prstGeom>
          <a:solidFill>
            <a:srgbClr val="1A1A1A"/>
          </a:solidFill>
          <a:ln w="0">
            <a:noFill/>
          </a:ln>
        </p:spPr>
        <p:txBody>
          <a:bodyPr lIns="91440" tIns="45720" rIns="91440" bIns="45720" anchor="ctr"/>
          <a:lstStyle/>
          <a:p>
            <a:pPr algn="ctr">
              <a:buNone/>
            </a:pPr>
            <a:r>
              <a:rPr lang="ja-JP" sz="1600" b="1" dirty="0">
                <a:solidFill>
                  <a:srgbClr val="FFFFFF"/>
                </a:solidFill>
                <a:latin typeface="BIZ UDPGothic"/>
                <a:ea typeface="BIZ UDPGothic"/>
              </a:rPr>
              <a:t>4.3 モデル構築・比較</a:t>
            </a:r>
          </a:p>
        </p:txBody>
      </p:sp>
      <p:sp>
        <p:nvSpPr>
          <p:cNvPr id="120" name="Model0"/>
          <p:cNvSpPr/>
          <p:nvPr/>
        </p:nvSpPr>
        <p:spPr>
          <a:xfrm>
            <a:off x="457200" y="1462080"/>
            <a:ext cx="5486400" cy="480060"/>
          </a:xfrm>
          <a:prstGeom prst="roundRect">
            <a:avLst/>
          </a:prstGeom>
          <a:solidFill>
            <a:srgbClr val="F2F2F2"/>
          </a:solidFill>
          <a:ln w="0">
            <a:noFill/>
          </a:ln>
        </p:spPr>
        <p:txBody>
          <a:bodyPr lIns="91440" tIns="45720" rIns="91440" bIns="45720" anchor="ctr"/>
          <a:lstStyle/>
          <a:p>
            <a:pPr algn="l">
              <a:buNone/>
            </a:pPr>
            <a:r>
              <a:rPr lang="ja-JP" sz="1400" b="1" dirty="0">
                <a:solidFill>
                  <a:srgbClr val="8B2500"/>
                </a:solidFill>
                <a:latin typeface="BIZ UDPGothic"/>
                <a:ea typeface="BIZ UDPGothic"/>
              </a:rPr>
              <a:t>ベースラインモデル</a:t>
            </a:r>
          </a:p>
          <a:p>
            <a:pPr algn="l">
              <a:buNone/>
            </a:pPr>
            <a:r>
              <a:rPr lang="ja-JP" sz="1200" dirty="0">
                <a:solidFill>
                  <a:srgbClr val="333333"/>
                </a:solidFill>
                <a:latin typeface="BIZ UDPGothic"/>
                <a:ea typeface="BIZ UDPGothic"/>
              </a:rPr>
              <a:t>基準性能を把握するための最も単純なモデル</a:t>
            </a:r>
          </a:p>
        </p:txBody>
      </p:sp>
      <p:sp>
        <p:nvSpPr>
          <p:cNvPr id="121" name="Model1"/>
          <p:cNvSpPr/>
          <p:nvPr/>
        </p:nvSpPr>
        <p:spPr>
          <a:xfrm>
            <a:off x="457200" y="2010720"/>
            <a:ext cx="5486400" cy="480060"/>
          </a:xfrm>
          <a:prstGeom prst="roundRect">
            <a:avLst/>
          </a:prstGeom>
          <a:solidFill>
            <a:srgbClr val="F2F2F2"/>
          </a:solidFill>
          <a:ln w="0">
            <a:noFill/>
          </a:ln>
        </p:spPr>
        <p:txBody>
          <a:bodyPr lIns="91440" tIns="45720" rIns="91440" bIns="45720" anchor="ctr"/>
          <a:lstStyle/>
          <a:p>
            <a:pPr algn="l">
              <a:buNone/>
            </a:pPr>
            <a:r>
              <a:rPr lang="ja-JP" sz="1400" b="1" dirty="0">
                <a:solidFill>
                  <a:srgbClr val="8B2500"/>
                </a:solidFill>
                <a:latin typeface="BIZ UDPGothic"/>
                <a:ea typeface="BIZ UDPGothic"/>
              </a:rPr>
              <a:t>線形系分類モデル</a:t>
            </a:r>
          </a:p>
          <a:p>
            <a:pPr algn="l">
              <a:buNone/>
            </a:pPr>
            <a:r>
              <a:rPr lang="ja-JP" sz="1200" dirty="0">
                <a:solidFill>
                  <a:srgbClr val="333333"/>
                </a:solidFill>
                <a:latin typeface="BIZ UDPGothic"/>
                <a:ea typeface="BIZ UDPGothic"/>
              </a:rPr>
              <a:t>解釈可能性が高く、変数寄与の理解に適する</a:t>
            </a:r>
          </a:p>
        </p:txBody>
      </p:sp>
      <p:sp>
        <p:nvSpPr>
          <p:cNvPr id="122" name="Model2"/>
          <p:cNvSpPr/>
          <p:nvPr/>
        </p:nvSpPr>
        <p:spPr>
          <a:xfrm>
            <a:off x="457200" y="2559360"/>
            <a:ext cx="5486400" cy="480060"/>
          </a:xfrm>
          <a:prstGeom prst="roundRect">
            <a:avLst/>
          </a:prstGeom>
          <a:solidFill>
            <a:srgbClr val="F2F2F2"/>
          </a:solidFill>
          <a:ln w="0">
            <a:noFill/>
          </a:ln>
        </p:spPr>
        <p:txBody>
          <a:bodyPr lIns="91440" tIns="45720" rIns="91440" bIns="45720" anchor="ctr"/>
          <a:lstStyle/>
          <a:p>
            <a:pPr algn="l">
              <a:buNone/>
            </a:pPr>
            <a:r>
              <a:rPr lang="ja-JP" sz="1400" b="1" dirty="0">
                <a:solidFill>
                  <a:srgbClr val="8B2500"/>
                </a:solidFill>
                <a:latin typeface="BIZ UDPGothic"/>
                <a:ea typeface="BIZ UDPGothic"/>
              </a:rPr>
              <a:t>木系/非線形分類モデル</a:t>
            </a:r>
          </a:p>
          <a:p>
            <a:pPr algn="l">
              <a:buNone/>
            </a:pPr>
            <a:r>
              <a:rPr lang="ja-JP" sz="1200" dirty="0">
                <a:solidFill>
                  <a:srgbClr val="333333"/>
                </a:solidFill>
                <a:latin typeface="BIZ UDPGothic"/>
                <a:ea typeface="BIZ UDPGothic"/>
              </a:rPr>
              <a:t>複雑なパターンの捕捉に優れ、高い性能を期待</a:t>
            </a:r>
          </a:p>
        </p:txBody>
      </p:sp>
      <p:sp>
        <p:nvSpPr>
          <p:cNvPr id="125" name="EvalNote"/>
          <p:cNvSpPr/>
          <p:nvPr/>
        </p:nvSpPr>
        <p:spPr>
          <a:xfrm>
            <a:off x="457200" y="3108960"/>
            <a:ext cx="5486400" cy="548640"/>
          </a:xfrm>
          <a:prstGeom prst="roundRect">
            <a:avLst/>
          </a:prstGeom>
          <a:noFill/>
          <a:ln w="0">
            <a:noFill/>
          </a:ln>
        </p:spPr>
        <p:txBody>
          <a:bodyPr lIns="91440" tIns="45720" rIns="91440" bIns="45720" anchor="ctr"/>
          <a:lstStyle/>
          <a:p>
            <a:pPr algn="l">
              <a:buNone/>
            </a:pPr>
            <a:r>
              <a:rPr lang="ja-JP" sz="1200" dirty="0">
                <a:solidFill>
                  <a:srgbClr val="333333"/>
                </a:solidFill>
                <a:latin typeface="BIZ UDPGothic"/>
                <a:ea typeface="BIZ UDPGothic"/>
              </a:rPr>
              <a:t>学習データ内で適切な分割・検証を行い、ROC-AUC、Accuracy、Precision、Recall、F1-scoreで比較する。</a:t>
            </a:r>
          </a:p>
        </p:txBody>
      </p:sp>
      <p:sp>
        <p:nvSpPr>
          <p:cNvPr id="130" name="InterpHeader"/>
          <p:cNvSpPr/>
          <p:nvPr/>
        </p:nvSpPr>
        <p:spPr>
          <a:xfrm>
            <a:off x="6400800" y="960120"/>
            <a:ext cx="5334000" cy="411480"/>
          </a:xfrm>
          <a:prstGeom prst="roundRect">
            <a:avLst/>
          </a:prstGeom>
          <a:solidFill>
            <a:srgbClr val="4A4A4A"/>
          </a:solidFill>
          <a:ln w="0">
            <a:noFill/>
          </a:ln>
        </p:spPr>
        <p:txBody>
          <a:bodyPr lIns="91440" tIns="45720" rIns="91440" bIns="45720" anchor="ctr"/>
          <a:lstStyle/>
          <a:p>
            <a:pPr algn="ctr">
              <a:buNone/>
            </a:pPr>
            <a:r>
              <a:rPr lang="ja-JP" sz="1600" b="1" dirty="0">
                <a:solidFill>
                  <a:srgbClr val="FFFFFF"/>
                </a:solidFill>
                <a:latin typeface="BIZ UDPGothic"/>
                <a:ea typeface="BIZ UDPGothic"/>
              </a:rPr>
              <a:t>4.4 解釈・示唆整理</a:t>
            </a:r>
          </a:p>
        </p:txBody>
      </p:sp>
      <p:sp>
        <p:nvSpPr>
          <p:cNvPr id="140" name="Interp0"/>
          <p:cNvSpPr/>
          <p:nvPr/>
        </p:nvSpPr>
        <p:spPr>
          <a:xfrm>
            <a:off x="6400800" y="1462080"/>
            <a:ext cx="5334000" cy="411480"/>
          </a:xfrm>
          <a:prstGeom prst="roundRect">
            <a:avLst/>
          </a:prstGeom>
          <a:solidFill>
            <a:srgbClr val="F2F2F2"/>
          </a:solidFill>
          <a:ln w="0">
            <a:noFill/>
          </a:ln>
        </p:spPr>
        <p:txBody>
          <a:bodyPr lIns="91440" tIns="45720" rIns="91440" bIns="45720" anchor="ctr"/>
          <a:lstStyle/>
          <a:p>
            <a:pPr algn="l">
              <a:buNone/>
            </a:pPr>
            <a:r>
              <a:rPr lang="ja-JP" sz="1400" b="1" dirty="0">
                <a:solidFill>
                  <a:srgbClr val="8B2500"/>
                </a:solidFill>
                <a:latin typeface="BIZ UDPGothic"/>
                <a:ea typeface="BIZ UDPGothic"/>
              </a:rPr>
              <a:t>▶  </a:t>
            </a:r>
            <a:r>
              <a:rPr lang="ja-JP" sz="1300" dirty="0">
                <a:solidFill>
                  <a:srgbClr val="333333"/>
                </a:solidFill>
                <a:latin typeface="BIZ UDPGothic"/>
                <a:ea typeface="BIZ UDPGothic"/>
              </a:rPr>
              <a:t>重要特徴量の確認</a:t>
            </a:r>
          </a:p>
        </p:txBody>
      </p:sp>
      <p:sp>
        <p:nvSpPr>
          <p:cNvPr id="141" name="Interp1"/>
          <p:cNvSpPr/>
          <p:nvPr/>
        </p:nvSpPr>
        <p:spPr>
          <a:xfrm>
            <a:off x="6400800" y="1919280"/>
            <a:ext cx="5334000" cy="411480"/>
          </a:xfrm>
          <a:prstGeom prst="roundRect">
            <a:avLst/>
          </a:prstGeom>
          <a:solidFill>
            <a:srgbClr val="F2F2F2"/>
          </a:solidFill>
          <a:ln w="0">
            <a:noFill/>
          </a:ln>
        </p:spPr>
        <p:txBody>
          <a:bodyPr lIns="91440" tIns="45720" rIns="91440" bIns="45720" anchor="ctr"/>
          <a:lstStyle/>
          <a:p>
            <a:pPr algn="l">
              <a:buNone/>
            </a:pPr>
            <a:r>
              <a:rPr lang="ja-JP" sz="1400" b="1" dirty="0">
                <a:solidFill>
                  <a:srgbClr val="8B2500"/>
                </a:solidFill>
                <a:latin typeface="BIZ UDPGothic"/>
                <a:ea typeface="BIZ UDPGothic"/>
              </a:rPr>
              <a:t>▶  </a:t>
            </a:r>
            <a:r>
              <a:rPr lang="ja-JP" sz="1300" dirty="0">
                <a:solidFill>
                  <a:srgbClr val="333333"/>
                </a:solidFill>
                <a:latin typeface="BIZ UDPGothic"/>
                <a:ea typeface="BIZ UDPGothic"/>
              </a:rPr>
              <a:t>誤判定傾向の把握</a:t>
            </a:r>
          </a:p>
        </p:txBody>
      </p:sp>
      <p:sp>
        <p:nvSpPr>
          <p:cNvPr id="142" name="Interp2"/>
          <p:cNvSpPr/>
          <p:nvPr/>
        </p:nvSpPr>
        <p:spPr>
          <a:xfrm>
            <a:off x="6400800" y="2376480"/>
            <a:ext cx="5334000" cy="411480"/>
          </a:xfrm>
          <a:prstGeom prst="roundRect">
            <a:avLst/>
          </a:prstGeom>
          <a:solidFill>
            <a:srgbClr val="F2F2F2"/>
          </a:solidFill>
          <a:ln w="0">
            <a:noFill/>
          </a:ln>
        </p:spPr>
        <p:txBody>
          <a:bodyPr lIns="91440" tIns="45720" rIns="91440" bIns="45720" anchor="ctr"/>
          <a:lstStyle/>
          <a:p>
            <a:pPr algn="l">
              <a:buNone/>
            </a:pPr>
            <a:r>
              <a:rPr lang="ja-JP" sz="1400" b="1" dirty="0">
                <a:solidFill>
                  <a:srgbClr val="8B2500"/>
                </a:solidFill>
                <a:latin typeface="BIZ UDPGothic"/>
                <a:ea typeface="BIZ UDPGothic"/>
              </a:rPr>
              <a:t>▶  </a:t>
            </a:r>
            <a:r>
              <a:rPr lang="ja-JP" sz="1300" dirty="0">
                <a:solidFill>
                  <a:srgbClr val="333333"/>
                </a:solidFill>
                <a:latin typeface="BIZ UDPGothic"/>
                <a:ea typeface="BIZ UDPGothic"/>
              </a:rPr>
              <a:t>業務での利用可能性と限界の整理</a:t>
            </a:r>
          </a:p>
        </p:txBody>
      </p:sp>
      <p:sp>
        <p:nvSpPr>
          <p:cNvPr id="143" name="Interp3"/>
          <p:cNvSpPr/>
          <p:nvPr/>
        </p:nvSpPr>
        <p:spPr>
          <a:xfrm>
            <a:off x="6400800" y="2833680"/>
            <a:ext cx="5334000" cy="411480"/>
          </a:xfrm>
          <a:prstGeom prst="roundRect">
            <a:avLst/>
          </a:prstGeom>
          <a:solidFill>
            <a:srgbClr val="F2F2F2"/>
          </a:solidFill>
          <a:ln w="0">
            <a:noFill/>
          </a:ln>
        </p:spPr>
        <p:txBody>
          <a:bodyPr lIns="91440" tIns="45720" rIns="91440" bIns="45720" anchor="ctr"/>
          <a:lstStyle/>
          <a:p>
            <a:pPr algn="l">
              <a:buNone/>
            </a:pPr>
            <a:r>
              <a:rPr lang="ja-JP" sz="1400" b="1" dirty="0">
                <a:solidFill>
                  <a:srgbClr val="8B2500"/>
                </a:solidFill>
                <a:latin typeface="BIZ UDPGothic"/>
                <a:ea typeface="BIZ UDPGothic"/>
              </a:rPr>
              <a:t>▶  </a:t>
            </a:r>
            <a:r>
              <a:rPr lang="ja-JP" sz="1300" dirty="0">
                <a:solidFill>
                  <a:srgbClr val="333333"/>
                </a:solidFill>
                <a:latin typeface="BIZ UDPGothic"/>
                <a:ea typeface="BIZ UDPGothic"/>
              </a:rPr>
              <a:t>「診断」ではなく「判定支援材料」としての位置づけを明示</a:t>
            </a:r>
          </a:p>
        </p:txBody>
      </p:sp>
      <p:sp>
        <p:nvSpPr>
          <p:cNvPr id="150" name="Divider"/>
          <p:cNvSpPr/>
          <p:nvPr/>
        </p:nvSpPr>
        <p:spPr>
          <a:xfrm>
            <a:off x="6096000" y="960120"/>
            <a:ext cx="18288" cy="2743200"/>
          </a:xfrm>
          <a:prstGeom prst="rect">
            <a:avLst/>
          </a:prstGeom>
          <a:solidFill>
            <a:srgbClr val="C8C8C8"/>
          </a:solidFill>
          <a:ln w="0">
            <a:noFill/>
          </a:ln>
        </p:spPr>
        <p:txBody>
          <a:bodyPr lIns="91440" tIns="45720" rIns="91440" bIns="45720" anchor="ctr"/>
          <a:lstStyle/>
          <a:p>
            <a:endParaRPr lang="ja-JP"/>
          </a:p>
        </p:txBody>
      </p:sp>
      <p:sp>
        <p:nvSpPr>
          <p:cNvPr id="160" name="Emphasis"/>
          <p:cNvSpPr/>
          <p:nvPr/>
        </p:nvSpPr>
        <p:spPr>
          <a:xfrm>
            <a:off x="457200" y="4114800"/>
            <a:ext cx="11277600" cy="548640"/>
          </a:xfrm>
          <a:prstGeom prst="roundRect">
            <a:avLst/>
          </a:prstGeom>
          <a:noFill/>
          <a:ln w="0">
            <a:noFill/>
          </a:ln>
        </p:spPr>
        <p:txBody>
          <a:bodyPr lIns="91440" tIns="45720" rIns="91440" bIns="45720" anchor="ctr"/>
          <a:lstStyle/>
          <a:p>
            <a:pPr algn="ctr">
              <a:buNone/>
            </a:pPr>
            <a:r>
              <a:rPr lang="ja-JP" sz="1400" b="1" dirty="0">
                <a:solidFill>
                  <a:srgbClr val="8B2500"/>
                </a:solidFill>
                <a:latin typeface="BIZ UDPGothic"/>
                <a:ea typeface="BIZ UDPGothic"/>
              </a:rPr>
              <a:t>医療文脈において重要なRecallと、それに伴うPrecisionのバランスを特に確認する</a:t>
            </a:r>
          </a:p>
        </p:txBody>
      </p:sp>
    </p:spTree>
    <p:extLst>
      <p:ext uri="{BB962C8B-B14F-4D97-AF65-F5344CB8AC3E}">
        <p14:creationId xmlns:p14="http://schemas.microsoft.com/office/powerpoint/2010/main" val="1205240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04</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400" b="1" dirty="0">
                <a:solidFill>
                  <a:srgbClr val="1A1A1A"/>
                </a:solidFill>
                <a:latin typeface="BIZ UDPGothic"/>
                <a:ea typeface="BIZ UDPGothic"/>
              </a:rPr>
              <a:t>4.5 成果の位置づけ</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CentralMsg"/>
          <p:cNvSpPr/>
          <p:nvPr/>
        </p:nvSpPr>
        <p:spPr>
          <a:xfrm>
            <a:off x="1371600" y="1143000"/>
            <a:ext cx="9448800" cy="1371600"/>
          </a:xfrm>
          <a:prstGeom prst="roundRect">
            <a:avLst/>
          </a:prstGeom>
          <a:solidFill>
            <a:srgbClr val="F2F2F2"/>
          </a:solidFill>
          <a:ln w="0">
            <a:noFill/>
          </a:ln>
        </p:spPr>
        <p:txBody>
          <a:bodyPr lIns="91440" tIns="45720" rIns="91440" bIns="45720" anchor="ctr"/>
          <a:lstStyle/>
          <a:p>
            <a:pPr algn="ctr">
              <a:buNone/>
            </a:pPr>
            <a:r>
              <a:rPr lang="ja-JP" sz="2000" b="1" dirty="0">
                <a:solidFill>
                  <a:srgbClr val="1A1A1A"/>
                </a:solidFill>
                <a:latin typeface="BIZ UDPGothic"/>
                <a:ea typeface="BIZ UDPGothic"/>
              </a:rPr>
              <a:t>本分析は、業務実装の可否判断に資する初期分析である</a:t>
            </a:r>
          </a:p>
        </p:txBody>
      </p:sp>
      <p:sp>
        <p:nvSpPr>
          <p:cNvPr id="115" name="ArrowDown"/>
          <p:cNvSpPr/>
          <p:nvPr/>
        </p:nvSpPr>
        <p:spPr>
          <a:xfrm>
            <a:off x="5486400" y="2560320"/>
            <a:ext cx="1219200" cy="365760"/>
          </a:xfrm>
          <a:prstGeom prst="rect">
            <a:avLst/>
          </a:prstGeom>
          <a:noFill/>
          <a:ln w="0">
            <a:noFill/>
          </a:ln>
        </p:spPr>
        <p:txBody>
          <a:bodyPr lIns="91440" tIns="45720" rIns="91440" bIns="45720" anchor="ctr"/>
          <a:lstStyle/>
          <a:p>
            <a:pPr algn="ctr">
              <a:buNone/>
            </a:pPr>
            <a:r>
              <a:rPr lang="ja-JP" sz="2400" b="1" dirty="0">
                <a:solidFill>
                  <a:srgbClr val="8B2500"/>
                </a:solidFill>
                <a:latin typeface="BIZ UDPGothic"/>
                <a:ea typeface="BIZ UDPGothic"/>
              </a:rPr>
              <a:t>▼</a:t>
            </a:r>
          </a:p>
        </p:txBody>
      </p:sp>
      <p:sp>
        <p:nvSpPr>
          <p:cNvPr id="120" name="Usage0"/>
          <p:cNvSpPr/>
          <p:nvPr/>
        </p:nvSpPr>
        <p:spPr>
          <a:xfrm>
            <a:off x="457200" y="3017520"/>
            <a:ext cx="2651760" cy="1371600"/>
          </a:xfrm>
          <a:prstGeom prst="roundRect">
            <a:avLst/>
          </a:prstGeom>
          <a:noFill/>
          <a:ln w="0">
            <a:noFill/>
          </a:ln>
        </p:spPr>
        <p:txBody>
          <a:bodyPr lIns="91440" tIns="45720" rIns="91440" bIns="45720" anchor="ctr"/>
          <a:lstStyle/>
          <a:p>
            <a:pPr algn="ctr">
              <a:buNone/>
            </a:pPr>
            <a:r>
              <a:rPr lang="ja-JP" sz="1600" b="1" dirty="0">
                <a:solidFill>
                  <a:srgbClr val="8B2500"/>
                </a:solidFill>
                <a:latin typeface="BIZ UDPGothic"/>
                <a:ea typeface="BIZ UDPGothic"/>
              </a:rPr>
              <a:t>運用設計</a:t>
            </a:r>
          </a:p>
          <a:p>
            <a:pPr algn="ctr">
              <a:buNone/>
            </a:pPr>
            <a:r>
              <a:rPr lang="ja-JP" sz="1200" dirty="0">
                <a:solidFill>
                  <a:srgbClr val="333333"/>
                </a:solidFill>
                <a:latin typeface="BIZ UDPGothic"/>
                <a:ea typeface="BIZ UDPGothic"/>
              </a:rPr>
              <a:t>将来の運用設計への基礎資料として活用</a:t>
            </a:r>
          </a:p>
        </p:txBody>
      </p:sp>
      <p:sp>
        <p:nvSpPr>
          <p:cNvPr id="130" name="UsageBorder0"/>
          <p:cNvSpPr/>
          <p:nvPr/>
        </p:nvSpPr>
        <p:spPr>
          <a:xfrm>
            <a:off x="457200" y="3017520"/>
            <a:ext cx="2651760" cy="1371600"/>
          </a:xfrm>
          <a:prstGeom prst="roundRect">
            <a:avLst/>
          </a:prstGeom>
          <a:noFill/>
          <a:ln w="12700">
            <a:solidFill>
              <a:srgbClr val="C8C8C8"/>
            </a:solidFill>
          </a:ln>
        </p:spPr>
        <p:txBody>
          <a:bodyPr/>
          <a:lstStyle/>
          <a:p>
            <a:endParaRPr lang="ja-JP"/>
          </a:p>
        </p:txBody>
      </p:sp>
      <p:sp>
        <p:nvSpPr>
          <p:cNvPr id="121" name="Usage1"/>
          <p:cNvSpPr/>
          <p:nvPr/>
        </p:nvSpPr>
        <p:spPr>
          <a:xfrm>
            <a:off x="3291840" y="3017520"/>
            <a:ext cx="2651760" cy="1371600"/>
          </a:xfrm>
          <a:prstGeom prst="roundRect">
            <a:avLst/>
          </a:prstGeom>
          <a:noFill/>
          <a:ln w="0">
            <a:noFill/>
          </a:ln>
        </p:spPr>
        <p:txBody>
          <a:bodyPr lIns="91440" tIns="45720" rIns="91440" bIns="45720" anchor="ctr"/>
          <a:lstStyle/>
          <a:p>
            <a:pPr algn="ctr">
              <a:buNone/>
            </a:pPr>
            <a:r>
              <a:rPr lang="ja-JP" sz="1600" b="1" dirty="0">
                <a:solidFill>
                  <a:srgbClr val="8B2500"/>
                </a:solidFill>
                <a:latin typeface="BIZ UDPGothic"/>
                <a:ea typeface="BIZ UDPGothic"/>
              </a:rPr>
              <a:t>追加データ整備</a:t>
            </a:r>
          </a:p>
          <a:p>
            <a:pPr algn="ctr">
              <a:buNone/>
            </a:pPr>
            <a:r>
              <a:rPr lang="ja-JP" sz="1200" dirty="0">
                <a:solidFill>
                  <a:srgbClr val="333333"/>
                </a:solidFill>
                <a:latin typeface="BIZ UDPGothic"/>
                <a:ea typeface="BIZ UDPGothic"/>
              </a:rPr>
              <a:t>追加データ取得に向けた要件整理</a:t>
            </a:r>
          </a:p>
        </p:txBody>
      </p:sp>
      <p:sp>
        <p:nvSpPr>
          <p:cNvPr id="131" name="UsageBorder1"/>
          <p:cNvSpPr/>
          <p:nvPr/>
        </p:nvSpPr>
        <p:spPr>
          <a:xfrm>
            <a:off x="3291840" y="3017520"/>
            <a:ext cx="2651760" cy="1371600"/>
          </a:xfrm>
          <a:prstGeom prst="roundRect">
            <a:avLst/>
          </a:prstGeom>
          <a:noFill/>
          <a:ln w="12700">
            <a:solidFill>
              <a:srgbClr val="C8C8C8"/>
            </a:solidFill>
          </a:ln>
        </p:spPr>
        <p:txBody>
          <a:bodyPr/>
          <a:lstStyle/>
          <a:p>
            <a:endParaRPr lang="ja-JP"/>
          </a:p>
        </p:txBody>
      </p:sp>
      <p:sp>
        <p:nvSpPr>
          <p:cNvPr id="122" name="Usage2"/>
          <p:cNvSpPr/>
          <p:nvPr/>
        </p:nvSpPr>
        <p:spPr>
          <a:xfrm>
            <a:off x="6126480" y="3017520"/>
            <a:ext cx="2651760" cy="1371600"/>
          </a:xfrm>
          <a:prstGeom prst="roundRect">
            <a:avLst/>
          </a:prstGeom>
          <a:noFill/>
          <a:ln w="0">
            <a:noFill/>
          </a:ln>
        </p:spPr>
        <p:txBody>
          <a:bodyPr lIns="91440" tIns="45720" rIns="91440" bIns="45720" anchor="ctr"/>
          <a:lstStyle/>
          <a:p>
            <a:pPr algn="ctr">
              <a:buNone/>
            </a:pPr>
            <a:r>
              <a:rPr lang="ja-JP" sz="1600" b="1" dirty="0">
                <a:solidFill>
                  <a:srgbClr val="8B2500"/>
                </a:solidFill>
                <a:latin typeface="BIZ UDPGothic"/>
                <a:ea typeface="BIZ UDPGothic"/>
              </a:rPr>
              <a:t>評価用データ準備</a:t>
            </a:r>
          </a:p>
          <a:p>
            <a:pPr algn="ctr">
              <a:buNone/>
            </a:pPr>
            <a:r>
              <a:rPr lang="ja-JP" sz="1200" dirty="0">
                <a:solidFill>
                  <a:srgbClr val="333333"/>
                </a:solidFill>
                <a:latin typeface="BIZ UDPGothic"/>
                <a:ea typeface="BIZ UDPGothic"/>
              </a:rPr>
              <a:t>本番精度検証のためのデータ準備</a:t>
            </a:r>
          </a:p>
        </p:txBody>
      </p:sp>
      <p:sp>
        <p:nvSpPr>
          <p:cNvPr id="132" name="UsageBorder2"/>
          <p:cNvSpPr/>
          <p:nvPr/>
        </p:nvSpPr>
        <p:spPr>
          <a:xfrm>
            <a:off x="6126480" y="3017520"/>
            <a:ext cx="2651760" cy="1371600"/>
          </a:xfrm>
          <a:prstGeom prst="roundRect">
            <a:avLst/>
          </a:prstGeom>
          <a:noFill/>
          <a:ln w="12700">
            <a:solidFill>
              <a:srgbClr val="C8C8C8"/>
            </a:solidFill>
          </a:ln>
        </p:spPr>
        <p:txBody>
          <a:bodyPr/>
          <a:lstStyle/>
          <a:p>
            <a:endParaRPr lang="ja-JP"/>
          </a:p>
        </p:txBody>
      </p:sp>
      <p:sp>
        <p:nvSpPr>
          <p:cNvPr id="123" name="Usage3"/>
          <p:cNvSpPr/>
          <p:nvPr/>
        </p:nvSpPr>
        <p:spPr>
          <a:xfrm>
            <a:off x="8961120" y="3017520"/>
            <a:ext cx="2651760" cy="1371600"/>
          </a:xfrm>
          <a:prstGeom prst="roundRect">
            <a:avLst/>
          </a:prstGeom>
          <a:noFill/>
          <a:ln w="0">
            <a:noFill/>
          </a:ln>
        </p:spPr>
        <p:txBody>
          <a:bodyPr lIns="91440" tIns="45720" rIns="91440" bIns="45720" anchor="ctr"/>
          <a:lstStyle/>
          <a:p>
            <a:pPr algn="ctr">
              <a:buNone/>
            </a:pPr>
            <a:r>
              <a:rPr lang="ja-JP" sz="1600" b="1" dirty="0">
                <a:solidFill>
                  <a:srgbClr val="8B2500"/>
                </a:solidFill>
                <a:latin typeface="BIZ UDPGothic"/>
                <a:ea typeface="BIZ UDPGothic"/>
              </a:rPr>
              <a:t>導入検討</a:t>
            </a:r>
          </a:p>
          <a:p>
            <a:pPr algn="ctr">
              <a:buNone/>
            </a:pPr>
            <a:r>
              <a:rPr lang="ja-JP" sz="1200" dirty="0">
                <a:solidFill>
                  <a:srgbClr val="333333"/>
                </a:solidFill>
                <a:latin typeface="BIZ UDPGothic"/>
                <a:ea typeface="BIZ UDPGothic"/>
              </a:rPr>
              <a:t>業務導入の可否判断材料として活用</a:t>
            </a:r>
          </a:p>
        </p:txBody>
      </p:sp>
      <p:sp>
        <p:nvSpPr>
          <p:cNvPr id="133" name="UsageBorder3"/>
          <p:cNvSpPr/>
          <p:nvPr/>
        </p:nvSpPr>
        <p:spPr>
          <a:xfrm>
            <a:off x="8961120" y="3017520"/>
            <a:ext cx="2651760" cy="1371600"/>
          </a:xfrm>
          <a:prstGeom prst="roundRect">
            <a:avLst/>
          </a:prstGeom>
          <a:noFill/>
          <a:ln w="12700">
            <a:solidFill>
              <a:srgbClr val="C8C8C8"/>
            </a:solidFill>
          </a:ln>
        </p:spPr>
        <p:txBody>
          <a:bodyPr/>
          <a:lstStyle/>
          <a:p>
            <a:endParaRPr lang="ja-JP"/>
          </a:p>
        </p:txBody>
      </p:sp>
    </p:spTree>
    <p:extLst>
      <p:ext uri="{BB962C8B-B14F-4D97-AF65-F5344CB8AC3E}">
        <p14:creationId xmlns:p14="http://schemas.microsoft.com/office/powerpoint/2010/main" val="874665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05</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実施体制 ─ 発注者・受託者</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ClientH"/>
          <p:cNvSpPr/>
          <p:nvPr/>
        </p:nvSpPr>
        <p:spPr>
          <a:xfrm>
            <a:off x="457200" y="1005840"/>
            <a:ext cx="5334000" cy="457200"/>
          </a:xfrm>
          <a:prstGeom prst="roundRect">
            <a:avLst/>
          </a:prstGeom>
          <a:solidFill>
            <a:srgbClr val="1A1A1A"/>
          </a:solidFill>
          <a:ln w="0">
            <a:noFill/>
          </a:ln>
        </p:spPr>
        <p:txBody>
          <a:bodyPr lIns="91440" tIns="45720" rIns="91440" bIns="45720" anchor="ctr"/>
          <a:lstStyle/>
          <a:p>
            <a:pPr algn="ctr">
              <a:buNone/>
            </a:pPr>
            <a:r>
              <a:rPr lang="ja-JP" sz="1800" b="1" dirty="0">
                <a:solidFill>
                  <a:srgbClr val="FFFFFF"/>
                </a:solidFill>
                <a:latin typeface="BIZ UDPGothic"/>
                <a:ea typeface="BIZ UDPGothic"/>
              </a:rPr>
              <a:t>発注者</a:t>
            </a:r>
          </a:p>
        </p:txBody>
      </p:sp>
      <p:sp>
        <p:nvSpPr>
          <p:cNvPr id="120" name="CRow0"/>
          <p:cNvSpPr/>
          <p:nvPr/>
        </p:nvSpPr>
        <p:spPr>
          <a:xfrm>
            <a:off x="457200" y="1463040"/>
            <a:ext cx="5334000" cy="365760"/>
          </a:xfrm>
          <a:prstGeom prst="rect">
            <a:avLst/>
          </a:prstGeom>
          <a:solidFill>
            <a:srgbClr val="F2F2F2"/>
          </a:solidFill>
          <a:ln w="0">
            <a:noFill/>
          </a:ln>
        </p:spPr>
        <p:txBody>
          <a:bodyPr lIns="91440" tIns="45720" rIns="91440" bIns="45720" anchor="ctr"/>
          <a:lstStyle/>
          <a:p>
            <a:pPr algn="l">
              <a:buNone/>
            </a:pPr>
            <a:r>
              <a:rPr lang="ja-JP" sz="1300" b="1" dirty="0">
                <a:solidFill>
                  <a:srgbClr val="8B2500"/>
                </a:solidFill>
                <a:latin typeface="BIZ UDPGothic"/>
                <a:ea typeface="BIZ UDPGothic"/>
              </a:rPr>
              <a:t>会社名　</a:t>
            </a:r>
            <a:r>
              <a:rPr lang="ja-JP" sz="1300" dirty="0">
                <a:solidFill>
                  <a:srgbClr val="333333"/>
                </a:solidFill>
                <a:latin typeface="BIZ UDPGothic"/>
                <a:ea typeface="BIZ UDPGothic"/>
              </a:rPr>
              <a:t>医療法人社団 恒一会 かえで総合病院</a:t>
            </a:r>
          </a:p>
        </p:txBody>
      </p:sp>
      <p:sp>
        <p:nvSpPr>
          <p:cNvPr id="121" name="CRow1"/>
          <p:cNvSpPr/>
          <p:nvPr/>
        </p:nvSpPr>
        <p:spPr>
          <a:xfrm>
            <a:off x="457200" y="1828800"/>
            <a:ext cx="5334000" cy="365760"/>
          </a:xfrm>
          <a:prstGeom prst="rect">
            <a:avLst/>
          </a:prstGeom>
          <a:solidFill>
            <a:srgbClr val="FFFFFF"/>
          </a:solidFill>
          <a:ln w="0">
            <a:noFill/>
          </a:ln>
        </p:spPr>
        <p:txBody>
          <a:bodyPr lIns="91440" tIns="45720" rIns="91440" bIns="45720" anchor="ctr"/>
          <a:lstStyle/>
          <a:p>
            <a:pPr algn="l">
              <a:buNone/>
            </a:pPr>
            <a:r>
              <a:rPr lang="ja-JP" sz="1300" b="1" dirty="0">
                <a:solidFill>
                  <a:srgbClr val="8B2500"/>
                </a:solidFill>
                <a:latin typeface="BIZ UDPGothic"/>
                <a:ea typeface="BIZ UDPGothic"/>
              </a:rPr>
              <a:t>部署名　</a:t>
            </a:r>
            <a:r>
              <a:rPr lang="ja-JP" sz="1300" dirty="0">
                <a:solidFill>
                  <a:srgbClr val="333333"/>
                </a:solidFill>
                <a:latin typeface="BIZ UDPGothic"/>
                <a:ea typeface="BIZ UDPGothic"/>
              </a:rPr>
              <a:t>医療情報分析室</a:t>
            </a:r>
          </a:p>
        </p:txBody>
      </p:sp>
      <p:sp>
        <p:nvSpPr>
          <p:cNvPr id="122" name="CRow2"/>
          <p:cNvSpPr/>
          <p:nvPr/>
        </p:nvSpPr>
        <p:spPr>
          <a:xfrm>
            <a:off x="457200" y="2194560"/>
            <a:ext cx="5334000" cy="365760"/>
          </a:xfrm>
          <a:prstGeom prst="rect">
            <a:avLst/>
          </a:prstGeom>
          <a:solidFill>
            <a:srgbClr val="F2F2F2"/>
          </a:solidFill>
          <a:ln w="0">
            <a:noFill/>
          </a:ln>
        </p:spPr>
        <p:txBody>
          <a:bodyPr lIns="91440" tIns="45720" rIns="91440" bIns="45720" anchor="ctr"/>
          <a:lstStyle/>
          <a:p>
            <a:pPr algn="l">
              <a:buNone/>
            </a:pPr>
            <a:r>
              <a:rPr lang="ja-JP" sz="1300" b="1" dirty="0">
                <a:solidFill>
                  <a:srgbClr val="8B2500"/>
                </a:solidFill>
                <a:latin typeface="BIZ UDPGothic"/>
                <a:ea typeface="BIZ UDPGothic"/>
              </a:rPr>
              <a:t>主担当者　</a:t>
            </a:r>
            <a:r>
              <a:rPr lang="ja-JP" sz="1300" dirty="0">
                <a:solidFill>
                  <a:srgbClr val="333333"/>
                </a:solidFill>
                <a:latin typeface="BIZ UDPGothic"/>
                <a:ea typeface="BIZ UDPGothic"/>
              </a:rPr>
              <a:t>柴田 海斗</a:t>
            </a:r>
          </a:p>
        </p:txBody>
      </p:sp>
      <p:sp>
        <p:nvSpPr>
          <p:cNvPr id="123" name="CRow3"/>
          <p:cNvSpPr/>
          <p:nvPr/>
        </p:nvSpPr>
        <p:spPr>
          <a:xfrm>
            <a:off x="457200" y="2560320"/>
            <a:ext cx="5334000" cy="365760"/>
          </a:xfrm>
          <a:prstGeom prst="rect">
            <a:avLst/>
          </a:prstGeom>
          <a:solidFill>
            <a:srgbClr val="FFFFFF"/>
          </a:solidFill>
          <a:ln w="0">
            <a:noFill/>
          </a:ln>
        </p:spPr>
        <p:txBody>
          <a:bodyPr lIns="91440" tIns="45720" rIns="91440" bIns="45720" anchor="ctr"/>
          <a:lstStyle/>
          <a:p>
            <a:pPr algn="l">
              <a:buNone/>
            </a:pPr>
            <a:r>
              <a:rPr lang="ja-JP" sz="1300" b="1" dirty="0">
                <a:solidFill>
                  <a:srgbClr val="8B2500"/>
                </a:solidFill>
                <a:latin typeface="BIZ UDPGothic"/>
                <a:ea typeface="BIZ UDPGothic"/>
              </a:rPr>
              <a:t>役職　</a:t>
            </a:r>
            <a:r>
              <a:rPr lang="ja-JP" sz="1300" dirty="0">
                <a:solidFill>
                  <a:srgbClr val="333333"/>
                </a:solidFill>
                <a:latin typeface="BIZ UDPGothic"/>
                <a:ea typeface="BIZ UDPGothic"/>
              </a:rPr>
              <a:t>室長</a:t>
            </a:r>
          </a:p>
        </p:txBody>
      </p:sp>
      <p:sp>
        <p:nvSpPr>
          <p:cNvPr id="130" name="VendorH"/>
          <p:cNvSpPr/>
          <p:nvPr/>
        </p:nvSpPr>
        <p:spPr>
          <a:xfrm>
            <a:off x="6400800" y="1005840"/>
            <a:ext cx="5334000" cy="457200"/>
          </a:xfrm>
          <a:prstGeom prst="roundRect">
            <a:avLst/>
          </a:prstGeom>
          <a:solidFill>
            <a:srgbClr val="4A4A4A"/>
          </a:solidFill>
          <a:ln w="0">
            <a:noFill/>
          </a:ln>
        </p:spPr>
        <p:txBody>
          <a:bodyPr lIns="91440" tIns="45720" rIns="91440" bIns="45720" anchor="ctr"/>
          <a:lstStyle/>
          <a:p>
            <a:pPr algn="ctr">
              <a:buNone/>
            </a:pPr>
            <a:r>
              <a:rPr lang="ja-JP" sz="1800" b="1" dirty="0">
                <a:solidFill>
                  <a:srgbClr val="FFFFFF"/>
                </a:solidFill>
                <a:latin typeface="BIZ UDPGothic"/>
                <a:ea typeface="BIZ UDPGothic"/>
              </a:rPr>
              <a:t>受託者</a:t>
            </a:r>
          </a:p>
        </p:txBody>
      </p:sp>
      <p:sp>
        <p:nvSpPr>
          <p:cNvPr id="140" name="VRow0"/>
          <p:cNvSpPr/>
          <p:nvPr/>
        </p:nvSpPr>
        <p:spPr>
          <a:xfrm>
            <a:off x="6400800" y="1463040"/>
            <a:ext cx="5334000" cy="365760"/>
          </a:xfrm>
          <a:prstGeom prst="rect">
            <a:avLst/>
          </a:prstGeom>
          <a:solidFill>
            <a:srgbClr val="F2F2F2"/>
          </a:solidFill>
          <a:ln w="0">
            <a:noFill/>
          </a:ln>
        </p:spPr>
        <p:txBody>
          <a:bodyPr lIns="91440" tIns="45720" rIns="91440" bIns="45720" anchor="ctr"/>
          <a:lstStyle/>
          <a:p>
            <a:pPr algn="l">
              <a:buNone/>
            </a:pPr>
            <a:r>
              <a:rPr lang="ja-JP" sz="1300" b="1" dirty="0">
                <a:solidFill>
                  <a:srgbClr val="8B2500"/>
                </a:solidFill>
                <a:latin typeface="BIZ UDPGothic"/>
                <a:ea typeface="BIZ UDPGothic"/>
              </a:rPr>
              <a:t>会社名　</a:t>
            </a:r>
            <a:r>
              <a:rPr lang="ja-JP" sz="1300" dirty="0">
                <a:solidFill>
                  <a:srgbClr val="333333"/>
                </a:solidFill>
                <a:latin typeface="BIZ UDPGothic"/>
                <a:ea typeface="BIZ UDPGothic"/>
              </a:rPr>
              <a:t>株式会社データアステル</a:t>
            </a:r>
          </a:p>
        </p:txBody>
      </p:sp>
      <p:sp>
        <p:nvSpPr>
          <p:cNvPr id="141" name="VRow1"/>
          <p:cNvSpPr/>
          <p:nvPr/>
        </p:nvSpPr>
        <p:spPr>
          <a:xfrm>
            <a:off x="6400800" y="1828800"/>
            <a:ext cx="5334000" cy="365760"/>
          </a:xfrm>
          <a:prstGeom prst="rect">
            <a:avLst/>
          </a:prstGeom>
          <a:solidFill>
            <a:srgbClr val="FFFFFF"/>
          </a:solidFill>
          <a:ln w="0">
            <a:noFill/>
          </a:ln>
        </p:spPr>
        <p:txBody>
          <a:bodyPr lIns="91440" tIns="45720" rIns="91440" bIns="45720" anchor="ctr"/>
          <a:lstStyle/>
          <a:p>
            <a:pPr algn="l">
              <a:buNone/>
            </a:pPr>
            <a:r>
              <a:rPr lang="ja-JP" sz="1300" b="1" dirty="0">
                <a:solidFill>
                  <a:srgbClr val="8B2500"/>
                </a:solidFill>
                <a:latin typeface="BIZ UDPGothic"/>
                <a:ea typeface="BIZ UDPGothic"/>
              </a:rPr>
              <a:t>部署名　</a:t>
            </a:r>
            <a:r>
              <a:rPr lang="ja-JP" sz="1300" dirty="0">
                <a:solidFill>
                  <a:srgbClr val="333333"/>
                </a:solidFill>
                <a:latin typeface="BIZ UDPGothic"/>
                <a:ea typeface="BIZ UDPGothic"/>
              </a:rPr>
              <a:t>データサイエンス部</a:t>
            </a:r>
          </a:p>
        </p:txBody>
      </p:sp>
      <p:sp>
        <p:nvSpPr>
          <p:cNvPr id="150" name="ArrowBetween"/>
          <p:cNvSpPr/>
          <p:nvPr/>
        </p:nvSpPr>
        <p:spPr>
          <a:xfrm>
            <a:off x="5791200" y="1280160"/>
            <a:ext cx="609600" cy="457200"/>
          </a:xfrm>
          <a:prstGeom prst="rect">
            <a:avLst/>
          </a:prstGeom>
          <a:noFill/>
          <a:ln w="0">
            <a:noFill/>
          </a:ln>
        </p:spPr>
        <p:txBody>
          <a:bodyPr lIns="91440" tIns="45720" rIns="91440" bIns="45720" anchor="ctr"/>
          <a:lstStyle/>
          <a:p>
            <a:pPr algn="ctr">
              <a:buNone/>
            </a:pPr>
            <a:r>
              <a:rPr lang="ja-JP" sz="2400" b="1" dirty="0">
                <a:solidFill>
                  <a:srgbClr val="8B2500"/>
                </a:solidFill>
                <a:latin typeface="BIZ UDPGothic"/>
                <a:ea typeface="BIZ UDPGothic"/>
              </a:rPr>
              <a:t>⇄</a:t>
            </a:r>
          </a:p>
        </p:txBody>
      </p:sp>
      <p:sp>
        <p:nvSpPr>
          <p:cNvPr id="160" name="CommHeader"/>
          <p:cNvSpPr/>
          <p:nvPr/>
        </p:nvSpPr>
        <p:spPr>
          <a:xfrm>
            <a:off x="457200" y="3108960"/>
            <a:ext cx="11277600" cy="457200"/>
          </a:xfrm>
          <a:prstGeom prst="roundRect">
            <a:avLst/>
          </a:prstGeom>
          <a:solidFill>
            <a:srgbClr val="1A1A1A"/>
          </a:solidFill>
          <a:ln w="0">
            <a:noFill/>
          </a:ln>
        </p:spPr>
        <p:txBody>
          <a:bodyPr lIns="91440" tIns="45720" rIns="91440" bIns="45720" anchor="ctr"/>
          <a:lstStyle/>
          <a:p>
            <a:pPr algn="ctr">
              <a:buNone/>
            </a:pPr>
            <a:r>
              <a:rPr lang="ja-JP" sz="1600" b="1" dirty="0">
                <a:solidFill>
                  <a:srgbClr val="FFFFFF"/>
                </a:solidFill>
                <a:latin typeface="BIZ UDPGothic"/>
                <a:ea typeface="BIZ UDPGothic"/>
              </a:rPr>
              <a:t>コミュニケーション運営</a:t>
            </a:r>
          </a:p>
        </p:txBody>
      </p:sp>
      <p:sp>
        <p:nvSpPr>
          <p:cNvPr id="170" name="Comm0"/>
          <p:cNvSpPr/>
          <p:nvPr/>
        </p:nvSpPr>
        <p:spPr>
          <a:xfrm>
            <a:off x="457200" y="3657600"/>
            <a:ext cx="2194560" cy="548640"/>
          </a:xfrm>
          <a:prstGeom prst="roundRect">
            <a:avLst/>
          </a:prstGeom>
          <a:solidFill>
            <a:srgbClr val="F2F2F2"/>
          </a:solidFill>
          <a:ln w="0">
            <a:noFill/>
          </a:ln>
        </p:spPr>
        <p:txBody>
          <a:bodyPr lIns="91440" tIns="45720" rIns="91440" bIns="45720" anchor="ctr"/>
          <a:lstStyle/>
          <a:p>
            <a:pPr algn="ctr">
              <a:buNone/>
            </a:pPr>
            <a:r>
              <a:rPr lang="ja-JP" sz="1100" dirty="0">
                <a:solidFill>
                  <a:srgbClr val="333333"/>
                </a:solidFill>
                <a:latin typeface="BIZ UDPGothic"/>
                <a:ea typeface="BIZ UDPGothic"/>
              </a:rPr>
              <a:t>週次の進捗共有を実施</a:t>
            </a:r>
          </a:p>
        </p:txBody>
      </p:sp>
      <p:sp>
        <p:nvSpPr>
          <p:cNvPr id="171" name="Comm1"/>
          <p:cNvSpPr/>
          <p:nvPr/>
        </p:nvSpPr>
        <p:spPr>
          <a:xfrm>
            <a:off x="2743200" y="3657600"/>
            <a:ext cx="2194560" cy="548640"/>
          </a:xfrm>
          <a:prstGeom prst="roundRect">
            <a:avLst/>
          </a:prstGeom>
          <a:solidFill>
            <a:srgbClr val="F2F2F2"/>
          </a:solidFill>
          <a:ln w="0">
            <a:noFill/>
          </a:ln>
        </p:spPr>
        <p:txBody>
          <a:bodyPr lIns="91440" tIns="45720" rIns="91440" bIns="45720" anchor="ctr"/>
          <a:lstStyle/>
          <a:p>
            <a:pPr algn="ctr">
              <a:buNone/>
            </a:pPr>
            <a:r>
              <a:rPr lang="ja-JP" sz="1100" dirty="0">
                <a:solidFill>
                  <a:srgbClr val="333333"/>
                </a:solidFill>
                <a:latin typeface="BIZ UDPGothic"/>
                <a:ea typeface="BIZ UDPGothic"/>
              </a:rPr>
              <a:t>中間レビューを第3週目安で実施</a:t>
            </a:r>
          </a:p>
        </p:txBody>
      </p:sp>
      <p:sp>
        <p:nvSpPr>
          <p:cNvPr id="172" name="Comm2"/>
          <p:cNvSpPr/>
          <p:nvPr/>
        </p:nvSpPr>
        <p:spPr>
          <a:xfrm>
            <a:off x="5029200" y="3657600"/>
            <a:ext cx="2194560" cy="548640"/>
          </a:xfrm>
          <a:prstGeom prst="roundRect">
            <a:avLst/>
          </a:prstGeom>
          <a:solidFill>
            <a:srgbClr val="F2F2F2"/>
          </a:solidFill>
          <a:ln w="0">
            <a:noFill/>
          </a:ln>
        </p:spPr>
        <p:txBody>
          <a:bodyPr lIns="91440" tIns="45720" rIns="91440" bIns="45720" anchor="ctr"/>
          <a:lstStyle/>
          <a:p>
            <a:pPr algn="ctr">
              <a:buNone/>
            </a:pPr>
            <a:r>
              <a:rPr lang="ja-JP" sz="1100" dirty="0">
                <a:solidFill>
                  <a:srgbClr val="333333"/>
                </a:solidFill>
                <a:latin typeface="BIZ UDPGothic"/>
                <a:ea typeface="BIZ UDPGothic"/>
              </a:rPr>
              <a:t>最終レビューを最終報告前に実施</a:t>
            </a:r>
          </a:p>
        </p:txBody>
      </p:sp>
      <p:sp>
        <p:nvSpPr>
          <p:cNvPr id="173" name="Comm3"/>
          <p:cNvSpPr/>
          <p:nvPr/>
        </p:nvSpPr>
        <p:spPr>
          <a:xfrm>
            <a:off x="7315200" y="3657600"/>
            <a:ext cx="2194560" cy="548640"/>
          </a:xfrm>
          <a:prstGeom prst="roundRect">
            <a:avLst/>
          </a:prstGeom>
          <a:solidFill>
            <a:srgbClr val="F2F2F2"/>
          </a:solidFill>
          <a:ln w="0">
            <a:noFill/>
          </a:ln>
        </p:spPr>
        <p:txBody>
          <a:bodyPr lIns="91440" tIns="45720" rIns="91440" bIns="45720" anchor="ctr"/>
          <a:lstStyle/>
          <a:p>
            <a:pPr algn="ctr">
              <a:buNone/>
            </a:pPr>
            <a:r>
              <a:rPr lang="ja-JP" sz="1100" dirty="0">
                <a:solidFill>
                  <a:srgbClr val="333333"/>
                </a:solidFill>
                <a:latin typeface="BIZ UDPGothic"/>
                <a:ea typeface="BIZ UDPGothic"/>
              </a:rPr>
              <a:t>課題、前提変更、論点はPMが一元管理</a:t>
            </a:r>
          </a:p>
        </p:txBody>
      </p:sp>
      <p:sp>
        <p:nvSpPr>
          <p:cNvPr id="174" name="Comm4"/>
          <p:cNvSpPr/>
          <p:nvPr/>
        </p:nvSpPr>
        <p:spPr>
          <a:xfrm>
            <a:off x="9601200" y="3657600"/>
            <a:ext cx="2194560" cy="548640"/>
          </a:xfrm>
          <a:prstGeom prst="roundRect">
            <a:avLst/>
          </a:prstGeom>
          <a:solidFill>
            <a:srgbClr val="F2F2F2"/>
          </a:solidFill>
          <a:ln w="0">
            <a:noFill/>
          </a:ln>
        </p:spPr>
        <p:txBody>
          <a:bodyPr lIns="91440" tIns="45720" rIns="91440" bIns="45720" anchor="ctr"/>
          <a:lstStyle/>
          <a:p>
            <a:pPr algn="ctr">
              <a:buNone/>
            </a:pPr>
            <a:r>
              <a:rPr lang="ja-JP" sz="1100" dirty="0">
                <a:solidFill>
                  <a:srgbClr val="333333"/>
                </a:solidFill>
                <a:latin typeface="BIZ UDPGothic"/>
                <a:ea typeface="BIZ UDPGothic"/>
              </a:rPr>
              <a:t>議事録と成果物間の整合性を維持</a:t>
            </a:r>
          </a:p>
        </p:txBody>
      </p:sp>
    </p:spTree>
    <p:extLst>
      <p:ext uri="{BB962C8B-B14F-4D97-AF65-F5344CB8AC3E}">
        <p14:creationId xmlns:p14="http://schemas.microsoft.com/office/powerpoint/2010/main" val="1625722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36576" rIns="91440" bIns="36576" anchor="ctr"/>
          <a:lstStyle/>
          <a:p>
            <a:pPr algn="ctr">
              <a:buNone/>
            </a:pPr>
            <a:r>
              <a:rPr lang="ja-JP" sz="2400" b="1" dirty="0">
                <a:solidFill>
                  <a:srgbClr val="FFFFFF"/>
                </a:solidFill>
                <a:latin typeface="BIZ UDPGothic"/>
                <a:ea typeface="BIZ UDPGothic"/>
              </a:rPr>
              <a:t>05</a:t>
            </a:r>
          </a:p>
        </p:txBody>
      </p:sp>
      <p:sp>
        <p:nvSpPr>
          <p:cNvPr id="101" name="SecTitle"/>
          <p:cNvSpPr/>
          <p:nvPr/>
        </p:nvSpPr>
        <p:spPr>
          <a:xfrm>
            <a:off x="1143000" y="228600"/>
            <a:ext cx="10363200" cy="548640"/>
          </a:xfrm>
          <a:prstGeom prst="rect">
            <a:avLst/>
          </a:prstGeom>
          <a:noFill/>
          <a:ln w="0">
            <a:noFill/>
          </a:ln>
        </p:spPr>
        <p:txBody>
          <a:bodyPr lIns="91440" tIns="36576" rIns="91440" bIns="36576" anchor="ctr"/>
          <a:lstStyle/>
          <a:p>
            <a:pPr algn="l">
              <a:buNone/>
            </a:pPr>
            <a:r>
              <a:rPr lang="ja-JP" sz="2800" b="1" dirty="0">
                <a:solidFill>
                  <a:srgbClr val="1A1A1A"/>
                </a:solidFill>
                <a:latin typeface="BIZ UDPGothic"/>
                <a:ea typeface="BIZ UDPGothic"/>
              </a:rPr>
              <a:t>実施体制 ─ プロジェクト体制</a:t>
            </a:r>
          </a:p>
        </p:txBody>
      </p:sp>
      <p:sp>
        <p:nvSpPr>
          <p:cNvPr id="102" name="TitleLine"/>
          <p:cNvSpPr/>
          <p:nvPr/>
        </p:nvSpPr>
        <p:spPr>
          <a:xfrm>
            <a:off x="457200" y="800100"/>
            <a:ext cx="11277600" cy="36576"/>
          </a:xfrm>
          <a:prstGeom prst="rect">
            <a:avLst/>
          </a:prstGeom>
          <a:solidFill>
            <a:srgbClr val="8B2500"/>
          </a:solidFill>
          <a:ln w="0">
            <a:noFill/>
          </a:ln>
        </p:spPr>
        <p:txBody>
          <a:bodyPr lIns="91440" tIns="36576" rIns="91440" bIns="36576" anchor="ctr"/>
          <a:lstStyle/>
          <a:p>
            <a:endParaRPr lang="ja-JP"/>
          </a:p>
        </p:txBody>
      </p:sp>
      <p:sp>
        <p:nvSpPr>
          <p:cNvPr id="110" name="Exec"/>
          <p:cNvSpPr/>
          <p:nvPr/>
        </p:nvSpPr>
        <p:spPr>
          <a:xfrm>
            <a:off x="4724400" y="960120"/>
            <a:ext cx="2743200" cy="731520"/>
          </a:xfrm>
          <a:prstGeom prst="roundRect">
            <a:avLst/>
          </a:prstGeom>
          <a:solidFill>
            <a:srgbClr val="8B2500"/>
          </a:solidFill>
          <a:ln w="0">
            <a:noFill/>
          </a:ln>
        </p:spPr>
        <p:txBody>
          <a:bodyPr lIns="91440" tIns="36576" rIns="91440" bIns="36576" anchor="ctr"/>
          <a:lstStyle/>
          <a:p>
            <a:pPr algn="ctr">
              <a:buNone/>
            </a:pPr>
            <a:r>
              <a:rPr lang="ja-JP" sz="1100" dirty="0">
                <a:solidFill>
                  <a:srgbClr val="FFFFFF"/>
                </a:solidFill>
                <a:latin typeface="BIZ UDPGothic"/>
                <a:ea typeface="BIZ UDPGothic"/>
              </a:rPr>
              <a:t>エグゼクティブスポンサー</a:t>
            </a:r>
          </a:p>
          <a:p>
            <a:pPr algn="ctr">
              <a:buNone/>
            </a:pPr>
            <a:r>
              <a:rPr lang="ja-JP" sz="1400" b="1" dirty="0">
                <a:solidFill>
                  <a:srgbClr val="FFFFFF"/>
                </a:solidFill>
                <a:latin typeface="BIZ UDPGothic"/>
                <a:ea typeface="BIZ UDPGothic"/>
              </a:rPr>
              <a:t>山田 直樹</a:t>
            </a:r>
          </a:p>
          <a:p>
            <a:pPr algn="ctr">
              <a:buNone/>
            </a:pPr>
            <a:r>
              <a:rPr lang="ja-JP" sz="1000" dirty="0">
                <a:solidFill>
                  <a:srgbClr val="FFFFFF"/>
                </a:solidFill>
                <a:latin typeface="BIZ UDPGothic"/>
                <a:ea typeface="BIZ UDPGothic"/>
              </a:rPr>
              <a:t>全体統括、重要判断支援</a:t>
            </a:r>
          </a:p>
        </p:txBody>
      </p:sp>
      <p:sp>
        <p:nvSpPr>
          <p:cNvPr id="115" name="ConnExPM"/>
          <p:cNvSpPr/>
          <p:nvPr/>
        </p:nvSpPr>
        <p:spPr>
          <a:xfrm>
            <a:off x="6086856" y="1691640"/>
            <a:ext cx="18288" cy="274320"/>
          </a:xfrm>
          <a:prstGeom prst="rect">
            <a:avLst/>
          </a:prstGeom>
          <a:solidFill>
            <a:srgbClr val="4A4A4A"/>
          </a:solidFill>
          <a:ln w="0">
            <a:noFill/>
          </a:ln>
        </p:spPr>
        <p:txBody>
          <a:bodyPr lIns="91440" tIns="36576" rIns="91440" bIns="36576" anchor="ctr"/>
          <a:lstStyle/>
          <a:p>
            <a:endParaRPr lang="ja-JP"/>
          </a:p>
        </p:txBody>
      </p:sp>
      <p:sp>
        <p:nvSpPr>
          <p:cNvPr id="120" name="PM"/>
          <p:cNvSpPr/>
          <p:nvPr/>
        </p:nvSpPr>
        <p:spPr>
          <a:xfrm>
            <a:off x="4724400" y="1965960"/>
            <a:ext cx="2743200" cy="731520"/>
          </a:xfrm>
          <a:prstGeom prst="roundRect">
            <a:avLst/>
          </a:prstGeom>
          <a:solidFill>
            <a:srgbClr val="1A1A1A"/>
          </a:solidFill>
          <a:ln w="0">
            <a:noFill/>
          </a:ln>
        </p:spPr>
        <p:txBody>
          <a:bodyPr lIns="91440" tIns="36576" rIns="91440" bIns="36576" anchor="ctr"/>
          <a:lstStyle/>
          <a:p>
            <a:pPr algn="ctr">
              <a:buNone/>
            </a:pPr>
            <a:r>
              <a:rPr lang="ja-JP" sz="1100" dirty="0">
                <a:solidFill>
                  <a:srgbClr val="FFFFFF"/>
                </a:solidFill>
                <a:latin typeface="BIZ UDPGothic"/>
                <a:ea typeface="BIZ UDPGothic"/>
              </a:rPr>
              <a:t>プロジェクトマネージャー</a:t>
            </a:r>
          </a:p>
          <a:p>
            <a:pPr algn="ctr">
              <a:buNone/>
            </a:pPr>
            <a:r>
              <a:rPr lang="ja-JP" sz="1400" b="1" dirty="0">
                <a:solidFill>
                  <a:srgbClr val="FFFFFF"/>
                </a:solidFill>
                <a:latin typeface="BIZ UDPGothic"/>
                <a:ea typeface="BIZ UDPGothic"/>
              </a:rPr>
              <a:t>佐藤 健一</a:t>
            </a:r>
          </a:p>
          <a:p>
            <a:pPr algn="ctr">
              <a:buNone/>
            </a:pPr>
            <a:r>
              <a:rPr lang="ja-JP" sz="1000" dirty="0">
                <a:solidFill>
                  <a:srgbClr val="FFFFFF"/>
                </a:solidFill>
                <a:latin typeface="BIZ UDPGothic"/>
                <a:ea typeface="BIZ UDPGothic"/>
              </a:rPr>
              <a:t>進行・課題管理、顧客窓口</a:t>
            </a:r>
          </a:p>
        </p:txBody>
      </p:sp>
      <p:sp>
        <p:nvSpPr>
          <p:cNvPr id="125" name="ConnPMTeam"/>
          <p:cNvSpPr/>
          <p:nvPr/>
        </p:nvSpPr>
        <p:spPr>
          <a:xfrm>
            <a:off x="6086856" y="2697480"/>
            <a:ext cx="18288" cy="365760"/>
          </a:xfrm>
          <a:prstGeom prst="rect">
            <a:avLst/>
          </a:prstGeom>
          <a:solidFill>
            <a:srgbClr val="4A4A4A"/>
          </a:solidFill>
          <a:ln w="0">
            <a:noFill/>
          </a:ln>
        </p:spPr>
        <p:txBody>
          <a:bodyPr lIns="91440" tIns="36576" rIns="91440" bIns="36576" anchor="ctr"/>
          <a:lstStyle/>
          <a:p>
            <a:endParaRPr lang="ja-JP"/>
          </a:p>
        </p:txBody>
      </p:sp>
      <p:sp>
        <p:nvSpPr>
          <p:cNvPr id="126" name="HLine"/>
          <p:cNvSpPr/>
          <p:nvPr/>
        </p:nvSpPr>
        <p:spPr>
          <a:xfrm>
            <a:off x="1828800" y="3054096"/>
            <a:ext cx="10058400" cy="18288"/>
          </a:xfrm>
          <a:prstGeom prst="rect">
            <a:avLst/>
          </a:prstGeom>
          <a:solidFill>
            <a:srgbClr val="4A4A4A"/>
          </a:solidFill>
          <a:ln w="0">
            <a:noFill/>
          </a:ln>
        </p:spPr>
        <p:txBody>
          <a:bodyPr lIns="91440" tIns="36576" rIns="91440" bIns="36576" anchor="ctr"/>
          <a:lstStyle/>
          <a:p>
            <a:endParaRPr lang="ja-JP"/>
          </a:p>
        </p:txBody>
      </p:sp>
      <p:sp>
        <p:nvSpPr>
          <p:cNvPr id="130" name="VConn0"/>
          <p:cNvSpPr/>
          <p:nvPr/>
        </p:nvSpPr>
        <p:spPr>
          <a:xfrm>
            <a:off x="1728216" y="3063240"/>
            <a:ext cx="18288" cy="0"/>
          </a:xfrm>
          <a:prstGeom prst="rect">
            <a:avLst/>
          </a:prstGeom>
          <a:solidFill>
            <a:srgbClr val="4A4A4A"/>
          </a:solidFill>
          <a:ln w="0">
            <a:noFill/>
          </a:ln>
        </p:spPr>
        <p:txBody>
          <a:bodyPr lIns="91440" tIns="36576" rIns="91440" bIns="36576" anchor="ctr"/>
          <a:lstStyle/>
          <a:p>
            <a:endParaRPr lang="ja-JP"/>
          </a:p>
        </p:txBody>
      </p:sp>
      <p:sp>
        <p:nvSpPr>
          <p:cNvPr id="131" name="Member0"/>
          <p:cNvSpPr/>
          <p:nvPr/>
        </p:nvSpPr>
        <p:spPr>
          <a:xfrm>
            <a:off x="457200" y="3063240"/>
            <a:ext cx="2560320" cy="731520"/>
          </a:xfrm>
          <a:prstGeom prst="roundRect">
            <a:avLst/>
          </a:prstGeom>
          <a:solidFill>
            <a:srgbClr val="4A4A4A"/>
          </a:solidFill>
          <a:ln w="0">
            <a:noFill/>
          </a:ln>
        </p:spPr>
        <p:txBody>
          <a:bodyPr lIns="91440" tIns="36576" rIns="91440" bIns="36576" anchor="ctr"/>
          <a:lstStyle/>
          <a:p>
            <a:pPr algn="ctr">
              <a:buNone/>
            </a:pPr>
            <a:r>
              <a:rPr lang="ja-JP" sz="1000" dirty="0">
                <a:solidFill>
                  <a:srgbClr val="FFFFFF"/>
                </a:solidFill>
                <a:latin typeface="BIZ UDPGothic"/>
                <a:ea typeface="BIZ UDPGothic"/>
              </a:rPr>
              <a:t>リードデータサイエンティスト</a:t>
            </a:r>
          </a:p>
          <a:p>
            <a:pPr algn="ctr">
              <a:buNone/>
            </a:pPr>
            <a:r>
              <a:rPr lang="ja-JP" sz="1400" b="1" dirty="0">
                <a:solidFill>
                  <a:srgbClr val="FFFFFF"/>
                </a:solidFill>
                <a:latin typeface="BIZ UDPGothic"/>
                <a:ea typeface="BIZ UDPGothic"/>
              </a:rPr>
              <a:t>山本 彩乃</a:t>
            </a:r>
          </a:p>
          <a:p>
            <a:pPr algn="ctr">
              <a:buNone/>
            </a:pPr>
            <a:r>
              <a:rPr lang="ja-JP" sz="1000" dirty="0">
                <a:solidFill>
                  <a:srgbClr val="C8C8C8"/>
                </a:solidFill>
                <a:latin typeface="BIZ UDPGothic"/>
                <a:ea typeface="BIZ UDPGothic"/>
              </a:rPr>
              <a:t>分析設計、モデル構築</a:t>
            </a:r>
          </a:p>
        </p:txBody>
      </p:sp>
      <p:sp>
        <p:nvSpPr>
          <p:cNvPr id="132" name="VConn1"/>
          <p:cNvSpPr/>
          <p:nvPr/>
        </p:nvSpPr>
        <p:spPr>
          <a:xfrm>
            <a:off x="4471416" y="3063240"/>
            <a:ext cx="18288" cy="0"/>
          </a:xfrm>
          <a:prstGeom prst="rect">
            <a:avLst/>
          </a:prstGeom>
          <a:solidFill>
            <a:srgbClr val="4A4A4A"/>
          </a:solidFill>
          <a:ln w="0">
            <a:noFill/>
          </a:ln>
        </p:spPr>
        <p:txBody>
          <a:bodyPr lIns="91440" tIns="36576" rIns="91440" bIns="36576" anchor="ctr"/>
          <a:lstStyle/>
          <a:p>
            <a:endParaRPr lang="ja-JP"/>
          </a:p>
        </p:txBody>
      </p:sp>
      <p:sp>
        <p:nvSpPr>
          <p:cNvPr id="133" name="Member1"/>
          <p:cNvSpPr/>
          <p:nvPr/>
        </p:nvSpPr>
        <p:spPr>
          <a:xfrm>
            <a:off x="3200400" y="3063240"/>
            <a:ext cx="2560320" cy="731520"/>
          </a:xfrm>
          <a:prstGeom prst="roundRect">
            <a:avLst/>
          </a:prstGeom>
          <a:solidFill>
            <a:srgbClr val="4A4A4A"/>
          </a:solidFill>
          <a:ln w="0">
            <a:noFill/>
          </a:ln>
        </p:spPr>
        <p:txBody>
          <a:bodyPr lIns="91440" tIns="36576" rIns="91440" bIns="36576" anchor="ctr"/>
          <a:lstStyle/>
          <a:p>
            <a:pPr algn="ctr">
              <a:buNone/>
            </a:pPr>
            <a:r>
              <a:rPr lang="ja-JP" sz="1000" dirty="0">
                <a:solidFill>
                  <a:srgbClr val="FFFFFF"/>
                </a:solidFill>
                <a:latin typeface="BIZ UDPGothic"/>
                <a:ea typeface="BIZ UDPGothic"/>
              </a:rPr>
              <a:t>データエンジニア</a:t>
            </a:r>
          </a:p>
          <a:p>
            <a:pPr algn="ctr">
              <a:buNone/>
            </a:pPr>
            <a:r>
              <a:rPr lang="ja-JP" sz="1400" b="1" dirty="0">
                <a:solidFill>
                  <a:srgbClr val="FFFFFF"/>
                </a:solidFill>
                <a:latin typeface="BIZ UDPGothic"/>
                <a:ea typeface="BIZ UDPGothic"/>
              </a:rPr>
              <a:t>斎藤 悠斗</a:t>
            </a:r>
          </a:p>
          <a:p>
            <a:pPr algn="ctr">
              <a:buNone/>
            </a:pPr>
            <a:r>
              <a:rPr lang="ja-JP" sz="1000" dirty="0">
                <a:solidFill>
                  <a:srgbClr val="C8C8C8"/>
                </a:solidFill>
                <a:latin typeface="BIZ UDPGothic"/>
                <a:ea typeface="BIZ UDPGothic"/>
              </a:rPr>
              <a:t>前処理実装、環境整備</a:t>
            </a:r>
          </a:p>
        </p:txBody>
      </p:sp>
      <p:sp>
        <p:nvSpPr>
          <p:cNvPr id="134" name="VConn2"/>
          <p:cNvSpPr/>
          <p:nvPr/>
        </p:nvSpPr>
        <p:spPr>
          <a:xfrm>
            <a:off x="7214616" y="3063240"/>
            <a:ext cx="18288" cy="0"/>
          </a:xfrm>
          <a:prstGeom prst="rect">
            <a:avLst/>
          </a:prstGeom>
          <a:solidFill>
            <a:srgbClr val="4A4A4A"/>
          </a:solidFill>
          <a:ln w="0">
            <a:noFill/>
          </a:ln>
        </p:spPr>
        <p:txBody>
          <a:bodyPr lIns="91440" tIns="36576" rIns="91440" bIns="36576" anchor="ctr"/>
          <a:lstStyle/>
          <a:p>
            <a:endParaRPr lang="ja-JP"/>
          </a:p>
        </p:txBody>
      </p:sp>
      <p:sp>
        <p:nvSpPr>
          <p:cNvPr id="135" name="Member2"/>
          <p:cNvSpPr/>
          <p:nvPr/>
        </p:nvSpPr>
        <p:spPr>
          <a:xfrm>
            <a:off x="5943600" y="3063240"/>
            <a:ext cx="2560320" cy="731520"/>
          </a:xfrm>
          <a:prstGeom prst="roundRect">
            <a:avLst/>
          </a:prstGeom>
          <a:solidFill>
            <a:srgbClr val="4A4A4A"/>
          </a:solidFill>
          <a:ln w="0">
            <a:noFill/>
          </a:ln>
        </p:spPr>
        <p:txBody>
          <a:bodyPr lIns="91440" tIns="36576" rIns="91440" bIns="36576" anchor="ctr"/>
          <a:lstStyle/>
          <a:p>
            <a:pPr algn="ctr">
              <a:buNone/>
            </a:pPr>
            <a:r>
              <a:rPr lang="ja-JP" sz="1000" dirty="0">
                <a:solidFill>
                  <a:srgbClr val="FFFFFF"/>
                </a:solidFill>
                <a:latin typeface="BIZ UDPGothic"/>
                <a:ea typeface="BIZ UDPGothic"/>
              </a:rPr>
              <a:t>ビジネスアナリスト</a:t>
            </a:r>
          </a:p>
          <a:p>
            <a:pPr algn="ctr">
              <a:buNone/>
            </a:pPr>
            <a:r>
              <a:rPr lang="ja-JP" sz="1400" b="1" dirty="0">
                <a:solidFill>
                  <a:srgbClr val="FFFFFF"/>
                </a:solidFill>
                <a:latin typeface="BIZ UDPGothic"/>
                <a:ea typeface="BIZ UDPGothic"/>
              </a:rPr>
              <a:t>松本 真央</a:t>
            </a:r>
          </a:p>
          <a:p>
            <a:pPr algn="ctr">
              <a:buNone/>
            </a:pPr>
            <a:r>
              <a:rPr lang="ja-JP" sz="1000" dirty="0">
                <a:solidFill>
                  <a:srgbClr val="C8C8C8"/>
                </a:solidFill>
                <a:latin typeface="BIZ UDPGothic"/>
                <a:ea typeface="BIZ UDPGothic"/>
              </a:rPr>
              <a:t>業務要件・示唆整理</a:t>
            </a:r>
          </a:p>
        </p:txBody>
      </p:sp>
      <p:sp>
        <p:nvSpPr>
          <p:cNvPr id="136" name="VConn3"/>
          <p:cNvSpPr/>
          <p:nvPr/>
        </p:nvSpPr>
        <p:spPr>
          <a:xfrm>
            <a:off x="9957816" y="3063240"/>
            <a:ext cx="18288" cy="0"/>
          </a:xfrm>
          <a:prstGeom prst="rect">
            <a:avLst/>
          </a:prstGeom>
          <a:solidFill>
            <a:srgbClr val="4A4A4A"/>
          </a:solidFill>
          <a:ln w="0">
            <a:noFill/>
          </a:ln>
        </p:spPr>
        <p:txBody>
          <a:bodyPr lIns="91440" tIns="36576" rIns="91440" bIns="36576" anchor="ctr"/>
          <a:lstStyle/>
          <a:p>
            <a:endParaRPr lang="ja-JP"/>
          </a:p>
        </p:txBody>
      </p:sp>
      <p:sp>
        <p:nvSpPr>
          <p:cNvPr id="137" name="Member3"/>
          <p:cNvSpPr/>
          <p:nvPr/>
        </p:nvSpPr>
        <p:spPr>
          <a:xfrm>
            <a:off x="8686800" y="3063240"/>
            <a:ext cx="2560320" cy="731520"/>
          </a:xfrm>
          <a:prstGeom prst="roundRect">
            <a:avLst/>
          </a:prstGeom>
          <a:solidFill>
            <a:srgbClr val="4A4A4A"/>
          </a:solidFill>
          <a:ln w="0">
            <a:noFill/>
          </a:ln>
        </p:spPr>
        <p:txBody>
          <a:bodyPr lIns="91440" tIns="36576" rIns="91440" bIns="36576" anchor="ctr"/>
          <a:lstStyle/>
          <a:p>
            <a:pPr algn="ctr">
              <a:buNone/>
            </a:pPr>
            <a:r>
              <a:rPr lang="ja-JP" sz="1000" dirty="0">
                <a:solidFill>
                  <a:srgbClr val="FFFFFF"/>
                </a:solidFill>
                <a:latin typeface="BIZ UDPGothic"/>
                <a:ea typeface="BIZ UDPGothic"/>
              </a:rPr>
              <a:t>QAレビューア</a:t>
            </a:r>
          </a:p>
          <a:p>
            <a:pPr algn="ctr">
              <a:buNone/>
            </a:pPr>
            <a:r>
              <a:rPr lang="ja-JP" sz="1400" b="1" dirty="0">
                <a:solidFill>
                  <a:srgbClr val="FFFFFF"/>
                </a:solidFill>
                <a:latin typeface="BIZ UDPGothic"/>
                <a:ea typeface="BIZ UDPGothic"/>
              </a:rPr>
              <a:t>池田 直哉</a:t>
            </a:r>
          </a:p>
          <a:p>
            <a:pPr algn="ctr">
              <a:buNone/>
            </a:pPr>
            <a:r>
              <a:rPr lang="ja-JP" sz="1000" dirty="0">
                <a:solidFill>
                  <a:srgbClr val="C8C8C8"/>
                </a:solidFill>
                <a:latin typeface="BIZ UDPGothic"/>
                <a:ea typeface="BIZ UDPGothic"/>
              </a:rPr>
              <a:t>品質・整合性確認</a:t>
            </a:r>
          </a:p>
        </p:txBody>
      </p:sp>
    </p:spTree>
    <p:extLst>
      <p:ext uri="{BB962C8B-B14F-4D97-AF65-F5344CB8AC3E}">
        <p14:creationId xmlns:p14="http://schemas.microsoft.com/office/powerpoint/2010/main" val="132245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73152" tIns="36576" rIns="73152" bIns="36576" anchor="ctr"/>
          <a:lstStyle/>
          <a:p>
            <a:pPr algn="ctr">
              <a:buNone/>
            </a:pPr>
            <a:r>
              <a:rPr lang="ja-JP" sz="2400" b="1" dirty="0">
                <a:solidFill>
                  <a:srgbClr val="FFFFFF"/>
                </a:solidFill>
                <a:latin typeface="BIZ UDPGothic"/>
                <a:ea typeface="BIZ UDPGothic"/>
              </a:rPr>
              <a:t>06</a:t>
            </a:r>
          </a:p>
        </p:txBody>
      </p:sp>
      <p:sp>
        <p:nvSpPr>
          <p:cNvPr id="101" name="SecTitle"/>
          <p:cNvSpPr/>
          <p:nvPr/>
        </p:nvSpPr>
        <p:spPr>
          <a:xfrm>
            <a:off x="1143000" y="228600"/>
            <a:ext cx="10363200" cy="548640"/>
          </a:xfrm>
          <a:prstGeom prst="rect">
            <a:avLst/>
          </a:prstGeom>
          <a:noFill/>
          <a:ln w="0">
            <a:noFill/>
          </a:ln>
        </p:spPr>
        <p:txBody>
          <a:bodyPr lIns="73152" tIns="36576" rIns="73152" bIns="36576" anchor="ctr"/>
          <a:lstStyle/>
          <a:p>
            <a:pPr algn="l">
              <a:buNone/>
            </a:pPr>
            <a:r>
              <a:rPr lang="ja-JP" sz="2800" b="1" dirty="0">
                <a:solidFill>
                  <a:srgbClr val="1A1A1A"/>
                </a:solidFill>
                <a:latin typeface="BIZ UDPGothic"/>
                <a:ea typeface="BIZ UDPGothic"/>
              </a:rPr>
              <a:t>スケジュール案</a:t>
            </a:r>
          </a:p>
        </p:txBody>
      </p:sp>
      <p:sp>
        <p:nvSpPr>
          <p:cNvPr id="102" name="TitleLine"/>
          <p:cNvSpPr/>
          <p:nvPr/>
        </p:nvSpPr>
        <p:spPr>
          <a:xfrm>
            <a:off x="457200" y="800100"/>
            <a:ext cx="11277600" cy="36576"/>
          </a:xfrm>
          <a:prstGeom prst="rect">
            <a:avLst/>
          </a:prstGeom>
          <a:solidFill>
            <a:srgbClr val="8B2500"/>
          </a:solidFill>
          <a:ln w="0">
            <a:noFill/>
          </a:ln>
        </p:spPr>
        <p:txBody>
          <a:bodyPr lIns="73152" tIns="36576" rIns="73152" bIns="36576" anchor="ctr"/>
          <a:lstStyle/>
          <a:p>
            <a:endParaRPr lang="ja-JP"/>
          </a:p>
        </p:txBody>
      </p:sp>
      <p:sp>
        <p:nvSpPr>
          <p:cNvPr id="103" name="DateInfo"/>
          <p:cNvSpPr/>
          <p:nvPr/>
        </p:nvSpPr>
        <p:spPr>
          <a:xfrm>
            <a:off x="457200" y="868680"/>
            <a:ext cx="11277600" cy="320040"/>
          </a:xfrm>
          <a:prstGeom prst="rect">
            <a:avLst/>
          </a:prstGeom>
          <a:noFill/>
          <a:ln w="0">
            <a:noFill/>
          </a:ln>
        </p:spPr>
        <p:txBody>
          <a:bodyPr lIns="73152" tIns="36576" rIns="73152" bIns="36576" anchor="ctr"/>
          <a:lstStyle/>
          <a:p>
            <a:pPr algn="l">
              <a:buNone/>
            </a:pPr>
            <a:r>
              <a:rPr lang="ja-JP" sz="1400" dirty="0">
                <a:solidFill>
                  <a:srgbClr val="333333"/>
                </a:solidFill>
                <a:latin typeface="BIZ UDPGothic"/>
                <a:ea typeface="BIZ UDPGothic"/>
              </a:rPr>
              <a:t>契約開始日: </a:t>
            </a:r>
            <a:r>
              <a:rPr lang="ja-JP" sz="1400" b="1" dirty="0">
                <a:solidFill>
                  <a:srgbClr val="8B2500"/>
                </a:solidFill>
                <a:latin typeface="BIZ UDPGothic"/>
                <a:ea typeface="BIZ UDPGothic"/>
              </a:rPr>
              <a:t>2025年9月2日</a:t>
            </a:r>
            <a:r>
              <a:rPr lang="ja-JP" sz="1400" dirty="0">
                <a:solidFill>
                  <a:srgbClr val="333333"/>
                </a:solidFill>
                <a:latin typeface="BIZ UDPGothic"/>
                <a:ea typeface="BIZ UDPGothic"/>
              </a:rPr>
              <a:t>  │  実施期間: </a:t>
            </a:r>
            <a:r>
              <a:rPr lang="ja-JP" sz="1400" b="1" dirty="0">
                <a:solidFill>
                  <a:srgbClr val="8B2500"/>
                </a:solidFill>
                <a:latin typeface="BIZ UDPGothic"/>
                <a:ea typeface="BIZ UDPGothic"/>
              </a:rPr>
              <a:t>5週間</a:t>
            </a:r>
          </a:p>
        </p:txBody>
      </p:sp>
      <p:sp>
        <p:nvSpPr>
          <p:cNvPr id="110" name="HWeek"/>
          <p:cNvSpPr/>
          <p:nvPr/>
        </p:nvSpPr>
        <p:spPr>
          <a:xfrm>
            <a:off x="457200" y="1280160"/>
            <a:ext cx="1143000" cy="365760"/>
          </a:xfrm>
          <a:prstGeom prst="rect">
            <a:avLst/>
          </a:prstGeom>
          <a:solidFill>
            <a:srgbClr val="1A1A1A"/>
          </a:solidFill>
          <a:ln w="0">
            <a:noFill/>
          </a:ln>
        </p:spPr>
        <p:txBody>
          <a:bodyPr lIns="73152" tIns="36576" rIns="73152" bIns="36576" anchor="ctr"/>
          <a:lstStyle/>
          <a:p>
            <a:pPr algn="ctr">
              <a:buNone/>
            </a:pPr>
            <a:r>
              <a:rPr lang="ja-JP" sz="1200" b="1" dirty="0">
                <a:solidFill>
                  <a:srgbClr val="FFFFFF"/>
                </a:solidFill>
                <a:latin typeface="BIZ UDPGothic"/>
                <a:ea typeface="BIZ UDPGothic"/>
              </a:rPr>
              <a:t>週</a:t>
            </a:r>
          </a:p>
        </p:txBody>
      </p:sp>
      <p:sp>
        <p:nvSpPr>
          <p:cNvPr id="111" name="HTask"/>
          <p:cNvSpPr/>
          <p:nvPr/>
        </p:nvSpPr>
        <p:spPr>
          <a:xfrm>
            <a:off x="1600200" y="1280160"/>
            <a:ext cx="4572000" cy="365760"/>
          </a:xfrm>
          <a:prstGeom prst="rect">
            <a:avLst/>
          </a:prstGeom>
          <a:solidFill>
            <a:srgbClr val="1A1A1A"/>
          </a:solidFill>
          <a:ln w="0">
            <a:noFill/>
          </a:ln>
        </p:spPr>
        <p:txBody>
          <a:bodyPr lIns="73152" tIns="36576" rIns="73152" bIns="36576" anchor="ctr"/>
          <a:lstStyle/>
          <a:p>
            <a:pPr algn="ctr">
              <a:buNone/>
            </a:pPr>
            <a:r>
              <a:rPr lang="ja-JP" sz="1200" b="1" dirty="0">
                <a:solidFill>
                  <a:srgbClr val="FFFFFF"/>
                </a:solidFill>
                <a:latin typeface="BIZ UDPGothic"/>
                <a:ea typeface="BIZ UDPGothic"/>
              </a:rPr>
              <a:t>主な実施内容</a:t>
            </a:r>
          </a:p>
        </p:txBody>
      </p:sp>
      <p:sp>
        <p:nvSpPr>
          <p:cNvPr id="112" name="HOutput"/>
          <p:cNvSpPr/>
          <p:nvPr/>
        </p:nvSpPr>
        <p:spPr>
          <a:xfrm>
            <a:off x="6172200" y="1280160"/>
            <a:ext cx="5562600" cy="365760"/>
          </a:xfrm>
          <a:prstGeom prst="rect">
            <a:avLst/>
          </a:prstGeom>
          <a:solidFill>
            <a:srgbClr val="1A1A1A"/>
          </a:solidFill>
          <a:ln w="0">
            <a:noFill/>
          </a:ln>
        </p:spPr>
        <p:txBody>
          <a:bodyPr lIns="73152" tIns="36576" rIns="73152" bIns="36576" anchor="ctr"/>
          <a:lstStyle/>
          <a:p>
            <a:pPr algn="ctr">
              <a:buNone/>
            </a:pPr>
            <a:r>
              <a:rPr lang="ja-JP" sz="1200" b="1" dirty="0">
                <a:solidFill>
                  <a:srgbClr val="FFFFFF"/>
                </a:solidFill>
                <a:latin typeface="BIZ UDPGothic"/>
                <a:ea typeface="BIZ UDPGothic"/>
              </a:rPr>
              <a:t>主要アウトプット</a:t>
            </a:r>
          </a:p>
        </p:txBody>
      </p:sp>
      <p:sp>
        <p:nvSpPr>
          <p:cNvPr id="120" name="Week0"/>
          <p:cNvSpPr/>
          <p:nvPr/>
        </p:nvSpPr>
        <p:spPr>
          <a:xfrm>
            <a:off x="457200" y="1645920"/>
            <a:ext cx="1143000" cy="731520"/>
          </a:xfrm>
          <a:prstGeom prst="roundRect">
            <a:avLst/>
          </a:prstGeom>
          <a:solidFill>
            <a:srgbClr val="8B2500"/>
          </a:solidFill>
          <a:ln w="0">
            <a:noFill/>
          </a:ln>
        </p:spPr>
        <p:txBody>
          <a:bodyPr lIns="73152" tIns="36576" rIns="73152" bIns="36576" anchor="ctr"/>
          <a:lstStyle/>
          <a:p>
            <a:pPr algn="ctr">
              <a:buNone/>
            </a:pPr>
            <a:r>
              <a:rPr lang="ja-JP" sz="1400" b="1" dirty="0">
                <a:solidFill>
                  <a:srgbClr val="FFFFFF"/>
                </a:solidFill>
                <a:latin typeface="BIZ UDPGothic"/>
                <a:ea typeface="BIZ UDPGothic"/>
              </a:rPr>
              <a:t>第1週</a:t>
            </a:r>
          </a:p>
          <a:p>
            <a:pPr algn="ctr">
              <a:buNone/>
            </a:pPr>
            <a:r>
              <a:rPr lang="ja-JP" sz="1000" dirty="0">
                <a:solidFill>
                  <a:srgbClr val="FFFFFF"/>
                </a:solidFill>
                <a:latin typeface="BIZ UDPGothic"/>
                <a:ea typeface="BIZ UDPGothic"/>
              </a:rPr>
              <a:t>9/2〜</a:t>
            </a:r>
          </a:p>
        </p:txBody>
      </p:sp>
      <p:sp>
        <p:nvSpPr>
          <p:cNvPr id="121" name="Task0"/>
          <p:cNvSpPr/>
          <p:nvPr/>
        </p:nvSpPr>
        <p:spPr>
          <a:xfrm>
            <a:off x="1600200" y="1645920"/>
            <a:ext cx="4572000" cy="731520"/>
          </a:xfrm>
          <a:prstGeom prst="rect">
            <a:avLst/>
          </a:prstGeom>
          <a:solidFill>
            <a:srgbClr val="F2F2F2"/>
          </a:solidFill>
          <a:ln w="0">
            <a:noFill/>
          </a:ln>
        </p:spPr>
        <p:txBody>
          <a:bodyPr lIns="73152" tIns="36576" rIns="73152" bIns="36576" anchor="ctr"/>
          <a:lstStyle/>
          <a:p>
            <a:pPr algn="l">
              <a:buNone/>
            </a:pPr>
            <a:r>
              <a:rPr lang="ja-JP" sz="1200" dirty="0">
                <a:solidFill>
                  <a:srgbClr val="333333"/>
                </a:solidFill>
                <a:latin typeface="BIZ UDPGothic"/>
                <a:ea typeface="BIZ UDPGothic"/>
              </a:rPr>
              <a:t>キックオフ、要件確認
データ受領確認、分析方針確定</a:t>
            </a:r>
          </a:p>
        </p:txBody>
      </p:sp>
      <p:sp>
        <p:nvSpPr>
          <p:cNvPr id="122" name="Out0"/>
          <p:cNvSpPr/>
          <p:nvPr/>
        </p:nvSpPr>
        <p:spPr>
          <a:xfrm>
            <a:off x="6172200" y="1645920"/>
            <a:ext cx="5562600" cy="731520"/>
          </a:xfrm>
          <a:prstGeom prst="rect">
            <a:avLst/>
          </a:prstGeom>
          <a:solidFill>
            <a:srgbClr val="F2F2F2"/>
          </a:solidFill>
          <a:ln w="0">
            <a:noFill/>
          </a:ln>
        </p:spPr>
        <p:txBody>
          <a:bodyPr lIns="73152" tIns="36576" rIns="73152" bIns="36576" anchor="ctr"/>
          <a:lstStyle/>
          <a:p>
            <a:pPr algn="l">
              <a:buNone/>
            </a:pPr>
            <a:r>
              <a:rPr lang="ja-JP" sz="1200" b="1" dirty="0">
                <a:solidFill>
                  <a:srgbClr val="8B2500"/>
                </a:solidFill>
                <a:latin typeface="BIZ UDPGothic"/>
                <a:ea typeface="BIZ UDPGothic"/>
              </a:rPr>
              <a:t>プロジェクト概要書
初期課題一覧</a:t>
            </a:r>
          </a:p>
        </p:txBody>
      </p:sp>
      <p:sp>
        <p:nvSpPr>
          <p:cNvPr id="123" name="Week1"/>
          <p:cNvSpPr/>
          <p:nvPr/>
        </p:nvSpPr>
        <p:spPr>
          <a:xfrm>
            <a:off x="457200" y="2450592"/>
            <a:ext cx="1143000" cy="731520"/>
          </a:xfrm>
          <a:prstGeom prst="roundRect">
            <a:avLst/>
          </a:prstGeom>
          <a:solidFill>
            <a:srgbClr val="4A4A4A"/>
          </a:solidFill>
          <a:ln w="0">
            <a:noFill/>
          </a:ln>
        </p:spPr>
        <p:txBody>
          <a:bodyPr lIns="73152" tIns="36576" rIns="73152" bIns="36576" anchor="ctr"/>
          <a:lstStyle/>
          <a:p>
            <a:pPr algn="ctr">
              <a:buNone/>
            </a:pPr>
            <a:r>
              <a:rPr lang="ja-JP" sz="1400" b="1" dirty="0">
                <a:solidFill>
                  <a:srgbClr val="FFFFFF"/>
                </a:solidFill>
                <a:latin typeface="BIZ UDPGothic"/>
                <a:ea typeface="BIZ UDPGothic"/>
              </a:rPr>
              <a:t>第2週</a:t>
            </a:r>
          </a:p>
          <a:p>
            <a:pPr algn="ctr">
              <a:buNone/>
            </a:pPr>
            <a:r>
              <a:rPr lang="ja-JP" sz="1000" dirty="0">
                <a:solidFill>
                  <a:srgbClr val="FFFFFF"/>
                </a:solidFill>
                <a:latin typeface="BIZ UDPGothic"/>
                <a:ea typeface="BIZ UDPGothic"/>
              </a:rPr>
              <a:t>9/8〜</a:t>
            </a:r>
          </a:p>
        </p:txBody>
      </p:sp>
      <p:sp>
        <p:nvSpPr>
          <p:cNvPr id="124" name="Task1"/>
          <p:cNvSpPr/>
          <p:nvPr/>
        </p:nvSpPr>
        <p:spPr>
          <a:xfrm>
            <a:off x="1600200" y="2450592"/>
            <a:ext cx="4572000" cy="731520"/>
          </a:xfrm>
          <a:prstGeom prst="rect">
            <a:avLst/>
          </a:prstGeom>
          <a:solidFill>
            <a:srgbClr val="FFFFFF"/>
          </a:solidFill>
          <a:ln w="0">
            <a:noFill/>
          </a:ln>
        </p:spPr>
        <p:txBody>
          <a:bodyPr lIns="73152" tIns="36576" rIns="73152" bIns="36576" anchor="ctr"/>
          <a:lstStyle/>
          <a:p>
            <a:pPr algn="l">
              <a:buNone/>
            </a:pPr>
            <a:r>
              <a:rPr lang="ja-JP" sz="1200" dirty="0">
                <a:solidFill>
                  <a:srgbClr val="333333"/>
                </a:solidFill>
                <a:latin typeface="BIZ UDPGothic"/>
                <a:ea typeface="BIZ UDPGothic"/>
              </a:rPr>
              <a:t>データ探索、品質確認
分布確認、前処理案整理</a:t>
            </a:r>
          </a:p>
        </p:txBody>
      </p:sp>
      <p:sp>
        <p:nvSpPr>
          <p:cNvPr id="125" name="Out1"/>
          <p:cNvSpPr/>
          <p:nvPr/>
        </p:nvSpPr>
        <p:spPr>
          <a:xfrm>
            <a:off x="6172200" y="2450592"/>
            <a:ext cx="5562600" cy="731520"/>
          </a:xfrm>
          <a:prstGeom prst="rect">
            <a:avLst/>
          </a:prstGeom>
          <a:solidFill>
            <a:srgbClr val="FFFFFF"/>
          </a:solidFill>
          <a:ln w="0">
            <a:noFill/>
          </a:ln>
        </p:spPr>
        <p:txBody>
          <a:bodyPr lIns="73152" tIns="36576" rIns="73152" bIns="36576" anchor="ctr"/>
          <a:lstStyle/>
          <a:p>
            <a:pPr algn="l">
              <a:buNone/>
            </a:pPr>
            <a:r>
              <a:rPr lang="ja-JP" sz="1200" b="1" dirty="0">
                <a:solidFill>
                  <a:srgbClr val="8B2500"/>
                </a:solidFill>
                <a:latin typeface="BIZ UDPGothic"/>
                <a:ea typeface="BIZ UDPGothic"/>
              </a:rPr>
              <a:t>データ理解レポート
EDAサマリ</a:t>
            </a:r>
          </a:p>
        </p:txBody>
      </p:sp>
      <p:sp>
        <p:nvSpPr>
          <p:cNvPr id="126" name="Week2"/>
          <p:cNvSpPr/>
          <p:nvPr/>
        </p:nvSpPr>
        <p:spPr>
          <a:xfrm>
            <a:off x="457200" y="3255264"/>
            <a:ext cx="1143000" cy="731520"/>
          </a:xfrm>
          <a:prstGeom prst="roundRect">
            <a:avLst/>
          </a:prstGeom>
          <a:solidFill>
            <a:srgbClr val="4A4A4A"/>
          </a:solidFill>
          <a:ln w="0">
            <a:noFill/>
          </a:ln>
        </p:spPr>
        <p:txBody>
          <a:bodyPr lIns="73152" tIns="36576" rIns="73152" bIns="36576" anchor="ctr"/>
          <a:lstStyle/>
          <a:p>
            <a:pPr algn="ctr">
              <a:buNone/>
            </a:pPr>
            <a:r>
              <a:rPr lang="ja-JP" sz="1400" b="1" dirty="0">
                <a:solidFill>
                  <a:srgbClr val="FFFFFF"/>
                </a:solidFill>
                <a:latin typeface="BIZ UDPGothic"/>
                <a:ea typeface="BIZ UDPGothic"/>
              </a:rPr>
              <a:t>第3週</a:t>
            </a:r>
          </a:p>
          <a:p>
            <a:pPr algn="ctr">
              <a:buNone/>
            </a:pPr>
            <a:r>
              <a:rPr lang="ja-JP" sz="1000" dirty="0">
                <a:solidFill>
                  <a:srgbClr val="FFFFFF"/>
                </a:solidFill>
                <a:latin typeface="BIZ UDPGothic"/>
                <a:ea typeface="BIZ UDPGothic"/>
              </a:rPr>
              <a:t>9/15〜</a:t>
            </a:r>
          </a:p>
        </p:txBody>
      </p:sp>
      <p:sp>
        <p:nvSpPr>
          <p:cNvPr id="127" name="Task2"/>
          <p:cNvSpPr/>
          <p:nvPr/>
        </p:nvSpPr>
        <p:spPr>
          <a:xfrm>
            <a:off x="1600200" y="3255264"/>
            <a:ext cx="4572000" cy="731520"/>
          </a:xfrm>
          <a:prstGeom prst="rect">
            <a:avLst/>
          </a:prstGeom>
          <a:solidFill>
            <a:srgbClr val="F2F2F2"/>
          </a:solidFill>
          <a:ln w="0">
            <a:noFill/>
          </a:ln>
        </p:spPr>
        <p:txBody>
          <a:bodyPr lIns="73152" tIns="36576" rIns="73152" bIns="36576" anchor="ctr"/>
          <a:lstStyle/>
          <a:p>
            <a:pPr algn="l">
              <a:buNone/>
            </a:pPr>
            <a:r>
              <a:rPr lang="ja-JP" sz="1200" dirty="0">
                <a:solidFill>
                  <a:srgbClr val="333333"/>
                </a:solidFill>
                <a:latin typeface="BIZ UDPGothic"/>
                <a:ea typeface="BIZ UDPGothic"/>
              </a:rPr>
              <a:t>モデル試作、評価指標比較
中間レビュー</a:t>
            </a:r>
          </a:p>
        </p:txBody>
      </p:sp>
      <p:sp>
        <p:nvSpPr>
          <p:cNvPr id="128" name="Out2"/>
          <p:cNvSpPr/>
          <p:nvPr/>
        </p:nvSpPr>
        <p:spPr>
          <a:xfrm>
            <a:off x="6172200" y="3255264"/>
            <a:ext cx="5562600" cy="731520"/>
          </a:xfrm>
          <a:prstGeom prst="rect">
            <a:avLst/>
          </a:prstGeom>
          <a:solidFill>
            <a:srgbClr val="F2F2F2"/>
          </a:solidFill>
          <a:ln w="0">
            <a:noFill/>
          </a:ln>
        </p:spPr>
        <p:txBody>
          <a:bodyPr lIns="73152" tIns="36576" rIns="73152" bIns="36576" anchor="ctr"/>
          <a:lstStyle/>
          <a:p>
            <a:pPr algn="l">
              <a:buNone/>
            </a:pPr>
            <a:r>
              <a:rPr lang="ja-JP" sz="1200" b="1" dirty="0">
                <a:solidFill>
                  <a:srgbClr val="8B2500"/>
                </a:solidFill>
                <a:latin typeface="BIZ UDPGothic"/>
                <a:ea typeface="BIZ UDPGothic"/>
              </a:rPr>
              <a:t>中間報告書
初期モデル結果</a:t>
            </a:r>
          </a:p>
        </p:txBody>
      </p:sp>
      <p:sp>
        <p:nvSpPr>
          <p:cNvPr id="129" name="Week3"/>
          <p:cNvSpPr/>
          <p:nvPr/>
        </p:nvSpPr>
        <p:spPr>
          <a:xfrm>
            <a:off x="457200" y="4059936"/>
            <a:ext cx="1143000" cy="731520"/>
          </a:xfrm>
          <a:prstGeom prst="roundRect">
            <a:avLst/>
          </a:prstGeom>
          <a:solidFill>
            <a:srgbClr val="4A4A4A"/>
          </a:solidFill>
          <a:ln w="0">
            <a:noFill/>
          </a:ln>
        </p:spPr>
        <p:txBody>
          <a:bodyPr lIns="73152" tIns="36576" rIns="73152" bIns="36576" anchor="ctr"/>
          <a:lstStyle/>
          <a:p>
            <a:pPr algn="ctr">
              <a:buNone/>
            </a:pPr>
            <a:r>
              <a:rPr lang="ja-JP" sz="1400" b="1" dirty="0">
                <a:solidFill>
                  <a:srgbClr val="FFFFFF"/>
                </a:solidFill>
                <a:latin typeface="BIZ UDPGothic"/>
                <a:ea typeface="BIZ UDPGothic"/>
              </a:rPr>
              <a:t>第4週</a:t>
            </a:r>
          </a:p>
          <a:p>
            <a:pPr algn="ctr">
              <a:buNone/>
            </a:pPr>
            <a:r>
              <a:rPr lang="ja-JP" sz="1000" dirty="0">
                <a:solidFill>
                  <a:srgbClr val="FFFFFF"/>
                </a:solidFill>
                <a:latin typeface="BIZ UDPGothic"/>
                <a:ea typeface="BIZ UDPGothic"/>
              </a:rPr>
              <a:t>9/22〜</a:t>
            </a:r>
          </a:p>
        </p:txBody>
      </p:sp>
      <p:sp>
        <p:nvSpPr>
          <p:cNvPr id="130" name="Task3"/>
          <p:cNvSpPr/>
          <p:nvPr/>
        </p:nvSpPr>
        <p:spPr>
          <a:xfrm>
            <a:off x="1600200" y="4059936"/>
            <a:ext cx="4572000" cy="731520"/>
          </a:xfrm>
          <a:prstGeom prst="rect">
            <a:avLst/>
          </a:prstGeom>
          <a:solidFill>
            <a:srgbClr val="FFFFFF"/>
          </a:solidFill>
          <a:ln w="0">
            <a:noFill/>
          </a:ln>
        </p:spPr>
        <p:txBody>
          <a:bodyPr lIns="73152" tIns="36576" rIns="73152" bIns="36576" anchor="ctr"/>
          <a:lstStyle/>
          <a:p>
            <a:pPr algn="l">
              <a:buNone/>
            </a:pPr>
            <a:r>
              <a:rPr lang="ja-JP" sz="1200" dirty="0">
                <a:solidFill>
                  <a:srgbClr val="333333"/>
                </a:solidFill>
                <a:latin typeface="BIZ UDPGothic"/>
                <a:ea typeface="BIZ UDPGothic"/>
              </a:rPr>
              <a:t>モデル改善、解釈整理
業務示唆整理</a:t>
            </a:r>
          </a:p>
        </p:txBody>
      </p:sp>
      <p:sp>
        <p:nvSpPr>
          <p:cNvPr id="131" name="Out3"/>
          <p:cNvSpPr/>
          <p:nvPr/>
        </p:nvSpPr>
        <p:spPr>
          <a:xfrm>
            <a:off x="6172200" y="4059936"/>
            <a:ext cx="5562600" cy="731520"/>
          </a:xfrm>
          <a:prstGeom prst="rect">
            <a:avLst/>
          </a:prstGeom>
          <a:solidFill>
            <a:srgbClr val="FFFFFF"/>
          </a:solidFill>
          <a:ln w="0">
            <a:noFill/>
          </a:ln>
        </p:spPr>
        <p:txBody>
          <a:bodyPr lIns="73152" tIns="36576" rIns="73152" bIns="36576" anchor="ctr"/>
          <a:lstStyle/>
          <a:p>
            <a:pPr algn="l">
              <a:buNone/>
            </a:pPr>
            <a:r>
              <a:rPr lang="ja-JP" sz="1200" b="1" dirty="0">
                <a:solidFill>
                  <a:srgbClr val="8B2500"/>
                </a:solidFill>
                <a:latin typeface="BIZ UDPGothic"/>
                <a:ea typeface="BIZ UDPGothic"/>
              </a:rPr>
              <a:t>最終報告ドラフト</a:t>
            </a:r>
          </a:p>
        </p:txBody>
      </p:sp>
      <p:sp>
        <p:nvSpPr>
          <p:cNvPr id="132" name="Week4"/>
          <p:cNvSpPr/>
          <p:nvPr/>
        </p:nvSpPr>
        <p:spPr>
          <a:xfrm>
            <a:off x="457200" y="4864608"/>
            <a:ext cx="1143000" cy="731520"/>
          </a:xfrm>
          <a:prstGeom prst="roundRect">
            <a:avLst/>
          </a:prstGeom>
          <a:solidFill>
            <a:srgbClr val="8B2500"/>
          </a:solidFill>
          <a:ln w="0">
            <a:noFill/>
          </a:ln>
        </p:spPr>
        <p:txBody>
          <a:bodyPr lIns="73152" tIns="36576" rIns="73152" bIns="36576" anchor="ctr"/>
          <a:lstStyle/>
          <a:p>
            <a:pPr algn="ctr">
              <a:buNone/>
            </a:pPr>
            <a:r>
              <a:rPr lang="ja-JP" sz="1400" b="1" dirty="0">
                <a:solidFill>
                  <a:srgbClr val="FFFFFF"/>
                </a:solidFill>
                <a:latin typeface="BIZ UDPGothic"/>
                <a:ea typeface="BIZ UDPGothic"/>
              </a:rPr>
              <a:t>第5週</a:t>
            </a:r>
          </a:p>
          <a:p>
            <a:pPr algn="ctr">
              <a:buNone/>
            </a:pPr>
            <a:r>
              <a:rPr lang="ja-JP" sz="1000" dirty="0">
                <a:solidFill>
                  <a:srgbClr val="FFFFFF"/>
                </a:solidFill>
                <a:latin typeface="BIZ UDPGothic"/>
                <a:ea typeface="BIZ UDPGothic"/>
              </a:rPr>
              <a:t>9/29〜</a:t>
            </a:r>
          </a:p>
        </p:txBody>
      </p:sp>
      <p:sp>
        <p:nvSpPr>
          <p:cNvPr id="133" name="Task4"/>
          <p:cNvSpPr/>
          <p:nvPr/>
        </p:nvSpPr>
        <p:spPr>
          <a:xfrm>
            <a:off x="1600200" y="4864608"/>
            <a:ext cx="4572000" cy="731520"/>
          </a:xfrm>
          <a:prstGeom prst="rect">
            <a:avLst/>
          </a:prstGeom>
          <a:solidFill>
            <a:srgbClr val="F2F2F2"/>
          </a:solidFill>
          <a:ln w="0">
            <a:noFill/>
          </a:ln>
        </p:spPr>
        <p:txBody>
          <a:bodyPr lIns="73152" tIns="36576" rIns="73152" bIns="36576" anchor="ctr"/>
          <a:lstStyle/>
          <a:p>
            <a:pPr algn="l">
              <a:buNone/>
            </a:pPr>
            <a:r>
              <a:rPr lang="ja-JP" sz="1200" dirty="0">
                <a:solidFill>
                  <a:srgbClr val="333333"/>
                </a:solidFill>
                <a:latin typeface="BIZ UDPGothic"/>
                <a:ea typeface="BIZ UDPGothic"/>
              </a:rPr>
              <a:t>最終報告、成果物確定
検収対応</a:t>
            </a:r>
          </a:p>
        </p:txBody>
      </p:sp>
      <p:sp>
        <p:nvSpPr>
          <p:cNvPr id="134" name="Out4"/>
          <p:cNvSpPr/>
          <p:nvPr/>
        </p:nvSpPr>
        <p:spPr>
          <a:xfrm>
            <a:off x="6172200" y="4864608"/>
            <a:ext cx="5562600" cy="731520"/>
          </a:xfrm>
          <a:prstGeom prst="rect">
            <a:avLst/>
          </a:prstGeom>
          <a:solidFill>
            <a:srgbClr val="F2F2F2"/>
          </a:solidFill>
          <a:ln w="0">
            <a:noFill/>
          </a:ln>
        </p:spPr>
        <p:txBody>
          <a:bodyPr lIns="73152" tIns="36576" rIns="73152" bIns="36576" anchor="ctr"/>
          <a:lstStyle/>
          <a:p>
            <a:pPr algn="l">
              <a:buNone/>
            </a:pPr>
            <a:r>
              <a:rPr lang="ja-JP" sz="1200" b="1" dirty="0">
                <a:solidFill>
                  <a:srgbClr val="8B2500"/>
                </a:solidFill>
                <a:latin typeface="BIZ UDPGothic"/>
                <a:ea typeface="BIZ UDPGothic"/>
              </a:rPr>
              <a:t>最終報告書
納品一式</a:t>
            </a:r>
          </a:p>
        </p:txBody>
      </p:sp>
    </p:spTree>
    <p:extLst>
      <p:ext uri="{BB962C8B-B14F-4D97-AF65-F5344CB8AC3E}">
        <p14:creationId xmlns:p14="http://schemas.microsoft.com/office/powerpoint/2010/main" val="76362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36576" rIns="91440" bIns="36576" anchor="ctr"/>
          <a:lstStyle/>
          <a:p>
            <a:pPr algn="ctr">
              <a:buNone/>
            </a:pPr>
            <a:r>
              <a:rPr lang="ja-JP" sz="2400" b="1" dirty="0">
                <a:solidFill>
                  <a:srgbClr val="FFFFFF"/>
                </a:solidFill>
                <a:latin typeface="BIZ UDPGothic"/>
                <a:ea typeface="BIZ UDPGothic"/>
              </a:rPr>
              <a:t>07</a:t>
            </a:r>
          </a:p>
        </p:txBody>
      </p:sp>
      <p:sp>
        <p:nvSpPr>
          <p:cNvPr id="101" name="SecTitle"/>
          <p:cNvSpPr/>
          <p:nvPr/>
        </p:nvSpPr>
        <p:spPr>
          <a:xfrm>
            <a:off x="1143000" y="228600"/>
            <a:ext cx="10363200" cy="548640"/>
          </a:xfrm>
          <a:prstGeom prst="rect">
            <a:avLst/>
          </a:prstGeom>
          <a:noFill/>
          <a:ln w="0">
            <a:noFill/>
          </a:ln>
        </p:spPr>
        <p:txBody>
          <a:bodyPr lIns="91440" tIns="36576" rIns="91440" bIns="36576" anchor="ctr"/>
          <a:lstStyle/>
          <a:p>
            <a:pPr algn="l">
              <a:buNone/>
            </a:pPr>
            <a:r>
              <a:rPr lang="ja-JP" sz="2800" b="1" dirty="0">
                <a:solidFill>
                  <a:srgbClr val="1A1A1A"/>
                </a:solidFill>
                <a:latin typeface="BIZ UDPGothic"/>
                <a:ea typeface="BIZ UDPGothic"/>
              </a:rPr>
              <a:t>成果物定義</a:t>
            </a:r>
          </a:p>
        </p:txBody>
      </p:sp>
      <p:sp>
        <p:nvSpPr>
          <p:cNvPr id="102" name="TitleLine"/>
          <p:cNvSpPr/>
          <p:nvPr/>
        </p:nvSpPr>
        <p:spPr>
          <a:xfrm>
            <a:off x="457200" y="800100"/>
            <a:ext cx="11277600" cy="36576"/>
          </a:xfrm>
          <a:prstGeom prst="rect">
            <a:avLst/>
          </a:prstGeom>
          <a:solidFill>
            <a:srgbClr val="8B2500"/>
          </a:solidFill>
          <a:ln w="0">
            <a:noFill/>
          </a:ln>
        </p:spPr>
        <p:txBody>
          <a:bodyPr lIns="91440" tIns="36576" rIns="91440" bIns="36576" anchor="ctr"/>
          <a:lstStyle/>
          <a:p>
            <a:endParaRPr lang="ja-JP"/>
          </a:p>
        </p:txBody>
      </p:sp>
      <p:sp>
        <p:nvSpPr>
          <p:cNvPr id="110" name="TH1"/>
          <p:cNvSpPr/>
          <p:nvPr/>
        </p:nvSpPr>
        <p:spPr>
          <a:xfrm>
            <a:off x="457200" y="960120"/>
            <a:ext cx="3429000" cy="365760"/>
          </a:xfrm>
          <a:prstGeom prst="rect">
            <a:avLst/>
          </a:prstGeom>
          <a:solidFill>
            <a:srgbClr val="1A1A1A"/>
          </a:solidFill>
          <a:ln w="0">
            <a:noFill/>
          </a:ln>
        </p:spPr>
        <p:txBody>
          <a:bodyPr lIns="91440" tIns="36576" rIns="91440" bIns="36576" anchor="ctr"/>
          <a:lstStyle/>
          <a:p>
            <a:pPr algn="ctr">
              <a:buNone/>
            </a:pPr>
            <a:r>
              <a:rPr lang="ja-JP" sz="1300" b="1" dirty="0">
                <a:solidFill>
                  <a:srgbClr val="FFFFFF"/>
                </a:solidFill>
                <a:latin typeface="BIZ UDPGothic"/>
                <a:ea typeface="BIZ UDPGothic"/>
              </a:rPr>
              <a:t>成果物</a:t>
            </a:r>
          </a:p>
        </p:txBody>
      </p:sp>
      <p:sp>
        <p:nvSpPr>
          <p:cNvPr id="111" name="TH2"/>
          <p:cNvSpPr/>
          <p:nvPr/>
        </p:nvSpPr>
        <p:spPr>
          <a:xfrm>
            <a:off x="3886200" y="960120"/>
            <a:ext cx="8305800" cy="365760"/>
          </a:xfrm>
          <a:prstGeom prst="rect">
            <a:avLst/>
          </a:prstGeom>
          <a:solidFill>
            <a:srgbClr val="1A1A1A"/>
          </a:solidFill>
          <a:ln w="0">
            <a:noFill/>
          </a:ln>
        </p:spPr>
        <p:txBody>
          <a:bodyPr lIns="91440" tIns="36576" rIns="91440" bIns="36576" anchor="ctr"/>
          <a:lstStyle/>
          <a:p>
            <a:pPr algn="ctr">
              <a:buNone/>
            </a:pPr>
            <a:r>
              <a:rPr lang="ja-JP" sz="1300" b="1" dirty="0">
                <a:solidFill>
                  <a:srgbClr val="FFFFFF"/>
                </a:solidFill>
                <a:latin typeface="BIZ UDPGothic"/>
                <a:ea typeface="BIZ UDPGothic"/>
              </a:rPr>
              <a:t>主な内容</a:t>
            </a:r>
          </a:p>
        </p:txBody>
      </p:sp>
      <p:sp>
        <p:nvSpPr>
          <p:cNvPr id="120" name="DName0"/>
          <p:cNvSpPr/>
          <p:nvPr/>
        </p:nvSpPr>
        <p:spPr>
          <a:xfrm>
            <a:off x="457200" y="1325880"/>
            <a:ext cx="3429000" cy="411480"/>
          </a:xfrm>
          <a:prstGeom prst="rect">
            <a:avLst/>
          </a:prstGeom>
          <a:solidFill>
            <a:srgbClr val="F2F2F2"/>
          </a:solidFill>
          <a:ln w="0">
            <a:noFill/>
          </a:ln>
        </p:spPr>
        <p:txBody>
          <a:bodyPr lIns="91440" tIns="36576" rIns="91440" bIns="36576" anchor="ctr"/>
          <a:lstStyle/>
          <a:p>
            <a:pPr algn="l">
              <a:buNone/>
            </a:pPr>
            <a:r>
              <a:rPr lang="ja-JP" sz="1300" b="1" dirty="0">
                <a:solidFill>
                  <a:srgbClr val="8B2500"/>
                </a:solidFill>
                <a:latin typeface="BIZ UDPGothic"/>
                <a:ea typeface="BIZ UDPGothic"/>
              </a:rPr>
              <a:t>プロジェクト概要書</a:t>
            </a:r>
          </a:p>
        </p:txBody>
      </p:sp>
      <p:sp>
        <p:nvSpPr>
          <p:cNvPr id="121" name="DContent0"/>
          <p:cNvSpPr/>
          <p:nvPr/>
        </p:nvSpPr>
        <p:spPr>
          <a:xfrm>
            <a:off x="3886200" y="1325880"/>
            <a:ext cx="8305800" cy="411480"/>
          </a:xfrm>
          <a:prstGeom prst="rect">
            <a:avLst/>
          </a:prstGeom>
          <a:solidFill>
            <a:srgbClr val="F2F2F2"/>
          </a:solidFill>
          <a:ln w="0">
            <a:noFill/>
          </a:ln>
        </p:spPr>
        <p:txBody>
          <a:bodyPr lIns="91440" tIns="36576" rIns="91440" bIns="36576" anchor="ctr"/>
          <a:lstStyle/>
          <a:p>
            <a:pPr algn="l">
              <a:buNone/>
            </a:pPr>
            <a:r>
              <a:rPr lang="ja-JP" sz="1200" dirty="0">
                <a:solidFill>
                  <a:srgbClr val="333333"/>
                </a:solidFill>
                <a:latin typeface="BIZ UDPGothic"/>
                <a:ea typeface="BIZ UDPGothic"/>
              </a:rPr>
              <a:t>背景、目的、対象範囲、前提、制約、推進方針</a:t>
            </a:r>
          </a:p>
        </p:txBody>
      </p:sp>
      <p:sp>
        <p:nvSpPr>
          <p:cNvPr id="122" name="DName1"/>
          <p:cNvSpPr/>
          <p:nvPr/>
        </p:nvSpPr>
        <p:spPr>
          <a:xfrm>
            <a:off x="457200" y="1737360"/>
            <a:ext cx="3429000" cy="411480"/>
          </a:xfrm>
          <a:prstGeom prst="rect">
            <a:avLst/>
          </a:prstGeom>
          <a:solidFill>
            <a:srgbClr val="FFFFFF"/>
          </a:solidFill>
          <a:ln w="0">
            <a:noFill/>
          </a:ln>
        </p:spPr>
        <p:txBody>
          <a:bodyPr lIns="91440" tIns="36576" rIns="91440" bIns="36576" anchor="ctr"/>
          <a:lstStyle/>
          <a:p>
            <a:pPr algn="l">
              <a:buNone/>
            </a:pPr>
            <a:r>
              <a:rPr lang="ja-JP" sz="1300" b="1" dirty="0">
                <a:solidFill>
                  <a:srgbClr val="8B2500"/>
                </a:solidFill>
                <a:latin typeface="BIZ UDPGothic"/>
                <a:ea typeface="BIZ UDPGothic"/>
              </a:rPr>
              <a:t>分析計画書</a:t>
            </a:r>
          </a:p>
        </p:txBody>
      </p:sp>
      <p:sp>
        <p:nvSpPr>
          <p:cNvPr id="123" name="DContent1"/>
          <p:cNvSpPr/>
          <p:nvPr/>
        </p:nvSpPr>
        <p:spPr>
          <a:xfrm>
            <a:off x="3886200" y="1737360"/>
            <a:ext cx="8305800" cy="411480"/>
          </a:xfrm>
          <a:prstGeom prst="rect">
            <a:avLst/>
          </a:prstGeom>
          <a:solidFill>
            <a:srgbClr val="FFFFFF"/>
          </a:solidFill>
          <a:ln w="0">
            <a:noFill/>
          </a:ln>
        </p:spPr>
        <p:txBody>
          <a:bodyPr lIns="91440" tIns="36576" rIns="91440" bIns="36576" anchor="ctr"/>
          <a:lstStyle/>
          <a:p>
            <a:pPr algn="l">
              <a:buNone/>
            </a:pPr>
            <a:r>
              <a:rPr lang="ja-JP" sz="1200" dirty="0">
                <a:solidFill>
                  <a:srgbClr val="333333"/>
                </a:solidFill>
                <a:latin typeface="BIZ UDPGothic"/>
                <a:ea typeface="BIZ UDPGothic"/>
              </a:rPr>
              <a:t>分析手順、前処理方針、評価方法、実施計画</a:t>
            </a:r>
          </a:p>
        </p:txBody>
      </p:sp>
      <p:sp>
        <p:nvSpPr>
          <p:cNvPr id="124" name="DName2"/>
          <p:cNvSpPr/>
          <p:nvPr/>
        </p:nvSpPr>
        <p:spPr>
          <a:xfrm>
            <a:off x="457200" y="2148840"/>
            <a:ext cx="3429000" cy="411480"/>
          </a:xfrm>
          <a:prstGeom prst="rect">
            <a:avLst/>
          </a:prstGeom>
          <a:solidFill>
            <a:srgbClr val="F2F2F2"/>
          </a:solidFill>
          <a:ln w="0">
            <a:noFill/>
          </a:ln>
        </p:spPr>
        <p:txBody>
          <a:bodyPr lIns="91440" tIns="36576" rIns="91440" bIns="36576" anchor="ctr"/>
          <a:lstStyle/>
          <a:p>
            <a:pPr algn="l">
              <a:buNone/>
            </a:pPr>
            <a:r>
              <a:rPr lang="ja-JP" sz="1300" b="1" dirty="0">
                <a:solidFill>
                  <a:srgbClr val="8B2500"/>
                </a:solidFill>
                <a:latin typeface="BIZ UDPGothic"/>
                <a:ea typeface="BIZ UDPGothic"/>
              </a:rPr>
              <a:t>データ理解レポート</a:t>
            </a:r>
          </a:p>
        </p:txBody>
      </p:sp>
      <p:sp>
        <p:nvSpPr>
          <p:cNvPr id="125" name="DContent2"/>
          <p:cNvSpPr/>
          <p:nvPr/>
        </p:nvSpPr>
        <p:spPr>
          <a:xfrm>
            <a:off x="3886200" y="2148840"/>
            <a:ext cx="8305800" cy="411480"/>
          </a:xfrm>
          <a:prstGeom prst="rect">
            <a:avLst/>
          </a:prstGeom>
          <a:solidFill>
            <a:srgbClr val="F2F2F2"/>
          </a:solidFill>
          <a:ln w="0">
            <a:noFill/>
          </a:ln>
        </p:spPr>
        <p:txBody>
          <a:bodyPr lIns="91440" tIns="36576" rIns="91440" bIns="36576" anchor="ctr"/>
          <a:lstStyle/>
          <a:p>
            <a:pPr algn="l">
              <a:buNone/>
            </a:pPr>
            <a:r>
              <a:rPr lang="ja-JP" sz="1200" dirty="0">
                <a:solidFill>
                  <a:srgbClr val="333333"/>
                </a:solidFill>
                <a:latin typeface="BIZ UDPGothic"/>
                <a:ea typeface="BIZ UDPGothic"/>
              </a:rPr>
              <a:t>データ構造、品質確認、分布確認、論点整理</a:t>
            </a:r>
          </a:p>
        </p:txBody>
      </p:sp>
      <p:sp>
        <p:nvSpPr>
          <p:cNvPr id="126" name="DName3"/>
          <p:cNvSpPr/>
          <p:nvPr/>
        </p:nvSpPr>
        <p:spPr>
          <a:xfrm>
            <a:off x="457200" y="2560320"/>
            <a:ext cx="3429000" cy="411480"/>
          </a:xfrm>
          <a:prstGeom prst="rect">
            <a:avLst/>
          </a:prstGeom>
          <a:solidFill>
            <a:srgbClr val="FFFFFF"/>
          </a:solidFill>
          <a:ln w="0">
            <a:noFill/>
          </a:ln>
        </p:spPr>
        <p:txBody>
          <a:bodyPr lIns="91440" tIns="36576" rIns="91440" bIns="36576" anchor="ctr"/>
          <a:lstStyle/>
          <a:p>
            <a:pPr algn="l">
              <a:buNone/>
            </a:pPr>
            <a:r>
              <a:rPr lang="ja-JP" sz="1300" b="1" dirty="0">
                <a:solidFill>
                  <a:srgbClr val="8B2500"/>
                </a:solidFill>
                <a:latin typeface="BIZ UDPGothic"/>
                <a:ea typeface="BIZ UDPGothic"/>
              </a:rPr>
              <a:t>中間報告書</a:t>
            </a:r>
          </a:p>
        </p:txBody>
      </p:sp>
      <p:sp>
        <p:nvSpPr>
          <p:cNvPr id="127" name="DContent3"/>
          <p:cNvSpPr/>
          <p:nvPr/>
        </p:nvSpPr>
        <p:spPr>
          <a:xfrm>
            <a:off x="3886200" y="2560320"/>
            <a:ext cx="8305800" cy="411480"/>
          </a:xfrm>
          <a:prstGeom prst="rect">
            <a:avLst/>
          </a:prstGeom>
          <a:solidFill>
            <a:srgbClr val="FFFFFF"/>
          </a:solidFill>
          <a:ln w="0">
            <a:noFill/>
          </a:ln>
        </p:spPr>
        <p:txBody>
          <a:bodyPr lIns="91440" tIns="36576" rIns="91440" bIns="36576" anchor="ctr"/>
          <a:lstStyle/>
          <a:p>
            <a:pPr algn="l">
              <a:buNone/>
            </a:pPr>
            <a:r>
              <a:rPr lang="ja-JP" sz="1200" dirty="0">
                <a:solidFill>
                  <a:srgbClr val="333333"/>
                </a:solidFill>
                <a:latin typeface="BIZ UDPGothic"/>
                <a:ea typeface="BIZ UDPGothic"/>
              </a:rPr>
              <a:t>初期分析結果、モデル比較状況、追加論点</a:t>
            </a:r>
          </a:p>
        </p:txBody>
      </p:sp>
      <p:sp>
        <p:nvSpPr>
          <p:cNvPr id="128" name="DName4"/>
          <p:cNvSpPr/>
          <p:nvPr/>
        </p:nvSpPr>
        <p:spPr>
          <a:xfrm>
            <a:off x="457200" y="2971800"/>
            <a:ext cx="3429000" cy="411480"/>
          </a:xfrm>
          <a:prstGeom prst="rect">
            <a:avLst/>
          </a:prstGeom>
          <a:solidFill>
            <a:srgbClr val="F2F2F2"/>
          </a:solidFill>
          <a:ln w="0">
            <a:noFill/>
          </a:ln>
        </p:spPr>
        <p:txBody>
          <a:bodyPr lIns="91440" tIns="36576" rIns="91440" bIns="36576" anchor="ctr"/>
          <a:lstStyle/>
          <a:p>
            <a:pPr algn="l">
              <a:buNone/>
            </a:pPr>
            <a:r>
              <a:rPr lang="ja-JP" sz="1300" b="1" dirty="0">
                <a:solidFill>
                  <a:srgbClr val="8B2500"/>
                </a:solidFill>
                <a:latin typeface="BIZ UDPGothic"/>
                <a:ea typeface="BIZ UDPGothic"/>
              </a:rPr>
              <a:t>最終報告書</a:t>
            </a:r>
          </a:p>
        </p:txBody>
      </p:sp>
      <p:sp>
        <p:nvSpPr>
          <p:cNvPr id="129" name="DContent4"/>
          <p:cNvSpPr/>
          <p:nvPr/>
        </p:nvSpPr>
        <p:spPr>
          <a:xfrm>
            <a:off x="3886200" y="2971800"/>
            <a:ext cx="8305800" cy="411480"/>
          </a:xfrm>
          <a:prstGeom prst="rect">
            <a:avLst/>
          </a:prstGeom>
          <a:solidFill>
            <a:srgbClr val="F2F2F2"/>
          </a:solidFill>
          <a:ln w="0">
            <a:noFill/>
          </a:ln>
        </p:spPr>
        <p:txBody>
          <a:bodyPr lIns="91440" tIns="36576" rIns="91440" bIns="36576" anchor="ctr"/>
          <a:lstStyle/>
          <a:p>
            <a:pPr algn="l">
              <a:buNone/>
            </a:pPr>
            <a:r>
              <a:rPr lang="ja-JP" sz="1200" dirty="0">
                <a:solidFill>
                  <a:srgbClr val="333333"/>
                </a:solidFill>
                <a:latin typeface="BIZ UDPGothic"/>
                <a:ea typeface="BIZ UDPGothic"/>
              </a:rPr>
              <a:t>最終分析結果、評価、示唆、活用上の留意点、次段階提案</a:t>
            </a:r>
          </a:p>
        </p:txBody>
      </p:sp>
      <p:sp>
        <p:nvSpPr>
          <p:cNvPr id="130" name="DName5"/>
          <p:cNvSpPr/>
          <p:nvPr/>
        </p:nvSpPr>
        <p:spPr>
          <a:xfrm>
            <a:off x="457200" y="3383280"/>
            <a:ext cx="3429000" cy="411480"/>
          </a:xfrm>
          <a:prstGeom prst="rect">
            <a:avLst/>
          </a:prstGeom>
          <a:solidFill>
            <a:srgbClr val="FFFFFF"/>
          </a:solidFill>
          <a:ln w="0">
            <a:noFill/>
          </a:ln>
        </p:spPr>
        <p:txBody>
          <a:bodyPr lIns="91440" tIns="36576" rIns="91440" bIns="36576" anchor="ctr"/>
          <a:lstStyle/>
          <a:p>
            <a:pPr algn="l">
              <a:buNone/>
            </a:pPr>
            <a:r>
              <a:rPr lang="ja-JP" sz="1300" b="1" dirty="0">
                <a:solidFill>
                  <a:srgbClr val="8B2500"/>
                </a:solidFill>
                <a:latin typeface="BIZ UDPGothic"/>
                <a:ea typeface="BIZ UDPGothic"/>
              </a:rPr>
              <a:t>会議議事録</a:t>
            </a:r>
          </a:p>
        </p:txBody>
      </p:sp>
      <p:sp>
        <p:nvSpPr>
          <p:cNvPr id="131" name="DContent5"/>
          <p:cNvSpPr/>
          <p:nvPr/>
        </p:nvSpPr>
        <p:spPr>
          <a:xfrm>
            <a:off x="3886200" y="3383280"/>
            <a:ext cx="8305800" cy="411480"/>
          </a:xfrm>
          <a:prstGeom prst="rect">
            <a:avLst/>
          </a:prstGeom>
          <a:solidFill>
            <a:srgbClr val="FFFFFF"/>
          </a:solidFill>
          <a:ln w="0">
            <a:noFill/>
          </a:ln>
        </p:spPr>
        <p:txBody>
          <a:bodyPr lIns="91440" tIns="36576" rIns="91440" bIns="36576" anchor="ctr"/>
          <a:lstStyle/>
          <a:p>
            <a:pPr algn="l">
              <a:buNone/>
            </a:pPr>
            <a:r>
              <a:rPr lang="ja-JP" sz="1200" dirty="0">
                <a:solidFill>
                  <a:srgbClr val="333333"/>
                </a:solidFill>
                <a:latin typeface="BIZ UDPGothic"/>
                <a:ea typeface="BIZ UDPGothic"/>
              </a:rPr>
              <a:t>会議での合意事項、課題、アクション</a:t>
            </a:r>
          </a:p>
        </p:txBody>
      </p:sp>
      <p:sp>
        <p:nvSpPr>
          <p:cNvPr id="132" name="DName6"/>
          <p:cNvSpPr/>
          <p:nvPr/>
        </p:nvSpPr>
        <p:spPr>
          <a:xfrm>
            <a:off x="457200" y="3794760"/>
            <a:ext cx="3429000" cy="411480"/>
          </a:xfrm>
          <a:prstGeom prst="rect">
            <a:avLst/>
          </a:prstGeom>
          <a:solidFill>
            <a:srgbClr val="F2F2F2"/>
          </a:solidFill>
          <a:ln w="0">
            <a:noFill/>
          </a:ln>
        </p:spPr>
        <p:txBody>
          <a:bodyPr lIns="91440" tIns="36576" rIns="91440" bIns="36576" anchor="ctr"/>
          <a:lstStyle/>
          <a:p>
            <a:pPr algn="l">
              <a:buNone/>
            </a:pPr>
            <a:r>
              <a:rPr lang="ja-JP" sz="1300" b="1" dirty="0">
                <a:solidFill>
                  <a:srgbClr val="8B2500"/>
                </a:solidFill>
                <a:latin typeface="BIZ UDPGothic"/>
                <a:ea typeface="BIZ UDPGothic"/>
              </a:rPr>
              <a:t>スケジュール表</a:t>
            </a:r>
          </a:p>
        </p:txBody>
      </p:sp>
      <p:sp>
        <p:nvSpPr>
          <p:cNvPr id="133" name="DContent6"/>
          <p:cNvSpPr/>
          <p:nvPr/>
        </p:nvSpPr>
        <p:spPr>
          <a:xfrm>
            <a:off x="3886200" y="3794760"/>
            <a:ext cx="8305800" cy="411480"/>
          </a:xfrm>
          <a:prstGeom prst="rect">
            <a:avLst/>
          </a:prstGeom>
          <a:solidFill>
            <a:srgbClr val="F2F2F2"/>
          </a:solidFill>
          <a:ln w="0">
            <a:noFill/>
          </a:ln>
        </p:spPr>
        <p:txBody>
          <a:bodyPr lIns="91440" tIns="36576" rIns="91440" bIns="36576" anchor="ctr"/>
          <a:lstStyle/>
          <a:p>
            <a:pPr algn="l">
              <a:buNone/>
            </a:pPr>
            <a:r>
              <a:rPr lang="ja-JP" sz="1200" dirty="0">
                <a:solidFill>
                  <a:srgbClr val="333333"/>
                </a:solidFill>
                <a:latin typeface="BIZ UDPGothic"/>
                <a:ea typeface="BIZ UDPGothic"/>
              </a:rPr>
              <a:t>タスク、週次進行、マイルストーン</a:t>
            </a:r>
          </a:p>
        </p:txBody>
      </p:sp>
      <p:sp>
        <p:nvSpPr>
          <p:cNvPr id="150" name="Note"/>
          <p:cNvSpPr/>
          <p:nvPr/>
        </p:nvSpPr>
        <p:spPr>
          <a:xfrm>
            <a:off x="457200" y="4297680"/>
            <a:ext cx="11277600" cy="365760"/>
          </a:xfrm>
          <a:prstGeom prst="rect">
            <a:avLst/>
          </a:prstGeom>
          <a:noFill/>
          <a:ln w="0">
            <a:noFill/>
          </a:ln>
        </p:spPr>
        <p:txBody>
          <a:bodyPr lIns="91440" tIns="36576" rIns="91440" bIns="36576" anchor="ctr"/>
          <a:lstStyle/>
          <a:p>
            <a:pPr algn="l">
              <a:buNone/>
            </a:pPr>
            <a:r>
              <a:rPr lang="ja-JP" sz="1100" dirty="0">
                <a:solidFill>
                  <a:srgbClr val="787878"/>
                </a:solidFill>
                <a:latin typeface="BIZ UDPGothic"/>
                <a:ea typeface="BIZ UDPGothic"/>
              </a:rPr>
              <a:t>※すべての成果物において、diseaseの定義、idの除外、対象データ、前処理方針、評価指標、制約条件を統一して記載する。</a:t>
            </a:r>
          </a:p>
        </p:txBody>
      </p:sp>
    </p:spTree>
    <p:extLst>
      <p:ext uri="{BB962C8B-B14F-4D97-AF65-F5344CB8AC3E}">
        <p14:creationId xmlns:p14="http://schemas.microsoft.com/office/powerpoint/2010/main" val="602935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08</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費用見積</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BigNum"/>
          <p:cNvSpPr/>
          <p:nvPr/>
        </p:nvSpPr>
        <p:spPr>
          <a:xfrm>
            <a:off x="457200" y="960120"/>
            <a:ext cx="5486400" cy="1371600"/>
          </a:xfrm>
          <a:prstGeom prst="roundRect">
            <a:avLst/>
          </a:prstGeom>
          <a:solidFill>
            <a:srgbClr val="F2F2F2"/>
          </a:solidFill>
          <a:ln w="0">
            <a:noFill/>
          </a:ln>
        </p:spPr>
        <p:txBody>
          <a:bodyPr lIns="91440" tIns="45720" rIns="91440" bIns="45720" anchor="ctr"/>
          <a:lstStyle/>
          <a:p>
            <a:pPr algn="ctr">
              <a:buNone/>
            </a:pPr>
            <a:r>
              <a:rPr lang="ja-JP" sz="1400" dirty="0">
                <a:solidFill>
                  <a:srgbClr val="787878"/>
                </a:solidFill>
                <a:latin typeface="BIZ UDPGothic"/>
                <a:ea typeface="BIZ UDPGothic"/>
              </a:rPr>
              <a:t>見込金額（税込）</a:t>
            </a:r>
          </a:p>
          <a:p>
            <a:pPr algn="ctr">
              <a:buNone/>
            </a:pPr>
            <a:r>
              <a:rPr lang="ja-JP" sz="4000" b="1" dirty="0">
                <a:solidFill>
                  <a:srgbClr val="8B2500"/>
                </a:solidFill>
                <a:latin typeface="BIZ UDPGothic"/>
                <a:ea typeface="BIZ UDPGothic"/>
              </a:rPr>
              <a:t>¥3,850,000</a:t>
            </a:r>
          </a:p>
          <a:p>
            <a:pPr algn="ctr">
              <a:buNone/>
            </a:pPr>
            <a:r>
              <a:rPr lang="ja-JP" sz="1200" dirty="0">
                <a:solidFill>
                  <a:srgbClr val="787878"/>
                </a:solidFill>
                <a:latin typeface="BIZ UDPGothic"/>
                <a:ea typeface="BIZ UDPGothic"/>
              </a:rPr>
              <a:t>（税抜 ¥3,500,000 ＋ 消費税10% ¥350,000）</a:t>
            </a:r>
          </a:p>
        </p:txBody>
      </p:sp>
      <p:sp>
        <p:nvSpPr>
          <p:cNvPr id="120" name="DetailHeader"/>
          <p:cNvSpPr/>
          <p:nvPr/>
        </p:nvSpPr>
        <p:spPr>
          <a:xfrm>
            <a:off x="6248400" y="960120"/>
            <a:ext cx="5486400" cy="365760"/>
          </a:xfrm>
          <a:prstGeom prst="roundRect">
            <a:avLst/>
          </a:prstGeom>
          <a:solidFill>
            <a:srgbClr val="1A1A1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契約条件</a:t>
            </a:r>
          </a:p>
        </p:txBody>
      </p:sp>
      <p:sp>
        <p:nvSpPr>
          <p:cNvPr id="130" name="Detail0"/>
          <p:cNvSpPr/>
          <p:nvPr/>
        </p:nvSpPr>
        <p:spPr>
          <a:xfrm>
            <a:off x="6248400" y="1325880"/>
            <a:ext cx="5486400" cy="320040"/>
          </a:xfrm>
          <a:prstGeom prst="rect">
            <a:avLst/>
          </a:prstGeom>
          <a:solidFill>
            <a:srgbClr val="F2F2F2"/>
          </a:solidFill>
          <a:ln w="0">
            <a:noFill/>
          </a:ln>
        </p:spPr>
        <p:txBody>
          <a:bodyPr lIns="91440" tIns="45720" rIns="91440" bIns="45720" anchor="ctr"/>
          <a:lstStyle/>
          <a:p>
            <a:pPr algn="l">
              <a:buNone/>
            </a:pPr>
            <a:r>
              <a:rPr lang="ja-JP" sz="1200" b="1" dirty="0">
                <a:solidFill>
                  <a:srgbClr val="8B2500"/>
                </a:solidFill>
                <a:latin typeface="BIZ UDPGothic"/>
                <a:ea typeface="BIZ UDPGothic"/>
              </a:rPr>
              <a:t>契約形態　</a:t>
            </a:r>
            <a:r>
              <a:rPr lang="ja-JP" sz="1200" dirty="0">
                <a:solidFill>
                  <a:srgbClr val="333333"/>
                </a:solidFill>
                <a:latin typeface="BIZ UDPGothic"/>
                <a:ea typeface="BIZ UDPGothic"/>
              </a:rPr>
              <a:t>準委任（Time &amp; Materials）</a:t>
            </a:r>
          </a:p>
        </p:txBody>
      </p:sp>
      <p:sp>
        <p:nvSpPr>
          <p:cNvPr id="131" name="Detail1"/>
          <p:cNvSpPr/>
          <p:nvPr/>
        </p:nvSpPr>
        <p:spPr>
          <a:xfrm>
            <a:off x="6248400" y="1645920"/>
            <a:ext cx="5486400" cy="320040"/>
          </a:xfrm>
          <a:prstGeom prst="rect">
            <a:avLst/>
          </a:prstGeom>
          <a:solidFill>
            <a:srgbClr val="FFFFFF"/>
          </a:solidFill>
          <a:ln w="0">
            <a:noFill/>
          </a:ln>
        </p:spPr>
        <p:txBody>
          <a:bodyPr lIns="91440" tIns="45720" rIns="91440" bIns="45720" anchor="ctr"/>
          <a:lstStyle/>
          <a:p>
            <a:pPr algn="l">
              <a:buNone/>
            </a:pPr>
            <a:r>
              <a:rPr lang="ja-JP" sz="1200" b="1" dirty="0">
                <a:solidFill>
                  <a:srgbClr val="8B2500"/>
                </a:solidFill>
                <a:latin typeface="BIZ UDPGothic"/>
                <a:ea typeface="BIZ UDPGothic"/>
              </a:rPr>
              <a:t>時間単価　</a:t>
            </a:r>
            <a:r>
              <a:rPr lang="ja-JP" sz="1200" dirty="0">
                <a:solidFill>
                  <a:srgbClr val="333333"/>
                </a:solidFill>
                <a:latin typeface="BIZ UDPGothic"/>
                <a:ea typeface="BIZ UDPGothic"/>
              </a:rPr>
              <a:t>¥25,000 / 時間</a:t>
            </a:r>
          </a:p>
        </p:txBody>
      </p:sp>
      <p:sp>
        <p:nvSpPr>
          <p:cNvPr id="132" name="Detail2"/>
          <p:cNvSpPr/>
          <p:nvPr/>
        </p:nvSpPr>
        <p:spPr>
          <a:xfrm>
            <a:off x="6248400" y="1965960"/>
            <a:ext cx="5486400" cy="320040"/>
          </a:xfrm>
          <a:prstGeom prst="rect">
            <a:avLst/>
          </a:prstGeom>
          <a:solidFill>
            <a:srgbClr val="F2F2F2"/>
          </a:solidFill>
          <a:ln w="0">
            <a:noFill/>
          </a:ln>
        </p:spPr>
        <p:txBody>
          <a:bodyPr lIns="91440" tIns="45720" rIns="91440" bIns="45720" anchor="ctr"/>
          <a:lstStyle/>
          <a:p>
            <a:pPr algn="l">
              <a:buNone/>
            </a:pPr>
            <a:r>
              <a:rPr lang="ja-JP" sz="1200" b="1" dirty="0">
                <a:solidFill>
                  <a:srgbClr val="8B2500"/>
                </a:solidFill>
                <a:latin typeface="BIZ UDPGothic"/>
                <a:ea typeface="BIZ UDPGothic"/>
              </a:rPr>
              <a:t>見込工数　</a:t>
            </a:r>
            <a:r>
              <a:rPr lang="ja-JP" sz="1200" dirty="0">
                <a:solidFill>
                  <a:srgbClr val="333333"/>
                </a:solidFill>
                <a:latin typeface="BIZ UDPGothic"/>
                <a:ea typeface="BIZ UDPGothic"/>
              </a:rPr>
              <a:t>140時間</a:t>
            </a:r>
          </a:p>
        </p:txBody>
      </p:sp>
      <p:sp>
        <p:nvSpPr>
          <p:cNvPr id="133" name="Detail3"/>
          <p:cNvSpPr/>
          <p:nvPr/>
        </p:nvSpPr>
        <p:spPr>
          <a:xfrm>
            <a:off x="6248400" y="2286000"/>
            <a:ext cx="5486400" cy="320040"/>
          </a:xfrm>
          <a:prstGeom prst="rect">
            <a:avLst/>
          </a:prstGeom>
          <a:solidFill>
            <a:srgbClr val="FFFFFF"/>
          </a:solidFill>
          <a:ln w="0">
            <a:noFill/>
          </a:ln>
        </p:spPr>
        <p:txBody>
          <a:bodyPr lIns="91440" tIns="45720" rIns="91440" bIns="45720" anchor="ctr"/>
          <a:lstStyle/>
          <a:p>
            <a:pPr algn="l">
              <a:buNone/>
            </a:pPr>
            <a:r>
              <a:rPr lang="ja-JP" sz="1200" b="1" dirty="0">
                <a:solidFill>
                  <a:srgbClr val="8B2500"/>
                </a:solidFill>
                <a:latin typeface="BIZ UDPGothic"/>
                <a:ea typeface="BIZ UDPGothic"/>
              </a:rPr>
              <a:t>工数丸め　</a:t>
            </a:r>
            <a:r>
              <a:rPr lang="ja-JP" sz="1200" dirty="0">
                <a:solidFill>
                  <a:srgbClr val="333333"/>
                </a:solidFill>
                <a:latin typeface="BIZ UDPGothic"/>
                <a:ea typeface="BIZ UDPGothic"/>
              </a:rPr>
              <a:t>30分単位</a:t>
            </a:r>
          </a:p>
        </p:txBody>
      </p:sp>
      <p:sp>
        <p:nvSpPr>
          <p:cNvPr id="134" name="Detail4"/>
          <p:cNvSpPr/>
          <p:nvPr/>
        </p:nvSpPr>
        <p:spPr>
          <a:xfrm>
            <a:off x="6248400" y="2606040"/>
            <a:ext cx="5486400" cy="320040"/>
          </a:xfrm>
          <a:prstGeom prst="rect">
            <a:avLst/>
          </a:prstGeom>
          <a:solidFill>
            <a:srgbClr val="F2F2F2"/>
          </a:solidFill>
          <a:ln w="0">
            <a:noFill/>
          </a:ln>
        </p:spPr>
        <p:txBody>
          <a:bodyPr lIns="91440" tIns="45720" rIns="91440" bIns="45720" anchor="ctr"/>
          <a:lstStyle/>
          <a:p>
            <a:pPr algn="l">
              <a:buNone/>
            </a:pPr>
            <a:r>
              <a:rPr lang="ja-JP" sz="1200" b="1" dirty="0">
                <a:solidFill>
                  <a:srgbClr val="8B2500"/>
                </a:solidFill>
                <a:latin typeface="BIZ UDPGothic"/>
                <a:ea typeface="BIZ UDPGothic"/>
              </a:rPr>
              <a:t>精算ルール　</a:t>
            </a:r>
            <a:r>
              <a:rPr lang="ja-JP" sz="1200" dirty="0">
                <a:solidFill>
                  <a:srgbClr val="333333"/>
                </a:solidFill>
                <a:latin typeface="BIZ UDPGothic"/>
                <a:ea typeface="BIZ UDPGothic"/>
              </a:rPr>
              <a:t>実績工数ベース、検収後一括精算</a:t>
            </a:r>
          </a:p>
        </p:txBody>
      </p:sp>
      <p:sp>
        <p:nvSpPr>
          <p:cNvPr id="140" name="PayHeader"/>
          <p:cNvSpPr/>
          <p:nvPr/>
        </p:nvSpPr>
        <p:spPr>
          <a:xfrm>
            <a:off x="457200" y="3017520"/>
            <a:ext cx="11277600" cy="365760"/>
          </a:xfrm>
          <a:prstGeom prst="roundRect">
            <a:avLst/>
          </a:prstGeom>
          <a:solidFill>
            <a:srgbClr val="4A4A4A"/>
          </a:solidFill>
          <a:ln w="0">
            <a:noFill/>
          </a:ln>
        </p:spPr>
        <p:txBody>
          <a:bodyPr lIns="91440" tIns="45720" rIns="91440" bIns="45720" anchor="ctr"/>
          <a:lstStyle/>
          <a:p>
            <a:pPr algn="ctr">
              <a:buNone/>
            </a:pPr>
            <a:r>
              <a:rPr lang="ja-JP" sz="1400" b="1" dirty="0">
                <a:solidFill>
                  <a:srgbClr val="FFFFFF"/>
                </a:solidFill>
                <a:latin typeface="BIZ UDPGothic"/>
                <a:ea typeface="BIZ UDPGothic"/>
              </a:rPr>
              <a:t>支払条件</a:t>
            </a:r>
          </a:p>
        </p:txBody>
      </p:sp>
      <p:sp>
        <p:nvSpPr>
          <p:cNvPr id="141" name="PayRow"/>
          <p:cNvSpPr/>
          <p:nvPr/>
        </p:nvSpPr>
        <p:spPr>
          <a:xfrm>
            <a:off x="457200" y="3383280"/>
            <a:ext cx="11277600" cy="411480"/>
          </a:xfrm>
          <a:prstGeom prst="rect">
            <a:avLst/>
          </a:prstGeom>
          <a:solidFill>
            <a:srgbClr val="F2F2F2"/>
          </a:solidFill>
          <a:ln w="0">
            <a:noFill/>
          </a:ln>
        </p:spPr>
        <p:txBody>
          <a:bodyPr lIns="91440" tIns="45720" rIns="91440" bIns="45720" anchor="ctr"/>
          <a:lstStyle/>
          <a:p>
            <a:pPr algn="l">
              <a:buNone/>
            </a:pPr>
            <a:r>
              <a:rPr lang="ja-JP" sz="1300" b="1" dirty="0">
                <a:solidFill>
                  <a:srgbClr val="1A1A1A"/>
                </a:solidFill>
                <a:latin typeface="BIZ UDPGothic"/>
                <a:ea typeface="BIZ UDPGothic"/>
              </a:rPr>
              <a:t>一括払い（100%）</a:t>
            </a:r>
            <a:r>
              <a:rPr lang="ja-JP" sz="1300" dirty="0">
                <a:solidFill>
                  <a:srgbClr val="333333"/>
                </a:solidFill>
                <a:latin typeface="BIZ UDPGothic"/>
                <a:ea typeface="BIZ UDPGothic"/>
              </a:rPr>
              <a:t>  │  最終成果物の検収完了後5営業日以内  │  </a:t>
            </a:r>
            <a:r>
              <a:rPr lang="ja-JP" sz="1300" b="1" dirty="0">
                <a:solidFill>
                  <a:srgbClr val="8B2500"/>
                </a:solidFill>
                <a:latin typeface="BIZ UDPGothic"/>
                <a:ea typeface="BIZ UDPGothic"/>
              </a:rPr>
              <a:t>¥3,850,000（税込）</a:t>
            </a:r>
          </a:p>
        </p:txBody>
      </p:sp>
      <p:sp>
        <p:nvSpPr>
          <p:cNvPr id="150" name="Caveat"/>
          <p:cNvSpPr/>
          <p:nvPr/>
        </p:nvSpPr>
        <p:spPr>
          <a:xfrm>
            <a:off x="457200" y="3931920"/>
            <a:ext cx="11277600" cy="914400"/>
          </a:xfrm>
          <a:prstGeom prst="roundRect">
            <a:avLst/>
          </a:prstGeom>
          <a:noFill/>
          <a:ln w="0">
            <a:noFill/>
          </a:ln>
        </p:spPr>
        <p:txBody>
          <a:bodyPr lIns="91440" tIns="45720" rIns="91440" bIns="45720" anchor="ctr"/>
          <a:lstStyle/>
          <a:p>
            <a:pPr algn="l">
              <a:buNone/>
            </a:pPr>
            <a:r>
              <a:rPr lang="ja-JP" sz="1200" b="1" dirty="0">
                <a:solidFill>
                  <a:srgbClr val="8B2500"/>
                </a:solidFill>
                <a:latin typeface="BIZ UDPGothic"/>
                <a:ea typeface="BIZ UDPGothic"/>
              </a:rPr>
              <a:t>■ 留意事項</a:t>
            </a:r>
          </a:p>
          <a:p>
            <a:pPr algn="l">
              <a:buNone/>
            </a:pPr>
            <a:r>
              <a:rPr lang="ja-JP" sz="1100" dirty="0">
                <a:solidFill>
                  <a:srgbClr val="333333"/>
                </a:solidFill>
                <a:latin typeface="BIZ UDPGothic"/>
                <a:ea typeface="BIZ UDPGothic"/>
              </a:rPr>
              <a:t>本契約はTime &amp; Materials方式のため、上記の見込工数および見込金額は計画時点の想定値であり、固定総額を保証するものではない。実際の請求額は、実績工数に基づき精算する。</a:t>
            </a:r>
          </a:p>
        </p:txBody>
      </p:sp>
    </p:spTree>
    <p:extLst>
      <p:ext uri="{BB962C8B-B14F-4D97-AF65-F5344CB8AC3E}">
        <p14:creationId xmlns:p14="http://schemas.microsoft.com/office/powerpoint/2010/main" val="2699758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73152" tIns="36576" rIns="73152" bIns="36576" anchor="ctr"/>
          <a:lstStyle/>
          <a:p>
            <a:pPr algn="ctr">
              <a:buNone/>
            </a:pPr>
            <a:r>
              <a:rPr lang="ja-JP" sz="2400" b="1" dirty="0">
                <a:solidFill>
                  <a:srgbClr val="FFFFFF"/>
                </a:solidFill>
                <a:latin typeface="BIZ UDPGothic"/>
                <a:ea typeface="BIZ UDPGothic"/>
              </a:rPr>
              <a:t>09</a:t>
            </a:r>
          </a:p>
        </p:txBody>
      </p:sp>
      <p:sp>
        <p:nvSpPr>
          <p:cNvPr id="101" name="SecTitle"/>
          <p:cNvSpPr/>
          <p:nvPr/>
        </p:nvSpPr>
        <p:spPr>
          <a:xfrm>
            <a:off x="1143000" y="228600"/>
            <a:ext cx="10363200" cy="548640"/>
          </a:xfrm>
          <a:prstGeom prst="rect">
            <a:avLst/>
          </a:prstGeom>
          <a:noFill/>
          <a:ln w="0">
            <a:noFill/>
          </a:ln>
        </p:spPr>
        <p:txBody>
          <a:bodyPr lIns="73152" tIns="36576" rIns="73152" bIns="36576" anchor="ctr"/>
          <a:lstStyle/>
          <a:p>
            <a:pPr algn="l">
              <a:buNone/>
            </a:pPr>
            <a:r>
              <a:rPr lang="ja-JP" sz="2800" b="1" dirty="0">
                <a:solidFill>
                  <a:srgbClr val="1A1A1A"/>
                </a:solidFill>
                <a:latin typeface="BIZ UDPGothic"/>
                <a:ea typeface="BIZ UDPGothic"/>
              </a:rPr>
              <a:t>リスクと対応策</a:t>
            </a:r>
          </a:p>
        </p:txBody>
      </p:sp>
      <p:sp>
        <p:nvSpPr>
          <p:cNvPr id="102" name="TitleLine"/>
          <p:cNvSpPr/>
          <p:nvPr/>
        </p:nvSpPr>
        <p:spPr>
          <a:xfrm>
            <a:off x="457200" y="800100"/>
            <a:ext cx="11277600" cy="36576"/>
          </a:xfrm>
          <a:prstGeom prst="rect">
            <a:avLst/>
          </a:prstGeom>
          <a:solidFill>
            <a:srgbClr val="8B2500"/>
          </a:solidFill>
          <a:ln w="0">
            <a:noFill/>
          </a:ln>
        </p:spPr>
        <p:txBody>
          <a:bodyPr lIns="73152" tIns="36576" rIns="73152" bIns="36576" anchor="ctr"/>
          <a:lstStyle/>
          <a:p>
            <a:endParaRPr lang="ja-JP"/>
          </a:p>
        </p:txBody>
      </p:sp>
      <p:sp>
        <p:nvSpPr>
          <p:cNvPr id="110" name="TH1"/>
          <p:cNvSpPr/>
          <p:nvPr/>
        </p:nvSpPr>
        <p:spPr>
          <a:xfrm>
            <a:off x="457200" y="920000"/>
            <a:ext cx="2286000" cy="365760"/>
          </a:xfrm>
          <a:prstGeom prst="rect">
            <a:avLst/>
          </a:prstGeom>
          <a:solidFill>
            <a:srgbClr val="1A1A1A"/>
          </a:solidFill>
          <a:ln w="0">
            <a:noFill/>
          </a:ln>
        </p:spPr>
        <p:txBody>
          <a:bodyPr lIns="73152" tIns="36576" rIns="73152" bIns="36576" anchor="ctr"/>
          <a:lstStyle/>
          <a:p>
            <a:pPr algn="ctr">
              <a:buNone/>
            </a:pPr>
            <a:r>
              <a:rPr lang="ja-JP" sz="1200" b="1" dirty="0">
                <a:solidFill>
                  <a:srgbClr val="FFFFFF"/>
                </a:solidFill>
                <a:latin typeface="BIZ UDPGothic"/>
                <a:ea typeface="BIZ UDPGothic"/>
              </a:rPr>
              <a:t>リスク</a:t>
            </a:r>
          </a:p>
        </p:txBody>
      </p:sp>
      <p:sp>
        <p:nvSpPr>
          <p:cNvPr id="111" name="TH2"/>
          <p:cNvSpPr/>
          <p:nvPr/>
        </p:nvSpPr>
        <p:spPr>
          <a:xfrm>
            <a:off x="2743200" y="920000"/>
            <a:ext cx="3429000" cy="365760"/>
          </a:xfrm>
          <a:prstGeom prst="rect">
            <a:avLst/>
          </a:prstGeom>
          <a:solidFill>
            <a:srgbClr val="1A1A1A"/>
          </a:solidFill>
          <a:ln w="0">
            <a:noFill/>
          </a:ln>
        </p:spPr>
        <p:txBody>
          <a:bodyPr lIns="73152" tIns="36576" rIns="73152" bIns="36576" anchor="ctr"/>
          <a:lstStyle/>
          <a:p>
            <a:pPr algn="ctr">
              <a:buNone/>
            </a:pPr>
            <a:r>
              <a:rPr lang="ja-JP" sz="1200" b="1" dirty="0">
                <a:solidFill>
                  <a:srgbClr val="FFFFFF"/>
                </a:solidFill>
                <a:latin typeface="BIZ UDPGothic"/>
                <a:ea typeface="BIZ UDPGothic"/>
              </a:rPr>
              <a:t>内容</a:t>
            </a:r>
          </a:p>
        </p:txBody>
      </p:sp>
      <p:sp>
        <p:nvSpPr>
          <p:cNvPr id="112" name="TH3"/>
          <p:cNvSpPr/>
          <p:nvPr/>
        </p:nvSpPr>
        <p:spPr>
          <a:xfrm>
            <a:off x="6172200" y="920000"/>
            <a:ext cx="5562600" cy="365760"/>
          </a:xfrm>
          <a:prstGeom prst="rect">
            <a:avLst/>
          </a:prstGeom>
          <a:solidFill>
            <a:srgbClr val="1A1A1A"/>
          </a:solidFill>
          <a:ln w="0">
            <a:noFill/>
          </a:ln>
        </p:spPr>
        <p:txBody>
          <a:bodyPr lIns="73152" tIns="36576" rIns="73152" bIns="36576" anchor="ctr"/>
          <a:lstStyle/>
          <a:p>
            <a:pPr algn="ctr">
              <a:buNone/>
            </a:pPr>
            <a:r>
              <a:rPr lang="ja-JP" sz="1200" b="1" dirty="0">
                <a:solidFill>
                  <a:srgbClr val="FFFFFF"/>
                </a:solidFill>
                <a:latin typeface="BIZ UDPGothic"/>
                <a:ea typeface="BIZ UDPGothic"/>
              </a:rPr>
              <a:t>対応策</a:t>
            </a:r>
          </a:p>
        </p:txBody>
      </p:sp>
      <p:sp>
        <p:nvSpPr>
          <p:cNvPr id="120" name="R0"/>
          <p:cNvSpPr/>
          <p:nvPr/>
        </p:nvSpPr>
        <p:spPr>
          <a:xfrm>
            <a:off x="457200" y="1285760"/>
            <a:ext cx="2286000" cy="502920"/>
          </a:xfrm>
          <a:prstGeom prst="rect">
            <a:avLst/>
          </a:prstGeom>
          <a:solidFill>
            <a:srgbClr val="F2F2F2"/>
          </a:solidFill>
          <a:ln w="0">
            <a:noFill/>
          </a:ln>
        </p:spPr>
        <p:txBody>
          <a:bodyPr lIns="73152" tIns="36576" rIns="73152" bIns="36576" anchor="ctr"/>
          <a:lstStyle/>
          <a:p>
            <a:pPr algn="l">
              <a:buNone/>
            </a:pPr>
            <a:r>
              <a:rPr lang="ja-JP" sz="1100" b="1" dirty="0">
                <a:solidFill>
                  <a:srgbClr val="8B2500"/>
                </a:solidFill>
                <a:latin typeface="BIZ UDPGothic"/>
                <a:ea typeface="BIZ UDPGothic"/>
              </a:rPr>
              <a:t>患者プライバシー保護</a:t>
            </a:r>
          </a:p>
        </p:txBody>
      </p:sp>
      <p:sp>
        <p:nvSpPr>
          <p:cNvPr id="121" name="RC0"/>
          <p:cNvSpPr/>
          <p:nvPr/>
        </p:nvSpPr>
        <p:spPr>
          <a:xfrm>
            <a:off x="2743200" y="1285760"/>
            <a:ext cx="34290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医療データの機微性が高い</a:t>
            </a:r>
          </a:p>
        </p:txBody>
      </p:sp>
      <p:sp>
        <p:nvSpPr>
          <p:cNvPr id="122" name="RR0"/>
          <p:cNvSpPr/>
          <p:nvPr/>
        </p:nvSpPr>
        <p:spPr>
          <a:xfrm>
            <a:off x="6172200" y="1285760"/>
            <a:ext cx="55626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アクセス制御、取扱範囲限定、個人特定情報非掲載を徹底</a:t>
            </a:r>
          </a:p>
        </p:txBody>
      </p:sp>
      <p:sp>
        <p:nvSpPr>
          <p:cNvPr id="123" name="R1"/>
          <p:cNvSpPr/>
          <p:nvPr/>
        </p:nvSpPr>
        <p:spPr>
          <a:xfrm>
            <a:off x="457200" y="1788680"/>
            <a:ext cx="2286000" cy="502920"/>
          </a:xfrm>
          <a:prstGeom prst="rect">
            <a:avLst/>
          </a:prstGeom>
          <a:solidFill>
            <a:srgbClr val="FFFFFF"/>
          </a:solidFill>
          <a:ln w="0">
            <a:noFill/>
          </a:ln>
        </p:spPr>
        <p:txBody>
          <a:bodyPr lIns="73152" tIns="36576" rIns="73152" bIns="36576" anchor="ctr"/>
          <a:lstStyle/>
          <a:p>
            <a:pPr algn="l">
              <a:buNone/>
            </a:pPr>
            <a:r>
              <a:rPr lang="ja-JP" sz="1100" b="1" dirty="0">
                <a:solidFill>
                  <a:srgbClr val="8B2500"/>
                </a:solidFill>
                <a:latin typeface="BIZ UDPGothic"/>
                <a:ea typeface="BIZ UDPGothic"/>
              </a:rPr>
              <a:t>データ入力不整合</a:t>
            </a:r>
          </a:p>
        </p:txBody>
      </p:sp>
      <p:sp>
        <p:nvSpPr>
          <p:cNvPr id="124" name="RC1"/>
          <p:cNvSpPr/>
          <p:nvPr/>
        </p:nvSpPr>
        <p:spPr>
          <a:xfrm>
            <a:off x="2743200" y="1788680"/>
            <a:ext cx="3429000" cy="502920"/>
          </a:xfrm>
          <a:prstGeom prst="rect">
            <a:avLst/>
          </a:prstGeom>
          <a:solidFill>
            <a:srgbClr val="FFFFFF"/>
          </a:solidFill>
          <a:ln w="0">
            <a:noFill/>
          </a:ln>
        </p:spPr>
        <p:txBody>
          <a:bodyPr lIns="73152" tIns="36576" rIns="73152" bIns="36576" anchor="ctr"/>
          <a:lstStyle/>
          <a:p>
            <a:pPr algn="l">
              <a:buNone/>
            </a:pPr>
            <a:r>
              <a:rPr lang="ja-JP" sz="1100" dirty="0">
                <a:solidFill>
                  <a:srgbClr val="333333"/>
                </a:solidFill>
                <a:latin typeface="BIZ UDPGothic"/>
                <a:ea typeface="BIZ UDPGothic"/>
              </a:rPr>
              <a:t>コーディングや入力ルール差異</a:t>
            </a:r>
          </a:p>
        </p:txBody>
      </p:sp>
      <p:sp>
        <p:nvSpPr>
          <p:cNvPr id="125" name="RR1"/>
          <p:cNvSpPr/>
          <p:nvPr/>
        </p:nvSpPr>
        <p:spPr>
          <a:xfrm>
            <a:off x="6172200" y="1788680"/>
            <a:ext cx="5562600" cy="502920"/>
          </a:xfrm>
          <a:prstGeom prst="rect">
            <a:avLst/>
          </a:prstGeom>
          <a:solidFill>
            <a:srgbClr val="FFFFFF"/>
          </a:solidFill>
          <a:ln w="0">
            <a:noFill/>
          </a:ln>
        </p:spPr>
        <p:txBody>
          <a:bodyPr lIns="73152" tIns="36576" rIns="73152" bIns="36576" anchor="ctr"/>
          <a:lstStyle/>
          <a:p>
            <a:pPr algn="l">
              <a:buNone/>
            </a:pPr>
            <a:r>
              <a:rPr lang="ja-JP" sz="1100" dirty="0">
                <a:solidFill>
                  <a:srgbClr val="333333"/>
                </a:solidFill>
                <a:latin typeface="BIZ UDPGothic"/>
                <a:ea typeface="BIZ UDPGothic"/>
              </a:rPr>
              <a:t>初期段階で値妥当性・分布確認、異常値候補の整理</a:t>
            </a:r>
          </a:p>
        </p:txBody>
      </p:sp>
      <p:sp>
        <p:nvSpPr>
          <p:cNvPr id="126" name="R2"/>
          <p:cNvSpPr/>
          <p:nvPr/>
        </p:nvSpPr>
        <p:spPr>
          <a:xfrm>
            <a:off x="457200" y="2291600"/>
            <a:ext cx="2286000" cy="502920"/>
          </a:xfrm>
          <a:prstGeom prst="rect">
            <a:avLst/>
          </a:prstGeom>
          <a:solidFill>
            <a:srgbClr val="F2F2F2"/>
          </a:solidFill>
          <a:ln w="0">
            <a:noFill/>
          </a:ln>
        </p:spPr>
        <p:txBody>
          <a:bodyPr lIns="73152" tIns="36576" rIns="73152" bIns="36576" anchor="ctr"/>
          <a:lstStyle/>
          <a:p>
            <a:pPr algn="l">
              <a:buNone/>
            </a:pPr>
            <a:r>
              <a:rPr lang="ja-JP" sz="1100" b="1" dirty="0">
                <a:solidFill>
                  <a:srgbClr val="8B2500"/>
                </a:solidFill>
                <a:latin typeface="BIZ UDPGothic"/>
                <a:ea typeface="BIZ UDPGothic"/>
              </a:rPr>
              <a:t>臨床運用差異</a:t>
            </a:r>
          </a:p>
        </p:txBody>
      </p:sp>
      <p:sp>
        <p:nvSpPr>
          <p:cNvPr id="127" name="RC2"/>
          <p:cNvSpPr/>
          <p:nvPr/>
        </p:nvSpPr>
        <p:spPr>
          <a:xfrm>
            <a:off x="2743200" y="2291600"/>
            <a:ext cx="34290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検査取得条件等による分布偏り</a:t>
            </a:r>
          </a:p>
        </p:txBody>
      </p:sp>
      <p:sp>
        <p:nvSpPr>
          <p:cNvPr id="128" name="RR2"/>
          <p:cNvSpPr/>
          <p:nvPr/>
        </p:nvSpPr>
        <p:spPr>
          <a:xfrm>
            <a:off x="6172200" y="2291600"/>
            <a:ext cx="55626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解釈時に運用前提を明記、一般化の過大主張を回避</a:t>
            </a:r>
          </a:p>
        </p:txBody>
      </p:sp>
      <p:sp>
        <p:nvSpPr>
          <p:cNvPr id="129" name="R3"/>
          <p:cNvSpPr/>
          <p:nvPr/>
        </p:nvSpPr>
        <p:spPr>
          <a:xfrm>
            <a:off x="457200" y="2794520"/>
            <a:ext cx="2286000" cy="502920"/>
          </a:xfrm>
          <a:prstGeom prst="rect">
            <a:avLst/>
          </a:prstGeom>
          <a:solidFill>
            <a:srgbClr val="FFFFFF"/>
          </a:solidFill>
          <a:ln w="0">
            <a:noFill/>
          </a:ln>
        </p:spPr>
        <p:txBody>
          <a:bodyPr lIns="73152" tIns="36576" rIns="73152" bIns="36576" anchor="ctr"/>
          <a:lstStyle/>
          <a:p>
            <a:pPr algn="l">
              <a:buNone/>
            </a:pPr>
            <a:r>
              <a:rPr lang="ja-JP" sz="1100" b="1" dirty="0">
                <a:solidFill>
                  <a:srgbClr val="8B2500"/>
                </a:solidFill>
                <a:latin typeface="BIZ UDPGothic"/>
                <a:ea typeface="BIZ UDPGothic"/>
              </a:rPr>
              <a:t>外れ値解釈リスク</a:t>
            </a:r>
          </a:p>
        </p:txBody>
      </p:sp>
      <p:sp>
        <p:nvSpPr>
          <p:cNvPr id="130" name="RC3"/>
          <p:cNvSpPr/>
          <p:nvPr/>
        </p:nvSpPr>
        <p:spPr>
          <a:xfrm>
            <a:off x="2743200" y="2794520"/>
            <a:ext cx="3429000" cy="502920"/>
          </a:xfrm>
          <a:prstGeom prst="rect">
            <a:avLst/>
          </a:prstGeom>
          <a:solidFill>
            <a:srgbClr val="FFFFFF"/>
          </a:solidFill>
          <a:ln w="0">
            <a:noFill/>
          </a:ln>
        </p:spPr>
        <p:txBody>
          <a:bodyPr lIns="73152" tIns="36576" rIns="73152" bIns="36576" anchor="ctr"/>
          <a:lstStyle/>
          <a:p>
            <a:pPr algn="l">
              <a:buNone/>
            </a:pPr>
            <a:r>
              <a:rPr lang="ja-JP" sz="1100" dirty="0">
                <a:solidFill>
                  <a:srgbClr val="333333"/>
                </a:solidFill>
                <a:latin typeface="BIZ UDPGothic"/>
                <a:ea typeface="BIZ UDPGothic"/>
              </a:rPr>
              <a:t>入力誤りか臨床的意味ある値か不明</a:t>
            </a:r>
          </a:p>
        </p:txBody>
      </p:sp>
      <p:sp>
        <p:nvSpPr>
          <p:cNvPr id="131" name="RR3"/>
          <p:cNvSpPr/>
          <p:nvPr/>
        </p:nvSpPr>
        <p:spPr>
          <a:xfrm>
            <a:off x="6172200" y="2794520"/>
            <a:ext cx="5562600" cy="502920"/>
          </a:xfrm>
          <a:prstGeom prst="rect">
            <a:avLst/>
          </a:prstGeom>
          <a:solidFill>
            <a:srgbClr val="FFFFFF"/>
          </a:solidFill>
          <a:ln w="0">
            <a:noFill/>
          </a:ln>
        </p:spPr>
        <p:txBody>
          <a:bodyPr lIns="73152" tIns="36576" rIns="73152" bIns="36576" anchor="ctr"/>
          <a:lstStyle/>
          <a:p>
            <a:pPr algn="l">
              <a:buNone/>
            </a:pPr>
            <a:r>
              <a:rPr lang="ja-JP" sz="1100" dirty="0">
                <a:solidFill>
                  <a:srgbClr val="333333"/>
                </a:solidFill>
                <a:latin typeface="BIZ UDPGothic"/>
                <a:ea typeface="BIZ UDPGothic"/>
              </a:rPr>
              <a:t>一律除外を避け、複数モデル比較と分布確認で慎重に対処</a:t>
            </a:r>
          </a:p>
        </p:txBody>
      </p:sp>
      <p:sp>
        <p:nvSpPr>
          <p:cNvPr id="132" name="R4"/>
          <p:cNvSpPr/>
          <p:nvPr/>
        </p:nvSpPr>
        <p:spPr>
          <a:xfrm>
            <a:off x="457200" y="3297440"/>
            <a:ext cx="2286000" cy="502920"/>
          </a:xfrm>
          <a:prstGeom prst="rect">
            <a:avLst/>
          </a:prstGeom>
          <a:solidFill>
            <a:srgbClr val="F2F2F2"/>
          </a:solidFill>
          <a:ln w="0">
            <a:noFill/>
          </a:ln>
        </p:spPr>
        <p:txBody>
          <a:bodyPr lIns="73152" tIns="36576" rIns="73152" bIns="36576" anchor="ctr"/>
          <a:lstStyle/>
          <a:p>
            <a:pPr algn="l">
              <a:buNone/>
            </a:pPr>
            <a:r>
              <a:rPr lang="ja-JP" sz="1100" b="1" dirty="0">
                <a:solidFill>
                  <a:srgbClr val="8B2500"/>
                </a:solidFill>
                <a:latin typeface="BIZ UDPGothic"/>
                <a:ea typeface="BIZ UDPGothic"/>
              </a:rPr>
              <a:t>過剰解釈リスク</a:t>
            </a:r>
          </a:p>
        </p:txBody>
      </p:sp>
      <p:sp>
        <p:nvSpPr>
          <p:cNvPr id="133" name="RC4"/>
          <p:cNvSpPr/>
          <p:nvPr/>
        </p:nvSpPr>
        <p:spPr>
          <a:xfrm>
            <a:off x="2743200" y="3297440"/>
            <a:ext cx="34290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相関・特徴量寄与を因果と誤認</a:t>
            </a:r>
          </a:p>
        </p:txBody>
      </p:sp>
      <p:sp>
        <p:nvSpPr>
          <p:cNvPr id="134" name="RR4"/>
          <p:cNvSpPr/>
          <p:nvPr/>
        </p:nvSpPr>
        <p:spPr>
          <a:xfrm>
            <a:off x="6172200" y="3297440"/>
            <a:ext cx="55626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因果断定・診断断定を避け、判定支援材料として記述</a:t>
            </a:r>
          </a:p>
        </p:txBody>
      </p:sp>
      <p:sp>
        <p:nvSpPr>
          <p:cNvPr id="135" name="R5"/>
          <p:cNvSpPr/>
          <p:nvPr/>
        </p:nvSpPr>
        <p:spPr>
          <a:xfrm>
            <a:off x="457200" y="3800360"/>
            <a:ext cx="2286000" cy="502920"/>
          </a:xfrm>
          <a:prstGeom prst="rect">
            <a:avLst/>
          </a:prstGeom>
          <a:solidFill>
            <a:srgbClr val="FFFFFF"/>
          </a:solidFill>
          <a:ln w="0">
            <a:noFill/>
          </a:ln>
        </p:spPr>
        <p:txBody>
          <a:bodyPr lIns="73152" tIns="36576" rIns="73152" bIns="36576" anchor="ctr"/>
          <a:lstStyle/>
          <a:p>
            <a:pPr algn="l">
              <a:buNone/>
            </a:pPr>
            <a:r>
              <a:rPr lang="ja-JP" sz="1100" b="1" dirty="0">
                <a:solidFill>
                  <a:srgbClr val="8B2500"/>
                </a:solidFill>
                <a:latin typeface="BIZ UDPGothic"/>
                <a:ea typeface="BIZ UDPGothic"/>
              </a:rPr>
              <a:t>単一データソース制約</a:t>
            </a:r>
          </a:p>
        </p:txBody>
      </p:sp>
      <p:sp>
        <p:nvSpPr>
          <p:cNvPr id="136" name="RC5"/>
          <p:cNvSpPr/>
          <p:nvPr/>
        </p:nvSpPr>
        <p:spPr>
          <a:xfrm>
            <a:off x="2743200" y="3800360"/>
            <a:ext cx="3429000" cy="502920"/>
          </a:xfrm>
          <a:prstGeom prst="rect">
            <a:avLst/>
          </a:prstGeom>
          <a:solidFill>
            <a:srgbClr val="FFFFFF"/>
          </a:solidFill>
          <a:ln w="0">
            <a:noFill/>
          </a:ln>
        </p:spPr>
        <p:txBody>
          <a:bodyPr lIns="73152" tIns="36576" rIns="73152" bIns="36576" anchor="ctr"/>
          <a:lstStyle/>
          <a:p>
            <a:pPr algn="l">
              <a:buNone/>
            </a:pPr>
            <a:r>
              <a:rPr lang="ja-JP" sz="1100" dirty="0">
                <a:solidFill>
                  <a:srgbClr val="333333"/>
                </a:solidFill>
                <a:latin typeface="BIZ UDPGothic"/>
                <a:ea typeface="BIZ UDPGothic"/>
              </a:rPr>
              <a:t>train.csvのみで検証範囲に限界</a:t>
            </a:r>
          </a:p>
        </p:txBody>
      </p:sp>
      <p:sp>
        <p:nvSpPr>
          <p:cNvPr id="137" name="RR5"/>
          <p:cNvSpPr/>
          <p:nvPr/>
        </p:nvSpPr>
        <p:spPr>
          <a:xfrm>
            <a:off x="6172200" y="3800360"/>
            <a:ext cx="5562600" cy="502920"/>
          </a:xfrm>
          <a:prstGeom prst="rect">
            <a:avLst/>
          </a:prstGeom>
          <a:solidFill>
            <a:srgbClr val="FFFFFF"/>
          </a:solidFill>
          <a:ln w="0">
            <a:noFill/>
          </a:ln>
        </p:spPr>
        <p:txBody>
          <a:bodyPr lIns="73152" tIns="36576" rIns="73152" bIns="36576" anchor="ctr"/>
          <a:lstStyle/>
          <a:p>
            <a:pPr algn="l">
              <a:buNone/>
            </a:pPr>
            <a:r>
              <a:rPr lang="ja-JP" sz="1100" dirty="0">
                <a:solidFill>
                  <a:srgbClr val="333333"/>
                </a:solidFill>
                <a:latin typeface="BIZ UDPGothic"/>
                <a:ea typeface="BIZ UDPGothic"/>
              </a:rPr>
              <a:t>制約を明示し、追加データ取得時の次段階提案を整理</a:t>
            </a:r>
          </a:p>
        </p:txBody>
      </p:sp>
      <p:sp>
        <p:nvSpPr>
          <p:cNvPr id="138" name="R6"/>
          <p:cNvSpPr/>
          <p:nvPr/>
        </p:nvSpPr>
        <p:spPr>
          <a:xfrm>
            <a:off x="457200" y="4303280"/>
            <a:ext cx="2286000" cy="502920"/>
          </a:xfrm>
          <a:prstGeom prst="rect">
            <a:avLst/>
          </a:prstGeom>
          <a:solidFill>
            <a:srgbClr val="F2F2F2"/>
          </a:solidFill>
          <a:ln w="0">
            <a:noFill/>
          </a:ln>
        </p:spPr>
        <p:txBody>
          <a:bodyPr lIns="73152" tIns="36576" rIns="73152" bIns="36576" anchor="ctr"/>
          <a:lstStyle/>
          <a:p>
            <a:pPr algn="l">
              <a:buNone/>
            </a:pPr>
            <a:r>
              <a:rPr lang="ja-JP" sz="1100" b="1" dirty="0">
                <a:solidFill>
                  <a:srgbClr val="8B2500"/>
                </a:solidFill>
                <a:latin typeface="BIZ UDPGothic"/>
                <a:ea typeface="BIZ UDPGothic"/>
              </a:rPr>
              <a:t>追加要求発生</a:t>
            </a:r>
          </a:p>
        </p:txBody>
      </p:sp>
      <p:sp>
        <p:nvSpPr>
          <p:cNvPr id="139" name="RC6"/>
          <p:cNvSpPr/>
          <p:nvPr/>
        </p:nvSpPr>
        <p:spPr>
          <a:xfrm>
            <a:off x="2743200" y="4303280"/>
            <a:ext cx="34290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分析途中での追加論点・成果物要望</a:t>
            </a:r>
          </a:p>
        </p:txBody>
      </p:sp>
      <p:sp>
        <p:nvSpPr>
          <p:cNvPr id="140" name="RR6"/>
          <p:cNvSpPr/>
          <p:nvPr/>
        </p:nvSpPr>
        <p:spPr>
          <a:xfrm>
            <a:off x="6172200" y="4303280"/>
            <a:ext cx="5562600" cy="502920"/>
          </a:xfrm>
          <a:prstGeom prst="rect">
            <a:avLst/>
          </a:prstGeom>
          <a:solidFill>
            <a:srgbClr val="F2F2F2"/>
          </a:solidFill>
          <a:ln w="0">
            <a:noFill/>
          </a:ln>
        </p:spPr>
        <p:txBody>
          <a:bodyPr lIns="73152" tIns="36576" rIns="73152" bIns="36576" anchor="ctr"/>
          <a:lstStyle/>
          <a:p>
            <a:pPr algn="l">
              <a:buNone/>
            </a:pPr>
            <a:r>
              <a:rPr lang="ja-JP" sz="1100" dirty="0">
                <a:solidFill>
                  <a:srgbClr val="333333"/>
                </a:solidFill>
                <a:latin typeface="BIZ UDPGothic"/>
                <a:ea typeface="BIZ UDPGothic"/>
              </a:rPr>
              <a:t>変更を切り分け、追加対応は別途見積または追加発注で管理</a:t>
            </a:r>
          </a:p>
        </p:txBody>
      </p:sp>
    </p:spTree>
    <p:extLst>
      <p:ext uri="{BB962C8B-B14F-4D97-AF65-F5344CB8AC3E}">
        <p14:creationId xmlns:p14="http://schemas.microsoft.com/office/powerpoint/2010/main" val="3014432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36576" rIns="91440" bIns="36576" anchor="ctr"/>
          <a:lstStyle/>
          <a:p>
            <a:pPr algn="ctr">
              <a:buNone/>
            </a:pPr>
            <a:r>
              <a:rPr lang="ja-JP" sz="2400" b="1" dirty="0">
                <a:solidFill>
                  <a:srgbClr val="FFFFFF"/>
                </a:solidFill>
                <a:latin typeface="BIZ UDPGothic"/>
                <a:ea typeface="BIZ UDPGothic"/>
              </a:rPr>
              <a:t>10</a:t>
            </a:r>
          </a:p>
        </p:txBody>
      </p:sp>
      <p:sp>
        <p:nvSpPr>
          <p:cNvPr id="101" name="SecTitle"/>
          <p:cNvSpPr/>
          <p:nvPr/>
        </p:nvSpPr>
        <p:spPr>
          <a:xfrm>
            <a:off x="1143000" y="228600"/>
            <a:ext cx="10363200" cy="548640"/>
          </a:xfrm>
          <a:prstGeom prst="rect">
            <a:avLst/>
          </a:prstGeom>
          <a:noFill/>
          <a:ln w="0">
            <a:noFill/>
          </a:ln>
        </p:spPr>
        <p:txBody>
          <a:bodyPr lIns="91440" tIns="36576" rIns="91440" bIns="36576" anchor="ctr"/>
          <a:lstStyle/>
          <a:p>
            <a:pPr algn="l">
              <a:buNone/>
            </a:pPr>
            <a:r>
              <a:rPr lang="ja-JP" sz="2800" b="1" dirty="0">
                <a:solidFill>
                  <a:srgbClr val="1A1A1A"/>
                </a:solidFill>
                <a:latin typeface="BIZ UDPGothic"/>
                <a:ea typeface="BIZ UDPGothic"/>
              </a:rPr>
              <a:t>前提条件</a:t>
            </a:r>
          </a:p>
        </p:txBody>
      </p:sp>
      <p:sp>
        <p:nvSpPr>
          <p:cNvPr id="102" name="TitleLine"/>
          <p:cNvSpPr/>
          <p:nvPr/>
        </p:nvSpPr>
        <p:spPr>
          <a:xfrm>
            <a:off x="457200" y="800100"/>
            <a:ext cx="11277600" cy="36576"/>
          </a:xfrm>
          <a:prstGeom prst="rect">
            <a:avLst/>
          </a:prstGeom>
          <a:solidFill>
            <a:srgbClr val="8B2500"/>
          </a:solidFill>
          <a:ln w="0">
            <a:noFill/>
          </a:ln>
        </p:spPr>
        <p:txBody>
          <a:bodyPr lIns="91440" tIns="36576" rIns="91440" bIns="36576" anchor="ctr"/>
          <a:lstStyle/>
          <a:p>
            <a:endParaRPr lang="ja-JP"/>
          </a:p>
        </p:txBody>
      </p:sp>
      <p:sp>
        <p:nvSpPr>
          <p:cNvPr id="110" name="AssumpH"/>
          <p:cNvSpPr/>
          <p:nvPr/>
        </p:nvSpPr>
        <p:spPr>
          <a:xfrm>
            <a:off x="457199" y="960120"/>
            <a:ext cx="11277599" cy="411480"/>
          </a:xfrm>
          <a:prstGeom prst="roundRect">
            <a:avLst/>
          </a:prstGeom>
          <a:solidFill>
            <a:srgbClr val="1A1A1A"/>
          </a:solidFill>
          <a:ln w="0">
            <a:noFill/>
          </a:ln>
        </p:spPr>
        <p:txBody>
          <a:bodyPr lIns="91440" tIns="36576" rIns="91440" bIns="36576" anchor="ctr"/>
          <a:lstStyle/>
          <a:p>
            <a:pPr algn="ctr">
              <a:buNone/>
            </a:pPr>
            <a:r>
              <a:rPr lang="ja-JP" sz="1600" b="1" dirty="0">
                <a:solidFill>
                  <a:srgbClr val="FFFFFF"/>
                </a:solidFill>
                <a:latin typeface="BIZ UDPGothic"/>
                <a:ea typeface="BIZ UDPGothic"/>
              </a:rPr>
              <a:t>前提条件</a:t>
            </a:r>
          </a:p>
        </p:txBody>
      </p:sp>
      <p:sp>
        <p:nvSpPr>
          <p:cNvPr id="120" name="A0"/>
          <p:cNvSpPr/>
          <p:nvPr/>
        </p:nvSpPr>
        <p:spPr>
          <a:xfrm>
            <a:off x="457199" y="1371600"/>
            <a:ext cx="11277599" cy="365760"/>
          </a:xfrm>
          <a:prstGeom prst="rect">
            <a:avLst/>
          </a:prstGeom>
          <a:noFill/>
          <a:ln w="0">
            <a:noFill/>
          </a:ln>
        </p:spPr>
        <p:txBody>
          <a:bodyPr lIns="91440" tIns="36576" rIns="91440" bIns="36576" anchor="ctr"/>
          <a:lstStyle/>
          <a:p>
            <a:pPr algn="l">
              <a:buNone/>
            </a:pPr>
            <a:r>
              <a:rPr lang="ja-JP" sz="1200" b="1" dirty="0">
                <a:solidFill>
                  <a:srgbClr val="8B2500"/>
                </a:solidFill>
                <a:latin typeface="BIZ UDPGothic"/>
                <a:ea typeface="BIZ UDPGothic"/>
              </a:rPr>
              <a:t>✓  </a:t>
            </a:r>
            <a:r>
              <a:rPr lang="ja-JP" sz="1100" dirty="0">
                <a:solidFill>
                  <a:srgbClr val="333333"/>
                </a:solidFill>
                <a:latin typeface="BIZ UDPGothic"/>
                <a:ea typeface="BIZ UDPGothic"/>
              </a:rPr>
              <a:t>目的変数diseaseは肝疾患の有無（0:無, 1:有）である</a:t>
            </a:r>
          </a:p>
        </p:txBody>
      </p:sp>
      <p:sp>
        <p:nvSpPr>
          <p:cNvPr id="121" name="A1"/>
          <p:cNvSpPr/>
          <p:nvPr/>
        </p:nvSpPr>
        <p:spPr>
          <a:xfrm>
            <a:off x="457199" y="1737360"/>
            <a:ext cx="11277599" cy="365760"/>
          </a:xfrm>
          <a:prstGeom prst="rect">
            <a:avLst/>
          </a:prstGeom>
          <a:noFill/>
          <a:ln w="0">
            <a:noFill/>
          </a:ln>
        </p:spPr>
        <p:txBody>
          <a:bodyPr lIns="91440" tIns="36576" rIns="91440" bIns="36576" anchor="ctr"/>
          <a:lstStyle/>
          <a:p>
            <a:pPr algn="l">
              <a:buNone/>
            </a:pPr>
            <a:r>
              <a:rPr lang="ja-JP" sz="1200" b="1" dirty="0">
                <a:solidFill>
                  <a:srgbClr val="8B2500"/>
                </a:solidFill>
                <a:latin typeface="BIZ UDPGothic"/>
                <a:ea typeface="BIZ UDPGothic"/>
              </a:rPr>
              <a:t>✓  </a:t>
            </a:r>
            <a:r>
              <a:rPr lang="ja-JP" sz="1100" dirty="0">
                <a:solidFill>
                  <a:srgbClr val="333333"/>
                </a:solidFill>
                <a:latin typeface="BIZ UDPGothic"/>
                <a:ea typeface="BIZ UDPGothic"/>
              </a:rPr>
              <a:t>idはインデックス用途であり、予測特徴量として使用しない</a:t>
            </a:r>
          </a:p>
        </p:txBody>
      </p:sp>
      <p:sp>
        <p:nvSpPr>
          <p:cNvPr id="122" name="A2"/>
          <p:cNvSpPr/>
          <p:nvPr/>
        </p:nvSpPr>
        <p:spPr>
          <a:xfrm>
            <a:off x="457199" y="2103120"/>
            <a:ext cx="11277599" cy="365760"/>
          </a:xfrm>
          <a:prstGeom prst="rect">
            <a:avLst/>
          </a:prstGeom>
          <a:noFill/>
          <a:ln w="0">
            <a:noFill/>
          </a:ln>
        </p:spPr>
        <p:txBody>
          <a:bodyPr lIns="91440" tIns="36576" rIns="91440" bIns="36576" anchor="ctr"/>
          <a:lstStyle/>
          <a:p>
            <a:pPr algn="l">
              <a:buNone/>
            </a:pPr>
            <a:r>
              <a:rPr lang="ja-JP" sz="1200" b="1" dirty="0">
                <a:solidFill>
                  <a:srgbClr val="8B2500"/>
                </a:solidFill>
                <a:latin typeface="BIZ UDPGothic"/>
                <a:ea typeface="BIZ UDPGothic"/>
              </a:rPr>
              <a:t>✓  </a:t>
            </a:r>
            <a:r>
              <a:rPr lang="ja-JP" sz="1100" dirty="0">
                <a:solidFill>
                  <a:srgbClr val="333333"/>
                </a:solidFill>
                <a:latin typeface="BIZ UDPGothic"/>
                <a:ea typeface="BIZ UDPGothic"/>
              </a:rPr>
              <a:t>入力データはdata\train.csvの単一ファイルを対象とする</a:t>
            </a:r>
          </a:p>
        </p:txBody>
      </p:sp>
      <p:sp>
        <p:nvSpPr>
          <p:cNvPr id="123" name="A3"/>
          <p:cNvSpPr/>
          <p:nvPr/>
        </p:nvSpPr>
        <p:spPr>
          <a:xfrm>
            <a:off x="457199" y="2468880"/>
            <a:ext cx="11277599" cy="365760"/>
          </a:xfrm>
          <a:prstGeom prst="rect">
            <a:avLst/>
          </a:prstGeom>
          <a:noFill/>
          <a:ln w="0">
            <a:noFill/>
          </a:ln>
        </p:spPr>
        <p:txBody>
          <a:bodyPr lIns="91440" tIns="36576" rIns="91440" bIns="36576" anchor="ctr"/>
          <a:lstStyle/>
          <a:p>
            <a:pPr algn="l">
              <a:buNone/>
            </a:pPr>
            <a:r>
              <a:rPr lang="ja-JP" sz="1200" b="1" dirty="0">
                <a:solidFill>
                  <a:srgbClr val="8B2500"/>
                </a:solidFill>
                <a:latin typeface="BIZ UDPGothic"/>
                <a:ea typeface="BIZ UDPGothic"/>
              </a:rPr>
              <a:t>✓  </a:t>
            </a:r>
            <a:r>
              <a:rPr lang="ja-JP" sz="1100" dirty="0">
                <a:solidFill>
                  <a:srgbClr val="333333"/>
                </a:solidFill>
                <a:latin typeface="BIZ UDPGothic"/>
                <a:ea typeface="BIZ UDPGothic"/>
              </a:rPr>
              <a:t>欠損値は存在しない前提だが、値妥当性の検証は実施する</a:t>
            </a:r>
          </a:p>
        </p:txBody>
      </p:sp>
      <p:sp>
        <p:nvSpPr>
          <p:cNvPr id="124" name="A4"/>
          <p:cNvSpPr/>
          <p:nvPr/>
        </p:nvSpPr>
        <p:spPr>
          <a:xfrm>
            <a:off x="457199" y="2834640"/>
            <a:ext cx="11277599" cy="365760"/>
          </a:xfrm>
          <a:prstGeom prst="rect">
            <a:avLst/>
          </a:prstGeom>
          <a:noFill/>
          <a:ln w="0">
            <a:noFill/>
          </a:ln>
        </p:spPr>
        <p:txBody>
          <a:bodyPr lIns="91440" tIns="36576" rIns="91440" bIns="36576" anchor="ctr"/>
          <a:lstStyle/>
          <a:p>
            <a:pPr algn="l">
              <a:buNone/>
            </a:pPr>
            <a:r>
              <a:rPr lang="ja-JP" sz="1200" b="1" dirty="0">
                <a:solidFill>
                  <a:srgbClr val="8B2500"/>
                </a:solidFill>
                <a:latin typeface="BIZ UDPGothic"/>
                <a:ea typeface="BIZ UDPGothic"/>
              </a:rPr>
              <a:t>✓  </a:t>
            </a:r>
            <a:r>
              <a:rPr lang="ja-JP" sz="1100" dirty="0">
                <a:solidFill>
                  <a:srgbClr val="333333"/>
                </a:solidFill>
                <a:latin typeface="BIZ UDPGothic"/>
                <a:ea typeface="BIZ UDPGothic"/>
              </a:rPr>
              <a:t>分析結果は診断の代替ではなく、判定支援材料として利用する</a:t>
            </a:r>
          </a:p>
        </p:txBody>
      </p:sp>
      <p:sp>
        <p:nvSpPr>
          <p:cNvPr id="125" name="A5"/>
          <p:cNvSpPr/>
          <p:nvPr/>
        </p:nvSpPr>
        <p:spPr>
          <a:xfrm>
            <a:off x="457199" y="3200400"/>
            <a:ext cx="11277599" cy="365760"/>
          </a:xfrm>
          <a:prstGeom prst="rect">
            <a:avLst/>
          </a:prstGeom>
          <a:noFill/>
          <a:ln w="0">
            <a:noFill/>
          </a:ln>
        </p:spPr>
        <p:txBody>
          <a:bodyPr lIns="91440" tIns="36576" rIns="91440" bIns="36576" anchor="ctr"/>
          <a:lstStyle/>
          <a:p>
            <a:pPr algn="l">
              <a:buNone/>
            </a:pPr>
            <a:r>
              <a:rPr lang="ja-JP" sz="1200" b="1" dirty="0">
                <a:solidFill>
                  <a:srgbClr val="8B2500"/>
                </a:solidFill>
                <a:latin typeface="BIZ UDPGothic"/>
                <a:ea typeface="BIZ UDPGothic"/>
              </a:rPr>
              <a:t>✓  </a:t>
            </a:r>
            <a:r>
              <a:rPr lang="ja-JP" sz="1100" dirty="0">
                <a:solidFill>
                  <a:srgbClr val="333333"/>
                </a:solidFill>
                <a:latin typeface="BIZ UDPGothic"/>
                <a:ea typeface="BIZ UDPGothic"/>
              </a:rPr>
              <a:t>評価は学習データ内の適切な分割・検証に基づいて実施する</a:t>
            </a:r>
          </a:p>
        </p:txBody>
      </p:sp>
      <p:sp>
        <p:nvSpPr>
          <p:cNvPr id="126" name="A6"/>
          <p:cNvSpPr/>
          <p:nvPr/>
        </p:nvSpPr>
        <p:spPr>
          <a:xfrm>
            <a:off x="457199" y="3566160"/>
            <a:ext cx="11277599" cy="365760"/>
          </a:xfrm>
          <a:prstGeom prst="rect">
            <a:avLst/>
          </a:prstGeom>
          <a:noFill/>
          <a:ln w="0">
            <a:noFill/>
          </a:ln>
        </p:spPr>
        <p:txBody>
          <a:bodyPr lIns="91440" tIns="36576" rIns="91440" bIns="36576" anchor="ctr"/>
          <a:lstStyle/>
          <a:p>
            <a:pPr algn="l">
              <a:buNone/>
            </a:pPr>
            <a:r>
              <a:rPr lang="ja-JP" sz="1200" b="1" dirty="0">
                <a:solidFill>
                  <a:srgbClr val="8B2500"/>
                </a:solidFill>
                <a:latin typeface="BIZ UDPGothic"/>
                <a:ea typeface="BIZ UDPGothic"/>
              </a:rPr>
              <a:t>✓  </a:t>
            </a:r>
            <a:r>
              <a:rPr lang="ja-JP" sz="1100" dirty="0">
                <a:solidFill>
                  <a:srgbClr val="333333"/>
                </a:solidFill>
                <a:latin typeface="BIZ UDPGothic"/>
                <a:ea typeface="BIZ UDPGothic"/>
              </a:rPr>
              <a:t>時系列情報がないため、経時変化分析は実施しない</a:t>
            </a:r>
          </a:p>
        </p:txBody>
      </p:sp>
      <p:sp>
        <p:nvSpPr>
          <p:cNvPr id="160" name="ChangeH"/>
          <p:cNvSpPr/>
          <p:nvPr/>
        </p:nvSpPr>
        <p:spPr>
          <a:xfrm>
            <a:off x="457200" y="4114800"/>
            <a:ext cx="11277600" cy="365760"/>
          </a:xfrm>
          <a:prstGeom prst="roundRect">
            <a:avLst/>
          </a:prstGeom>
          <a:solidFill>
            <a:srgbClr val="8B2500"/>
          </a:solidFill>
          <a:ln w="0">
            <a:noFill/>
          </a:ln>
        </p:spPr>
        <p:txBody>
          <a:bodyPr lIns="91440" tIns="36576" rIns="91440" bIns="36576" anchor="ctr"/>
          <a:lstStyle/>
          <a:p>
            <a:pPr algn="ctr">
              <a:buNone/>
            </a:pPr>
            <a:r>
              <a:rPr lang="ja-JP" sz="1400" b="1" dirty="0">
                <a:solidFill>
                  <a:srgbClr val="FFFFFF"/>
                </a:solidFill>
                <a:latin typeface="BIZ UDPGothic"/>
                <a:ea typeface="BIZ UDPGothic"/>
              </a:rPr>
              <a:t>変更管理方針</a:t>
            </a:r>
          </a:p>
        </p:txBody>
      </p:sp>
      <p:sp>
        <p:nvSpPr>
          <p:cNvPr id="161" name="ChangeBody"/>
          <p:cNvSpPr/>
          <p:nvPr/>
        </p:nvSpPr>
        <p:spPr>
          <a:xfrm>
            <a:off x="457200" y="4480560"/>
            <a:ext cx="11277600" cy="548640"/>
          </a:xfrm>
          <a:prstGeom prst="roundRect">
            <a:avLst/>
          </a:prstGeom>
          <a:solidFill>
            <a:srgbClr val="F2F2F2"/>
          </a:solidFill>
          <a:ln w="0">
            <a:noFill/>
          </a:ln>
        </p:spPr>
        <p:txBody>
          <a:bodyPr lIns="91440" tIns="36576" rIns="91440" bIns="36576" anchor="ctr"/>
          <a:lstStyle/>
          <a:p>
            <a:pPr algn="l">
              <a:buNone/>
            </a:pPr>
            <a:r>
              <a:rPr lang="ja-JP" sz="1200" dirty="0">
                <a:solidFill>
                  <a:srgbClr val="333333"/>
                </a:solidFill>
                <a:latin typeface="BIZ UDPGothic"/>
                <a:ea typeface="BIZ UDPGothic"/>
              </a:rPr>
              <a:t>追加対応は時間単価ベースで別途見積または追加発注として扱う。追加対応が発生しない前提は置かない。当初合意スコープ外の追加分析、追加会議、成果物追加、再分析依頼、追加データ対応等が発生した場合は、影響範囲を確認のうえ、契約条件に従って別途対応する。</a:t>
            </a:r>
          </a:p>
        </p:txBody>
      </p:sp>
    </p:spTree>
    <p:extLst>
      <p:ext uri="{BB962C8B-B14F-4D97-AF65-F5344CB8AC3E}">
        <p14:creationId xmlns:p14="http://schemas.microsoft.com/office/powerpoint/2010/main" val="3168800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Num"/>
          <p:cNvSpPr/>
          <p:nvPr/>
        </p:nvSpPr>
        <p:spPr>
          <a:xfrm>
            <a:off x="457200" y="228600"/>
            <a:ext cx="548640" cy="548640"/>
          </a:xfrm>
          <a:prstGeom prst="ellipse">
            <a:avLst/>
          </a:prstGeom>
          <a:solidFill>
            <a:srgbClr val="8B2500"/>
          </a:solidFill>
          <a:ln w="0">
            <a:noFill/>
          </a:ln>
        </p:spPr>
        <p:txBody>
          <a:bodyPr lIns="91440" tIns="45720" rIns="91440" bIns="45720" anchor="ctr"/>
          <a:lstStyle/>
          <a:p>
            <a:pPr algn="ctr">
              <a:buNone/>
            </a:pPr>
            <a:r>
              <a:rPr lang="ja-JP" sz="2400" b="1" dirty="0">
                <a:solidFill>
                  <a:srgbClr val="FFFFFF"/>
                </a:solidFill>
                <a:latin typeface="BIZ UDPGothic"/>
                <a:ea typeface="BIZ UDPGothic"/>
              </a:rPr>
              <a:t>11</a:t>
            </a:r>
          </a:p>
        </p:txBody>
      </p:sp>
      <p:sp>
        <p:nvSpPr>
          <p:cNvPr id="101" name="SecTitle"/>
          <p:cNvSpPr/>
          <p:nvPr/>
        </p:nvSpPr>
        <p:spPr>
          <a:xfrm>
            <a:off x="1143000" y="228600"/>
            <a:ext cx="10363200" cy="548640"/>
          </a:xfrm>
          <a:prstGeom prst="rect">
            <a:avLst/>
          </a:prstGeom>
          <a:noFill/>
          <a:ln w="0">
            <a:noFill/>
          </a:ln>
        </p:spPr>
        <p:txBody>
          <a:bodyPr lIns="91440" tIns="45720" rIns="91440" bIns="45720" anchor="ctr"/>
          <a:lstStyle/>
          <a:p>
            <a:pPr algn="l">
              <a:buNone/>
            </a:pPr>
            <a:r>
              <a:rPr lang="ja-JP" sz="2800" b="1" dirty="0">
                <a:solidFill>
                  <a:srgbClr val="1A1A1A"/>
                </a:solidFill>
                <a:latin typeface="BIZ UDPGothic"/>
                <a:ea typeface="BIZ UDPGothic"/>
              </a:rPr>
              <a:t>次アクション</a:t>
            </a:r>
          </a:p>
        </p:txBody>
      </p:sp>
      <p:sp>
        <p:nvSpPr>
          <p:cNvPr id="102" name="TitleLine"/>
          <p:cNvSpPr/>
          <p:nvPr/>
        </p:nvSpPr>
        <p:spPr>
          <a:xfrm>
            <a:off x="457200" y="800100"/>
            <a:ext cx="11277600" cy="36576"/>
          </a:xfrm>
          <a:prstGeom prst="rect">
            <a:avLst/>
          </a:prstGeom>
          <a:solidFill>
            <a:srgbClr val="8B2500"/>
          </a:solidFill>
          <a:ln w="0">
            <a:noFill/>
          </a:ln>
        </p:spPr>
        <p:txBody>
          <a:bodyPr lIns="91440" tIns="45720" rIns="91440" bIns="45720" anchor="ctr"/>
          <a:lstStyle/>
          <a:p>
            <a:endParaRPr lang="ja-JP"/>
          </a:p>
        </p:txBody>
      </p:sp>
      <p:sp>
        <p:nvSpPr>
          <p:cNvPr id="110" name="ANum0"/>
          <p:cNvSpPr/>
          <p:nvPr/>
        </p:nvSpPr>
        <p:spPr>
          <a:xfrm>
            <a:off x="1097280" y="1097280"/>
            <a:ext cx="457200" cy="457200"/>
          </a:xfrm>
          <a:prstGeom prst="ellipse">
            <a:avLst/>
          </a:prstGeom>
          <a:solidFill>
            <a:srgbClr val="8B2500"/>
          </a:solidFill>
          <a:ln w="0">
            <a:noFill/>
          </a:ln>
        </p:spPr>
        <p:txBody>
          <a:bodyPr lIns="91440" tIns="45720" rIns="91440" bIns="45720" anchor="ctr"/>
          <a:lstStyle/>
          <a:p>
            <a:pPr algn="ctr">
              <a:buNone/>
            </a:pPr>
            <a:r>
              <a:rPr lang="ja-JP" sz="2000" b="1" dirty="0">
                <a:solidFill>
                  <a:srgbClr val="FFFFFF"/>
                </a:solidFill>
                <a:latin typeface="BIZ UDPGothic"/>
                <a:ea typeface="BIZ UDPGothic"/>
              </a:rPr>
              <a:t>1</a:t>
            </a:r>
          </a:p>
        </p:txBody>
      </p:sp>
      <p:sp>
        <p:nvSpPr>
          <p:cNvPr id="111" name="ATitle0"/>
          <p:cNvSpPr/>
          <p:nvPr/>
        </p:nvSpPr>
        <p:spPr>
          <a:xfrm>
            <a:off x="457200" y="1645920"/>
            <a:ext cx="1737360" cy="731520"/>
          </a:xfrm>
          <a:prstGeom prst="roundRect">
            <a:avLst/>
          </a:prstGeom>
          <a:solidFill>
            <a:srgbClr val="F2F2F2"/>
          </a:solidFill>
          <a:ln w="0">
            <a:noFill/>
          </a:ln>
        </p:spPr>
        <p:txBody>
          <a:bodyPr lIns="91440" tIns="45720" rIns="91440" bIns="45720" anchor="ctr"/>
          <a:lstStyle/>
          <a:p>
            <a:pPr algn="ctr">
              <a:buNone/>
            </a:pPr>
            <a:r>
              <a:rPr lang="ja-JP" sz="1300" b="1" dirty="0">
                <a:solidFill>
                  <a:srgbClr val="1A1A1A"/>
                </a:solidFill>
                <a:latin typeface="BIZ UDPGothic"/>
                <a:ea typeface="BIZ UDPGothic"/>
              </a:rPr>
              <a:t>提案書内容の
ご確認</a:t>
            </a:r>
          </a:p>
        </p:txBody>
      </p:sp>
      <p:sp>
        <p:nvSpPr>
          <p:cNvPr id="112" name="AArrow0"/>
          <p:cNvSpPr/>
          <p:nvPr/>
        </p:nvSpPr>
        <p:spPr>
          <a:xfrm>
            <a:off x="2194560" y="1325880"/>
            <a:ext cx="182880" cy="45720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13" name="ANum1"/>
          <p:cNvSpPr/>
          <p:nvPr/>
        </p:nvSpPr>
        <p:spPr>
          <a:xfrm>
            <a:off x="3017520" y="1097280"/>
            <a:ext cx="457200" cy="457200"/>
          </a:xfrm>
          <a:prstGeom prst="ellipse">
            <a:avLst/>
          </a:prstGeom>
          <a:solidFill>
            <a:srgbClr val="8B2500"/>
          </a:solidFill>
          <a:ln w="0">
            <a:noFill/>
          </a:ln>
        </p:spPr>
        <p:txBody>
          <a:bodyPr lIns="91440" tIns="45720" rIns="91440" bIns="45720" anchor="ctr"/>
          <a:lstStyle/>
          <a:p>
            <a:pPr algn="ctr">
              <a:buNone/>
            </a:pPr>
            <a:r>
              <a:rPr lang="ja-JP" sz="2000" b="1" dirty="0">
                <a:solidFill>
                  <a:srgbClr val="FFFFFF"/>
                </a:solidFill>
                <a:latin typeface="BIZ UDPGothic"/>
                <a:ea typeface="BIZ UDPGothic"/>
              </a:rPr>
              <a:t>2</a:t>
            </a:r>
          </a:p>
        </p:txBody>
      </p:sp>
      <p:sp>
        <p:nvSpPr>
          <p:cNvPr id="114" name="ATitle1"/>
          <p:cNvSpPr/>
          <p:nvPr/>
        </p:nvSpPr>
        <p:spPr>
          <a:xfrm>
            <a:off x="2377440" y="1645920"/>
            <a:ext cx="1737360" cy="731520"/>
          </a:xfrm>
          <a:prstGeom prst="roundRect">
            <a:avLst/>
          </a:prstGeom>
          <a:solidFill>
            <a:srgbClr val="F2F2F2"/>
          </a:solidFill>
          <a:ln w="0">
            <a:noFill/>
          </a:ln>
        </p:spPr>
        <p:txBody>
          <a:bodyPr lIns="91440" tIns="45720" rIns="91440" bIns="45720" anchor="ctr"/>
          <a:lstStyle/>
          <a:p>
            <a:pPr algn="ctr">
              <a:buNone/>
            </a:pPr>
            <a:r>
              <a:rPr lang="ja-JP" sz="1300" b="1" dirty="0">
                <a:solidFill>
                  <a:srgbClr val="1A1A1A"/>
                </a:solidFill>
                <a:latin typeface="BIZ UDPGothic"/>
                <a:ea typeface="BIZ UDPGothic"/>
              </a:rPr>
              <a:t>スコープ・前提
最終合意</a:t>
            </a:r>
          </a:p>
        </p:txBody>
      </p:sp>
      <p:sp>
        <p:nvSpPr>
          <p:cNvPr id="115" name="AArrow1"/>
          <p:cNvSpPr/>
          <p:nvPr/>
        </p:nvSpPr>
        <p:spPr>
          <a:xfrm>
            <a:off x="4114800" y="1325880"/>
            <a:ext cx="182880" cy="45720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16" name="ANum2"/>
          <p:cNvSpPr/>
          <p:nvPr/>
        </p:nvSpPr>
        <p:spPr>
          <a:xfrm>
            <a:off x="4937760" y="1097280"/>
            <a:ext cx="457200" cy="457200"/>
          </a:xfrm>
          <a:prstGeom prst="ellipse">
            <a:avLst/>
          </a:prstGeom>
          <a:solidFill>
            <a:srgbClr val="8B2500"/>
          </a:solidFill>
          <a:ln w="0">
            <a:noFill/>
          </a:ln>
        </p:spPr>
        <p:txBody>
          <a:bodyPr lIns="91440" tIns="45720" rIns="91440" bIns="45720" anchor="ctr"/>
          <a:lstStyle/>
          <a:p>
            <a:pPr algn="ctr">
              <a:buNone/>
            </a:pPr>
            <a:r>
              <a:rPr lang="ja-JP" sz="2000" b="1" dirty="0">
                <a:solidFill>
                  <a:srgbClr val="FFFFFF"/>
                </a:solidFill>
                <a:latin typeface="BIZ UDPGothic"/>
                <a:ea typeface="BIZ UDPGothic"/>
              </a:rPr>
              <a:t>3</a:t>
            </a:r>
          </a:p>
        </p:txBody>
      </p:sp>
      <p:sp>
        <p:nvSpPr>
          <p:cNvPr id="117" name="ATitle2"/>
          <p:cNvSpPr/>
          <p:nvPr/>
        </p:nvSpPr>
        <p:spPr>
          <a:xfrm>
            <a:off x="4297680" y="1645920"/>
            <a:ext cx="1737360" cy="731520"/>
          </a:xfrm>
          <a:prstGeom prst="roundRect">
            <a:avLst/>
          </a:prstGeom>
          <a:solidFill>
            <a:srgbClr val="F2F2F2"/>
          </a:solidFill>
          <a:ln w="0">
            <a:noFill/>
          </a:ln>
        </p:spPr>
        <p:txBody>
          <a:bodyPr lIns="91440" tIns="45720" rIns="91440" bIns="45720" anchor="ctr"/>
          <a:lstStyle/>
          <a:p>
            <a:pPr algn="ctr">
              <a:buNone/>
            </a:pPr>
            <a:r>
              <a:rPr lang="ja-JP" sz="1300" b="1" dirty="0">
                <a:solidFill>
                  <a:srgbClr val="1A1A1A"/>
                </a:solidFill>
                <a:latin typeface="BIZ UDPGothic"/>
                <a:ea typeface="BIZ UDPGothic"/>
              </a:rPr>
              <a:t>契約締結</a:t>
            </a:r>
          </a:p>
        </p:txBody>
      </p:sp>
      <p:sp>
        <p:nvSpPr>
          <p:cNvPr id="118" name="AArrow2"/>
          <p:cNvSpPr/>
          <p:nvPr/>
        </p:nvSpPr>
        <p:spPr>
          <a:xfrm>
            <a:off x="6035040" y="1325880"/>
            <a:ext cx="182880" cy="45720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19" name="ANum3"/>
          <p:cNvSpPr/>
          <p:nvPr/>
        </p:nvSpPr>
        <p:spPr>
          <a:xfrm>
            <a:off x="6858000" y="1097280"/>
            <a:ext cx="457200" cy="457200"/>
          </a:xfrm>
          <a:prstGeom prst="ellipse">
            <a:avLst/>
          </a:prstGeom>
          <a:solidFill>
            <a:srgbClr val="8B2500"/>
          </a:solidFill>
          <a:ln w="0">
            <a:noFill/>
          </a:ln>
        </p:spPr>
        <p:txBody>
          <a:bodyPr lIns="91440" tIns="45720" rIns="91440" bIns="45720" anchor="ctr"/>
          <a:lstStyle/>
          <a:p>
            <a:pPr algn="ctr">
              <a:buNone/>
            </a:pPr>
            <a:r>
              <a:rPr lang="ja-JP" sz="2000" b="1" dirty="0">
                <a:solidFill>
                  <a:srgbClr val="FFFFFF"/>
                </a:solidFill>
                <a:latin typeface="BIZ UDPGothic"/>
                <a:ea typeface="BIZ UDPGothic"/>
              </a:rPr>
              <a:t>4</a:t>
            </a:r>
          </a:p>
        </p:txBody>
      </p:sp>
      <p:sp>
        <p:nvSpPr>
          <p:cNvPr id="120" name="ATitle3"/>
          <p:cNvSpPr/>
          <p:nvPr/>
        </p:nvSpPr>
        <p:spPr>
          <a:xfrm>
            <a:off x="6217920" y="1645920"/>
            <a:ext cx="1737360" cy="731520"/>
          </a:xfrm>
          <a:prstGeom prst="roundRect">
            <a:avLst/>
          </a:prstGeom>
          <a:solidFill>
            <a:srgbClr val="F2F2F2"/>
          </a:solidFill>
          <a:ln w="0">
            <a:noFill/>
          </a:ln>
        </p:spPr>
        <p:txBody>
          <a:bodyPr lIns="91440" tIns="45720" rIns="91440" bIns="45720" anchor="ctr"/>
          <a:lstStyle/>
          <a:p>
            <a:pPr algn="ctr">
              <a:buNone/>
            </a:pPr>
            <a:r>
              <a:rPr lang="ja-JP" sz="1300" b="1" dirty="0">
                <a:solidFill>
                  <a:srgbClr val="1A1A1A"/>
                </a:solidFill>
                <a:latin typeface="BIZ UDPGothic"/>
                <a:ea typeface="BIZ UDPGothic"/>
              </a:rPr>
              <a:t>キックオフ
日程確定</a:t>
            </a:r>
          </a:p>
          <a:p>
            <a:pPr algn="ctr">
              <a:buNone/>
            </a:pPr>
            <a:r>
              <a:rPr lang="ja-JP" sz="1100" dirty="0">
                <a:solidFill>
                  <a:srgbClr val="787878"/>
                </a:solidFill>
                <a:latin typeface="BIZ UDPGothic"/>
                <a:ea typeface="BIZ UDPGothic"/>
              </a:rPr>
              <a:t>2025-09-02開始前提</a:t>
            </a:r>
          </a:p>
        </p:txBody>
      </p:sp>
      <p:sp>
        <p:nvSpPr>
          <p:cNvPr id="121" name="AArrow3"/>
          <p:cNvSpPr/>
          <p:nvPr/>
        </p:nvSpPr>
        <p:spPr>
          <a:xfrm>
            <a:off x="7955280" y="1325880"/>
            <a:ext cx="182880" cy="45720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22" name="ANum4"/>
          <p:cNvSpPr/>
          <p:nvPr/>
        </p:nvSpPr>
        <p:spPr>
          <a:xfrm>
            <a:off x="8778240" y="1097280"/>
            <a:ext cx="457200" cy="457200"/>
          </a:xfrm>
          <a:prstGeom prst="ellipse">
            <a:avLst/>
          </a:prstGeom>
          <a:solidFill>
            <a:srgbClr val="8B2500"/>
          </a:solidFill>
          <a:ln w="0">
            <a:noFill/>
          </a:ln>
        </p:spPr>
        <p:txBody>
          <a:bodyPr lIns="91440" tIns="45720" rIns="91440" bIns="45720" anchor="ctr"/>
          <a:lstStyle/>
          <a:p>
            <a:pPr algn="ctr">
              <a:buNone/>
            </a:pPr>
            <a:r>
              <a:rPr lang="ja-JP" sz="2000" b="1" dirty="0">
                <a:solidFill>
                  <a:srgbClr val="FFFFFF"/>
                </a:solidFill>
                <a:latin typeface="BIZ UDPGothic"/>
                <a:ea typeface="BIZ UDPGothic"/>
              </a:rPr>
              <a:t>5</a:t>
            </a:r>
          </a:p>
        </p:txBody>
      </p:sp>
      <p:sp>
        <p:nvSpPr>
          <p:cNvPr id="123" name="ATitle4"/>
          <p:cNvSpPr/>
          <p:nvPr/>
        </p:nvSpPr>
        <p:spPr>
          <a:xfrm>
            <a:off x="8138160" y="1645920"/>
            <a:ext cx="1737360" cy="731520"/>
          </a:xfrm>
          <a:prstGeom prst="roundRect">
            <a:avLst/>
          </a:prstGeom>
          <a:solidFill>
            <a:srgbClr val="F2F2F2"/>
          </a:solidFill>
          <a:ln w="0">
            <a:noFill/>
          </a:ln>
        </p:spPr>
        <p:txBody>
          <a:bodyPr lIns="91440" tIns="45720" rIns="91440" bIns="45720" anchor="ctr"/>
          <a:lstStyle/>
          <a:p>
            <a:pPr algn="ctr">
              <a:buNone/>
            </a:pPr>
            <a:r>
              <a:rPr lang="ja-JP" sz="1300" b="1" dirty="0">
                <a:solidFill>
                  <a:srgbClr val="1A1A1A"/>
                </a:solidFill>
                <a:latin typeface="BIZ UDPGothic"/>
                <a:ea typeface="BIZ UDPGothic"/>
              </a:rPr>
              <a:t>データ・資料の
正式受領</a:t>
            </a:r>
          </a:p>
          <a:p>
            <a:pPr algn="ctr">
              <a:buNone/>
            </a:pPr>
            <a:r>
              <a:rPr lang="ja-JP" sz="1100" dirty="0">
                <a:solidFill>
                  <a:srgbClr val="787878"/>
                </a:solidFill>
                <a:latin typeface="BIZ UDPGothic"/>
                <a:ea typeface="BIZ UDPGothic"/>
              </a:rPr>
              <a:t>train.csv等</a:t>
            </a:r>
          </a:p>
        </p:txBody>
      </p:sp>
      <p:sp>
        <p:nvSpPr>
          <p:cNvPr id="124" name="AArrow4"/>
          <p:cNvSpPr/>
          <p:nvPr/>
        </p:nvSpPr>
        <p:spPr>
          <a:xfrm>
            <a:off x="9875520" y="1325880"/>
            <a:ext cx="182880" cy="457200"/>
          </a:xfrm>
          <a:prstGeom prst="rect">
            <a:avLst/>
          </a:prstGeom>
          <a:noFill/>
          <a:ln w="0">
            <a:noFill/>
          </a:ln>
        </p:spPr>
        <p:txBody>
          <a:bodyPr lIns="91440" tIns="45720" rIns="91440" bIns="45720" anchor="ctr"/>
          <a:lstStyle/>
          <a:p>
            <a:pPr algn="ctr">
              <a:buNone/>
            </a:pPr>
            <a:r>
              <a:rPr lang="ja-JP" sz="1800" b="1" dirty="0">
                <a:solidFill>
                  <a:srgbClr val="8B2500"/>
                </a:solidFill>
                <a:latin typeface="BIZ UDPGothic"/>
                <a:ea typeface="BIZ UDPGothic"/>
              </a:rPr>
              <a:t>▶</a:t>
            </a:r>
          </a:p>
        </p:txBody>
      </p:sp>
      <p:sp>
        <p:nvSpPr>
          <p:cNvPr id="125" name="ANum5"/>
          <p:cNvSpPr/>
          <p:nvPr/>
        </p:nvSpPr>
        <p:spPr>
          <a:xfrm>
            <a:off x="10698480" y="1097280"/>
            <a:ext cx="457200" cy="457200"/>
          </a:xfrm>
          <a:prstGeom prst="ellipse">
            <a:avLst/>
          </a:prstGeom>
          <a:solidFill>
            <a:srgbClr val="8B2500"/>
          </a:solidFill>
          <a:ln w="0">
            <a:noFill/>
          </a:ln>
        </p:spPr>
        <p:txBody>
          <a:bodyPr lIns="91440" tIns="45720" rIns="91440" bIns="45720" anchor="ctr"/>
          <a:lstStyle/>
          <a:p>
            <a:pPr algn="ctr">
              <a:buNone/>
            </a:pPr>
            <a:r>
              <a:rPr lang="ja-JP" sz="2000" b="1" dirty="0">
                <a:solidFill>
                  <a:srgbClr val="FFFFFF"/>
                </a:solidFill>
                <a:latin typeface="BIZ UDPGothic"/>
                <a:ea typeface="BIZ UDPGothic"/>
              </a:rPr>
              <a:t>6</a:t>
            </a:r>
          </a:p>
        </p:txBody>
      </p:sp>
      <p:sp>
        <p:nvSpPr>
          <p:cNvPr id="126" name="ATitle5"/>
          <p:cNvSpPr/>
          <p:nvPr/>
        </p:nvSpPr>
        <p:spPr>
          <a:xfrm>
            <a:off x="10058400" y="1645920"/>
            <a:ext cx="1737360" cy="731520"/>
          </a:xfrm>
          <a:prstGeom prst="roundRect">
            <a:avLst/>
          </a:prstGeom>
          <a:solidFill>
            <a:srgbClr val="F2F2F2"/>
          </a:solidFill>
          <a:ln w="0">
            <a:noFill/>
          </a:ln>
        </p:spPr>
        <p:txBody>
          <a:bodyPr lIns="91440" tIns="45720" rIns="91440" bIns="45720" anchor="ctr"/>
          <a:lstStyle/>
          <a:p>
            <a:pPr algn="ctr">
              <a:buNone/>
            </a:pPr>
            <a:r>
              <a:rPr lang="ja-JP" sz="1300" b="1" dirty="0">
                <a:solidFill>
                  <a:srgbClr val="1A1A1A"/>
                </a:solidFill>
                <a:latin typeface="BIZ UDPGothic"/>
                <a:ea typeface="BIZ UDPGothic"/>
              </a:rPr>
              <a:t>キックオフ実施
分析計画書提出</a:t>
            </a:r>
          </a:p>
          <a:p>
            <a:pPr algn="ctr">
              <a:buNone/>
            </a:pPr>
            <a:r>
              <a:rPr lang="ja-JP" sz="1100" dirty="0">
                <a:solidFill>
                  <a:srgbClr val="787878"/>
                </a:solidFill>
                <a:latin typeface="BIZ UDPGothic"/>
                <a:ea typeface="BIZ UDPGothic"/>
              </a:rPr>
              <a:t>第1週内に提出</a:t>
            </a:r>
          </a:p>
        </p:txBody>
      </p:sp>
      <p:sp>
        <p:nvSpPr>
          <p:cNvPr id="150" name="Closing"/>
          <p:cNvSpPr/>
          <p:nvPr/>
        </p:nvSpPr>
        <p:spPr>
          <a:xfrm>
            <a:off x="457200" y="3840480"/>
            <a:ext cx="11277600" cy="914400"/>
          </a:xfrm>
          <a:prstGeom prst="roundRect">
            <a:avLst/>
          </a:prstGeom>
          <a:solidFill>
            <a:srgbClr val="1A1A1A"/>
          </a:solidFill>
          <a:ln w="0">
            <a:noFill/>
          </a:ln>
        </p:spPr>
        <p:txBody>
          <a:bodyPr lIns="91440" tIns="45720" rIns="91440" bIns="45720" anchor="ctr"/>
          <a:lstStyle/>
          <a:p>
            <a:pPr algn="ctr">
              <a:buNone/>
            </a:pPr>
            <a:r>
              <a:rPr lang="ja-JP" sz="1600" b="1" dirty="0">
                <a:solidFill>
                  <a:srgbClr val="FFFFFF"/>
                </a:solidFill>
                <a:latin typeface="BIZ UDPGothic"/>
                <a:ea typeface="BIZ UDPGothic"/>
              </a:rPr>
              <a:t>5週間の枠内で、肝疾患有無の判定支援に向けた</a:t>
            </a:r>
          </a:p>
          <a:p>
            <a:pPr algn="ctr">
              <a:buNone/>
            </a:pPr>
            <a:r>
              <a:rPr lang="ja-JP" sz="1600" b="1" dirty="0">
                <a:solidFill>
                  <a:srgbClr val="FFFFFF"/>
                </a:solidFill>
                <a:latin typeface="BIZ UDPGothic"/>
                <a:ea typeface="BIZ UDPGothic"/>
              </a:rPr>
              <a:t>分析基盤および初期予測モデルの整備を推進する</a:t>
            </a:r>
          </a:p>
        </p:txBody>
      </p:sp>
    </p:spTree>
    <p:extLst>
      <p:ext uri="{BB962C8B-B14F-4D97-AF65-F5344CB8AC3E}">
        <p14:creationId xmlns:p14="http://schemas.microsoft.com/office/powerpoint/2010/main" val="1853066929"/>
      </p:ext>
    </p:extLst>
  </p:cSld>
  <p:clrMapOvr>
    <a:masterClrMapping/>
  </p:clrMapOvr>
</p:sld>
</file>

<file path=ppt/theme/theme1.xml><?xml version="1.0" encoding="utf-8"?>
<a:theme xmlns:a="http://schemas.openxmlformats.org/drawingml/2006/main" name="Office テーマ [1774954047067]">
  <a:themeElements>
    <a:clrScheme name="Proposal Monochrome">
      <a:dk1>
        <a:srgbClr val="1A1A1A"/>
      </a:dk1>
      <a:lt1>
        <a:srgbClr val="FFFFFF"/>
      </a:lt1>
      <a:dk2>
        <a:srgbClr val="333333"/>
      </a:dk2>
      <a:lt2>
        <a:srgbClr val="F2F2F2"/>
      </a:lt2>
      <a:accent1>
        <a:srgbClr val="8B2500"/>
      </a:accent1>
      <a:accent2>
        <a:srgbClr val="4A4A4A"/>
      </a:accent2>
      <a:accent3>
        <a:srgbClr val="787878"/>
      </a:accent3>
      <a:accent4>
        <a:srgbClr val="A0A0A0"/>
      </a:accent4>
      <a:accent5>
        <a:srgbClr val="C8C8C8"/>
      </a:accent5>
      <a:accent6>
        <a:srgbClr val="B03020"/>
      </a:accent6>
      <a:hlink>
        <a:srgbClr val="467886"/>
      </a:hlink>
      <a:folHlink>
        <a:srgbClr val="96607D"/>
      </a:folHlink>
    </a:clrScheme>
    <a:fontScheme name="BIZ 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A868544-6C02-4978-A289-C37B5B8CB930}">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32</TotalTime>
  <Words>2156</Words>
  <Application>Microsoft Office PowerPoint</Application>
  <PresentationFormat>ワイド画面</PresentationFormat>
  <Paragraphs>352</Paragraphs>
  <Slides>19</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BIZ UDPGothic</vt:lpstr>
      <vt:lpstr>游ゴシック</vt:lpstr>
      <vt:lpstr>Arial</vt:lpstr>
      <vt:lpstr>Office テーマ [1774954047067]</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7</cp:revision>
  <dcterms:created xsi:type="dcterms:W3CDTF">2026-03-31T10:45:56Z</dcterms:created>
  <dcterms:modified xsi:type="dcterms:W3CDTF">2026-04-08T03:52:53Z</dcterms:modified>
</cp:coreProperties>
</file>