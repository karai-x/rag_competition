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sldIdLst>
    <p:sldId id="258" r:id="rId2"/>
    <p:sldId id="259" r:id="rId3"/>
    <p:sldId id="260" r:id="rId4"/>
    <p:sldId id="261" r:id="rId5"/>
    <p:sldId id="262" r:id="rId6"/>
    <p:sldId id="263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3" d="100"/>
          <a:sy n="153" d="100"/>
        </p:scale>
        <p:origin x="561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ja-JP"/>
  <c:roundedCorners val="1"/>
  <c:style val="2"/>
  <c:chart>
    <c:title>
      <c:tx>
        <c:rich>
          <a:bodyPr/>
          <a:lstStyle/>
          <a:p>
            <a:pPr>
              <a:defRPr sz="1600" b="1">
                <a:solidFill>
                  <a:srgbClr val="2D2D2D"/>
                </a:solidFill>
                <a:latin typeface="BIZ UDPGothic"/>
                <a:ea typeface="BIZ UDPGothic"/>
              </a:defRPr>
            </a:pPr>
            <a:r>
              <a:rPr lang="ja-JP" sz="1600" b="1">
                <a:solidFill>
                  <a:srgbClr val="2D2D2D"/>
                </a:solidFill>
                <a:latin typeface="BIZ UDPGothic"/>
                <a:ea typeface="BIZ UDPGothic"/>
              </a:rPr>
              <a:t>中間段階 vs 最終モデル性能比較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v>中間(T04 linear)</c:v>
          </c:tx>
          <c:spPr>
            <a:solidFill>
              <a:srgbClr val="8C8C8C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>
                    <a:solidFill>
                      <a:srgbClr val="5C5C5C"/>
                    </a:solidFill>
                    <a:latin typeface="BIZ UDPGothic"/>
                    <a:ea typeface="BIZ UDPGothic"/>
                  </a:defRPr>
                </a:pPr>
                <a:endParaRPr lang="ja-JP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AUC-ROC</c:v>
              </c:pt>
              <c:pt idx="1">
                <c:v>F1-macro</c:v>
              </c:pt>
              <c:pt idx="2">
                <c:v>Accuracy</c:v>
              </c:pt>
            </c:strLit>
          </c:cat>
          <c:val>
            <c:numLit>
              <c:formatCode>General</c:formatCode>
              <c:ptCount val="3"/>
              <c:pt idx="0">
                <c:v>0.82499999999999996</c:v>
              </c:pt>
              <c:pt idx="1">
                <c:v>0.73299999999999998</c:v>
              </c:pt>
              <c:pt idx="2">
                <c:v>0.73599999999999999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6458-4730-BE21-77943B88EE71}"/>
            </c:ext>
          </c:extLst>
        </c:ser>
        <c:ser>
          <c:idx val="1"/>
          <c:order val="1"/>
          <c:tx>
            <c:v>最終(hist_gradient_boosting)</c:v>
          </c:tx>
          <c:spPr>
            <a:solidFill>
              <a:srgbClr val="A0332E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>
                    <a:solidFill>
                      <a:srgbClr val="A0332E"/>
                    </a:solidFill>
                    <a:latin typeface="BIZ UDPGothic"/>
                    <a:ea typeface="BIZ UDPGothic"/>
                  </a:defRPr>
                </a:pPr>
                <a:endParaRPr lang="ja-JP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AUC-ROC</c:v>
              </c:pt>
              <c:pt idx="1">
                <c:v>F1-macro</c:v>
              </c:pt>
              <c:pt idx="2">
                <c:v>Accuracy</c:v>
              </c:pt>
            </c:strLit>
          </c:cat>
          <c:val>
            <c:numLit>
              <c:formatCode>General</c:formatCode>
              <c:ptCount val="3"/>
              <c:pt idx="0">
                <c:v>0.90500000000000003</c:v>
              </c:pt>
              <c:pt idx="1">
                <c:v>0.82899999999999996</c:v>
              </c:pt>
              <c:pt idx="2">
                <c:v>0.83299999999999996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6458-4730-BE21-77943B88EE7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400">
                <a:solidFill>
                  <a:srgbClr val="4A4A4A"/>
                </a:solidFill>
                <a:latin typeface="BIZ UDPGothic"/>
                <a:ea typeface="BIZ UDPGothic"/>
              </a:defRPr>
            </a:pPr>
            <a:endParaRPr lang="ja-JP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ax val="1"/>
          <c:min val="0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4A4A4A"/>
                </a:solidFill>
                <a:latin typeface="BIZ UDPGothic"/>
                <a:ea typeface="BIZ UDPGothic"/>
              </a:defRPr>
            </a:pPr>
            <a:endParaRPr lang="ja-JP"/>
          </a:p>
        </c:txPr>
        <c:crossAx val="1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400">
              <a:solidFill>
                <a:srgbClr val="4A4A4A"/>
              </a:solidFill>
              <a:latin typeface="BIZ UDPGothic"/>
              <a:ea typeface="BIZ UDPGothic"/>
            </a:defRPr>
          </a:pPr>
          <a:endParaRPr lang="ja-JP"/>
        </a:p>
      </c:txPr>
    </c:legend>
    <c:plotVisOnly val="1"/>
    <c:dispBlanksAs val="zero"/>
    <c:showDLblsOverMax val="1"/>
  </c:chart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3C29B4-4299-4228-8F17-B06AD5EEE0B2}" type="datetimeFigureOut">
              <a:rPr kumimoji="1" lang="ja-JP" altLang="en-US" smtClean="0"/>
              <a:t>2026/4/1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73023D-F302-4DCB-9AF5-B753CB6AB2B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623535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3567488-030B-82C7-062A-4D01E70783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0EAB26C-1F5A-35B1-A5DD-ACF6D252C6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F2D5670-C32F-9386-006B-86125208D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B9ED1-A1CB-49D4-B42F-D07AEA76C634}" type="datetimeFigureOut">
              <a:rPr kumimoji="1" lang="ja-JP" altLang="en-US" smtClean="0"/>
              <a:t>2026/4/1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895315D-9389-CEDB-2049-C2C2914B0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83FE050-FB5A-17B2-606F-1DDF59E6A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A1C47-D22D-4AEF-BD6D-B4F785C83F1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828356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13ED6F0-E129-BDAD-FED7-BEC249CC5F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363F4F3-9820-9430-4598-9C82B11827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9320AD8-703C-9238-4006-21A0220B7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B9ED1-A1CB-49D4-B42F-D07AEA76C634}" type="datetimeFigureOut">
              <a:rPr kumimoji="1" lang="ja-JP" altLang="en-US" smtClean="0"/>
              <a:t>2026/4/1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25DF665-CFB4-3E3A-8382-EFD5D7748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322A04B-C6DB-3B90-FF0C-3D68D0505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A1C47-D22D-4AEF-BD6D-B4F785C83F1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410118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6214511-E372-0A89-F806-2D433FF41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7B51CA5-B1C9-1AB2-F1E0-3FDB3B4F93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C32A946-6042-8FAF-2114-E12939269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B9ED1-A1CB-49D4-B42F-D07AEA76C634}" type="datetimeFigureOut">
              <a:rPr kumimoji="1" lang="ja-JP" altLang="en-US" smtClean="0"/>
              <a:t>2026/4/1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12404DD-DB2E-4EEA-3435-A2EBE90A9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29CDC74-53A5-9F28-9A0C-83CC348F5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A1C47-D22D-4AEF-BD6D-B4F785C83F1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933523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8344E60-2AFA-A28C-55DB-14B083B72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C29F413-7C5F-1F0F-E3AA-C8337DA8A1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576035C-4D7F-22A9-9208-6AD938B797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535391F-5A19-7E04-B1A2-8F3B2EAD3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B9ED1-A1CB-49D4-B42F-D07AEA76C634}" type="datetimeFigureOut">
              <a:rPr kumimoji="1" lang="ja-JP" altLang="en-US" smtClean="0"/>
              <a:t>2026/4/1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992DBD1-8C7B-B90B-45D5-322B8AFA6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AB6F2C9-F1AD-1313-BB70-D455FE90E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A1C47-D22D-4AEF-BD6D-B4F785C83F1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409109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8EA5B04-42E4-A838-7986-95BA5DD3E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115C079-7F1C-3560-1A0C-FFBFFB7B3D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5E3005C-6957-45DB-7F82-6FC26338C4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1443294D-951E-16D0-E583-937B88F607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4FF49A79-AF87-F727-5759-FC04990693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98E893F7-5AC8-8598-D4CF-9096E7FCC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B9ED1-A1CB-49D4-B42F-D07AEA76C634}" type="datetimeFigureOut">
              <a:rPr kumimoji="1" lang="ja-JP" altLang="en-US" smtClean="0"/>
              <a:t>2026/4/1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C96514B1-E9E7-8337-3A34-9CD807468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F1DB4E03-EE17-9A79-24B6-747E4DE56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A1C47-D22D-4AEF-BD6D-B4F785C83F1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28658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B051001-0AAD-0779-0C13-31FB85D64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87C73525-E890-9F8E-DC75-64303CF6B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B9ED1-A1CB-49D4-B42F-D07AEA76C634}" type="datetimeFigureOut">
              <a:rPr kumimoji="1" lang="ja-JP" altLang="en-US" smtClean="0"/>
              <a:t>2026/4/1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98400DC5-D4BC-B7A9-E71D-0078036F2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3A350A5-C156-C4F5-B6FA-AEADF6C3F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A1C47-D22D-4AEF-BD6D-B4F785C83F1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037666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1AE58947-561D-8ECE-3C5C-B05CE9496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B9ED1-A1CB-49D4-B42F-D07AEA76C634}" type="datetimeFigureOut">
              <a:rPr kumimoji="1" lang="ja-JP" altLang="en-US" smtClean="0"/>
              <a:t>2026/4/1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D84EFE93-8FF1-6522-7998-6839A779D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01507BA-841E-DAA6-A68B-2B801D53A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A1C47-D22D-4AEF-BD6D-B4F785C83F1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152184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CADA8DD-C926-63A4-B7C0-FBF467E97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DD6816C-BC4C-A199-511C-7B5820A8B3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4EDD147-E34A-02C5-C99C-4F6BA7AE7D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6899CCC-5515-7D8D-A3C9-ED65A78C6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B9ED1-A1CB-49D4-B42F-D07AEA76C634}" type="datetimeFigureOut">
              <a:rPr kumimoji="1" lang="ja-JP" altLang="en-US" smtClean="0"/>
              <a:t>2026/4/1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7971903-570C-A1F2-B37C-FC9685671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AEAA1C2-00D5-EC80-9C2A-B0A518922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A1C47-D22D-4AEF-BD6D-B4F785C83F1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161647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A128533-6E83-3155-1CDC-C5F796A55E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5882C754-0B2A-D1E8-6F65-F84EDB6BF4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258B098-F81B-D51A-AD5A-C8408E2E0A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2A3F902-D623-95B6-FDC2-728CE64F9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B9ED1-A1CB-49D4-B42F-D07AEA76C634}" type="datetimeFigureOut">
              <a:rPr kumimoji="1" lang="ja-JP" altLang="en-US" smtClean="0"/>
              <a:t>2026/4/1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27037CB-C79D-DBEB-12AA-F6D2351B3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B1E4028-6E9A-76E3-06E7-0D8A4D368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A1C47-D22D-4AEF-BD6D-B4F785C83F1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765701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165A11E-A64A-0C0D-4F77-CABD30392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D5FE284-7AA3-E488-B38C-49B2D44BF2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886FEB1-6CDB-5FA5-4EBD-7159BC6A3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B9ED1-A1CB-49D4-B42F-D07AEA76C634}" type="datetimeFigureOut">
              <a:rPr kumimoji="1" lang="ja-JP" altLang="en-US" smtClean="0"/>
              <a:t>2026/4/1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6EE7FA0-FBA8-37B3-81B8-BA42348D7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C4C0329-36AF-E639-D062-098B34E25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A1C47-D22D-4AEF-BD6D-B4F785C83F1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820783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FD71FD0D-F232-4BD2-6BCC-89EE55F5AA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17B8B7D-D749-4877-6DC3-566CFD7D4A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90D2A20-7FCB-B71F-0056-7AB5226A9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B9ED1-A1CB-49D4-B42F-D07AEA76C634}" type="datetimeFigureOut">
              <a:rPr kumimoji="1" lang="ja-JP" altLang="en-US" smtClean="0"/>
              <a:t>2026/4/1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B4B2882-682F-3881-494D-123AA062C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637D5F9-D1CF-C45C-EC98-0C7255CD4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A1C47-D22D-4AEF-BD6D-B4F785C83F1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082041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3E9DECB2-4857-EFB9-E327-1500E0DF6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45F46EE-A6EA-4E32-ACC6-93DFF18725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A486562-B615-C2E2-E0BE-4AEDA265C4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5B9ED1-A1CB-49D4-B42F-D07AEA76C634}" type="datetimeFigureOut">
              <a:rPr kumimoji="1" lang="ja-JP" altLang="en-US" smtClean="0"/>
              <a:t>2026/4/1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9F418E7-30BE-3579-C406-CC9717167D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C5081A4-B545-9EDB-1AE4-45807E7A81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0A1C47-D22D-4AEF-BD6D-B4F785C83F1E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900" name="AccentBar"/>
          <p:cNvSpPr/>
          <p:nvPr userDrawn="1"/>
        </p:nvSpPr>
        <p:spPr>
          <a:xfrm>
            <a:off x="0" y="6705600"/>
            <a:ext cx="12192000" cy="152400"/>
          </a:xfrm>
          <a:prstGeom prst="rect">
            <a:avLst/>
          </a:prstGeom>
          <a:solidFill>
            <a:srgbClr val="A0332E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901" name="TopAccentLine"/>
          <p:cNvSpPr/>
          <p:nvPr userDrawn="1"/>
        </p:nvSpPr>
        <p:spPr>
          <a:xfrm>
            <a:off x="457200" y="1143000"/>
            <a:ext cx="11277600" cy="0"/>
          </a:xfrm>
          <a:prstGeom prst="line">
            <a:avLst/>
          </a:prstGeom>
          <a:ln w="12700">
            <a:solidFill>
              <a:srgbClr val="D4CFC8"/>
            </a:solidFill>
          </a:ln>
        </p:spPr>
        <p:txBody>
          <a:bodyPr/>
          <a:lstStyle/>
          <a:p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38450314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rgbClr val="2D2D2D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rgbClr val="4A4A4A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rgbClr val="4A4A4A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rgbClr val="4A4A4A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rgbClr val="4A4A4A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rgbClr val="4A4A4A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rgbClr val="4A4A4A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rgbClr val="4A4A4A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rgbClr val="4A4A4A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rgbClr val="4A4A4A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rgbClr val="4A4A4A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B2F58AB5-00B6-42B3-9EC4-C4372D94FAB6}"/>
              </a:ext>
            </a:extLst>
          </p:cNvPr>
          <p:cNvSpPr/>
          <p:nvPr/>
        </p:nvSpPr>
        <p:spPr>
          <a:xfrm>
            <a:off x="0" y="0"/>
            <a:ext cx="4064000" cy="6858000"/>
          </a:xfrm>
          <a:prstGeom prst="rect">
            <a:avLst/>
          </a:prstGeom>
          <a:solidFill>
            <a:srgbClr val="A033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BE994D3-82B6-4D04-AF2B-20A110E10814}"/>
              </a:ext>
            </a:extLst>
          </p:cNvPr>
          <p:cNvSpPr txBox="1"/>
          <p:nvPr/>
        </p:nvSpPr>
        <p:spPr>
          <a:xfrm>
            <a:off x="304800" y="1524000"/>
            <a:ext cx="3556000" cy="152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TW" altLang="en-US" sz="3000" b="1">
                <a:solidFill>
                  <a:srgbClr val="FFFFFF"/>
                </a:solidFill>
                <a:latin typeface="BIZ UDPGothic"/>
                <a:ea typeface="BIZ UDPGothic"/>
              </a:rPr>
              <a:t>最終分析報告書</a:t>
            </a:r>
            <a:endParaRPr lang="ja-JP" altLang="en-US" sz="3000" b="1">
              <a:solidFill>
                <a:srgbClr val="FFFFFF"/>
              </a:solidFill>
              <a:latin typeface="BIZ UDPGothic"/>
              <a:ea typeface="BIZ UDPGothic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F5C7D30-217A-4C4F-8E6F-7BAA8B2E42BE}"/>
              </a:ext>
            </a:extLst>
          </p:cNvPr>
          <p:cNvSpPr txBox="1"/>
          <p:nvPr/>
        </p:nvSpPr>
        <p:spPr>
          <a:xfrm>
            <a:off x="4572000" y="2032000"/>
            <a:ext cx="711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2400" b="1">
                <a:solidFill>
                  <a:srgbClr val="2D2D2D"/>
                </a:solidFill>
                <a:latin typeface="BIZ UDPGothic"/>
                <a:ea typeface="BIZ UDPGothic"/>
              </a:rPr>
              <a:t>肝疾患有無予測分析プロジェクト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BC755A2-4750-4894-88FF-D9CA6B6FAC0B}"/>
              </a:ext>
            </a:extLst>
          </p:cNvPr>
          <p:cNvSpPr txBox="1"/>
          <p:nvPr/>
        </p:nvSpPr>
        <p:spPr>
          <a:xfrm>
            <a:off x="4572000" y="2921000"/>
            <a:ext cx="7112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600">
                <a:solidFill>
                  <a:srgbClr val="4A4A4A"/>
                </a:solidFill>
                <a:latin typeface="BIZ UDPGothic"/>
                <a:ea typeface="BIZ UDPGothic"/>
              </a:rPr>
              <a:t>医療法人社団 恒一会 かえで総合病院 御中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8CB93100-185E-4719-9C52-05A78552F437}"/>
              </a:ext>
            </a:extLst>
          </p:cNvPr>
          <p:cNvSpPr txBox="1"/>
          <p:nvPr/>
        </p:nvSpPr>
        <p:spPr>
          <a:xfrm>
            <a:off x="4572000" y="3683000"/>
            <a:ext cx="7112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600">
                <a:solidFill>
                  <a:srgbClr val="4A4A4A"/>
                </a:solidFill>
                <a:latin typeface="BIZ UDPGothic"/>
                <a:ea typeface="BIZ UDPGothic"/>
              </a:rPr>
              <a:t>株式会社データアステル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ED6952F-2C4F-4E3D-9172-6C3806133C9E}"/>
              </a:ext>
            </a:extLst>
          </p:cNvPr>
          <p:cNvSpPr txBox="1"/>
          <p:nvPr/>
        </p:nvSpPr>
        <p:spPr>
          <a:xfrm>
            <a:off x="4572000" y="4572000"/>
            <a:ext cx="71120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TW" altLang="en-US" sz="1400">
                <a:solidFill>
                  <a:srgbClr val="5C5C5C"/>
                </a:solidFill>
                <a:latin typeface="BIZ UDPGothic"/>
                <a:ea typeface="BIZ UDPGothic"/>
              </a:rPr>
              <a:t>契約期間：</a:t>
            </a:r>
            <a:r>
              <a:rPr lang="en-US" altLang="zh-TW" sz="1400">
                <a:solidFill>
                  <a:srgbClr val="5C5C5C"/>
                </a:solidFill>
                <a:latin typeface="BIZ UDPGothic"/>
                <a:ea typeface="BIZ UDPGothic"/>
              </a:rPr>
              <a:t>2025</a:t>
            </a:r>
            <a:r>
              <a:rPr lang="zh-TW" altLang="en-US" sz="1400">
                <a:solidFill>
                  <a:srgbClr val="5C5C5C"/>
                </a:solidFill>
                <a:latin typeface="BIZ UDPGothic"/>
                <a:ea typeface="BIZ UDPGothic"/>
              </a:rPr>
              <a:t>年</a:t>
            </a:r>
            <a:r>
              <a:rPr lang="en-US" altLang="zh-TW" sz="1400">
                <a:solidFill>
                  <a:srgbClr val="5C5C5C"/>
                </a:solidFill>
                <a:latin typeface="BIZ UDPGothic"/>
                <a:ea typeface="BIZ UDPGothic"/>
              </a:rPr>
              <a:t>9</a:t>
            </a:r>
            <a:r>
              <a:rPr lang="zh-TW" altLang="en-US" sz="1400">
                <a:solidFill>
                  <a:srgbClr val="5C5C5C"/>
                </a:solidFill>
                <a:latin typeface="BIZ UDPGothic"/>
                <a:ea typeface="BIZ UDPGothic"/>
              </a:rPr>
              <a:t>月</a:t>
            </a:r>
            <a:r>
              <a:rPr lang="en-US" altLang="zh-TW" sz="1400">
                <a:solidFill>
                  <a:srgbClr val="5C5C5C"/>
                </a:solidFill>
                <a:latin typeface="BIZ UDPGothic"/>
                <a:ea typeface="BIZ UDPGothic"/>
              </a:rPr>
              <a:t>2</a:t>
            </a:r>
            <a:r>
              <a:rPr lang="zh-TW" altLang="en-US" sz="1400">
                <a:solidFill>
                  <a:srgbClr val="5C5C5C"/>
                </a:solidFill>
                <a:latin typeface="BIZ UDPGothic"/>
                <a:ea typeface="BIZ UDPGothic"/>
              </a:rPr>
              <a:t>日 開始（</a:t>
            </a:r>
            <a:r>
              <a:rPr lang="en-US" altLang="zh-TW" sz="1400">
                <a:solidFill>
                  <a:srgbClr val="5C5C5C"/>
                </a:solidFill>
                <a:latin typeface="BIZ UDPGothic"/>
                <a:ea typeface="BIZ UDPGothic"/>
              </a:rPr>
              <a:t>5</a:t>
            </a:r>
            <a:r>
              <a:rPr lang="zh-TW" altLang="en-US" sz="1400">
                <a:solidFill>
                  <a:srgbClr val="5C5C5C"/>
                </a:solidFill>
                <a:latin typeface="BIZ UDPGothic"/>
                <a:ea typeface="BIZ UDPGothic"/>
              </a:rPr>
              <a:t>週間）
実績工数：</a:t>
            </a:r>
            <a:r>
              <a:rPr lang="en-US" altLang="zh-TW" sz="1400">
                <a:solidFill>
                  <a:srgbClr val="5C5C5C"/>
                </a:solidFill>
                <a:latin typeface="BIZ UDPGothic"/>
                <a:ea typeface="BIZ UDPGothic"/>
              </a:rPr>
              <a:t>140</a:t>
            </a:r>
            <a:r>
              <a:rPr lang="zh-TW" altLang="en-US" sz="1400">
                <a:solidFill>
                  <a:srgbClr val="5C5C5C"/>
                </a:solidFill>
                <a:latin typeface="BIZ UDPGothic"/>
                <a:ea typeface="BIZ UDPGothic"/>
              </a:rPr>
              <a:t>時間
最終請求金額（税込）：</a:t>
            </a:r>
            <a:r>
              <a:rPr lang="en-US" altLang="zh-TW" sz="1400">
                <a:solidFill>
                  <a:srgbClr val="5C5C5C"/>
                </a:solidFill>
                <a:latin typeface="BIZ UDPGothic"/>
                <a:ea typeface="BIZ UDPGothic"/>
              </a:rPr>
              <a:t>3,850,000</a:t>
            </a:r>
            <a:r>
              <a:rPr lang="zh-TW" altLang="en-US" sz="1400">
                <a:solidFill>
                  <a:srgbClr val="5C5C5C"/>
                </a:solidFill>
                <a:latin typeface="BIZ UDPGothic"/>
                <a:ea typeface="BIZ UDPGothic"/>
              </a:rPr>
              <a:t>円</a:t>
            </a:r>
            <a:endParaRPr lang="ja-JP" altLang="en-US" sz="1400">
              <a:solidFill>
                <a:srgbClr val="5C5C5C"/>
              </a:solidFill>
              <a:latin typeface="BIZ UDPGothic"/>
              <a:ea typeface="BIZ UDPGothic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EE1C8423-145B-421A-9F3B-ADA8C241C1D1}"/>
              </a:ext>
            </a:extLst>
          </p:cNvPr>
          <p:cNvSpPr/>
          <p:nvPr/>
        </p:nvSpPr>
        <p:spPr>
          <a:xfrm>
            <a:off x="4572000" y="4318000"/>
            <a:ext cx="25400" cy="1524000"/>
          </a:xfrm>
          <a:prstGeom prst="rect">
            <a:avLst/>
          </a:prstGeom>
          <a:solidFill>
            <a:srgbClr val="D4CF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7677787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B5171E6-5DC0-4536-9978-5C4D24C0F82F}"/>
              </a:ext>
            </a:extLst>
          </p:cNvPr>
          <p:cNvSpPr txBox="1"/>
          <p:nvPr/>
        </p:nvSpPr>
        <p:spPr>
          <a:xfrm>
            <a:off x="457200" y="266700"/>
            <a:ext cx="112776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2600" b="1">
                <a:solidFill>
                  <a:srgbClr val="2D2D2D"/>
                </a:solidFill>
                <a:latin typeface="BIZ UDPGothic"/>
                <a:ea typeface="BIZ UDPGothic"/>
              </a:rPr>
              <a:t>1. </a:t>
            </a:r>
            <a:r>
              <a:rPr lang="ja-JP" altLang="en-US" sz="2600" b="1">
                <a:solidFill>
                  <a:srgbClr val="2D2D2D"/>
                </a:solidFill>
                <a:latin typeface="BIZ UDPGothic"/>
                <a:ea typeface="BIZ UDPGothic"/>
              </a:rPr>
              <a:t>エグゼクティブサマリ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88CE491C-CE7A-407E-AD9E-B4184E1E7A44}"/>
              </a:ext>
            </a:extLst>
          </p:cNvPr>
          <p:cNvSpPr/>
          <p:nvPr/>
        </p:nvSpPr>
        <p:spPr>
          <a:xfrm>
            <a:off x="457200" y="1016000"/>
            <a:ext cx="3505200" cy="457200"/>
          </a:xfrm>
          <a:prstGeom prst="rect">
            <a:avLst/>
          </a:prstGeom>
          <a:solidFill>
            <a:srgbClr val="A033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ja-JP" altLang="en-US" sz="1400" b="1">
                <a:solidFill>
                  <a:srgbClr val="FFFFFF"/>
                </a:solidFill>
                <a:latin typeface="BIZ UDPGothic"/>
                <a:ea typeface="BIZ UDPGothic"/>
              </a:rPr>
              <a:t>ビジネス成果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22B99092-2101-4B69-8B24-BECEC268C9B5}"/>
              </a:ext>
            </a:extLst>
          </p:cNvPr>
          <p:cNvSpPr/>
          <p:nvPr/>
        </p:nvSpPr>
        <p:spPr>
          <a:xfrm>
            <a:off x="457200" y="1473200"/>
            <a:ext cx="3505200" cy="2032000"/>
          </a:xfrm>
          <a:prstGeom prst="rect">
            <a:avLst/>
          </a:prstGeom>
          <a:solidFill>
            <a:srgbClr val="F7F6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 anchorCtr="0"/>
          <a:lstStyle/>
          <a:p>
            <a:pPr algn="l"/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肝疾患リスク把握を支援する分析基盤と運用判断材料を納品。業務での閾値運用案と導入前検証要件を提示。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6017299C-4531-43EC-AC33-1D0150D0902A}"/>
              </a:ext>
            </a:extLst>
          </p:cNvPr>
          <p:cNvSpPr/>
          <p:nvPr/>
        </p:nvSpPr>
        <p:spPr>
          <a:xfrm>
            <a:off x="4267200" y="1016000"/>
            <a:ext cx="3505200" cy="457200"/>
          </a:xfrm>
          <a:prstGeom prst="rect">
            <a:avLst/>
          </a:prstGeom>
          <a:solidFill>
            <a:srgbClr val="5C5C5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ja-JP" altLang="en-US" sz="1400" b="1">
                <a:solidFill>
                  <a:srgbClr val="FFFFFF"/>
                </a:solidFill>
                <a:latin typeface="BIZ UDPGothic"/>
                <a:ea typeface="BIZ UDPGothic"/>
              </a:rPr>
              <a:t>分析成果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6843A767-A402-483F-A504-462F094C31FD}"/>
              </a:ext>
            </a:extLst>
          </p:cNvPr>
          <p:cNvSpPr/>
          <p:nvPr/>
        </p:nvSpPr>
        <p:spPr>
          <a:xfrm>
            <a:off x="4267200" y="1473200"/>
            <a:ext cx="3505200" cy="2032000"/>
          </a:xfrm>
          <a:prstGeom prst="rect">
            <a:avLst/>
          </a:prstGeom>
          <a:solidFill>
            <a:srgbClr val="F7F6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 anchorCtr="0"/>
          <a:lstStyle/>
          <a:p>
            <a:pPr algn="l"/>
            <a:r>
              <a:rPr lang="ja-JP" altLang="en-US" sz="1400" dirty="0">
                <a:solidFill>
                  <a:srgbClr val="4A4A4A"/>
                </a:solidFill>
                <a:latin typeface="BIZ UDPGothic"/>
                <a:ea typeface="BIZ UDPGothic"/>
              </a:rPr>
              <a:t>最終モデル：</a:t>
            </a:r>
            <a:r>
              <a:rPr lang="en-US" altLang="ja-JP" sz="1400" dirty="0" err="1">
                <a:solidFill>
                  <a:srgbClr val="4A4A4A"/>
                </a:solidFill>
                <a:latin typeface="BIZ UDPGothic"/>
                <a:ea typeface="BIZ UDPGothic"/>
              </a:rPr>
              <a:t>hist_gradient_boosting</a:t>
            </a:r>
            <a:r>
              <a:rPr lang="ja-JP" altLang="en-US" sz="1400" dirty="0">
                <a:solidFill>
                  <a:srgbClr val="4A4A4A"/>
                </a:solidFill>
                <a:latin typeface="BIZ UDPGothic"/>
                <a:ea typeface="BIZ UDPGothic"/>
              </a:rPr>
              <a:t>（特徴量</a:t>
            </a:r>
            <a:r>
              <a:rPr lang="en-US" altLang="ja-JP" sz="1400" dirty="0">
                <a:solidFill>
                  <a:srgbClr val="4A4A4A"/>
                </a:solidFill>
                <a:latin typeface="BIZ UDPGothic"/>
                <a:ea typeface="BIZ UDPGothic"/>
              </a:rPr>
              <a:t>10</a:t>
            </a:r>
            <a:r>
              <a:rPr lang="ja-JP" altLang="en-US" sz="1400" dirty="0">
                <a:solidFill>
                  <a:srgbClr val="4A4A4A"/>
                </a:solidFill>
                <a:latin typeface="BIZ UDPGothic"/>
                <a:ea typeface="BIZ UDPGothic"/>
              </a:rPr>
              <a:t>）
</a:t>
            </a:r>
            <a:r>
              <a:rPr lang="en-US" altLang="ja-JP" sz="1400" dirty="0">
                <a:solidFill>
                  <a:srgbClr val="4A4A4A"/>
                </a:solidFill>
                <a:latin typeface="BIZ UDPGothic"/>
                <a:ea typeface="BIZ UDPGothic"/>
              </a:rPr>
              <a:t>AUC-ROC = 0.905 / Accuracy = 0.833
F1-macro = 0.829
</a:t>
            </a:r>
            <a:r>
              <a:rPr lang="ja-JP" altLang="en-US" sz="1400" dirty="0">
                <a:solidFill>
                  <a:srgbClr val="4A4A4A"/>
                </a:solidFill>
                <a:latin typeface="BIZ UDPGothic"/>
                <a:ea typeface="BIZ UDPGothic"/>
              </a:rPr>
              <a:t>中間段階の線形系試行（</a:t>
            </a:r>
            <a:r>
              <a:rPr lang="en-US" altLang="ja-JP" sz="1400" dirty="0">
                <a:solidFill>
                  <a:srgbClr val="4A4A4A"/>
                </a:solidFill>
                <a:latin typeface="BIZ UDPGothic"/>
                <a:ea typeface="BIZ UDPGothic"/>
              </a:rPr>
              <a:t>T04</a:t>
            </a:r>
            <a:r>
              <a:rPr lang="ja-JP" altLang="en-US" sz="1400" dirty="0">
                <a:solidFill>
                  <a:srgbClr val="4A4A4A"/>
                </a:solidFill>
                <a:latin typeface="BIZ UDPGothic"/>
                <a:ea typeface="BIZ UDPGothic"/>
              </a:rPr>
              <a:t>等）から性能改善を確認。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FC976656-73FE-4FC9-82D2-02B84AFFA606}"/>
              </a:ext>
            </a:extLst>
          </p:cNvPr>
          <p:cNvSpPr/>
          <p:nvPr/>
        </p:nvSpPr>
        <p:spPr>
          <a:xfrm>
            <a:off x="8077200" y="1016000"/>
            <a:ext cx="3505200" cy="457200"/>
          </a:xfrm>
          <a:prstGeom prst="rect">
            <a:avLst/>
          </a:prstGeom>
          <a:solidFill>
            <a:srgbClr val="38383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ja-JP" altLang="en-US" sz="1400" b="1">
                <a:solidFill>
                  <a:srgbClr val="FFFFFF"/>
                </a:solidFill>
                <a:latin typeface="BIZ UDPGothic"/>
                <a:ea typeface="BIZ UDPGothic"/>
              </a:rPr>
              <a:t>契約・商流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510C6E39-BC31-469A-BC16-270BB354BC64}"/>
              </a:ext>
            </a:extLst>
          </p:cNvPr>
          <p:cNvSpPr/>
          <p:nvPr/>
        </p:nvSpPr>
        <p:spPr>
          <a:xfrm>
            <a:off x="8077200" y="1473200"/>
            <a:ext cx="3505200" cy="2032000"/>
          </a:xfrm>
          <a:prstGeom prst="rect">
            <a:avLst/>
          </a:prstGeom>
          <a:solidFill>
            <a:srgbClr val="F7F6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 anchorCtr="0"/>
          <a:lstStyle/>
          <a:p>
            <a:pPr algn="l"/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料金体系：</a:t>
            </a:r>
            <a:r>
              <a:rPr lang="en-US" altLang="ja-JP" sz="1400">
                <a:solidFill>
                  <a:srgbClr val="4A4A4A"/>
                </a:solidFill>
                <a:latin typeface="BIZ UDPGothic"/>
                <a:ea typeface="BIZ UDPGothic"/>
              </a:rPr>
              <a:t>Time &amp; Materials
</a:t>
            </a:r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実績工数：</a:t>
            </a:r>
            <a:r>
              <a:rPr lang="en-US" altLang="ja-JP" sz="1400">
                <a:solidFill>
                  <a:srgbClr val="4A4A4A"/>
                </a:solidFill>
                <a:latin typeface="BIZ UDPGothic"/>
                <a:ea typeface="BIZ UDPGothic"/>
              </a:rPr>
              <a:t>140</a:t>
            </a:r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時間
最終請求金額（税込）：</a:t>
            </a:r>
            <a:r>
              <a:rPr lang="en-US" altLang="ja-JP" sz="1400">
                <a:solidFill>
                  <a:srgbClr val="4A4A4A"/>
                </a:solidFill>
                <a:latin typeface="BIZ UDPGothic"/>
                <a:ea typeface="BIZ UDPGothic"/>
              </a:rPr>
              <a:t>3,850,000</a:t>
            </a:r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円
（税率</a:t>
            </a:r>
            <a:r>
              <a:rPr lang="en-US" altLang="ja-JP" sz="1400">
                <a:solidFill>
                  <a:srgbClr val="4A4A4A"/>
                </a:solidFill>
                <a:latin typeface="BIZ UDPGothic"/>
                <a:ea typeface="BIZ UDPGothic"/>
              </a:rPr>
              <a:t>10%</a:t>
            </a:r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、検収完了に基づく精算）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76481624-6AA1-442D-A3C0-C40F3496631E}"/>
              </a:ext>
            </a:extLst>
          </p:cNvPr>
          <p:cNvSpPr txBox="1"/>
          <p:nvPr/>
        </p:nvSpPr>
        <p:spPr>
          <a:xfrm>
            <a:off x="457200" y="3810000"/>
            <a:ext cx="112776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400">
                <a:solidFill>
                  <a:srgbClr val="8C8C8C"/>
                </a:solidFill>
                <a:latin typeface="BIZ UDPGothic"/>
                <a:ea typeface="BIZ UDPGothic"/>
              </a:rPr>
              <a:t>本報告は、提案書・契約書・スケジュール・議事録（</a:t>
            </a:r>
            <a:r>
              <a:rPr lang="en-US" altLang="ja-JP" sz="1400">
                <a:solidFill>
                  <a:srgbClr val="8C8C8C"/>
                </a:solidFill>
                <a:latin typeface="BIZ UDPGothic"/>
                <a:ea typeface="BIZ UDPGothic"/>
              </a:rPr>
              <a:t>M01/M02</a:t>
            </a:r>
            <a:r>
              <a:rPr lang="ja-JP" altLang="en-US" sz="1400">
                <a:solidFill>
                  <a:srgbClr val="8C8C8C"/>
                </a:solidFill>
                <a:latin typeface="BIZ UDPGothic"/>
                <a:ea typeface="BIZ UDPGothic"/>
              </a:rPr>
              <a:t>）・中間報告・分析出力との整合を保ち、事実と仮定を明確に区分して記載している。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CB92D2CC-2241-4CCF-B0B7-077EBA3E3D75}"/>
              </a:ext>
            </a:extLst>
          </p:cNvPr>
          <p:cNvSpPr txBox="1"/>
          <p:nvPr/>
        </p:nvSpPr>
        <p:spPr>
          <a:xfrm>
            <a:off x="457200" y="4572000"/>
            <a:ext cx="112776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TW" altLang="en-US" sz="1400" b="1">
                <a:solidFill>
                  <a:srgbClr val="A0332E"/>
                </a:solidFill>
                <a:latin typeface="BIZ UDPGothic"/>
                <a:ea typeface="BIZ UDPGothic"/>
              </a:rPr>
              <a:t>主要指標（内部検証値）</a:t>
            </a:r>
            <a:endParaRPr lang="ja-JP" altLang="en-US" sz="1400" b="1">
              <a:solidFill>
                <a:srgbClr val="A0332E"/>
              </a:solidFill>
              <a:latin typeface="BIZ UDPGothic"/>
              <a:ea typeface="BIZ UDPGothic"/>
            </a:endParaRP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C4A83DB1-B5F1-4DAC-B2C0-1C75B881BE4F}"/>
              </a:ext>
            </a:extLst>
          </p:cNvPr>
          <p:cNvSpPr/>
          <p:nvPr/>
        </p:nvSpPr>
        <p:spPr>
          <a:xfrm>
            <a:off x="457200" y="5016500"/>
            <a:ext cx="2540000" cy="1016000"/>
          </a:xfrm>
          <a:prstGeom prst="roundRect">
            <a:avLst/>
          </a:prstGeom>
          <a:solidFill>
            <a:srgbClr val="F2F0E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E61A7329-3D04-4D9F-B64B-5C85D1165FFB}"/>
              </a:ext>
            </a:extLst>
          </p:cNvPr>
          <p:cNvSpPr txBox="1"/>
          <p:nvPr/>
        </p:nvSpPr>
        <p:spPr>
          <a:xfrm>
            <a:off x="457200" y="5054600"/>
            <a:ext cx="2540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2800" b="1">
                <a:solidFill>
                  <a:srgbClr val="A0332E"/>
                </a:solidFill>
                <a:latin typeface="BIZ UDPGothic"/>
                <a:ea typeface="BIZ UDPGothic"/>
              </a:rPr>
              <a:t>0.905</a:t>
            </a:r>
            <a:endParaRPr lang="ja-JP" altLang="en-US" sz="2800" b="1">
              <a:solidFill>
                <a:srgbClr val="A0332E"/>
              </a:solidFill>
              <a:latin typeface="BIZ UDPGothic"/>
              <a:ea typeface="BIZ UDPGothic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51D698C3-1131-48A4-ADAC-7CB3FACBDDFA}"/>
              </a:ext>
            </a:extLst>
          </p:cNvPr>
          <p:cNvSpPr txBox="1"/>
          <p:nvPr/>
        </p:nvSpPr>
        <p:spPr>
          <a:xfrm>
            <a:off x="457200" y="5588000"/>
            <a:ext cx="2540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1400">
                <a:solidFill>
                  <a:srgbClr val="5C5C5C"/>
                </a:solidFill>
                <a:latin typeface="BIZ UDPGothic"/>
                <a:ea typeface="BIZ UDPGothic"/>
              </a:rPr>
              <a:t>AUC-ROC</a:t>
            </a:r>
            <a:endParaRPr lang="ja-JP" altLang="en-US" sz="1400">
              <a:solidFill>
                <a:srgbClr val="5C5C5C"/>
              </a:solidFill>
              <a:latin typeface="BIZ UDPGothic"/>
              <a:ea typeface="BIZ UDPGothic"/>
            </a:endParaRPr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D021D52E-42D3-4D37-BE8D-F250DC848C38}"/>
              </a:ext>
            </a:extLst>
          </p:cNvPr>
          <p:cNvSpPr/>
          <p:nvPr/>
        </p:nvSpPr>
        <p:spPr>
          <a:xfrm>
            <a:off x="3251200" y="5016500"/>
            <a:ext cx="2540000" cy="1016000"/>
          </a:xfrm>
          <a:prstGeom prst="roundRect">
            <a:avLst/>
          </a:prstGeom>
          <a:solidFill>
            <a:srgbClr val="F2F0E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9938522-80AA-4664-A15B-315CCEA90D4B}"/>
              </a:ext>
            </a:extLst>
          </p:cNvPr>
          <p:cNvSpPr txBox="1"/>
          <p:nvPr/>
        </p:nvSpPr>
        <p:spPr>
          <a:xfrm>
            <a:off x="3251200" y="5054600"/>
            <a:ext cx="2540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2800" b="1">
                <a:solidFill>
                  <a:srgbClr val="A0332E"/>
                </a:solidFill>
                <a:latin typeface="BIZ UDPGothic"/>
                <a:ea typeface="BIZ UDPGothic"/>
              </a:rPr>
              <a:t>0.833</a:t>
            </a:r>
            <a:endParaRPr lang="ja-JP" altLang="en-US" sz="2800" b="1">
              <a:solidFill>
                <a:srgbClr val="A0332E"/>
              </a:solidFill>
              <a:latin typeface="BIZ UDPGothic"/>
              <a:ea typeface="BIZ UDPGothic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613810BB-13C3-4A24-8015-185F0A3FA430}"/>
              </a:ext>
            </a:extLst>
          </p:cNvPr>
          <p:cNvSpPr txBox="1"/>
          <p:nvPr/>
        </p:nvSpPr>
        <p:spPr>
          <a:xfrm>
            <a:off x="3251200" y="5588000"/>
            <a:ext cx="2540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1400">
                <a:solidFill>
                  <a:srgbClr val="5C5C5C"/>
                </a:solidFill>
                <a:latin typeface="BIZ UDPGothic"/>
                <a:ea typeface="BIZ UDPGothic"/>
              </a:rPr>
              <a:t>Accuracy</a:t>
            </a:r>
            <a:endParaRPr lang="ja-JP" altLang="en-US" sz="1400">
              <a:solidFill>
                <a:srgbClr val="5C5C5C"/>
              </a:solidFill>
              <a:latin typeface="BIZ UDPGothic"/>
              <a:ea typeface="BIZ UDPGothic"/>
            </a:endParaRPr>
          </a:p>
        </p:txBody>
      </p:sp>
      <p:sp>
        <p:nvSpPr>
          <p:cNvPr id="17" name="四角形: 角を丸くする 16">
            <a:extLst>
              <a:ext uri="{FF2B5EF4-FFF2-40B4-BE49-F238E27FC236}">
                <a16:creationId xmlns:a16="http://schemas.microsoft.com/office/drawing/2014/main" id="{7E8C49F1-93DC-42DB-9BFA-2B4FF5D8D58A}"/>
              </a:ext>
            </a:extLst>
          </p:cNvPr>
          <p:cNvSpPr/>
          <p:nvPr/>
        </p:nvSpPr>
        <p:spPr>
          <a:xfrm>
            <a:off x="6045200" y="5016500"/>
            <a:ext cx="2540000" cy="1016000"/>
          </a:xfrm>
          <a:prstGeom prst="roundRect">
            <a:avLst/>
          </a:prstGeom>
          <a:solidFill>
            <a:srgbClr val="F2F0E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F6FACB2D-21E1-49CA-97E6-0D220A63B267}"/>
              </a:ext>
            </a:extLst>
          </p:cNvPr>
          <p:cNvSpPr txBox="1"/>
          <p:nvPr/>
        </p:nvSpPr>
        <p:spPr>
          <a:xfrm>
            <a:off x="6045200" y="5054600"/>
            <a:ext cx="2540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2800" b="1">
                <a:solidFill>
                  <a:srgbClr val="A0332E"/>
                </a:solidFill>
                <a:latin typeface="BIZ UDPGothic"/>
                <a:ea typeface="BIZ UDPGothic"/>
              </a:rPr>
              <a:t>0.829</a:t>
            </a:r>
            <a:endParaRPr lang="ja-JP" altLang="en-US" sz="2800" b="1">
              <a:solidFill>
                <a:srgbClr val="A0332E"/>
              </a:solidFill>
              <a:latin typeface="BIZ UDPGothic"/>
              <a:ea typeface="BIZ UDPGothic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BDE5BC16-794E-4612-8BD6-3BD2E57E27C4}"/>
              </a:ext>
            </a:extLst>
          </p:cNvPr>
          <p:cNvSpPr txBox="1"/>
          <p:nvPr/>
        </p:nvSpPr>
        <p:spPr>
          <a:xfrm>
            <a:off x="6045200" y="5588000"/>
            <a:ext cx="2540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1400">
                <a:solidFill>
                  <a:srgbClr val="5C5C5C"/>
                </a:solidFill>
                <a:latin typeface="BIZ UDPGothic"/>
                <a:ea typeface="BIZ UDPGothic"/>
              </a:rPr>
              <a:t>F1-macro</a:t>
            </a:r>
            <a:endParaRPr lang="ja-JP" altLang="en-US" sz="1400">
              <a:solidFill>
                <a:srgbClr val="5C5C5C"/>
              </a:solidFill>
              <a:latin typeface="BIZ UDPGothic"/>
              <a:ea typeface="BIZ UDPGothic"/>
            </a:endParaRPr>
          </a:p>
        </p:txBody>
      </p:sp>
      <p:sp>
        <p:nvSpPr>
          <p:cNvPr id="20" name="四角形: 角を丸くする 19">
            <a:extLst>
              <a:ext uri="{FF2B5EF4-FFF2-40B4-BE49-F238E27FC236}">
                <a16:creationId xmlns:a16="http://schemas.microsoft.com/office/drawing/2014/main" id="{9AFA8A8E-E35A-431C-89B7-21D850763553}"/>
              </a:ext>
            </a:extLst>
          </p:cNvPr>
          <p:cNvSpPr/>
          <p:nvPr/>
        </p:nvSpPr>
        <p:spPr>
          <a:xfrm>
            <a:off x="8839200" y="5016500"/>
            <a:ext cx="2540000" cy="1016000"/>
          </a:xfrm>
          <a:prstGeom prst="roundRect">
            <a:avLst/>
          </a:prstGeom>
          <a:solidFill>
            <a:srgbClr val="F2F0E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C0CAE98B-C6B5-4A60-9FB1-C1A745BE1571}"/>
              </a:ext>
            </a:extLst>
          </p:cNvPr>
          <p:cNvSpPr txBox="1"/>
          <p:nvPr/>
        </p:nvSpPr>
        <p:spPr>
          <a:xfrm>
            <a:off x="8839200" y="5054600"/>
            <a:ext cx="2540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2800" b="1">
                <a:solidFill>
                  <a:srgbClr val="A0332E"/>
                </a:solidFill>
                <a:latin typeface="BIZ UDPGothic"/>
                <a:ea typeface="BIZ UDPGothic"/>
              </a:rPr>
              <a:t>0.971</a:t>
            </a:r>
            <a:endParaRPr lang="ja-JP" altLang="en-US" sz="2800" b="1">
              <a:solidFill>
                <a:srgbClr val="A0332E"/>
              </a:solidFill>
              <a:latin typeface="BIZ UDPGothic"/>
              <a:ea typeface="BIZ UDPGothic"/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6392FBBA-9DBD-4F86-9240-2C543B31D212}"/>
              </a:ext>
            </a:extLst>
          </p:cNvPr>
          <p:cNvSpPr txBox="1"/>
          <p:nvPr/>
        </p:nvSpPr>
        <p:spPr>
          <a:xfrm>
            <a:off x="8839200" y="5588000"/>
            <a:ext cx="2540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1400">
                <a:solidFill>
                  <a:srgbClr val="5C5C5C"/>
                </a:solidFill>
                <a:latin typeface="BIZ UDPGothic"/>
                <a:ea typeface="BIZ UDPGothic"/>
              </a:rPr>
              <a:t>Precision@10%</a:t>
            </a:r>
            <a:endParaRPr lang="ja-JP" altLang="en-US" sz="1400">
              <a:solidFill>
                <a:srgbClr val="5C5C5C"/>
              </a:solidFill>
              <a:latin typeface="BIZ UDPGothic"/>
              <a:ea typeface="BIZ UDPGothic"/>
            </a:endParaRPr>
          </a:p>
        </p:txBody>
      </p:sp>
    </p:spTree>
    <p:extLst>
      <p:ext uri="{BB962C8B-B14F-4D97-AF65-F5344CB8AC3E}">
        <p14:creationId xmlns:p14="http://schemas.microsoft.com/office/powerpoint/2010/main" val="14003510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9D2F25A-ED75-4E69-84F9-FD353B943624}"/>
              </a:ext>
            </a:extLst>
          </p:cNvPr>
          <p:cNvSpPr txBox="1"/>
          <p:nvPr/>
        </p:nvSpPr>
        <p:spPr>
          <a:xfrm>
            <a:off x="457200" y="254000"/>
            <a:ext cx="112776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2600" b="1">
                <a:solidFill>
                  <a:srgbClr val="2D2D2D"/>
                </a:solidFill>
                <a:latin typeface="BIZ UDPGothic"/>
                <a:ea typeface="BIZ UDPGothic"/>
              </a:rPr>
              <a:t>2. </a:t>
            </a:r>
            <a:r>
              <a:rPr lang="ja-JP" altLang="en-US" sz="2600" b="1">
                <a:solidFill>
                  <a:srgbClr val="2D2D2D"/>
                </a:solidFill>
                <a:latin typeface="BIZ UDPGothic"/>
                <a:ea typeface="BIZ UDPGothic"/>
              </a:rPr>
              <a:t>プロジェクト目的とスコープ</a:t>
            </a:r>
          </a:p>
        </p:txBody>
      </p:sp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1C192B85-0082-4F05-BBC3-D32B008559F5}"/>
              </a:ext>
            </a:extLst>
          </p:cNvPr>
          <p:cNvSpPr/>
          <p:nvPr/>
        </p:nvSpPr>
        <p:spPr>
          <a:xfrm>
            <a:off x="457200" y="1016000"/>
            <a:ext cx="5461000" cy="457200"/>
          </a:xfrm>
          <a:prstGeom prst="roundRect">
            <a:avLst/>
          </a:prstGeom>
          <a:solidFill>
            <a:srgbClr val="A033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ja-JP" altLang="en-US" sz="1600" b="1">
                <a:solidFill>
                  <a:srgbClr val="FFFFFF"/>
                </a:solidFill>
                <a:latin typeface="BIZ UDPGothic"/>
                <a:ea typeface="BIZ UDPGothic"/>
              </a:rPr>
              <a:t>目的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06BF64FC-1A69-4B40-8664-8A3CDAC076FD}"/>
              </a:ext>
            </a:extLst>
          </p:cNvPr>
          <p:cNvSpPr/>
          <p:nvPr/>
        </p:nvSpPr>
        <p:spPr>
          <a:xfrm>
            <a:off x="457200" y="1524000"/>
            <a:ext cx="5461000" cy="1524000"/>
          </a:xfrm>
          <a:prstGeom prst="roundRect">
            <a:avLst/>
          </a:prstGeom>
          <a:solidFill>
            <a:srgbClr val="F7F6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/>
          <a:lstStyle/>
          <a:p>
            <a:pPr algn="l"/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● </a:t>
            </a:r>
            <a:r>
              <a:rPr lang="en-US" altLang="ja-JP" sz="1400">
                <a:solidFill>
                  <a:srgbClr val="4A4A4A"/>
                </a:solidFill>
                <a:latin typeface="BIZ UDPGothic"/>
                <a:ea typeface="BIZ UDPGothic"/>
              </a:rPr>
              <a:t>train.csv </a:t>
            </a:r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の患者属性および検査値から </a:t>
            </a:r>
            <a:r>
              <a:rPr lang="en-US" altLang="ja-JP" sz="1400">
                <a:solidFill>
                  <a:srgbClr val="4A4A4A"/>
                </a:solidFill>
                <a:latin typeface="BIZ UDPGothic"/>
                <a:ea typeface="BIZ UDPGothic"/>
              </a:rPr>
              <a:t>disease</a:t>
            </a:r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（</a:t>
            </a:r>
            <a:r>
              <a:rPr lang="en-US" altLang="ja-JP" sz="1400">
                <a:solidFill>
                  <a:srgbClr val="4A4A4A"/>
                </a:solidFill>
                <a:latin typeface="BIZ UDPGothic"/>
                <a:ea typeface="BIZ UDPGothic"/>
              </a:rPr>
              <a:t>0/1</a:t>
            </a:r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）を予測する分析基盤と初期予測モデルの整備
● 結果は診断の代替ではなく、業務上の判定支援・導入判断材料として提供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75E1606E-858A-4433-911E-BD72E5E190BF}"/>
              </a:ext>
            </a:extLst>
          </p:cNvPr>
          <p:cNvSpPr/>
          <p:nvPr/>
        </p:nvSpPr>
        <p:spPr>
          <a:xfrm>
            <a:off x="6273800" y="1016000"/>
            <a:ext cx="5461000" cy="457200"/>
          </a:xfrm>
          <a:prstGeom prst="roundRect">
            <a:avLst/>
          </a:prstGeom>
          <a:solidFill>
            <a:srgbClr val="5C5C5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ja-JP" altLang="en-US" sz="1600" b="1">
                <a:solidFill>
                  <a:srgbClr val="FFFFFF"/>
                </a:solidFill>
                <a:latin typeface="BIZ UDPGothic"/>
                <a:ea typeface="BIZ UDPGothic"/>
              </a:rPr>
              <a:t>スコープ（対象）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A9F63112-FE28-42BC-AA68-9869C01283D7}"/>
              </a:ext>
            </a:extLst>
          </p:cNvPr>
          <p:cNvSpPr/>
          <p:nvPr/>
        </p:nvSpPr>
        <p:spPr>
          <a:xfrm>
            <a:off x="6273800" y="1524000"/>
            <a:ext cx="5461000" cy="1524000"/>
          </a:xfrm>
          <a:prstGeom prst="roundRect">
            <a:avLst/>
          </a:prstGeom>
          <a:solidFill>
            <a:srgbClr val="F7F6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/>
          <a:lstStyle/>
          <a:p>
            <a:pPr algn="l"/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● </a:t>
            </a:r>
            <a:r>
              <a:rPr lang="en-US" altLang="ja-JP" sz="1400">
                <a:solidFill>
                  <a:srgbClr val="4A4A4A"/>
                </a:solidFill>
                <a:latin typeface="BIZ UDPGothic"/>
                <a:ea typeface="BIZ UDPGothic"/>
              </a:rPr>
              <a:t>EDA</a:t>
            </a:r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、前処理方針、特徴量選定
● モデル構築（候補比較）、評価
● 成果物：概要書、計画書、データ理解レポート、中間</a:t>
            </a:r>
            <a:r>
              <a:rPr lang="en-US" altLang="ja-JP" sz="1400">
                <a:solidFill>
                  <a:srgbClr val="4A4A4A"/>
                </a:solidFill>
                <a:latin typeface="BIZ UDPGothic"/>
                <a:ea typeface="BIZ UDPGothic"/>
              </a:rPr>
              <a:t>/</a:t>
            </a:r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最終報告書、議事録、スケジュール表</a:t>
            </a: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F8E0BC46-4782-4E4B-9B8C-87DBEC48A075}"/>
              </a:ext>
            </a:extLst>
          </p:cNvPr>
          <p:cNvSpPr/>
          <p:nvPr/>
        </p:nvSpPr>
        <p:spPr>
          <a:xfrm>
            <a:off x="457200" y="3302000"/>
            <a:ext cx="11277600" cy="457200"/>
          </a:xfrm>
          <a:prstGeom prst="roundRect">
            <a:avLst/>
          </a:prstGeom>
          <a:solidFill>
            <a:srgbClr val="38383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ja-JP" altLang="en-US" sz="1600" b="1">
                <a:solidFill>
                  <a:srgbClr val="FFFFFF"/>
                </a:solidFill>
                <a:latin typeface="BIZ UDPGothic"/>
                <a:ea typeface="BIZ UDPGothic"/>
              </a:rPr>
              <a:t>スコープ外（対象外）</a:t>
            </a:r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58817DCB-17B6-4CFB-92FE-81C8AF1DF8A8}"/>
              </a:ext>
            </a:extLst>
          </p:cNvPr>
          <p:cNvSpPr/>
          <p:nvPr/>
        </p:nvSpPr>
        <p:spPr>
          <a:xfrm>
            <a:off x="457200" y="3873500"/>
            <a:ext cx="2032000" cy="825500"/>
          </a:xfrm>
          <a:prstGeom prst="roundRect">
            <a:avLst/>
          </a:prstGeom>
          <a:solidFill>
            <a:srgbClr val="F2F0E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ja-JP" altLang="en-US" sz="1400">
                <a:solidFill>
                  <a:srgbClr val="5C5C5C"/>
                </a:solidFill>
                <a:latin typeface="BIZ UDPGothic"/>
                <a:ea typeface="BIZ UDPGothic"/>
              </a:rPr>
              <a:t>実運用
システム実装</a:t>
            </a: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FBB17EB0-5C3F-452E-95A6-D076EA6ECDE4}"/>
              </a:ext>
            </a:extLst>
          </p:cNvPr>
          <p:cNvSpPr/>
          <p:nvPr/>
        </p:nvSpPr>
        <p:spPr>
          <a:xfrm>
            <a:off x="2717800" y="3873500"/>
            <a:ext cx="2032000" cy="825500"/>
          </a:xfrm>
          <a:prstGeom prst="roundRect">
            <a:avLst/>
          </a:prstGeom>
          <a:solidFill>
            <a:srgbClr val="F2F0E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ja-JP" altLang="en-US" sz="1400">
                <a:solidFill>
                  <a:srgbClr val="5C5C5C"/>
                </a:solidFill>
                <a:latin typeface="BIZ UDPGothic"/>
                <a:ea typeface="BIZ UDPGothic"/>
              </a:rPr>
              <a:t>電子カルテ
連携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BA8F1C0A-D845-4B4E-9450-5ECAEF5E0E7E}"/>
              </a:ext>
            </a:extLst>
          </p:cNvPr>
          <p:cNvSpPr/>
          <p:nvPr/>
        </p:nvSpPr>
        <p:spPr>
          <a:xfrm>
            <a:off x="4978400" y="3873500"/>
            <a:ext cx="2032000" cy="825500"/>
          </a:xfrm>
          <a:prstGeom prst="roundRect">
            <a:avLst/>
          </a:prstGeom>
          <a:solidFill>
            <a:srgbClr val="F2F0E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ja-JP" altLang="en-US" sz="1400">
                <a:solidFill>
                  <a:srgbClr val="5C5C5C"/>
                </a:solidFill>
                <a:latin typeface="BIZ UDPGothic"/>
                <a:ea typeface="BIZ UDPGothic"/>
              </a:rPr>
              <a:t>外部データ
取得</a:t>
            </a: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A63E6310-2B50-4B2C-94CF-4592FFDFE9A0}"/>
              </a:ext>
            </a:extLst>
          </p:cNvPr>
          <p:cNvSpPr/>
          <p:nvPr/>
        </p:nvSpPr>
        <p:spPr>
          <a:xfrm>
            <a:off x="7239000" y="3873500"/>
            <a:ext cx="2032000" cy="825500"/>
          </a:xfrm>
          <a:prstGeom prst="roundRect">
            <a:avLst/>
          </a:prstGeom>
          <a:solidFill>
            <a:srgbClr val="F2F0E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zh-TW" altLang="en-US" sz="1400">
                <a:solidFill>
                  <a:srgbClr val="5C5C5C"/>
                </a:solidFill>
                <a:latin typeface="BIZ UDPGothic"/>
                <a:ea typeface="BIZ UDPGothic"/>
              </a:rPr>
              <a:t>継続運用基盤
（</a:t>
            </a:r>
            <a:r>
              <a:rPr lang="en-US" altLang="zh-TW" sz="1400">
                <a:solidFill>
                  <a:srgbClr val="5C5C5C"/>
                </a:solidFill>
                <a:latin typeface="BIZ UDPGothic"/>
                <a:ea typeface="BIZ UDPGothic"/>
              </a:rPr>
              <a:t>MLOps</a:t>
            </a:r>
            <a:r>
              <a:rPr lang="zh-TW" altLang="en-US" sz="1400">
                <a:solidFill>
                  <a:srgbClr val="5C5C5C"/>
                </a:solidFill>
                <a:latin typeface="BIZ UDPGothic"/>
                <a:ea typeface="BIZ UDPGothic"/>
              </a:rPr>
              <a:t>）</a:t>
            </a:r>
            <a:endParaRPr lang="ja-JP" altLang="en-US" sz="1400">
              <a:solidFill>
                <a:srgbClr val="5C5C5C"/>
              </a:solidFill>
              <a:latin typeface="BIZ UDPGothic"/>
              <a:ea typeface="BIZ UDPGothic"/>
            </a:endParaRP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E7FAAF0C-E3F0-4DBC-9413-50D92F4A85E2}"/>
              </a:ext>
            </a:extLst>
          </p:cNvPr>
          <p:cNvSpPr/>
          <p:nvPr/>
        </p:nvSpPr>
        <p:spPr>
          <a:xfrm>
            <a:off x="9499600" y="3873500"/>
            <a:ext cx="2032000" cy="825500"/>
          </a:xfrm>
          <a:prstGeom prst="roundRect">
            <a:avLst/>
          </a:prstGeom>
          <a:solidFill>
            <a:srgbClr val="F2F0E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ja-JP" altLang="en-US" sz="1400">
                <a:solidFill>
                  <a:srgbClr val="5C5C5C"/>
                </a:solidFill>
                <a:latin typeface="BIZ UDPGothic"/>
                <a:ea typeface="BIZ UDPGothic"/>
              </a:rPr>
              <a:t>臨床診断の
最終決定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39517CD3-28E1-46CE-935B-7D64DBD4A9D9}"/>
              </a:ext>
            </a:extLst>
          </p:cNvPr>
          <p:cNvSpPr txBox="1"/>
          <p:nvPr/>
        </p:nvSpPr>
        <p:spPr>
          <a:xfrm>
            <a:off x="457200" y="4953000"/>
            <a:ext cx="112776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400">
                <a:solidFill>
                  <a:srgbClr val="8C8C8C"/>
                </a:solidFill>
                <a:latin typeface="BIZ UDPGothic"/>
                <a:ea typeface="BIZ UDPGothic"/>
              </a:rPr>
              <a:t>（注）上記は提案書・契約書の記載と整合している。</a:t>
            </a:r>
          </a:p>
        </p:txBody>
      </p:sp>
    </p:spTree>
    <p:extLst>
      <p:ext uri="{BB962C8B-B14F-4D97-AF65-F5344CB8AC3E}">
        <p14:creationId xmlns:p14="http://schemas.microsoft.com/office/powerpoint/2010/main" val="26030076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4B07FEF-5C3D-403C-9284-5A3939423773}"/>
              </a:ext>
            </a:extLst>
          </p:cNvPr>
          <p:cNvSpPr txBox="1"/>
          <p:nvPr/>
        </p:nvSpPr>
        <p:spPr>
          <a:xfrm>
            <a:off x="457200" y="254000"/>
            <a:ext cx="112776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2600" b="1">
                <a:solidFill>
                  <a:srgbClr val="2D2D2D"/>
                </a:solidFill>
                <a:latin typeface="BIZ UDPGothic"/>
                <a:ea typeface="BIZ UDPGothic"/>
              </a:rPr>
              <a:t>3. </a:t>
            </a:r>
            <a:r>
              <a:rPr lang="ja-JP" altLang="en-US" sz="2600" b="1">
                <a:solidFill>
                  <a:srgbClr val="2D2D2D"/>
                </a:solidFill>
                <a:latin typeface="BIZ UDPGothic"/>
                <a:ea typeface="BIZ UDPGothic"/>
              </a:rPr>
              <a:t>実施方法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869F6B1-6DBD-4A80-98C2-2B574B784616}"/>
              </a:ext>
            </a:extLst>
          </p:cNvPr>
          <p:cNvSpPr txBox="1"/>
          <p:nvPr/>
        </p:nvSpPr>
        <p:spPr>
          <a:xfrm>
            <a:off x="457200" y="914400"/>
            <a:ext cx="254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600" b="1">
                <a:solidFill>
                  <a:srgbClr val="A0332E"/>
                </a:solidFill>
                <a:latin typeface="BIZ UDPGothic"/>
                <a:ea typeface="BIZ UDPGothic"/>
              </a:rPr>
              <a:t>実施方針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F58CA4AC-B5BF-4EBB-AE34-83335A83C293}"/>
              </a:ext>
            </a:extLst>
          </p:cNvPr>
          <p:cNvSpPr/>
          <p:nvPr/>
        </p:nvSpPr>
        <p:spPr>
          <a:xfrm>
            <a:off x="457200" y="1320800"/>
            <a:ext cx="3505200" cy="711200"/>
          </a:xfrm>
          <a:prstGeom prst="roundRect">
            <a:avLst/>
          </a:prstGeom>
          <a:solidFill>
            <a:srgbClr val="F7F6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単一データソース前提で
再現可能な手順を採用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A5324A97-BAC6-415B-902C-466F539712F0}"/>
              </a:ext>
            </a:extLst>
          </p:cNvPr>
          <p:cNvSpPr/>
          <p:nvPr/>
        </p:nvSpPr>
        <p:spPr>
          <a:xfrm>
            <a:off x="4267200" y="1320800"/>
            <a:ext cx="3505200" cy="711200"/>
          </a:xfrm>
          <a:prstGeom prst="roundRect">
            <a:avLst/>
          </a:prstGeom>
          <a:solidFill>
            <a:srgbClr val="F7F6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説明可能性を重視し
線形系と非線形モデルを比較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D9375E85-E969-4B28-989A-F5240BE340FC}"/>
              </a:ext>
            </a:extLst>
          </p:cNvPr>
          <p:cNvSpPr/>
          <p:nvPr/>
        </p:nvSpPr>
        <p:spPr>
          <a:xfrm>
            <a:off x="8077200" y="1320800"/>
            <a:ext cx="3505200" cy="711200"/>
          </a:xfrm>
          <a:prstGeom prst="roundRect">
            <a:avLst/>
          </a:prstGeom>
          <a:solidFill>
            <a:srgbClr val="F7F6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医療文脈での
慎重な解釈を徹底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125EC3E-C859-4E22-8649-33DE6E9AC51A}"/>
              </a:ext>
            </a:extLst>
          </p:cNvPr>
          <p:cNvSpPr txBox="1"/>
          <p:nvPr/>
        </p:nvSpPr>
        <p:spPr>
          <a:xfrm>
            <a:off x="457200" y="2184400"/>
            <a:ext cx="381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600" b="1">
                <a:solidFill>
                  <a:srgbClr val="A0332E"/>
                </a:solidFill>
                <a:latin typeface="BIZ UDPGothic"/>
                <a:ea typeface="BIZ UDPGothic"/>
              </a:rPr>
              <a:t>主な作業フロー</a:t>
            </a:r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708DDE71-0DF7-41ED-B3C0-9051DEF49DC2}"/>
              </a:ext>
            </a:extLst>
          </p:cNvPr>
          <p:cNvSpPr/>
          <p:nvPr/>
        </p:nvSpPr>
        <p:spPr>
          <a:xfrm>
            <a:off x="990600" y="2641600"/>
            <a:ext cx="355600" cy="355600"/>
          </a:xfrm>
          <a:prstGeom prst="ellipse">
            <a:avLst/>
          </a:prstGeom>
          <a:solidFill>
            <a:srgbClr val="A033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ja-JP" sz="1400" b="1">
                <a:solidFill>
                  <a:srgbClr val="FFFFFF"/>
                </a:solidFill>
                <a:latin typeface="BIZ UDPGothic"/>
                <a:ea typeface="BIZ UDPGothic"/>
              </a:rPr>
              <a:t>1</a:t>
            </a:r>
            <a:endParaRPr lang="ja-JP" altLang="en-US" sz="1400" b="1">
              <a:solidFill>
                <a:srgbClr val="FFFFFF"/>
              </a:solidFill>
              <a:latin typeface="BIZ UDPGothic"/>
              <a:ea typeface="BIZ UDPGothic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E456E561-63CC-4FE6-AE12-5EC5A8A63300}"/>
              </a:ext>
            </a:extLst>
          </p:cNvPr>
          <p:cNvSpPr txBox="1"/>
          <p:nvPr/>
        </p:nvSpPr>
        <p:spPr>
          <a:xfrm>
            <a:off x="508000" y="3073400"/>
            <a:ext cx="13208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400" b="1">
                <a:solidFill>
                  <a:srgbClr val="2D2D2D"/>
                </a:solidFill>
                <a:latin typeface="BIZ UDPGothic"/>
                <a:ea typeface="BIZ UDPGothic"/>
              </a:rPr>
              <a:t>キックオフ
</a:t>
            </a:r>
            <a:r>
              <a:rPr lang="en-US" altLang="ja-JP" sz="1400" b="1">
                <a:solidFill>
                  <a:srgbClr val="2D2D2D"/>
                </a:solidFill>
                <a:latin typeface="BIZ UDPGothic"/>
                <a:ea typeface="BIZ UDPGothic"/>
              </a:rPr>
              <a:t>(M01)</a:t>
            </a:r>
            <a:endParaRPr lang="ja-JP" altLang="en-US" sz="1400" b="1">
              <a:solidFill>
                <a:srgbClr val="2D2D2D"/>
              </a:solidFill>
              <a:latin typeface="BIZ UDPGothic"/>
              <a:ea typeface="BIZ UDPGothic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34E8732C-4852-455C-BCB4-79CF4A702BC3}"/>
              </a:ext>
            </a:extLst>
          </p:cNvPr>
          <p:cNvSpPr txBox="1"/>
          <p:nvPr/>
        </p:nvSpPr>
        <p:spPr>
          <a:xfrm>
            <a:off x="508000" y="3606800"/>
            <a:ext cx="13208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400">
                <a:solidFill>
                  <a:srgbClr val="8C8C8C"/>
                </a:solidFill>
                <a:latin typeface="BIZ UDPGothic"/>
                <a:ea typeface="BIZ UDPGothic"/>
              </a:rPr>
              <a:t>スコープ・
前提確定</a:t>
            </a:r>
          </a:p>
        </p:txBody>
      </p:sp>
      <p:sp>
        <p:nvSpPr>
          <p:cNvPr id="11" name="矢印: 右 10">
            <a:extLst>
              <a:ext uri="{FF2B5EF4-FFF2-40B4-BE49-F238E27FC236}">
                <a16:creationId xmlns:a16="http://schemas.microsoft.com/office/drawing/2014/main" id="{2670EDAB-7036-4D7D-85BD-28E32901D0D8}"/>
              </a:ext>
            </a:extLst>
          </p:cNvPr>
          <p:cNvSpPr/>
          <p:nvPr/>
        </p:nvSpPr>
        <p:spPr>
          <a:xfrm>
            <a:off x="1841500" y="2743200"/>
            <a:ext cx="203200" cy="177800"/>
          </a:xfrm>
          <a:prstGeom prst="rightArrow">
            <a:avLst/>
          </a:prstGeom>
          <a:solidFill>
            <a:srgbClr val="D4CF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7A26E72F-1C4A-456C-B99C-EFB135EDC15A}"/>
              </a:ext>
            </a:extLst>
          </p:cNvPr>
          <p:cNvSpPr/>
          <p:nvPr/>
        </p:nvSpPr>
        <p:spPr>
          <a:xfrm>
            <a:off x="2565400" y="2641600"/>
            <a:ext cx="355600" cy="355600"/>
          </a:xfrm>
          <a:prstGeom prst="ellipse">
            <a:avLst/>
          </a:prstGeom>
          <a:solidFill>
            <a:srgbClr val="A033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ja-JP" sz="1400" b="1">
                <a:solidFill>
                  <a:srgbClr val="FFFFFF"/>
                </a:solidFill>
                <a:latin typeface="BIZ UDPGothic"/>
                <a:ea typeface="BIZ UDPGothic"/>
              </a:rPr>
              <a:t>2</a:t>
            </a:r>
            <a:endParaRPr lang="ja-JP" altLang="en-US" sz="1400" b="1">
              <a:solidFill>
                <a:srgbClr val="FFFFFF"/>
              </a:solidFill>
              <a:latin typeface="BIZ UDPGothic"/>
              <a:ea typeface="BIZ UDPGothic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817AC491-6F30-4896-BABF-03BF63538F01}"/>
              </a:ext>
            </a:extLst>
          </p:cNvPr>
          <p:cNvSpPr txBox="1"/>
          <p:nvPr/>
        </p:nvSpPr>
        <p:spPr>
          <a:xfrm>
            <a:off x="2082800" y="3073400"/>
            <a:ext cx="13208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400" b="1">
                <a:solidFill>
                  <a:srgbClr val="2D2D2D"/>
                </a:solidFill>
                <a:latin typeface="BIZ UDPGothic"/>
                <a:ea typeface="BIZ UDPGothic"/>
              </a:rPr>
              <a:t>データ受領
読込検証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46E433F2-27D1-431E-AE9E-8BC3C8F5E7F9}"/>
              </a:ext>
            </a:extLst>
          </p:cNvPr>
          <p:cNvSpPr txBox="1"/>
          <p:nvPr/>
        </p:nvSpPr>
        <p:spPr>
          <a:xfrm>
            <a:off x="2082800" y="3606800"/>
            <a:ext cx="13208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1400">
                <a:solidFill>
                  <a:srgbClr val="8C8C8C"/>
                </a:solidFill>
                <a:latin typeface="BIZ UDPGothic"/>
                <a:ea typeface="BIZ UDPGothic"/>
              </a:rPr>
              <a:t>train.csv</a:t>
            </a:r>
            <a:endParaRPr lang="ja-JP" altLang="en-US" sz="1400">
              <a:solidFill>
                <a:srgbClr val="8C8C8C"/>
              </a:solidFill>
              <a:latin typeface="BIZ UDPGothic"/>
              <a:ea typeface="BIZ UDPGothic"/>
            </a:endParaRPr>
          </a:p>
        </p:txBody>
      </p:sp>
      <p:sp>
        <p:nvSpPr>
          <p:cNvPr id="15" name="矢印: 右 14">
            <a:extLst>
              <a:ext uri="{FF2B5EF4-FFF2-40B4-BE49-F238E27FC236}">
                <a16:creationId xmlns:a16="http://schemas.microsoft.com/office/drawing/2014/main" id="{E5296080-AB9E-449E-9890-5B53AACDDB3F}"/>
              </a:ext>
            </a:extLst>
          </p:cNvPr>
          <p:cNvSpPr/>
          <p:nvPr/>
        </p:nvSpPr>
        <p:spPr>
          <a:xfrm>
            <a:off x="3416300" y="2743200"/>
            <a:ext cx="203200" cy="177800"/>
          </a:xfrm>
          <a:prstGeom prst="rightArrow">
            <a:avLst/>
          </a:prstGeom>
          <a:solidFill>
            <a:srgbClr val="D4CF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16" name="楕円 15">
            <a:extLst>
              <a:ext uri="{FF2B5EF4-FFF2-40B4-BE49-F238E27FC236}">
                <a16:creationId xmlns:a16="http://schemas.microsoft.com/office/drawing/2014/main" id="{DAC9B44C-229E-40E8-ADFE-4D227EF1D869}"/>
              </a:ext>
            </a:extLst>
          </p:cNvPr>
          <p:cNvSpPr/>
          <p:nvPr/>
        </p:nvSpPr>
        <p:spPr>
          <a:xfrm>
            <a:off x="4140200" y="2641600"/>
            <a:ext cx="355600" cy="355600"/>
          </a:xfrm>
          <a:prstGeom prst="ellipse">
            <a:avLst/>
          </a:prstGeom>
          <a:solidFill>
            <a:srgbClr val="A033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ja-JP" sz="1400" b="1">
                <a:solidFill>
                  <a:srgbClr val="FFFFFF"/>
                </a:solidFill>
                <a:latin typeface="BIZ UDPGothic"/>
                <a:ea typeface="BIZ UDPGothic"/>
              </a:rPr>
              <a:t>3</a:t>
            </a:r>
            <a:endParaRPr lang="ja-JP" altLang="en-US" sz="1400" b="1">
              <a:solidFill>
                <a:srgbClr val="FFFFFF"/>
              </a:solidFill>
              <a:latin typeface="BIZ UDPGothic"/>
              <a:ea typeface="BIZ UDPGothic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87CE8BF5-174A-41A3-AA83-AC3F70ED112B}"/>
              </a:ext>
            </a:extLst>
          </p:cNvPr>
          <p:cNvSpPr txBox="1"/>
          <p:nvPr/>
        </p:nvSpPr>
        <p:spPr>
          <a:xfrm>
            <a:off x="3657600" y="3073400"/>
            <a:ext cx="13208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1400" b="1">
                <a:solidFill>
                  <a:srgbClr val="2D2D2D"/>
                </a:solidFill>
                <a:latin typeface="BIZ UDPGothic"/>
                <a:ea typeface="BIZ UDPGothic"/>
              </a:rPr>
              <a:t>EDA</a:t>
            </a:r>
            <a:endParaRPr lang="ja-JP" altLang="en-US" sz="1400" b="1">
              <a:solidFill>
                <a:srgbClr val="2D2D2D"/>
              </a:solidFill>
              <a:latin typeface="BIZ UDPGothic"/>
              <a:ea typeface="BIZ UDPGothic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BE3B56D7-0331-4353-B84F-D8F1F034C6C6}"/>
              </a:ext>
            </a:extLst>
          </p:cNvPr>
          <p:cNvSpPr txBox="1"/>
          <p:nvPr/>
        </p:nvSpPr>
        <p:spPr>
          <a:xfrm>
            <a:off x="3657600" y="3606800"/>
            <a:ext cx="13208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400">
                <a:solidFill>
                  <a:srgbClr val="8C8C8C"/>
                </a:solidFill>
                <a:latin typeface="BIZ UDPGothic"/>
                <a:ea typeface="BIZ UDPGothic"/>
              </a:rPr>
              <a:t>分布・外れ値
確認</a:t>
            </a:r>
          </a:p>
        </p:txBody>
      </p:sp>
      <p:sp>
        <p:nvSpPr>
          <p:cNvPr id="19" name="矢印: 右 18">
            <a:extLst>
              <a:ext uri="{FF2B5EF4-FFF2-40B4-BE49-F238E27FC236}">
                <a16:creationId xmlns:a16="http://schemas.microsoft.com/office/drawing/2014/main" id="{7700E974-A956-4979-AAEF-CBAA284C6CC9}"/>
              </a:ext>
            </a:extLst>
          </p:cNvPr>
          <p:cNvSpPr/>
          <p:nvPr/>
        </p:nvSpPr>
        <p:spPr>
          <a:xfrm>
            <a:off x="4991100" y="2743200"/>
            <a:ext cx="203200" cy="177800"/>
          </a:xfrm>
          <a:prstGeom prst="rightArrow">
            <a:avLst/>
          </a:prstGeom>
          <a:solidFill>
            <a:srgbClr val="D4CF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20" name="楕円 19">
            <a:extLst>
              <a:ext uri="{FF2B5EF4-FFF2-40B4-BE49-F238E27FC236}">
                <a16:creationId xmlns:a16="http://schemas.microsoft.com/office/drawing/2014/main" id="{2BBBC4FA-9807-41E5-904B-E08904598538}"/>
              </a:ext>
            </a:extLst>
          </p:cNvPr>
          <p:cNvSpPr/>
          <p:nvPr/>
        </p:nvSpPr>
        <p:spPr>
          <a:xfrm>
            <a:off x="5715000" y="2641600"/>
            <a:ext cx="355600" cy="355600"/>
          </a:xfrm>
          <a:prstGeom prst="ellipse">
            <a:avLst/>
          </a:prstGeom>
          <a:solidFill>
            <a:srgbClr val="A033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ja-JP" sz="1400" b="1">
                <a:solidFill>
                  <a:srgbClr val="FFFFFF"/>
                </a:solidFill>
                <a:latin typeface="BIZ UDPGothic"/>
                <a:ea typeface="BIZ UDPGothic"/>
              </a:rPr>
              <a:t>4</a:t>
            </a:r>
            <a:endParaRPr lang="ja-JP" altLang="en-US" sz="1400" b="1">
              <a:solidFill>
                <a:srgbClr val="FFFFFF"/>
              </a:solidFill>
              <a:latin typeface="BIZ UDPGothic"/>
              <a:ea typeface="BIZ UDPGothic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12FC0A9A-ACEF-4AED-AFB6-B9E76F8FFB2C}"/>
              </a:ext>
            </a:extLst>
          </p:cNvPr>
          <p:cNvSpPr txBox="1"/>
          <p:nvPr/>
        </p:nvSpPr>
        <p:spPr>
          <a:xfrm>
            <a:off x="5232400" y="3073400"/>
            <a:ext cx="13208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400" b="1">
                <a:solidFill>
                  <a:srgbClr val="2D2D2D"/>
                </a:solidFill>
                <a:latin typeface="BIZ UDPGothic"/>
                <a:ea typeface="BIZ UDPGothic"/>
              </a:rPr>
              <a:t>前処理設計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71DDC032-651E-4579-B004-F8250839E715}"/>
              </a:ext>
            </a:extLst>
          </p:cNvPr>
          <p:cNvSpPr txBox="1"/>
          <p:nvPr/>
        </p:nvSpPr>
        <p:spPr>
          <a:xfrm>
            <a:off x="5232400" y="3606800"/>
            <a:ext cx="13208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1400">
                <a:solidFill>
                  <a:srgbClr val="8C8C8C"/>
                </a:solidFill>
                <a:latin typeface="BIZ UDPGothic"/>
                <a:ea typeface="BIZ UDPGothic"/>
              </a:rPr>
              <a:t>id</a:t>
            </a:r>
            <a:r>
              <a:rPr lang="ja-JP" altLang="en-US" sz="1400">
                <a:solidFill>
                  <a:srgbClr val="8C8C8C"/>
                </a:solidFill>
                <a:latin typeface="BIZ UDPGothic"/>
                <a:ea typeface="BIZ UDPGothic"/>
              </a:rPr>
              <a:t>除外
</a:t>
            </a:r>
            <a:r>
              <a:rPr lang="en-US" altLang="ja-JP" sz="1400">
                <a:solidFill>
                  <a:srgbClr val="8C8C8C"/>
                </a:solidFill>
                <a:latin typeface="BIZ UDPGothic"/>
                <a:ea typeface="BIZ UDPGothic"/>
              </a:rPr>
              <a:t>Gender</a:t>
            </a:r>
            <a:r>
              <a:rPr lang="ja-JP" altLang="en-US" sz="1400">
                <a:solidFill>
                  <a:srgbClr val="8C8C8C"/>
                </a:solidFill>
                <a:latin typeface="BIZ UDPGothic"/>
                <a:ea typeface="BIZ UDPGothic"/>
              </a:rPr>
              <a:t>処理</a:t>
            </a:r>
          </a:p>
        </p:txBody>
      </p:sp>
      <p:sp>
        <p:nvSpPr>
          <p:cNvPr id="23" name="矢印: 右 22">
            <a:extLst>
              <a:ext uri="{FF2B5EF4-FFF2-40B4-BE49-F238E27FC236}">
                <a16:creationId xmlns:a16="http://schemas.microsoft.com/office/drawing/2014/main" id="{595C5697-8261-422C-92CD-A32D9E945E7C}"/>
              </a:ext>
            </a:extLst>
          </p:cNvPr>
          <p:cNvSpPr/>
          <p:nvPr/>
        </p:nvSpPr>
        <p:spPr>
          <a:xfrm>
            <a:off x="6565900" y="2743200"/>
            <a:ext cx="203200" cy="177800"/>
          </a:xfrm>
          <a:prstGeom prst="rightArrow">
            <a:avLst/>
          </a:prstGeom>
          <a:solidFill>
            <a:srgbClr val="D4CF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24" name="楕円 23">
            <a:extLst>
              <a:ext uri="{FF2B5EF4-FFF2-40B4-BE49-F238E27FC236}">
                <a16:creationId xmlns:a16="http://schemas.microsoft.com/office/drawing/2014/main" id="{9E00FB0E-75B7-48D4-AC00-E0D6C777544B}"/>
              </a:ext>
            </a:extLst>
          </p:cNvPr>
          <p:cNvSpPr/>
          <p:nvPr/>
        </p:nvSpPr>
        <p:spPr>
          <a:xfrm>
            <a:off x="7289800" y="2641600"/>
            <a:ext cx="355600" cy="355600"/>
          </a:xfrm>
          <a:prstGeom prst="ellipse">
            <a:avLst/>
          </a:prstGeom>
          <a:solidFill>
            <a:srgbClr val="A033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ja-JP" sz="1400" b="1">
                <a:solidFill>
                  <a:srgbClr val="FFFFFF"/>
                </a:solidFill>
                <a:latin typeface="BIZ UDPGothic"/>
                <a:ea typeface="BIZ UDPGothic"/>
              </a:rPr>
              <a:t>5</a:t>
            </a:r>
            <a:endParaRPr lang="ja-JP" altLang="en-US" sz="1400" b="1">
              <a:solidFill>
                <a:srgbClr val="FFFFFF"/>
              </a:solidFill>
              <a:latin typeface="BIZ UDPGothic"/>
              <a:ea typeface="BIZ UDPGothic"/>
            </a:endParaRP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037FFFA9-CF67-4F5A-9F2D-3AFF97918C12}"/>
              </a:ext>
            </a:extLst>
          </p:cNvPr>
          <p:cNvSpPr txBox="1"/>
          <p:nvPr/>
        </p:nvSpPr>
        <p:spPr>
          <a:xfrm>
            <a:off x="6807200" y="3073400"/>
            <a:ext cx="13208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400" b="1">
                <a:solidFill>
                  <a:srgbClr val="2D2D2D"/>
                </a:solidFill>
                <a:latin typeface="BIZ UDPGothic"/>
                <a:ea typeface="BIZ UDPGothic"/>
              </a:rPr>
              <a:t>モデル試作</a:t>
            </a: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6766B2C8-0016-41AE-B16E-66A57ACE165B}"/>
              </a:ext>
            </a:extLst>
          </p:cNvPr>
          <p:cNvSpPr txBox="1"/>
          <p:nvPr/>
        </p:nvSpPr>
        <p:spPr>
          <a:xfrm>
            <a:off x="6807200" y="3606800"/>
            <a:ext cx="13208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TW" altLang="en-US" sz="1400">
                <a:solidFill>
                  <a:srgbClr val="8C8C8C"/>
                </a:solidFill>
                <a:latin typeface="BIZ UDPGothic"/>
                <a:ea typeface="BIZ UDPGothic"/>
              </a:rPr>
              <a:t>線形系
比較試行</a:t>
            </a:r>
            <a:endParaRPr lang="ja-JP" altLang="en-US" sz="1400">
              <a:solidFill>
                <a:srgbClr val="8C8C8C"/>
              </a:solidFill>
              <a:latin typeface="BIZ UDPGothic"/>
              <a:ea typeface="BIZ UDPGothic"/>
            </a:endParaRPr>
          </a:p>
        </p:txBody>
      </p:sp>
      <p:sp>
        <p:nvSpPr>
          <p:cNvPr id="27" name="矢印: 右 26">
            <a:extLst>
              <a:ext uri="{FF2B5EF4-FFF2-40B4-BE49-F238E27FC236}">
                <a16:creationId xmlns:a16="http://schemas.microsoft.com/office/drawing/2014/main" id="{B4798E27-AF4C-4DC4-8C63-DE41E60FB0DE}"/>
              </a:ext>
            </a:extLst>
          </p:cNvPr>
          <p:cNvSpPr/>
          <p:nvPr/>
        </p:nvSpPr>
        <p:spPr>
          <a:xfrm>
            <a:off x="8140700" y="2743200"/>
            <a:ext cx="203200" cy="177800"/>
          </a:xfrm>
          <a:prstGeom prst="rightArrow">
            <a:avLst/>
          </a:prstGeom>
          <a:solidFill>
            <a:srgbClr val="D4CF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28" name="楕円 27">
            <a:extLst>
              <a:ext uri="{FF2B5EF4-FFF2-40B4-BE49-F238E27FC236}">
                <a16:creationId xmlns:a16="http://schemas.microsoft.com/office/drawing/2014/main" id="{397FFCBC-453B-4852-A424-AD1C6490D0FD}"/>
              </a:ext>
            </a:extLst>
          </p:cNvPr>
          <p:cNvSpPr/>
          <p:nvPr/>
        </p:nvSpPr>
        <p:spPr>
          <a:xfrm>
            <a:off x="8864600" y="2641600"/>
            <a:ext cx="355600" cy="355600"/>
          </a:xfrm>
          <a:prstGeom prst="ellipse">
            <a:avLst/>
          </a:prstGeom>
          <a:solidFill>
            <a:srgbClr val="A033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ja-JP" sz="1400" b="1">
                <a:solidFill>
                  <a:srgbClr val="FFFFFF"/>
                </a:solidFill>
                <a:latin typeface="BIZ UDPGothic"/>
                <a:ea typeface="BIZ UDPGothic"/>
              </a:rPr>
              <a:t>6</a:t>
            </a:r>
            <a:endParaRPr lang="ja-JP" altLang="en-US" sz="1400" b="1">
              <a:solidFill>
                <a:srgbClr val="FFFFFF"/>
              </a:solidFill>
              <a:latin typeface="BIZ UDPGothic"/>
              <a:ea typeface="BIZ UDPGothic"/>
            </a:endParaRP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B2BD4B33-D7F0-4F34-8223-4B8D2ADD3519}"/>
              </a:ext>
            </a:extLst>
          </p:cNvPr>
          <p:cNvSpPr txBox="1"/>
          <p:nvPr/>
        </p:nvSpPr>
        <p:spPr>
          <a:xfrm>
            <a:off x="8382000" y="3073400"/>
            <a:ext cx="13208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400" b="1">
                <a:solidFill>
                  <a:srgbClr val="2D2D2D"/>
                </a:solidFill>
                <a:latin typeface="BIZ UDPGothic"/>
                <a:ea typeface="BIZ UDPGothic"/>
              </a:rPr>
              <a:t>改善・
最終確定</a:t>
            </a: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ECA3ADC5-6BC2-4F9C-A3EC-03DCF489C4A0}"/>
              </a:ext>
            </a:extLst>
          </p:cNvPr>
          <p:cNvSpPr txBox="1"/>
          <p:nvPr/>
        </p:nvSpPr>
        <p:spPr>
          <a:xfrm>
            <a:off x="8382000" y="3606800"/>
            <a:ext cx="13208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1400">
                <a:solidFill>
                  <a:srgbClr val="8C8C8C"/>
                </a:solidFill>
                <a:latin typeface="BIZ UDPGothic"/>
                <a:ea typeface="BIZ UDPGothic"/>
              </a:rPr>
              <a:t>hist_gradient
_boosting</a:t>
            </a:r>
            <a:endParaRPr lang="ja-JP" altLang="en-US" sz="1400">
              <a:solidFill>
                <a:srgbClr val="8C8C8C"/>
              </a:solidFill>
              <a:latin typeface="BIZ UDPGothic"/>
              <a:ea typeface="BIZ UDPGothic"/>
            </a:endParaRPr>
          </a:p>
        </p:txBody>
      </p:sp>
      <p:sp>
        <p:nvSpPr>
          <p:cNvPr id="32" name="楕円 31">
            <a:extLst>
              <a:ext uri="{FF2B5EF4-FFF2-40B4-BE49-F238E27FC236}">
                <a16:creationId xmlns:a16="http://schemas.microsoft.com/office/drawing/2014/main" id="{B2B68A0B-241F-4CDB-AF83-7B9F11C4D180}"/>
              </a:ext>
            </a:extLst>
          </p:cNvPr>
          <p:cNvSpPr/>
          <p:nvPr/>
        </p:nvSpPr>
        <p:spPr>
          <a:xfrm>
            <a:off x="10439400" y="2641600"/>
            <a:ext cx="355600" cy="355600"/>
          </a:xfrm>
          <a:prstGeom prst="ellipse">
            <a:avLst/>
          </a:prstGeom>
          <a:solidFill>
            <a:srgbClr val="A033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ja-JP" sz="1400" b="1">
                <a:solidFill>
                  <a:srgbClr val="FFFFFF"/>
                </a:solidFill>
                <a:latin typeface="BIZ UDPGothic"/>
                <a:ea typeface="BIZ UDPGothic"/>
              </a:rPr>
              <a:t>7</a:t>
            </a:r>
            <a:endParaRPr lang="ja-JP" altLang="en-US" sz="1400" b="1">
              <a:solidFill>
                <a:srgbClr val="FFFFFF"/>
              </a:solidFill>
              <a:latin typeface="BIZ UDPGothic"/>
              <a:ea typeface="BIZ UDPGothic"/>
            </a:endParaRP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2C3C4A8E-7287-4512-8036-B77EB3CF0259}"/>
              </a:ext>
            </a:extLst>
          </p:cNvPr>
          <p:cNvSpPr txBox="1"/>
          <p:nvPr/>
        </p:nvSpPr>
        <p:spPr>
          <a:xfrm>
            <a:off x="9956800" y="3073400"/>
            <a:ext cx="13208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TW" altLang="en-US" sz="1400" b="1">
                <a:solidFill>
                  <a:srgbClr val="2D2D2D"/>
                </a:solidFill>
                <a:latin typeface="BIZ UDPGothic"/>
                <a:ea typeface="BIZ UDPGothic"/>
              </a:rPr>
              <a:t>最終報告書
作成</a:t>
            </a:r>
            <a:endParaRPr lang="ja-JP" altLang="en-US" sz="1400" b="1">
              <a:solidFill>
                <a:srgbClr val="2D2D2D"/>
              </a:solidFill>
              <a:latin typeface="BIZ UDPGothic"/>
              <a:ea typeface="BIZ UDPGothic"/>
            </a:endParaRP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4C862358-E2D2-4E50-899A-A9A62EA1F96C}"/>
              </a:ext>
            </a:extLst>
          </p:cNvPr>
          <p:cNvSpPr txBox="1"/>
          <p:nvPr/>
        </p:nvSpPr>
        <p:spPr>
          <a:xfrm>
            <a:off x="9956800" y="3606800"/>
            <a:ext cx="13208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400">
                <a:solidFill>
                  <a:srgbClr val="8C8C8C"/>
                </a:solidFill>
                <a:latin typeface="BIZ UDPGothic"/>
                <a:ea typeface="BIZ UDPGothic"/>
              </a:rPr>
              <a:t>検収対応</a:t>
            </a: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C2992CB8-8F3D-41C8-9F4D-A4423C7E5B3C}"/>
              </a:ext>
            </a:extLst>
          </p:cNvPr>
          <p:cNvSpPr txBox="1"/>
          <p:nvPr/>
        </p:nvSpPr>
        <p:spPr>
          <a:xfrm>
            <a:off x="457200" y="4572000"/>
            <a:ext cx="381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600" b="1">
                <a:solidFill>
                  <a:srgbClr val="A0332E"/>
                </a:solidFill>
                <a:latin typeface="BIZ UDPGothic"/>
                <a:ea typeface="BIZ UDPGothic"/>
              </a:rPr>
              <a:t>再現性トレース</a:t>
            </a:r>
          </a:p>
        </p:txBody>
      </p:sp>
      <p:sp>
        <p:nvSpPr>
          <p:cNvPr id="36" name="四角形: 角を丸くする 35">
            <a:extLst>
              <a:ext uri="{FF2B5EF4-FFF2-40B4-BE49-F238E27FC236}">
                <a16:creationId xmlns:a16="http://schemas.microsoft.com/office/drawing/2014/main" id="{BFBFD7EA-3839-43F0-A3B1-42718047B00F}"/>
              </a:ext>
            </a:extLst>
          </p:cNvPr>
          <p:cNvSpPr/>
          <p:nvPr/>
        </p:nvSpPr>
        <p:spPr>
          <a:xfrm>
            <a:off x="457200" y="4978400"/>
            <a:ext cx="11277600" cy="889000"/>
          </a:xfrm>
          <a:prstGeom prst="roundRect">
            <a:avLst/>
          </a:prstGeom>
          <a:solidFill>
            <a:srgbClr val="F7F6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/>
          <a:lstStyle/>
          <a:p>
            <a:pPr algn="l"/>
            <a:r>
              <a:rPr lang="ja-JP" altLang="en-US" sz="1400" dirty="0">
                <a:solidFill>
                  <a:srgbClr val="4A4A4A"/>
                </a:solidFill>
                <a:latin typeface="BIZ UDPGothic"/>
                <a:ea typeface="BIZ UDPGothic"/>
              </a:rPr>
              <a:t>● 実験アーティファクト：</a:t>
            </a:r>
            <a:r>
              <a:rPr lang="en-US" altLang="ja-JP" sz="1400" dirty="0" err="1">
                <a:solidFill>
                  <a:srgbClr val="4A4A4A"/>
                </a:solidFill>
                <a:latin typeface="BIZ UDPGothic"/>
                <a:ea typeface="BIZ UDPGothic"/>
              </a:rPr>
              <a:t>run_summary.json</a:t>
            </a:r>
            <a:r>
              <a:rPr lang="ja-JP" altLang="en-US" sz="1400" dirty="0">
                <a:solidFill>
                  <a:srgbClr val="4A4A4A"/>
                </a:solidFill>
                <a:latin typeface="BIZ UDPGothic"/>
                <a:ea typeface="BIZ UDPGothic"/>
              </a:rPr>
              <a:t>、</a:t>
            </a:r>
            <a:r>
              <a:rPr lang="en-US" altLang="ja-JP" sz="1400" dirty="0" err="1">
                <a:solidFill>
                  <a:srgbClr val="4A4A4A"/>
                </a:solidFill>
                <a:latin typeface="BIZ UDPGothic"/>
                <a:ea typeface="BIZ UDPGothic"/>
              </a:rPr>
              <a:t>metrics.json</a:t>
            </a:r>
            <a:r>
              <a:rPr lang="ja-JP" altLang="en-US" sz="1400" dirty="0">
                <a:solidFill>
                  <a:srgbClr val="4A4A4A"/>
                </a:solidFill>
                <a:latin typeface="BIZ UDPGothic"/>
                <a:ea typeface="BIZ UDPGothic"/>
              </a:rPr>
              <a:t>、</a:t>
            </a:r>
            <a:r>
              <a:rPr lang="en-US" altLang="ja-JP" sz="1400" dirty="0">
                <a:solidFill>
                  <a:srgbClr val="4A4A4A"/>
                </a:solidFill>
                <a:latin typeface="BIZ UDPGothic"/>
                <a:ea typeface="BIZ UDPGothic"/>
              </a:rPr>
              <a:t>experiments/</a:t>
            </a:r>
            <a:r>
              <a:rPr lang="en-US" altLang="ja-JP" sz="1400" dirty="0" err="1">
                <a:solidFill>
                  <a:srgbClr val="4A4A4A"/>
                </a:solidFill>
                <a:latin typeface="BIZ UDPGothic"/>
                <a:ea typeface="BIZ UDPGothic"/>
              </a:rPr>
              <a:t>leaderboard.json</a:t>
            </a:r>
            <a:r>
              <a:rPr lang="en-US" altLang="ja-JP" sz="1400" dirty="0">
                <a:solidFill>
                  <a:srgbClr val="4A4A4A"/>
                </a:solidFill>
                <a:latin typeface="BIZ UDPGothic"/>
                <a:ea typeface="BIZ UDPGothic"/>
              </a:rPr>
              <a:t>
● </a:t>
            </a:r>
            <a:r>
              <a:rPr lang="ja-JP" altLang="en-US" sz="1400" dirty="0">
                <a:solidFill>
                  <a:srgbClr val="4A4A4A"/>
                </a:solidFill>
                <a:latin typeface="BIZ UDPGothic"/>
                <a:ea typeface="BIZ UDPGothic"/>
              </a:rPr>
              <a:t>中間レビュー議事録：会議録</a:t>
            </a:r>
            <a:r>
              <a:rPr lang="en-US" altLang="ja-JP" sz="1400" dirty="0">
                <a:solidFill>
                  <a:srgbClr val="4A4A4A"/>
                </a:solidFill>
                <a:latin typeface="BIZ UDPGothic"/>
                <a:ea typeface="BIZ UDPGothic"/>
              </a:rPr>
              <a:t>_2025-09-16.md</a:t>
            </a:r>
            <a:r>
              <a:rPr lang="ja-JP" altLang="en-US" sz="1400" dirty="0">
                <a:solidFill>
                  <a:srgbClr val="4A4A4A"/>
                </a:solidFill>
                <a:latin typeface="BIZ UDPGothic"/>
                <a:ea typeface="BIZ UDPGothic"/>
              </a:rPr>
              <a:t>（</a:t>
            </a:r>
            <a:r>
              <a:rPr lang="en-US" altLang="ja-JP" sz="1400" dirty="0">
                <a:solidFill>
                  <a:srgbClr val="4A4A4A"/>
                </a:solidFill>
                <a:latin typeface="BIZ UDPGothic"/>
                <a:ea typeface="BIZ UDPGothic"/>
              </a:rPr>
              <a:t>M02</a:t>
            </a:r>
            <a:r>
              <a:rPr lang="ja-JP" altLang="en-US" sz="1400" dirty="0">
                <a:solidFill>
                  <a:srgbClr val="4A4A4A"/>
                </a:solidFill>
                <a:latin typeface="BIZ UDPGothic"/>
                <a:ea typeface="BIZ UDPGothic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4227345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AE24D14-E653-46C3-B0B0-A00D4F8EA3D4}"/>
              </a:ext>
            </a:extLst>
          </p:cNvPr>
          <p:cNvSpPr txBox="1"/>
          <p:nvPr/>
        </p:nvSpPr>
        <p:spPr>
          <a:xfrm>
            <a:off x="457200" y="254000"/>
            <a:ext cx="112776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2600" b="1">
                <a:solidFill>
                  <a:srgbClr val="2D2D2D"/>
                </a:solidFill>
                <a:latin typeface="BIZ UDPGothic"/>
                <a:ea typeface="BIZ UDPGothic"/>
              </a:rPr>
              <a:t>4. </a:t>
            </a:r>
            <a:r>
              <a:rPr lang="ja-JP" altLang="en-US" sz="2600" b="1">
                <a:solidFill>
                  <a:srgbClr val="2D2D2D"/>
                </a:solidFill>
                <a:latin typeface="BIZ UDPGothic"/>
                <a:ea typeface="BIZ UDPGothic"/>
              </a:rPr>
              <a:t>データ概要と特徴量選定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B3DDA9D-4C3E-4140-BA75-F9088087A866}"/>
              </a:ext>
            </a:extLst>
          </p:cNvPr>
          <p:cNvSpPr txBox="1"/>
          <p:nvPr/>
        </p:nvSpPr>
        <p:spPr>
          <a:xfrm>
            <a:off x="457200" y="914400"/>
            <a:ext cx="508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600" b="1">
                <a:solidFill>
                  <a:srgbClr val="A0332E"/>
                </a:solidFill>
                <a:latin typeface="BIZ UDPGothic"/>
                <a:ea typeface="BIZ UDPGothic"/>
              </a:rPr>
              <a:t>データ基本情報（</a:t>
            </a:r>
            <a:r>
              <a:rPr lang="en-US" altLang="ja-JP" sz="1600" b="1">
                <a:solidFill>
                  <a:srgbClr val="A0332E"/>
                </a:solidFill>
                <a:latin typeface="BIZ UDPGothic"/>
                <a:ea typeface="BIZ UDPGothic"/>
              </a:rPr>
              <a:t>EDA</a:t>
            </a:r>
            <a:r>
              <a:rPr lang="ja-JP" altLang="en-US" sz="1600" b="1">
                <a:solidFill>
                  <a:srgbClr val="A0332E"/>
                </a:solidFill>
                <a:latin typeface="BIZ UDPGothic"/>
                <a:ea typeface="BIZ UDPGothic"/>
              </a:rPr>
              <a:t>出力）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5B128901-3081-4508-894E-673257A7A3E4}"/>
              </a:ext>
            </a:extLst>
          </p:cNvPr>
          <p:cNvSpPr/>
          <p:nvPr/>
        </p:nvSpPr>
        <p:spPr>
          <a:xfrm>
            <a:off x="457200" y="1320800"/>
            <a:ext cx="1778000" cy="952500"/>
          </a:xfrm>
          <a:prstGeom prst="roundRect">
            <a:avLst/>
          </a:prstGeom>
          <a:solidFill>
            <a:srgbClr val="F2F0E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F2CD81A-10A3-4CDE-99FD-5E09541FFB38}"/>
              </a:ext>
            </a:extLst>
          </p:cNvPr>
          <p:cNvSpPr txBox="1"/>
          <p:nvPr/>
        </p:nvSpPr>
        <p:spPr>
          <a:xfrm>
            <a:off x="457200" y="1346200"/>
            <a:ext cx="1778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b="1">
                <a:solidFill>
                  <a:srgbClr val="2D2D2D"/>
                </a:solidFill>
                <a:latin typeface="BIZ UDPGothic"/>
                <a:ea typeface="BIZ UDPGothic"/>
              </a:rPr>
              <a:t>3,500</a:t>
            </a:r>
            <a:r>
              <a:rPr lang="ja-JP" altLang="en-US" b="1">
                <a:solidFill>
                  <a:srgbClr val="2D2D2D"/>
                </a:solidFill>
                <a:latin typeface="BIZ UDPGothic"/>
                <a:ea typeface="BIZ UDPGothic"/>
              </a:rPr>
              <a:t>行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B62164E-2461-4FDE-8ED8-90538F6097CE}"/>
              </a:ext>
            </a:extLst>
          </p:cNvPr>
          <p:cNvSpPr txBox="1"/>
          <p:nvPr/>
        </p:nvSpPr>
        <p:spPr>
          <a:xfrm>
            <a:off x="457200" y="1828800"/>
            <a:ext cx="1778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400">
                <a:solidFill>
                  <a:srgbClr val="8C8C8C"/>
                </a:solidFill>
                <a:latin typeface="BIZ UDPGothic"/>
                <a:ea typeface="BIZ UDPGothic"/>
              </a:rPr>
              <a:t>行数</a:t>
            </a: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23FFFF07-0AF5-48B8-9471-FCC51559FD50}"/>
              </a:ext>
            </a:extLst>
          </p:cNvPr>
          <p:cNvSpPr/>
          <p:nvPr/>
        </p:nvSpPr>
        <p:spPr>
          <a:xfrm>
            <a:off x="2489200" y="1320800"/>
            <a:ext cx="1778000" cy="952500"/>
          </a:xfrm>
          <a:prstGeom prst="roundRect">
            <a:avLst/>
          </a:prstGeom>
          <a:solidFill>
            <a:srgbClr val="F2F0E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31E440A9-70B0-4DAD-AFD7-DD5AD6A2C1E6}"/>
              </a:ext>
            </a:extLst>
          </p:cNvPr>
          <p:cNvSpPr txBox="1"/>
          <p:nvPr/>
        </p:nvSpPr>
        <p:spPr>
          <a:xfrm>
            <a:off x="2489200" y="1346200"/>
            <a:ext cx="1778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b="1">
                <a:solidFill>
                  <a:srgbClr val="2D2D2D"/>
                </a:solidFill>
                <a:latin typeface="BIZ UDPGothic"/>
                <a:ea typeface="BIZ UDPGothic"/>
              </a:rPr>
              <a:t>12</a:t>
            </a:r>
            <a:r>
              <a:rPr lang="ja-JP" altLang="en-US" b="1">
                <a:solidFill>
                  <a:srgbClr val="2D2D2D"/>
                </a:solidFill>
                <a:latin typeface="BIZ UDPGothic"/>
                <a:ea typeface="BIZ UDPGothic"/>
              </a:rPr>
              <a:t>列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014898E8-BE39-402C-935E-DCA40E94238A}"/>
              </a:ext>
            </a:extLst>
          </p:cNvPr>
          <p:cNvSpPr txBox="1"/>
          <p:nvPr/>
        </p:nvSpPr>
        <p:spPr>
          <a:xfrm>
            <a:off x="2489200" y="1828800"/>
            <a:ext cx="1778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400">
                <a:solidFill>
                  <a:srgbClr val="8C8C8C"/>
                </a:solidFill>
                <a:latin typeface="BIZ UDPGothic"/>
                <a:ea typeface="BIZ UDPGothic"/>
              </a:rPr>
              <a:t>カラム数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560C85B0-A753-4AFA-BB34-6DAB4F2DCA46}"/>
              </a:ext>
            </a:extLst>
          </p:cNvPr>
          <p:cNvSpPr/>
          <p:nvPr/>
        </p:nvSpPr>
        <p:spPr>
          <a:xfrm>
            <a:off x="4521200" y="1320800"/>
            <a:ext cx="1778000" cy="952500"/>
          </a:xfrm>
          <a:prstGeom prst="roundRect">
            <a:avLst/>
          </a:prstGeom>
          <a:solidFill>
            <a:srgbClr val="F2F0E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AF6294D3-E480-4477-B141-DEBF424741A6}"/>
              </a:ext>
            </a:extLst>
          </p:cNvPr>
          <p:cNvSpPr txBox="1"/>
          <p:nvPr/>
        </p:nvSpPr>
        <p:spPr>
          <a:xfrm>
            <a:off x="4521200" y="1346200"/>
            <a:ext cx="1778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b="1">
                <a:solidFill>
                  <a:srgbClr val="2D2D2D"/>
                </a:solidFill>
                <a:latin typeface="BIZ UDPGothic"/>
                <a:ea typeface="BIZ UDPGothic"/>
              </a:rPr>
              <a:t>なし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AF9B709F-B351-4221-8589-AB05D9D1AFE9}"/>
              </a:ext>
            </a:extLst>
          </p:cNvPr>
          <p:cNvSpPr txBox="1"/>
          <p:nvPr/>
        </p:nvSpPr>
        <p:spPr>
          <a:xfrm>
            <a:off x="4521200" y="1828800"/>
            <a:ext cx="1778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400">
                <a:solidFill>
                  <a:srgbClr val="8C8C8C"/>
                </a:solidFill>
                <a:latin typeface="BIZ UDPGothic"/>
                <a:ea typeface="BIZ UDPGothic"/>
              </a:rPr>
              <a:t>欠損値</a:t>
            </a:r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86443007-A614-4353-8F64-B518D5EE508B}"/>
              </a:ext>
            </a:extLst>
          </p:cNvPr>
          <p:cNvSpPr/>
          <p:nvPr/>
        </p:nvSpPr>
        <p:spPr>
          <a:xfrm>
            <a:off x="6553200" y="1320800"/>
            <a:ext cx="1778000" cy="952500"/>
          </a:xfrm>
          <a:prstGeom prst="roundRect">
            <a:avLst/>
          </a:prstGeom>
          <a:solidFill>
            <a:srgbClr val="F2F0E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1BFDE3D3-688A-41DA-97EA-487FC092B60B}"/>
              </a:ext>
            </a:extLst>
          </p:cNvPr>
          <p:cNvSpPr txBox="1"/>
          <p:nvPr/>
        </p:nvSpPr>
        <p:spPr>
          <a:xfrm>
            <a:off x="6553200" y="1346200"/>
            <a:ext cx="1778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b="1">
                <a:solidFill>
                  <a:srgbClr val="2D2D2D"/>
                </a:solidFill>
                <a:latin typeface="BIZ UDPGothic"/>
                <a:ea typeface="BIZ UDPGothic"/>
              </a:rPr>
              <a:t>disease (0/1)</a:t>
            </a:r>
            <a:endParaRPr lang="ja-JP" altLang="en-US" b="1">
              <a:solidFill>
                <a:srgbClr val="2D2D2D"/>
              </a:solidFill>
              <a:latin typeface="BIZ UDPGothic"/>
              <a:ea typeface="BIZ UDPGothic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5EAC588C-F0DA-4833-A7AA-F7A55BBAF984}"/>
              </a:ext>
            </a:extLst>
          </p:cNvPr>
          <p:cNvSpPr txBox="1"/>
          <p:nvPr/>
        </p:nvSpPr>
        <p:spPr>
          <a:xfrm>
            <a:off x="6553200" y="1828800"/>
            <a:ext cx="1778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400">
                <a:solidFill>
                  <a:srgbClr val="8C8C8C"/>
                </a:solidFill>
                <a:latin typeface="BIZ UDPGothic"/>
                <a:ea typeface="BIZ UDPGothic"/>
              </a:rPr>
              <a:t>目的変数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E0C983BF-5994-4408-B9A6-4DE6D51763DA}"/>
              </a:ext>
            </a:extLst>
          </p:cNvPr>
          <p:cNvSpPr txBox="1"/>
          <p:nvPr/>
        </p:nvSpPr>
        <p:spPr>
          <a:xfrm>
            <a:off x="457200" y="2476500"/>
            <a:ext cx="508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600" b="1">
                <a:solidFill>
                  <a:srgbClr val="A0332E"/>
                </a:solidFill>
                <a:latin typeface="BIZ UDPGothic"/>
                <a:ea typeface="BIZ UDPGothic"/>
              </a:rPr>
              <a:t>特徴量選定</a:t>
            </a:r>
          </a:p>
        </p:txBody>
      </p:sp>
      <p:sp>
        <p:nvSpPr>
          <p:cNvPr id="17" name="四角形: 角を丸くする 16">
            <a:extLst>
              <a:ext uri="{FF2B5EF4-FFF2-40B4-BE49-F238E27FC236}">
                <a16:creationId xmlns:a16="http://schemas.microsoft.com/office/drawing/2014/main" id="{5EA966E6-A219-433C-A4A3-65874A786207}"/>
              </a:ext>
            </a:extLst>
          </p:cNvPr>
          <p:cNvSpPr/>
          <p:nvPr/>
        </p:nvSpPr>
        <p:spPr>
          <a:xfrm>
            <a:off x="457200" y="2921000"/>
            <a:ext cx="2540000" cy="2921000"/>
          </a:xfrm>
          <a:prstGeom prst="roundRect">
            <a:avLst/>
          </a:prstGeom>
          <a:solidFill>
            <a:srgbClr val="F7F6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40049151-06BC-414C-8E79-3571EF952B81}"/>
              </a:ext>
            </a:extLst>
          </p:cNvPr>
          <p:cNvSpPr txBox="1"/>
          <p:nvPr/>
        </p:nvSpPr>
        <p:spPr>
          <a:xfrm>
            <a:off x="457200" y="2946400"/>
            <a:ext cx="254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400" b="1">
                <a:solidFill>
                  <a:srgbClr val="2D2D2D"/>
                </a:solidFill>
                <a:latin typeface="BIZ UDPGothic"/>
                <a:ea typeface="BIZ UDPGothic"/>
              </a:rPr>
              <a:t>全カラム（</a:t>
            </a:r>
            <a:r>
              <a:rPr lang="en-US" altLang="ja-JP" sz="1400" b="1">
                <a:solidFill>
                  <a:srgbClr val="2D2D2D"/>
                </a:solidFill>
                <a:latin typeface="BIZ UDPGothic"/>
                <a:ea typeface="BIZ UDPGothic"/>
              </a:rPr>
              <a:t>12</a:t>
            </a:r>
            <a:r>
              <a:rPr lang="ja-JP" altLang="en-US" sz="1400" b="1">
                <a:solidFill>
                  <a:srgbClr val="2D2D2D"/>
                </a:solidFill>
                <a:latin typeface="BIZ UDPGothic"/>
                <a:ea typeface="BIZ UDPGothic"/>
              </a:rPr>
              <a:t>列）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E587813F-AA42-4DFA-AA96-DA7DBF3FE3A5}"/>
              </a:ext>
            </a:extLst>
          </p:cNvPr>
          <p:cNvSpPr txBox="1"/>
          <p:nvPr/>
        </p:nvSpPr>
        <p:spPr>
          <a:xfrm>
            <a:off x="584200" y="3302000"/>
            <a:ext cx="2286000" cy="228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1400">
                <a:solidFill>
                  <a:srgbClr val="5C5C5C"/>
                </a:solidFill>
                <a:latin typeface="BIZ UDPGothic"/>
                <a:ea typeface="BIZ UDPGothic"/>
              </a:rPr>
              <a:t>id / Age / Gender
T_Bil / D_Bil / ALP
ALT_GPT / AST_GOT
TP / Alb / AG_ratio
disease</a:t>
            </a:r>
            <a:endParaRPr lang="ja-JP" altLang="en-US" sz="1400">
              <a:solidFill>
                <a:srgbClr val="5C5C5C"/>
              </a:solidFill>
              <a:latin typeface="BIZ UDPGothic"/>
              <a:ea typeface="BIZ UDPGothic"/>
            </a:endParaRPr>
          </a:p>
        </p:txBody>
      </p:sp>
      <p:sp>
        <p:nvSpPr>
          <p:cNvPr id="20" name="矢印: 右 19">
            <a:extLst>
              <a:ext uri="{FF2B5EF4-FFF2-40B4-BE49-F238E27FC236}">
                <a16:creationId xmlns:a16="http://schemas.microsoft.com/office/drawing/2014/main" id="{6FB98A29-35E3-490D-928D-1C22A37EC0ED}"/>
              </a:ext>
            </a:extLst>
          </p:cNvPr>
          <p:cNvSpPr/>
          <p:nvPr/>
        </p:nvSpPr>
        <p:spPr>
          <a:xfrm>
            <a:off x="3149600" y="4191000"/>
            <a:ext cx="508000" cy="254000"/>
          </a:xfrm>
          <a:prstGeom prst="rightArrow">
            <a:avLst/>
          </a:prstGeom>
          <a:solidFill>
            <a:srgbClr val="A033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21" name="四角形: 角を丸くする 20">
            <a:extLst>
              <a:ext uri="{FF2B5EF4-FFF2-40B4-BE49-F238E27FC236}">
                <a16:creationId xmlns:a16="http://schemas.microsoft.com/office/drawing/2014/main" id="{8EF9407B-0DD6-44D5-8E3B-EFBDFCF1B814}"/>
              </a:ext>
            </a:extLst>
          </p:cNvPr>
          <p:cNvSpPr/>
          <p:nvPr/>
        </p:nvSpPr>
        <p:spPr>
          <a:xfrm>
            <a:off x="3810000" y="3810000"/>
            <a:ext cx="1524000" cy="1016000"/>
          </a:xfrm>
          <a:prstGeom prst="roundRect">
            <a:avLst/>
          </a:prstGeom>
          <a:solidFill>
            <a:srgbClr val="A033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ja-JP" altLang="en-US" sz="1600" b="1">
                <a:solidFill>
                  <a:srgbClr val="FFFFFF"/>
                </a:solidFill>
                <a:latin typeface="BIZ UDPGothic"/>
                <a:ea typeface="BIZ UDPGothic"/>
              </a:rPr>
              <a:t>特徴量
選定</a:t>
            </a:r>
          </a:p>
        </p:txBody>
      </p:sp>
      <p:sp>
        <p:nvSpPr>
          <p:cNvPr id="22" name="矢印: 右 21">
            <a:extLst>
              <a:ext uri="{FF2B5EF4-FFF2-40B4-BE49-F238E27FC236}">
                <a16:creationId xmlns:a16="http://schemas.microsoft.com/office/drawing/2014/main" id="{CCD38537-6E08-49AB-991E-B9CF43D88375}"/>
              </a:ext>
            </a:extLst>
          </p:cNvPr>
          <p:cNvSpPr/>
          <p:nvPr/>
        </p:nvSpPr>
        <p:spPr>
          <a:xfrm>
            <a:off x="5486400" y="4191000"/>
            <a:ext cx="508000" cy="254000"/>
          </a:xfrm>
          <a:prstGeom prst="rightArrow">
            <a:avLst/>
          </a:prstGeom>
          <a:solidFill>
            <a:srgbClr val="A033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23" name="四角形: 角を丸くする 22">
            <a:extLst>
              <a:ext uri="{FF2B5EF4-FFF2-40B4-BE49-F238E27FC236}">
                <a16:creationId xmlns:a16="http://schemas.microsoft.com/office/drawing/2014/main" id="{CEBBA692-22D1-4BE2-B2E9-C1CE0EEAA163}"/>
              </a:ext>
            </a:extLst>
          </p:cNvPr>
          <p:cNvSpPr/>
          <p:nvPr/>
        </p:nvSpPr>
        <p:spPr>
          <a:xfrm>
            <a:off x="6146800" y="2921000"/>
            <a:ext cx="2794000" cy="2286000"/>
          </a:xfrm>
          <a:prstGeom prst="roundRect">
            <a:avLst/>
          </a:prstGeom>
          <a:solidFill>
            <a:srgbClr val="F2F0E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970DCE84-5C32-4DD8-97F1-807CC534D3DF}"/>
              </a:ext>
            </a:extLst>
          </p:cNvPr>
          <p:cNvSpPr txBox="1"/>
          <p:nvPr/>
        </p:nvSpPr>
        <p:spPr>
          <a:xfrm>
            <a:off x="6146800" y="2946400"/>
            <a:ext cx="2794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TW" altLang="en-US" sz="1400" b="1">
                <a:solidFill>
                  <a:srgbClr val="2D2D2D"/>
                </a:solidFill>
                <a:latin typeface="BIZ UDPGothic"/>
                <a:ea typeface="BIZ UDPGothic"/>
              </a:rPr>
              <a:t>選択特徴量（</a:t>
            </a:r>
            <a:r>
              <a:rPr lang="en-US" altLang="zh-TW" sz="1400" b="1">
                <a:solidFill>
                  <a:srgbClr val="2D2D2D"/>
                </a:solidFill>
                <a:latin typeface="BIZ UDPGothic"/>
                <a:ea typeface="BIZ UDPGothic"/>
              </a:rPr>
              <a:t>10</a:t>
            </a:r>
            <a:r>
              <a:rPr lang="zh-TW" altLang="en-US" sz="1400" b="1">
                <a:solidFill>
                  <a:srgbClr val="2D2D2D"/>
                </a:solidFill>
                <a:latin typeface="BIZ UDPGothic"/>
                <a:ea typeface="BIZ UDPGothic"/>
              </a:rPr>
              <a:t>列）</a:t>
            </a:r>
            <a:endParaRPr lang="ja-JP" altLang="en-US" sz="1400" b="1">
              <a:solidFill>
                <a:srgbClr val="2D2D2D"/>
              </a:solidFill>
              <a:latin typeface="BIZ UDPGothic"/>
              <a:ea typeface="BIZ UDPGothic"/>
            </a:endParaRP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89D6889C-AED9-4CE7-89EF-A6E1C24196A4}"/>
              </a:ext>
            </a:extLst>
          </p:cNvPr>
          <p:cNvSpPr txBox="1"/>
          <p:nvPr/>
        </p:nvSpPr>
        <p:spPr>
          <a:xfrm>
            <a:off x="6273800" y="3302000"/>
            <a:ext cx="2540000" cy="152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a-DK" altLang="ja-JP" sz="1400">
                <a:solidFill>
                  <a:srgbClr val="4A4A4A"/>
                </a:solidFill>
                <a:latin typeface="BIZ UDPGothic"/>
                <a:ea typeface="BIZ UDPGothic"/>
              </a:rPr>
              <a:t>Age / Gender
T_Bil / D_Bil / ALP
ALT_GPT / AST_GOT
TP / Alb / AG_ratio</a:t>
            </a:r>
            <a:endParaRPr lang="ja-JP" altLang="en-US" sz="1400">
              <a:solidFill>
                <a:srgbClr val="4A4A4A"/>
              </a:solidFill>
              <a:latin typeface="BIZ UDPGothic"/>
              <a:ea typeface="BIZ UDPGothic"/>
            </a:endParaRPr>
          </a:p>
        </p:txBody>
      </p:sp>
      <p:sp>
        <p:nvSpPr>
          <p:cNvPr id="26" name="四角形: 角を丸くする 25">
            <a:extLst>
              <a:ext uri="{FF2B5EF4-FFF2-40B4-BE49-F238E27FC236}">
                <a16:creationId xmlns:a16="http://schemas.microsoft.com/office/drawing/2014/main" id="{56823F04-1E72-4CFA-9A39-0519686CF740}"/>
              </a:ext>
            </a:extLst>
          </p:cNvPr>
          <p:cNvSpPr/>
          <p:nvPr/>
        </p:nvSpPr>
        <p:spPr>
          <a:xfrm>
            <a:off x="9144000" y="3810000"/>
            <a:ext cx="2540000" cy="1016000"/>
          </a:xfrm>
          <a:prstGeom prst="roundRect">
            <a:avLst/>
          </a:prstGeom>
          <a:solidFill>
            <a:srgbClr val="FFFFFF"/>
          </a:solidFill>
          <a:ln w="25400" cap="flat" cmpd="sng" algn="ctr">
            <a:solidFill>
              <a:srgbClr val="A0332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BFE86C7A-2B5F-45C1-8960-BE706C05CB9D}"/>
              </a:ext>
            </a:extLst>
          </p:cNvPr>
          <p:cNvSpPr txBox="1"/>
          <p:nvPr/>
        </p:nvSpPr>
        <p:spPr>
          <a:xfrm>
            <a:off x="9144000" y="3835400"/>
            <a:ext cx="254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400" b="1">
                <a:solidFill>
                  <a:srgbClr val="A0332E"/>
                </a:solidFill>
                <a:latin typeface="BIZ UDPGothic"/>
                <a:ea typeface="BIZ UDPGothic"/>
              </a:rPr>
              <a:t>除外（</a:t>
            </a:r>
            <a:r>
              <a:rPr lang="en-US" altLang="ja-JP" sz="1400" b="1">
                <a:solidFill>
                  <a:srgbClr val="A0332E"/>
                </a:solidFill>
                <a:latin typeface="BIZ UDPGothic"/>
                <a:ea typeface="BIZ UDPGothic"/>
              </a:rPr>
              <a:t>1</a:t>
            </a:r>
            <a:r>
              <a:rPr lang="ja-JP" altLang="en-US" sz="1400" b="1">
                <a:solidFill>
                  <a:srgbClr val="A0332E"/>
                </a:solidFill>
                <a:latin typeface="BIZ UDPGothic"/>
                <a:ea typeface="BIZ UDPGothic"/>
              </a:rPr>
              <a:t>列）</a:t>
            </a: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BF260D51-2916-4B20-A0A8-467FCCD3A613}"/>
              </a:ext>
            </a:extLst>
          </p:cNvPr>
          <p:cNvSpPr txBox="1"/>
          <p:nvPr/>
        </p:nvSpPr>
        <p:spPr>
          <a:xfrm>
            <a:off x="9144000" y="4191000"/>
            <a:ext cx="2540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1400">
                <a:solidFill>
                  <a:srgbClr val="5C5C5C"/>
                </a:solidFill>
                <a:latin typeface="BIZ UDPGothic"/>
                <a:ea typeface="BIZ UDPGothic"/>
              </a:rPr>
              <a:t>id
</a:t>
            </a:r>
            <a:r>
              <a:rPr lang="ja-JP" altLang="en-US" sz="1400">
                <a:solidFill>
                  <a:srgbClr val="5C5C5C"/>
                </a:solidFill>
                <a:latin typeface="BIZ UDPGothic"/>
                <a:ea typeface="BIZ UDPGothic"/>
              </a:rPr>
              <a:t>（</a:t>
            </a:r>
            <a:r>
              <a:rPr lang="en-US" altLang="ja-JP" sz="1400">
                <a:solidFill>
                  <a:srgbClr val="5C5C5C"/>
                </a:solidFill>
                <a:latin typeface="BIZ UDPGothic"/>
                <a:ea typeface="BIZ UDPGothic"/>
              </a:rPr>
              <a:t>identifier_like_name</a:t>
            </a:r>
            <a:r>
              <a:rPr lang="ja-JP" altLang="en-US" sz="1400">
                <a:solidFill>
                  <a:srgbClr val="5C5C5C"/>
                </a:solidFill>
                <a:latin typeface="BIZ UDPGothic"/>
                <a:ea typeface="BIZ UDPGothic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60400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E8DD925-968C-45E4-A906-6349AE544E64}"/>
              </a:ext>
            </a:extLst>
          </p:cNvPr>
          <p:cNvSpPr txBox="1"/>
          <p:nvPr/>
        </p:nvSpPr>
        <p:spPr>
          <a:xfrm>
            <a:off x="457200" y="254000"/>
            <a:ext cx="112776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2600" b="1">
                <a:solidFill>
                  <a:srgbClr val="2D2D2D"/>
                </a:solidFill>
                <a:latin typeface="BIZ UDPGothic"/>
                <a:ea typeface="BIZ UDPGothic"/>
              </a:rPr>
              <a:t>5. </a:t>
            </a:r>
            <a:r>
              <a:rPr lang="ja-JP" altLang="en-US" sz="2600" b="1">
                <a:solidFill>
                  <a:srgbClr val="2D2D2D"/>
                </a:solidFill>
                <a:latin typeface="BIZ UDPGothic"/>
                <a:ea typeface="BIZ UDPGothic"/>
              </a:rPr>
              <a:t>モデル比較結果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9DDEC57-6289-4E5C-B76D-81A6E7B7B431}"/>
              </a:ext>
            </a:extLst>
          </p:cNvPr>
          <p:cNvSpPr txBox="1"/>
          <p:nvPr/>
        </p:nvSpPr>
        <p:spPr>
          <a:xfrm>
            <a:off x="457200" y="812800"/>
            <a:ext cx="112776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1400">
                <a:solidFill>
                  <a:srgbClr val="8C8C8C"/>
                </a:solidFill>
                <a:latin typeface="BIZ UDPGothic"/>
                <a:ea typeface="BIZ UDPGothic"/>
              </a:rPr>
              <a:t>Leaderboard</a:t>
            </a:r>
            <a:r>
              <a:rPr lang="ja-JP" altLang="en-US" sz="1400">
                <a:solidFill>
                  <a:srgbClr val="8C8C8C"/>
                </a:solidFill>
                <a:latin typeface="BIZ UDPGothic"/>
                <a:ea typeface="BIZ UDPGothic"/>
              </a:rPr>
              <a:t>上位</a:t>
            </a:r>
            <a:r>
              <a:rPr lang="en-US" altLang="ja-JP" sz="1400">
                <a:solidFill>
                  <a:srgbClr val="8C8C8C"/>
                </a:solidFill>
                <a:latin typeface="BIZ UDPGothic"/>
                <a:ea typeface="BIZ UDPGothic"/>
              </a:rPr>
              <a:t>6</a:t>
            </a:r>
            <a:r>
              <a:rPr lang="ja-JP" altLang="en-US" sz="1400">
                <a:solidFill>
                  <a:srgbClr val="8C8C8C"/>
                </a:solidFill>
                <a:latin typeface="BIZ UDPGothic"/>
                <a:ea typeface="BIZ UDPGothic"/>
              </a:rPr>
              <a:t>モデルの比較（</a:t>
            </a:r>
            <a:r>
              <a:rPr lang="en-US" altLang="ja-JP" sz="1400">
                <a:solidFill>
                  <a:srgbClr val="8C8C8C"/>
                </a:solidFill>
                <a:latin typeface="BIZ UDPGothic"/>
                <a:ea typeface="BIZ UDPGothic"/>
              </a:rPr>
              <a:t>F1-macro</a:t>
            </a:r>
            <a:r>
              <a:rPr lang="ja-JP" altLang="en-US" sz="1400">
                <a:solidFill>
                  <a:srgbClr val="8C8C8C"/>
                </a:solidFill>
                <a:latin typeface="BIZ UDPGothic"/>
                <a:ea typeface="BIZ UDPGothic"/>
              </a:rPr>
              <a:t>および</a:t>
            </a:r>
            <a:r>
              <a:rPr lang="en-US" altLang="ja-JP" sz="1400">
                <a:solidFill>
                  <a:srgbClr val="8C8C8C"/>
                </a:solidFill>
                <a:latin typeface="BIZ UDPGothic"/>
                <a:ea typeface="BIZ UDPGothic"/>
              </a:rPr>
              <a:t>Accuracy</a:t>
            </a:r>
            <a:r>
              <a:rPr lang="ja-JP" altLang="en-US" sz="1400">
                <a:solidFill>
                  <a:srgbClr val="8C8C8C"/>
                </a:solidFill>
                <a:latin typeface="BIZ UDPGothic"/>
                <a:ea typeface="BIZ UDPGothic"/>
              </a:rPr>
              <a:t>）</a:t>
            </a:r>
          </a:p>
        </p:txBody>
      </p:sp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F32224FA-A153-407D-A9FD-347BDFAB9A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4954600"/>
              </p:ext>
            </p:extLst>
          </p:nvPr>
        </p:nvGraphicFramePr>
        <p:xfrm>
          <a:off x="457200" y="1206500"/>
          <a:ext cx="6350000" cy="34616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7500">
                  <a:extLst>
                    <a:ext uri="{9D8B030D-6E8A-4147-A177-3AD203B41FA5}">
                      <a16:colId xmlns:a16="http://schemas.microsoft.com/office/drawing/2014/main" val="3230813629"/>
                    </a:ext>
                  </a:extLst>
                </a:gridCol>
                <a:gridCol w="1587500">
                  <a:extLst>
                    <a:ext uri="{9D8B030D-6E8A-4147-A177-3AD203B41FA5}">
                      <a16:colId xmlns:a16="http://schemas.microsoft.com/office/drawing/2014/main" val="3280954960"/>
                    </a:ext>
                  </a:extLst>
                </a:gridCol>
                <a:gridCol w="1587500">
                  <a:extLst>
                    <a:ext uri="{9D8B030D-6E8A-4147-A177-3AD203B41FA5}">
                      <a16:colId xmlns:a16="http://schemas.microsoft.com/office/drawing/2014/main" val="2666345612"/>
                    </a:ext>
                  </a:extLst>
                </a:gridCol>
                <a:gridCol w="1587500">
                  <a:extLst>
                    <a:ext uri="{9D8B030D-6E8A-4147-A177-3AD203B41FA5}">
                      <a16:colId xmlns:a16="http://schemas.microsoft.com/office/drawing/2014/main" val="2077642049"/>
                    </a:ext>
                  </a:extLst>
                </a:gridCol>
              </a:tblGrid>
              <a:tr h="435429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>
                          <a:solidFill>
                            <a:srgbClr val="FFFFFF"/>
                          </a:solidFill>
                          <a:latin typeface="BIZ UDPGothic"/>
                          <a:ea typeface="BIZ UDPGothic"/>
                        </a:rPr>
                        <a:t>Rank</a:t>
                      </a:r>
                    </a:p>
                  </a:txBody>
                  <a:tcPr anchor="ctr">
                    <a:solidFill>
                      <a:srgbClr val="A033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>
                          <a:solidFill>
                            <a:srgbClr val="FFFFFF"/>
                          </a:solidFill>
                          <a:latin typeface="BIZ UDPGothic"/>
                          <a:ea typeface="BIZ UDPGothic"/>
                        </a:rPr>
                        <a:t>モデル種別</a:t>
                      </a:r>
                    </a:p>
                  </a:txBody>
                  <a:tcPr anchor="ctr">
                    <a:solidFill>
                      <a:srgbClr val="A033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>
                          <a:solidFill>
                            <a:srgbClr val="FFFFFF"/>
                          </a:solidFill>
                          <a:latin typeface="BIZ UDPGothic"/>
                          <a:ea typeface="BIZ UDPGothic"/>
                        </a:rPr>
                        <a:t>F1-macro</a:t>
                      </a:r>
                    </a:p>
                  </a:txBody>
                  <a:tcPr anchor="ctr">
                    <a:solidFill>
                      <a:srgbClr val="A033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>
                          <a:solidFill>
                            <a:srgbClr val="FFFFFF"/>
                          </a:solidFill>
                          <a:latin typeface="BIZ UDPGothic"/>
                          <a:ea typeface="BIZ UDPGothic"/>
                        </a:rPr>
                        <a:t>Accuracy</a:t>
                      </a:r>
                    </a:p>
                  </a:txBody>
                  <a:tcPr anchor="ctr">
                    <a:solidFill>
                      <a:srgbClr val="A033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6018093"/>
                  </a:ext>
                </a:extLst>
              </a:tr>
              <a:tr h="435429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>
                          <a:solidFill>
                            <a:srgbClr val="A0332E"/>
                          </a:solidFill>
                          <a:latin typeface="BIZ UDPGothic"/>
                          <a:ea typeface="BIZ UDPGothic"/>
                        </a:rPr>
                        <a:t>1</a:t>
                      </a:r>
                    </a:p>
                  </a:txBody>
                  <a:tcPr anchor="ctr">
                    <a:solidFill>
                      <a:srgbClr val="F2E6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 b="1">
                          <a:solidFill>
                            <a:srgbClr val="A0332E"/>
                          </a:solidFill>
                          <a:latin typeface="BIZ UDPGothic"/>
                          <a:ea typeface="BIZ UDPGothic"/>
                        </a:rPr>
                        <a:t>hist_gradient_boosting</a:t>
                      </a:r>
                    </a:p>
                  </a:txBody>
                  <a:tcPr anchor="ctr">
                    <a:solidFill>
                      <a:srgbClr val="F2E6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>
                          <a:solidFill>
                            <a:srgbClr val="A0332E"/>
                          </a:solidFill>
                          <a:latin typeface="BIZ UDPGothic"/>
                          <a:ea typeface="BIZ UDPGothic"/>
                        </a:rPr>
                        <a:t>0.8292</a:t>
                      </a:r>
                    </a:p>
                  </a:txBody>
                  <a:tcPr anchor="ctr">
                    <a:solidFill>
                      <a:srgbClr val="F2E6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>
                          <a:solidFill>
                            <a:srgbClr val="A0332E"/>
                          </a:solidFill>
                          <a:latin typeface="BIZ UDPGothic"/>
                          <a:ea typeface="BIZ UDPGothic"/>
                        </a:rPr>
                        <a:t>0.8329</a:t>
                      </a:r>
                    </a:p>
                  </a:txBody>
                  <a:tcPr anchor="ctr">
                    <a:solidFill>
                      <a:srgbClr val="F2E6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3303294"/>
                  </a:ext>
                </a:extLst>
              </a:tr>
              <a:tr h="435429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4A4A4A"/>
                          </a:solidFill>
                          <a:latin typeface="BIZ UDPGothic"/>
                          <a:ea typeface="BIZ UDPGothic"/>
                        </a:rPr>
                        <a:t>2</a:t>
                      </a:r>
                    </a:p>
                  </a:txBody>
                  <a:tcPr anchor="ctr">
                    <a:solidFill>
                      <a:srgbClr val="F7F6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>
                          <a:solidFill>
                            <a:srgbClr val="4A4A4A"/>
                          </a:solidFill>
                          <a:latin typeface="BIZ UDPGothic"/>
                          <a:ea typeface="BIZ UDPGothic"/>
                        </a:rPr>
                        <a:t>hist_gradient_boosting</a:t>
                      </a:r>
                    </a:p>
                  </a:txBody>
                  <a:tcPr anchor="ctr">
                    <a:solidFill>
                      <a:srgbClr val="F7F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4A4A4A"/>
                          </a:solidFill>
                          <a:latin typeface="BIZ UDPGothic"/>
                          <a:ea typeface="BIZ UDPGothic"/>
                        </a:rPr>
                        <a:t>0.8278</a:t>
                      </a:r>
                    </a:p>
                  </a:txBody>
                  <a:tcPr anchor="ctr">
                    <a:solidFill>
                      <a:srgbClr val="F7F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4A4A4A"/>
                          </a:solidFill>
                          <a:latin typeface="BIZ UDPGothic"/>
                          <a:ea typeface="BIZ UDPGothic"/>
                        </a:rPr>
                        <a:t>0.8314</a:t>
                      </a:r>
                    </a:p>
                  </a:txBody>
                  <a:tcPr anchor="ctr">
                    <a:solidFill>
                      <a:srgbClr val="F7F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8530881"/>
                  </a:ext>
                </a:extLst>
              </a:tr>
              <a:tr h="435429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4A4A4A"/>
                          </a:solidFill>
                          <a:latin typeface="BIZ UDPGothic"/>
                          <a:ea typeface="BIZ UDPGothic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>
                          <a:solidFill>
                            <a:srgbClr val="4A4A4A"/>
                          </a:solidFill>
                          <a:latin typeface="BIZ UDPGothic"/>
                          <a:ea typeface="BIZ UDPGothic"/>
                        </a:rPr>
                        <a:t>hist_gradient_boosting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4A4A4A"/>
                          </a:solidFill>
                          <a:latin typeface="BIZ UDPGothic"/>
                          <a:ea typeface="BIZ UDPGothic"/>
                        </a:rPr>
                        <a:t>0.8219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4A4A4A"/>
                          </a:solidFill>
                          <a:latin typeface="BIZ UDPGothic"/>
                          <a:ea typeface="BIZ UDPGothic"/>
                        </a:rPr>
                        <a:t>0.8257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23265"/>
                  </a:ext>
                </a:extLst>
              </a:tr>
              <a:tr h="435429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4A4A4A"/>
                          </a:solidFill>
                          <a:latin typeface="BIZ UDPGothic"/>
                          <a:ea typeface="BIZ UDPGothic"/>
                        </a:rPr>
                        <a:t>4</a:t>
                      </a:r>
                    </a:p>
                  </a:txBody>
                  <a:tcPr anchor="ctr">
                    <a:solidFill>
                      <a:srgbClr val="F7F6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>
                          <a:solidFill>
                            <a:srgbClr val="4A4A4A"/>
                          </a:solidFill>
                          <a:latin typeface="BIZ UDPGothic"/>
                          <a:ea typeface="BIZ UDPGothic"/>
                        </a:rPr>
                        <a:t>random_forest</a:t>
                      </a:r>
                    </a:p>
                  </a:txBody>
                  <a:tcPr anchor="ctr">
                    <a:solidFill>
                      <a:srgbClr val="F7F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4A4A4A"/>
                          </a:solidFill>
                          <a:latin typeface="BIZ UDPGothic"/>
                          <a:ea typeface="BIZ UDPGothic"/>
                        </a:rPr>
                        <a:t>0.8167</a:t>
                      </a:r>
                    </a:p>
                  </a:txBody>
                  <a:tcPr anchor="ctr">
                    <a:solidFill>
                      <a:srgbClr val="F7F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4A4A4A"/>
                          </a:solidFill>
                          <a:latin typeface="BIZ UDPGothic"/>
                          <a:ea typeface="BIZ UDPGothic"/>
                        </a:rPr>
                        <a:t>0.8186</a:t>
                      </a:r>
                    </a:p>
                  </a:txBody>
                  <a:tcPr anchor="ctr">
                    <a:solidFill>
                      <a:srgbClr val="F7F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4740504"/>
                  </a:ext>
                </a:extLst>
              </a:tr>
              <a:tr h="435429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4A4A4A"/>
                          </a:solidFill>
                          <a:latin typeface="BIZ UDPGothic"/>
                          <a:ea typeface="BIZ UDPGothic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>
                          <a:solidFill>
                            <a:srgbClr val="4A4A4A"/>
                          </a:solidFill>
                          <a:latin typeface="BIZ UDPGothic"/>
                          <a:ea typeface="BIZ UDPGothic"/>
                        </a:rPr>
                        <a:t>linear_baseline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4A4A4A"/>
                          </a:solidFill>
                          <a:latin typeface="BIZ UDPGothic"/>
                          <a:ea typeface="BIZ UDPGothic"/>
                        </a:rPr>
                        <a:t>0.7330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4A4A4A"/>
                          </a:solidFill>
                          <a:latin typeface="BIZ UDPGothic"/>
                          <a:ea typeface="BIZ UDPGothic"/>
                        </a:rPr>
                        <a:t>0.7357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9234634"/>
                  </a:ext>
                </a:extLst>
              </a:tr>
              <a:tr h="435429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4A4A4A"/>
                          </a:solidFill>
                          <a:latin typeface="BIZ UDPGothic"/>
                          <a:ea typeface="BIZ UDPGothic"/>
                        </a:rPr>
                        <a:t>6</a:t>
                      </a:r>
                    </a:p>
                  </a:txBody>
                  <a:tcPr anchor="ctr">
                    <a:solidFill>
                      <a:srgbClr val="F7F6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>
                          <a:solidFill>
                            <a:srgbClr val="4A4A4A"/>
                          </a:solidFill>
                          <a:latin typeface="BIZ UDPGothic"/>
                          <a:ea typeface="BIZ UDPGothic"/>
                        </a:rPr>
                        <a:t>linear_baseline</a:t>
                      </a:r>
                    </a:p>
                  </a:txBody>
                  <a:tcPr anchor="ctr">
                    <a:solidFill>
                      <a:srgbClr val="F7F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4A4A4A"/>
                          </a:solidFill>
                          <a:latin typeface="BIZ UDPGothic"/>
                          <a:ea typeface="BIZ UDPGothic"/>
                        </a:rPr>
                        <a:t>0.7149</a:t>
                      </a:r>
                    </a:p>
                  </a:txBody>
                  <a:tcPr anchor="ctr">
                    <a:solidFill>
                      <a:srgbClr val="F7F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4A4A4A"/>
                          </a:solidFill>
                          <a:latin typeface="BIZ UDPGothic"/>
                          <a:ea typeface="BIZ UDPGothic"/>
                        </a:rPr>
                        <a:t>0.7300</a:t>
                      </a:r>
                    </a:p>
                  </a:txBody>
                  <a:tcPr anchor="ctr">
                    <a:solidFill>
                      <a:srgbClr val="F7F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0381241"/>
                  </a:ext>
                </a:extLst>
              </a:tr>
            </a:tbl>
          </a:graphicData>
        </a:graphic>
      </p:graphicFrame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323D115D-0124-4A47-A9AD-216C5BCFB077}"/>
              </a:ext>
            </a:extLst>
          </p:cNvPr>
          <p:cNvSpPr/>
          <p:nvPr/>
        </p:nvSpPr>
        <p:spPr>
          <a:xfrm>
            <a:off x="7061200" y="1206500"/>
            <a:ext cx="4673600" cy="457200"/>
          </a:xfrm>
          <a:prstGeom prst="roundRect">
            <a:avLst/>
          </a:prstGeom>
          <a:solidFill>
            <a:srgbClr val="5C5C5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ja-JP" altLang="en-US" sz="1400" b="1">
                <a:solidFill>
                  <a:srgbClr val="FFFFFF"/>
                </a:solidFill>
                <a:latin typeface="BIZ UDPGothic"/>
                <a:ea typeface="BIZ UDPGothic"/>
              </a:rPr>
              <a:t>主要な知見</a:t>
            </a: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027BF603-FBE9-4DA9-9541-710DBC234115}"/>
              </a:ext>
            </a:extLst>
          </p:cNvPr>
          <p:cNvSpPr/>
          <p:nvPr/>
        </p:nvSpPr>
        <p:spPr>
          <a:xfrm>
            <a:off x="7061200" y="1714500"/>
            <a:ext cx="4673600" cy="2540000"/>
          </a:xfrm>
          <a:prstGeom prst="roundRect">
            <a:avLst/>
          </a:prstGeom>
          <a:solidFill>
            <a:srgbClr val="F7F6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/>
          <a:lstStyle/>
          <a:p>
            <a:pPr algn="l"/>
            <a:r>
              <a:rPr lang="en-US" altLang="ja-JP" sz="1400">
                <a:solidFill>
                  <a:srgbClr val="4A4A4A"/>
                </a:solidFill>
                <a:latin typeface="BIZ UDPGothic"/>
                <a:ea typeface="BIZ UDPGothic"/>
              </a:rPr>
              <a:t>● hist_gradient_boosting </a:t>
            </a:r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が上位</a:t>
            </a:r>
            <a:r>
              <a:rPr lang="en-US" altLang="ja-JP" sz="1400">
                <a:solidFill>
                  <a:srgbClr val="4A4A4A"/>
                </a:solidFill>
                <a:latin typeface="BIZ UDPGothic"/>
                <a:ea typeface="BIZ UDPGothic"/>
              </a:rPr>
              <a:t>3</a:t>
            </a:r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位を独占し、最高</a:t>
            </a:r>
            <a:r>
              <a:rPr lang="en-US" altLang="ja-JP" sz="1400">
                <a:solidFill>
                  <a:srgbClr val="4A4A4A"/>
                </a:solidFill>
                <a:latin typeface="BIZ UDPGothic"/>
                <a:ea typeface="BIZ UDPGothic"/>
              </a:rPr>
              <a:t>F1-macro=0.829</a:t>
            </a:r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を達成
● </a:t>
            </a:r>
            <a:r>
              <a:rPr lang="en-US" altLang="ja-JP" sz="1400">
                <a:solidFill>
                  <a:srgbClr val="4A4A4A"/>
                </a:solidFill>
                <a:latin typeface="BIZ UDPGothic"/>
                <a:ea typeface="BIZ UDPGothic"/>
              </a:rPr>
              <a:t>random_forest</a:t>
            </a:r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は</a:t>
            </a:r>
            <a:r>
              <a:rPr lang="en-US" altLang="ja-JP" sz="1400">
                <a:solidFill>
                  <a:srgbClr val="4A4A4A"/>
                </a:solidFill>
                <a:latin typeface="BIZ UDPGothic"/>
                <a:ea typeface="BIZ UDPGothic"/>
              </a:rPr>
              <a:t>4</a:t>
            </a:r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位（</a:t>
            </a:r>
            <a:r>
              <a:rPr lang="en-US" altLang="ja-JP" sz="1400">
                <a:solidFill>
                  <a:srgbClr val="4A4A4A"/>
                </a:solidFill>
                <a:latin typeface="BIZ UDPGothic"/>
                <a:ea typeface="BIZ UDPGothic"/>
              </a:rPr>
              <a:t>F1=0.817</a:t>
            </a:r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）で非線形系の優位性を確認
● 線形系（</a:t>
            </a:r>
            <a:r>
              <a:rPr lang="en-US" altLang="ja-JP" sz="1400">
                <a:solidFill>
                  <a:srgbClr val="4A4A4A"/>
                </a:solidFill>
                <a:latin typeface="BIZ UDPGothic"/>
                <a:ea typeface="BIZ UDPGothic"/>
              </a:rPr>
              <a:t>linear_baseline</a:t>
            </a:r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）は</a:t>
            </a:r>
            <a:r>
              <a:rPr lang="en-US" altLang="ja-JP" sz="1400">
                <a:solidFill>
                  <a:srgbClr val="4A4A4A"/>
                </a:solidFill>
                <a:latin typeface="BIZ UDPGothic"/>
                <a:ea typeface="BIZ UDPGothic"/>
              </a:rPr>
              <a:t>F1=0.73</a:t>
            </a:r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前後に留まり、非線形系との差は約</a:t>
            </a:r>
            <a:r>
              <a:rPr lang="en-US" altLang="ja-JP" sz="1400">
                <a:solidFill>
                  <a:srgbClr val="4A4A4A"/>
                </a:solidFill>
                <a:latin typeface="BIZ UDPGothic"/>
                <a:ea typeface="BIZ UDPGothic"/>
              </a:rPr>
              <a:t>0.1</a:t>
            </a:r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ポイント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B8A84240-9066-40D3-85B5-26610FDF7835}"/>
              </a:ext>
            </a:extLst>
          </p:cNvPr>
          <p:cNvSpPr txBox="1"/>
          <p:nvPr/>
        </p:nvSpPr>
        <p:spPr>
          <a:xfrm>
            <a:off x="457200" y="4762500"/>
            <a:ext cx="254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600" b="1">
                <a:solidFill>
                  <a:srgbClr val="A0332E"/>
                </a:solidFill>
                <a:latin typeface="BIZ UDPGothic"/>
                <a:ea typeface="BIZ UDPGothic"/>
              </a:rPr>
              <a:t>データ分割</a:t>
            </a: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49E69A65-4396-4775-A99D-10CB52C22C5B}"/>
              </a:ext>
            </a:extLst>
          </p:cNvPr>
          <p:cNvSpPr/>
          <p:nvPr/>
        </p:nvSpPr>
        <p:spPr>
          <a:xfrm>
            <a:off x="457200" y="5080000"/>
            <a:ext cx="3429000" cy="952500"/>
          </a:xfrm>
          <a:prstGeom prst="roundRect">
            <a:avLst/>
          </a:prstGeom>
          <a:solidFill>
            <a:srgbClr val="A033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ja-JP" sz="1600" b="1">
                <a:solidFill>
                  <a:srgbClr val="FFFFFF"/>
                </a:solidFill>
                <a:latin typeface="BIZ UDPGothic"/>
                <a:ea typeface="BIZ UDPGothic"/>
              </a:rPr>
              <a:t>Train</a:t>
            </a:r>
            <a:r>
              <a:rPr lang="ja-JP" altLang="en-US" sz="1600" b="1">
                <a:solidFill>
                  <a:srgbClr val="FFFFFF"/>
                </a:solidFill>
                <a:latin typeface="BIZ UDPGothic"/>
                <a:ea typeface="BIZ UDPGothic"/>
              </a:rPr>
              <a:t>：</a:t>
            </a:r>
            <a:r>
              <a:rPr lang="en-US" altLang="ja-JP" sz="1600" b="1">
                <a:solidFill>
                  <a:srgbClr val="FFFFFF"/>
                </a:solidFill>
                <a:latin typeface="BIZ UDPGothic"/>
                <a:ea typeface="BIZ UDPGothic"/>
              </a:rPr>
              <a:t>2,450</a:t>
            </a:r>
            <a:r>
              <a:rPr lang="ja-JP" altLang="en-US" sz="1600" b="1">
                <a:solidFill>
                  <a:srgbClr val="FFFFFF"/>
                </a:solidFill>
                <a:latin typeface="BIZ UDPGothic"/>
                <a:ea typeface="BIZ UDPGothic"/>
              </a:rPr>
              <a:t>件（</a:t>
            </a:r>
            <a:r>
              <a:rPr lang="en-US" altLang="ja-JP" sz="1600" b="1">
                <a:solidFill>
                  <a:srgbClr val="FFFFFF"/>
                </a:solidFill>
                <a:latin typeface="BIZ UDPGothic"/>
                <a:ea typeface="BIZ UDPGothic"/>
              </a:rPr>
              <a:t>70%</a:t>
            </a:r>
            <a:r>
              <a:rPr lang="ja-JP" altLang="en-US" sz="1600" b="1">
                <a:solidFill>
                  <a:srgbClr val="FFFFFF"/>
                </a:solidFill>
                <a:latin typeface="BIZ UDPGothic"/>
                <a:ea typeface="BIZ UDPGothic"/>
              </a:rPr>
              <a:t>）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B347A704-D20B-431C-9A1D-956FAAFED307}"/>
              </a:ext>
            </a:extLst>
          </p:cNvPr>
          <p:cNvSpPr/>
          <p:nvPr/>
        </p:nvSpPr>
        <p:spPr>
          <a:xfrm>
            <a:off x="4191000" y="5080000"/>
            <a:ext cx="3429000" cy="952500"/>
          </a:xfrm>
          <a:prstGeom prst="roundRect">
            <a:avLst/>
          </a:prstGeom>
          <a:solidFill>
            <a:srgbClr val="5C5C5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ja-JP" sz="1600" b="1">
                <a:solidFill>
                  <a:srgbClr val="FFFFFF"/>
                </a:solidFill>
                <a:latin typeface="BIZ UDPGothic"/>
                <a:ea typeface="BIZ UDPGothic"/>
              </a:rPr>
              <a:t>Validation</a:t>
            </a:r>
            <a:r>
              <a:rPr lang="ja-JP" altLang="en-US" sz="1600" b="1">
                <a:solidFill>
                  <a:srgbClr val="FFFFFF"/>
                </a:solidFill>
                <a:latin typeface="BIZ UDPGothic"/>
                <a:ea typeface="BIZ UDPGothic"/>
              </a:rPr>
              <a:t>：</a:t>
            </a:r>
            <a:r>
              <a:rPr lang="en-US" altLang="ja-JP" sz="1600" b="1">
                <a:solidFill>
                  <a:srgbClr val="FFFFFF"/>
                </a:solidFill>
                <a:latin typeface="BIZ UDPGothic"/>
                <a:ea typeface="BIZ UDPGothic"/>
              </a:rPr>
              <a:t>350</a:t>
            </a:r>
            <a:r>
              <a:rPr lang="ja-JP" altLang="en-US" sz="1600" b="1">
                <a:solidFill>
                  <a:srgbClr val="FFFFFF"/>
                </a:solidFill>
                <a:latin typeface="BIZ UDPGothic"/>
                <a:ea typeface="BIZ UDPGothic"/>
              </a:rPr>
              <a:t>件（</a:t>
            </a:r>
            <a:r>
              <a:rPr lang="en-US" altLang="ja-JP" sz="1600" b="1">
                <a:solidFill>
                  <a:srgbClr val="FFFFFF"/>
                </a:solidFill>
                <a:latin typeface="BIZ UDPGothic"/>
                <a:ea typeface="BIZ UDPGothic"/>
              </a:rPr>
              <a:t>10%</a:t>
            </a:r>
            <a:r>
              <a:rPr lang="ja-JP" altLang="en-US" sz="1600" b="1">
                <a:solidFill>
                  <a:srgbClr val="FFFFFF"/>
                </a:solidFill>
                <a:latin typeface="BIZ UDPGothic"/>
                <a:ea typeface="BIZ UDPGothic"/>
              </a:rPr>
              <a:t>）</a:t>
            </a: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CD1F95AD-8D3C-404C-B82D-F02A4C20D071}"/>
              </a:ext>
            </a:extLst>
          </p:cNvPr>
          <p:cNvSpPr/>
          <p:nvPr/>
        </p:nvSpPr>
        <p:spPr>
          <a:xfrm>
            <a:off x="7924800" y="5080000"/>
            <a:ext cx="3429000" cy="952500"/>
          </a:xfrm>
          <a:prstGeom prst="roundRect">
            <a:avLst/>
          </a:prstGeom>
          <a:solidFill>
            <a:srgbClr val="38383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ja-JP" sz="1600" b="1">
                <a:solidFill>
                  <a:srgbClr val="FFFFFF"/>
                </a:solidFill>
                <a:latin typeface="BIZ UDPGothic"/>
                <a:ea typeface="BIZ UDPGothic"/>
              </a:rPr>
              <a:t>Test</a:t>
            </a:r>
            <a:r>
              <a:rPr lang="ja-JP" altLang="en-US" sz="1600" b="1">
                <a:solidFill>
                  <a:srgbClr val="FFFFFF"/>
                </a:solidFill>
                <a:latin typeface="BIZ UDPGothic"/>
                <a:ea typeface="BIZ UDPGothic"/>
              </a:rPr>
              <a:t>：</a:t>
            </a:r>
            <a:r>
              <a:rPr lang="en-US" altLang="ja-JP" sz="1600" b="1">
                <a:solidFill>
                  <a:srgbClr val="FFFFFF"/>
                </a:solidFill>
                <a:latin typeface="BIZ UDPGothic"/>
                <a:ea typeface="BIZ UDPGothic"/>
              </a:rPr>
              <a:t>700</a:t>
            </a:r>
            <a:r>
              <a:rPr lang="ja-JP" altLang="en-US" sz="1600" b="1">
                <a:solidFill>
                  <a:srgbClr val="FFFFFF"/>
                </a:solidFill>
                <a:latin typeface="BIZ UDPGothic"/>
                <a:ea typeface="BIZ UDPGothic"/>
              </a:rPr>
              <a:t>件（</a:t>
            </a:r>
            <a:r>
              <a:rPr lang="en-US" altLang="ja-JP" sz="1600" b="1">
                <a:solidFill>
                  <a:srgbClr val="FFFFFF"/>
                </a:solidFill>
                <a:latin typeface="BIZ UDPGothic"/>
                <a:ea typeface="BIZ UDPGothic"/>
              </a:rPr>
              <a:t>20%</a:t>
            </a:r>
            <a:r>
              <a:rPr lang="ja-JP" altLang="en-US" sz="1600" b="1">
                <a:solidFill>
                  <a:srgbClr val="FFFFFF"/>
                </a:solidFill>
                <a:latin typeface="BIZ UDPGothic"/>
                <a:ea typeface="BIZ UDPGothic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40304177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7C16113-3890-459D-AE7F-6070722AF0E7}"/>
              </a:ext>
            </a:extLst>
          </p:cNvPr>
          <p:cNvSpPr txBox="1"/>
          <p:nvPr/>
        </p:nvSpPr>
        <p:spPr>
          <a:xfrm>
            <a:off x="457200" y="254000"/>
            <a:ext cx="112776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2400" b="1">
                <a:solidFill>
                  <a:srgbClr val="2D2D2D"/>
                </a:solidFill>
                <a:latin typeface="BIZ UDPGothic"/>
                <a:ea typeface="BIZ UDPGothic"/>
              </a:rPr>
              <a:t>6. </a:t>
            </a:r>
            <a:r>
              <a:rPr lang="ja-JP" altLang="en-US" sz="2400" b="1">
                <a:solidFill>
                  <a:srgbClr val="2D2D2D"/>
                </a:solidFill>
                <a:latin typeface="BIZ UDPGothic"/>
                <a:ea typeface="BIZ UDPGothic"/>
              </a:rPr>
              <a:t>最終モデル性能指標と中間段階との比較</a:t>
            </a:r>
          </a:p>
        </p:txBody>
      </p:sp>
      <p:graphicFrame>
        <p:nvGraphicFramePr>
          <p:cNvPr id="101" name="Chart 1"/>
          <p:cNvGraphicFramePr/>
          <p:nvPr>
            <p:extLst>
              <p:ext uri="{D42A27DB-BD31-4B8C-83A1-F6EECF244321}">
                <p14:modId xmlns:p14="http://schemas.microsoft.com/office/powerpoint/2010/main" val="142105151"/>
              </p:ext>
            </p:extLst>
          </p:nvPr>
        </p:nvGraphicFramePr>
        <p:xfrm>
          <a:off x="457200" y="914400"/>
          <a:ext cx="112776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7CCE9A74-37BD-4C91-A909-BCB76FC8ABA0}"/>
              </a:ext>
            </a:extLst>
          </p:cNvPr>
          <p:cNvSpPr/>
          <p:nvPr/>
        </p:nvSpPr>
        <p:spPr>
          <a:xfrm>
            <a:off x="457200" y="5588000"/>
            <a:ext cx="11277600" cy="660400"/>
          </a:xfrm>
          <a:prstGeom prst="roundRect">
            <a:avLst/>
          </a:prstGeom>
          <a:solidFill>
            <a:srgbClr val="F2E6E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/>
          <a:lstStyle/>
          <a:p>
            <a:pPr algn="l"/>
            <a:r>
              <a:rPr lang="en-US" altLang="ja-JP" sz="1400">
                <a:solidFill>
                  <a:srgbClr val="A0332E"/>
                </a:solidFill>
                <a:latin typeface="BIZ UDPGothic"/>
                <a:ea typeface="BIZ UDPGothic"/>
              </a:rPr>
              <a:t>AUC-ROC: +0.080</a:t>
            </a:r>
            <a:r>
              <a:rPr lang="ja-JP" altLang="en-US" sz="1400">
                <a:solidFill>
                  <a:srgbClr val="A0332E"/>
                </a:solidFill>
                <a:latin typeface="BIZ UDPGothic"/>
                <a:ea typeface="BIZ UDPGothic"/>
              </a:rPr>
              <a:t>ポイント改善 </a:t>
            </a:r>
            <a:r>
              <a:rPr lang="en-US" altLang="ja-JP" sz="1400">
                <a:solidFill>
                  <a:srgbClr val="A0332E"/>
                </a:solidFill>
                <a:latin typeface="BIZ UDPGothic"/>
                <a:ea typeface="BIZ UDPGothic"/>
              </a:rPr>
              <a:t>/ F1-macro: +0.096</a:t>
            </a:r>
            <a:r>
              <a:rPr lang="ja-JP" altLang="en-US" sz="1400">
                <a:solidFill>
                  <a:srgbClr val="A0332E"/>
                </a:solidFill>
                <a:latin typeface="BIZ UDPGothic"/>
                <a:ea typeface="BIZ UDPGothic"/>
              </a:rPr>
              <a:t>ポイント改善 </a:t>
            </a:r>
            <a:r>
              <a:rPr lang="en-US" altLang="ja-JP" sz="1400">
                <a:solidFill>
                  <a:srgbClr val="A0332E"/>
                </a:solidFill>
                <a:latin typeface="BIZ UDPGothic"/>
                <a:ea typeface="BIZ UDPGothic"/>
              </a:rPr>
              <a:t>/ Accuracy: +0.097</a:t>
            </a:r>
            <a:r>
              <a:rPr lang="ja-JP" altLang="en-US" sz="1400">
                <a:solidFill>
                  <a:srgbClr val="A0332E"/>
                </a:solidFill>
                <a:latin typeface="BIZ UDPGothic"/>
                <a:ea typeface="BIZ UDPGothic"/>
              </a:rPr>
              <a:t>ポイント改善 </a:t>
            </a:r>
            <a:r>
              <a:rPr lang="en-US" altLang="ja-JP" sz="1400">
                <a:solidFill>
                  <a:srgbClr val="A0332E"/>
                </a:solidFill>
                <a:latin typeface="BIZ UDPGothic"/>
                <a:ea typeface="BIZ UDPGothic"/>
              </a:rPr>
              <a:t>— </a:t>
            </a:r>
            <a:r>
              <a:rPr lang="ja-JP" altLang="en-US" sz="1400">
                <a:solidFill>
                  <a:srgbClr val="A0332E"/>
                </a:solidFill>
                <a:latin typeface="BIZ UDPGothic"/>
                <a:ea typeface="BIZ UDPGothic"/>
              </a:rPr>
              <a:t>非線形モデル採用により全指標で大幅向上</a:t>
            </a:r>
          </a:p>
        </p:txBody>
      </p:sp>
    </p:spTree>
    <p:extLst>
      <p:ext uri="{BB962C8B-B14F-4D97-AF65-F5344CB8AC3E}">
        <p14:creationId xmlns:p14="http://schemas.microsoft.com/office/powerpoint/2010/main" val="39545865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8B17590-E2FF-414A-AD75-A2AFAF71B1C8}"/>
              </a:ext>
            </a:extLst>
          </p:cNvPr>
          <p:cNvSpPr txBox="1"/>
          <p:nvPr/>
        </p:nvSpPr>
        <p:spPr>
          <a:xfrm>
            <a:off x="457200" y="254000"/>
            <a:ext cx="112776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2600" b="1">
                <a:solidFill>
                  <a:srgbClr val="2D2D2D"/>
                </a:solidFill>
                <a:latin typeface="BIZ UDPGothic"/>
                <a:ea typeface="BIZ UDPGothic"/>
              </a:rPr>
              <a:t>7. </a:t>
            </a:r>
            <a:r>
              <a:rPr lang="ja-JP" altLang="en-US" sz="2600" b="1">
                <a:solidFill>
                  <a:srgbClr val="2D2D2D"/>
                </a:solidFill>
                <a:latin typeface="BIZ UDPGothic"/>
                <a:ea typeface="BIZ UDPGothic"/>
              </a:rPr>
              <a:t>分析結果の解釈と仮定</a:t>
            </a:r>
          </a:p>
        </p:txBody>
      </p:sp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CA2D9AF6-1166-434F-AB31-C647C36D52F4}"/>
              </a:ext>
            </a:extLst>
          </p:cNvPr>
          <p:cNvSpPr/>
          <p:nvPr/>
        </p:nvSpPr>
        <p:spPr>
          <a:xfrm>
            <a:off x="457200" y="965200"/>
            <a:ext cx="5588000" cy="406400"/>
          </a:xfrm>
          <a:prstGeom prst="roundRect">
            <a:avLst/>
          </a:prstGeom>
          <a:solidFill>
            <a:srgbClr val="A033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ja-JP" altLang="fr-FR" sz="1400" b="1">
                <a:solidFill>
                  <a:srgbClr val="FFFFFF"/>
                </a:solidFill>
                <a:latin typeface="BIZ UDPGothic"/>
                <a:ea typeface="BIZ UDPGothic"/>
              </a:rPr>
              <a:t>（</a:t>
            </a:r>
            <a:r>
              <a:rPr lang="fr-FR" altLang="ja-JP" sz="1400" b="1">
                <a:solidFill>
                  <a:srgbClr val="FFFFFF"/>
                </a:solidFill>
                <a:latin typeface="BIZ UDPGothic"/>
                <a:ea typeface="BIZ UDPGothic"/>
              </a:rPr>
              <a:t>B</a:t>
            </a:r>
            <a:r>
              <a:rPr lang="ja-JP" altLang="fr-FR" sz="1400" b="1">
                <a:solidFill>
                  <a:srgbClr val="FFFFFF"/>
                </a:solidFill>
                <a:latin typeface="BIZ UDPGothic"/>
                <a:ea typeface="BIZ UDPGothic"/>
              </a:rPr>
              <a:t>）解釈（</a:t>
            </a:r>
            <a:r>
              <a:rPr lang="fr-FR" altLang="ja-JP" sz="1400" b="1">
                <a:solidFill>
                  <a:srgbClr val="FFFFFF"/>
                </a:solidFill>
                <a:latin typeface="BIZ UDPGothic"/>
                <a:ea typeface="BIZ UDPGothic"/>
              </a:rPr>
              <a:t>Interpretation</a:t>
            </a:r>
            <a:r>
              <a:rPr lang="ja-JP" altLang="fr-FR" sz="1400" b="1">
                <a:solidFill>
                  <a:srgbClr val="FFFFFF"/>
                </a:solidFill>
                <a:latin typeface="BIZ UDPGothic"/>
                <a:ea typeface="BIZ UDPGothic"/>
              </a:rPr>
              <a:t>）</a:t>
            </a:r>
            <a:endParaRPr lang="ja-JP" altLang="en-US" sz="1400" b="1">
              <a:solidFill>
                <a:srgbClr val="FFFFFF"/>
              </a:solidFill>
              <a:latin typeface="BIZ UDPGothic"/>
              <a:ea typeface="BIZ UDPGothic"/>
            </a:endParaRP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3C30911D-72B8-4AED-9462-F11DB33CB7F1}"/>
              </a:ext>
            </a:extLst>
          </p:cNvPr>
          <p:cNvSpPr/>
          <p:nvPr/>
        </p:nvSpPr>
        <p:spPr>
          <a:xfrm>
            <a:off x="457200" y="1422400"/>
            <a:ext cx="5588000" cy="2413000"/>
          </a:xfrm>
          <a:prstGeom prst="roundRect">
            <a:avLst/>
          </a:prstGeom>
          <a:solidFill>
            <a:srgbClr val="F7F6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/>
          <a:lstStyle/>
          <a:p>
            <a:pPr algn="l"/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● </a:t>
            </a:r>
            <a:r>
              <a:rPr lang="en-US" altLang="ja-JP" sz="1400">
                <a:solidFill>
                  <a:srgbClr val="4A4A4A"/>
                </a:solidFill>
                <a:latin typeface="BIZ UDPGothic"/>
                <a:ea typeface="BIZ UDPGothic"/>
              </a:rPr>
              <a:t>AUC ≈ 0.905 </a:t>
            </a:r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は、学習データに基づく予測スコアの識別能力が高いことを示唆。ただし外部検証未実施のため、実運用での再現性は未確認
● </a:t>
            </a:r>
            <a:r>
              <a:rPr lang="en-US" altLang="ja-JP" sz="1400">
                <a:solidFill>
                  <a:srgbClr val="4A4A4A"/>
                </a:solidFill>
                <a:latin typeface="BIZ UDPGothic"/>
                <a:ea typeface="BIZ UDPGothic"/>
              </a:rPr>
              <a:t>precision_at_top10pct </a:t>
            </a:r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が高い（</a:t>
            </a:r>
            <a:r>
              <a:rPr lang="en-US" altLang="ja-JP" sz="1400">
                <a:solidFill>
                  <a:srgbClr val="4A4A4A"/>
                </a:solidFill>
                <a:latin typeface="BIZ UDPGothic"/>
                <a:ea typeface="BIZ UDPGothic"/>
              </a:rPr>
              <a:t>0.97</a:t>
            </a:r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）ため、スコア上位ケースを優先的に介入対象とする業務ルール設計に利用可能
● 医療運用では見逃し抑制（</a:t>
            </a:r>
            <a:r>
              <a:rPr lang="en-US" altLang="ja-JP" sz="1400">
                <a:solidFill>
                  <a:srgbClr val="4A4A4A"/>
                </a:solidFill>
                <a:latin typeface="BIZ UDPGothic"/>
                <a:ea typeface="BIZ UDPGothic"/>
              </a:rPr>
              <a:t>Recall</a:t>
            </a:r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）の優先が求められるため、閾値運用で </a:t>
            </a:r>
            <a:r>
              <a:rPr lang="en-US" altLang="ja-JP" sz="1400">
                <a:solidFill>
                  <a:srgbClr val="4A4A4A"/>
                </a:solidFill>
                <a:latin typeface="BIZ UDPGothic"/>
                <a:ea typeface="BIZ UDPGothic"/>
              </a:rPr>
              <a:t>Recall </a:t>
            </a:r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と </a:t>
            </a:r>
            <a:r>
              <a:rPr lang="en-US" altLang="ja-JP" sz="1400">
                <a:solidFill>
                  <a:srgbClr val="4A4A4A"/>
                </a:solidFill>
                <a:latin typeface="BIZ UDPGothic"/>
                <a:ea typeface="BIZ UDPGothic"/>
              </a:rPr>
              <a:t>Precision </a:t>
            </a:r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のトレードオフ調整が必要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F0BA05DE-BCFB-4B03-BDFF-9F90E699F688}"/>
              </a:ext>
            </a:extLst>
          </p:cNvPr>
          <p:cNvSpPr/>
          <p:nvPr/>
        </p:nvSpPr>
        <p:spPr>
          <a:xfrm>
            <a:off x="6273800" y="965200"/>
            <a:ext cx="5461000" cy="406400"/>
          </a:xfrm>
          <a:prstGeom prst="roundRect">
            <a:avLst/>
          </a:prstGeom>
          <a:solidFill>
            <a:srgbClr val="5C5C5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ja-JP" altLang="en-US" sz="1400" b="1">
                <a:solidFill>
                  <a:srgbClr val="FFFFFF"/>
                </a:solidFill>
                <a:latin typeface="BIZ UDPGothic"/>
                <a:ea typeface="BIZ UDPGothic"/>
              </a:rPr>
              <a:t>（</a:t>
            </a:r>
            <a:r>
              <a:rPr lang="en-US" altLang="ja-JP" sz="1400" b="1">
                <a:solidFill>
                  <a:srgbClr val="FFFFFF"/>
                </a:solidFill>
                <a:latin typeface="BIZ UDPGothic"/>
                <a:ea typeface="BIZ UDPGothic"/>
              </a:rPr>
              <a:t>C</a:t>
            </a:r>
            <a:r>
              <a:rPr lang="ja-JP" altLang="en-US" sz="1400" b="1">
                <a:solidFill>
                  <a:srgbClr val="FFFFFF"/>
                </a:solidFill>
                <a:latin typeface="BIZ UDPGothic"/>
                <a:ea typeface="BIZ UDPGothic"/>
              </a:rPr>
              <a:t>）仮定（</a:t>
            </a:r>
            <a:r>
              <a:rPr lang="en-US" altLang="ja-JP" sz="1400" b="1">
                <a:solidFill>
                  <a:srgbClr val="FFFFFF"/>
                </a:solidFill>
                <a:latin typeface="BIZ UDPGothic"/>
                <a:ea typeface="BIZ UDPGothic"/>
              </a:rPr>
              <a:t>Assumptions</a:t>
            </a:r>
            <a:r>
              <a:rPr lang="ja-JP" altLang="en-US" sz="1400" b="1">
                <a:solidFill>
                  <a:srgbClr val="FFFFFF"/>
                </a:solidFill>
                <a:latin typeface="BIZ UDPGothic"/>
                <a:ea typeface="BIZ UDPGothic"/>
              </a:rPr>
              <a:t>）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655E787A-A9E3-4974-9090-9D92C3F64300}"/>
              </a:ext>
            </a:extLst>
          </p:cNvPr>
          <p:cNvSpPr/>
          <p:nvPr/>
        </p:nvSpPr>
        <p:spPr>
          <a:xfrm>
            <a:off x="6273800" y="1422400"/>
            <a:ext cx="5461000" cy="2413000"/>
          </a:xfrm>
          <a:prstGeom prst="roundRect">
            <a:avLst/>
          </a:prstGeom>
          <a:solidFill>
            <a:srgbClr val="F7F6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/>
          <a:lstStyle/>
          <a:p>
            <a:pPr algn="l"/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● </a:t>
            </a:r>
            <a:r>
              <a:rPr lang="en-US" altLang="ja-JP" sz="1400">
                <a:solidFill>
                  <a:srgbClr val="4A4A4A"/>
                </a:solidFill>
                <a:latin typeface="BIZ UDPGothic"/>
                <a:ea typeface="BIZ UDPGothic"/>
              </a:rPr>
              <a:t>disease </a:t>
            </a:r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の定義はカラム記載どおり（</a:t>
            </a:r>
            <a:r>
              <a:rPr lang="en-US" altLang="ja-JP" sz="1400">
                <a:solidFill>
                  <a:srgbClr val="4A4A4A"/>
                </a:solidFill>
                <a:latin typeface="BIZ UDPGothic"/>
                <a:ea typeface="BIZ UDPGothic"/>
              </a:rPr>
              <a:t>0/1</a:t>
            </a:r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）であり、その判定基準の病理学的詳細は本データに依存（契約前提）
● 学習</a:t>
            </a:r>
            <a:r>
              <a:rPr lang="en-US" altLang="ja-JP" sz="1400">
                <a:solidFill>
                  <a:srgbClr val="4A4A4A"/>
                </a:solidFill>
                <a:latin typeface="BIZ UDPGothic"/>
                <a:ea typeface="BIZ UDPGothic"/>
              </a:rPr>
              <a:t>/</a:t>
            </a:r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検証法はランダムホールドアウト（</a:t>
            </a:r>
            <a:r>
              <a:rPr lang="en-US" altLang="ja-JP" sz="1400">
                <a:solidFill>
                  <a:srgbClr val="4A4A4A"/>
                </a:solidFill>
                <a:latin typeface="BIZ UDPGothic"/>
                <a:ea typeface="BIZ UDPGothic"/>
              </a:rPr>
              <a:t>validation_size=0.1</a:t>
            </a:r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）を採用。時系列バイアスは存在しない前提
● 外部環境（施設間の採取条件差等）により分布が変動する可能性あり。単一施設データのみ使用のため一般化には追加検証が必要</a:t>
            </a: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53C7401B-DC0F-409D-9B23-5106A9B617B2}"/>
              </a:ext>
            </a:extLst>
          </p:cNvPr>
          <p:cNvSpPr/>
          <p:nvPr/>
        </p:nvSpPr>
        <p:spPr>
          <a:xfrm>
            <a:off x="457200" y="4064000"/>
            <a:ext cx="11277600" cy="1016000"/>
          </a:xfrm>
          <a:prstGeom prst="roundRect">
            <a:avLst/>
          </a:prstGeom>
          <a:solidFill>
            <a:srgbClr val="F2E6E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/>
          <a:lstStyle/>
          <a:p>
            <a:pPr algn="l"/>
            <a:r>
              <a:rPr lang="ja-JP" altLang="en-US" sz="1400">
                <a:solidFill>
                  <a:srgbClr val="A0332E"/>
                </a:solidFill>
                <a:latin typeface="BIZ UDPGothic"/>
                <a:ea typeface="BIZ UDPGothic"/>
              </a:rPr>
              <a:t>重要：本モデルの内部検証結果は良好であるが、実運用化には外部検証（別施設・別時期データ）による再確認が必須である。また、閾値の設定により</a:t>
            </a:r>
            <a:r>
              <a:rPr lang="en-US" altLang="ja-JP" sz="1400">
                <a:solidFill>
                  <a:srgbClr val="A0332E"/>
                </a:solidFill>
                <a:latin typeface="BIZ UDPGothic"/>
                <a:ea typeface="BIZ UDPGothic"/>
              </a:rPr>
              <a:t>Recall</a:t>
            </a:r>
            <a:r>
              <a:rPr lang="ja-JP" altLang="en-US" sz="1400">
                <a:solidFill>
                  <a:srgbClr val="A0332E"/>
                </a:solidFill>
                <a:latin typeface="BIZ UDPGothic"/>
                <a:ea typeface="BIZ UDPGothic"/>
              </a:rPr>
              <a:t>と</a:t>
            </a:r>
            <a:r>
              <a:rPr lang="en-US" altLang="ja-JP" sz="1400">
                <a:solidFill>
                  <a:srgbClr val="A0332E"/>
                </a:solidFill>
                <a:latin typeface="BIZ UDPGothic"/>
                <a:ea typeface="BIZ UDPGothic"/>
              </a:rPr>
              <a:t>Precision</a:t>
            </a:r>
            <a:r>
              <a:rPr lang="ja-JP" altLang="en-US" sz="1400">
                <a:solidFill>
                  <a:srgbClr val="A0332E"/>
                </a:solidFill>
                <a:latin typeface="BIZ UDPGothic"/>
                <a:ea typeface="BIZ UDPGothic"/>
              </a:rPr>
              <a:t>のバランスを業務要件に合わせて調整する必要がある。</a:t>
            </a:r>
          </a:p>
        </p:txBody>
      </p:sp>
      <p:graphicFrame>
        <p:nvGraphicFramePr>
          <p:cNvPr id="9" name="表 8">
            <a:extLst>
              <a:ext uri="{FF2B5EF4-FFF2-40B4-BE49-F238E27FC236}">
                <a16:creationId xmlns:a16="http://schemas.microsoft.com/office/drawing/2014/main" id="{574204EE-3799-43AE-B73D-896900A1E3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5738708"/>
              </p:ext>
            </p:extLst>
          </p:nvPr>
        </p:nvGraphicFramePr>
        <p:xfrm>
          <a:off x="457200" y="5232400"/>
          <a:ext cx="5588000" cy="1280160"/>
        </p:xfrm>
        <a:graphic>
          <a:graphicData uri="http://schemas.openxmlformats.org/drawingml/2006/table">
            <a:tbl>
              <a:tblPr/>
              <a:tblGrid>
                <a:gridCol w="2794000">
                  <a:extLst>
                    <a:ext uri="{9D8B030D-6E8A-4147-A177-3AD203B41FA5}">
                      <a16:colId xmlns:a16="http://schemas.microsoft.com/office/drawing/2014/main" val="2195160394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3928772148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>
                          <a:solidFill>
                            <a:srgbClr val="FFFFFF"/>
                          </a:solidFill>
                          <a:latin typeface="BIZ UDPGothic"/>
                          <a:ea typeface="BIZ UDPGothic"/>
                        </a:rPr>
                        <a:t>指標</a:t>
                      </a:r>
                    </a:p>
                  </a:txBody>
                  <a:tcPr marT="0" marB="0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A033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>
                          <a:solidFill>
                            <a:srgbClr val="FFFFFF"/>
                          </a:solidFill>
                          <a:latin typeface="BIZ UDPGothic"/>
                          <a:ea typeface="BIZ UDPGothic"/>
                        </a:rPr>
                        <a:t>値</a:t>
                      </a:r>
                    </a:p>
                  </a:txBody>
                  <a:tcPr marT="0" marB="0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A033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785114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>
                          <a:solidFill>
                            <a:srgbClr val="4A4A4A"/>
                          </a:solidFill>
                          <a:latin typeface="BIZ UDPGothic"/>
                          <a:ea typeface="BIZ UDPGothic"/>
                        </a:rPr>
                        <a:t>Accuracy</a:t>
                      </a:r>
                    </a:p>
                  </a:txBody>
                  <a:tcPr marT="0" marB="0">
                    <a:lnL w="0"/>
                    <a:lnR w="0"/>
                    <a:lnT w="0"/>
                    <a:lnB w="0"/>
                    <a:lnTlToBr w="0"/>
                    <a:lnBlToTr w="0"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4A4A4A"/>
                          </a:solidFill>
                          <a:latin typeface="BIZ UDPGothic"/>
                          <a:ea typeface="BIZ UDPGothic"/>
                        </a:rPr>
                        <a:t>0.8329</a:t>
                      </a:r>
                    </a:p>
                  </a:txBody>
                  <a:tcPr marT="0" marB="0">
                    <a:lnL w="0"/>
                    <a:lnR w="0"/>
                    <a:lnT w="0"/>
                    <a:lnB w="0"/>
                    <a:lnTlToBr w="0"/>
                    <a:lnBlToTr w="0"/>
                  </a:tcPr>
                </a:tc>
                <a:extLst>
                  <a:ext uri="{0D108BD9-81ED-4DB2-BD59-A6C34878D82A}">
                    <a16:rowId xmlns:a16="http://schemas.microsoft.com/office/drawing/2014/main" val="65185486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>
                          <a:solidFill>
                            <a:srgbClr val="4A4A4A"/>
                          </a:solidFill>
                          <a:latin typeface="BIZ UDPGothic"/>
                          <a:ea typeface="BIZ UDPGothic"/>
                        </a:rPr>
                        <a:t>F1-macro</a:t>
                      </a:r>
                    </a:p>
                  </a:txBody>
                  <a:tcPr marT="0" marB="0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7F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4A4A4A"/>
                          </a:solidFill>
                          <a:latin typeface="BIZ UDPGothic"/>
                          <a:ea typeface="BIZ UDPGothic"/>
                        </a:rPr>
                        <a:t>0.8292</a:t>
                      </a:r>
                    </a:p>
                  </a:txBody>
                  <a:tcPr marT="0" marB="0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7F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729994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>
                          <a:solidFill>
                            <a:srgbClr val="4A4A4A"/>
                          </a:solidFill>
                          <a:latin typeface="BIZ UDPGothic"/>
                          <a:ea typeface="BIZ UDPGothic"/>
                        </a:rPr>
                        <a:t>AUC-ROC</a:t>
                      </a:r>
                    </a:p>
                  </a:txBody>
                  <a:tcPr marT="0" marB="0">
                    <a:lnL w="0"/>
                    <a:lnR w="0"/>
                    <a:lnT w="0"/>
                    <a:lnB w="0"/>
                    <a:lnTlToBr w="0"/>
                    <a:lnBlToTr w="0"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4A4A4A"/>
                          </a:solidFill>
                          <a:latin typeface="BIZ UDPGothic"/>
                          <a:ea typeface="BIZ UDPGothic"/>
                        </a:rPr>
                        <a:t>0.9053</a:t>
                      </a:r>
                    </a:p>
                  </a:txBody>
                  <a:tcPr marT="0" marB="0">
                    <a:lnL w="0"/>
                    <a:lnR w="0"/>
                    <a:lnT w="0"/>
                    <a:lnB w="0"/>
                    <a:lnTlToBr w="0"/>
                    <a:lnBlToTr w="0"/>
                  </a:tcPr>
                </a:tc>
                <a:extLst>
                  <a:ext uri="{0D108BD9-81ED-4DB2-BD59-A6C34878D82A}">
                    <a16:rowId xmlns:a16="http://schemas.microsoft.com/office/drawing/2014/main" val="405988597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>
                          <a:solidFill>
                            <a:srgbClr val="4A4A4A"/>
                          </a:solidFill>
                          <a:latin typeface="BIZ UDPGothic"/>
                          <a:ea typeface="BIZ UDPGothic"/>
                        </a:rPr>
                        <a:t>Brier Score</a:t>
                      </a:r>
                    </a:p>
                  </a:txBody>
                  <a:tcPr marT="0" marB="0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7F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4A4A4A"/>
                          </a:solidFill>
                          <a:latin typeface="BIZ UDPGothic"/>
                          <a:ea typeface="BIZ UDPGothic"/>
                        </a:rPr>
                        <a:t>0.1228</a:t>
                      </a:r>
                    </a:p>
                  </a:txBody>
                  <a:tcPr marT="0" marB="0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7F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45736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>
                          <a:solidFill>
                            <a:srgbClr val="4A4A4A"/>
                          </a:solidFill>
                          <a:latin typeface="BIZ UDPGothic"/>
                          <a:ea typeface="BIZ UDPGothic"/>
                        </a:rPr>
                        <a:t>Precision@10%</a:t>
                      </a:r>
                    </a:p>
                  </a:txBody>
                  <a:tcPr marT="0" marB="0">
                    <a:lnL w="0"/>
                    <a:lnR w="0"/>
                    <a:lnT w="0"/>
                    <a:lnB w="0"/>
                    <a:lnTlToBr w="0"/>
                    <a:lnBlToTr w="0"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4A4A4A"/>
                          </a:solidFill>
                          <a:latin typeface="BIZ UDPGothic"/>
                          <a:ea typeface="BIZ UDPGothic"/>
                        </a:rPr>
                        <a:t>0.9714</a:t>
                      </a:r>
                    </a:p>
                  </a:txBody>
                  <a:tcPr marT="0" marB="0">
                    <a:lnL w="0"/>
                    <a:lnR w="0"/>
                    <a:lnT w="0"/>
                    <a:lnB w="0"/>
                    <a:lnTlToBr w="0"/>
                    <a:lnBlToTr w="0"/>
                  </a:tcPr>
                </a:tc>
                <a:extLst>
                  <a:ext uri="{0D108BD9-81ED-4DB2-BD59-A6C34878D82A}">
                    <a16:rowId xmlns:a16="http://schemas.microsoft.com/office/drawing/2014/main" val="151841046"/>
                  </a:ext>
                </a:extLst>
              </a:tr>
            </a:tbl>
          </a:graphicData>
        </a:graphic>
      </p:graphicFrame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C104899D-18D0-4424-841B-5267147C590D}"/>
              </a:ext>
            </a:extLst>
          </p:cNvPr>
          <p:cNvSpPr/>
          <p:nvPr/>
        </p:nvSpPr>
        <p:spPr>
          <a:xfrm>
            <a:off x="6273800" y="5232400"/>
            <a:ext cx="5461000" cy="1143000"/>
          </a:xfrm>
          <a:prstGeom prst="roundRect">
            <a:avLst/>
          </a:prstGeom>
          <a:solidFill>
            <a:srgbClr val="F7F6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/>
          <a:lstStyle/>
          <a:p>
            <a:pPr algn="l"/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最終モデル設定
● モデル種別</a:t>
            </a:r>
            <a:r>
              <a:rPr lang="en-US" altLang="ja-JP" sz="1400">
                <a:solidFill>
                  <a:srgbClr val="4A4A4A"/>
                </a:solidFill>
                <a:latin typeface="BIZ UDPGothic"/>
                <a:ea typeface="BIZ UDPGothic"/>
              </a:rPr>
              <a:t>: hist_gradient_boosting
● learning_rate=0.03, max_depth=4, max_iter=400
● </a:t>
            </a:r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分割</a:t>
            </a:r>
            <a:r>
              <a:rPr lang="en-US" altLang="ja-JP" sz="1400">
                <a:solidFill>
                  <a:srgbClr val="4A4A4A"/>
                </a:solidFill>
                <a:latin typeface="BIZ UDPGothic"/>
                <a:ea typeface="BIZ UDPGothic"/>
              </a:rPr>
              <a:t>: train=2450 / val=350 / test=700</a:t>
            </a:r>
            <a:endParaRPr lang="ja-JP" altLang="en-US" sz="1400">
              <a:solidFill>
                <a:srgbClr val="4A4A4A"/>
              </a:solidFill>
              <a:latin typeface="BIZ UDPGothic"/>
              <a:ea typeface="BIZ UDPGothic"/>
            </a:endParaRPr>
          </a:p>
        </p:txBody>
      </p:sp>
    </p:spTree>
    <p:extLst>
      <p:ext uri="{BB962C8B-B14F-4D97-AF65-F5344CB8AC3E}">
        <p14:creationId xmlns:p14="http://schemas.microsoft.com/office/powerpoint/2010/main" val="16197606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四角形: 角を丸くする 23">
            <a:extLst>
              <a:ext uri="{FF2B5EF4-FFF2-40B4-BE49-F238E27FC236}">
                <a16:creationId xmlns:a16="http://schemas.microsoft.com/office/drawing/2014/main" id="{6444C1D4-0346-4B5D-9B4B-A06F357088BF}"/>
              </a:ext>
            </a:extLst>
          </p:cNvPr>
          <p:cNvSpPr/>
          <p:nvPr/>
        </p:nvSpPr>
        <p:spPr>
          <a:xfrm>
            <a:off x="6223000" y="3810000"/>
            <a:ext cx="5461000" cy="2540000"/>
          </a:xfrm>
          <a:prstGeom prst="roundRect">
            <a:avLst/>
          </a:prstGeom>
          <a:solidFill>
            <a:srgbClr val="F7F6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F511D552-26C9-4E86-8E28-670AC8180F9A}"/>
              </a:ext>
            </a:extLst>
          </p:cNvPr>
          <p:cNvSpPr/>
          <p:nvPr/>
        </p:nvSpPr>
        <p:spPr>
          <a:xfrm>
            <a:off x="457200" y="3810000"/>
            <a:ext cx="5461000" cy="2540000"/>
          </a:xfrm>
          <a:prstGeom prst="roundRect">
            <a:avLst/>
          </a:prstGeom>
          <a:solidFill>
            <a:srgbClr val="F7F6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FFF9851A-2198-48E9-B866-E88DC9F18F29}"/>
              </a:ext>
            </a:extLst>
          </p:cNvPr>
          <p:cNvSpPr/>
          <p:nvPr/>
        </p:nvSpPr>
        <p:spPr>
          <a:xfrm>
            <a:off x="7975600" y="1016000"/>
            <a:ext cx="3606800" cy="2540000"/>
          </a:xfrm>
          <a:prstGeom prst="roundRect">
            <a:avLst/>
          </a:prstGeom>
          <a:solidFill>
            <a:srgbClr val="F7F6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DE0BB04E-7454-4CC3-BD76-9E8405564558}"/>
              </a:ext>
            </a:extLst>
          </p:cNvPr>
          <p:cNvSpPr/>
          <p:nvPr/>
        </p:nvSpPr>
        <p:spPr>
          <a:xfrm>
            <a:off x="4216400" y="1016000"/>
            <a:ext cx="3606800" cy="2540000"/>
          </a:xfrm>
          <a:prstGeom prst="roundRect">
            <a:avLst/>
          </a:prstGeom>
          <a:solidFill>
            <a:srgbClr val="F7F6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BA7A040B-E771-4230-B3F7-69877BCCE1CF}"/>
              </a:ext>
            </a:extLst>
          </p:cNvPr>
          <p:cNvSpPr/>
          <p:nvPr/>
        </p:nvSpPr>
        <p:spPr>
          <a:xfrm>
            <a:off x="457200" y="1016000"/>
            <a:ext cx="3606800" cy="2540000"/>
          </a:xfrm>
          <a:prstGeom prst="roundRect">
            <a:avLst/>
          </a:prstGeom>
          <a:solidFill>
            <a:srgbClr val="F7F6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CCA1CF6-C7CF-4E5E-A054-DB2063820571}"/>
              </a:ext>
            </a:extLst>
          </p:cNvPr>
          <p:cNvSpPr txBox="1"/>
          <p:nvPr/>
        </p:nvSpPr>
        <p:spPr>
          <a:xfrm>
            <a:off x="457200" y="254000"/>
            <a:ext cx="112776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2600" b="1">
                <a:solidFill>
                  <a:srgbClr val="2D2D2D"/>
                </a:solidFill>
                <a:latin typeface="BIZ UDPGothic"/>
                <a:ea typeface="BIZ UDPGothic"/>
              </a:rPr>
              <a:t>8. </a:t>
            </a:r>
            <a:r>
              <a:rPr lang="zh-TW" altLang="en-US" sz="2600" b="1">
                <a:solidFill>
                  <a:srgbClr val="2D2D2D"/>
                </a:solidFill>
                <a:latin typeface="BIZ UDPGothic"/>
                <a:ea typeface="BIZ UDPGothic"/>
              </a:rPr>
              <a:t>業務提言（概要）</a:t>
            </a:r>
            <a:endParaRPr lang="ja-JP" altLang="en-US" sz="2600" b="1">
              <a:solidFill>
                <a:srgbClr val="2D2D2D"/>
              </a:solidFill>
              <a:latin typeface="BIZ UDPGothic"/>
              <a:ea typeface="BIZ UDPGothic"/>
            </a:endParaRPr>
          </a:p>
        </p:txBody>
      </p:sp>
      <p:sp>
        <p:nvSpPr>
          <p:cNvPr id="3" name="楕円 2">
            <a:extLst>
              <a:ext uri="{FF2B5EF4-FFF2-40B4-BE49-F238E27FC236}">
                <a16:creationId xmlns:a16="http://schemas.microsoft.com/office/drawing/2014/main" id="{A78983D0-9863-480E-B9D0-9BB411A754BA}"/>
              </a:ext>
            </a:extLst>
          </p:cNvPr>
          <p:cNvSpPr/>
          <p:nvPr/>
        </p:nvSpPr>
        <p:spPr>
          <a:xfrm>
            <a:off x="584200" y="1117600"/>
            <a:ext cx="406400" cy="406400"/>
          </a:xfrm>
          <a:prstGeom prst="ellipse">
            <a:avLst/>
          </a:prstGeom>
          <a:solidFill>
            <a:srgbClr val="A033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ja-JP" sz="1600" b="1">
                <a:solidFill>
                  <a:srgbClr val="FFFFFF"/>
                </a:solidFill>
                <a:latin typeface="BIZ UDPGothic"/>
                <a:ea typeface="BIZ UDPGothic"/>
              </a:rPr>
              <a:t>1</a:t>
            </a:r>
            <a:endParaRPr lang="ja-JP" altLang="en-US" sz="1600" b="1">
              <a:solidFill>
                <a:srgbClr val="FFFFFF"/>
              </a:solidFill>
              <a:latin typeface="BIZ UDPGothic"/>
              <a:ea typeface="BIZ UDPGothic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DB2B188-0FFC-4AAD-8F02-F46C69CF5B3F}"/>
              </a:ext>
            </a:extLst>
          </p:cNvPr>
          <p:cNvSpPr txBox="1"/>
          <p:nvPr/>
        </p:nvSpPr>
        <p:spPr>
          <a:xfrm>
            <a:off x="1066800" y="1117600"/>
            <a:ext cx="28702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600" b="1">
                <a:solidFill>
                  <a:srgbClr val="2D2D2D"/>
                </a:solidFill>
                <a:latin typeface="BIZ UDPGothic"/>
                <a:ea typeface="BIZ UDPGothic"/>
              </a:rPr>
              <a:t>閾値運用の導入案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96B7978C-3DA2-4BD7-A4B8-8F153CBDD88B}"/>
              </a:ext>
            </a:extLst>
          </p:cNvPr>
          <p:cNvSpPr/>
          <p:nvPr/>
        </p:nvSpPr>
        <p:spPr>
          <a:xfrm>
            <a:off x="1066800" y="1498600"/>
            <a:ext cx="711200" cy="279400"/>
          </a:xfrm>
          <a:prstGeom prst="roundRect">
            <a:avLst/>
          </a:prstGeom>
          <a:solidFill>
            <a:srgbClr val="A033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ja-JP" altLang="en-US" sz="1400">
                <a:solidFill>
                  <a:srgbClr val="FFFFFF"/>
                </a:solidFill>
                <a:latin typeface="BIZ UDPGothic"/>
                <a:ea typeface="BIZ UDPGothic"/>
              </a:rPr>
              <a:t>短期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86A0554B-5220-4809-97BB-10DEAC9279C1}"/>
              </a:ext>
            </a:extLst>
          </p:cNvPr>
          <p:cNvSpPr txBox="1"/>
          <p:nvPr/>
        </p:nvSpPr>
        <p:spPr>
          <a:xfrm>
            <a:off x="609600" y="1879600"/>
            <a:ext cx="3302000" cy="152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スコア上位</a:t>
            </a:r>
            <a:r>
              <a:rPr lang="en-US" altLang="ja-JP" sz="1400">
                <a:solidFill>
                  <a:srgbClr val="4A4A4A"/>
                </a:solidFill>
                <a:latin typeface="BIZ UDPGothic"/>
                <a:ea typeface="BIZ UDPGothic"/>
              </a:rPr>
              <a:t>10%</a:t>
            </a:r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を「重点フォロー」対象とし、臨床確認フローを設計</a:t>
            </a:r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3334C9A2-16E7-4770-8526-2319DDB7174E}"/>
              </a:ext>
            </a:extLst>
          </p:cNvPr>
          <p:cNvSpPr/>
          <p:nvPr/>
        </p:nvSpPr>
        <p:spPr>
          <a:xfrm>
            <a:off x="4343400" y="1117600"/>
            <a:ext cx="406400" cy="406400"/>
          </a:xfrm>
          <a:prstGeom prst="ellipse">
            <a:avLst/>
          </a:prstGeom>
          <a:solidFill>
            <a:srgbClr val="A033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ja-JP" sz="1600" b="1">
                <a:solidFill>
                  <a:srgbClr val="FFFFFF"/>
                </a:solidFill>
                <a:latin typeface="BIZ UDPGothic"/>
                <a:ea typeface="BIZ UDPGothic"/>
              </a:rPr>
              <a:t>2</a:t>
            </a:r>
            <a:endParaRPr lang="ja-JP" altLang="en-US" sz="1600" b="1">
              <a:solidFill>
                <a:srgbClr val="FFFFFF"/>
              </a:solidFill>
              <a:latin typeface="BIZ UDPGothic"/>
              <a:ea typeface="BIZ UDPGothic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CBB6E116-2E27-4852-B6ED-D1DB98906599}"/>
              </a:ext>
            </a:extLst>
          </p:cNvPr>
          <p:cNvSpPr txBox="1"/>
          <p:nvPr/>
        </p:nvSpPr>
        <p:spPr>
          <a:xfrm>
            <a:off x="4826000" y="1117600"/>
            <a:ext cx="28702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600" b="1">
                <a:solidFill>
                  <a:srgbClr val="2D2D2D"/>
                </a:solidFill>
                <a:latin typeface="BIZ UDPGothic"/>
                <a:ea typeface="BIZ UDPGothic"/>
              </a:rPr>
              <a:t>運用前パイロット</a:t>
            </a: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3C316F4E-19B6-48C9-A092-F05878D76529}"/>
              </a:ext>
            </a:extLst>
          </p:cNvPr>
          <p:cNvSpPr/>
          <p:nvPr/>
        </p:nvSpPr>
        <p:spPr>
          <a:xfrm>
            <a:off x="4826000" y="1498600"/>
            <a:ext cx="711200" cy="279400"/>
          </a:xfrm>
          <a:prstGeom prst="roundRect">
            <a:avLst/>
          </a:prstGeom>
          <a:solidFill>
            <a:srgbClr val="A033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ja-JP" altLang="en-US" sz="1400">
                <a:solidFill>
                  <a:srgbClr val="FFFFFF"/>
                </a:solidFill>
                <a:latin typeface="BIZ UDPGothic"/>
                <a:ea typeface="BIZ UDPGothic"/>
              </a:rPr>
              <a:t>必須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C6CF7491-D359-4BF5-A820-3461133DDF38}"/>
              </a:ext>
            </a:extLst>
          </p:cNvPr>
          <p:cNvSpPr txBox="1"/>
          <p:nvPr/>
        </p:nvSpPr>
        <p:spPr>
          <a:xfrm>
            <a:off x="4368800" y="1879600"/>
            <a:ext cx="3302000" cy="152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外部検証</a:t>
            </a:r>
            <a:r>
              <a:rPr lang="en-US" altLang="ja-JP" sz="1400">
                <a:solidFill>
                  <a:srgbClr val="4A4A4A"/>
                </a:solidFill>
                <a:latin typeface="BIZ UDPGothic"/>
                <a:ea typeface="BIZ UDPGothic"/>
              </a:rPr>
              <a:t>/</a:t>
            </a:r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パイロット（数ヶ月）での精度・業務負荷・臨床受容性を評価</a:t>
            </a:r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5E2CE531-F349-4F85-A004-A7739094B957}"/>
              </a:ext>
            </a:extLst>
          </p:cNvPr>
          <p:cNvSpPr/>
          <p:nvPr/>
        </p:nvSpPr>
        <p:spPr>
          <a:xfrm>
            <a:off x="8102600" y="1117600"/>
            <a:ext cx="406400" cy="406400"/>
          </a:xfrm>
          <a:prstGeom prst="ellipse">
            <a:avLst/>
          </a:prstGeom>
          <a:solidFill>
            <a:srgbClr val="5C5C5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ja-JP" sz="1600" b="1">
                <a:solidFill>
                  <a:srgbClr val="FFFFFF"/>
                </a:solidFill>
                <a:latin typeface="BIZ UDPGothic"/>
                <a:ea typeface="BIZ UDPGothic"/>
              </a:rPr>
              <a:t>3</a:t>
            </a:r>
            <a:endParaRPr lang="ja-JP" altLang="en-US" sz="1600" b="1">
              <a:solidFill>
                <a:srgbClr val="FFFFFF"/>
              </a:solidFill>
              <a:latin typeface="BIZ UDPGothic"/>
              <a:ea typeface="BIZ UDPGothic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102DB365-2B56-4A85-898F-5BF573E2891E}"/>
              </a:ext>
            </a:extLst>
          </p:cNvPr>
          <p:cNvSpPr txBox="1"/>
          <p:nvPr/>
        </p:nvSpPr>
        <p:spPr>
          <a:xfrm>
            <a:off x="8585200" y="1117600"/>
            <a:ext cx="28702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600" b="1">
                <a:solidFill>
                  <a:srgbClr val="2D2D2D"/>
                </a:solidFill>
                <a:latin typeface="BIZ UDPGothic"/>
                <a:ea typeface="BIZ UDPGothic"/>
              </a:rPr>
              <a:t>前処理・品質管理</a:t>
            </a:r>
          </a:p>
        </p:txBody>
      </p:sp>
      <p:sp>
        <p:nvSpPr>
          <p:cNvPr id="16" name="四角形: 角を丸くする 15">
            <a:extLst>
              <a:ext uri="{FF2B5EF4-FFF2-40B4-BE49-F238E27FC236}">
                <a16:creationId xmlns:a16="http://schemas.microsoft.com/office/drawing/2014/main" id="{547FD92D-CB08-4FC7-8A7B-24588CECCDDA}"/>
              </a:ext>
            </a:extLst>
          </p:cNvPr>
          <p:cNvSpPr/>
          <p:nvPr/>
        </p:nvSpPr>
        <p:spPr>
          <a:xfrm>
            <a:off x="8585200" y="1498600"/>
            <a:ext cx="711200" cy="279400"/>
          </a:xfrm>
          <a:prstGeom prst="roundRect">
            <a:avLst/>
          </a:prstGeom>
          <a:solidFill>
            <a:srgbClr val="5C5C5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ja-JP" altLang="en-US" sz="1400">
                <a:solidFill>
                  <a:srgbClr val="FFFFFF"/>
                </a:solidFill>
                <a:latin typeface="BIZ UDPGothic"/>
                <a:ea typeface="BIZ UDPGothic"/>
              </a:rPr>
              <a:t>短期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D70217D4-A15B-4EA9-82DA-A7AF9315E97E}"/>
              </a:ext>
            </a:extLst>
          </p:cNvPr>
          <p:cNvSpPr txBox="1"/>
          <p:nvPr/>
        </p:nvSpPr>
        <p:spPr>
          <a:xfrm>
            <a:off x="8128000" y="1879600"/>
            <a:ext cx="3302000" cy="152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入力データの妥当性チェックと外れ値照会プロセスの構築</a:t>
            </a:r>
          </a:p>
        </p:txBody>
      </p:sp>
      <p:sp>
        <p:nvSpPr>
          <p:cNvPr id="18" name="楕円 17">
            <a:extLst>
              <a:ext uri="{FF2B5EF4-FFF2-40B4-BE49-F238E27FC236}">
                <a16:creationId xmlns:a16="http://schemas.microsoft.com/office/drawing/2014/main" id="{F44DF136-D581-48AA-93D5-517A5F418118}"/>
              </a:ext>
            </a:extLst>
          </p:cNvPr>
          <p:cNvSpPr/>
          <p:nvPr/>
        </p:nvSpPr>
        <p:spPr>
          <a:xfrm>
            <a:off x="584200" y="3911600"/>
            <a:ext cx="406400" cy="406400"/>
          </a:xfrm>
          <a:prstGeom prst="ellipse">
            <a:avLst/>
          </a:prstGeom>
          <a:solidFill>
            <a:srgbClr val="5C5C5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ja-JP" sz="1600" b="1">
                <a:solidFill>
                  <a:srgbClr val="FFFFFF"/>
                </a:solidFill>
                <a:latin typeface="BIZ UDPGothic"/>
                <a:ea typeface="BIZ UDPGothic"/>
              </a:rPr>
              <a:t>4</a:t>
            </a:r>
            <a:endParaRPr lang="ja-JP" altLang="en-US" sz="1600" b="1">
              <a:solidFill>
                <a:srgbClr val="FFFFFF"/>
              </a:solidFill>
              <a:latin typeface="BIZ UDPGothic"/>
              <a:ea typeface="BIZ UDPGothic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54E99C2E-0DE0-4295-A2D1-684E2D0E147B}"/>
              </a:ext>
            </a:extLst>
          </p:cNvPr>
          <p:cNvSpPr txBox="1"/>
          <p:nvPr/>
        </p:nvSpPr>
        <p:spPr>
          <a:xfrm>
            <a:off x="1066800" y="3911600"/>
            <a:ext cx="47244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600" b="1">
                <a:solidFill>
                  <a:srgbClr val="2D2D2D"/>
                </a:solidFill>
                <a:latin typeface="BIZ UDPGothic"/>
                <a:ea typeface="BIZ UDPGothic"/>
              </a:rPr>
              <a:t>ガバナンスと説明責任</a:t>
            </a:r>
          </a:p>
        </p:txBody>
      </p:sp>
      <p:sp>
        <p:nvSpPr>
          <p:cNvPr id="21" name="四角形: 角を丸くする 20">
            <a:extLst>
              <a:ext uri="{FF2B5EF4-FFF2-40B4-BE49-F238E27FC236}">
                <a16:creationId xmlns:a16="http://schemas.microsoft.com/office/drawing/2014/main" id="{D910C7AA-1C85-4491-A57D-D671056C8324}"/>
              </a:ext>
            </a:extLst>
          </p:cNvPr>
          <p:cNvSpPr/>
          <p:nvPr/>
        </p:nvSpPr>
        <p:spPr>
          <a:xfrm>
            <a:off x="1066800" y="4292600"/>
            <a:ext cx="711200" cy="279400"/>
          </a:xfrm>
          <a:prstGeom prst="roundRect">
            <a:avLst/>
          </a:prstGeom>
          <a:solidFill>
            <a:srgbClr val="5C5C5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ja-JP" altLang="en-US" sz="1400">
                <a:solidFill>
                  <a:srgbClr val="FFFFFF"/>
                </a:solidFill>
                <a:latin typeface="BIZ UDPGothic"/>
                <a:ea typeface="BIZ UDPGothic"/>
              </a:rPr>
              <a:t>短期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D9AFAEE8-FED8-46BE-83DB-15C01C8D2D91}"/>
              </a:ext>
            </a:extLst>
          </p:cNvPr>
          <p:cNvSpPr txBox="1"/>
          <p:nvPr/>
        </p:nvSpPr>
        <p:spPr>
          <a:xfrm>
            <a:off x="609600" y="4673600"/>
            <a:ext cx="5156200" cy="152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「判定支援材料」の明文化と内部承認ルートの確立</a:t>
            </a:r>
          </a:p>
        </p:txBody>
      </p:sp>
      <p:sp>
        <p:nvSpPr>
          <p:cNvPr id="23" name="楕円 22">
            <a:extLst>
              <a:ext uri="{FF2B5EF4-FFF2-40B4-BE49-F238E27FC236}">
                <a16:creationId xmlns:a16="http://schemas.microsoft.com/office/drawing/2014/main" id="{34FD16AF-F502-4666-8130-34D151CF23EB}"/>
              </a:ext>
            </a:extLst>
          </p:cNvPr>
          <p:cNvSpPr/>
          <p:nvPr/>
        </p:nvSpPr>
        <p:spPr>
          <a:xfrm>
            <a:off x="6350000" y="3911600"/>
            <a:ext cx="406400" cy="406400"/>
          </a:xfrm>
          <a:prstGeom prst="ellipse">
            <a:avLst/>
          </a:prstGeom>
          <a:solidFill>
            <a:srgbClr val="38383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ja-JP" sz="1600" b="1">
                <a:solidFill>
                  <a:srgbClr val="FFFFFF"/>
                </a:solidFill>
                <a:latin typeface="BIZ UDPGothic"/>
                <a:ea typeface="BIZ UDPGothic"/>
              </a:rPr>
              <a:t>5</a:t>
            </a:r>
            <a:endParaRPr lang="ja-JP" altLang="en-US" sz="1600" b="1">
              <a:solidFill>
                <a:srgbClr val="FFFFFF"/>
              </a:solidFill>
              <a:latin typeface="BIZ UDPGothic"/>
              <a:ea typeface="BIZ UDPGothic"/>
            </a:endParaRP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2223DDC3-1A4C-40ED-8E92-1059E0438256}"/>
              </a:ext>
            </a:extLst>
          </p:cNvPr>
          <p:cNvSpPr txBox="1"/>
          <p:nvPr/>
        </p:nvSpPr>
        <p:spPr>
          <a:xfrm>
            <a:off x="6832600" y="3911600"/>
            <a:ext cx="47244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TW" altLang="en-US" sz="1600" b="1">
                <a:solidFill>
                  <a:srgbClr val="2D2D2D"/>
                </a:solidFill>
                <a:latin typeface="BIZ UDPGothic"/>
                <a:ea typeface="BIZ UDPGothic"/>
              </a:rPr>
              <a:t>継続的評価設計</a:t>
            </a:r>
            <a:endParaRPr lang="ja-JP" altLang="en-US" sz="1600" b="1">
              <a:solidFill>
                <a:srgbClr val="2D2D2D"/>
              </a:solidFill>
              <a:latin typeface="BIZ UDPGothic"/>
              <a:ea typeface="BIZ UDPGothic"/>
            </a:endParaRPr>
          </a:p>
        </p:txBody>
      </p:sp>
      <p:sp>
        <p:nvSpPr>
          <p:cNvPr id="26" name="四角形: 角を丸くする 25">
            <a:extLst>
              <a:ext uri="{FF2B5EF4-FFF2-40B4-BE49-F238E27FC236}">
                <a16:creationId xmlns:a16="http://schemas.microsoft.com/office/drawing/2014/main" id="{0C0EEE1A-E786-49C3-B2D4-0F4F8DE76E58}"/>
              </a:ext>
            </a:extLst>
          </p:cNvPr>
          <p:cNvSpPr/>
          <p:nvPr/>
        </p:nvSpPr>
        <p:spPr>
          <a:xfrm>
            <a:off x="6832600" y="4292600"/>
            <a:ext cx="711200" cy="279400"/>
          </a:xfrm>
          <a:prstGeom prst="roundRect">
            <a:avLst/>
          </a:prstGeom>
          <a:solidFill>
            <a:srgbClr val="38383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ja-JP" altLang="en-US" sz="1400">
                <a:solidFill>
                  <a:srgbClr val="FFFFFF"/>
                </a:solidFill>
                <a:latin typeface="BIZ UDPGothic"/>
                <a:ea typeface="BIZ UDPGothic"/>
              </a:rPr>
              <a:t>中期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6F6F9230-864C-4EB3-B947-D146995CD175}"/>
              </a:ext>
            </a:extLst>
          </p:cNvPr>
          <p:cNvSpPr txBox="1"/>
          <p:nvPr/>
        </p:nvSpPr>
        <p:spPr>
          <a:xfrm>
            <a:off x="6375400" y="4673600"/>
            <a:ext cx="5156200" cy="152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1400">
                <a:solidFill>
                  <a:srgbClr val="4A4A4A"/>
                </a:solidFill>
                <a:latin typeface="BIZ UDPGothic"/>
                <a:ea typeface="BIZ UDPGothic"/>
              </a:rPr>
              <a:t>3</a:t>
            </a:r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ヶ月毎のモデル精度モニタリングとドリフト検知の設計</a:t>
            </a:r>
          </a:p>
        </p:txBody>
      </p:sp>
    </p:spTree>
    <p:extLst>
      <p:ext uri="{BB962C8B-B14F-4D97-AF65-F5344CB8AC3E}">
        <p14:creationId xmlns:p14="http://schemas.microsoft.com/office/powerpoint/2010/main" val="12300061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15BE304-5CFC-40D8-8C70-3CD9DC41C489}"/>
              </a:ext>
            </a:extLst>
          </p:cNvPr>
          <p:cNvSpPr txBox="1"/>
          <p:nvPr/>
        </p:nvSpPr>
        <p:spPr>
          <a:xfrm>
            <a:off x="457200" y="254000"/>
            <a:ext cx="112776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2600" b="1">
                <a:solidFill>
                  <a:srgbClr val="2D2D2D"/>
                </a:solidFill>
                <a:latin typeface="BIZ UDPGothic"/>
                <a:ea typeface="BIZ UDPGothic"/>
              </a:rPr>
              <a:t>9. </a:t>
            </a:r>
            <a:r>
              <a:rPr lang="zh-TW" altLang="en-US" sz="2600" b="1">
                <a:solidFill>
                  <a:srgbClr val="2D2D2D"/>
                </a:solidFill>
                <a:latin typeface="BIZ UDPGothic"/>
                <a:ea typeface="BIZ UDPGothic"/>
              </a:rPr>
              <a:t>業務提言 詳細（</a:t>
            </a:r>
            <a:r>
              <a:rPr lang="en-US" altLang="zh-TW" sz="2600" b="1">
                <a:solidFill>
                  <a:srgbClr val="2D2D2D"/>
                </a:solidFill>
                <a:latin typeface="BIZ UDPGothic"/>
                <a:ea typeface="BIZ UDPGothic"/>
              </a:rPr>
              <a:t>1/2</a:t>
            </a:r>
            <a:r>
              <a:rPr lang="zh-TW" altLang="en-US" sz="2600" b="1">
                <a:solidFill>
                  <a:srgbClr val="2D2D2D"/>
                </a:solidFill>
                <a:latin typeface="BIZ UDPGothic"/>
                <a:ea typeface="BIZ UDPGothic"/>
              </a:rPr>
              <a:t>）</a:t>
            </a:r>
            <a:endParaRPr lang="ja-JP" altLang="en-US" sz="2600" b="1">
              <a:solidFill>
                <a:srgbClr val="2D2D2D"/>
              </a:solidFill>
              <a:latin typeface="BIZ UDPGothic"/>
              <a:ea typeface="BIZ UDPGothic"/>
            </a:endParaRPr>
          </a:p>
        </p:txBody>
      </p:sp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8F49AD71-CE3E-483B-B479-BD8027EF7E72}"/>
              </a:ext>
            </a:extLst>
          </p:cNvPr>
          <p:cNvSpPr/>
          <p:nvPr/>
        </p:nvSpPr>
        <p:spPr>
          <a:xfrm>
            <a:off x="457200" y="914400"/>
            <a:ext cx="5461000" cy="406400"/>
          </a:xfrm>
          <a:prstGeom prst="roundRect">
            <a:avLst/>
          </a:prstGeom>
          <a:solidFill>
            <a:srgbClr val="A033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altLang="ja-JP" sz="1400" b="1">
                <a:solidFill>
                  <a:srgbClr val="FFFFFF"/>
                </a:solidFill>
                <a:latin typeface="BIZ UDPGothic"/>
                <a:ea typeface="BIZ UDPGothic"/>
              </a:rPr>
              <a:t>1. </a:t>
            </a:r>
            <a:r>
              <a:rPr lang="ja-JP" altLang="en-US" sz="1400" b="1">
                <a:solidFill>
                  <a:srgbClr val="FFFFFF"/>
                </a:solidFill>
                <a:latin typeface="BIZ UDPGothic"/>
                <a:ea typeface="BIZ UDPGothic"/>
              </a:rPr>
              <a:t>閾値運用の導入案（短期運用）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45D2FADA-4649-4547-983F-DB0797286BB7}"/>
              </a:ext>
            </a:extLst>
          </p:cNvPr>
          <p:cNvSpPr/>
          <p:nvPr/>
        </p:nvSpPr>
        <p:spPr>
          <a:xfrm>
            <a:off x="457200" y="1371600"/>
            <a:ext cx="5461000" cy="2286000"/>
          </a:xfrm>
          <a:prstGeom prst="roundRect">
            <a:avLst/>
          </a:prstGeom>
          <a:solidFill>
            <a:srgbClr val="F7F6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/>
          <a:lstStyle/>
          <a:p>
            <a:pPr algn="l"/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● スコア上位（上位</a:t>
            </a:r>
            <a:r>
              <a:rPr lang="en-US" altLang="ja-JP" sz="1400">
                <a:solidFill>
                  <a:srgbClr val="4A4A4A"/>
                </a:solidFill>
                <a:latin typeface="BIZ UDPGothic"/>
                <a:ea typeface="BIZ UDPGothic"/>
              </a:rPr>
              <a:t>10%</a:t>
            </a:r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）を「重点フォロー」対象とし、臨床的確認フローを設計（</a:t>
            </a:r>
            <a:r>
              <a:rPr lang="en-US" altLang="ja-JP" sz="1400">
                <a:solidFill>
                  <a:srgbClr val="4A4A4A"/>
                </a:solidFill>
                <a:latin typeface="BIZ UDPGothic"/>
                <a:ea typeface="BIZ UDPGothic"/>
              </a:rPr>
              <a:t>precision_at_top10pct=0.97 </a:t>
            </a:r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を活用）
● 業務要件として、閾値設定により </a:t>
            </a:r>
            <a:r>
              <a:rPr lang="en-US" altLang="ja-JP" sz="1400">
                <a:solidFill>
                  <a:srgbClr val="4A4A4A"/>
                </a:solidFill>
                <a:latin typeface="BIZ UDPGothic"/>
                <a:ea typeface="BIZ UDPGothic"/>
              </a:rPr>
              <a:t>Recall </a:t>
            </a:r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を </a:t>
            </a:r>
            <a:r>
              <a:rPr lang="en-US" altLang="ja-JP" sz="1400">
                <a:solidFill>
                  <a:srgbClr val="4A4A4A"/>
                </a:solidFill>
                <a:latin typeface="BIZ UDPGothic"/>
                <a:ea typeface="BIZ UDPGothic"/>
              </a:rPr>
              <a:t>0.85 </a:t>
            </a:r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以上に維持する目標ラインを検討
● 設定値により </a:t>
            </a:r>
            <a:r>
              <a:rPr lang="en-US" altLang="ja-JP" sz="1400">
                <a:solidFill>
                  <a:srgbClr val="4A4A4A"/>
                </a:solidFill>
                <a:latin typeface="BIZ UDPGothic"/>
                <a:ea typeface="BIZ UDPGothic"/>
              </a:rPr>
              <a:t>False Positive </a:t>
            </a:r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が増加するため、フロー内での二次確認（看護</a:t>
            </a:r>
            <a:r>
              <a:rPr lang="en-US" altLang="ja-JP" sz="1400">
                <a:solidFill>
                  <a:srgbClr val="4A4A4A"/>
                </a:solidFill>
                <a:latin typeface="BIZ UDPGothic"/>
                <a:ea typeface="BIZ UDPGothic"/>
              </a:rPr>
              <a:t>/</a:t>
            </a:r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検査医のレビュー）を必須化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59BCC39B-7B2A-4001-967A-4C53D95B8C25}"/>
              </a:ext>
            </a:extLst>
          </p:cNvPr>
          <p:cNvSpPr/>
          <p:nvPr/>
        </p:nvSpPr>
        <p:spPr>
          <a:xfrm>
            <a:off x="6273800" y="914400"/>
            <a:ext cx="5461000" cy="406400"/>
          </a:xfrm>
          <a:prstGeom prst="roundRect">
            <a:avLst/>
          </a:prstGeom>
          <a:solidFill>
            <a:srgbClr val="5C5C5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altLang="ja-JP" sz="1400" b="1">
                <a:solidFill>
                  <a:srgbClr val="FFFFFF"/>
                </a:solidFill>
                <a:latin typeface="BIZ UDPGothic"/>
                <a:ea typeface="BIZ UDPGothic"/>
              </a:rPr>
              <a:t>2. </a:t>
            </a:r>
            <a:r>
              <a:rPr lang="ja-JP" altLang="en-US" sz="1400" b="1">
                <a:solidFill>
                  <a:srgbClr val="FFFFFF"/>
                </a:solidFill>
                <a:latin typeface="BIZ UDPGothic"/>
                <a:ea typeface="BIZ UDPGothic"/>
              </a:rPr>
              <a:t>運用前パイロット（必須）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CF65CA45-9B9B-4544-A386-719498021C47}"/>
              </a:ext>
            </a:extLst>
          </p:cNvPr>
          <p:cNvSpPr/>
          <p:nvPr/>
        </p:nvSpPr>
        <p:spPr>
          <a:xfrm>
            <a:off x="6273800" y="1371600"/>
            <a:ext cx="5461000" cy="2286000"/>
          </a:xfrm>
          <a:prstGeom prst="roundRect">
            <a:avLst/>
          </a:prstGeom>
          <a:solidFill>
            <a:srgbClr val="F7F6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/>
          <a:lstStyle/>
          <a:p>
            <a:pPr algn="l"/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● 外部検証ないし運用前パイロット（数ヶ月、実際受診データでのスコア運用）を実施し、精度・業務負荷・臨床受容性を評価
● パイロットでは閾値別の運用影響を定量化
  </a:t>
            </a:r>
            <a:r>
              <a:rPr lang="en-US" altLang="ja-JP" sz="1400">
                <a:solidFill>
                  <a:srgbClr val="4A4A4A"/>
                </a:solidFill>
                <a:latin typeface="BIZ UDPGothic"/>
                <a:ea typeface="BIZ UDPGothic"/>
              </a:rPr>
              <a:t>- </a:t>
            </a:r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追加検査件数
  </a:t>
            </a:r>
            <a:r>
              <a:rPr lang="en-US" altLang="ja-JP" sz="1400">
                <a:solidFill>
                  <a:srgbClr val="4A4A4A"/>
                </a:solidFill>
                <a:latin typeface="BIZ UDPGothic"/>
                <a:ea typeface="BIZ UDPGothic"/>
              </a:rPr>
              <a:t>- </a:t>
            </a:r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誤検知による業務負荷
  </a:t>
            </a:r>
            <a:r>
              <a:rPr lang="en-US" altLang="ja-JP" sz="1400">
                <a:solidFill>
                  <a:srgbClr val="4A4A4A"/>
                </a:solidFill>
                <a:latin typeface="BIZ UDPGothic"/>
                <a:ea typeface="BIZ UDPGothic"/>
              </a:rPr>
              <a:t>- </a:t>
            </a:r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臨床受容性の評価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EAEDB4C-7BA1-4D08-B4C8-DF03047B2C18}"/>
              </a:ext>
            </a:extLst>
          </p:cNvPr>
          <p:cNvSpPr txBox="1"/>
          <p:nvPr/>
        </p:nvSpPr>
        <p:spPr>
          <a:xfrm>
            <a:off x="457200" y="3810000"/>
            <a:ext cx="508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600" b="1">
                <a:solidFill>
                  <a:srgbClr val="A0332E"/>
                </a:solidFill>
                <a:latin typeface="BIZ UDPGothic"/>
                <a:ea typeface="BIZ UDPGothic"/>
              </a:rPr>
              <a:t>閾値運用フロー（想定）</a:t>
            </a:r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6DD97DE9-BBD4-43D4-A601-62D12FF7CC9C}"/>
              </a:ext>
            </a:extLst>
          </p:cNvPr>
          <p:cNvSpPr/>
          <p:nvPr/>
        </p:nvSpPr>
        <p:spPr>
          <a:xfrm>
            <a:off x="457200" y="4216400"/>
            <a:ext cx="1727200" cy="762000"/>
          </a:xfrm>
          <a:prstGeom prst="roundRect">
            <a:avLst/>
          </a:prstGeom>
          <a:solidFill>
            <a:srgbClr val="5C5C5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ja-JP" altLang="en-US" sz="1400" b="1">
                <a:solidFill>
                  <a:srgbClr val="FFFFFF"/>
                </a:solidFill>
                <a:latin typeface="BIZ UDPGothic"/>
                <a:ea typeface="BIZ UDPGothic"/>
              </a:rPr>
              <a:t>検査データ
入力</a:t>
            </a:r>
          </a:p>
        </p:txBody>
      </p:sp>
      <p:sp>
        <p:nvSpPr>
          <p:cNvPr id="9" name="矢印: 右 8">
            <a:extLst>
              <a:ext uri="{FF2B5EF4-FFF2-40B4-BE49-F238E27FC236}">
                <a16:creationId xmlns:a16="http://schemas.microsoft.com/office/drawing/2014/main" id="{AE3DA3AD-89AD-4FE7-8266-952F4A143A64}"/>
              </a:ext>
            </a:extLst>
          </p:cNvPr>
          <p:cNvSpPr/>
          <p:nvPr/>
        </p:nvSpPr>
        <p:spPr>
          <a:xfrm>
            <a:off x="2209800" y="4495800"/>
            <a:ext cx="152400" cy="177800"/>
          </a:xfrm>
          <a:prstGeom prst="rightArrow">
            <a:avLst/>
          </a:prstGeom>
          <a:solidFill>
            <a:srgbClr val="D4CF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03D7E751-7F8C-4726-A586-400CAEC91DD3}"/>
              </a:ext>
            </a:extLst>
          </p:cNvPr>
          <p:cNvSpPr/>
          <p:nvPr/>
        </p:nvSpPr>
        <p:spPr>
          <a:xfrm>
            <a:off x="2387600" y="4216400"/>
            <a:ext cx="1727200" cy="762000"/>
          </a:xfrm>
          <a:prstGeom prst="roundRect">
            <a:avLst/>
          </a:prstGeom>
          <a:solidFill>
            <a:srgbClr val="5C5C5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ja-JP" altLang="en-US" sz="1400" b="1">
                <a:solidFill>
                  <a:srgbClr val="FFFFFF"/>
                </a:solidFill>
                <a:latin typeface="BIZ UDPGothic"/>
                <a:ea typeface="BIZ UDPGothic"/>
              </a:rPr>
              <a:t>スコア
算出</a:t>
            </a:r>
          </a:p>
        </p:txBody>
      </p:sp>
      <p:sp>
        <p:nvSpPr>
          <p:cNvPr id="11" name="矢印: 右 10">
            <a:extLst>
              <a:ext uri="{FF2B5EF4-FFF2-40B4-BE49-F238E27FC236}">
                <a16:creationId xmlns:a16="http://schemas.microsoft.com/office/drawing/2014/main" id="{35F81E4E-FDF0-45FD-B238-D9F92B2E4AB4}"/>
              </a:ext>
            </a:extLst>
          </p:cNvPr>
          <p:cNvSpPr/>
          <p:nvPr/>
        </p:nvSpPr>
        <p:spPr>
          <a:xfrm>
            <a:off x="4140200" y="4495800"/>
            <a:ext cx="152400" cy="177800"/>
          </a:xfrm>
          <a:prstGeom prst="rightArrow">
            <a:avLst/>
          </a:prstGeom>
          <a:solidFill>
            <a:srgbClr val="D4CF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709FB889-812E-4B94-90D2-7127216609F6}"/>
              </a:ext>
            </a:extLst>
          </p:cNvPr>
          <p:cNvSpPr/>
          <p:nvPr/>
        </p:nvSpPr>
        <p:spPr>
          <a:xfrm>
            <a:off x="4318000" y="4216400"/>
            <a:ext cx="1727200" cy="762000"/>
          </a:xfrm>
          <a:prstGeom prst="roundRect">
            <a:avLst/>
          </a:prstGeom>
          <a:solidFill>
            <a:srgbClr val="A033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ja-JP" altLang="en-US" sz="1400" b="1">
                <a:solidFill>
                  <a:srgbClr val="FFFFFF"/>
                </a:solidFill>
                <a:latin typeface="BIZ UDPGothic"/>
                <a:ea typeface="BIZ UDPGothic"/>
              </a:rPr>
              <a:t>閾値
判定</a:t>
            </a:r>
          </a:p>
        </p:txBody>
      </p:sp>
      <p:sp>
        <p:nvSpPr>
          <p:cNvPr id="13" name="矢印: 右 12">
            <a:extLst>
              <a:ext uri="{FF2B5EF4-FFF2-40B4-BE49-F238E27FC236}">
                <a16:creationId xmlns:a16="http://schemas.microsoft.com/office/drawing/2014/main" id="{58D3E2D9-C534-4D58-ABC7-9271A95526D9}"/>
              </a:ext>
            </a:extLst>
          </p:cNvPr>
          <p:cNvSpPr/>
          <p:nvPr/>
        </p:nvSpPr>
        <p:spPr>
          <a:xfrm>
            <a:off x="6070600" y="4495800"/>
            <a:ext cx="152400" cy="177800"/>
          </a:xfrm>
          <a:prstGeom prst="rightArrow">
            <a:avLst/>
          </a:prstGeom>
          <a:solidFill>
            <a:srgbClr val="D4CF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541F9F3D-432A-4825-8359-DCB43A76D694}"/>
              </a:ext>
            </a:extLst>
          </p:cNvPr>
          <p:cNvSpPr/>
          <p:nvPr/>
        </p:nvSpPr>
        <p:spPr>
          <a:xfrm>
            <a:off x="6248400" y="4216400"/>
            <a:ext cx="1727200" cy="762000"/>
          </a:xfrm>
          <a:prstGeom prst="roundRect">
            <a:avLst/>
          </a:prstGeom>
          <a:solidFill>
            <a:srgbClr val="A033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ja-JP" altLang="en-US" sz="1400" b="1">
                <a:solidFill>
                  <a:srgbClr val="FFFFFF"/>
                </a:solidFill>
                <a:latin typeface="BIZ UDPGothic"/>
                <a:ea typeface="BIZ UDPGothic"/>
              </a:rPr>
              <a:t>上位</a:t>
            </a:r>
            <a:r>
              <a:rPr lang="en-US" altLang="ja-JP" sz="1400" b="1">
                <a:solidFill>
                  <a:srgbClr val="FFFFFF"/>
                </a:solidFill>
                <a:latin typeface="BIZ UDPGothic"/>
                <a:ea typeface="BIZ UDPGothic"/>
              </a:rPr>
              <a:t>10%
</a:t>
            </a:r>
            <a:r>
              <a:rPr lang="ja-JP" altLang="en-US" sz="1400" b="1">
                <a:solidFill>
                  <a:srgbClr val="FFFFFF"/>
                </a:solidFill>
                <a:latin typeface="BIZ UDPGothic"/>
                <a:ea typeface="BIZ UDPGothic"/>
              </a:rPr>
              <a:t>抽出</a:t>
            </a:r>
          </a:p>
        </p:txBody>
      </p:sp>
      <p:sp>
        <p:nvSpPr>
          <p:cNvPr id="15" name="矢印: 右 14">
            <a:extLst>
              <a:ext uri="{FF2B5EF4-FFF2-40B4-BE49-F238E27FC236}">
                <a16:creationId xmlns:a16="http://schemas.microsoft.com/office/drawing/2014/main" id="{1887285A-B7CB-43D0-AA86-31F00E3AE8A3}"/>
              </a:ext>
            </a:extLst>
          </p:cNvPr>
          <p:cNvSpPr/>
          <p:nvPr/>
        </p:nvSpPr>
        <p:spPr>
          <a:xfrm>
            <a:off x="8001000" y="4495800"/>
            <a:ext cx="152400" cy="177800"/>
          </a:xfrm>
          <a:prstGeom prst="rightArrow">
            <a:avLst/>
          </a:prstGeom>
          <a:solidFill>
            <a:srgbClr val="D4CF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16" name="四角形: 角を丸くする 15">
            <a:extLst>
              <a:ext uri="{FF2B5EF4-FFF2-40B4-BE49-F238E27FC236}">
                <a16:creationId xmlns:a16="http://schemas.microsoft.com/office/drawing/2014/main" id="{4055F850-C8A3-4350-B7B4-5CADFDA2DFF9}"/>
              </a:ext>
            </a:extLst>
          </p:cNvPr>
          <p:cNvSpPr/>
          <p:nvPr/>
        </p:nvSpPr>
        <p:spPr>
          <a:xfrm>
            <a:off x="8178800" y="4216400"/>
            <a:ext cx="1727200" cy="762000"/>
          </a:xfrm>
          <a:prstGeom prst="roundRect">
            <a:avLst/>
          </a:prstGeom>
          <a:solidFill>
            <a:srgbClr val="38383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zh-TW" altLang="en-US" sz="1400" b="1">
                <a:solidFill>
                  <a:srgbClr val="FFFFFF"/>
                </a:solidFill>
                <a:latin typeface="BIZ UDPGothic"/>
                <a:ea typeface="BIZ UDPGothic"/>
              </a:rPr>
              <a:t>二次確認
（臨床）</a:t>
            </a:r>
            <a:endParaRPr lang="ja-JP" altLang="en-US" sz="1400" b="1">
              <a:solidFill>
                <a:srgbClr val="FFFFFF"/>
              </a:solidFill>
              <a:latin typeface="BIZ UDPGothic"/>
              <a:ea typeface="BIZ UDPGothic"/>
            </a:endParaRPr>
          </a:p>
        </p:txBody>
      </p:sp>
      <p:sp>
        <p:nvSpPr>
          <p:cNvPr id="17" name="矢印: 右 16">
            <a:extLst>
              <a:ext uri="{FF2B5EF4-FFF2-40B4-BE49-F238E27FC236}">
                <a16:creationId xmlns:a16="http://schemas.microsoft.com/office/drawing/2014/main" id="{155EC28A-BC75-485C-AF8E-6757E0249069}"/>
              </a:ext>
            </a:extLst>
          </p:cNvPr>
          <p:cNvSpPr/>
          <p:nvPr/>
        </p:nvSpPr>
        <p:spPr>
          <a:xfrm>
            <a:off x="9931400" y="4495800"/>
            <a:ext cx="152400" cy="177800"/>
          </a:xfrm>
          <a:prstGeom prst="rightArrow">
            <a:avLst/>
          </a:prstGeom>
          <a:solidFill>
            <a:srgbClr val="D4CF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34558C74-8F4B-4723-9D28-4700810AB6AF}"/>
              </a:ext>
            </a:extLst>
          </p:cNvPr>
          <p:cNvSpPr/>
          <p:nvPr/>
        </p:nvSpPr>
        <p:spPr>
          <a:xfrm>
            <a:off x="10109200" y="4216400"/>
            <a:ext cx="1727200" cy="762000"/>
          </a:xfrm>
          <a:prstGeom prst="roundRect">
            <a:avLst/>
          </a:prstGeom>
          <a:solidFill>
            <a:srgbClr val="38383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ja-JP" altLang="en-US" sz="1400" b="1">
                <a:solidFill>
                  <a:srgbClr val="FFFFFF"/>
                </a:solidFill>
                <a:latin typeface="BIZ UDPGothic"/>
                <a:ea typeface="BIZ UDPGothic"/>
              </a:rPr>
              <a:t>重点
フォロー</a:t>
            </a:r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1ACFB5A8-07E6-4685-807F-A190A92BF22C}"/>
              </a:ext>
            </a:extLst>
          </p:cNvPr>
          <p:cNvSpPr/>
          <p:nvPr/>
        </p:nvSpPr>
        <p:spPr>
          <a:xfrm>
            <a:off x="457200" y="5143500"/>
            <a:ext cx="11277600" cy="635000"/>
          </a:xfrm>
          <a:prstGeom prst="roundRect">
            <a:avLst/>
          </a:prstGeom>
          <a:solidFill>
            <a:srgbClr val="F2E6E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/>
          <a:lstStyle/>
          <a:p>
            <a:pPr algn="l"/>
            <a:r>
              <a:rPr lang="ja-JP" altLang="en-US" sz="1400">
                <a:solidFill>
                  <a:srgbClr val="A0332E"/>
                </a:solidFill>
                <a:latin typeface="BIZ UDPGothic"/>
                <a:ea typeface="BIZ UDPGothic"/>
              </a:rPr>
              <a:t>目標：</a:t>
            </a:r>
            <a:r>
              <a:rPr lang="en-US" altLang="ja-JP" sz="1400">
                <a:solidFill>
                  <a:srgbClr val="A0332E"/>
                </a:solidFill>
                <a:latin typeface="BIZ UDPGothic"/>
                <a:ea typeface="BIZ UDPGothic"/>
              </a:rPr>
              <a:t>Recall ≥ 0.85 </a:t>
            </a:r>
            <a:r>
              <a:rPr lang="ja-JP" altLang="en-US" sz="1400">
                <a:solidFill>
                  <a:srgbClr val="A0332E"/>
                </a:solidFill>
                <a:latin typeface="BIZ UDPGothic"/>
                <a:ea typeface="BIZ UDPGothic"/>
              </a:rPr>
              <a:t>を維持しつつ、</a:t>
            </a:r>
            <a:r>
              <a:rPr lang="en-US" altLang="ja-JP" sz="1400">
                <a:solidFill>
                  <a:srgbClr val="A0332E"/>
                </a:solidFill>
                <a:latin typeface="BIZ UDPGothic"/>
                <a:ea typeface="BIZ UDPGothic"/>
              </a:rPr>
              <a:t>False Positive </a:t>
            </a:r>
            <a:r>
              <a:rPr lang="ja-JP" altLang="en-US" sz="1400">
                <a:solidFill>
                  <a:srgbClr val="A0332E"/>
                </a:solidFill>
                <a:latin typeface="BIZ UDPGothic"/>
                <a:ea typeface="BIZ UDPGothic"/>
              </a:rPr>
              <a:t>増加に伴う追加検査コストを許容範囲内に抑制する</a:t>
            </a:r>
          </a:p>
        </p:txBody>
      </p:sp>
    </p:spTree>
    <p:extLst>
      <p:ext uri="{BB962C8B-B14F-4D97-AF65-F5344CB8AC3E}">
        <p14:creationId xmlns:p14="http://schemas.microsoft.com/office/powerpoint/2010/main" val="5205737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0E457FA-9858-4565-9D22-97B2522BC3DE}"/>
              </a:ext>
            </a:extLst>
          </p:cNvPr>
          <p:cNvSpPr txBox="1"/>
          <p:nvPr/>
        </p:nvSpPr>
        <p:spPr>
          <a:xfrm>
            <a:off x="457200" y="254000"/>
            <a:ext cx="112776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2600" b="1">
                <a:solidFill>
                  <a:srgbClr val="2D2D2D"/>
                </a:solidFill>
                <a:latin typeface="BIZ UDPGothic"/>
                <a:ea typeface="BIZ UDPGothic"/>
              </a:rPr>
              <a:t>10. </a:t>
            </a:r>
            <a:r>
              <a:rPr lang="zh-TW" altLang="en-US" sz="2600" b="1">
                <a:solidFill>
                  <a:srgbClr val="2D2D2D"/>
                </a:solidFill>
                <a:latin typeface="BIZ UDPGothic"/>
                <a:ea typeface="BIZ UDPGothic"/>
              </a:rPr>
              <a:t>業務提言 詳細（</a:t>
            </a:r>
            <a:r>
              <a:rPr lang="en-US" altLang="zh-TW" sz="2600" b="1">
                <a:solidFill>
                  <a:srgbClr val="2D2D2D"/>
                </a:solidFill>
                <a:latin typeface="BIZ UDPGothic"/>
                <a:ea typeface="BIZ UDPGothic"/>
              </a:rPr>
              <a:t>2/2</a:t>
            </a:r>
            <a:r>
              <a:rPr lang="zh-TW" altLang="en-US" sz="2600" b="1">
                <a:solidFill>
                  <a:srgbClr val="2D2D2D"/>
                </a:solidFill>
                <a:latin typeface="BIZ UDPGothic"/>
                <a:ea typeface="BIZ UDPGothic"/>
              </a:rPr>
              <a:t>）</a:t>
            </a:r>
            <a:endParaRPr lang="ja-JP" altLang="en-US" sz="2600" b="1">
              <a:solidFill>
                <a:srgbClr val="2D2D2D"/>
              </a:solidFill>
              <a:latin typeface="BIZ UDPGothic"/>
              <a:ea typeface="BIZ UDPGothic"/>
            </a:endParaRPr>
          </a:p>
        </p:txBody>
      </p:sp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8C394BF1-16C6-455D-957F-B0A88D1D9510}"/>
              </a:ext>
            </a:extLst>
          </p:cNvPr>
          <p:cNvSpPr/>
          <p:nvPr/>
        </p:nvSpPr>
        <p:spPr>
          <a:xfrm>
            <a:off x="457200" y="914400"/>
            <a:ext cx="5461000" cy="406400"/>
          </a:xfrm>
          <a:prstGeom prst="roundRect">
            <a:avLst/>
          </a:prstGeom>
          <a:solidFill>
            <a:srgbClr val="5C5C5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altLang="ja-JP" sz="1400" b="1">
                <a:solidFill>
                  <a:srgbClr val="FFFFFF"/>
                </a:solidFill>
                <a:latin typeface="BIZ UDPGothic"/>
                <a:ea typeface="BIZ UDPGothic"/>
              </a:rPr>
              <a:t>3. </a:t>
            </a:r>
            <a:r>
              <a:rPr lang="ja-JP" altLang="en-US" sz="1400" b="1">
                <a:solidFill>
                  <a:srgbClr val="FFFFFF"/>
                </a:solidFill>
                <a:latin typeface="BIZ UDPGothic"/>
                <a:ea typeface="BIZ UDPGothic"/>
              </a:rPr>
              <a:t>前処理・品質管理体制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D298B8CE-E743-46BF-808A-BAEC269EB8E7}"/>
              </a:ext>
            </a:extLst>
          </p:cNvPr>
          <p:cNvSpPr/>
          <p:nvPr/>
        </p:nvSpPr>
        <p:spPr>
          <a:xfrm>
            <a:off x="457200" y="1371600"/>
            <a:ext cx="5461000" cy="2032000"/>
          </a:xfrm>
          <a:prstGeom prst="roundRect">
            <a:avLst/>
          </a:prstGeom>
          <a:solidFill>
            <a:srgbClr val="F7F6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/>
          <a:lstStyle/>
          <a:p>
            <a:pPr algn="l"/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● 入力データの妥当性チェックステップを運用に組み込む
  </a:t>
            </a:r>
            <a:r>
              <a:rPr lang="en-US" altLang="ja-JP" sz="1400">
                <a:solidFill>
                  <a:srgbClr val="4A4A4A"/>
                </a:solidFill>
                <a:latin typeface="BIZ UDPGothic"/>
                <a:ea typeface="BIZ UDPGothic"/>
              </a:rPr>
              <a:t>- </a:t>
            </a:r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外れ値検知
  </a:t>
            </a:r>
            <a:r>
              <a:rPr lang="en-US" altLang="ja-JP" sz="1400">
                <a:solidFill>
                  <a:srgbClr val="4A4A4A"/>
                </a:solidFill>
                <a:latin typeface="BIZ UDPGothic"/>
                <a:ea typeface="BIZ UDPGothic"/>
              </a:rPr>
              <a:t>- </a:t>
            </a:r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レンジチェック
  </a:t>
            </a:r>
            <a:r>
              <a:rPr lang="en-US" altLang="ja-JP" sz="1400">
                <a:solidFill>
                  <a:srgbClr val="4A4A4A"/>
                </a:solidFill>
                <a:latin typeface="BIZ UDPGothic"/>
                <a:ea typeface="BIZ UDPGothic"/>
              </a:rPr>
              <a:t>- </a:t>
            </a:r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臨床確認ワークフロー
● 外れ値は自動除外せず、臨床窓口（柴田 室長）との照会プロセスを設ける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55CD7A29-5BB9-4133-BE14-5B62EFE135C5}"/>
              </a:ext>
            </a:extLst>
          </p:cNvPr>
          <p:cNvSpPr/>
          <p:nvPr/>
        </p:nvSpPr>
        <p:spPr>
          <a:xfrm>
            <a:off x="6273800" y="914400"/>
            <a:ext cx="5461000" cy="406400"/>
          </a:xfrm>
          <a:prstGeom prst="roundRect">
            <a:avLst/>
          </a:prstGeom>
          <a:solidFill>
            <a:srgbClr val="38383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altLang="ja-JP" sz="1400" b="1">
                <a:solidFill>
                  <a:srgbClr val="FFFFFF"/>
                </a:solidFill>
                <a:latin typeface="BIZ UDPGothic"/>
                <a:ea typeface="BIZ UDPGothic"/>
              </a:rPr>
              <a:t>4. </a:t>
            </a:r>
            <a:r>
              <a:rPr lang="ja-JP" altLang="en-US" sz="1400" b="1">
                <a:solidFill>
                  <a:srgbClr val="FFFFFF"/>
                </a:solidFill>
                <a:latin typeface="BIZ UDPGothic"/>
                <a:ea typeface="BIZ UDPGothic"/>
              </a:rPr>
              <a:t>ガバナンスと説明責任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F6F48AA8-51D1-48FE-893F-267AD967A297}"/>
              </a:ext>
            </a:extLst>
          </p:cNvPr>
          <p:cNvSpPr/>
          <p:nvPr/>
        </p:nvSpPr>
        <p:spPr>
          <a:xfrm>
            <a:off x="6273800" y="1371600"/>
            <a:ext cx="5461000" cy="2032000"/>
          </a:xfrm>
          <a:prstGeom prst="roundRect">
            <a:avLst/>
          </a:prstGeom>
          <a:solidFill>
            <a:srgbClr val="F7F6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/>
          <a:lstStyle/>
          <a:p>
            <a:pPr algn="l"/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● 本分析は「判定支援材料」である旨を明文化し、内部承認ルート（医療情報分析室での承認）を確立
● モデルの決定ロジック（重要特徴量、スコア算出の説明文）を運用担当者向けにドキュメント化</a:t>
            </a: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0DFD080E-C8E7-4E10-A3B6-23B44B34C70E}"/>
              </a:ext>
            </a:extLst>
          </p:cNvPr>
          <p:cNvSpPr/>
          <p:nvPr/>
        </p:nvSpPr>
        <p:spPr>
          <a:xfrm>
            <a:off x="457200" y="3581400"/>
            <a:ext cx="11277600" cy="406400"/>
          </a:xfrm>
          <a:prstGeom prst="roundRect">
            <a:avLst/>
          </a:prstGeom>
          <a:solidFill>
            <a:srgbClr val="A033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altLang="zh-TW" sz="1400" b="1">
                <a:solidFill>
                  <a:srgbClr val="FFFFFF"/>
                </a:solidFill>
                <a:latin typeface="BIZ UDPGothic"/>
                <a:ea typeface="BIZ UDPGothic"/>
              </a:rPr>
              <a:t>5. </a:t>
            </a:r>
            <a:r>
              <a:rPr lang="zh-TW" altLang="en-US" sz="1400" b="1">
                <a:solidFill>
                  <a:srgbClr val="FFFFFF"/>
                </a:solidFill>
                <a:latin typeface="BIZ UDPGothic"/>
                <a:ea typeface="BIZ UDPGothic"/>
              </a:rPr>
              <a:t>継続的評価設計（中期）</a:t>
            </a:r>
            <a:endParaRPr lang="ja-JP" altLang="en-US" sz="1400" b="1">
              <a:solidFill>
                <a:srgbClr val="FFFFFF"/>
              </a:solidFill>
              <a:latin typeface="BIZ UDPGothic"/>
              <a:ea typeface="BIZ UDPGothic"/>
            </a:endParaRPr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F860A52B-1373-4FD9-A689-C1D8FEDDA6F4}"/>
              </a:ext>
            </a:extLst>
          </p:cNvPr>
          <p:cNvSpPr/>
          <p:nvPr/>
        </p:nvSpPr>
        <p:spPr>
          <a:xfrm>
            <a:off x="457200" y="4140200"/>
            <a:ext cx="1955800" cy="711200"/>
          </a:xfrm>
          <a:prstGeom prst="roundRect">
            <a:avLst/>
          </a:prstGeom>
          <a:solidFill>
            <a:srgbClr val="5C5C5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ja-JP" altLang="en-US" sz="1400" b="1">
                <a:solidFill>
                  <a:srgbClr val="FFFFFF"/>
                </a:solidFill>
                <a:latin typeface="BIZ UDPGothic"/>
                <a:ea typeface="BIZ UDPGothic"/>
              </a:rPr>
              <a:t>モデル運用
開始</a:t>
            </a:r>
          </a:p>
        </p:txBody>
      </p:sp>
      <p:sp>
        <p:nvSpPr>
          <p:cNvPr id="9" name="矢印: 右 8">
            <a:extLst>
              <a:ext uri="{FF2B5EF4-FFF2-40B4-BE49-F238E27FC236}">
                <a16:creationId xmlns:a16="http://schemas.microsoft.com/office/drawing/2014/main" id="{06CA073E-E9DC-418C-88E4-F5E7912AC1A0}"/>
              </a:ext>
            </a:extLst>
          </p:cNvPr>
          <p:cNvSpPr/>
          <p:nvPr/>
        </p:nvSpPr>
        <p:spPr>
          <a:xfrm>
            <a:off x="2438400" y="4394200"/>
            <a:ext cx="254000" cy="177800"/>
          </a:xfrm>
          <a:prstGeom prst="rightArrow">
            <a:avLst/>
          </a:prstGeom>
          <a:solidFill>
            <a:srgbClr val="D4CF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CCB3211E-13E2-4E61-B791-E25768C71D9F}"/>
              </a:ext>
            </a:extLst>
          </p:cNvPr>
          <p:cNvSpPr/>
          <p:nvPr/>
        </p:nvSpPr>
        <p:spPr>
          <a:xfrm>
            <a:off x="2717800" y="4140200"/>
            <a:ext cx="1955800" cy="711200"/>
          </a:xfrm>
          <a:prstGeom prst="roundRect">
            <a:avLst/>
          </a:prstGeom>
          <a:solidFill>
            <a:srgbClr val="5C5C5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altLang="ja-JP" sz="1400" b="1">
                <a:solidFill>
                  <a:srgbClr val="FFFFFF"/>
                </a:solidFill>
                <a:latin typeface="BIZ UDPGothic"/>
                <a:ea typeface="BIZ UDPGothic"/>
              </a:rPr>
              <a:t>3</a:t>
            </a:r>
            <a:r>
              <a:rPr lang="ja-JP" altLang="en-US" sz="1400" b="1">
                <a:solidFill>
                  <a:srgbClr val="FFFFFF"/>
                </a:solidFill>
                <a:latin typeface="BIZ UDPGothic"/>
                <a:ea typeface="BIZ UDPGothic"/>
              </a:rPr>
              <a:t>ヶ月毎
精度監視</a:t>
            </a:r>
          </a:p>
        </p:txBody>
      </p:sp>
      <p:sp>
        <p:nvSpPr>
          <p:cNvPr id="11" name="矢印: 右 10">
            <a:extLst>
              <a:ext uri="{FF2B5EF4-FFF2-40B4-BE49-F238E27FC236}">
                <a16:creationId xmlns:a16="http://schemas.microsoft.com/office/drawing/2014/main" id="{4977C717-7F4E-4367-B80A-C65D288016EE}"/>
              </a:ext>
            </a:extLst>
          </p:cNvPr>
          <p:cNvSpPr/>
          <p:nvPr/>
        </p:nvSpPr>
        <p:spPr>
          <a:xfrm>
            <a:off x="4699000" y="4394200"/>
            <a:ext cx="254000" cy="177800"/>
          </a:xfrm>
          <a:prstGeom prst="rightArrow">
            <a:avLst/>
          </a:prstGeom>
          <a:solidFill>
            <a:srgbClr val="D4CF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DC43EFE3-F6E8-45BC-9726-01637D55AAB5}"/>
              </a:ext>
            </a:extLst>
          </p:cNvPr>
          <p:cNvSpPr/>
          <p:nvPr/>
        </p:nvSpPr>
        <p:spPr>
          <a:xfrm>
            <a:off x="4978400" y="4140200"/>
            <a:ext cx="1955800" cy="711200"/>
          </a:xfrm>
          <a:prstGeom prst="roundRect">
            <a:avLst/>
          </a:prstGeom>
          <a:solidFill>
            <a:srgbClr val="A033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ja-JP" altLang="en-US" sz="1400" b="1">
                <a:solidFill>
                  <a:srgbClr val="FFFFFF"/>
                </a:solidFill>
                <a:latin typeface="BIZ UDPGothic"/>
                <a:ea typeface="BIZ UDPGothic"/>
              </a:rPr>
              <a:t>ドリフト
検知</a:t>
            </a:r>
          </a:p>
        </p:txBody>
      </p:sp>
      <p:sp>
        <p:nvSpPr>
          <p:cNvPr id="13" name="矢印: 右 12">
            <a:extLst>
              <a:ext uri="{FF2B5EF4-FFF2-40B4-BE49-F238E27FC236}">
                <a16:creationId xmlns:a16="http://schemas.microsoft.com/office/drawing/2014/main" id="{884C57EB-DBA8-472F-89C4-D0F21A2AC39E}"/>
              </a:ext>
            </a:extLst>
          </p:cNvPr>
          <p:cNvSpPr/>
          <p:nvPr/>
        </p:nvSpPr>
        <p:spPr>
          <a:xfrm>
            <a:off x="6959600" y="4394200"/>
            <a:ext cx="254000" cy="177800"/>
          </a:xfrm>
          <a:prstGeom prst="rightArrow">
            <a:avLst/>
          </a:prstGeom>
          <a:solidFill>
            <a:srgbClr val="D4CF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A7D569B3-3B45-4C11-A9B1-C9AEADC0909D}"/>
              </a:ext>
            </a:extLst>
          </p:cNvPr>
          <p:cNvSpPr/>
          <p:nvPr/>
        </p:nvSpPr>
        <p:spPr>
          <a:xfrm>
            <a:off x="7239000" y="4140200"/>
            <a:ext cx="1955800" cy="711200"/>
          </a:xfrm>
          <a:prstGeom prst="roundRect">
            <a:avLst/>
          </a:prstGeom>
          <a:solidFill>
            <a:srgbClr val="A033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ja-JP" altLang="en-US" sz="1400" b="1">
                <a:solidFill>
                  <a:srgbClr val="FFFFFF"/>
                </a:solidFill>
                <a:latin typeface="BIZ UDPGothic"/>
                <a:ea typeface="BIZ UDPGothic"/>
              </a:rPr>
              <a:t>再学習
トリガー</a:t>
            </a:r>
          </a:p>
        </p:txBody>
      </p:sp>
      <p:sp>
        <p:nvSpPr>
          <p:cNvPr id="15" name="矢印: 右 14">
            <a:extLst>
              <a:ext uri="{FF2B5EF4-FFF2-40B4-BE49-F238E27FC236}">
                <a16:creationId xmlns:a16="http://schemas.microsoft.com/office/drawing/2014/main" id="{27AF66B8-772C-4548-89A7-172768729D83}"/>
              </a:ext>
            </a:extLst>
          </p:cNvPr>
          <p:cNvSpPr/>
          <p:nvPr/>
        </p:nvSpPr>
        <p:spPr>
          <a:xfrm>
            <a:off x="9220200" y="4394200"/>
            <a:ext cx="254000" cy="177800"/>
          </a:xfrm>
          <a:prstGeom prst="rightArrow">
            <a:avLst/>
          </a:prstGeom>
          <a:solidFill>
            <a:srgbClr val="D4CF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16" name="四角形: 角を丸くする 15">
            <a:extLst>
              <a:ext uri="{FF2B5EF4-FFF2-40B4-BE49-F238E27FC236}">
                <a16:creationId xmlns:a16="http://schemas.microsoft.com/office/drawing/2014/main" id="{540D7EEC-F293-49CF-857E-176D3B76DF7C}"/>
              </a:ext>
            </a:extLst>
          </p:cNvPr>
          <p:cNvSpPr/>
          <p:nvPr/>
        </p:nvSpPr>
        <p:spPr>
          <a:xfrm>
            <a:off x="9499600" y="4140200"/>
            <a:ext cx="1955800" cy="711200"/>
          </a:xfrm>
          <a:prstGeom prst="roundRect">
            <a:avLst/>
          </a:prstGeom>
          <a:solidFill>
            <a:srgbClr val="38383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ja-JP" altLang="en-US" sz="1400" b="1">
                <a:solidFill>
                  <a:srgbClr val="FFFFFF"/>
                </a:solidFill>
                <a:latin typeface="BIZ UDPGothic"/>
                <a:ea typeface="BIZ UDPGothic"/>
              </a:rPr>
              <a:t>モデル
更新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CB4EE6A8-5B39-4AAE-9241-49AE696FB2A5}"/>
              </a:ext>
            </a:extLst>
          </p:cNvPr>
          <p:cNvSpPr txBox="1"/>
          <p:nvPr/>
        </p:nvSpPr>
        <p:spPr>
          <a:xfrm>
            <a:off x="457200" y="5029200"/>
            <a:ext cx="112776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1400">
                <a:solidFill>
                  <a:srgbClr val="8C8C8C"/>
                </a:solidFill>
                <a:latin typeface="BIZ UDPGothic"/>
                <a:ea typeface="BIZ UDPGothic"/>
              </a:rPr>
              <a:t>※ MLOps </a:t>
            </a:r>
            <a:r>
              <a:rPr lang="ja-JP" altLang="en-US" sz="1400">
                <a:solidFill>
                  <a:srgbClr val="8C8C8C"/>
                </a:solidFill>
                <a:latin typeface="BIZ UDPGothic"/>
                <a:ea typeface="BIZ UDPGothic"/>
              </a:rPr>
              <a:t>基盤の導入は別途提案として実施（本プロジェクトのスコープ外）</a:t>
            </a:r>
          </a:p>
        </p:txBody>
      </p:sp>
    </p:spTree>
    <p:extLst>
      <p:ext uri="{BB962C8B-B14F-4D97-AF65-F5344CB8AC3E}">
        <p14:creationId xmlns:p14="http://schemas.microsoft.com/office/powerpoint/2010/main" val="17680799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3441751-FA78-4E8A-8323-338820EBFEB9}"/>
              </a:ext>
            </a:extLst>
          </p:cNvPr>
          <p:cNvSpPr txBox="1"/>
          <p:nvPr/>
        </p:nvSpPr>
        <p:spPr>
          <a:xfrm>
            <a:off x="457200" y="254000"/>
            <a:ext cx="112776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2600" b="1">
                <a:solidFill>
                  <a:srgbClr val="2D2D2D"/>
                </a:solidFill>
                <a:latin typeface="BIZ UDPGothic"/>
                <a:ea typeface="BIZ UDPGothic"/>
              </a:rPr>
              <a:t>11. </a:t>
            </a:r>
            <a:r>
              <a:rPr lang="ja-JP" altLang="en-US" sz="2600" b="1">
                <a:solidFill>
                  <a:srgbClr val="2D2D2D"/>
                </a:solidFill>
                <a:latin typeface="BIZ UDPGothic"/>
                <a:ea typeface="BIZ UDPGothic"/>
              </a:rPr>
              <a:t>実装・運用計画</a:t>
            </a:r>
          </a:p>
        </p:txBody>
      </p:sp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3DDDC038-A40C-4C6C-9322-E62C603138C6}"/>
              </a:ext>
            </a:extLst>
          </p:cNvPr>
          <p:cNvSpPr/>
          <p:nvPr/>
        </p:nvSpPr>
        <p:spPr>
          <a:xfrm>
            <a:off x="457200" y="914400"/>
            <a:ext cx="3606800" cy="635000"/>
          </a:xfrm>
          <a:prstGeom prst="roundRect">
            <a:avLst/>
          </a:prstGeom>
          <a:solidFill>
            <a:srgbClr val="A033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ja-JP" altLang="en-US" sz="1400" b="1">
                <a:solidFill>
                  <a:srgbClr val="FFFFFF"/>
                </a:solidFill>
                <a:latin typeface="BIZ UDPGothic"/>
                <a:ea typeface="BIZ UDPGothic"/>
              </a:rPr>
              <a:t>短期（</a:t>
            </a:r>
            <a:r>
              <a:rPr lang="en-US" altLang="ja-JP" sz="1400" b="1">
                <a:solidFill>
                  <a:srgbClr val="FFFFFF"/>
                </a:solidFill>
                <a:latin typeface="BIZ UDPGothic"/>
                <a:ea typeface="BIZ UDPGothic"/>
              </a:rPr>
              <a:t>0–3</a:t>
            </a:r>
            <a:r>
              <a:rPr lang="ja-JP" altLang="en-US" sz="1400" b="1">
                <a:solidFill>
                  <a:srgbClr val="FFFFFF"/>
                </a:solidFill>
                <a:latin typeface="BIZ UDPGothic"/>
                <a:ea typeface="BIZ UDPGothic"/>
              </a:rPr>
              <a:t>ヶ月）
導入準備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9A359536-C6E1-4520-A38A-A1EFC580F257}"/>
              </a:ext>
            </a:extLst>
          </p:cNvPr>
          <p:cNvSpPr/>
          <p:nvPr/>
        </p:nvSpPr>
        <p:spPr>
          <a:xfrm>
            <a:off x="457200" y="1600200"/>
            <a:ext cx="3606800" cy="2413000"/>
          </a:xfrm>
          <a:prstGeom prst="roundRect">
            <a:avLst/>
          </a:prstGeom>
          <a:solidFill>
            <a:srgbClr val="F7F6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/>
          <a:lstStyle/>
          <a:p>
            <a:pPr algn="l"/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● 閾値運用方針の最終合意
  （</a:t>
            </a:r>
            <a:r>
              <a:rPr lang="en-US" altLang="ja-JP" sz="1400">
                <a:solidFill>
                  <a:srgbClr val="4A4A4A"/>
                </a:solidFill>
                <a:latin typeface="BIZ UDPGothic"/>
                <a:ea typeface="BIZ UDPGothic"/>
              </a:rPr>
              <a:t>Recall</a:t>
            </a:r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目標と業務受容範囲）
● 運用・臨床確認フロー設計
● データパイプライン簡易化
  （</a:t>
            </a:r>
            <a:r>
              <a:rPr lang="en-US" altLang="ja-JP" sz="1400">
                <a:solidFill>
                  <a:srgbClr val="4A4A4A"/>
                </a:solidFill>
                <a:latin typeface="BIZ UDPGothic"/>
                <a:ea typeface="BIZ UDPGothic"/>
              </a:rPr>
              <a:t>CSV→</a:t>
            </a:r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検証スクリプト→スコア出力）
● パイロット期間の定義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BFBD27E3-809C-4FF7-8837-BC3DD501371D}"/>
              </a:ext>
            </a:extLst>
          </p:cNvPr>
          <p:cNvSpPr/>
          <p:nvPr/>
        </p:nvSpPr>
        <p:spPr>
          <a:xfrm>
            <a:off x="4267200" y="914400"/>
            <a:ext cx="3606800" cy="635000"/>
          </a:xfrm>
          <a:prstGeom prst="roundRect">
            <a:avLst/>
          </a:prstGeom>
          <a:solidFill>
            <a:srgbClr val="5C5C5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ja-JP" altLang="en-US" sz="1400" b="1">
                <a:solidFill>
                  <a:srgbClr val="FFFFFF"/>
                </a:solidFill>
                <a:latin typeface="BIZ UDPGothic"/>
                <a:ea typeface="BIZ UDPGothic"/>
              </a:rPr>
              <a:t>中期（</a:t>
            </a:r>
            <a:r>
              <a:rPr lang="en-US" altLang="ja-JP" sz="1400" b="1">
                <a:solidFill>
                  <a:srgbClr val="FFFFFF"/>
                </a:solidFill>
                <a:latin typeface="BIZ UDPGothic"/>
                <a:ea typeface="BIZ UDPGothic"/>
              </a:rPr>
              <a:t>3–6</a:t>
            </a:r>
            <a:r>
              <a:rPr lang="ja-JP" altLang="en-US" sz="1400" b="1">
                <a:solidFill>
                  <a:srgbClr val="FFFFFF"/>
                </a:solidFill>
                <a:latin typeface="BIZ UDPGothic"/>
                <a:ea typeface="BIZ UDPGothic"/>
              </a:rPr>
              <a:t>ヶ月）
パイロット運用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4B0A82FC-32B7-4070-93BD-B979EF6A3CC5}"/>
              </a:ext>
            </a:extLst>
          </p:cNvPr>
          <p:cNvSpPr/>
          <p:nvPr/>
        </p:nvSpPr>
        <p:spPr>
          <a:xfrm>
            <a:off x="4267200" y="1600200"/>
            <a:ext cx="3606800" cy="2413000"/>
          </a:xfrm>
          <a:prstGeom prst="roundRect">
            <a:avLst/>
          </a:prstGeom>
          <a:solidFill>
            <a:srgbClr val="F7F6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/>
          <a:lstStyle/>
          <a:p>
            <a:pPr algn="l"/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● パイロット実行
● 運用ログ収集、精度評価
  （外部データでの検証）
● 業務負荷評価
  （追加検査数、誤検知件数）
● 閾値の最終チューニング</a:t>
            </a: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00BA4B2F-4FFE-445A-879C-04E46DC31C94}"/>
              </a:ext>
            </a:extLst>
          </p:cNvPr>
          <p:cNvSpPr/>
          <p:nvPr/>
        </p:nvSpPr>
        <p:spPr>
          <a:xfrm>
            <a:off x="8077200" y="914400"/>
            <a:ext cx="3606800" cy="635000"/>
          </a:xfrm>
          <a:prstGeom prst="roundRect">
            <a:avLst/>
          </a:prstGeom>
          <a:solidFill>
            <a:srgbClr val="38383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ja-JP" altLang="en-US" sz="1400" b="1">
                <a:solidFill>
                  <a:srgbClr val="FFFFFF"/>
                </a:solidFill>
                <a:latin typeface="BIZ UDPGothic"/>
                <a:ea typeface="BIZ UDPGothic"/>
              </a:rPr>
              <a:t>長期（</a:t>
            </a:r>
            <a:r>
              <a:rPr lang="en-US" altLang="ja-JP" sz="1400" b="1">
                <a:solidFill>
                  <a:srgbClr val="FFFFFF"/>
                </a:solidFill>
                <a:latin typeface="BIZ UDPGothic"/>
                <a:ea typeface="BIZ UDPGothic"/>
              </a:rPr>
              <a:t>6</a:t>
            </a:r>
            <a:r>
              <a:rPr lang="ja-JP" altLang="en-US" sz="1400" b="1">
                <a:solidFill>
                  <a:srgbClr val="FFFFFF"/>
                </a:solidFill>
                <a:latin typeface="BIZ UDPGothic"/>
                <a:ea typeface="BIZ UDPGothic"/>
              </a:rPr>
              <a:t>ヶ月～）
本番化検討</a:t>
            </a:r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6BE23D5D-A0BD-46C1-90E1-7D3421FED2E8}"/>
              </a:ext>
            </a:extLst>
          </p:cNvPr>
          <p:cNvSpPr/>
          <p:nvPr/>
        </p:nvSpPr>
        <p:spPr>
          <a:xfrm>
            <a:off x="8077200" y="1600200"/>
            <a:ext cx="3606800" cy="2413000"/>
          </a:xfrm>
          <a:prstGeom prst="roundRect">
            <a:avLst/>
          </a:prstGeom>
          <a:solidFill>
            <a:srgbClr val="F7F6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/>
          <a:lstStyle/>
          <a:p>
            <a:pPr algn="l"/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● 本番システム連携
  （要件定義→実装は別</a:t>
            </a:r>
            <a:r>
              <a:rPr lang="en-US" altLang="ja-JP" sz="1400">
                <a:solidFill>
                  <a:srgbClr val="4A4A4A"/>
                </a:solidFill>
                <a:latin typeface="BIZ UDPGothic"/>
                <a:ea typeface="BIZ UDPGothic"/>
              </a:rPr>
              <a:t>PJ</a:t>
            </a:r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）
● モデルの再学習・監視設計
  （</a:t>
            </a:r>
            <a:r>
              <a:rPr lang="en-US" altLang="ja-JP" sz="1400">
                <a:solidFill>
                  <a:srgbClr val="4A4A4A"/>
                </a:solidFill>
                <a:latin typeface="BIZ UDPGothic"/>
                <a:ea typeface="BIZ UDPGothic"/>
              </a:rPr>
              <a:t>MLOps</a:t>
            </a:r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、データ統合）
● 継続的改善の </a:t>
            </a:r>
            <a:r>
              <a:rPr lang="en-US" altLang="ja-JP" sz="1400">
                <a:solidFill>
                  <a:srgbClr val="4A4A4A"/>
                </a:solidFill>
                <a:latin typeface="BIZ UDPGothic"/>
                <a:ea typeface="BIZ UDPGothic"/>
              </a:rPr>
              <a:t>KPI </a:t>
            </a:r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設定
● 報告体制の構築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C44B304B-4F44-4E50-914E-1CFB9C83E0A1}"/>
              </a:ext>
            </a:extLst>
          </p:cNvPr>
          <p:cNvSpPr txBox="1"/>
          <p:nvPr/>
        </p:nvSpPr>
        <p:spPr>
          <a:xfrm>
            <a:off x="457200" y="4165600"/>
            <a:ext cx="254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600" b="1">
                <a:solidFill>
                  <a:srgbClr val="A0332E"/>
                </a:solidFill>
                <a:latin typeface="BIZ UDPGothic"/>
                <a:ea typeface="BIZ UDPGothic"/>
              </a:rPr>
              <a:t>担当体制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6380530F-EFD3-418F-BB56-FE3308279ACA}"/>
              </a:ext>
            </a:extLst>
          </p:cNvPr>
          <p:cNvSpPr/>
          <p:nvPr/>
        </p:nvSpPr>
        <p:spPr>
          <a:xfrm>
            <a:off x="457200" y="4572000"/>
            <a:ext cx="5461000" cy="711200"/>
          </a:xfrm>
          <a:prstGeom prst="roundRect">
            <a:avLst/>
          </a:prstGeom>
          <a:solidFill>
            <a:srgbClr val="F2F0E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/>
          <a:lstStyle/>
          <a:p>
            <a:pPr algn="l"/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顧客側：医療情報分析室（柴田 室長）
閾値合意、臨床フロー、パイロット評価</a:t>
            </a: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975C2B9A-0B40-4A06-A1BF-80FE6D2D4472}"/>
              </a:ext>
            </a:extLst>
          </p:cNvPr>
          <p:cNvSpPr/>
          <p:nvPr/>
        </p:nvSpPr>
        <p:spPr>
          <a:xfrm>
            <a:off x="6273800" y="4572000"/>
            <a:ext cx="5461000" cy="711200"/>
          </a:xfrm>
          <a:prstGeom prst="roundRect">
            <a:avLst/>
          </a:prstGeom>
          <a:solidFill>
            <a:srgbClr val="F2F0E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/>
          <a:lstStyle/>
          <a:p>
            <a:pPr algn="l"/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受託者支援：データアステル
設定支援・評価支援・技術コンサルティング</a:t>
            </a: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4206FADA-ED57-4BB4-B618-F7CBDB89ADD2}"/>
              </a:ext>
            </a:extLst>
          </p:cNvPr>
          <p:cNvSpPr/>
          <p:nvPr/>
        </p:nvSpPr>
        <p:spPr>
          <a:xfrm>
            <a:off x="457200" y="5461000"/>
            <a:ext cx="11277600" cy="584200"/>
          </a:xfrm>
          <a:prstGeom prst="roundRect">
            <a:avLst/>
          </a:prstGeom>
          <a:solidFill>
            <a:srgbClr val="F2E6E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/>
          <a:lstStyle/>
          <a:p>
            <a:pPr algn="l"/>
            <a:r>
              <a:rPr lang="ja-JP" altLang="en-US" sz="1400">
                <a:solidFill>
                  <a:srgbClr val="A0332E"/>
                </a:solidFill>
                <a:latin typeface="BIZ UDPGothic"/>
                <a:ea typeface="BIZ UDPGothic"/>
              </a:rPr>
              <a:t>留意：閾値や示唆はあくまで判定支援材料としての提案。臨床判断は常に医師に帰属。個人情報保護・アクセス制御は運用設計段階で必須。</a:t>
            </a:r>
          </a:p>
        </p:txBody>
      </p:sp>
    </p:spTree>
    <p:extLst>
      <p:ext uri="{BB962C8B-B14F-4D97-AF65-F5344CB8AC3E}">
        <p14:creationId xmlns:p14="http://schemas.microsoft.com/office/powerpoint/2010/main" val="37382112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E764796-B391-4AC5-A817-E7227A9D42CB}"/>
              </a:ext>
            </a:extLst>
          </p:cNvPr>
          <p:cNvSpPr txBox="1"/>
          <p:nvPr/>
        </p:nvSpPr>
        <p:spPr>
          <a:xfrm>
            <a:off x="457200" y="254000"/>
            <a:ext cx="112776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2600" b="1">
                <a:solidFill>
                  <a:srgbClr val="2D2D2D"/>
                </a:solidFill>
                <a:latin typeface="BIZ UDPGothic"/>
                <a:ea typeface="BIZ UDPGothic"/>
              </a:rPr>
              <a:t>12. </a:t>
            </a:r>
            <a:r>
              <a:rPr lang="ja-JP" altLang="en-US" sz="2600" b="1">
                <a:solidFill>
                  <a:srgbClr val="2D2D2D"/>
                </a:solidFill>
                <a:latin typeface="BIZ UDPGothic"/>
                <a:ea typeface="BIZ UDPGothic"/>
              </a:rPr>
              <a:t>制約事項と残余リスク</a:t>
            </a:r>
          </a:p>
        </p:txBody>
      </p:sp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EFC74065-DECC-47EA-855F-39C7979605DE}"/>
              </a:ext>
            </a:extLst>
          </p:cNvPr>
          <p:cNvSpPr/>
          <p:nvPr/>
        </p:nvSpPr>
        <p:spPr>
          <a:xfrm>
            <a:off x="457200" y="914400"/>
            <a:ext cx="5461000" cy="406400"/>
          </a:xfrm>
          <a:prstGeom prst="roundRect">
            <a:avLst/>
          </a:prstGeom>
          <a:solidFill>
            <a:srgbClr val="5C5C5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ja-JP" altLang="en-US" sz="1400" b="1">
                <a:solidFill>
                  <a:srgbClr val="FFFFFF"/>
                </a:solidFill>
                <a:latin typeface="BIZ UDPGothic"/>
                <a:ea typeface="BIZ UDPGothic"/>
              </a:rPr>
              <a:t>制約（契約上の確定事項）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A09FA424-29A7-4EE1-B8AD-AB2656B34434}"/>
              </a:ext>
            </a:extLst>
          </p:cNvPr>
          <p:cNvSpPr/>
          <p:nvPr/>
        </p:nvSpPr>
        <p:spPr>
          <a:xfrm>
            <a:off x="457200" y="1371600"/>
            <a:ext cx="5461000" cy="1778000"/>
          </a:xfrm>
          <a:prstGeom prst="roundRect">
            <a:avLst/>
          </a:prstGeom>
          <a:solidFill>
            <a:srgbClr val="F7F6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/>
          <a:lstStyle/>
          <a:p>
            <a:pPr algn="l"/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● データは単一ファイル（</a:t>
            </a:r>
            <a:r>
              <a:rPr lang="en-US" altLang="ja-JP" sz="1400">
                <a:solidFill>
                  <a:srgbClr val="4A4A4A"/>
                </a:solidFill>
                <a:latin typeface="BIZ UDPGothic"/>
                <a:ea typeface="BIZ UDPGothic"/>
              </a:rPr>
              <a:t>train.csv</a:t>
            </a:r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）のみ
● 欠損なしの前提で分析を実施
● 期間：</a:t>
            </a:r>
            <a:r>
              <a:rPr lang="en-US" altLang="ja-JP" sz="1400">
                <a:solidFill>
                  <a:srgbClr val="4A4A4A"/>
                </a:solidFill>
                <a:latin typeface="BIZ UDPGothic"/>
                <a:ea typeface="BIZ UDPGothic"/>
              </a:rPr>
              <a:t>5</a:t>
            </a:r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週間
● 想定工数：</a:t>
            </a:r>
            <a:r>
              <a:rPr lang="en-US" altLang="ja-JP" sz="1400">
                <a:solidFill>
                  <a:srgbClr val="4A4A4A"/>
                </a:solidFill>
                <a:latin typeface="BIZ UDPGothic"/>
                <a:ea typeface="BIZ UDPGothic"/>
              </a:rPr>
              <a:t>140</a:t>
            </a:r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時間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403077AE-14A8-4112-A9AB-9373B7471925}"/>
              </a:ext>
            </a:extLst>
          </p:cNvPr>
          <p:cNvSpPr/>
          <p:nvPr/>
        </p:nvSpPr>
        <p:spPr>
          <a:xfrm>
            <a:off x="6273800" y="914400"/>
            <a:ext cx="5461000" cy="406400"/>
          </a:xfrm>
          <a:prstGeom prst="roundRect">
            <a:avLst/>
          </a:prstGeom>
          <a:solidFill>
            <a:srgbClr val="A033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ja-JP" altLang="en-US" sz="1400" b="1">
                <a:solidFill>
                  <a:srgbClr val="FFFFFF"/>
                </a:solidFill>
                <a:latin typeface="BIZ UDPGothic"/>
                <a:ea typeface="BIZ UDPGothic"/>
              </a:rPr>
              <a:t>残余リスク（主要）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8536EEEC-4353-40BC-93F9-6DD4BFA60367}"/>
              </a:ext>
            </a:extLst>
          </p:cNvPr>
          <p:cNvSpPr/>
          <p:nvPr/>
        </p:nvSpPr>
        <p:spPr>
          <a:xfrm>
            <a:off x="6273800" y="1371600"/>
            <a:ext cx="5461000" cy="1778000"/>
          </a:xfrm>
          <a:prstGeom prst="roundRect">
            <a:avLst/>
          </a:prstGeom>
          <a:solidFill>
            <a:srgbClr val="F7F6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/>
          <a:lstStyle/>
          <a:p>
            <a:pPr algn="l"/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● 一施設データの一般化限界
● 外れ値が入力誤りか臨床的正当かの判定困難
● 閾値による業務負荷増大（誤検知増加）
● スコープ拡張時は別途見積り必要</a:t>
            </a: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2A190900-C920-4983-9E08-BB348AB2BC0B}"/>
              </a:ext>
            </a:extLst>
          </p:cNvPr>
          <p:cNvSpPr/>
          <p:nvPr/>
        </p:nvSpPr>
        <p:spPr>
          <a:xfrm>
            <a:off x="457200" y="3937000"/>
            <a:ext cx="11277600" cy="406400"/>
          </a:xfrm>
          <a:prstGeom prst="roundRect">
            <a:avLst/>
          </a:prstGeom>
          <a:solidFill>
            <a:srgbClr val="38383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ja-JP" altLang="en-US" sz="1400" b="1">
                <a:solidFill>
                  <a:srgbClr val="FFFFFF"/>
                </a:solidFill>
                <a:latin typeface="BIZ UDPGothic"/>
                <a:ea typeface="BIZ UDPGothic"/>
              </a:rPr>
              <a:t>対策</a:t>
            </a:r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3D804781-99B1-4C82-AC34-A31FC034040D}"/>
              </a:ext>
            </a:extLst>
          </p:cNvPr>
          <p:cNvSpPr/>
          <p:nvPr/>
        </p:nvSpPr>
        <p:spPr>
          <a:xfrm>
            <a:off x="457200" y="4419600"/>
            <a:ext cx="3505200" cy="1143000"/>
          </a:xfrm>
          <a:prstGeom prst="roundRect">
            <a:avLst/>
          </a:prstGeom>
          <a:solidFill>
            <a:srgbClr val="F7F6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A8D0BC9C-A9B3-4895-9C5E-089100BAB734}"/>
              </a:ext>
            </a:extLst>
          </p:cNvPr>
          <p:cNvSpPr/>
          <p:nvPr/>
        </p:nvSpPr>
        <p:spPr>
          <a:xfrm>
            <a:off x="609600" y="4546600"/>
            <a:ext cx="355600" cy="355600"/>
          </a:xfrm>
          <a:prstGeom prst="ellipse">
            <a:avLst/>
          </a:prstGeom>
          <a:solidFill>
            <a:srgbClr val="A033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ja-JP" sz="1400" b="1">
                <a:solidFill>
                  <a:srgbClr val="FFFFFF"/>
                </a:solidFill>
                <a:latin typeface="BIZ UDPGothic"/>
                <a:ea typeface="BIZ UDPGothic"/>
              </a:rPr>
              <a:t>1</a:t>
            </a:r>
            <a:endParaRPr lang="ja-JP" altLang="en-US" sz="1400" b="1">
              <a:solidFill>
                <a:srgbClr val="FFFFFF"/>
              </a:solidFill>
              <a:latin typeface="BIZ UDPGothic"/>
              <a:ea typeface="BIZ UDPGothic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0BF04086-1CD4-47A3-88D1-E31D436D8135}"/>
              </a:ext>
            </a:extLst>
          </p:cNvPr>
          <p:cNvSpPr txBox="1"/>
          <p:nvPr/>
        </p:nvSpPr>
        <p:spPr>
          <a:xfrm>
            <a:off x="1066800" y="4546600"/>
            <a:ext cx="2743200" cy="863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パイロット運用の実施で実運用影響を定量化</a:t>
            </a: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5F9348C6-6463-4626-93CD-AE3A61045F35}"/>
              </a:ext>
            </a:extLst>
          </p:cNvPr>
          <p:cNvSpPr/>
          <p:nvPr/>
        </p:nvSpPr>
        <p:spPr>
          <a:xfrm>
            <a:off x="4267200" y="4419600"/>
            <a:ext cx="3505200" cy="1143000"/>
          </a:xfrm>
          <a:prstGeom prst="roundRect">
            <a:avLst/>
          </a:prstGeom>
          <a:solidFill>
            <a:srgbClr val="F7F6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39F93D46-D775-4049-BE77-0284FA8A42CD}"/>
              </a:ext>
            </a:extLst>
          </p:cNvPr>
          <p:cNvSpPr/>
          <p:nvPr/>
        </p:nvSpPr>
        <p:spPr>
          <a:xfrm>
            <a:off x="4419600" y="4546600"/>
            <a:ext cx="355600" cy="355600"/>
          </a:xfrm>
          <a:prstGeom prst="ellipse">
            <a:avLst/>
          </a:prstGeom>
          <a:solidFill>
            <a:srgbClr val="A033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ja-JP" sz="1400" b="1">
                <a:solidFill>
                  <a:srgbClr val="FFFFFF"/>
                </a:solidFill>
                <a:latin typeface="BIZ UDPGothic"/>
                <a:ea typeface="BIZ UDPGothic"/>
              </a:rPr>
              <a:t>2</a:t>
            </a:r>
            <a:endParaRPr lang="ja-JP" altLang="en-US" sz="1400" b="1">
              <a:solidFill>
                <a:srgbClr val="FFFFFF"/>
              </a:solidFill>
              <a:latin typeface="BIZ UDPGothic"/>
              <a:ea typeface="BIZ UDPGothic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08A05D08-BAB2-4D13-B1EA-C956B99FF9DC}"/>
              </a:ext>
            </a:extLst>
          </p:cNvPr>
          <p:cNvSpPr txBox="1"/>
          <p:nvPr/>
        </p:nvSpPr>
        <p:spPr>
          <a:xfrm>
            <a:off x="4876800" y="4546600"/>
            <a:ext cx="2743200" cy="863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外れ値確認の臨床窓口（柴田 室長）との連携を必須化</a:t>
            </a:r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2A137122-F165-41A5-B952-82AAFF1B709D}"/>
              </a:ext>
            </a:extLst>
          </p:cNvPr>
          <p:cNvSpPr/>
          <p:nvPr/>
        </p:nvSpPr>
        <p:spPr>
          <a:xfrm>
            <a:off x="8077200" y="4419600"/>
            <a:ext cx="3505200" cy="1143000"/>
          </a:xfrm>
          <a:prstGeom prst="roundRect">
            <a:avLst/>
          </a:prstGeom>
          <a:solidFill>
            <a:srgbClr val="F7F6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30B93D92-8DDC-45FF-AB53-1500EB3FCB5D}"/>
              </a:ext>
            </a:extLst>
          </p:cNvPr>
          <p:cNvSpPr/>
          <p:nvPr/>
        </p:nvSpPr>
        <p:spPr>
          <a:xfrm>
            <a:off x="8229600" y="4546600"/>
            <a:ext cx="355600" cy="355600"/>
          </a:xfrm>
          <a:prstGeom prst="ellipse">
            <a:avLst/>
          </a:prstGeom>
          <a:solidFill>
            <a:srgbClr val="A033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ja-JP" sz="1400" b="1">
                <a:solidFill>
                  <a:srgbClr val="FFFFFF"/>
                </a:solidFill>
                <a:latin typeface="BIZ UDPGothic"/>
                <a:ea typeface="BIZ UDPGothic"/>
              </a:rPr>
              <a:t>3</a:t>
            </a:r>
            <a:endParaRPr lang="ja-JP" altLang="en-US" sz="1400" b="1">
              <a:solidFill>
                <a:srgbClr val="FFFFFF"/>
              </a:solidFill>
              <a:latin typeface="BIZ UDPGothic"/>
              <a:ea typeface="BIZ UDPGothic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2A353848-25CD-4B40-95CE-5DDCED9D5717}"/>
              </a:ext>
            </a:extLst>
          </p:cNvPr>
          <p:cNvSpPr txBox="1"/>
          <p:nvPr/>
        </p:nvSpPr>
        <p:spPr>
          <a:xfrm>
            <a:off x="8686800" y="4546600"/>
            <a:ext cx="2743200" cy="863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変更管理チェックポイント（</a:t>
            </a:r>
            <a:r>
              <a:rPr lang="en-US" altLang="ja-JP" sz="1400">
                <a:solidFill>
                  <a:srgbClr val="4A4A4A"/>
                </a:solidFill>
                <a:latin typeface="BIZ UDPGothic"/>
                <a:ea typeface="BIZ UDPGothic"/>
              </a:rPr>
              <a:t>2025-09-19</a:t>
            </a:r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）同様のガバナンスを運用化</a:t>
            </a:r>
          </a:p>
        </p:txBody>
      </p:sp>
    </p:spTree>
    <p:extLst>
      <p:ext uri="{BB962C8B-B14F-4D97-AF65-F5344CB8AC3E}">
        <p14:creationId xmlns:p14="http://schemas.microsoft.com/office/powerpoint/2010/main" val="16904164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99EF335-51EA-4410-892B-6E7E6E15CA85}"/>
              </a:ext>
            </a:extLst>
          </p:cNvPr>
          <p:cNvSpPr txBox="1"/>
          <p:nvPr/>
        </p:nvSpPr>
        <p:spPr>
          <a:xfrm>
            <a:off x="457200" y="254000"/>
            <a:ext cx="112776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2600" b="1">
                <a:solidFill>
                  <a:srgbClr val="2D2D2D"/>
                </a:solidFill>
                <a:latin typeface="BIZ UDPGothic"/>
                <a:ea typeface="BIZ UDPGothic"/>
              </a:rPr>
              <a:t>13. </a:t>
            </a:r>
            <a:r>
              <a:rPr lang="ja-JP" altLang="en-US" sz="2600" b="1">
                <a:solidFill>
                  <a:srgbClr val="2D2D2D"/>
                </a:solidFill>
                <a:latin typeface="BIZ UDPGothic"/>
                <a:ea typeface="BIZ UDPGothic"/>
              </a:rPr>
              <a:t>今後の拡張ロードマップ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184A8B6E-8581-4163-B93A-B9583944D1AB}"/>
              </a:ext>
            </a:extLst>
          </p:cNvPr>
          <p:cNvSpPr/>
          <p:nvPr/>
        </p:nvSpPr>
        <p:spPr>
          <a:xfrm>
            <a:off x="457200" y="965200"/>
            <a:ext cx="11277600" cy="76200"/>
          </a:xfrm>
          <a:prstGeom prst="rect">
            <a:avLst/>
          </a:prstGeom>
          <a:solidFill>
            <a:srgbClr val="D4CF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4" name="楕円 3">
            <a:extLst>
              <a:ext uri="{FF2B5EF4-FFF2-40B4-BE49-F238E27FC236}">
                <a16:creationId xmlns:a16="http://schemas.microsoft.com/office/drawing/2014/main" id="{F17E0641-86AA-4AF4-AE60-73B2B209E367}"/>
              </a:ext>
            </a:extLst>
          </p:cNvPr>
          <p:cNvSpPr/>
          <p:nvPr/>
        </p:nvSpPr>
        <p:spPr>
          <a:xfrm>
            <a:off x="711200" y="914400"/>
            <a:ext cx="177800" cy="177800"/>
          </a:xfrm>
          <a:prstGeom prst="ellipse">
            <a:avLst/>
          </a:prstGeom>
          <a:solidFill>
            <a:srgbClr val="A033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06CE56E-4725-47B9-ACBF-E3EBE29E6AED}"/>
              </a:ext>
            </a:extLst>
          </p:cNvPr>
          <p:cNvSpPr txBox="1"/>
          <p:nvPr/>
        </p:nvSpPr>
        <p:spPr>
          <a:xfrm>
            <a:off x="457200" y="1168400"/>
            <a:ext cx="35052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400" b="1">
                <a:solidFill>
                  <a:srgbClr val="A0332E"/>
                </a:solidFill>
                <a:latin typeface="BIZ UDPGothic"/>
                <a:ea typeface="BIZ UDPGothic"/>
              </a:rPr>
              <a:t>短期（</a:t>
            </a:r>
            <a:r>
              <a:rPr lang="en-US" altLang="ja-JP" sz="1400" b="1">
                <a:solidFill>
                  <a:srgbClr val="A0332E"/>
                </a:solidFill>
                <a:latin typeface="BIZ UDPGothic"/>
                <a:ea typeface="BIZ UDPGothic"/>
              </a:rPr>
              <a:t>0–3</a:t>
            </a:r>
            <a:r>
              <a:rPr lang="ja-JP" altLang="en-US" sz="1400" b="1">
                <a:solidFill>
                  <a:srgbClr val="A0332E"/>
                </a:solidFill>
                <a:latin typeface="BIZ UDPGothic"/>
                <a:ea typeface="BIZ UDPGothic"/>
              </a:rPr>
              <a:t>ヶ月）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E82984AA-CB89-4051-9ADB-37F45F82494E}"/>
              </a:ext>
            </a:extLst>
          </p:cNvPr>
          <p:cNvSpPr/>
          <p:nvPr/>
        </p:nvSpPr>
        <p:spPr>
          <a:xfrm>
            <a:off x="457200" y="1498600"/>
            <a:ext cx="1016000" cy="279400"/>
          </a:xfrm>
          <a:prstGeom prst="roundRect">
            <a:avLst/>
          </a:prstGeom>
          <a:solidFill>
            <a:srgbClr val="A033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ja-JP" altLang="en-US" sz="1400">
                <a:solidFill>
                  <a:srgbClr val="FFFFFF"/>
                </a:solidFill>
                <a:latin typeface="BIZ UDPGothic"/>
                <a:ea typeface="BIZ UDPGothic"/>
              </a:rPr>
              <a:t>優先度：高</a:t>
            </a: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AB9CD18D-4164-45C9-890F-ED9D40B0CC3F}"/>
              </a:ext>
            </a:extLst>
          </p:cNvPr>
          <p:cNvSpPr/>
          <p:nvPr/>
        </p:nvSpPr>
        <p:spPr>
          <a:xfrm>
            <a:off x="457200" y="1879600"/>
            <a:ext cx="3505200" cy="2413000"/>
          </a:xfrm>
          <a:prstGeom prst="roundRect">
            <a:avLst/>
          </a:prstGeom>
          <a:solidFill>
            <a:srgbClr val="F7F6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/>
          <a:lstStyle/>
          <a:p>
            <a:pPr algn="l"/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● 運用パイロット実施（閾値テスト、業務負荷評価）
● 入力データ妥当性チェック自動化（レンジチェック、外れ値アラート）
● 閾値運用の </a:t>
            </a:r>
            <a:r>
              <a:rPr lang="en-US" altLang="ja-JP" sz="1400">
                <a:solidFill>
                  <a:srgbClr val="4A4A4A"/>
                </a:solidFill>
                <a:latin typeface="BIZ UDPGothic"/>
                <a:ea typeface="BIZ UDPGothic"/>
              </a:rPr>
              <a:t>SOP</a:t>
            </a:r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（業務手順書）作成</a:t>
            </a:r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756B47B0-D1E3-4603-9304-5181C34BD23E}"/>
              </a:ext>
            </a:extLst>
          </p:cNvPr>
          <p:cNvSpPr/>
          <p:nvPr/>
        </p:nvSpPr>
        <p:spPr>
          <a:xfrm>
            <a:off x="4445000" y="914400"/>
            <a:ext cx="177800" cy="177800"/>
          </a:xfrm>
          <a:prstGeom prst="ellipse">
            <a:avLst/>
          </a:prstGeom>
          <a:solidFill>
            <a:srgbClr val="5C5C5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BB7DC483-43AA-40E8-B3C1-17E8ABD416B7}"/>
              </a:ext>
            </a:extLst>
          </p:cNvPr>
          <p:cNvSpPr txBox="1"/>
          <p:nvPr/>
        </p:nvSpPr>
        <p:spPr>
          <a:xfrm>
            <a:off x="4191000" y="1168400"/>
            <a:ext cx="37592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400" b="1">
                <a:solidFill>
                  <a:srgbClr val="5C5C5C"/>
                </a:solidFill>
                <a:latin typeface="BIZ UDPGothic"/>
                <a:ea typeface="BIZ UDPGothic"/>
              </a:rPr>
              <a:t>中期（</a:t>
            </a:r>
            <a:r>
              <a:rPr lang="en-US" altLang="ja-JP" sz="1400" b="1">
                <a:solidFill>
                  <a:srgbClr val="5C5C5C"/>
                </a:solidFill>
                <a:latin typeface="BIZ UDPGothic"/>
                <a:ea typeface="BIZ UDPGothic"/>
              </a:rPr>
              <a:t>3–9</a:t>
            </a:r>
            <a:r>
              <a:rPr lang="ja-JP" altLang="en-US" sz="1400" b="1">
                <a:solidFill>
                  <a:srgbClr val="5C5C5C"/>
                </a:solidFill>
                <a:latin typeface="BIZ UDPGothic"/>
                <a:ea typeface="BIZ UDPGothic"/>
              </a:rPr>
              <a:t>ヶ月）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F8A5CD68-277F-4D05-ADF6-4D163F62F251}"/>
              </a:ext>
            </a:extLst>
          </p:cNvPr>
          <p:cNvSpPr/>
          <p:nvPr/>
        </p:nvSpPr>
        <p:spPr>
          <a:xfrm>
            <a:off x="4191000" y="1498600"/>
            <a:ext cx="1016000" cy="279400"/>
          </a:xfrm>
          <a:prstGeom prst="roundRect">
            <a:avLst/>
          </a:prstGeom>
          <a:solidFill>
            <a:srgbClr val="5C5C5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ja-JP" altLang="en-US" sz="1400">
                <a:solidFill>
                  <a:srgbClr val="FFFFFF"/>
                </a:solidFill>
                <a:latin typeface="BIZ UDPGothic"/>
                <a:ea typeface="BIZ UDPGothic"/>
              </a:rPr>
              <a:t>優先度：中</a:t>
            </a: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851614AB-EFFB-418B-ACF9-09D49F543B9B}"/>
              </a:ext>
            </a:extLst>
          </p:cNvPr>
          <p:cNvSpPr/>
          <p:nvPr/>
        </p:nvSpPr>
        <p:spPr>
          <a:xfrm>
            <a:off x="4191000" y="1879600"/>
            <a:ext cx="3759200" cy="2413000"/>
          </a:xfrm>
          <a:prstGeom prst="roundRect">
            <a:avLst/>
          </a:prstGeom>
          <a:solidFill>
            <a:srgbClr val="F7F6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/>
          <a:lstStyle/>
          <a:p>
            <a:pPr algn="l"/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● 外部データによる再評価（他院データまたは別時期のデータ）
● モデルの定期的再学習体制（バッチ再学習の運用設計）
● 簡易ダッシュボードでのモニタリング（スコア分布、ポストデプロイ検証）</a:t>
            </a:r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E97E60A3-1753-4141-883B-2F57E30D7822}"/>
              </a:ext>
            </a:extLst>
          </p:cNvPr>
          <p:cNvSpPr/>
          <p:nvPr/>
        </p:nvSpPr>
        <p:spPr>
          <a:xfrm>
            <a:off x="8432800" y="914400"/>
            <a:ext cx="177800" cy="177800"/>
          </a:xfrm>
          <a:prstGeom prst="ellipse">
            <a:avLst/>
          </a:prstGeom>
          <a:solidFill>
            <a:srgbClr val="38383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2735B0FC-628F-4092-A7A2-50F8A7C6FD95}"/>
              </a:ext>
            </a:extLst>
          </p:cNvPr>
          <p:cNvSpPr txBox="1"/>
          <p:nvPr/>
        </p:nvSpPr>
        <p:spPr>
          <a:xfrm>
            <a:off x="8178800" y="1168400"/>
            <a:ext cx="355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400" b="1">
                <a:solidFill>
                  <a:srgbClr val="383838"/>
                </a:solidFill>
                <a:latin typeface="BIZ UDPGothic"/>
                <a:ea typeface="BIZ UDPGothic"/>
              </a:rPr>
              <a:t>長期（</a:t>
            </a:r>
            <a:r>
              <a:rPr lang="en-US" altLang="ja-JP" sz="1400" b="1">
                <a:solidFill>
                  <a:srgbClr val="383838"/>
                </a:solidFill>
                <a:latin typeface="BIZ UDPGothic"/>
                <a:ea typeface="BIZ UDPGothic"/>
              </a:rPr>
              <a:t>9–18</a:t>
            </a:r>
            <a:r>
              <a:rPr lang="ja-JP" altLang="en-US" sz="1400" b="1">
                <a:solidFill>
                  <a:srgbClr val="383838"/>
                </a:solidFill>
                <a:latin typeface="BIZ UDPGothic"/>
                <a:ea typeface="BIZ UDPGothic"/>
              </a:rPr>
              <a:t>ヶ月）</a:t>
            </a:r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360ACC31-18D4-4C6D-BD28-D2E557413B2D}"/>
              </a:ext>
            </a:extLst>
          </p:cNvPr>
          <p:cNvSpPr/>
          <p:nvPr/>
        </p:nvSpPr>
        <p:spPr>
          <a:xfrm>
            <a:off x="8178800" y="1498600"/>
            <a:ext cx="1016000" cy="279400"/>
          </a:xfrm>
          <a:prstGeom prst="roundRect">
            <a:avLst/>
          </a:prstGeom>
          <a:solidFill>
            <a:srgbClr val="38383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ja-JP" altLang="en-US" sz="1400">
                <a:solidFill>
                  <a:srgbClr val="FFFFFF"/>
                </a:solidFill>
                <a:latin typeface="BIZ UDPGothic"/>
                <a:ea typeface="BIZ UDPGothic"/>
              </a:rPr>
              <a:t>優先度：低</a:t>
            </a:r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A88230DF-97E0-4F90-A05E-1A4E61643A3B}"/>
              </a:ext>
            </a:extLst>
          </p:cNvPr>
          <p:cNvSpPr/>
          <p:nvPr/>
        </p:nvSpPr>
        <p:spPr>
          <a:xfrm>
            <a:off x="8178800" y="1879600"/>
            <a:ext cx="3556000" cy="2413000"/>
          </a:xfrm>
          <a:prstGeom prst="roundRect">
            <a:avLst/>
          </a:prstGeom>
          <a:solidFill>
            <a:srgbClr val="F7F6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/>
          <a:lstStyle/>
          <a:p>
            <a:pPr algn="l"/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● 本番連携（</a:t>
            </a:r>
            <a:r>
              <a:rPr lang="en-US" altLang="ja-JP" sz="1400">
                <a:solidFill>
                  <a:srgbClr val="4A4A4A"/>
                </a:solidFill>
                <a:latin typeface="BIZ UDPGothic"/>
                <a:ea typeface="BIZ UDPGothic"/>
              </a:rPr>
              <a:t>EHR</a:t>
            </a:r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連携、</a:t>
            </a:r>
            <a:r>
              <a:rPr lang="en-US" altLang="ja-JP" sz="1400">
                <a:solidFill>
                  <a:srgbClr val="4A4A4A"/>
                </a:solidFill>
                <a:latin typeface="BIZ UDPGothic"/>
                <a:ea typeface="BIZ UDPGothic"/>
              </a:rPr>
              <a:t>API</a:t>
            </a:r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化）および</a:t>
            </a:r>
            <a:r>
              <a:rPr lang="en-US" altLang="ja-JP" sz="1400">
                <a:solidFill>
                  <a:srgbClr val="4A4A4A"/>
                </a:solidFill>
                <a:latin typeface="BIZ UDPGothic"/>
                <a:ea typeface="BIZ UDPGothic"/>
              </a:rPr>
              <a:t>MLOps</a:t>
            </a:r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基盤導入（別途契約）
● 患者経過データ（時系列）を取り入れた予測精度向上（要追加データ）
● 運用</a:t>
            </a:r>
            <a:r>
              <a:rPr lang="en-US" altLang="ja-JP" sz="1400">
                <a:solidFill>
                  <a:srgbClr val="4A4A4A"/>
                </a:solidFill>
                <a:latin typeface="BIZ UDPGothic"/>
                <a:ea typeface="BIZ UDPGothic"/>
              </a:rPr>
              <a:t>KPI</a:t>
            </a:r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（優先検査の陽性率、追加検査コスト）による効果測定と</a:t>
            </a:r>
            <a:r>
              <a:rPr lang="en-US" altLang="ja-JP" sz="1400">
                <a:solidFill>
                  <a:srgbClr val="4A4A4A"/>
                </a:solidFill>
                <a:latin typeface="BIZ UDPGothic"/>
                <a:ea typeface="BIZ UDPGothic"/>
              </a:rPr>
              <a:t>ROI</a:t>
            </a:r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評価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6326E19D-544D-4C4A-B23F-E8BC829289FA}"/>
              </a:ext>
            </a:extLst>
          </p:cNvPr>
          <p:cNvSpPr txBox="1"/>
          <p:nvPr/>
        </p:nvSpPr>
        <p:spPr>
          <a:xfrm>
            <a:off x="457200" y="4445000"/>
            <a:ext cx="381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600" b="1">
                <a:solidFill>
                  <a:srgbClr val="A0332E"/>
                </a:solidFill>
                <a:latin typeface="BIZ UDPGothic"/>
                <a:ea typeface="BIZ UDPGothic"/>
              </a:rPr>
              <a:t>拡張の優先付け基準</a:t>
            </a:r>
          </a:p>
        </p:txBody>
      </p:sp>
      <p:sp>
        <p:nvSpPr>
          <p:cNvPr id="17" name="四角形: 角を丸くする 16">
            <a:extLst>
              <a:ext uri="{FF2B5EF4-FFF2-40B4-BE49-F238E27FC236}">
                <a16:creationId xmlns:a16="http://schemas.microsoft.com/office/drawing/2014/main" id="{D752CEFF-6B5B-4ADA-8663-50545564E898}"/>
              </a:ext>
            </a:extLst>
          </p:cNvPr>
          <p:cNvSpPr/>
          <p:nvPr/>
        </p:nvSpPr>
        <p:spPr>
          <a:xfrm>
            <a:off x="457200" y="4826000"/>
            <a:ext cx="2540000" cy="711200"/>
          </a:xfrm>
          <a:prstGeom prst="roundRect">
            <a:avLst/>
          </a:prstGeom>
          <a:solidFill>
            <a:srgbClr val="F2F0E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ja-JP" altLang="en-US" sz="1400" b="1">
                <a:solidFill>
                  <a:srgbClr val="5C5C5C"/>
                </a:solidFill>
                <a:latin typeface="BIZ UDPGothic"/>
                <a:ea typeface="BIZ UDPGothic"/>
              </a:rPr>
              <a:t>患者安全性
への影響度</a:t>
            </a:r>
          </a:p>
        </p:txBody>
      </p: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AA47AC5C-BC63-4B99-85BC-A58F63961FA6}"/>
              </a:ext>
            </a:extLst>
          </p:cNvPr>
          <p:cNvSpPr/>
          <p:nvPr/>
        </p:nvSpPr>
        <p:spPr>
          <a:xfrm>
            <a:off x="3276600" y="4826000"/>
            <a:ext cx="2540000" cy="711200"/>
          </a:xfrm>
          <a:prstGeom prst="roundRect">
            <a:avLst/>
          </a:prstGeom>
          <a:solidFill>
            <a:srgbClr val="F2F0E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ja-JP" altLang="en-US" sz="1400" b="1">
                <a:solidFill>
                  <a:srgbClr val="5C5C5C"/>
                </a:solidFill>
                <a:latin typeface="BIZ UDPGothic"/>
                <a:ea typeface="BIZ UDPGothic"/>
              </a:rPr>
              <a:t>業務負荷の
増加幅</a:t>
            </a:r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BC27BE21-5717-4C96-AC76-3BCE79EEF8E9}"/>
              </a:ext>
            </a:extLst>
          </p:cNvPr>
          <p:cNvSpPr/>
          <p:nvPr/>
        </p:nvSpPr>
        <p:spPr>
          <a:xfrm>
            <a:off x="6096000" y="4826000"/>
            <a:ext cx="2540000" cy="711200"/>
          </a:xfrm>
          <a:prstGeom prst="roundRect">
            <a:avLst/>
          </a:prstGeom>
          <a:solidFill>
            <a:srgbClr val="F2F0E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ja-JP" altLang="en-US" sz="1400" b="1">
                <a:solidFill>
                  <a:srgbClr val="5C5C5C"/>
                </a:solidFill>
                <a:latin typeface="BIZ UDPGothic"/>
                <a:ea typeface="BIZ UDPGothic"/>
              </a:rPr>
              <a:t>追加コスト
見積り</a:t>
            </a:r>
          </a:p>
        </p:txBody>
      </p:sp>
      <p:sp>
        <p:nvSpPr>
          <p:cNvPr id="20" name="四角形: 角を丸くする 19">
            <a:extLst>
              <a:ext uri="{FF2B5EF4-FFF2-40B4-BE49-F238E27FC236}">
                <a16:creationId xmlns:a16="http://schemas.microsoft.com/office/drawing/2014/main" id="{70A25268-A1EF-407B-93D2-031A723A0E7D}"/>
              </a:ext>
            </a:extLst>
          </p:cNvPr>
          <p:cNvSpPr/>
          <p:nvPr/>
        </p:nvSpPr>
        <p:spPr>
          <a:xfrm>
            <a:off x="8915400" y="4826000"/>
            <a:ext cx="2540000" cy="711200"/>
          </a:xfrm>
          <a:prstGeom prst="roundRect">
            <a:avLst/>
          </a:prstGeom>
          <a:solidFill>
            <a:srgbClr val="F2F0E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ja-JP" altLang="en-US" sz="1400" b="1">
                <a:solidFill>
                  <a:srgbClr val="5C5C5C"/>
                </a:solidFill>
                <a:latin typeface="BIZ UDPGothic"/>
                <a:ea typeface="BIZ UDPGothic"/>
              </a:rPr>
              <a:t>臨床
受容性</a:t>
            </a:r>
          </a:p>
        </p:txBody>
      </p:sp>
    </p:spTree>
    <p:extLst>
      <p:ext uri="{BB962C8B-B14F-4D97-AF65-F5344CB8AC3E}">
        <p14:creationId xmlns:p14="http://schemas.microsoft.com/office/powerpoint/2010/main" val="27235881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4974F31-8275-4D8C-A7E0-6AF14C47991F}"/>
              </a:ext>
            </a:extLst>
          </p:cNvPr>
          <p:cNvSpPr txBox="1"/>
          <p:nvPr/>
        </p:nvSpPr>
        <p:spPr>
          <a:xfrm>
            <a:off x="457200" y="254000"/>
            <a:ext cx="112776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2600" b="1">
                <a:solidFill>
                  <a:srgbClr val="2D2D2D"/>
                </a:solidFill>
                <a:latin typeface="BIZ UDPGothic"/>
                <a:ea typeface="BIZ UDPGothic"/>
              </a:rPr>
              <a:t>14. </a:t>
            </a:r>
            <a:r>
              <a:rPr lang="ja-JP" altLang="en-US" sz="2600" b="1">
                <a:solidFill>
                  <a:srgbClr val="2D2D2D"/>
                </a:solidFill>
                <a:latin typeface="BIZ UDPGothic"/>
                <a:ea typeface="BIZ UDPGothic"/>
              </a:rPr>
              <a:t>成果物サマリ</a:t>
            </a:r>
          </a:p>
        </p:txBody>
      </p:sp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E652E33F-A894-4894-8EBB-56A858BE76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9131098"/>
              </p:ext>
            </p:extLst>
          </p:nvPr>
        </p:nvGraphicFramePr>
        <p:xfrm>
          <a:off x="457200" y="914400"/>
          <a:ext cx="11277600" cy="44026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200">
                  <a:extLst>
                    <a:ext uri="{9D8B030D-6E8A-4147-A177-3AD203B41FA5}">
                      <a16:colId xmlns:a16="http://schemas.microsoft.com/office/drawing/2014/main" val="914307793"/>
                    </a:ext>
                  </a:extLst>
                </a:gridCol>
                <a:gridCol w="3759200">
                  <a:extLst>
                    <a:ext uri="{9D8B030D-6E8A-4147-A177-3AD203B41FA5}">
                      <a16:colId xmlns:a16="http://schemas.microsoft.com/office/drawing/2014/main" val="1314385087"/>
                    </a:ext>
                  </a:extLst>
                </a:gridCol>
                <a:gridCol w="3759200">
                  <a:extLst>
                    <a:ext uri="{9D8B030D-6E8A-4147-A177-3AD203B41FA5}">
                      <a16:colId xmlns:a16="http://schemas.microsoft.com/office/drawing/2014/main" val="3439930966"/>
                    </a:ext>
                  </a:extLst>
                </a:gridCol>
              </a:tblGrid>
              <a:tr h="423333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>
                          <a:solidFill>
                            <a:srgbClr val="FFFFFF"/>
                          </a:solidFill>
                          <a:latin typeface="BIZ UDPGothic"/>
                          <a:ea typeface="BIZ UDPGothic"/>
                        </a:rPr>
                        <a:t>成果物</a:t>
                      </a:r>
                    </a:p>
                  </a:txBody>
                  <a:tcPr anchor="ctr">
                    <a:solidFill>
                      <a:srgbClr val="A033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>
                          <a:solidFill>
                            <a:srgbClr val="FFFFFF"/>
                          </a:solidFill>
                          <a:latin typeface="BIZ UDPGothic"/>
                          <a:ea typeface="BIZ UDPGothic"/>
                        </a:rPr>
                        <a:t>ステータス</a:t>
                      </a:r>
                    </a:p>
                  </a:txBody>
                  <a:tcPr anchor="ctr">
                    <a:solidFill>
                      <a:srgbClr val="A033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>
                          <a:solidFill>
                            <a:srgbClr val="FFFFFF"/>
                          </a:solidFill>
                          <a:latin typeface="BIZ UDPGothic"/>
                          <a:ea typeface="BIZ UDPGothic"/>
                        </a:rPr>
                        <a:t>参照パス</a:t>
                      </a:r>
                    </a:p>
                  </a:txBody>
                  <a:tcPr anchor="ctr">
                    <a:solidFill>
                      <a:srgbClr val="A033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2246179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>
                          <a:solidFill>
                            <a:srgbClr val="4A4A4A"/>
                          </a:solidFill>
                          <a:latin typeface="BIZ UDPGothic"/>
                          <a:ea typeface="BIZ UDPGothic"/>
                        </a:rPr>
                        <a:t>プロジェクト概要書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>
                          <a:solidFill>
                            <a:srgbClr val="2D7D2D"/>
                          </a:solidFill>
                          <a:latin typeface="BIZ UDPGothic"/>
                          <a:ea typeface="BIZ UDPGothic"/>
                        </a:rPr>
                        <a:t>納品済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>
                          <a:solidFill>
                            <a:srgbClr val="4A4A4A"/>
                          </a:solidFill>
                          <a:latin typeface="BIZ UDPGothic"/>
                          <a:ea typeface="BIZ UDPGothic"/>
                        </a:rPr>
                        <a:t>本書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9836282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>
                          <a:solidFill>
                            <a:srgbClr val="4A4A4A"/>
                          </a:solidFill>
                          <a:latin typeface="BIZ UDPGothic"/>
                          <a:ea typeface="BIZ UDPGothic"/>
                        </a:rPr>
                        <a:t>分析計画書</a:t>
                      </a:r>
                    </a:p>
                  </a:txBody>
                  <a:tcPr anchor="ctr">
                    <a:solidFill>
                      <a:srgbClr val="F7F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>
                          <a:solidFill>
                            <a:srgbClr val="2D7D2D"/>
                          </a:solidFill>
                          <a:latin typeface="BIZ UDPGothic"/>
                          <a:ea typeface="BIZ UDPGothic"/>
                        </a:rPr>
                        <a:t>納品済</a:t>
                      </a:r>
                    </a:p>
                  </a:txBody>
                  <a:tcPr anchor="ctr">
                    <a:solidFill>
                      <a:srgbClr val="F7F6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>
                          <a:solidFill>
                            <a:srgbClr val="4A4A4A"/>
                          </a:solidFill>
                          <a:latin typeface="BIZ UDPGothic"/>
                          <a:ea typeface="BIZ UDPGothic"/>
                        </a:rPr>
                        <a:t>提出済</a:t>
                      </a:r>
                    </a:p>
                  </a:txBody>
                  <a:tcPr anchor="ctr">
                    <a:solidFill>
                      <a:srgbClr val="F7F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8675856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>
                          <a:solidFill>
                            <a:srgbClr val="4A4A4A"/>
                          </a:solidFill>
                          <a:latin typeface="BIZ UDPGothic"/>
                          <a:ea typeface="BIZ UDPGothic"/>
                        </a:rPr>
                        <a:t>データ理解レポート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>
                          <a:solidFill>
                            <a:srgbClr val="2D7D2D"/>
                          </a:solidFill>
                          <a:latin typeface="BIZ UDPGothic"/>
                          <a:ea typeface="BIZ UDPGothic"/>
                        </a:rPr>
                        <a:t>納品済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>
                          <a:solidFill>
                            <a:srgbClr val="4A4A4A"/>
                          </a:solidFill>
                          <a:latin typeface="BIZ UDPGothic"/>
                          <a:ea typeface="BIZ UDPGothic"/>
                        </a:rPr>
                        <a:t>提出済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8705272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>
                          <a:solidFill>
                            <a:srgbClr val="4A4A4A"/>
                          </a:solidFill>
                          <a:latin typeface="BIZ UDPGothic"/>
                          <a:ea typeface="BIZ UDPGothic"/>
                        </a:rPr>
                        <a:t>中間報告書（M02）</a:t>
                      </a:r>
                    </a:p>
                  </a:txBody>
                  <a:tcPr anchor="ctr">
                    <a:solidFill>
                      <a:srgbClr val="F7F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>
                          <a:solidFill>
                            <a:srgbClr val="2D7D2D"/>
                          </a:solidFill>
                          <a:latin typeface="BIZ UDPGothic"/>
                          <a:ea typeface="BIZ UDPGothic"/>
                        </a:rPr>
                        <a:t>納品済</a:t>
                      </a:r>
                    </a:p>
                  </a:txBody>
                  <a:tcPr anchor="ctr">
                    <a:solidFill>
                      <a:srgbClr val="F7F6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>
                          <a:solidFill>
                            <a:srgbClr val="4A4A4A"/>
                          </a:solidFill>
                          <a:latin typeface="BIZ UDPGothic"/>
                          <a:ea typeface="BIZ UDPGothic"/>
                        </a:rPr>
                        <a:t>artifacts/reports/報告資料_2025-09-16.md</a:t>
                      </a:r>
                    </a:p>
                  </a:txBody>
                  <a:tcPr anchor="ctr">
                    <a:solidFill>
                      <a:srgbClr val="F7F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1571485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>
                          <a:solidFill>
                            <a:srgbClr val="4A4A4A"/>
                          </a:solidFill>
                          <a:latin typeface="BIZ UDPGothic"/>
                          <a:ea typeface="BIZ UDPGothic"/>
                        </a:rPr>
                        <a:t>最終報告書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>
                          <a:solidFill>
                            <a:srgbClr val="2D7D2D"/>
                          </a:solidFill>
                          <a:latin typeface="BIZ UDPGothic"/>
                          <a:ea typeface="BIZ UDPGothic"/>
                        </a:rPr>
                        <a:t>納品済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>
                          <a:solidFill>
                            <a:srgbClr val="4A4A4A"/>
                          </a:solidFill>
                          <a:latin typeface="BIZ UDPGothic"/>
                          <a:ea typeface="BIZ UDPGothic"/>
                        </a:rPr>
                        <a:t>本書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2920892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>
                          <a:solidFill>
                            <a:srgbClr val="4A4A4A"/>
                          </a:solidFill>
                          <a:latin typeface="BIZ UDPGothic"/>
                          <a:ea typeface="BIZ UDPGothic"/>
                        </a:rPr>
                        <a:t>会議議事録（M01）</a:t>
                      </a:r>
                    </a:p>
                  </a:txBody>
                  <a:tcPr anchor="ctr">
                    <a:solidFill>
                      <a:srgbClr val="F7F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>
                          <a:solidFill>
                            <a:srgbClr val="2D7D2D"/>
                          </a:solidFill>
                          <a:latin typeface="BIZ UDPGothic"/>
                          <a:ea typeface="BIZ UDPGothic"/>
                        </a:rPr>
                        <a:t>納品済</a:t>
                      </a:r>
                    </a:p>
                  </a:txBody>
                  <a:tcPr anchor="ctr">
                    <a:solidFill>
                      <a:srgbClr val="F7F6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>
                          <a:solidFill>
                            <a:srgbClr val="4A4A4A"/>
                          </a:solidFill>
                          <a:latin typeface="BIZ UDPGothic"/>
                          <a:ea typeface="BIZ UDPGothic"/>
                        </a:rPr>
                        <a:t>artifacts/meeting_minutes/会議録_2025-09-02.md</a:t>
                      </a:r>
                    </a:p>
                  </a:txBody>
                  <a:tcPr anchor="ctr">
                    <a:solidFill>
                      <a:srgbClr val="F7F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4029172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>
                          <a:solidFill>
                            <a:srgbClr val="4A4A4A"/>
                          </a:solidFill>
                          <a:latin typeface="BIZ UDPGothic"/>
                          <a:ea typeface="BIZ UDPGothic"/>
                        </a:rPr>
                        <a:t>会議議事録（M02）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>
                          <a:solidFill>
                            <a:srgbClr val="2D7D2D"/>
                          </a:solidFill>
                          <a:latin typeface="BIZ UDPGothic"/>
                          <a:ea typeface="BIZ UDPGothic"/>
                        </a:rPr>
                        <a:t>納品済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>
                          <a:solidFill>
                            <a:srgbClr val="4A4A4A"/>
                          </a:solidFill>
                          <a:latin typeface="BIZ UDPGothic"/>
                          <a:ea typeface="BIZ UDPGothic"/>
                        </a:rPr>
                        <a:t>artifacts/meeting_minutes/会議録_2025-09-16.md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98694564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>
                          <a:solidFill>
                            <a:srgbClr val="4A4A4A"/>
                          </a:solidFill>
                          <a:latin typeface="BIZ UDPGothic"/>
                          <a:ea typeface="BIZ UDPGothic"/>
                        </a:rPr>
                        <a:t>分析実行アーティファクト</a:t>
                      </a:r>
                    </a:p>
                  </a:txBody>
                  <a:tcPr anchor="ctr">
                    <a:solidFill>
                      <a:srgbClr val="F7F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>
                          <a:solidFill>
                            <a:srgbClr val="2D7D2D"/>
                          </a:solidFill>
                          <a:latin typeface="BIZ UDPGothic"/>
                          <a:ea typeface="BIZ UDPGothic"/>
                        </a:rPr>
                        <a:t>納品済</a:t>
                      </a:r>
                    </a:p>
                  </a:txBody>
                  <a:tcPr anchor="ctr">
                    <a:solidFill>
                      <a:srgbClr val="F7F6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>
                          <a:solidFill>
                            <a:srgbClr val="4A4A4A"/>
                          </a:solidFill>
                          <a:latin typeface="BIZ UDPGothic"/>
                          <a:ea typeface="BIZ UDPGothic"/>
                        </a:rPr>
                        <a:t>artifacts/analysis_outputs/（run_summary.json、metrics.json、leaderboard.json）</a:t>
                      </a:r>
                    </a:p>
                  </a:txBody>
                  <a:tcPr anchor="ctr">
                    <a:solidFill>
                      <a:srgbClr val="F7F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297772"/>
                  </a:ext>
                </a:extLst>
              </a:tr>
            </a:tbl>
          </a:graphicData>
        </a:graphic>
      </p:graphicFrame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E937232-D26E-48C2-89AC-609BD9B7F85D}"/>
              </a:ext>
            </a:extLst>
          </p:cNvPr>
          <p:cNvSpPr txBox="1"/>
          <p:nvPr/>
        </p:nvSpPr>
        <p:spPr>
          <a:xfrm>
            <a:off x="457200" y="5461000"/>
            <a:ext cx="112776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400">
                <a:solidFill>
                  <a:srgbClr val="8C8C8C"/>
                </a:solidFill>
                <a:latin typeface="BIZ UDPGothic"/>
                <a:ea typeface="BIZ UDPGothic"/>
              </a:rPr>
              <a:t>納品物は、契約に定める内容（第</a:t>
            </a:r>
            <a:r>
              <a:rPr lang="en-US" altLang="ja-JP" sz="1400">
                <a:solidFill>
                  <a:srgbClr val="8C8C8C"/>
                </a:solidFill>
                <a:latin typeface="BIZ UDPGothic"/>
                <a:ea typeface="BIZ UDPGothic"/>
              </a:rPr>
              <a:t>4</a:t>
            </a:r>
            <a:r>
              <a:rPr lang="ja-JP" altLang="en-US" sz="1400">
                <a:solidFill>
                  <a:srgbClr val="8C8C8C"/>
                </a:solidFill>
                <a:latin typeface="BIZ UDPGothic"/>
                <a:ea typeface="BIZ UDPGothic"/>
              </a:rPr>
              <a:t>条 成果物）に準拠している。すべての成果物は「</a:t>
            </a:r>
            <a:r>
              <a:rPr lang="en-US" altLang="ja-JP" sz="1400">
                <a:solidFill>
                  <a:srgbClr val="8C8C8C"/>
                </a:solidFill>
                <a:latin typeface="BIZ UDPGothic"/>
                <a:ea typeface="BIZ UDPGothic"/>
              </a:rPr>
              <a:t>disease </a:t>
            </a:r>
            <a:r>
              <a:rPr lang="ja-JP" altLang="en-US" sz="1400">
                <a:solidFill>
                  <a:srgbClr val="8C8C8C"/>
                </a:solidFill>
                <a:latin typeface="BIZ UDPGothic"/>
                <a:ea typeface="BIZ UDPGothic"/>
              </a:rPr>
              <a:t>の定義」「</a:t>
            </a:r>
            <a:r>
              <a:rPr lang="en-US" altLang="ja-JP" sz="1400">
                <a:solidFill>
                  <a:srgbClr val="8C8C8C"/>
                </a:solidFill>
                <a:latin typeface="BIZ UDPGothic"/>
                <a:ea typeface="BIZ UDPGothic"/>
              </a:rPr>
              <a:t>id </a:t>
            </a:r>
            <a:r>
              <a:rPr lang="ja-JP" altLang="en-US" sz="1400">
                <a:solidFill>
                  <a:srgbClr val="8C8C8C"/>
                </a:solidFill>
                <a:latin typeface="BIZ UDPGothic"/>
                <a:ea typeface="BIZ UDPGothic"/>
              </a:rPr>
              <a:t>の除外」「</a:t>
            </a:r>
            <a:r>
              <a:rPr lang="en-US" altLang="ja-JP" sz="1400">
                <a:solidFill>
                  <a:srgbClr val="8C8C8C"/>
                </a:solidFill>
                <a:latin typeface="BIZ UDPGothic"/>
                <a:ea typeface="BIZ UDPGothic"/>
              </a:rPr>
              <a:t>train.csv </a:t>
            </a:r>
            <a:r>
              <a:rPr lang="ja-JP" altLang="en-US" sz="1400">
                <a:solidFill>
                  <a:srgbClr val="8C8C8C"/>
                </a:solidFill>
                <a:latin typeface="BIZ UDPGothic"/>
                <a:ea typeface="BIZ UDPGothic"/>
              </a:rPr>
              <a:t>を単一ソース」といった基準に従って一貫記載している。</a:t>
            </a:r>
          </a:p>
        </p:txBody>
      </p:sp>
    </p:spTree>
    <p:extLst>
      <p:ext uri="{BB962C8B-B14F-4D97-AF65-F5344CB8AC3E}">
        <p14:creationId xmlns:p14="http://schemas.microsoft.com/office/powerpoint/2010/main" val="26488772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044CBB2-DBAB-48A1-A8AA-EC42212E0BCF}"/>
              </a:ext>
            </a:extLst>
          </p:cNvPr>
          <p:cNvSpPr txBox="1"/>
          <p:nvPr/>
        </p:nvSpPr>
        <p:spPr>
          <a:xfrm>
            <a:off x="457200" y="254000"/>
            <a:ext cx="112776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2400" b="1">
                <a:solidFill>
                  <a:srgbClr val="2D2D2D"/>
                </a:solidFill>
                <a:latin typeface="BIZ UDPGothic"/>
                <a:ea typeface="BIZ UDPGothic"/>
              </a:rPr>
              <a:t>15. </a:t>
            </a:r>
            <a:r>
              <a:rPr lang="ja-JP" altLang="en-US" sz="2400" b="1">
                <a:solidFill>
                  <a:srgbClr val="2D2D2D"/>
                </a:solidFill>
                <a:latin typeface="BIZ UDPGothic"/>
                <a:ea typeface="BIZ UDPGothic"/>
              </a:rPr>
              <a:t>提案・契約との差分管理（</a:t>
            </a:r>
            <a:r>
              <a:rPr lang="en-US" altLang="ja-JP" sz="2400" b="1">
                <a:solidFill>
                  <a:srgbClr val="2D2D2D"/>
                </a:solidFill>
                <a:latin typeface="BIZ UDPGothic"/>
                <a:ea typeface="BIZ UDPGothic"/>
              </a:rPr>
              <a:t>1/2</a:t>
            </a:r>
            <a:r>
              <a:rPr lang="ja-JP" altLang="en-US" sz="2400" b="1">
                <a:solidFill>
                  <a:srgbClr val="2D2D2D"/>
                </a:solidFill>
                <a:latin typeface="BIZ UDPGothic"/>
                <a:ea typeface="BIZ UDPGothic"/>
              </a:rPr>
              <a:t>）</a:t>
            </a:r>
          </a:p>
        </p:txBody>
      </p:sp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CC01C030-3185-4BF3-8FD3-7FAD7F36ED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643634"/>
              </p:ext>
            </p:extLst>
          </p:nvPr>
        </p:nvGraphicFramePr>
        <p:xfrm>
          <a:off x="457200" y="914400"/>
          <a:ext cx="11277600" cy="3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400">
                  <a:extLst>
                    <a:ext uri="{9D8B030D-6E8A-4147-A177-3AD203B41FA5}">
                      <a16:colId xmlns:a16="http://schemas.microsoft.com/office/drawing/2014/main" val="177526749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1980743462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3063635235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457447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>
                          <a:solidFill>
                            <a:srgbClr val="FFFFFF"/>
                          </a:solidFill>
                          <a:latin typeface="BIZ UDPGothic"/>
                          <a:ea typeface="BIZ UDPGothic"/>
                        </a:rPr>
                        <a:t>項目</a:t>
                      </a:r>
                    </a:p>
                  </a:txBody>
                  <a:tcPr anchor="ctr">
                    <a:solidFill>
                      <a:srgbClr val="A033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>
                          <a:solidFill>
                            <a:srgbClr val="FFFFFF"/>
                          </a:solidFill>
                          <a:latin typeface="BIZ UDPGothic"/>
                          <a:ea typeface="BIZ UDPGothic"/>
                        </a:rPr>
                        <a:t>差分</a:t>
                      </a:r>
                    </a:p>
                  </a:txBody>
                  <a:tcPr anchor="ctr">
                    <a:solidFill>
                      <a:srgbClr val="A033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>
                          <a:solidFill>
                            <a:srgbClr val="FFFFFF"/>
                          </a:solidFill>
                          <a:latin typeface="BIZ UDPGothic"/>
                          <a:ea typeface="BIZ UDPGothic"/>
                        </a:rPr>
                        <a:t>変更理由</a:t>
                      </a:r>
                    </a:p>
                  </a:txBody>
                  <a:tcPr anchor="ctr">
                    <a:solidFill>
                      <a:srgbClr val="A033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>
                          <a:solidFill>
                            <a:srgbClr val="FFFFFF"/>
                          </a:solidFill>
                          <a:latin typeface="BIZ UDPGothic"/>
                          <a:ea typeface="BIZ UDPGothic"/>
                        </a:rPr>
                        <a:t>承認トレース</a:t>
                      </a:r>
                    </a:p>
                  </a:txBody>
                  <a:tcPr anchor="ctr">
                    <a:solidFill>
                      <a:srgbClr val="A033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8218164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lang="ja-JP" altLang="en-US" sz="1400">
                          <a:solidFill>
                            <a:srgbClr val="4A4A4A"/>
                          </a:solidFill>
                          <a:latin typeface="BIZ UDPGothic"/>
                          <a:ea typeface="BIZ UDPGothic"/>
                        </a:rPr>
                        <a:t>成果物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sz="1400">
                          <a:solidFill>
                            <a:srgbClr val="4A4A4A"/>
                          </a:solidFill>
                          <a:latin typeface="BIZ UDPGothic"/>
                          <a:ea typeface="BIZ UDPGothic"/>
                        </a:rPr>
                        <a:t>なし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sz="1400">
                          <a:solidFill>
                            <a:srgbClr val="4A4A4A"/>
                          </a:solidFill>
                          <a:latin typeface="BIZ UDPGothic"/>
                          <a:ea typeface="BIZ UDPGothic"/>
                        </a:rPr>
                        <a:t>契約定義の成果物を全て納品済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sz="1400">
                          <a:solidFill>
                            <a:srgbClr val="4A4A4A"/>
                          </a:solidFill>
                          <a:latin typeface="BIZ UDPGothic"/>
                          <a:ea typeface="BIZ UDPGothic"/>
                        </a:rPr>
                        <a:t>Contract 第4条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6003025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lang="ja-JP" altLang="en-US" sz="1400">
                          <a:solidFill>
                            <a:srgbClr val="4A4A4A"/>
                          </a:solidFill>
                          <a:latin typeface="BIZ UDPGothic"/>
                          <a:ea typeface="BIZ UDPGothic"/>
                        </a:rPr>
                        <a:t>スコープ</a:t>
                      </a:r>
                    </a:p>
                  </a:txBody>
                  <a:tcPr>
                    <a:solidFill>
                      <a:srgbClr val="F7F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400" b="1">
                          <a:solidFill>
                            <a:srgbClr val="A0332E"/>
                          </a:solidFill>
                          <a:latin typeface="BIZ UDPGothic"/>
                          <a:ea typeface="BIZ UDPGothic"/>
                        </a:rPr>
                        <a:t>モデル種別
進化あり</a:t>
                      </a:r>
                    </a:p>
                  </a:txBody>
                  <a:tcPr>
                    <a:solidFill>
                      <a:srgbClr val="F7F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400">
                          <a:solidFill>
                            <a:srgbClr val="4A4A4A"/>
                          </a:solidFill>
                          <a:latin typeface="BIZ UDPGothic"/>
                          <a:ea typeface="BIZ UDPGothic"/>
                        </a:rPr>
                        <a:t>線形系（T01-T05）→非線形系（hist_gradient_boosting）へ。スコープ内の分析アプローチ最適化に該当</a:t>
                      </a:r>
                    </a:p>
                  </a:txBody>
                  <a:tcPr>
                    <a:solidFill>
                      <a:srgbClr val="F7F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400">
                          <a:solidFill>
                            <a:srgbClr val="4A4A4A"/>
                          </a:solidFill>
                          <a:latin typeface="BIZ UDPGothic"/>
                          <a:ea typeface="BIZ UDPGothic"/>
                        </a:rPr>
                        <a:t>M02議事録
(2025-09-16)</a:t>
                      </a:r>
                    </a:p>
                  </a:txBody>
                  <a:tcPr>
                    <a:solidFill>
                      <a:srgbClr val="F7F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3745290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lang="ja-JP" altLang="en-US" sz="1400">
                          <a:solidFill>
                            <a:srgbClr val="4A4A4A"/>
                          </a:solidFill>
                          <a:latin typeface="BIZ UDPGothic"/>
                          <a:ea typeface="BIZ UDPGothic"/>
                        </a:rPr>
                        <a:t>KPI/受入基準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sz="1400">
                          <a:solidFill>
                            <a:srgbClr val="4A4A4A"/>
                          </a:solidFill>
                          <a:latin typeface="BIZ UDPGothic"/>
                          <a:ea typeface="BIZ UDPGothic"/>
                        </a:rPr>
                        <a:t>なし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sz="1400">
                          <a:solidFill>
                            <a:srgbClr val="4A4A4A"/>
                          </a:solidFill>
                          <a:latin typeface="BIZ UDPGothic"/>
                          <a:ea typeface="BIZ UDPGothic"/>
                        </a:rPr>
                        <a:t>提案段階のKPI指標（ROC-AUC、Accuracy等）を維持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sz="1400">
                          <a:solidFill>
                            <a:srgbClr val="4A4A4A"/>
                          </a:solidFill>
                          <a:latin typeface="BIZ UDPGothic"/>
                          <a:ea typeface="BIZ UDPGothic"/>
                        </a:rPr>
                        <a:t>Proposal KPI定義
Contract 第4.1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2818601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lang="ja-JP" altLang="en-US" sz="1400">
                          <a:solidFill>
                            <a:srgbClr val="4A4A4A"/>
                          </a:solidFill>
                          <a:latin typeface="BIZ UDPGothic"/>
                          <a:ea typeface="BIZ UDPGothic"/>
                        </a:rPr>
                        <a:t>契約形態
支払条件</a:t>
                      </a:r>
                    </a:p>
                  </a:txBody>
                  <a:tcPr>
                    <a:solidFill>
                      <a:srgbClr val="F7F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400">
                          <a:solidFill>
                            <a:srgbClr val="4A4A4A"/>
                          </a:solidFill>
                          <a:latin typeface="BIZ UDPGothic"/>
                          <a:ea typeface="BIZ UDPGothic"/>
                        </a:rPr>
                        <a:t>なし</a:t>
                      </a:r>
                    </a:p>
                  </a:txBody>
                  <a:tcPr>
                    <a:solidFill>
                      <a:srgbClr val="F7F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400">
                          <a:solidFill>
                            <a:srgbClr val="4A4A4A"/>
                          </a:solidFill>
                          <a:latin typeface="BIZ UDPGothic"/>
                          <a:ea typeface="BIZ UDPGothic"/>
                        </a:rPr>
                        <a:t>T&amp;M、最終一括精算、実績工数に基づく</a:t>
                      </a:r>
                    </a:p>
                  </a:txBody>
                  <a:tcPr>
                    <a:solidFill>
                      <a:srgbClr val="F7F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400">
                          <a:solidFill>
                            <a:srgbClr val="4A4A4A"/>
                          </a:solidFill>
                          <a:latin typeface="BIZ UDPGothic"/>
                          <a:ea typeface="BIZ UDPGothic"/>
                        </a:rPr>
                        <a:t>Contract 第6条</a:t>
                      </a:r>
                    </a:p>
                  </a:txBody>
                  <a:tcPr>
                    <a:solidFill>
                      <a:srgbClr val="F7F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8016906"/>
                  </a:ext>
                </a:extLst>
              </a:tr>
            </a:tbl>
          </a:graphicData>
        </a:graphic>
      </p:graphicFrame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27C87D7-98D5-4AC2-BA62-3867230174BC}"/>
              </a:ext>
            </a:extLst>
          </p:cNvPr>
          <p:cNvSpPr txBox="1"/>
          <p:nvPr/>
        </p:nvSpPr>
        <p:spPr>
          <a:xfrm>
            <a:off x="457200" y="4191000"/>
            <a:ext cx="381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TW" altLang="en-US" sz="1600" b="1">
                <a:solidFill>
                  <a:srgbClr val="A0332E"/>
                </a:solidFill>
                <a:latin typeface="BIZ UDPGothic"/>
                <a:ea typeface="BIZ UDPGothic"/>
              </a:rPr>
              <a:t>商業情報（確定値）</a:t>
            </a:r>
            <a:endParaRPr lang="ja-JP" altLang="en-US" sz="1600" b="1">
              <a:solidFill>
                <a:srgbClr val="A0332E"/>
              </a:solidFill>
              <a:latin typeface="BIZ UDPGothic"/>
              <a:ea typeface="BIZ UDPGothic"/>
            </a:endParaRPr>
          </a:p>
        </p:txBody>
      </p:sp>
      <p:graphicFrame>
        <p:nvGraphicFramePr>
          <p:cNvPr id="7" name="表 6">
            <a:extLst>
              <a:ext uri="{FF2B5EF4-FFF2-40B4-BE49-F238E27FC236}">
                <a16:creationId xmlns:a16="http://schemas.microsoft.com/office/drawing/2014/main" id="{6A8856C7-53B7-40A7-9381-CFCA042C2D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6429379"/>
              </p:ext>
            </p:extLst>
          </p:nvPr>
        </p:nvGraphicFramePr>
        <p:xfrm>
          <a:off x="457200" y="4572000"/>
          <a:ext cx="6350000" cy="2158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75000">
                  <a:extLst>
                    <a:ext uri="{9D8B030D-6E8A-4147-A177-3AD203B41FA5}">
                      <a16:colId xmlns:a16="http://schemas.microsoft.com/office/drawing/2014/main" val="2801344176"/>
                    </a:ext>
                  </a:extLst>
                </a:gridCol>
                <a:gridCol w="3175000">
                  <a:extLst>
                    <a:ext uri="{9D8B030D-6E8A-4147-A177-3AD203B41FA5}">
                      <a16:colId xmlns:a16="http://schemas.microsoft.com/office/drawing/2014/main" val="3836943918"/>
                    </a:ext>
                  </a:extLst>
                </a:gridCol>
              </a:tblGrid>
              <a:tr h="359833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>
                          <a:solidFill>
                            <a:srgbClr val="FFFFFF"/>
                          </a:solidFill>
                          <a:latin typeface="BIZ UDPGothic"/>
                          <a:ea typeface="BIZ UDPGothic"/>
                        </a:rPr>
                        <a:t>項目</a:t>
                      </a:r>
                    </a:p>
                  </a:txBody>
                  <a:tcPr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>
                          <a:solidFill>
                            <a:srgbClr val="FFFFFF"/>
                          </a:solidFill>
                          <a:latin typeface="BIZ UDPGothic"/>
                          <a:ea typeface="BIZ UDPGothic"/>
                        </a:rPr>
                        <a:t>値</a:t>
                      </a:r>
                    </a:p>
                  </a:txBody>
                  <a:tcPr>
                    <a:solidFill>
                      <a:srgbClr val="38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3475720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>
                          <a:solidFill>
                            <a:srgbClr val="4A4A4A"/>
                          </a:solidFill>
                          <a:latin typeface="BIZ UDPGothic"/>
                          <a:ea typeface="BIZ UDPGothic"/>
                        </a:rPr>
                        <a:t>実績工数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ja-JP" altLang="en-US" sz="1400">
                          <a:solidFill>
                            <a:srgbClr val="4A4A4A"/>
                          </a:solidFill>
                          <a:latin typeface="BIZ UDPGothic"/>
                          <a:ea typeface="BIZ UDPGothic"/>
                        </a:rPr>
                        <a:t>140時間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2850068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>
                          <a:solidFill>
                            <a:srgbClr val="4A4A4A"/>
                          </a:solidFill>
                          <a:latin typeface="BIZ UDPGothic"/>
                          <a:ea typeface="BIZ UDPGothic"/>
                        </a:rPr>
                        <a:t>契約時時間単価</a:t>
                      </a:r>
                    </a:p>
                  </a:txBody>
                  <a:tcPr>
                    <a:solidFill>
                      <a:srgbClr val="F7F6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ja-JP" altLang="en-US" sz="1400">
                          <a:solidFill>
                            <a:srgbClr val="4A4A4A"/>
                          </a:solidFill>
                          <a:latin typeface="BIZ UDPGothic"/>
                          <a:ea typeface="BIZ UDPGothic"/>
                        </a:rPr>
                        <a:t>25,000 JPY/時間</a:t>
                      </a:r>
                    </a:p>
                  </a:txBody>
                  <a:tcPr>
                    <a:solidFill>
                      <a:srgbClr val="F7F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4205602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>
                          <a:solidFill>
                            <a:srgbClr val="4A4A4A"/>
                          </a:solidFill>
                          <a:latin typeface="BIZ UDPGothic"/>
                          <a:ea typeface="BIZ UDPGothic"/>
                        </a:rPr>
                        <a:t>最終請求金額（税抜）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ja-JP" altLang="en-US" sz="1400">
                          <a:solidFill>
                            <a:srgbClr val="4A4A4A"/>
                          </a:solidFill>
                          <a:latin typeface="BIZ UDPGothic"/>
                          <a:ea typeface="BIZ UDPGothic"/>
                        </a:rPr>
                        <a:t>3,500,000 JPY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2117088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>
                          <a:solidFill>
                            <a:srgbClr val="4A4A4A"/>
                          </a:solidFill>
                          <a:latin typeface="BIZ UDPGothic"/>
                          <a:ea typeface="BIZ UDPGothic"/>
                        </a:rPr>
                        <a:t>消費税額（10%）</a:t>
                      </a:r>
                    </a:p>
                  </a:txBody>
                  <a:tcPr>
                    <a:solidFill>
                      <a:srgbClr val="F7F6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ja-JP" altLang="en-US" sz="1400">
                          <a:solidFill>
                            <a:srgbClr val="4A4A4A"/>
                          </a:solidFill>
                          <a:latin typeface="BIZ UDPGothic"/>
                          <a:ea typeface="BIZ UDPGothic"/>
                        </a:rPr>
                        <a:t>350,000 JPY</a:t>
                      </a:r>
                    </a:p>
                  </a:txBody>
                  <a:tcPr>
                    <a:solidFill>
                      <a:srgbClr val="F7F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5948201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 b="1">
                          <a:solidFill>
                            <a:srgbClr val="A0332E"/>
                          </a:solidFill>
                          <a:latin typeface="BIZ UDPGothic"/>
                          <a:ea typeface="BIZ UDPGothic"/>
                        </a:rPr>
                        <a:t>最終請求金額（税込）</a:t>
                      </a:r>
                    </a:p>
                  </a:txBody>
                  <a:tcPr>
                    <a:solidFill>
                      <a:srgbClr val="F2E6E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ja-JP" altLang="en-US" sz="1400" b="1">
                          <a:solidFill>
                            <a:srgbClr val="A0332E"/>
                          </a:solidFill>
                          <a:latin typeface="BIZ UDPGothic"/>
                          <a:ea typeface="BIZ UDPGothic"/>
                        </a:rPr>
                        <a:t>3,850,000 JPY</a:t>
                      </a:r>
                    </a:p>
                  </a:txBody>
                  <a:tcPr>
                    <a:solidFill>
                      <a:srgbClr val="F2E6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2056051"/>
                  </a:ext>
                </a:extLst>
              </a:tr>
            </a:tbl>
          </a:graphicData>
        </a:graphic>
      </p:graphicFrame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0BEAD5B8-18CC-4F66-BDEB-714335D04309}"/>
              </a:ext>
            </a:extLst>
          </p:cNvPr>
          <p:cNvSpPr/>
          <p:nvPr/>
        </p:nvSpPr>
        <p:spPr>
          <a:xfrm>
            <a:off x="7061200" y="4572000"/>
            <a:ext cx="4673600" cy="1016000"/>
          </a:xfrm>
          <a:prstGeom prst="roundRect">
            <a:avLst/>
          </a:prstGeom>
          <a:solidFill>
            <a:srgbClr val="F7F6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/>
          <a:lstStyle/>
          <a:p>
            <a:pPr algn="l"/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請求トリガー：最終成果物の検収完了後
支払期日基準：</a:t>
            </a:r>
            <a:r>
              <a:rPr lang="en-US" altLang="ja-JP" sz="1400">
                <a:solidFill>
                  <a:srgbClr val="4A4A4A"/>
                </a:solidFill>
                <a:latin typeface="BIZ UDPGothic"/>
                <a:ea typeface="BIZ UDPGothic"/>
              </a:rPr>
              <a:t>2025-10-07
</a:t>
            </a:r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計算根拠：</a:t>
            </a:r>
            <a:r>
              <a:rPr lang="en-US" altLang="ja-JP" sz="1400">
                <a:solidFill>
                  <a:srgbClr val="4A4A4A"/>
                </a:solidFill>
                <a:latin typeface="BIZ UDPGothic"/>
                <a:ea typeface="BIZ UDPGothic"/>
              </a:rPr>
              <a:t>Contract </a:t>
            </a:r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第</a:t>
            </a:r>
            <a:r>
              <a:rPr lang="en-US" altLang="ja-JP" sz="1400">
                <a:solidFill>
                  <a:srgbClr val="4A4A4A"/>
                </a:solidFill>
                <a:latin typeface="BIZ UDPGothic"/>
                <a:ea typeface="BIZ UDPGothic"/>
              </a:rPr>
              <a:t>6</a:t>
            </a:r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条、税率</a:t>
            </a:r>
            <a:r>
              <a:rPr lang="en-US" altLang="ja-JP" sz="1400">
                <a:solidFill>
                  <a:srgbClr val="4A4A4A"/>
                </a:solidFill>
                <a:latin typeface="BIZ UDPGothic"/>
                <a:ea typeface="BIZ UDPGothic"/>
              </a:rPr>
              <a:t>10%
</a:t>
            </a:r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工数記録：乙作成の工数表を根拠として甲へ提出</a:t>
            </a:r>
          </a:p>
        </p:txBody>
      </p:sp>
    </p:spTree>
    <p:extLst>
      <p:ext uri="{BB962C8B-B14F-4D97-AF65-F5344CB8AC3E}">
        <p14:creationId xmlns:p14="http://schemas.microsoft.com/office/powerpoint/2010/main" val="15984191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4717441-31C7-49A3-AD3B-EAC4C1964F6A}"/>
              </a:ext>
            </a:extLst>
          </p:cNvPr>
          <p:cNvSpPr txBox="1"/>
          <p:nvPr/>
        </p:nvSpPr>
        <p:spPr>
          <a:xfrm>
            <a:off x="457200" y="254000"/>
            <a:ext cx="112776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2400" b="1">
                <a:solidFill>
                  <a:srgbClr val="2D2D2D"/>
                </a:solidFill>
                <a:latin typeface="BIZ UDPGothic"/>
                <a:ea typeface="BIZ UDPGothic"/>
              </a:rPr>
              <a:t>16. </a:t>
            </a:r>
            <a:r>
              <a:rPr lang="ja-JP" altLang="en-US" sz="2400" b="1">
                <a:solidFill>
                  <a:srgbClr val="2D2D2D"/>
                </a:solidFill>
                <a:latin typeface="BIZ UDPGothic"/>
                <a:ea typeface="BIZ UDPGothic"/>
              </a:rPr>
              <a:t>提案・契約との差分管理（</a:t>
            </a:r>
            <a:r>
              <a:rPr lang="en-US" altLang="ja-JP" sz="2400" b="1">
                <a:solidFill>
                  <a:srgbClr val="2D2D2D"/>
                </a:solidFill>
                <a:latin typeface="BIZ UDPGothic"/>
                <a:ea typeface="BIZ UDPGothic"/>
              </a:rPr>
              <a:t>2/2</a:t>
            </a:r>
            <a:r>
              <a:rPr lang="ja-JP" altLang="en-US" sz="2400" b="1">
                <a:solidFill>
                  <a:srgbClr val="2D2D2D"/>
                </a:solidFill>
                <a:latin typeface="BIZ UDPGothic"/>
                <a:ea typeface="BIZ UDPGothic"/>
              </a:rPr>
              <a:t>）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CC0D3F2-9B7C-4CB6-AED6-D6DD7DB69926}"/>
              </a:ext>
            </a:extLst>
          </p:cNvPr>
          <p:cNvSpPr txBox="1"/>
          <p:nvPr/>
        </p:nvSpPr>
        <p:spPr>
          <a:xfrm>
            <a:off x="457200" y="889000"/>
            <a:ext cx="381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600" b="1">
                <a:solidFill>
                  <a:srgbClr val="A0332E"/>
                </a:solidFill>
                <a:latin typeface="BIZ UDPGothic"/>
                <a:ea typeface="BIZ UDPGothic"/>
              </a:rPr>
              <a:t>変更管理の履歴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853E06B7-6CE6-4D16-87FC-FEFED1CB1596}"/>
              </a:ext>
            </a:extLst>
          </p:cNvPr>
          <p:cNvSpPr/>
          <p:nvPr/>
        </p:nvSpPr>
        <p:spPr>
          <a:xfrm>
            <a:off x="457200" y="1625600"/>
            <a:ext cx="11277600" cy="50800"/>
          </a:xfrm>
          <a:prstGeom prst="rect">
            <a:avLst/>
          </a:prstGeom>
          <a:solidFill>
            <a:srgbClr val="D4CF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5FFE6A46-3885-48DE-8B5C-8F03EC6A3404}"/>
              </a:ext>
            </a:extLst>
          </p:cNvPr>
          <p:cNvSpPr/>
          <p:nvPr/>
        </p:nvSpPr>
        <p:spPr>
          <a:xfrm>
            <a:off x="711200" y="1549400"/>
            <a:ext cx="203200" cy="203200"/>
          </a:xfrm>
          <a:prstGeom prst="ellipse">
            <a:avLst/>
          </a:prstGeom>
          <a:solidFill>
            <a:srgbClr val="A033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088DB91D-04EF-4C64-B82C-C6DB1B7B168C}"/>
              </a:ext>
            </a:extLst>
          </p:cNvPr>
          <p:cNvSpPr txBox="1"/>
          <p:nvPr/>
        </p:nvSpPr>
        <p:spPr>
          <a:xfrm>
            <a:off x="457200" y="1828800"/>
            <a:ext cx="355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1400" b="1">
                <a:solidFill>
                  <a:srgbClr val="A0332E"/>
                </a:solidFill>
                <a:latin typeface="BIZ UDPGothic"/>
                <a:ea typeface="BIZ UDPGothic"/>
              </a:rPr>
              <a:t>2025-09-02</a:t>
            </a:r>
            <a:endParaRPr lang="ja-JP" altLang="en-US" sz="1400" b="1">
              <a:solidFill>
                <a:srgbClr val="A0332E"/>
              </a:solidFill>
              <a:latin typeface="BIZ UDPGothic"/>
              <a:ea typeface="BIZ UDPGothic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0AEBC6B-AD31-49B0-BF53-7B146CD41986}"/>
              </a:ext>
            </a:extLst>
          </p:cNvPr>
          <p:cNvSpPr txBox="1"/>
          <p:nvPr/>
        </p:nvSpPr>
        <p:spPr>
          <a:xfrm>
            <a:off x="457200" y="2108200"/>
            <a:ext cx="355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1400" b="1">
                <a:solidFill>
                  <a:srgbClr val="2D2D2D"/>
                </a:solidFill>
                <a:latin typeface="BIZ UDPGothic"/>
                <a:ea typeface="BIZ UDPGothic"/>
              </a:rPr>
              <a:t>M01 </a:t>
            </a:r>
            <a:r>
              <a:rPr lang="ja-JP" altLang="en-US" sz="1400" b="1">
                <a:solidFill>
                  <a:srgbClr val="2D2D2D"/>
                </a:solidFill>
                <a:latin typeface="BIZ UDPGothic"/>
                <a:ea typeface="BIZ UDPGothic"/>
              </a:rPr>
              <a:t>キックオフ</a:t>
            </a:r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751A652D-B0F8-45C8-BBCC-C0E0CB45F9B0}"/>
              </a:ext>
            </a:extLst>
          </p:cNvPr>
          <p:cNvSpPr/>
          <p:nvPr/>
        </p:nvSpPr>
        <p:spPr>
          <a:xfrm>
            <a:off x="457200" y="2438400"/>
            <a:ext cx="3556000" cy="1016000"/>
          </a:xfrm>
          <a:prstGeom prst="roundRect">
            <a:avLst/>
          </a:prstGeom>
          <a:solidFill>
            <a:srgbClr val="F7F6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/>
          <a:lstStyle/>
          <a:p>
            <a:pPr algn="l"/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スコープと前提の確定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FD6AA54F-421F-4748-9890-AFB8BE0A3851}"/>
              </a:ext>
            </a:extLst>
          </p:cNvPr>
          <p:cNvSpPr txBox="1"/>
          <p:nvPr/>
        </p:nvSpPr>
        <p:spPr>
          <a:xfrm>
            <a:off x="457200" y="3530600"/>
            <a:ext cx="35560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1400">
                <a:solidFill>
                  <a:srgbClr val="8C8C8C"/>
                </a:solidFill>
                <a:latin typeface="BIZ UDPGothic"/>
                <a:ea typeface="BIZ UDPGothic"/>
              </a:rPr>
              <a:t>artifacts/meeting_minutes/
</a:t>
            </a:r>
            <a:r>
              <a:rPr lang="ja-JP" altLang="en-US" sz="1400">
                <a:solidFill>
                  <a:srgbClr val="8C8C8C"/>
                </a:solidFill>
                <a:latin typeface="BIZ UDPGothic"/>
                <a:ea typeface="BIZ UDPGothic"/>
              </a:rPr>
              <a:t>会議録</a:t>
            </a:r>
            <a:r>
              <a:rPr lang="en-US" altLang="ja-JP" sz="1400">
                <a:solidFill>
                  <a:srgbClr val="8C8C8C"/>
                </a:solidFill>
                <a:latin typeface="BIZ UDPGothic"/>
                <a:ea typeface="BIZ UDPGothic"/>
              </a:rPr>
              <a:t>_2025-09-02.md</a:t>
            </a:r>
            <a:endParaRPr lang="ja-JP" altLang="en-US" sz="1400">
              <a:solidFill>
                <a:srgbClr val="8C8C8C"/>
              </a:solidFill>
              <a:latin typeface="BIZ UDPGothic"/>
              <a:ea typeface="BIZ UDPGothic"/>
            </a:endParaRPr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EE6D174D-D760-4BBC-9A20-0E8E988C0546}"/>
              </a:ext>
            </a:extLst>
          </p:cNvPr>
          <p:cNvSpPr/>
          <p:nvPr/>
        </p:nvSpPr>
        <p:spPr>
          <a:xfrm>
            <a:off x="4597400" y="1549400"/>
            <a:ext cx="203200" cy="203200"/>
          </a:xfrm>
          <a:prstGeom prst="ellipse">
            <a:avLst/>
          </a:prstGeom>
          <a:solidFill>
            <a:srgbClr val="5C5C5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3C7688FF-289C-4975-A85A-FFF70EB9ACFC}"/>
              </a:ext>
            </a:extLst>
          </p:cNvPr>
          <p:cNvSpPr txBox="1"/>
          <p:nvPr/>
        </p:nvSpPr>
        <p:spPr>
          <a:xfrm>
            <a:off x="4343400" y="1828800"/>
            <a:ext cx="355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1400" b="1">
                <a:solidFill>
                  <a:srgbClr val="5C5C5C"/>
                </a:solidFill>
                <a:latin typeface="BIZ UDPGothic"/>
                <a:ea typeface="BIZ UDPGothic"/>
              </a:rPr>
              <a:t>2025-09-16</a:t>
            </a:r>
            <a:endParaRPr lang="ja-JP" altLang="en-US" sz="1400" b="1">
              <a:solidFill>
                <a:srgbClr val="5C5C5C"/>
              </a:solidFill>
              <a:latin typeface="BIZ UDPGothic"/>
              <a:ea typeface="BIZ UDPGothic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77FA9864-977B-4C7D-9EFD-4932AFDDB550}"/>
              </a:ext>
            </a:extLst>
          </p:cNvPr>
          <p:cNvSpPr txBox="1"/>
          <p:nvPr/>
        </p:nvSpPr>
        <p:spPr>
          <a:xfrm>
            <a:off x="4343400" y="2108200"/>
            <a:ext cx="355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1400" b="1">
                <a:solidFill>
                  <a:srgbClr val="2D2D2D"/>
                </a:solidFill>
                <a:latin typeface="BIZ UDPGothic"/>
                <a:ea typeface="BIZ UDPGothic"/>
              </a:rPr>
              <a:t>M02 </a:t>
            </a:r>
            <a:r>
              <a:rPr lang="ja-JP" altLang="en-US" sz="1400" b="1">
                <a:solidFill>
                  <a:srgbClr val="2D2D2D"/>
                </a:solidFill>
                <a:latin typeface="BIZ UDPGothic"/>
                <a:ea typeface="BIZ UDPGothic"/>
              </a:rPr>
              <a:t>中間レビュー</a:t>
            </a:r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BDA4A8D7-3692-4BB5-95D9-897447346EC0}"/>
              </a:ext>
            </a:extLst>
          </p:cNvPr>
          <p:cNvSpPr/>
          <p:nvPr/>
        </p:nvSpPr>
        <p:spPr>
          <a:xfrm>
            <a:off x="4343400" y="2438400"/>
            <a:ext cx="3556000" cy="1016000"/>
          </a:xfrm>
          <a:prstGeom prst="roundRect">
            <a:avLst/>
          </a:prstGeom>
          <a:solidFill>
            <a:srgbClr val="F7F6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/>
          <a:lstStyle/>
          <a:p>
            <a:pPr algn="l"/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線形系の閾値調整効果を確認。性能向上により非線形系の試行を継続する方針決定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89C74B42-5C2B-4110-A7DF-A237DB5C2A64}"/>
              </a:ext>
            </a:extLst>
          </p:cNvPr>
          <p:cNvSpPr txBox="1"/>
          <p:nvPr/>
        </p:nvSpPr>
        <p:spPr>
          <a:xfrm>
            <a:off x="4343400" y="3530600"/>
            <a:ext cx="35560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1400">
                <a:solidFill>
                  <a:srgbClr val="8C8C8C"/>
                </a:solidFill>
                <a:latin typeface="BIZ UDPGothic"/>
                <a:ea typeface="BIZ UDPGothic"/>
              </a:rPr>
              <a:t>artifacts/meeting_minutes/
</a:t>
            </a:r>
            <a:r>
              <a:rPr lang="ja-JP" altLang="en-US" sz="1400">
                <a:solidFill>
                  <a:srgbClr val="8C8C8C"/>
                </a:solidFill>
                <a:latin typeface="BIZ UDPGothic"/>
                <a:ea typeface="BIZ UDPGothic"/>
              </a:rPr>
              <a:t>会議録</a:t>
            </a:r>
            <a:r>
              <a:rPr lang="en-US" altLang="ja-JP" sz="1400">
                <a:solidFill>
                  <a:srgbClr val="8C8C8C"/>
                </a:solidFill>
                <a:latin typeface="BIZ UDPGothic"/>
                <a:ea typeface="BIZ UDPGothic"/>
              </a:rPr>
              <a:t>_2025-09-16.md
artifacts/reports/
</a:t>
            </a:r>
            <a:r>
              <a:rPr lang="ja-JP" altLang="en-US" sz="1400">
                <a:solidFill>
                  <a:srgbClr val="8C8C8C"/>
                </a:solidFill>
                <a:latin typeface="BIZ UDPGothic"/>
                <a:ea typeface="BIZ UDPGothic"/>
              </a:rPr>
              <a:t>報告資料</a:t>
            </a:r>
            <a:r>
              <a:rPr lang="en-US" altLang="ja-JP" sz="1400">
                <a:solidFill>
                  <a:srgbClr val="8C8C8C"/>
                </a:solidFill>
                <a:latin typeface="BIZ UDPGothic"/>
                <a:ea typeface="BIZ UDPGothic"/>
              </a:rPr>
              <a:t>_2025-09-16.md</a:t>
            </a:r>
            <a:endParaRPr lang="ja-JP" altLang="en-US" sz="1400">
              <a:solidFill>
                <a:srgbClr val="8C8C8C"/>
              </a:solidFill>
              <a:latin typeface="BIZ UDPGothic"/>
              <a:ea typeface="BIZ UDPGothic"/>
            </a:endParaRPr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C1CB4097-9695-4D48-ABE3-3D642C689849}"/>
              </a:ext>
            </a:extLst>
          </p:cNvPr>
          <p:cNvSpPr/>
          <p:nvPr/>
        </p:nvSpPr>
        <p:spPr>
          <a:xfrm>
            <a:off x="8483600" y="1549400"/>
            <a:ext cx="203200" cy="203200"/>
          </a:xfrm>
          <a:prstGeom prst="ellipse">
            <a:avLst/>
          </a:prstGeom>
          <a:solidFill>
            <a:srgbClr val="38383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4FD6B74B-AB11-47A9-99CD-0DCAEE7D04F8}"/>
              </a:ext>
            </a:extLst>
          </p:cNvPr>
          <p:cNvSpPr txBox="1"/>
          <p:nvPr/>
        </p:nvSpPr>
        <p:spPr>
          <a:xfrm>
            <a:off x="8229600" y="1828800"/>
            <a:ext cx="355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1400" b="1">
                <a:solidFill>
                  <a:srgbClr val="383838"/>
                </a:solidFill>
                <a:latin typeface="BIZ UDPGothic"/>
                <a:ea typeface="BIZ UDPGothic"/>
              </a:rPr>
              <a:t>2025-09-19</a:t>
            </a:r>
            <a:endParaRPr lang="ja-JP" altLang="en-US" sz="1400" b="1">
              <a:solidFill>
                <a:srgbClr val="383838"/>
              </a:solidFill>
              <a:latin typeface="BIZ UDPGothic"/>
              <a:ea typeface="BIZ UDPGothic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EAE56D35-F1E3-4953-8140-32299DDF2F35}"/>
              </a:ext>
            </a:extLst>
          </p:cNvPr>
          <p:cNvSpPr txBox="1"/>
          <p:nvPr/>
        </p:nvSpPr>
        <p:spPr>
          <a:xfrm>
            <a:off x="8229600" y="2108200"/>
            <a:ext cx="355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400" b="1">
                <a:solidFill>
                  <a:srgbClr val="2D2D2D"/>
                </a:solidFill>
                <a:latin typeface="BIZ UDPGothic"/>
                <a:ea typeface="BIZ UDPGothic"/>
              </a:rPr>
              <a:t>変更管理</a:t>
            </a:r>
            <a:r>
              <a:rPr lang="en-US" altLang="ja-JP" sz="1400" b="1">
                <a:solidFill>
                  <a:srgbClr val="2D2D2D"/>
                </a:solidFill>
                <a:latin typeface="BIZ UDPGothic"/>
                <a:ea typeface="BIZ UDPGothic"/>
              </a:rPr>
              <a:t>CP</a:t>
            </a:r>
            <a:endParaRPr lang="ja-JP" altLang="en-US" sz="1400" b="1">
              <a:solidFill>
                <a:srgbClr val="2D2D2D"/>
              </a:solidFill>
              <a:latin typeface="BIZ UDPGothic"/>
              <a:ea typeface="BIZ UDPGothic"/>
            </a:endParaRPr>
          </a:p>
        </p:txBody>
      </p: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CF836501-C8D3-4359-ADA8-A82A1654A1B3}"/>
              </a:ext>
            </a:extLst>
          </p:cNvPr>
          <p:cNvSpPr/>
          <p:nvPr/>
        </p:nvSpPr>
        <p:spPr>
          <a:xfrm>
            <a:off x="8229600" y="2438400"/>
            <a:ext cx="3556000" cy="1016000"/>
          </a:xfrm>
          <a:prstGeom prst="roundRect">
            <a:avLst/>
          </a:prstGeom>
          <a:solidFill>
            <a:srgbClr val="F7F6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/>
          <a:lstStyle/>
          <a:p>
            <a:pPr algn="l"/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追加要求等の有無を判定するチェックポイント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71B67020-A6A3-43AC-8349-7345D2204C39}"/>
              </a:ext>
            </a:extLst>
          </p:cNvPr>
          <p:cNvSpPr txBox="1"/>
          <p:nvPr/>
        </p:nvSpPr>
        <p:spPr>
          <a:xfrm>
            <a:off x="8229600" y="3530600"/>
            <a:ext cx="35560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1400">
                <a:solidFill>
                  <a:srgbClr val="8C8C8C"/>
                </a:solidFill>
                <a:latin typeface="BIZ UDPGothic"/>
                <a:ea typeface="BIZ UDPGothic"/>
              </a:rPr>
              <a:t>Project schedule
</a:t>
            </a:r>
            <a:r>
              <a:rPr lang="ja-JP" altLang="en-US" sz="1400">
                <a:solidFill>
                  <a:srgbClr val="8C8C8C"/>
                </a:solidFill>
                <a:latin typeface="BIZ UDPGothic"/>
                <a:ea typeface="BIZ UDPGothic"/>
              </a:rPr>
              <a:t>ドキュメント</a:t>
            </a:r>
          </a:p>
        </p:txBody>
      </p:sp>
      <p:sp>
        <p:nvSpPr>
          <p:cNvPr id="20" name="四角形: 角を丸くする 19">
            <a:extLst>
              <a:ext uri="{FF2B5EF4-FFF2-40B4-BE49-F238E27FC236}">
                <a16:creationId xmlns:a16="http://schemas.microsoft.com/office/drawing/2014/main" id="{1C7A0289-5F58-48C3-8C43-6700E89C5B99}"/>
              </a:ext>
            </a:extLst>
          </p:cNvPr>
          <p:cNvSpPr/>
          <p:nvPr/>
        </p:nvSpPr>
        <p:spPr>
          <a:xfrm>
            <a:off x="457200" y="4775200"/>
            <a:ext cx="11277600" cy="1016000"/>
          </a:xfrm>
          <a:prstGeom prst="roundRect">
            <a:avLst/>
          </a:prstGeom>
          <a:solidFill>
            <a:srgbClr val="F2E6E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/>
          <a:lstStyle/>
          <a:p>
            <a:pPr algn="l"/>
            <a:r>
              <a:rPr lang="ja-JP" altLang="en-US" sz="1400">
                <a:solidFill>
                  <a:srgbClr val="A0332E"/>
                </a:solidFill>
                <a:latin typeface="BIZ UDPGothic"/>
                <a:ea typeface="BIZ UDPGothic"/>
              </a:rPr>
              <a:t>モデル種別の変遷：線形系モデル群（</a:t>
            </a:r>
            <a:r>
              <a:rPr lang="en-US" altLang="ja-JP" sz="1400">
                <a:solidFill>
                  <a:srgbClr val="A0332E"/>
                </a:solidFill>
                <a:latin typeface="BIZ UDPGothic"/>
                <a:ea typeface="BIZ UDPGothic"/>
              </a:rPr>
              <a:t>T01-T05</a:t>
            </a:r>
            <a:r>
              <a:rPr lang="ja-JP" altLang="en-US" sz="1400">
                <a:solidFill>
                  <a:srgbClr val="A0332E"/>
                </a:solidFill>
                <a:latin typeface="BIZ UDPGothic"/>
                <a:ea typeface="BIZ UDPGothic"/>
              </a:rPr>
              <a:t>、</a:t>
            </a:r>
            <a:r>
              <a:rPr lang="en-US" altLang="ja-JP" sz="1400">
                <a:solidFill>
                  <a:srgbClr val="A0332E"/>
                </a:solidFill>
                <a:latin typeface="BIZ UDPGothic"/>
                <a:ea typeface="BIZ UDPGothic"/>
              </a:rPr>
              <a:t>f1_macro ≈ 0.733</a:t>
            </a:r>
            <a:r>
              <a:rPr lang="ja-JP" altLang="en-US" sz="1400">
                <a:solidFill>
                  <a:srgbClr val="A0332E"/>
                </a:solidFill>
                <a:latin typeface="BIZ UDPGothic"/>
                <a:ea typeface="BIZ UDPGothic"/>
              </a:rPr>
              <a:t>、</a:t>
            </a:r>
            <a:r>
              <a:rPr lang="en-US" altLang="ja-JP" sz="1400">
                <a:solidFill>
                  <a:srgbClr val="A0332E"/>
                </a:solidFill>
                <a:latin typeface="BIZ UDPGothic"/>
                <a:ea typeface="BIZ UDPGothic"/>
              </a:rPr>
              <a:t>AUC ≈ 0.825</a:t>
            </a:r>
            <a:r>
              <a:rPr lang="ja-JP" altLang="en-US" sz="1400">
                <a:solidFill>
                  <a:srgbClr val="A0332E"/>
                </a:solidFill>
                <a:latin typeface="BIZ UDPGothic"/>
                <a:ea typeface="BIZ UDPGothic"/>
              </a:rPr>
              <a:t>）→ </a:t>
            </a:r>
            <a:r>
              <a:rPr lang="en-US" altLang="ja-JP" sz="1400">
                <a:solidFill>
                  <a:srgbClr val="A0332E"/>
                </a:solidFill>
                <a:latin typeface="BIZ UDPGothic"/>
                <a:ea typeface="BIZ UDPGothic"/>
              </a:rPr>
              <a:t>hist_gradient_boosting</a:t>
            </a:r>
            <a:r>
              <a:rPr lang="ja-JP" altLang="en-US" sz="1400">
                <a:solidFill>
                  <a:srgbClr val="A0332E"/>
                </a:solidFill>
                <a:latin typeface="BIZ UDPGothic"/>
                <a:ea typeface="BIZ UDPGothic"/>
              </a:rPr>
              <a:t>（</a:t>
            </a:r>
            <a:r>
              <a:rPr lang="en-US" altLang="ja-JP" sz="1400">
                <a:solidFill>
                  <a:srgbClr val="A0332E"/>
                </a:solidFill>
                <a:latin typeface="BIZ UDPGothic"/>
                <a:ea typeface="BIZ UDPGothic"/>
              </a:rPr>
              <a:t>f1_macro = 0.829</a:t>
            </a:r>
            <a:r>
              <a:rPr lang="ja-JP" altLang="en-US" sz="1400">
                <a:solidFill>
                  <a:srgbClr val="A0332E"/>
                </a:solidFill>
                <a:latin typeface="BIZ UDPGothic"/>
                <a:ea typeface="BIZ UDPGothic"/>
              </a:rPr>
              <a:t>、</a:t>
            </a:r>
            <a:r>
              <a:rPr lang="en-US" altLang="ja-JP" sz="1400">
                <a:solidFill>
                  <a:srgbClr val="A0332E"/>
                </a:solidFill>
                <a:latin typeface="BIZ UDPGothic"/>
                <a:ea typeface="BIZ UDPGothic"/>
              </a:rPr>
              <a:t>AUC = 0.905</a:t>
            </a:r>
            <a:r>
              <a:rPr lang="ja-JP" altLang="en-US" sz="1400">
                <a:solidFill>
                  <a:srgbClr val="A0332E"/>
                </a:solidFill>
                <a:latin typeface="BIZ UDPGothic"/>
                <a:ea typeface="BIZ UDPGothic"/>
              </a:rPr>
              <a:t>）へ。
これは「スコープ内の分析アプローチ最適化」に該当し、追加スコープ請求を伴わない通常の手戻り改善として実施。中間レビュー（</a:t>
            </a:r>
            <a:r>
              <a:rPr lang="en-US" altLang="ja-JP" sz="1400">
                <a:solidFill>
                  <a:srgbClr val="A0332E"/>
                </a:solidFill>
                <a:latin typeface="BIZ UDPGothic"/>
                <a:ea typeface="BIZ UDPGothic"/>
              </a:rPr>
              <a:t>M02</a:t>
            </a:r>
            <a:r>
              <a:rPr lang="ja-JP" altLang="en-US" sz="1400">
                <a:solidFill>
                  <a:srgbClr val="A0332E"/>
                </a:solidFill>
                <a:latin typeface="BIZ UDPGothic"/>
                <a:ea typeface="BIZ UDPGothic"/>
              </a:rPr>
              <a:t>）で方針共有後、最終報告段階で運用案と合わせて提示。</a:t>
            </a:r>
          </a:p>
        </p:txBody>
      </p:sp>
    </p:spTree>
    <p:extLst>
      <p:ext uri="{BB962C8B-B14F-4D97-AF65-F5344CB8AC3E}">
        <p14:creationId xmlns:p14="http://schemas.microsoft.com/office/powerpoint/2010/main" val="5121535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79B05CD-0214-4BEE-8F60-10118AFC77FE}"/>
              </a:ext>
            </a:extLst>
          </p:cNvPr>
          <p:cNvSpPr txBox="1"/>
          <p:nvPr/>
        </p:nvSpPr>
        <p:spPr>
          <a:xfrm>
            <a:off x="457200" y="254000"/>
            <a:ext cx="112776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2600" b="1">
                <a:solidFill>
                  <a:srgbClr val="2D2D2D"/>
                </a:solidFill>
                <a:latin typeface="BIZ UDPGothic"/>
                <a:ea typeface="BIZ UDPGothic"/>
              </a:rPr>
              <a:t>17. </a:t>
            </a:r>
            <a:r>
              <a:rPr lang="ja-JP" altLang="en-US" sz="2600" b="1">
                <a:solidFill>
                  <a:srgbClr val="2D2D2D"/>
                </a:solidFill>
                <a:latin typeface="BIZ UDPGothic"/>
                <a:ea typeface="BIZ UDPGothic"/>
              </a:rPr>
              <a:t>総括</a:t>
            </a:r>
          </a:p>
        </p:txBody>
      </p:sp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F7BAB6C1-DBB5-4EDB-89C6-07046460B166}"/>
              </a:ext>
            </a:extLst>
          </p:cNvPr>
          <p:cNvSpPr/>
          <p:nvPr/>
        </p:nvSpPr>
        <p:spPr>
          <a:xfrm>
            <a:off x="457200" y="965200"/>
            <a:ext cx="11277600" cy="1143000"/>
          </a:xfrm>
          <a:prstGeom prst="roundRect">
            <a:avLst/>
          </a:prstGeom>
          <a:solidFill>
            <a:srgbClr val="F7F6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/>
          <a:lstStyle/>
          <a:p>
            <a:pPr algn="l"/>
            <a:r>
              <a:rPr lang="ja-JP" altLang="en-US" sz="1600">
                <a:solidFill>
                  <a:srgbClr val="2D2D2D"/>
                </a:solidFill>
                <a:latin typeface="BIZ UDPGothic"/>
                <a:ea typeface="BIZ UDPGothic"/>
              </a:rPr>
              <a:t>本プロジェクトは、提案・契約どおりの期間内に分析基盤および初期モデルを整備し、判定支援として実用性のある示唆（閾値運用案、運用前パイロット設計、データ品質管理方針）を提示した。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7AD8219-8138-48D8-91CE-C4B560C05F82}"/>
              </a:ext>
            </a:extLst>
          </p:cNvPr>
          <p:cNvSpPr txBox="1"/>
          <p:nvPr/>
        </p:nvSpPr>
        <p:spPr>
          <a:xfrm>
            <a:off x="457200" y="2260600"/>
            <a:ext cx="508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600" b="1">
                <a:solidFill>
                  <a:srgbClr val="A0332E"/>
                </a:solidFill>
                <a:latin typeface="BIZ UDPGothic"/>
                <a:ea typeface="BIZ UDPGothic"/>
              </a:rPr>
              <a:t>主要な成果と今後の方向性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466F83DC-BBD9-49F3-A9CC-0398C9F47247}"/>
              </a:ext>
            </a:extLst>
          </p:cNvPr>
          <p:cNvSpPr/>
          <p:nvPr/>
        </p:nvSpPr>
        <p:spPr>
          <a:xfrm>
            <a:off x="457200" y="2717800"/>
            <a:ext cx="3505200" cy="406400"/>
          </a:xfrm>
          <a:prstGeom prst="roundRect">
            <a:avLst/>
          </a:prstGeom>
          <a:solidFill>
            <a:srgbClr val="A033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zh-TW" altLang="en-US" sz="1400" b="1">
                <a:solidFill>
                  <a:srgbClr val="FFFFFF"/>
                </a:solidFill>
                <a:latin typeface="BIZ UDPGothic"/>
                <a:ea typeface="BIZ UDPGothic"/>
              </a:rPr>
              <a:t>内部検証結果</a:t>
            </a:r>
            <a:endParaRPr lang="ja-JP" altLang="en-US" sz="1400" b="1">
              <a:solidFill>
                <a:srgbClr val="FFFFFF"/>
              </a:solidFill>
              <a:latin typeface="BIZ UDPGothic"/>
              <a:ea typeface="BIZ UDPGothic"/>
            </a:endParaRP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B4C00D66-53A9-4A10-AC8F-A4CF5996F50E}"/>
              </a:ext>
            </a:extLst>
          </p:cNvPr>
          <p:cNvSpPr/>
          <p:nvPr/>
        </p:nvSpPr>
        <p:spPr>
          <a:xfrm>
            <a:off x="457200" y="3175000"/>
            <a:ext cx="3505200" cy="1270000"/>
          </a:xfrm>
          <a:prstGeom prst="roundRect">
            <a:avLst/>
          </a:prstGeom>
          <a:solidFill>
            <a:srgbClr val="F7F6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/>
          <a:lstStyle/>
          <a:p>
            <a:pPr algn="l"/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良好。スコア上位の患者を優先的にフォローする運用に即した施策が実行可能である。</a:t>
            </a: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F943B4C2-CC94-418D-9E95-D87AB5A7C643}"/>
              </a:ext>
            </a:extLst>
          </p:cNvPr>
          <p:cNvSpPr/>
          <p:nvPr/>
        </p:nvSpPr>
        <p:spPr>
          <a:xfrm>
            <a:off x="4267200" y="2717800"/>
            <a:ext cx="3505200" cy="406400"/>
          </a:xfrm>
          <a:prstGeom prst="roundRect">
            <a:avLst/>
          </a:prstGeom>
          <a:solidFill>
            <a:srgbClr val="5C5C5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ja-JP" altLang="en-US" sz="1400" b="1">
                <a:solidFill>
                  <a:srgbClr val="FFFFFF"/>
                </a:solidFill>
                <a:latin typeface="BIZ UDPGothic"/>
                <a:ea typeface="BIZ UDPGothic"/>
              </a:rPr>
              <a:t>実運用化の条件</a:t>
            </a:r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57DA182D-A9C9-407A-B949-CDEC8C508F41}"/>
              </a:ext>
            </a:extLst>
          </p:cNvPr>
          <p:cNvSpPr/>
          <p:nvPr/>
        </p:nvSpPr>
        <p:spPr>
          <a:xfrm>
            <a:off x="4267200" y="3175000"/>
            <a:ext cx="3505200" cy="1270000"/>
          </a:xfrm>
          <a:prstGeom prst="roundRect">
            <a:avLst/>
          </a:prstGeom>
          <a:solidFill>
            <a:srgbClr val="F7F6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/>
          <a:lstStyle/>
          <a:p>
            <a:pPr algn="l"/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外部検証やパイロットによる再確認、運用フローの整備が必須である。</a:t>
            </a: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F33D9B4F-5E3E-4B3E-A226-0078CBBE0B7C}"/>
              </a:ext>
            </a:extLst>
          </p:cNvPr>
          <p:cNvSpPr/>
          <p:nvPr/>
        </p:nvSpPr>
        <p:spPr>
          <a:xfrm>
            <a:off x="8077200" y="2717800"/>
            <a:ext cx="3505200" cy="406400"/>
          </a:xfrm>
          <a:prstGeom prst="roundRect">
            <a:avLst/>
          </a:prstGeom>
          <a:solidFill>
            <a:srgbClr val="38383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ja-JP" altLang="en-US" sz="1400" b="1">
                <a:solidFill>
                  <a:srgbClr val="FFFFFF"/>
                </a:solidFill>
                <a:latin typeface="BIZ UDPGothic"/>
                <a:ea typeface="BIZ UDPGothic"/>
              </a:rPr>
              <a:t>推奨アクション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B304B43C-87AD-4AAA-82AC-81ECF994127F}"/>
              </a:ext>
            </a:extLst>
          </p:cNvPr>
          <p:cNvSpPr/>
          <p:nvPr/>
        </p:nvSpPr>
        <p:spPr>
          <a:xfrm>
            <a:off x="8077200" y="3175000"/>
            <a:ext cx="3505200" cy="1270000"/>
          </a:xfrm>
          <a:prstGeom prst="roundRect">
            <a:avLst/>
          </a:prstGeom>
          <a:solidFill>
            <a:srgbClr val="F7F6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/>
          <a:lstStyle/>
          <a:p>
            <a:pPr algn="l"/>
            <a:r>
              <a:rPr lang="ja-JP" altLang="en-US" sz="1400">
                <a:solidFill>
                  <a:srgbClr val="4A4A4A"/>
                </a:solidFill>
                <a:latin typeface="BIZ UDPGothic"/>
                <a:ea typeface="BIZ UDPGothic"/>
              </a:rPr>
              <a:t>運用パイロット→評価→本番化の順で進めることを推奨する。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1C3B690B-F3E9-4F61-850D-A2053EB6ACBB}"/>
              </a:ext>
            </a:extLst>
          </p:cNvPr>
          <p:cNvSpPr txBox="1"/>
          <p:nvPr/>
        </p:nvSpPr>
        <p:spPr>
          <a:xfrm>
            <a:off x="457200" y="4648200"/>
            <a:ext cx="508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600" b="1">
                <a:solidFill>
                  <a:srgbClr val="A0332E"/>
                </a:solidFill>
                <a:latin typeface="BIZ UDPGothic"/>
                <a:ea typeface="BIZ UDPGothic"/>
              </a:rPr>
              <a:t>推奨する次のステップ</a:t>
            </a: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BFCAB40B-EAA0-4A6E-B48A-D6E7D4EF0A27}"/>
              </a:ext>
            </a:extLst>
          </p:cNvPr>
          <p:cNvSpPr/>
          <p:nvPr/>
        </p:nvSpPr>
        <p:spPr>
          <a:xfrm>
            <a:off x="457200" y="5080000"/>
            <a:ext cx="2667000" cy="711200"/>
          </a:xfrm>
          <a:prstGeom prst="roundRect">
            <a:avLst/>
          </a:prstGeom>
          <a:solidFill>
            <a:srgbClr val="A033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ja-JP" altLang="en-US" sz="1400" b="1">
                <a:solidFill>
                  <a:srgbClr val="FFFFFF"/>
                </a:solidFill>
                <a:latin typeface="BIZ UDPGothic"/>
                <a:ea typeface="BIZ UDPGothic"/>
              </a:rPr>
              <a:t>運用パイロット
実施</a:t>
            </a:r>
          </a:p>
        </p:txBody>
      </p:sp>
      <p:sp>
        <p:nvSpPr>
          <p:cNvPr id="13" name="矢印: 右 12">
            <a:extLst>
              <a:ext uri="{FF2B5EF4-FFF2-40B4-BE49-F238E27FC236}">
                <a16:creationId xmlns:a16="http://schemas.microsoft.com/office/drawing/2014/main" id="{B5A9546B-A43F-449F-B2B3-B8F122848BAE}"/>
              </a:ext>
            </a:extLst>
          </p:cNvPr>
          <p:cNvSpPr/>
          <p:nvPr/>
        </p:nvSpPr>
        <p:spPr>
          <a:xfrm>
            <a:off x="3175000" y="5334000"/>
            <a:ext cx="177800" cy="177800"/>
          </a:xfrm>
          <a:prstGeom prst="rightArrow">
            <a:avLst/>
          </a:prstGeom>
          <a:solidFill>
            <a:srgbClr val="D4CF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60F2086C-DB78-44C6-9EED-B73F54D0B8EE}"/>
              </a:ext>
            </a:extLst>
          </p:cNvPr>
          <p:cNvSpPr/>
          <p:nvPr/>
        </p:nvSpPr>
        <p:spPr>
          <a:xfrm>
            <a:off x="3378200" y="5080000"/>
            <a:ext cx="2667000" cy="711200"/>
          </a:xfrm>
          <a:prstGeom prst="roundRect">
            <a:avLst/>
          </a:prstGeom>
          <a:solidFill>
            <a:srgbClr val="5C5C5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ja-JP" altLang="en-US" sz="1400" b="1">
                <a:solidFill>
                  <a:srgbClr val="FFFFFF"/>
                </a:solidFill>
                <a:latin typeface="BIZ UDPGothic"/>
                <a:ea typeface="BIZ UDPGothic"/>
              </a:rPr>
              <a:t>精度・業務負荷
評価</a:t>
            </a:r>
          </a:p>
        </p:txBody>
      </p:sp>
      <p:sp>
        <p:nvSpPr>
          <p:cNvPr id="15" name="矢印: 右 14">
            <a:extLst>
              <a:ext uri="{FF2B5EF4-FFF2-40B4-BE49-F238E27FC236}">
                <a16:creationId xmlns:a16="http://schemas.microsoft.com/office/drawing/2014/main" id="{AD3F66E9-857D-4F9E-989C-E821942683A9}"/>
              </a:ext>
            </a:extLst>
          </p:cNvPr>
          <p:cNvSpPr/>
          <p:nvPr/>
        </p:nvSpPr>
        <p:spPr>
          <a:xfrm>
            <a:off x="6096000" y="5334000"/>
            <a:ext cx="177800" cy="177800"/>
          </a:xfrm>
          <a:prstGeom prst="rightArrow">
            <a:avLst/>
          </a:prstGeom>
          <a:solidFill>
            <a:srgbClr val="D4CF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16" name="四角形: 角を丸くする 15">
            <a:extLst>
              <a:ext uri="{FF2B5EF4-FFF2-40B4-BE49-F238E27FC236}">
                <a16:creationId xmlns:a16="http://schemas.microsoft.com/office/drawing/2014/main" id="{469DC54D-4C27-48C7-BF61-C11D4B4A4B9E}"/>
              </a:ext>
            </a:extLst>
          </p:cNvPr>
          <p:cNvSpPr/>
          <p:nvPr/>
        </p:nvSpPr>
        <p:spPr>
          <a:xfrm>
            <a:off x="6299200" y="5080000"/>
            <a:ext cx="2667000" cy="711200"/>
          </a:xfrm>
          <a:prstGeom prst="roundRect">
            <a:avLst/>
          </a:prstGeom>
          <a:solidFill>
            <a:srgbClr val="5C5C5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ja-JP" altLang="en-US" sz="1400" b="1">
                <a:solidFill>
                  <a:srgbClr val="FFFFFF"/>
                </a:solidFill>
                <a:latin typeface="BIZ UDPGothic"/>
                <a:ea typeface="BIZ UDPGothic"/>
              </a:rPr>
              <a:t>閾値最終
チューニング</a:t>
            </a:r>
          </a:p>
        </p:txBody>
      </p:sp>
      <p:sp>
        <p:nvSpPr>
          <p:cNvPr id="17" name="矢印: 右 16">
            <a:extLst>
              <a:ext uri="{FF2B5EF4-FFF2-40B4-BE49-F238E27FC236}">
                <a16:creationId xmlns:a16="http://schemas.microsoft.com/office/drawing/2014/main" id="{86F8FF8F-85EE-423C-84F1-BEE389F8829D}"/>
              </a:ext>
            </a:extLst>
          </p:cNvPr>
          <p:cNvSpPr/>
          <p:nvPr/>
        </p:nvSpPr>
        <p:spPr>
          <a:xfrm>
            <a:off x="9017000" y="5334000"/>
            <a:ext cx="177800" cy="177800"/>
          </a:xfrm>
          <a:prstGeom prst="rightArrow">
            <a:avLst/>
          </a:prstGeom>
          <a:solidFill>
            <a:srgbClr val="D4CF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029CA533-308F-407D-BDA4-FAA17234C4BA}"/>
              </a:ext>
            </a:extLst>
          </p:cNvPr>
          <p:cNvSpPr/>
          <p:nvPr/>
        </p:nvSpPr>
        <p:spPr>
          <a:xfrm>
            <a:off x="9220200" y="5080000"/>
            <a:ext cx="2667000" cy="711200"/>
          </a:xfrm>
          <a:prstGeom prst="roundRect">
            <a:avLst/>
          </a:prstGeom>
          <a:solidFill>
            <a:srgbClr val="38383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ja-JP" altLang="en-US" sz="1400" b="1">
                <a:solidFill>
                  <a:srgbClr val="FFFFFF"/>
                </a:solidFill>
                <a:latin typeface="BIZ UDPGothic"/>
                <a:ea typeface="BIZ UDPGothic"/>
              </a:rPr>
              <a:t>本番化検討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DCFB1052-8A72-44D7-8920-317D27A1DE57}"/>
              </a:ext>
            </a:extLst>
          </p:cNvPr>
          <p:cNvSpPr txBox="1"/>
          <p:nvPr/>
        </p:nvSpPr>
        <p:spPr>
          <a:xfrm>
            <a:off x="457200" y="5969000"/>
            <a:ext cx="112776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400">
                <a:solidFill>
                  <a:srgbClr val="8C8C8C"/>
                </a:solidFill>
                <a:latin typeface="BIZ UDPGothic"/>
                <a:ea typeface="BIZ UDPGothic"/>
              </a:rPr>
              <a:t>ご不明点や追加の検証依頼があれば、会議にてご指示ください。</a:t>
            </a:r>
          </a:p>
        </p:txBody>
      </p:sp>
    </p:spTree>
    <p:extLst>
      <p:ext uri="{BB962C8B-B14F-4D97-AF65-F5344CB8AC3E}">
        <p14:creationId xmlns:p14="http://schemas.microsoft.com/office/powerpoint/2010/main" val="18838727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 [1774958842068]">
  <a:themeElements>
    <a:clrScheme name="KaedeReport">
      <a:dk1>
        <a:srgbClr val="2D2D2D"/>
      </a:dk1>
      <a:lt1>
        <a:srgbClr val="FFFFFF"/>
      </a:lt1>
      <a:dk2>
        <a:srgbClr val="4A4A4A"/>
      </a:dk2>
      <a:lt2>
        <a:srgbClr val="F2F0ED"/>
      </a:lt2>
      <a:accent1>
        <a:srgbClr val="A0332E"/>
      </a:accent1>
      <a:accent2>
        <a:srgbClr val="5C5C5C"/>
      </a:accent2>
      <a:accent3>
        <a:srgbClr val="8C8C8C"/>
      </a:accent3>
      <a:accent4>
        <a:srgbClr val="C45B4E"/>
      </a:accent4>
      <a:accent5>
        <a:srgbClr val="383838"/>
      </a:accent5>
      <a:accent6>
        <a:srgbClr val="D4CFC8"/>
      </a:accent6>
      <a:hlink>
        <a:srgbClr val="467886"/>
      </a:hlink>
      <a:folHlink>
        <a:srgbClr val="96607D"/>
      </a:folHlink>
    </a:clrScheme>
    <a:fontScheme name="KaedeFont">
      <a:majorFont>
        <a:latin typeface="BIZ UDPGothic" panose="02110004020202020204"/>
        <a:ea typeface="BIZ UDPGothic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BIZ UDPGothic" panose="02110004020202020204"/>
        <a:ea typeface="BIZ UDPGothic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0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CF49711-E115-419F-A70D-E271F7912228}">
  <we:reference id="WA200010001" version="1.0.0.1" store="Omex" storeType="OMEX"/>
  <we:alternateReferences>
    <we:reference id="WA200010001" version="1.0.0.1" store="WA200010001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796</TotalTime>
  <Words>2873</Words>
  <Application>Microsoft Office PowerPoint</Application>
  <PresentationFormat>ワイド画面</PresentationFormat>
  <Paragraphs>317</Paragraphs>
  <Slides>18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18</vt:i4>
      </vt:variant>
    </vt:vector>
  </HeadingPairs>
  <TitlesOfParts>
    <vt:vector size="22" baseType="lpstr">
      <vt:lpstr>游ゴシック</vt:lpstr>
      <vt:lpstr>Arial</vt:lpstr>
      <vt:lpstr>BIZ UDPゴシック</vt:lpstr>
      <vt:lpstr>Office テーマ [1774958842068]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h.ikeshita</dc:creator>
  <cp:lastModifiedBy>h.ikeshita</cp:lastModifiedBy>
  <cp:revision>4</cp:revision>
  <dcterms:created xsi:type="dcterms:W3CDTF">2026-03-31T12:06:09Z</dcterms:created>
  <dcterms:modified xsi:type="dcterms:W3CDTF">2026-04-01T02:51:34Z</dcterms:modified>
</cp:coreProperties>
</file>