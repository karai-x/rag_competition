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278" r:id="rId3"/>
    <p:sldId id="260" r:id="rId4"/>
    <p:sldId id="279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6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C29B4-4299-4228-8F17-B06AD5EEE0B2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3023D-F302-4DCB-9AF5-B753CB6AB2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235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567488-030B-82C7-062A-4D01E7078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EAB26C-1F5A-35B1-A5DD-ACF6D252C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2D5670-C32F-9386-006B-86125208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95315D-9389-CEDB-2049-C2C2914B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3FE050-FB5A-17B2-606F-1DDF59E6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83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ED6F0-E129-BDAD-FED7-BEC249CC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63F4F3-9820-9430-4598-9C82B1182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320AD8-703C-9238-4006-21A0220B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5DF665-CFB4-3E3A-8382-EFD5D774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22A04B-C6DB-3B90-FF0C-3D68D050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01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214511-E372-0A89-F806-2D433FF4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B51CA5-B1C9-1AB2-F1E0-3FDB3B4F9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32A946-6042-8FAF-2114-E1293926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2404DD-DB2E-4EEA-3435-A2EBE90A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9CDC74-53A5-9F28-9A0C-83CC348F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335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44E60-2AFA-A28C-55DB-14B083B7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29F413-7C5F-1F0F-E3AA-C8337DA8A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76035C-4D7F-22A9-9208-6AD938B79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35391F-5A19-7E04-B1A2-8F3B2EAD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92DBD1-8C7B-B90B-45D5-322B8AFA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B6F2C9-F1AD-1313-BB70-D455FE90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09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A5B04-42E4-A838-7986-95BA5DD3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15C079-7F1C-3560-1A0C-FFBFFB7B3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E3005C-6957-45DB-7F82-6FC26338C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43294D-951E-16D0-E583-937B88F60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FF49A79-AF87-F727-5759-FC0499069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E893F7-5AC8-8598-D4CF-9096E7FC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96514B1-E9E7-8337-3A34-9CD80746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DB4E03-EE17-9A79-24B6-747E4DE5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6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51001-0AAD-0779-0C13-31FB85D6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C73525-E890-9F8E-DC75-64303CF6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400DC5-D4BC-B7A9-E71D-0078036F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A350A5-C156-C4F5-B6FA-AEADF6C3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76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E58947-561D-8ECE-3C5C-B05CE949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4EFE93-8FF1-6522-7998-6839A779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1507BA-841E-DAA6-A68B-2B801D53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21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DA8DD-C926-63A4-B7C0-FBF467E9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D6816C-BC4C-A199-511C-7B5820A8B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EDD147-E34A-02C5-C99C-4F6BA7AE7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899CCC-5515-7D8D-A3C9-ED65A78C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971903-570C-A1F2-B37C-FC968567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EAA1C2-00D5-EC80-9C2A-B0A51892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6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28533-6E83-3155-1CDC-C5F796A5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82C754-0B2A-D1E8-6F65-F84EDB6BF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58B098-F81B-D51A-AD5A-C8408E2E0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A3F902-D623-95B6-FDC2-728CE64F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7037CB-C79D-DBEB-12AA-F6D2351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1E4028-6E9A-76E3-06E7-0D8A4D36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57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5A11E-A64A-0C0D-4F77-CABD3039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5FE284-7AA3-E488-B38C-49B2D44BF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86FEB1-6CDB-5FA5-4EBD-7159BC6A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EE7FA0-FBA8-37B3-81B8-BA42348D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4C0329-36AF-E639-D062-098B34E2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07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D71FD0D-F232-4BD2-6BCC-89EE55F5A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7B8B7D-D749-4877-6DC3-566CFD7D4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0D2A20-7FCB-B71F-0056-7AB5226A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4B2882-682F-3881-494D-123AA062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37D5F9-D1CF-C45C-EC98-0C7255CD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0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9DECB2-4857-EFB9-E327-1500E0DF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5F46EE-A6EA-4E32-ACC6-93DFF1872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486562-B615-C2E2-E0BE-4AEDA265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F418E7-30BE-3579-C406-CC9717167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5081A4-B545-9EDB-1AE4-45807E7A8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A0332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1" name="TopAccentLine"/>
          <p:cNvSpPr/>
          <p:nvPr userDrawn="1"/>
        </p:nvSpPr>
        <p:spPr>
          <a:xfrm>
            <a:off x="457200" y="1143000"/>
            <a:ext cx="11277600" cy="0"/>
          </a:xfrm>
          <a:prstGeom prst="line">
            <a:avLst/>
          </a:prstGeom>
          <a:ln w="12700">
            <a:solidFill>
              <a:srgbClr val="D4CFC8"/>
            </a:solidFill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84503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2D2D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F58AB5-00B6-42B3-9EC4-C4372D94FAB6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E994D3-82B6-4D04-AF2B-20A110E10814}"/>
              </a:ext>
            </a:extLst>
          </p:cNvPr>
          <p:cNvSpPr txBox="1"/>
          <p:nvPr/>
        </p:nvSpPr>
        <p:spPr>
          <a:xfrm>
            <a:off x="304800" y="1524000"/>
            <a:ext cx="355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000" b="1">
                <a:solidFill>
                  <a:srgbClr val="FFFFFF"/>
                </a:solidFill>
                <a:latin typeface="BIZ UDPGothic"/>
                <a:ea typeface="BIZ UDPGothic"/>
              </a:rPr>
              <a:t>最終分析報告書</a:t>
            </a:r>
            <a:endParaRPr lang="ja-JP" altLang="en-US" sz="30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5C7D30-217A-4C4F-8E6F-7BAA8B2E42BE}"/>
              </a:ext>
            </a:extLst>
          </p:cNvPr>
          <p:cNvSpPr txBox="1"/>
          <p:nvPr/>
        </p:nvSpPr>
        <p:spPr>
          <a:xfrm>
            <a:off x="4572000" y="2032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肝疾患有無予測分析プロジェクト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C755A2-4750-4894-88FF-D9CA6B6FAC0B}"/>
              </a:ext>
            </a:extLst>
          </p:cNvPr>
          <p:cNvSpPr txBox="1"/>
          <p:nvPr/>
        </p:nvSpPr>
        <p:spPr>
          <a:xfrm>
            <a:off x="4572000" y="2921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4A4A4A"/>
                </a:solidFill>
                <a:latin typeface="BIZ UDPGothic"/>
                <a:ea typeface="BIZ UDPGothic"/>
              </a:rPr>
              <a:t>医療法人社団 恒一会 かえで総合病院 御中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B93100-185E-4719-9C52-05A78552F437}"/>
              </a:ext>
            </a:extLst>
          </p:cNvPr>
          <p:cNvSpPr txBox="1"/>
          <p:nvPr/>
        </p:nvSpPr>
        <p:spPr>
          <a:xfrm>
            <a:off x="4572000" y="3683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4A4A4A"/>
                </a:solidFill>
                <a:latin typeface="BIZ UDPGothic"/>
                <a:ea typeface="BIZ UDPGothic"/>
              </a:rPr>
              <a:t>株式会社データアステル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D6952F-2C4F-4E3D-9172-6C3806133C9E}"/>
              </a:ext>
            </a:extLst>
          </p:cNvPr>
          <p:cNvSpPr txBox="1"/>
          <p:nvPr/>
        </p:nvSpPr>
        <p:spPr>
          <a:xfrm>
            <a:off x="4572000" y="4572000"/>
            <a:ext cx="711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契約期間：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2025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9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2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日 開始（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5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週間）
実績工数：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140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時間
最終請求金額（税込）：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3,850,000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円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1C8423-145B-421A-9F3B-ADA8C241C1D1}"/>
              </a:ext>
            </a:extLst>
          </p:cNvPr>
          <p:cNvSpPr/>
          <p:nvPr/>
        </p:nvSpPr>
        <p:spPr>
          <a:xfrm>
            <a:off x="4572000" y="4318000"/>
            <a:ext cx="25400" cy="15240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6777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433668" y="1292038"/>
            <a:ext cx="11277600" cy="471543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endParaRPr lang="ja-JP" altLang="en-US" sz="800" dirty="0">
              <a:latin typeface="BIZ UDPGothic"/>
              <a:ea typeface="BIZ UDPGothic"/>
            </a:endParaRPr>
          </a:p>
          <a:p>
            <a:pPr algn="l"/>
            <a:r>
              <a:rPr lang="ja-JP" altLang="en-US" sz="1400" b="1" dirty="0">
                <a:solidFill>
                  <a:srgbClr val="A0332E"/>
                </a:solidFill>
                <a:latin typeface="BIZ UDPGothic"/>
                <a:ea typeface="BIZ UDPGothic"/>
              </a:rPr>
              <a:t>ビジネス成果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肝疾患リスク把握を支援する分析基盤と運用判断材料を納品。業務での閾値運用案と導入前検証要件を提示。</a:t>
            </a:r>
          </a:p>
          <a:p>
            <a:pPr algn="l"/>
            <a:endParaRPr lang="ja-JP" altLang="en-US" sz="800" dirty="0">
              <a:latin typeface="BIZ UDPGothic"/>
              <a:ea typeface="BIZ UDPGothic"/>
            </a:endParaRPr>
          </a:p>
          <a:p>
            <a:pPr algn="l"/>
            <a:r>
              <a:rPr lang="ja-JP" altLang="en-US" sz="1400" b="1" dirty="0">
                <a:solidFill>
                  <a:srgbClr val="A0332E"/>
                </a:solidFill>
                <a:latin typeface="BIZ UDPGothic"/>
                <a:ea typeface="BIZ UDPGothic"/>
              </a:rPr>
              <a:t>分析成果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最終モデル：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hist_gradient_boosting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（特徴量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10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）</a:t>
            </a:r>
          </a:p>
          <a:p>
            <a:pPr algn="l"/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AUC-ROC = 0.905 / Accuracy = 0.833 / F1-macro = 0.829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中間段階の線形系試行（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T04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等）から性能改善を確認。</a:t>
            </a:r>
          </a:p>
          <a:p>
            <a:pPr algn="l"/>
            <a:endParaRPr lang="ja-JP" altLang="en-US" sz="800" dirty="0">
              <a:latin typeface="BIZ UDPGothic"/>
              <a:ea typeface="BIZ UDPGothic"/>
            </a:endParaRPr>
          </a:p>
          <a:p>
            <a:pPr algn="l"/>
            <a:r>
              <a:rPr lang="ja-JP" altLang="en-US" sz="1400" b="1" dirty="0">
                <a:solidFill>
                  <a:srgbClr val="A0332E"/>
                </a:solidFill>
                <a:latin typeface="BIZ UDPGothic"/>
                <a:ea typeface="BIZ UDPGothic"/>
              </a:rPr>
              <a:t>契約・商流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料金体系：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Time &amp; Materials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実績工数：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140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時間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最終請求金額（税込）：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3,850,000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円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（税率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、検収完了に基づく精算）</a:t>
            </a:r>
          </a:p>
          <a:p>
            <a:pPr algn="l"/>
            <a:endParaRPr lang="ja-JP" altLang="en-US" sz="800" dirty="0">
              <a:latin typeface="BIZ UDPGothic"/>
              <a:ea typeface="BIZ UDPGothic"/>
            </a:endParaRPr>
          </a:p>
          <a:p>
            <a:pPr algn="l"/>
            <a:r>
              <a:rPr lang="ja-JP" altLang="en-US" sz="1400" dirty="0">
                <a:solidFill>
                  <a:srgbClr val="8C8C8C"/>
                </a:solidFill>
                <a:latin typeface="BIZ UDPGothic"/>
                <a:ea typeface="BIZ UDPGothic"/>
              </a:rPr>
              <a:t>本報告は、提案書・契約書・スケジュール・議事録（</a:t>
            </a:r>
            <a:r>
              <a:rPr lang="en-US" altLang="ja-JP" sz="1400" dirty="0">
                <a:solidFill>
                  <a:srgbClr val="8C8C8C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 dirty="0">
                <a:solidFill>
                  <a:srgbClr val="8C8C8C"/>
                </a:solidFill>
                <a:latin typeface="BIZ UDPGothic"/>
                <a:ea typeface="BIZ UDPGothic"/>
              </a:rPr>
              <a:t>）・中間報告・分析出力との整合を保ち、事実と仮定を明確に区分して記載している。</a:t>
            </a:r>
          </a:p>
          <a:p>
            <a:pPr algn="l"/>
            <a:endParaRPr lang="ja-JP" altLang="en-US" sz="800" dirty="0">
              <a:latin typeface="BIZ UDPGothic"/>
              <a:ea typeface="BIZ UDPGothic"/>
            </a:endParaRPr>
          </a:p>
          <a:p>
            <a:pPr algn="l"/>
            <a:r>
              <a:rPr lang="zh-TW" altLang="en-US" sz="1400" b="1" dirty="0">
                <a:solidFill>
                  <a:srgbClr val="A0332E"/>
                </a:solidFill>
                <a:latin typeface="BIZ UDPGothic"/>
                <a:ea typeface="BIZ UDPGothic"/>
              </a:rPr>
              <a:t>主要指標（内部検証値）</a:t>
            </a:r>
          </a:p>
          <a:p>
            <a:pPr algn="l"/>
            <a:r>
              <a:rPr lang="en-US" altLang="ja-JP" sz="1400" b="1" dirty="0">
                <a:solidFill>
                  <a:srgbClr val="A0332E"/>
                </a:solidFill>
                <a:latin typeface="BIZ UDPGothic"/>
                <a:ea typeface="BIZ UDPGothic"/>
              </a:rPr>
              <a:t>AUC-ROC: 0.905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　｜　</a:t>
            </a:r>
            <a:r>
              <a:rPr lang="en-US" altLang="ja-JP" sz="1400" b="1" dirty="0">
                <a:solidFill>
                  <a:srgbClr val="A0332E"/>
                </a:solidFill>
                <a:latin typeface="BIZ UDPGothic"/>
                <a:ea typeface="BIZ UDPGothic"/>
              </a:rPr>
              <a:t>Accuracy: 0.833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　｜　</a:t>
            </a:r>
            <a:r>
              <a:rPr lang="en-US" altLang="ja-JP" sz="1400" b="1" dirty="0">
                <a:solidFill>
                  <a:srgbClr val="A0332E"/>
                </a:solidFill>
                <a:latin typeface="BIZ UDPGothic"/>
                <a:ea typeface="BIZ UDPGothic"/>
              </a:rPr>
              <a:t>F1-macro: 0.829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　｜　</a:t>
            </a:r>
            <a:r>
              <a:rPr lang="en-US" altLang="ja-JP" sz="1400" b="1" dirty="0">
                <a:solidFill>
                  <a:srgbClr val="A0332E"/>
                </a:solidFill>
                <a:latin typeface="BIZ UDPGothic"/>
                <a:ea typeface="BIZ UDPGothic"/>
              </a:rPr>
              <a:t>Precision@10%: 0.971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4D504A-3768-5AB6-67E1-862F8CD05C19}"/>
              </a:ext>
            </a:extLst>
          </p:cNvPr>
          <p:cNvSpPr txBox="1"/>
          <p:nvPr/>
        </p:nvSpPr>
        <p:spPr>
          <a:xfrm>
            <a:off x="457200" y="442259"/>
            <a:ext cx="112776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ja-JP" sz="2600" b="1" dirty="0">
                <a:solidFill>
                  <a:srgbClr val="2D2D2D"/>
                </a:solidFill>
                <a:ea typeface="BIZ UDPGothic"/>
              </a:rPr>
              <a:t>1. </a:t>
            </a:r>
            <a:r>
              <a:rPr lang="ja-JP" altLang="en-US" sz="2600" b="1" dirty="0">
                <a:solidFill>
                  <a:srgbClr val="2D2D2D"/>
                </a:solidFill>
                <a:ea typeface="BIZ UDPGothic"/>
              </a:rPr>
              <a:t>エグゼクティブサマリ</a:t>
            </a:r>
          </a:p>
        </p:txBody>
      </p:sp>
    </p:spTree>
    <p:extLst>
      <p:ext uri="{BB962C8B-B14F-4D97-AF65-F5344CB8AC3E}">
        <p14:creationId xmlns:p14="http://schemas.microsoft.com/office/powerpoint/2010/main" val="240929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D2F25A-ED75-4E69-84F9-FD353B94362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 dirty="0">
                <a:solidFill>
                  <a:srgbClr val="2D2D2D"/>
                </a:solidFill>
                <a:latin typeface="BIZ UDPGothic"/>
                <a:ea typeface="BIZ UDPGothic"/>
              </a:rPr>
              <a:t>2. </a:t>
            </a:r>
            <a:r>
              <a:rPr lang="ja-JP" altLang="en-US" sz="2600" b="1" dirty="0">
                <a:solidFill>
                  <a:srgbClr val="2D2D2D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C192B85-0082-4F05-BBC3-D32B008559F5}"/>
              </a:ext>
            </a:extLst>
          </p:cNvPr>
          <p:cNvSpPr/>
          <p:nvPr/>
        </p:nvSpPr>
        <p:spPr>
          <a:xfrm>
            <a:off x="457200" y="1016000"/>
            <a:ext cx="5461000" cy="457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目的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6BF64FC-1A69-4B40-8664-8A3CDAC076FD}"/>
              </a:ext>
            </a:extLst>
          </p:cNvPr>
          <p:cNvSpPr/>
          <p:nvPr/>
        </p:nvSpPr>
        <p:spPr>
          <a:xfrm>
            <a:off x="457200" y="1524000"/>
            <a:ext cx="5461000" cy="1524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train.csv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の患者属性および検査値から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disease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0/1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）を予測する分析基盤と初期予測モデルの整備
● 結果は診断の代替ではなく、業務上の判定支援・導入判断材料として提供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5E1606E-858A-4433-911E-BD72E5E190BF}"/>
              </a:ext>
            </a:extLst>
          </p:cNvPr>
          <p:cNvSpPr/>
          <p:nvPr/>
        </p:nvSpPr>
        <p:spPr>
          <a:xfrm>
            <a:off x="6273800" y="1016000"/>
            <a:ext cx="5461000" cy="457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スコープ（対象）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9F63112-FE28-42BC-AA68-9869C01283D7}"/>
              </a:ext>
            </a:extLst>
          </p:cNvPr>
          <p:cNvSpPr/>
          <p:nvPr/>
        </p:nvSpPr>
        <p:spPr>
          <a:xfrm>
            <a:off x="6273800" y="1524000"/>
            <a:ext cx="5461000" cy="1524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EDA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、前処理方針、特徴量選定
● モデル構築（候補比較）、評価
● 成果物：概要書、計画書、データ理解レポート、中間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最終報告書、議事録、スケジュール表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8E0BC46-4782-4E4B-9B8C-87DBEC48A075}"/>
              </a:ext>
            </a:extLst>
          </p:cNvPr>
          <p:cNvSpPr/>
          <p:nvPr/>
        </p:nvSpPr>
        <p:spPr>
          <a:xfrm>
            <a:off x="457200" y="3302000"/>
            <a:ext cx="11277600" cy="457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スコープ外（対象外）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8817DCB-17B6-4CFB-92FE-81C8AF1DF8A8}"/>
              </a:ext>
            </a:extLst>
          </p:cNvPr>
          <p:cNvSpPr/>
          <p:nvPr/>
        </p:nvSpPr>
        <p:spPr>
          <a:xfrm>
            <a:off x="4572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実運用
システム実装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BB17EB0-5C3F-452E-95A6-D076EA6ECDE4}"/>
              </a:ext>
            </a:extLst>
          </p:cNvPr>
          <p:cNvSpPr/>
          <p:nvPr/>
        </p:nvSpPr>
        <p:spPr>
          <a:xfrm>
            <a:off x="27178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電子カルテ
連携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8F1C0A-D845-4B4E-9450-5ECAEF5E0E7E}"/>
              </a:ext>
            </a:extLst>
          </p:cNvPr>
          <p:cNvSpPr/>
          <p:nvPr/>
        </p:nvSpPr>
        <p:spPr>
          <a:xfrm>
            <a:off x="49784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外部データ
取得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63E6310-2B50-4B2C-94CF-4592FFDFE9A0}"/>
              </a:ext>
            </a:extLst>
          </p:cNvPr>
          <p:cNvSpPr/>
          <p:nvPr/>
        </p:nvSpPr>
        <p:spPr>
          <a:xfrm>
            <a:off x="72390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継続運用基盤
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MLOps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）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7FAAF0C-E3F0-4DBC-9413-50D92F4A85E2}"/>
              </a:ext>
            </a:extLst>
          </p:cNvPr>
          <p:cNvSpPr/>
          <p:nvPr/>
        </p:nvSpPr>
        <p:spPr>
          <a:xfrm>
            <a:off x="94996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臨床診断の
最終決定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517CD3-28E1-46CE-935B-7D64DBD4A9D9}"/>
              </a:ext>
            </a:extLst>
          </p:cNvPr>
          <p:cNvSpPr txBox="1"/>
          <p:nvPr/>
        </p:nvSpPr>
        <p:spPr>
          <a:xfrm>
            <a:off x="457200" y="495300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（注）上記は提案書・契約書の記載と整合している。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60300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 txBox="1"/>
          <p:nvPr/>
        </p:nvSpPr>
        <p:spPr>
          <a:xfrm>
            <a:off x="457200" y="254000"/>
            <a:ext cx="11277600" cy="64008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3.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実施方法</a:t>
            </a:r>
          </a:p>
          <a:p>
            <a:pPr algn="l"/>
            <a:endParaRPr lang="ja-JP" altLang="en-US" sz="800">
              <a:latin typeface="BIZ UDPGothic"/>
              <a:ea typeface="BIZ UDPGothic"/>
            </a:endParaRPr>
          </a:p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実施方針</a:t>
            </a:r>
          </a:p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単一データソース前提で再現可能な手順を採用</a:t>
            </a:r>
          </a:p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説明可能性を重視し線形系と非線形モデルを比較</a:t>
            </a:r>
          </a:p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医療文脈での慎重な解釈を徹底</a:t>
            </a:r>
          </a:p>
          <a:p>
            <a:pPr algn="l"/>
            <a:endParaRPr lang="ja-JP" altLang="en-US" sz="800">
              <a:latin typeface="BIZ UDPGothic"/>
              <a:ea typeface="BIZ UDPGothic"/>
            </a:endParaRPr>
          </a:p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主な作業フロー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1.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キックオフ 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(M01)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スコープ・前提確定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2.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データ受領 読込検証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train.csv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3. EDA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分布・外れ値確認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4.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前処理設計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id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除外 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Gender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処理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5.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モデル試作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線形系比較試行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6.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改善・最終確定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hist_gradient_boosting</a:t>
            </a:r>
          </a:p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7.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最終報告書作成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 — 検収対応</a:t>
            </a:r>
          </a:p>
          <a:p>
            <a:pPr algn="l"/>
            <a:endParaRPr lang="ja-JP" altLang="en-US" sz="800">
              <a:latin typeface="BIZ UDPGothic"/>
              <a:ea typeface="BIZ UDPGothic"/>
            </a:endParaRPr>
          </a:p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再現性トレース</a:t>
            </a:r>
          </a:p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● 実験アーティファクト：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run_summary.json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metrics.json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experiments/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leaderboard.json</a:t>
            </a:r>
          </a:p>
          <a:p>
            <a:pPr algn="l"/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中間レビュー議事録：会議録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_2025-09-16.md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5877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E24D14-E653-46C3-B0B0-A00D4F8EA3D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データ概要と特徴量選定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3DDA9D-4C3E-4140-BA75-F9088087A866}"/>
              </a:ext>
            </a:extLst>
          </p:cNvPr>
          <p:cNvSpPr txBox="1"/>
          <p:nvPr/>
        </p:nvSpPr>
        <p:spPr>
          <a:xfrm>
            <a:off x="457200" y="914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データ基本情報（</a:t>
            </a:r>
            <a:r>
              <a:rPr lang="en-US" altLang="ja-JP" sz="1600" b="1">
                <a:solidFill>
                  <a:srgbClr val="A0332E"/>
                </a:solidFill>
                <a:latin typeface="BIZ UDPGothic"/>
                <a:ea typeface="BIZ UDPGothic"/>
              </a:rPr>
              <a:t>EDA</a:t>
            </a:r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出力）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B128901-3081-4508-894E-673257A7A3E4}"/>
              </a:ext>
            </a:extLst>
          </p:cNvPr>
          <p:cNvSpPr/>
          <p:nvPr/>
        </p:nvSpPr>
        <p:spPr>
          <a:xfrm>
            <a:off x="457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2CD81A-10A3-4CDE-99FD-5E09541FFB38}"/>
              </a:ext>
            </a:extLst>
          </p:cNvPr>
          <p:cNvSpPr txBox="1"/>
          <p:nvPr/>
        </p:nvSpPr>
        <p:spPr>
          <a:xfrm>
            <a:off x="457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3,500</a:t>
            </a:r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62164E-2461-4FDE-8ED8-90538F6097CE}"/>
              </a:ext>
            </a:extLst>
          </p:cNvPr>
          <p:cNvSpPr txBox="1"/>
          <p:nvPr/>
        </p:nvSpPr>
        <p:spPr>
          <a:xfrm>
            <a:off x="457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行数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3FFFF07-0AF5-48B8-9471-FCC51559FD50}"/>
              </a:ext>
            </a:extLst>
          </p:cNvPr>
          <p:cNvSpPr/>
          <p:nvPr/>
        </p:nvSpPr>
        <p:spPr>
          <a:xfrm>
            <a:off x="2489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E440A9-70B0-4DAD-AFD7-DD5AD6A2C1E6}"/>
              </a:ext>
            </a:extLst>
          </p:cNvPr>
          <p:cNvSpPr txBox="1"/>
          <p:nvPr/>
        </p:nvSpPr>
        <p:spPr>
          <a:xfrm>
            <a:off x="2489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12</a:t>
            </a:r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4898E8-BE39-402C-935E-DCA40E94238A}"/>
              </a:ext>
            </a:extLst>
          </p:cNvPr>
          <p:cNvSpPr txBox="1"/>
          <p:nvPr/>
        </p:nvSpPr>
        <p:spPr>
          <a:xfrm>
            <a:off x="2489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カラム数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60C85B0-A753-4AFA-BB34-6DAB4F2DCA46}"/>
              </a:ext>
            </a:extLst>
          </p:cNvPr>
          <p:cNvSpPr/>
          <p:nvPr/>
        </p:nvSpPr>
        <p:spPr>
          <a:xfrm>
            <a:off x="4521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F6294D3-E480-4477-B141-DEBF424741A6}"/>
              </a:ext>
            </a:extLst>
          </p:cNvPr>
          <p:cNvSpPr txBox="1"/>
          <p:nvPr/>
        </p:nvSpPr>
        <p:spPr>
          <a:xfrm>
            <a:off x="4521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なし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9B709F-B351-4221-8589-AB05D9D1AFE9}"/>
              </a:ext>
            </a:extLst>
          </p:cNvPr>
          <p:cNvSpPr txBox="1"/>
          <p:nvPr/>
        </p:nvSpPr>
        <p:spPr>
          <a:xfrm>
            <a:off x="4521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欠損値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6443007-A614-4353-8F64-B518D5EE508B}"/>
              </a:ext>
            </a:extLst>
          </p:cNvPr>
          <p:cNvSpPr/>
          <p:nvPr/>
        </p:nvSpPr>
        <p:spPr>
          <a:xfrm>
            <a:off x="6553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FDE3D3-688A-41DA-97EA-487FC092B60B}"/>
              </a:ext>
            </a:extLst>
          </p:cNvPr>
          <p:cNvSpPr txBox="1"/>
          <p:nvPr/>
        </p:nvSpPr>
        <p:spPr>
          <a:xfrm>
            <a:off x="6553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disease (0/1)</a:t>
            </a:r>
            <a:endParaRPr lang="ja-JP" altLang="en-US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AC588C-F0DA-4833-A7AA-F7A55BBAF984}"/>
              </a:ext>
            </a:extLst>
          </p:cNvPr>
          <p:cNvSpPr txBox="1"/>
          <p:nvPr/>
        </p:nvSpPr>
        <p:spPr>
          <a:xfrm>
            <a:off x="6553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目的変数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C983BF-5994-4408-B9A6-4DE6D51763DA}"/>
              </a:ext>
            </a:extLst>
          </p:cNvPr>
          <p:cNvSpPr txBox="1"/>
          <p:nvPr/>
        </p:nvSpPr>
        <p:spPr>
          <a:xfrm>
            <a:off x="457200" y="2476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特徴量選定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EA966E6-A219-433C-A4A3-65874A786207}"/>
              </a:ext>
            </a:extLst>
          </p:cNvPr>
          <p:cNvSpPr/>
          <p:nvPr/>
        </p:nvSpPr>
        <p:spPr>
          <a:xfrm>
            <a:off x="457200" y="2921000"/>
            <a:ext cx="2540000" cy="2921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0049151-06BC-414C-8E79-3571EF952B81}"/>
              </a:ext>
            </a:extLst>
          </p:cNvPr>
          <p:cNvSpPr txBox="1"/>
          <p:nvPr/>
        </p:nvSpPr>
        <p:spPr>
          <a:xfrm>
            <a:off x="457200" y="2946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全カラム（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12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列）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87813F-AA42-4DFA-AA96-DA7DBF3FE3A5}"/>
              </a:ext>
            </a:extLst>
          </p:cNvPr>
          <p:cNvSpPr txBox="1"/>
          <p:nvPr/>
        </p:nvSpPr>
        <p:spPr>
          <a:xfrm>
            <a:off x="584200" y="3302000"/>
            <a:ext cx="2286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 / Age / Gender
T_Bil / D_Bil / ALP
ALT_GPT / AST_GOT
TP / Alb / AG_ratio
disease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6FB98A29-35E3-490D-928D-1C22A37EC0ED}"/>
              </a:ext>
            </a:extLst>
          </p:cNvPr>
          <p:cNvSpPr/>
          <p:nvPr/>
        </p:nvSpPr>
        <p:spPr>
          <a:xfrm>
            <a:off x="3149600" y="4191000"/>
            <a:ext cx="508000" cy="254000"/>
          </a:xfrm>
          <a:prstGeom prst="rightArrow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EF9407B-0DD6-44D5-8E3B-EFBDFCF1B814}"/>
              </a:ext>
            </a:extLst>
          </p:cNvPr>
          <p:cNvSpPr/>
          <p:nvPr/>
        </p:nvSpPr>
        <p:spPr>
          <a:xfrm>
            <a:off x="3810000" y="3810000"/>
            <a:ext cx="1524000" cy="1016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特徴量
選定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CCD38537-6E08-49AB-991E-B9CF43D88375}"/>
              </a:ext>
            </a:extLst>
          </p:cNvPr>
          <p:cNvSpPr/>
          <p:nvPr/>
        </p:nvSpPr>
        <p:spPr>
          <a:xfrm>
            <a:off x="5486400" y="4191000"/>
            <a:ext cx="508000" cy="254000"/>
          </a:xfrm>
          <a:prstGeom prst="rightArrow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EBBA692-22D1-4BE2-B2E9-C1CE0EEAA163}"/>
              </a:ext>
            </a:extLst>
          </p:cNvPr>
          <p:cNvSpPr/>
          <p:nvPr/>
        </p:nvSpPr>
        <p:spPr>
          <a:xfrm>
            <a:off x="6146800" y="2921000"/>
            <a:ext cx="2794000" cy="228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70DCE84-5C32-4DD8-97F1-807CC534D3DF}"/>
              </a:ext>
            </a:extLst>
          </p:cNvPr>
          <p:cNvSpPr txBox="1"/>
          <p:nvPr/>
        </p:nvSpPr>
        <p:spPr>
          <a:xfrm>
            <a:off x="6146800" y="29464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選択特徴量（</a:t>
            </a:r>
            <a:r>
              <a:rPr lang="en-US" altLang="zh-TW" sz="1400" b="1">
                <a:solidFill>
                  <a:srgbClr val="2D2D2D"/>
                </a:solidFill>
                <a:latin typeface="BIZ UDPGothic"/>
                <a:ea typeface="BIZ UDPGothic"/>
              </a:rPr>
              <a:t>10</a:t>
            </a:r>
            <a:r>
              <a:rPr lang="zh-TW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列）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9D6889C-AED9-4CE7-89EF-A6E1C24196A4}"/>
              </a:ext>
            </a:extLst>
          </p:cNvPr>
          <p:cNvSpPr txBox="1"/>
          <p:nvPr/>
        </p:nvSpPr>
        <p:spPr>
          <a:xfrm>
            <a:off x="6273800" y="3302000"/>
            <a:ext cx="254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a-DK" altLang="ja-JP" sz="1400">
                <a:solidFill>
                  <a:srgbClr val="4A4A4A"/>
                </a:solidFill>
                <a:latin typeface="BIZ UDPGothic"/>
                <a:ea typeface="BIZ UDPGothic"/>
              </a:rPr>
              <a:t>Age / Gender
T_Bil / D_Bil / ALP
ALT_GPT / AST_GOT
TP / Alb / AG_ratio</a:t>
            </a:r>
            <a:endParaRPr lang="ja-JP" altLang="en-US" sz="1400">
              <a:solidFill>
                <a:srgbClr val="4A4A4A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6823F04-1E72-4CFA-9A39-0519686CF740}"/>
              </a:ext>
            </a:extLst>
          </p:cNvPr>
          <p:cNvSpPr/>
          <p:nvPr/>
        </p:nvSpPr>
        <p:spPr>
          <a:xfrm>
            <a:off x="9144000" y="3810000"/>
            <a:ext cx="2540000" cy="101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A033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FE86C7A-2B5F-45C1-8960-BE706C05CB9D}"/>
              </a:ext>
            </a:extLst>
          </p:cNvPr>
          <p:cNvSpPr txBox="1"/>
          <p:nvPr/>
        </p:nvSpPr>
        <p:spPr>
          <a:xfrm>
            <a:off x="9144000" y="3835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除外（</a:t>
            </a:r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1</a:t>
            </a:r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列）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260D51-2916-4B20-A0A8-467FCCD3A613}"/>
              </a:ext>
            </a:extLst>
          </p:cNvPr>
          <p:cNvSpPr txBox="1"/>
          <p:nvPr/>
        </p:nvSpPr>
        <p:spPr>
          <a:xfrm>
            <a:off x="9144000" y="4191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
</a:t>
            </a:r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identifier_like_name</a:t>
            </a:r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040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8DD925-968C-45E4-A906-6349AE544E6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5.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モデル比較結果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DDEC57-6289-4E5C-B76D-81A6E7B7B431}"/>
              </a:ext>
            </a:extLst>
          </p:cNvPr>
          <p:cNvSpPr txBox="1"/>
          <p:nvPr/>
        </p:nvSpPr>
        <p:spPr>
          <a:xfrm>
            <a:off x="457200" y="8128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Leaderboard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モデルの比較（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F1-macro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および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Accuracy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）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32224FA-A153-407D-A9FD-347BDFAB9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954600"/>
              </p:ext>
            </p:extLst>
          </p:nvPr>
        </p:nvGraphicFramePr>
        <p:xfrm>
          <a:off x="457200" y="1206500"/>
          <a:ext cx="6350000" cy="346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23081362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28095496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66634561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77642049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Rank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モデル種別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F1-macro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01809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0.8292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0.8329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30329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0.8278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0.8314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3088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26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0.8167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0.8186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4050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linear_baseline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3463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6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linear_baseline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0.7149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0.7300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81241"/>
                  </a:ext>
                </a:extLst>
              </a:tr>
            </a:tbl>
          </a:graphicData>
        </a:graphic>
      </p:graphicFrame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23D115D-0124-4A47-A9AD-216C5BCFB077}"/>
              </a:ext>
            </a:extLst>
          </p:cNvPr>
          <p:cNvSpPr/>
          <p:nvPr/>
        </p:nvSpPr>
        <p:spPr>
          <a:xfrm>
            <a:off x="7061200" y="1206500"/>
            <a:ext cx="4673600" cy="457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主要な知見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27BF603-FBE9-4DA9-9541-710DBC234115}"/>
              </a:ext>
            </a:extLst>
          </p:cNvPr>
          <p:cNvSpPr/>
          <p:nvPr/>
        </p:nvSpPr>
        <p:spPr>
          <a:xfrm>
            <a:off x="7061200" y="1714500"/>
            <a:ext cx="46736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● hist_gradient_boosting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位を独占し、最高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F1-macro=0.829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を達成
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random_forest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は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4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位（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F1=0.817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）で非線形系の優位性を確認
● 線形系（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linear_baseline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）は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F1=0.73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前後に留まり、非線形系との差は約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ポイント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A84240-9066-40D3-85B5-26610FDF7835}"/>
              </a:ext>
            </a:extLst>
          </p:cNvPr>
          <p:cNvSpPr txBox="1"/>
          <p:nvPr/>
        </p:nvSpPr>
        <p:spPr>
          <a:xfrm>
            <a:off x="457200" y="4762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データ分割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9E69A65-4396-4775-A99D-10CB52C22C5B}"/>
              </a:ext>
            </a:extLst>
          </p:cNvPr>
          <p:cNvSpPr/>
          <p:nvPr/>
        </p:nvSpPr>
        <p:spPr>
          <a:xfrm>
            <a:off x="457200" y="5080000"/>
            <a:ext cx="3429000" cy="9525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Train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2,450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70%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347A704-D20B-431C-9A1D-956FAAFED307}"/>
              </a:ext>
            </a:extLst>
          </p:cNvPr>
          <p:cNvSpPr/>
          <p:nvPr/>
        </p:nvSpPr>
        <p:spPr>
          <a:xfrm>
            <a:off x="4191000" y="5080000"/>
            <a:ext cx="3429000" cy="9525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Validation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350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1F95AD-8D3C-404C-B82D-F02A4C20D071}"/>
              </a:ext>
            </a:extLst>
          </p:cNvPr>
          <p:cNvSpPr/>
          <p:nvPr/>
        </p:nvSpPr>
        <p:spPr>
          <a:xfrm>
            <a:off x="7924800" y="5080000"/>
            <a:ext cx="3429000" cy="9525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Test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700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3041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C16113-3890-459D-AE7F-6070722AF0E7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6.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最終モデル性能指標と中間段階との比較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CCE9A74-37BD-4C91-A909-BCB76FC8ABA0}"/>
              </a:ext>
            </a:extLst>
          </p:cNvPr>
          <p:cNvSpPr/>
          <p:nvPr/>
        </p:nvSpPr>
        <p:spPr>
          <a:xfrm>
            <a:off x="3188073" y="5264522"/>
            <a:ext cx="5755341" cy="6604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ctr"/>
            <a:r>
              <a:rPr lang="ja-JP" altLang="en-US" sz="2000" dirty="0">
                <a:solidFill>
                  <a:srgbClr val="A0332E"/>
                </a:solidFill>
                <a:latin typeface="BIZ UDPGothic"/>
                <a:ea typeface="BIZ UDPGothic"/>
              </a:rPr>
              <a:t>非線形モデル採用により全指標で大幅向上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E6F88B2-B203-4E61-A80A-BA895CA7B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798826"/>
              </p:ext>
            </p:extLst>
          </p:nvPr>
        </p:nvGraphicFramePr>
        <p:xfrm>
          <a:off x="564777" y="1723839"/>
          <a:ext cx="112776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6989801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307696305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888140628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19458671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中間 (T04 linear)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最終 (hist_gradient_boosting)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改善幅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368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>
                          <a:solidFill>
                            <a:srgbClr val="2D2D2D"/>
                          </a:solidFill>
                          <a:latin typeface="BIZ UDPGothic"/>
                          <a:ea typeface="BIZ UDPGothic"/>
                        </a:rPr>
                        <a:t>AUC-ROC</a:t>
                      </a:r>
                    </a:p>
                  </a:txBody>
                  <a:tcPr anchor="ctr"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0.905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+0.080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199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>
                          <a:solidFill>
                            <a:srgbClr val="2D2D2D"/>
                          </a:solidFill>
                          <a:latin typeface="BIZ UDPGothic"/>
                          <a:ea typeface="BIZ UDPGothic"/>
                        </a:rPr>
                        <a:t>F1-macro</a:t>
                      </a:r>
                    </a:p>
                  </a:txBody>
                  <a:tcPr anchor="ctr"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+0.096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66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>
                          <a:solidFill>
                            <a:srgbClr val="2D2D2D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2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dirty="0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+0.097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03861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052AE6-6B7E-43C3-B73D-0F15B756150B}"/>
              </a:ext>
            </a:extLst>
          </p:cNvPr>
          <p:cNvSpPr txBox="1"/>
          <p:nvPr/>
        </p:nvSpPr>
        <p:spPr>
          <a:xfrm>
            <a:off x="457200" y="1263278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2D2D2D"/>
                </a:solidFill>
                <a:latin typeface="BIZ UDPGothic"/>
                <a:ea typeface="BIZ UDPGothic"/>
              </a:rPr>
              <a:t>中間段階 </a:t>
            </a:r>
            <a:r>
              <a:rPr lang="en-US" altLang="ja-JP" sz="1600" b="1" dirty="0">
                <a:solidFill>
                  <a:srgbClr val="2D2D2D"/>
                </a:solidFill>
                <a:latin typeface="BIZ UDPGothic"/>
                <a:ea typeface="BIZ UDPGothic"/>
              </a:rPr>
              <a:t>vs </a:t>
            </a:r>
            <a:r>
              <a:rPr lang="ja-JP" altLang="en-US" sz="1600" b="1" dirty="0">
                <a:solidFill>
                  <a:srgbClr val="2D2D2D"/>
                </a:solidFill>
                <a:latin typeface="BIZ UDPGothic"/>
                <a:ea typeface="BIZ UDPGothic"/>
              </a:rPr>
              <a:t>最終モデル性能比較</a:t>
            </a:r>
          </a:p>
        </p:txBody>
      </p:sp>
    </p:spTree>
    <p:extLst>
      <p:ext uri="{BB962C8B-B14F-4D97-AF65-F5344CB8AC3E}">
        <p14:creationId xmlns:p14="http://schemas.microsoft.com/office/powerpoint/2010/main" val="395458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B17590-E2FF-414A-AD75-A2AFAF71B1C8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7.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分析結果の解釈と仮定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A2D9AF6-1166-434F-AB31-C647C36D52F4}"/>
              </a:ext>
            </a:extLst>
          </p:cNvPr>
          <p:cNvSpPr/>
          <p:nvPr/>
        </p:nvSpPr>
        <p:spPr>
          <a:xfrm>
            <a:off x="457200" y="965200"/>
            <a:ext cx="5588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（</a:t>
            </a:r>
            <a:r>
              <a:rPr lang="fr-FR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B</a:t>
            </a:r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）解釈（</a:t>
            </a:r>
            <a:r>
              <a:rPr lang="fr-FR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Interpretation</a:t>
            </a:r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30911D-72B8-4AED-9462-F11DB33CB7F1}"/>
              </a:ext>
            </a:extLst>
          </p:cNvPr>
          <p:cNvSpPr/>
          <p:nvPr/>
        </p:nvSpPr>
        <p:spPr>
          <a:xfrm>
            <a:off x="457200" y="1422400"/>
            <a:ext cx="5588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AUC ≈ 0.905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は、学習データに基づく予測スコアの識別能力が高いことを示唆。ただし外部検証未実施のため、実運用での再現性は未確認
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precision_at_top10pct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が高い（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0.97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）ため、スコア上位ケースを優先的に介入対象とする業務ルール設計に利用可能
● 医療運用では見逃し抑制（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）の優先が求められるため、閾値運用で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と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のトレードオフ調整が必要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BA05DE-BCFB-4B03-BDFF-9F90E699F688}"/>
              </a:ext>
            </a:extLst>
          </p:cNvPr>
          <p:cNvSpPr/>
          <p:nvPr/>
        </p:nvSpPr>
        <p:spPr>
          <a:xfrm>
            <a:off x="6273800" y="9652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C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）仮定（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Assumptions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55E787A-A9E3-4974-9090-9D92C3F64300}"/>
              </a:ext>
            </a:extLst>
          </p:cNvPr>
          <p:cNvSpPr/>
          <p:nvPr/>
        </p:nvSpPr>
        <p:spPr>
          <a:xfrm>
            <a:off x="6273800" y="1422400"/>
            <a:ext cx="5461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disease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の定義はカラム記載どおり（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0/1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）であり、その判定基準の病理学的詳細は本データに依存（契約前提）
● 学習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検証法はランダムホールドアウト（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validation_size=0.1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）を採用。時系列バイアスは存在しない前提
● 外部環境（施設間の採取条件差等）により分布が変動する可能性あり。単一施設データのみ使用のため一般化には追加検証が必要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3C7401B-DC0F-409D-9B23-5106A9B617B2}"/>
              </a:ext>
            </a:extLst>
          </p:cNvPr>
          <p:cNvSpPr/>
          <p:nvPr/>
        </p:nvSpPr>
        <p:spPr>
          <a:xfrm>
            <a:off x="457200" y="4064000"/>
            <a:ext cx="11277600" cy="1016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重要：本モデルの内部検証結果は良好であるが、実運用化には外部検証（別施設・別時期データ）による再確認が必須である。また、閾値の設定により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と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Precision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のバランスを業務要件に合わせて調整する必要がある。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574204EE-3799-43AE-B73D-896900A1E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38708"/>
              </p:ext>
            </p:extLst>
          </p:nvPr>
        </p:nvGraphicFramePr>
        <p:xfrm>
          <a:off x="457200" y="5232400"/>
          <a:ext cx="5588000" cy="128016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19516039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9287721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8511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0.8329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651854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F1-macro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0.8292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999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AUC-ROC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0.9053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059885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Brier Score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0.1228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4573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Precision@10%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0.9714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51841046"/>
                  </a:ext>
                </a:extLst>
              </a:tr>
            </a:tbl>
          </a:graphicData>
        </a:graphic>
      </p:graphicFrame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104899D-18D0-4424-841B-5267147C590D}"/>
              </a:ext>
            </a:extLst>
          </p:cNvPr>
          <p:cNvSpPr/>
          <p:nvPr/>
        </p:nvSpPr>
        <p:spPr>
          <a:xfrm>
            <a:off x="6273800" y="5232400"/>
            <a:ext cx="54610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最終モデル設定
● モデル種別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: hist_gradient_boosting
● learning_rate=0.03, max_depth=4, max_iter=400
●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分割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: train=2450 / val=350 / test=700</a:t>
            </a:r>
            <a:endParaRPr lang="ja-JP" altLang="en-US" sz="1400">
              <a:solidFill>
                <a:srgbClr val="4A4A4A"/>
              </a:solidFill>
              <a:latin typeface="BIZ UDPGothic"/>
              <a:ea typeface="BIZ UDPGothic"/>
            </a:endParaRPr>
          </a:p>
        </p:txBody>
      </p:sp>
    </p:spTree>
    <p:extLst>
      <p:ext uri="{BB962C8B-B14F-4D97-AF65-F5344CB8AC3E}">
        <p14:creationId xmlns:p14="http://schemas.microsoft.com/office/powerpoint/2010/main" val="161976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444C1D4-0346-4B5D-9B4B-A06F357088BF}"/>
              </a:ext>
            </a:extLst>
          </p:cNvPr>
          <p:cNvSpPr/>
          <p:nvPr/>
        </p:nvSpPr>
        <p:spPr>
          <a:xfrm>
            <a:off x="6223000" y="3810000"/>
            <a:ext cx="54610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511D552-26C9-4E86-8E28-670AC8180F9A}"/>
              </a:ext>
            </a:extLst>
          </p:cNvPr>
          <p:cNvSpPr/>
          <p:nvPr/>
        </p:nvSpPr>
        <p:spPr>
          <a:xfrm>
            <a:off x="457200" y="3810000"/>
            <a:ext cx="54610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FF9851A-2198-48E9-B866-E88DC9F18F29}"/>
              </a:ext>
            </a:extLst>
          </p:cNvPr>
          <p:cNvSpPr/>
          <p:nvPr/>
        </p:nvSpPr>
        <p:spPr>
          <a:xfrm>
            <a:off x="79756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E0BB04E-7454-4CC3-BD76-9E8405564558}"/>
              </a:ext>
            </a:extLst>
          </p:cNvPr>
          <p:cNvSpPr/>
          <p:nvPr/>
        </p:nvSpPr>
        <p:spPr>
          <a:xfrm>
            <a:off x="42164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7A040B-E771-4230-B3F7-69877BCCE1CF}"/>
              </a:ext>
            </a:extLst>
          </p:cNvPr>
          <p:cNvSpPr/>
          <p:nvPr/>
        </p:nvSpPr>
        <p:spPr>
          <a:xfrm>
            <a:off x="4572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CA1CF6-C7CF-4E5E-A054-DB2063820571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8.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業務提言（概要）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A78983D0-9863-480E-B9D0-9BB411A754BA}"/>
              </a:ext>
            </a:extLst>
          </p:cNvPr>
          <p:cNvSpPr/>
          <p:nvPr/>
        </p:nvSpPr>
        <p:spPr>
          <a:xfrm>
            <a:off x="584200" y="1117600"/>
            <a:ext cx="406400" cy="4064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B2B188-0FFC-4AAD-8F02-F46C69CF5B3F}"/>
              </a:ext>
            </a:extLst>
          </p:cNvPr>
          <p:cNvSpPr txBox="1"/>
          <p:nvPr/>
        </p:nvSpPr>
        <p:spPr>
          <a:xfrm>
            <a:off x="10668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閾値運用の導入案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6B7978C-3DA2-4BD7-A4B8-8F153CBDD88B}"/>
              </a:ext>
            </a:extLst>
          </p:cNvPr>
          <p:cNvSpPr/>
          <p:nvPr/>
        </p:nvSpPr>
        <p:spPr>
          <a:xfrm>
            <a:off x="1066800" y="1498600"/>
            <a:ext cx="7112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A0554B-5220-4809-97BB-10DEAC9279C1}"/>
              </a:ext>
            </a:extLst>
          </p:cNvPr>
          <p:cNvSpPr txBox="1"/>
          <p:nvPr/>
        </p:nvSpPr>
        <p:spPr>
          <a:xfrm>
            <a:off x="6096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スコア上位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を「重点フォロー」対象とし、臨床確認フローを設計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334C9A2-16E7-4770-8526-2319DDB7174E}"/>
              </a:ext>
            </a:extLst>
          </p:cNvPr>
          <p:cNvSpPr/>
          <p:nvPr/>
        </p:nvSpPr>
        <p:spPr>
          <a:xfrm>
            <a:off x="4343400" y="1117600"/>
            <a:ext cx="406400" cy="4064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B6E116-2E27-4852-B6ED-D1DB98906599}"/>
              </a:ext>
            </a:extLst>
          </p:cNvPr>
          <p:cNvSpPr txBox="1"/>
          <p:nvPr/>
        </p:nvSpPr>
        <p:spPr>
          <a:xfrm>
            <a:off x="48260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運用前パイロット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C316F4E-19B6-48C9-A092-F05878D76529}"/>
              </a:ext>
            </a:extLst>
          </p:cNvPr>
          <p:cNvSpPr/>
          <p:nvPr/>
        </p:nvSpPr>
        <p:spPr>
          <a:xfrm>
            <a:off x="4826000" y="1498600"/>
            <a:ext cx="7112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必須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CF7491-D359-4BF5-A820-3461133DDF38}"/>
              </a:ext>
            </a:extLst>
          </p:cNvPr>
          <p:cNvSpPr txBox="1"/>
          <p:nvPr/>
        </p:nvSpPr>
        <p:spPr>
          <a:xfrm>
            <a:off x="43688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外部検証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パイロット（数ヶ月）での精度・業務負荷・臨床受容性を評価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E2CE531-F349-4F85-A004-A7739094B957}"/>
              </a:ext>
            </a:extLst>
          </p:cNvPr>
          <p:cNvSpPr/>
          <p:nvPr/>
        </p:nvSpPr>
        <p:spPr>
          <a:xfrm>
            <a:off x="8102600" y="1117600"/>
            <a:ext cx="406400" cy="4064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2DB365-2B56-4A85-898F-5BF573E2891E}"/>
              </a:ext>
            </a:extLst>
          </p:cNvPr>
          <p:cNvSpPr txBox="1"/>
          <p:nvPr/>
        </p:nvSpPr>
        <p:spPr>
          <a:xfrm>
            <a:off x="85852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前処理・品質管理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47FD92D-CB08-4FC7-8A7B-24588CECCDDA}"/>
              </a:ext>
            </a:extLst>
          </p:cNvPr>
          <p:cNvSpPr/>
          <p:nvPr/>
        </p:nvSpPr>
        <p:spPr>
          <a:xfrm>
            <a:off x="8585200" y="1498600"/>
            <a:ext cx="7112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70217D4-A15B-4EA9-82DA-A7AF9315E97E}"/>
              </a:ext>
            </a:extLst>
          </p:cNvPr>
          <p:cNvSpPr txBox="1"/>
          <p:nvPr/>
        </p:nvSpPr>
        <p:spPr>
          <a:xfrm>
            <a:off x="81280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入力データの妥当性チェックと外れ値照会プロセスの構築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44DF136-D581-48AA-93D5-517A5F418118}"/>
              </a:ext>
            </a:extLst>
          </p:cNvPr>
          <p:cNvSpPr/>
          <p:nvPr/>
        </p:nvSpPr>
        <p:spPr>
          <a:xfrm>
            <a:off x="584200" y="3911600"/>
            <a:ext cx="406400" cy="4064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E99C2E-0DE0-4295-A2D1-684E2D0E147B}"/>
              </a:ext>
            </a:extLst>
          </p:cNvPr>
          <p:cNvSpPr txBox="1"/>
          <p:nvPr/>
        </p:nvSpPr>
        <p:spPr>
          <a:xfrm>
            <a:off x="1066800" y="3911600"/>
            <a:ext cx="472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ガバナンスと説明責任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910C7AA-1C85-4491-A57D-D671056C8324}"/>
              </a:ext>
            </a:extLst>
          </p:cNvPr>
          <p:cNvSpPr/>
          <p:nvPr/>
        </p:nvSpPr>
        <p:spPr>
          <a:xfrm>
            <a:off x="1066800" y="4292600"/>
            <a:ext cx="7112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AFAEE8-FED8-46BE-83DB-15C01C8D2D91}"/>
              </a:ext>
            </a:extLst>
          </p:cNvPr>
          <p:cNvSpPr txBox="1"/>
          <p:nvPr/>
        </p:nvSpPr>
        <p:spPr>
          <a:xfrm>
            <a:off x="609600" y="4673600"/>
            <a:ext cx="515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「判定支援材料」の明文化と内部承認ルートの確立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34FD16AF-F502-4666-8130-34D151CF23EB}"/>
              </a:ext>
            </a:extLst>
          </p:cNvPr>
          <p:cNvSpPr/>
          <p:nvPr/>
        </p:nvSpPr>
        <p:spPr>
          <a:xfrm>
            <a:off x="6350000" y="3911600"/>
            <a:ext cx="406400" cy="4064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5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223DDC3-1A4C-40ED-8E92-1059E0438256}"/>
              </a:ext>
            </a:extLst>
          </p:cNvPr>
          <p:cNvSpPr txBox="1"/>
          <p:nvPr/>
        </p:nvSpPr>
        <p:spPr>
          <a:xfrm>
            <a:off x="6832600" y="3911600"/>
            <a:ext cx="472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継続的評価設計</a:t>
            </a:r>
            <a:endParaRPr lang="ja-JP" altLang="en-US" sz="1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C0EEE1A-E786-49C3-B2D4-0F4F8DE76E58}"/>
              </a:ext>
            </a:extLst>
          </p:cNvPr>
          <p:cNvSpPr/>
          <p:nvPr/>
        </p:nvSpPr>
        <p:spPr>
          <a:xfrm>
            <a:off x="6832600" y="4292600"/>
            <a:ext cx="711200" cy="279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中期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F6F9230-864C-4EB3-B947-D146995CD175}"/>
              </a:ext>
            </a:extLst>
          </p:cNvPr>
          <p:cNvSpPr txBox="1"/>
          <p:nvPr/>
        </p:nvSpPr>
        <p:spPr>
          <a:xfrm>
            <a:off x="6375400" y="4673600"/>
            <a:ext cx="515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ヶ月毎のモデル精度モニタリングとドリフト検知の設計</a:t>
            </a:r>
          </a:p>
        </p:txBody>
      </p:sp>
    </p:spTree>
    <p:extLst>
      <p:ext uri="{BB962C8B-B14F-4D97-AF65-F5344CB8AC3E}">
        <p14:creationId xmlns:p14="http://schemas.microsoft.com/office/powerpoint/2010/main" val="123000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5BE304-5CFC-40D8-8C70-3CD9DC41C489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9.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 詳細（</a:t>
            </a:r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1/2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F49AD71-CE3E-483B-B479-BD8027EF7E72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閾値運用の導入案（短期運用）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5D2FADA-4649-4547-983F-DB0797286BB7}"/>
              </a:ext>
            </a:extLst>
          </p:cNvPr>
          <p:cNvSpPr/>
          <p:nvPr/>
        </p:nvSpPr>
        <p:spPr>
          <a:xfrm>
            <a:off x="457200" y="1371600"/>
            <a:ext cx="5461000" cy="228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スコア上位（上位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）を「重点フォロー」対象とし、臨床的確認フローを設計（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precision_at_top10pct=0.97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を活用）
● 業務要件として、閾値設定により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0.85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以上に維持する目標ラインを検討
● 設定値により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False Positive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が増加するため、フロー内での二次確認（看護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検査医のレビュー）を必須化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9BCC39B-7B2A-4001-967A-4C53D95B8C2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2.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運用前パイロット（必須）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F65CA45-9B9B-4544-A386-719498021C47}"/>
              </a:ext>
            </a:extLst>
          </p:cNvPr>
          <p:cNvSpPr/>
          <p:nvPr/>
        </p:nvSpPr>
        <p:spPr>
          <a:xfrm>
            <a:off x="6273800" y="1371600"/>
            <a:ext cx="5461000" cy="228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外部検証ないし運用前パイロット（数ヶ月、実際受診データでのスコア運用）を実施し、精度・業務負荷・臨床受容性を評価
● パイロットでは閾値別の運用影響を定量化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追加検査件数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誤検知による業務負荷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臨床受容性の評価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AEDB4C-7BA1-4D08-B4C8-DF03047B2C18}"/>
              </a:ext>
            </a:extLst>
          </p:cNvPr>
          <p:cNvSpPr txBox="1"/>
          <p:nvPr/>
        </p:nvSpPr>
        <p:spPr>
          <a:xfrm>
            <a:off x="457200" y="3810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閾値運用フロー（想定）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DD97DE9-BBD4-43D4-A601-62D12FF7CC9C}"/>
              </a:ext>
            </a:extLst>
          </p:cNvPr>
          <p:cNvSpPr/>
          <p:nvPr/>
        </p:nvSpPr>
        <p:spPr>
          <a:xfrm>
            <a:off x="457200" y="4216400"/>
            <a:ext cx="1727200" cy="762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検査データ
入力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AE3DA3AD-89AD-4FE7-8266-952F4A143A64}"/>
              </a:ext>
            </a:extLst>
          </p:cNvPr>
          <p:cNvSpPr/>
          <p:nvPr/>
        </p:nvSpPr>
        <p:spPr>
          <a:xfrm>
            <a:off x="22098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3D7E751-7F8C-4726-A586-400CAEC91DD3}"/>
              </a:ext>
            </a:extLst>
          </p:cNvPr>
          <p:cNvSpPr/>
          <p:nvPr/>
        </p:nvSpPr>
        <p:spPr>
          <a:xfrm>
            <a:off x="2387600" y="4216400"/>
            <a:ext cx="1727200" cy="762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スコア
算出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35F81E4E-FDF0-45FD-B238-D9F92B2E4AB4}"/>
              </a:ext>
            </a:extLst>
          </p:cNvPr>
          <p:cNvSpPr/>
          <p:nvPr/>
        </p:nvSpPr>
        <p:spPr>
          <a:xfrm>
            <a:off x="41402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9FB889-812E-4B94-90D2-7127216609F6}"/>
              </a:ext>
            </a:extLst>
          </p:cNvPr>
          <p:cNvSpPr/>
          <p:nvPr/>
        </p:nvSpPr>
        <p:spPr>
          <a:xfrm>
            <a:off x="4318000" y="4216400"/>
            <a:ext cx="1727200" cy="762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
判定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58D3E2D9-C534-4D58-ABC7-9271A95526D9}"/>
              </a:ext>
            </a:extLst>
          </p:cNvPr>
          <p:cNvSpPr/>
          <p:nvPr/>
        </p:nvSpPr>
        <p:spPr>
          <a:xfrm>
            <a:off x="60706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41F9F3D-432A-4825-8359-DCB43A76D694}"/>
              </a:ext>
            </a:extLst>
          </p:cNvPr>
          <p:cNvSpPr/>
          <p:nvPr/>
        </p:nvSpPr>
        <p:spPr>
          <a:xfrm>
            <a:off x="6248400" y="4216400"/>
            <a:ext cx="1727200" cy="762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10%
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抽出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1887285A-B7CB-43D0-AA86-31F00E3AE8A3}"/>
              </a:ext>
            </a:extLst>
          </p:cNvPr>
          <p:cNvSpPr/>
          <p:nvPr/>
        </p:nvSpPr>
        <p:spPr>
          <a:xfrm>
            <a:off x="80010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055F850-C8A3-4350-B7B4-5CADFDA2DFF9}"/>
              </a:ext>
            </a:extLst>
          </p:cNvPr>
          <p:cNvSpPr/>
          <p:nvPr/>
        </p:nvSpPr>
        <p:spPr>
          <a:xfrm>
            <a:off x="8178800" y="4216400"/>
            <a:ext cx="1727200" cy="762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二次確認
（臨床）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55EC28A-BC75-485C-AF8E-6757E0249069}"/>
              </a:ext>
            </a:extLst>
          </p:cNvPr>
          <p:cNvSpPr/>
          <p:nvPr/>
        </p:nvSpPr>
        <p:spPr>
          <a:xfrm>
            <a:off x="99314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4558C74-8F4B-4723-9D28-4700810AB6AF}"/>
              </a:ext>
            </a:extLst>
          </p:cNvPr>
          <p:cNvSpPr/>
          <p:nvPr/>
        </p:nvSpPr>
        <p:spPr>
          <a:xfrm>
            <a:off x="10109200" y="4216400"/>
            <a:ext cx="1727200" cy="762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重点
フォロー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ACFB5A8-07E6-4685-807F-A190A92BF22C}"/>
              </a:ext>
            </a:extLst>
          </p:cNvPr>
          <p:cNvSpPr/>
          <p:nvPr/>
        </p:nvSpPr>
        <p:spPr>
          <a:xfrm>
            <a:off x="457200" y="5143500"/>
            <a:ext cx="11277600" cy="635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目標：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Recall ≥ 0.85 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を維持しつつ、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False Positive 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増加に伴う追加検査コストを許容範囲内に抑制する</a:t>
            </a:r>
          </a:p>
        </p:txBody>
      </p:sp>
    </p:spTree>
    <p:extLst>
      <p:ext uri="{BB962C8B-B14F-4D97-AF65-F5344CB8AC3E}">
        <p14:creationId xmlns:p14="http://schemas.microsoft.com/office/powerpoint/2010/main" val="52057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E457FA-9858-4565-9D22-97B2522BC3DE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10.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 詳細（</a:t>
            </a:r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2/2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C394BF1-16C6-455D-957F-B0A88D1D9510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前処理・品質管理体制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298B8CE-E743-46BF-808A-BAEC269EB8E7}"/>
              </a:ext>
            </a:extLst>
          </p:cNvPr>
          <p:cNvSpPr/>
          <p:nvPr/>
        </p:nvSpPr>
        <p:spPr>
          <a:xfrm>
            <a:off x="457200" y="1371600"/>
            <a:ext cx="5461000" cy="2032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入力データの妥当性チェックステップを運用に組み込む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外れ値検知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レンジチェック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臨床確認ワークフロー
● 外れ値は自動除外せず、臨床窓口（柴田 室長）との照会プロセスを設ける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5CD7A29-5BB9-4133-BE14-5B62EFE135C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ガバナンスと説明責任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6F48AA8-51D1-48FE-893F-267AD967A297}"/>
              </a:ext>
            </a:extLst>
          </p:cNvPr>
          <p:cNvSpPr/>
          <p:nvPr/>
        </p:nvSpPr>
        <p:spPr>
          <a:xfrm>
            <a:off x="6273800" y="1371600"/>
            <a:ext cx="5461000" cy="2032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本分析は「判定支援材料」である旨を明文化し、内部承認ルート（医療情報分析室での承認）を確立
● モデルの決定ロジック（重要特徴量、スコア算出の説明文）を運用担当者向けにドキュメント化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DFD080E-C8E7-4E10-A3B6-23B44B34C70E}"/>
              </a:ext>
            </a:extLst>
          </p:cNvPr>
          <p:cNvSpPr/>
          <p:nvPr/>
        </p:nvSpPr>
        <p:spPr>
          <a:xfrm>
            <a:off x="457200" y="3581400"/>
            <a:ext cx="112776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  <a:latin typeface="BIZ UDPGothic"/>
                <a:ea typeface="BIZ UDPGothic"/>
              </a:rPr>
              <a:t>5. </a:t>
            </a:r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継続的評価設計（中期）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860A52B-1373-4FD9-A689-C1D8FEDDA6F4}"/>
              </a:ext>
            </a:extLst>
          </p:cNvPr>
          <p:cNvSpPr/>
          <p:nvPr/>
        </p:nvSpPr>
        <p:spPr>
          <a:xfrm>
            <a:off x="457200" y="4140200"/>
            <a:ext cx="19558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モデル運用
開始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6CA073E-E9DC-418C-88E4-F5E7912AC1A0}"/>
              </a:ext>
            </a:extLst>
          </p:cNvPr>
          <p:cNvSpPr/>
          <p:nvPr/>
        </p:nvSpPr>
        <p:spPr>
          <a:xfrm>
            <a:off x="24384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CB3211E-13E2-4E61-B791-E25768C71D9F}"/>
              </a:ext>
            </a:extLst>
          </p:cNvPr>
          <p:cNvSpPr/>
          <p:nvPr/>
        </p:nvSpPr>
        <p:spPr>
          <a:xfrm>
            <a:off x="2717800" y="4140200"/>
            <a:ext cx="19558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ヶ月毎
精度監視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977C717-7F4E-4367-B80A-C65D288016EE}"/>
              </a:ext>
            </a:extLst>
          </p:cNvPr>
          <p:cNvSpPr/>
          <p:nvPr/>
        </p:nvSpPr>
        <p:spPr>
          <a:xfrm>
            <a:off x="46990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C43EFE3-F6E8-45BC-9726-01637D55AAB5}"/>
              </a:ext>
            </a:extLst>
          </p:cNvPr>
          <p:cNvSpPr/>
          <p:nvPr/>
        </p:nvSpPr>
        <p:spPr>
          <a:xfrm>
            <a:off x="4978400" y="4140200"/>
            <a:ext cx="19558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ドリフト
検知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84C57EB-DBA8-472F-89C4-D0F21A2AC39E}"/>
              </a:ext>
            </a:extLst>
          </p:cNvPr>
          <p:cNvSpPr/>
          <p:nvPr/>
        </p:nvSpPr>
        <p:spPr>
          <a:xfrm>
            <a:off x="69596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7D569B3-3B45-4C11-A9B1-C9AEADC0909D}"/>
              </a:ext>
            </a:extLst>
          </p:cNvPr>
          <p:cNvSpPr/>
          <p:nvPr/>
        </p:nvSpPr>
        <p:spPr>
          <a:xfrm>
            <a:off x="7239000" y="4140200"/>
            <a:ext cx="19558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再学習
トリガー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27AF66B8-772C-4548-89A7-172768729D83}"/>
              </a:ext>
            </a:extLst>
          </p:cNvPr>
          <p:cNvSpPr/>
          <p:nvPr/>
        </p:nvSpPr>
        <p:spPr>
          <a:xfrm>
            <a:off x="92202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40D7EEC-F293-49CF-857E-176D3B76DF7C}"/>
              </a:ext>
            </a:extLst>
          </p:cNvPr>
          <p:cNvSpPr/>
          <p:nvPr/>
        </p:nvSpPr>
        <p:spPr>
          <a:xfrm>
            <a:off x="9499600" y="4140200"/>
            <a:ext cx="1955800" cy="711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モデル
更新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4EE6A8-5B39-4AAE-9241-49AE696FB2A5}"/>
              </a:ext>
            </a:extLst>
          </p:cNvPr>
          <p:cNvSpPr txBox="1"/>
          <p:nvPr/>
        </p:nvSpPr>
        <p:spPr>
          <a:xfrm>
            <a:off x="457200" y="5029200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※ MLOps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基盤の導入は別途提案として実施（本プロジェクトのスコープ外）</a:t>
            </a:r>
          </a:p>
        </p:txBody>
      </p:sp>
    </p:spTree>
    <p:extLst>
      <p:ext uri="{BB962C8B-B14F-4D97-AF65-F5344CB8AC3E}">
        <p14:creationId xmlns:p14="http://schemas.microsoft.com/office/powerpoint/2010/main" val="176807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441751-FA78-4E8A-8323-338820EBFEB9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11.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実装・運用計画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DDDC038-A40C-4C6C-9322-E62C603138C6}"/>
              </a:ext>
            </a:extLst>
          </p:cNvPr>
          <p:cNvSpPr/>
          <p:nvPr/>
        </p:nvSpPr>
        <p:spPr>
          <a:xfrm>
            <a:off x="457200" y="914400"/>
            <a:ext cx="3606800" cy="635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短期（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0–3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ヶ月）
導入準備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A359536-C6E1-4520-A38A-A1EFC580F257}"/>
              </a:ext>
            </a:extLst>
          </p:cNvPr>
          <p:cNvSpPr/>
          <p:nvPr/>
        </p:nvSpPr>
        <p:spPr>
          <a:xfrm>
            <a:off x="45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閾値運用方針の最終合意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目標と業務受容範囲）
● 運用・臨床確認フロー設計
● データパイプライン簡易化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CSV→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検証スクリプト→スコア出力）
● パイロット期間の定義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FBD27E3-809C-4FF7-8837-BC3DD501371D}"/>
              </a:ext>
            </a:extLst>
          </p:cNvPr>
          <p:cNvSpPr/>
          <p:nvPr/>
        </p:nvSpPr>
        <p:spPr>
          <a:xfrm>
            <a:off x="4267200" y="914400"/>
            <a:ext cx="3606800" cy="635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中期（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3–6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ヶ月）
パイロット運用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B0A82FC-32B7-4070-93BD-B979EF6A3CC5}"/>
              </a:ext>
            </a:extLst>
          </p:cNvPr>
          <p:cNvSpPr/>
          <p:nvPr/>
        </p:nvSpPr>
        <p:spPr>
          <a:xfrm>
            <a:off x="426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パイロット実行
● 運用ログ収集、精度評価
  （外部データでの検証）
● 業務負荷評価
  （追加検査数、誤検知件数）
● 閾値の最終チューニング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BA4B2F-4FFE-445A-879C-04E46DC31C94}"/>
              </a:ext>
            </a:extLst>
          </p:cNvPr>
          <p:cNvSpPr/>
          <p:nvPr/>
        </p:nvSpPr>
        <p:spPr>
          <a:xfrm>
            <a:off x="8077200" y="914400"/>
            <a:ext cx="3606800" cy="635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長期（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ヶ月～）
本番化検討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BE23D5D-A0BD-46C1-90E1-7D3421FED2E8}"/>
              </a:ext>
            </a:extLst>
          </p:cNvPr>
          <p:cNvSpPr/>
          <p:nvPr/>
        </p:nvSpPr>
        <p:spPr>
          <a:xfrm>
            <a:off x="807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本番システム連携
  （要件定義→実装は別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PJ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
● モデルの再学習・監視設計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MLOps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、データ統合）
● 継続的改善の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KPI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設定
● 報告体制の構築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4B304B-4F44-4E50-914E-1CFB9C83E0A1}"/>
              </a:ext>
            </a:extLst>
          </p:cNvPr>
          <p:cNvSpPr txBox="1"/>
          <p:nvPr/>
        </p:nvSpPr>
        <p:spPr>
          <a:xfrm>
            <a:off x="457200" y="41656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担当体制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380530F-EFD3-418F-BB56-FE3308279ACA}"/>
              </a:ext>
            </a:extLst>
          </p:cNvPr>
          <p:cNvSpPr/>
          <p:nvPr/>
        </p:nvSpPr>
        <p:spPr>
          <a:xfrm>
            <a:off x="457200" y="4572000"/>
            <a:ext cx="5461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顧客側：医療情報分析室（柴田 室長）
閾値合意、臨床フロー、パイロット評価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75C2B9A-0B40-4A06-A1BF-80FE6D2D4472}"/>
              </a:ext>
            </a:extLst>
          </p:cNvPr>
          <p:cNvSpPr/>
          <p:nvPr/>
        </p:nvSpPr>
        <p:spPr>
          <a:xfrm>
            <a:off x="6273800" y="4572000"/>
            <a:ext cx="5461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受託者支援：データアステル
設定支援・評価支援・技術コンサルティング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206FADA-ED57-4BB4-B618-F7CBDB89ADD2}"/>
              </a:ext>
            </a:extLst>
          </p:cNvPr>
          <p:cNvSpPr/>
          <p:nvPr/>
        </p:nvSpPr>
        <p:spPr>
          <a:xfrm>
            <a:off x="457200" y="5461000"/>
            <a:ext cx="11277600" cy="5842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留意：閾値や示唆はあくまで判定支援材料としての提案。臨床判断は常に医師に帰属。個人情報保護・アクセス制御は運用設計段階で必須。</a:t>
            </a:r>
          </a:p>
        </p:txBody>
      </p:sp>
    </p:spTree>
    <p:extLst>
      <p:ext uri="{BB962C8B-B14F-4D97-AF65-F5344CB8AC3E}">
        <p14:creationId xmlns:p14="http://schemas.microsoft.com/office/powerpoint/2010/main" val="373821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764796-B391-4AC5-A817-E7227A9D42CB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12.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FC74065-DECC-47EA-855F-39C7979605DE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制約（契約上の確定事項）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09FA424-29A7-4EE1-B8AD-AB2656B34434}"/>
              </a:ext>
            </a:extLst>
          </p:cNvPr>
          <p:cNvSpPr/>
          <p:nvPr/>
        </p:nvSpPr>
        <p:spPr>
          <a:xfrm>
            <a:off x="457200" y="1371600"/>
            <a:ext cx="5461000" cy="1778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データは単一ファイル（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train.csv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）のみ
● 欠損なしの前提で分析を実施
● 期間：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5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週間
● 想定工数：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140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時間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03077AE-14A8-4112-A9AB-9373B747192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残余リスク（主要）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536EEEC-4353-40BC-93F9-6DD4BFA60367}"/>
              </a:ext>
            </a:extLst>
          </p:cNvPr>
          <p:cNvSpPr/>
          <p:nvPr/>
        </p:nvSpPr>
        <p:spPr>
          <a:xfrm>
            <a:off x="6273800" y="1371600"/>
            <a:ext cx="5461000" cy="1778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一施設データの一般化限界
● 外れ値が入力誤りか臨床的正当かの判定困難
● 閾値による業務負荷増大（誤検知増加）
● スコープ拡張時は別途見積り必要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A190900-C920-4983-9E08-BB348AB2BC0B}"/>
              </a:ext>
            </a:extLst>
          </p:cNvPr>
          <p:cNvSpPr/>
          <p:nvPr/>
        </p:nvSpPr>
        <p:spPr>
          <a:xfrm>
            <a:off x="457200" y="3937000"/>
            <a:ext cx="112776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対策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D804781-99B1-4C82-AC34-A31FC034040D}"/>
              </a:ext>
            </a:extLst>
          </p:cNvPr>
          <p:cNvSpPr/>
          <p:nvPr/>
        </p:nvSpPr>
        <p:spPr>
          <a:xfrm>
            <a:off x="45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8D0BC9C-A9B3-4895-9C5E-089100BAB734}"/>
              </a:ext>
            </a:extLst>
          </p:cNvPr>
          <p:cNvSpPr/>
          <p:nvPr/>
        </p:nvSpPr>
        <p:spPr>
          <a:xfrm>
            <a:off x="60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F04086-1CD4-47A3-88D1-E31D436D8135}"/>
              </a:ext>
            </a:extLst>
          </p:cNvPr>
          <p:cNvSpPr txBox="1"/>
          <p:nvPr/>
        </p:nvSpPr>
        <p:spPr>
          <a:xfrm>
            <a:off x="106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パイロット運用の実施で実運用影響を定量化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F9348C6-6463-4626-93CD-AE3A61045F35}"/>
              </a:ext>
            </a:extLst>
          </p:cNvPr>
          <p:cNvSpPr/>
          <p:nvPr/>
        </p:nvSpPr>
        <p:spPr>
          <a:xfrm>
            <a:off x="426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9F93D46-D775-4049-BE77-0284FA8A42CD}"/>
              </a:ext>
            </a:extLst>
          </p:cNvPr>
          <p:cNvSpPr/>
          <p:nvPr/>
        </p:nvSpPr>
        <p:spPr>
          <a:xfrm>
            <a:off x="441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8A05D08-BAB2-4D13-B1EA-C956B99FF9DC}"/>
              </a:ext>
            </a:extLst>
          </p:cNvPr>
          <p:cNvSpPr txBox="1"/>
          <p:nvPr/>
        </p:nvSpPr>
        <p:spPr>
          <a:xfrm>
            <a:off x="487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外れ値確認の臨床窓口（柴田 室長）との連携を必須化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A137122-F165-41A5-B952-82AAFF1B709D}"/>
              </a:ext>
            </a:extLst>
          </p:cNvPr>
          <p:cNvSpPr/>
          <p:nvPr/>
        </p:nvSpPr>
        <p:spPr>
          <a:xfrm>
            <a:off x="807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0B93D92-8DDC-45FF-AB53-1500EB3FCB5D}"/>
              </a:ext>
            </a:extLst>
          </p:cNvPr>
          <p:cNvSpPr/>
          <p:nvPr/>
        </p:nvSpPr>
        <p:spPr>
          <a:xfrm>
            <a:off x="822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A353848-25CD-4B40-95CE-5DDCED9D5717}"/>
              </a:ext>
            </a:extLst>
          </p:cNvPr>
          <p:cNvSpPr txBox="1"/>
          <p:nvPr/>
        </p:nvSpPr>
        <p:spPr>
          <a:xfrm>
            <a:off x="868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変更管理チェックポイント（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2025-09-19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）同様のガバナンスを運用化</a:t>
            </a:r>
          </a:p>
        </p:txBody>
      </p:sp>
    </p:spTree>
    <p:extLst>
      <p:ext uri="{BB962C8B-B14F-4D97-AF65-F5344CB8AC3E}">
        <p14:creationId xmlns:p14="http://schemas.microsoft.com/office/powerpoint/2010/main" val="169041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9EF335-51EA-4410-892B-6E7E6E15CA85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13.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今後の拡張ロードマップ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4A8B6E-8581-4163-B93A-B9583944D1AB}"/>
              </a:ext>
            </a:extLst>
          </p:cNvPr>
          <p:cNvSpPr/>
          <p:nvPr/>
        </p:nvSpPr>
        <p:spPr>
          <a:xfrm>
            <a:off x="457200" y="965200"/>
            <a:ext cx="11277600" cy="762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17E0641-86AA-4AF4-AE60-73B2B209E367}"/>
              </a:ext>
            </a:extLst>
          </p:cNvPr>
          <p:cNvSpPr/>
          <p:nvPr/>
        </p:nvSpPr>
        <p:spPr>
          <a:xfrm>
            <a:off x="711200" y="914400"/>
            <a:ext cx="177800" cy="1778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6CE56E-4725-47B9-ACBF-E3EBE29E6AED}"/>
              </a:ext>
            </a:extLst>
          </p:cNvPr>
          <p:cNvSpPr txBox="1"/>
          <p:nvPr/>
        </p:nvSpPr>
        <p:spPr>
          <a:xfrm>
            <a:off x="457200" y="1168400"/>
            <a:ext cx="350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短期（</a:t>
            </a:r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0–3</a:t>
            </a:r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984AA-CB89-4051-9ADB-37F45F82494E}"/>
              </a:ext>
            </a:extLst>
          </p:cNvPr>
          <p:cNvSpPr/>
          <p:nvPr/>
        </p:nvSpPr>
        <p:spPr>
          <a:xfrm>
            <a:off x="457200" y="1498600"/>
            <a:ext cx="10160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優先度：高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B9CD18D-4164-45C9-890F-ED9D40B0CC3F}"/>
              </a:ext>
            </a:extLst>
          </p:cNvPr>
          <p:cNvSpPr/>
          <p:nvPr/>
        </p:nvSpPr>
        <p:spPr>
          <a:xfrm>
            <a:off x="457200" y="1879600"/>
            <a:ext cx="35052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運用パイロット実施（閾値テスト、業務負荷評価）
● 入力データ妥当性チェック自動化（レンジチェック、外れ値アラート）
● 閾値運用の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SOP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（業務手順書）作成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56B47B0-D1E3-4603-9304-5181C34BD23E}"/>
              </a:ext>
            </a:extLst>
          </p:cNvPr>
          <p:cNvSpPr/>
          <p:nvPr/>
        </p:nvSpPr>
        <p:spPr>
          <a:xfrm>
            <a:off x="4445000" y="914400"/>
            <a:ext cx="177800" cy="1778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7DC483-43AA-40E8-B3C1-17E8ABD416B7}"/>
              </a:ext>
            </a:extLst>
          </p:cNvPr>
          <p:cNvSpPr txBox="1"/>
          <p:nvPr/>
        </p:nvSpPr>
        <p:spPr>
          <a:xfrm>
            <a:off x="4191000" y="1168400"/>
            <a:ext cx="3759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中期（</a:t>
            </a:r>
            <a:r>
              <a:rPr lang="en-US" altLang="ja-JP" sz="1400" b="1">
                <a:solidFill>
                  <a:srgbClr val="5C5C5C"/>
                </a:solidFill>
                <a:latin typeface="BIZ UDPGothic"/>
                <a:ea typeface="BIZ UDPGothic"/>
              </a:rPr>
              <a:t>3–9</a:t>
            </a:r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8A5CD68-277F-4D05-ADF6-4D163F62F251}"/>
              </a:ext>
            </a:extLst>
          </p:cNvPr>
          <p:cNvSpPr/>
          <p:nvPr/>
        </p:nvSpPr>
        <p:spPr>
          <a:xfrm>
            <a:off x="4191000" y="1498600"/>
            <a:ext cx="10160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優先度：中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51614AB-EFFB-418B-ACF9-09D49F543B9B}"/>
              </a:ext>
            </a:extLst>
          </p:cNvPr>
          <p:cNvSpPr/>
          <p:nvPr/>
        </p:nvSpPr>
        <p:spPr>
          <a:xfrm>
            <a:off x="4191000" y="1879600"/>
            <a:ext cx="37592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外部データによる再評価（他院データまたは別時期のデータ）
● モデルの定期的再学習体制（バッチ再学習の運用設計）
● 簡易ダッシュボードでのモニタリング（スコア分布、ポストデプロイ検証）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97E60A3-1753-4141-883B-2F57E30D7822}"/>
              </a:ext>
            </a:extLst>
          </p:cNvPr>
          <p:cNvSpPr/>
          <p:nvPr/>
        </p:nvSpPr>
        <p:spPr>
          <a:xfrm>
            <a:off x="8432800" y="914400"/>
            <a:ext cx="177800" cy="1778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35B0FC-628F-4092-A7A2-50F8A7C6FD95}"/>
              </a:ext>
            </a:extLst>
          </p:cNvPr>
          <p:cNvSpPr txBox="1"/>
          <p:nvPr/>
        </p:nvSpPr>
        <p:spPr>
          <a:xfrm>
            <a:off x="8178800" y="1168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383838"/>
                </a:solidFill>
                <a:latin typeface="BIZ UDPGothic"/>
                <a:ea typeface="BIZ UDPGothic"/>
              </a:rPr>
              <a:t>長期（</a:t>
            </a:r>
            <a:r>
              <a:rPr lang="en-US" altLang="ja-JP" sz="1400" b="1">
                <a:solidFill>
                  <a:srgbClr val="383838"/>
                </a:solidFill>
                <a:latin typeface="BIZ UDPGothic"/>
                <a:ea typeface="BIZ UDPGothic"/>
              </a:rPr>
              <a:t>9–18</a:t>
            </a:r>
            <a:r>
              <a:rPr lang="ja-JP" altLang="en-US" sz="1400" b="1">
                <a:solidFill>
                  <a:srgbClr val="383838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60ACC31-18D4-4C6D-BD28-D2E557413B2D}"/>
              </a:ext>
            </a:extLst>
          </p:cNvPr>
          <p:cNvSpPr/>
          <p:nvPr/>
        </p:nvSpPr>
        <p:spPr>
          <a:xfrm>
            <a:off x="8178800" y="1498600"/>
            <a:ext cx="1016000" cy="279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優先度：低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88230DF-97E0-4F90-A05E-1A4E61643A3B}"/>
              </a:ext>
            </a:extLst>
          </p:cNvPr>
          <p:cNvSpPr/>
          <p:nvPr/>
        </p:nvSpPr>
        <p:spPr>
          <a:xfrm>
            <a:off x="8178800" y="1879600"/>
            <a:ext cx="3556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本番連携（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EHR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連携、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API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化）および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MLOps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基盤導入（別途契約）
● 患者経過データ（時系列）を取り入れた予測精度向上（要追加データ）
● 運用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KPI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（優先検査の陽性率、追加検査コスト）による効果測定と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ROI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評価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26E19D-544D-4C4A-B23F-E8BC829289FA}"/>
              </a:ext>
            </a:extLst>
          </p:cNvPr>
          <p:cNvSpPr txBox="1"/>
          <p:nvPr/>
        </p:nvSpPr>
        <p:spPr>
          <a:xfrm>
            <a:off x="457200" y="4445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拡張の優先付け基準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52CEFF-6B5B-4ADA-8663-50545564E898}"/>
              </a:ext>
            </a:extLst>
          </p:cNvPr>
          <p:cNvSpPr/>
          <p:nvPr/>
        </p:nvSpPr>
        <p:spPr>
          <a:xfrm>
            <a:off x="4572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患者安全性
への影響度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A47AC5C-BC63-4B99-85BC-A58F63961FA6}"/>
              </a:ext>
            </a:extLst>
          </p:cNvPr>
          <p:cNvSpPr/>
          <p:nvPr/>
        </p:nvSpPr>
        <p:spPr>
          <a:xfrm>
            <a:off x="32766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業務負荷の
増加幅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C27BE21-5717-4C96-AC76-3BCE79EEF8E9}"/>
              </a:ext>
            </a:extLst>
          </p:cNvPr>
          <p:cNvSpPr/>
          <p:nvPr/>
        </p:nvSpPr>
        <p:spPr>
          <a:xfrm>
            <a:off x="60960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追加コスト
見積り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0A25268-A1EF-407B-93D2-031A723A0E7D}"/>
              </a:ext>
            </a:extLst>
          </p:cNvPr>
          <p:cNvSpPr/>
          <p:nvPr/>
        </p:nvSpPr>
        <p:spPr>
          <a:xfrm>
            <a:off x="89154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臨床
受容性</a:t>
            </a:r>
          </a:p>
        </p:txBody>
      </p:sp>
    </p:spTree>
    <p:extLst>
      <p:ext uri="{BB962C8B-B14F-4D97-AF65-F5344CB8AC3E}">
        <p14:creationId xmlns:p14="http://schemas.microsoft.com/office/powerpoint/2010/main" val="272358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974F31-8275-4D8C-A7E0-6AF14C47991F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14.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成果物サマリ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652E33F-A894-4894-8EBB-56A858BE7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31098"/>
              </p:ext>
            </p:extLst>
          </p:nvPr>
        </p:nvGraphicFramePr>
        <p:xfrm>
          <a:off x="457200" y="914400"/>
          <a:ext cx="11277600" cy="440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914307793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314385087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439930966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ステータス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参照パス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4617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プロジェクト概要書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本書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83628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分析計画書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7585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データ理解レポート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70527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中間報告書（M02）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artifacts/reports/報告資料_2025-09-16.md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57148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最終報告書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本書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292089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会議議事録（M01）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artifacts/meeting_minutes/会議録_2025-09-02.md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2917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会議議事録（M02）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artifacts/meeting_minutes/会議録_2025-09-16.md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69456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分析実行アーティファクト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artifacts/analysis_outputs/（run_summary.json、metrics.json、leaderboard.json）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777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937232-D26E-48C2-89AC-609BD9B7F85D}"/>
              </a:ext>
            </a:extLst>
          </p:cNvPr>
          <p:cNvSpPr txBox="1"/>
          <p:nvPr/>
        </p:nvSpPr>
        <p:spPr>
          <a:xfrm>
            <a:off x="457200" y="5461000"/>
            <a:ext cx="11277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納品物は、契約に定める内容（第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4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条 成果物）に準拠している。すべての成果物は「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disease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の定義」「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id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の除外」「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train.csv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を単一ソース」といった基準に従って一貫記載している。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64887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44CBB2-DBAB-48A1-A8AA-EC42212E0BCF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15.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提案・契約との差分管理（</a:t>
            </a:r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1/2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C01C030-3185-4BF3-8FD3-7FAD7F36E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3634"/>
              </p:ext>
            </p:extLst>
          </p:nvPr>
        </p:nvGraphicFramePr>
        <p:xfrm>
          <a:off x="457200" y="914400"/>
          <a:ext cx="11277600" cy="3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7752674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98074346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06363523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5744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差分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変更理由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承認トレース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2181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契約定義の成果物を全て納品済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Contract 第4条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00302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スコープ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モデル種別
進化あり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線形系（T01-T05）→非線形系（hist_gradient_boosting）へ。スコープ内の分析アプローチ最適化に該当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M02議事録
(2025-09-16)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4529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KPI/受入基準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提案段階のKPI指標（ROC-AUC、Accuracy等）を維持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Proposal KPI定義
Contract 第4.1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186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契約形態
支払条件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T&amp;M、最終一括精算、実績工数に基づく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Contract 第6条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01690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7C87D7-98D5-4AC2-BA62-3867230174BC}"/>
              </a:ext>
            </a:extLst>
          </p:cNvPr>
          <p:cNvSpPr txBox="1"/>
          <p:nvPr/>
        </p:nvSpPr>
        <p:spPr>
          <a:xfrm>
            <a:off x="457200" y="4191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商業情報（確定値）</a:t>
            </a:r>
            <a:endParaRPr lang="ja-JP" altLang="en-US" sz="16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6A8856C7-53B7-40A7-9381-CFCA042C2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429379"/>
              </p:ext>
            </p:extLst>
          </p:nvPr>
        </p:nvGraphicFramePr>
        <p:xfrm>
          <a:off x="457200" y="4572000"/>
          <a:ext cx="6350000" cy="215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80134417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836943918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572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実績工数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140時間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850068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契約時時間単価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25,000 JPY/時間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2056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最終請求金額（税抜）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3,500,000 JPY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7088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消費税額（10%）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350,000 JPY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482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最終請求金額（税込）</a:t>
                      </a:r>
                    </a:p>
                  </a:txBody>
                  <a:tcPr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3,850,000 JPY</a:t>
                      </a:r>
                    </a:p>
                  </a:txBody>
                  <a:tcPr>
                    <a:solidFill>
                      <a:srgbClr val="F2E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56051"/>
                  </a:ext>
                </a:extLst>
              </a:tr>
            </a:tbl>
          </a:graphicData>
        </a:graphic>
      </p:graphicFrame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BEAD5B8-18CC-4F66-BDEB-714335D04309}"/>
              </a:ext>
            </a:extLst>
          </p:cNvPr>
          <p:cNvSpPr/>
          <p:nvPr/>
        </p:nvSpPr>
        <p:spPr>
          <a:xfrm>
            <a:off x="7061200" y="4572000"/>
            <a:ext cx="46736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請求トリガー：最終成果物の検収完了後
支払期日基準：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2025-10-07
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計算根拠：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Contract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第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条、税率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
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工数記録：乙作成の工数表を根拠として甲へ提出</a:t>
            </a:r>
          </a:p>
        </p:txBody>
      </p:sp>
    </p:spTree>
    <p:extLst>
      <p:ext uri="{BB962C8B-B14F-4D97-AF65-F5344CB8AC3E}">
        <p14:creationId xmlns:p14="http://schemas.microsoft.com/office/powerpoint/2010/main" val="159841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717441-31C7-49A3-AD3B-EAC4C1964F6A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16.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提案・契約との差分管理（</a:t>
            </a:r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2/2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C0D3F2-9B7C-4CB6-AED6-D6DD7DB69926}"/>
              </a:ext>
            </a:extLst>
          </p:cNvPr>
          <p:cNvSpPr txBox="1"/>
          <p:nvPr/>
        </p:nvSpPr>
        <p:spPr>
          <a:xfrm>
            <a:off x="457200" y="889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変更管理の履歴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3E06B7-6CE6-4D16-87FC-FEFED1CB1596}"/>
              </a:ext>
            </a:extLst>
          </p:cNvPr>
          <p:cNvSpPr/>
          <p:nvPr/>
        </p:nvSpPr>
        <p:spPr>
          <a:xfrm>
            <a:off x="457200" y="1625600"/>
            <a:ext cx="11277600" cy="508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FFE6A46-3885-48DE-8B5C-8F03EC6A3404}"/>
              </a:ext>
            </a:extLst>
          </p:cNvPr>
          <p:cNvSpPr/>
          <p:nvPr/>
        </p:nvSpPr>
        <p:spPr>
          <a:xfrm>
            <a:off x="711200" y="1549400"/>
            <a:ext cx="203200" cy="2032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8DB91D-04EF-4C64-B82C-C6DB1B7B168C}"/>
              </a:ext>
            </a:extLst>
          </p:cNvPr>
          <p:cNvSpPr txBox="1"/>
          <p:nvPr/>
        </p:nvSpPr>
        <p:spPr>
          <a:xfrm>
            <a:off x="4572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2025-09-02</a:t>
            </a:r>
            <a:endParaRPr lang="ja-JP" altLang="en-US" sz="14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AEBC6B-AD31-49B0-BF53-7B146CD41986}"/>
              </a:ext>
            </a:extLst>
          </p:cNvPr>
          <p:cNvSpPr txBox="1"/>
          <p:nvPr/>
        </p:nvSpPr>
        <p:spPr>
          <a:xfrm>
            <a:off x="4572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M01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キックオフ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51A652D-B0F8-45C8-BBCC-C0E0CB45F9B0}"/>
              </a:ext>
            </a:extLst>
          </p:cNvPr>
          <p:cNvSpPr/>
          <p:nvPr/>
        </p:nvSpPr>
        <p:spPr>
          <a:xfrm>
            <a:off x="4572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スコープと前提の確定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6AA54F-421F-4748-9890-AFB8BE0A3851}"/>
              </a:ext>
            </a:extLst>
          </p:cNvPr>
          <p:cNvSpPr txBox="1"/>
          <p:nvPr/>
        </p:nvSpPr>
        <p:spPr>
          <a:xfrm>
            <a:off x="4572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artifacts/meeting_minutes/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_2025-09-02.md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E6D174D-D760-4BBC-9A20-0E8E988C0546}"/>
              </a:ext>
            </a:extLst>
          </p:cNvPr>
          <p:cNvSpPr/>
          <p:nvPr/>
        </p:nvSpPr>
        <p:spPr>
          <a:xfrm>
            <a:off x="4597400" y="1549400"/>
            <a:ext cx="203200" cy="2032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7688FF-289C-4975-A85A-FFF70EB9ACFC}"/>
              </a:ext>
            </a:extLst>
          </p:cNvPr>
          <p:cNvSpPr txBox="1"/>
          <p:nvPr/>
        </p:nvSpPr>
        <p:spPr>
          <a:xfrm>
            <a:off x="43434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5C5C5C"/>
                </a:solidFill>
                <a:latin typeface="BIZ UDPGothic"/>
                <a:ea typeface="BIZ UDPGothic"/>
              </a:rPr>
              <a:t>2025-09-16</a:t>
            </a:r>
            <a:endParaRPr lang="ja-JP" altLang="en-US" sz="1400" b="1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7FA9864-977B-4C7D-9EFD-4932AFDDB550}"/>
              </a:ext>
            </a:extLst>
          </p:cNvPr>
          <p:cNvSpPr txBox="1"/>
          <p:nvPr/>
        </p:nvSpPr>
        <p:spPr>
          <a:xfrm>
            <a:off x="43434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M02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中間レビュー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DA4A8D7-3692-4BB5-95D9-897447346EC0}"/>
              </a:ext>
            </a:extLst>
          </p:cNvPr>
          <p:cNvSpPr/>
          <p:nvPr/>
        </p:nvSpPr>
        <p:spPr>
          <a:xfrm>
            <a:off x="43434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線形系の閾値調整効果を確認。性能向上により非線形系の試行を継続する方針決定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C74B42-5C2B-4110-A7DF-A237DB5C2A64}"/>
              </a:ext>
            </a:extLst>
          </p:cNvPr>
          <p:cNvSpPr txBox="1"/>
          <p:nvPr/>
        </p:nvSpPr>
        <p:spPr>
          <a:xfrm>
            <a:off x="43434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artifacts/meeting_minutes/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_2025-09-16.md
artifacts/reports/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_2025-09-16.md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1CB4097-9695-4D48-ABE3-3D642C689849}"/>
              </a:ext>
            </a:extLst>
          </p:cNvPr>
          <p:cNvSpPr/>
          <p:nvPr/>
        </p:nvSpPr>
        <p:spPr>
          <a:xfrm>
            <a:off x="8483600" y="1549400"/>
            <a:ext cx="203200" cy="2032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D6B74B-AB11-47A9-99CD-0DCAEE7D04F8}"/>
              </a:ext>
            </a:extLst>
          </p:cNvPr>
          <p:cNvSpPr txBox="1"/>
          <p:nvPr/>
        </p:nvSpPr>
        <p:spPr>
          <a:xfrm>
            <a:off x="82296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383838"/>
                </a:solidFill>
                <a:latin typeface="BIZ UDPGothic"/>
                <a:ea typeface="BIZ UDPGothic"/>
              </a:rPr>
              <a:t>2025-09-19</a:t>
            </a:r>
            <a:endParaRPr lang="ja-JP" altLang="en-US" sz="1400" b="1">
              <a:solidFill>
                <a:srgbClr val="383838"/>
              </a:solidFill>
              <a:latin typeface="BIZ UDPGothic"/>
              <a:ea typeface="BIZ UDPGothic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E56D35-F1E3-4953-8140-32299DDF2F35}"/>
              </a:ext>
            </a:extLst>
          </p:cNvPr>
          <p:cNvSpPr txBox="1"/>
          <p:nvPr/>
        </p:nvSpPr>
        <p:spPr>
          <a:xfrm>
            <a:off x="82296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変更管理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CP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F836501-C8D3-4359-ADA8-A82A1654A1B3}"/>
              </a:ext>
            </a:extLst>
          </p:cNvPr>
          <p:cNvSpPr/>
          <p:nvPr/>
        </p:nvSpPr>
        <p:spPr>
          <a:xfrm>
            <a:off x="82296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追加要求等の有無を判定するチェックポイント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B67020-A6A3-43AC-8349-7345D2204C39}"/>
              </a:ext>
            </a:extLst>
          </p:cNvPr>
          <p:cNvSpPr txBox="1"/>
          <p:nvPr/>
        </p:nvSpPr>
        <p:spPr>
          <a:xfrm>
            <a:off x="82296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Project schedule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ドキュメント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C7A0289-5F58-48C3-8C43-6700E89C5B99}"/>
              </a:ext>
            </a:extLst>
          </p:cNvPr>
          <p:cNvSpPr/>
          <p:nvPr/>
        </p:nvSpPr>
        <p:spPr>
          <a:xfrm>
            <a:off x="457200" y="4775200"/>
            <a:ext cx="11277600" cy="1016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モデル種別の変遷：線形系モデル群（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T01-T05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f1_macro ≈ 0.733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AUC ≈ 0.825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）→ 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hist_gradient_boosting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f1_macro = 0.829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AUC = 0.905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）へ。
これは「スコープ内の分析アプローチ最適化」に該当し、追加スコープ請求を伴わない通常の手戻り改善として実施。中間レビュー（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）で方針共有後、最終報告段階で運用案と合わせて提示。</a:t>
            </a:r>
          </a:p>
        </p:txBody>
      </p:sp>
    </p:spTree>
    <p:extLst>
      <p:ext uri="{BB962C8B-B14F-4D97-AF65-F5344CB8AC3E}">
        <p14:creationId xmlns:p14="http://schemas.microsoft.com/office/powerpoint/2010/main" val="51215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9B05CD-0214-4BEE-8F60-10118AFC77FE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17.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総括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7BAB6C1-DBB5-4EDB-89C6-07046460B166}"/>
              </a:ext>
            </a:extLst>
          </p:cNvPr>
          <p:cNvSpPr/>
          <p:nvPr/>
        </p:nvSpPr>
        <p:spPr>
          <a:xfrm>
            <a:off x="457200" y="965200"/>
            <a:ext cx="112776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600">
                <a:solidFill>
                  <a:srgbClr val="2D2D2D"/>
                </a:solidFill>
                <a:latin typeface="BIZ UDPGothic"/>
                <a:ea typeface="BIZ UDPGothic"/>
              </a:rPr>
              <a:t>本プロジェクトは、提案・契約どおりの期間内に分析基盤および初期モデルを整備し、判定支援として実用性のある示唆（閾値運用案、運用前パイロット設計、データ品質管理方針）を提示した。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AD8219-8138-48D8-91CE-C4B560C05F82}"/>
              </a:ext>
            </a:extLst>
          </p:cNvPr>
          <p:cNvSpPr txBox="1"/>
          <p:nvPr/>
        </p:nvSpPr>
        <p:spPr>
          <a:xfrm>
            <a:off x="457200" y="2260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主要な成果と今後の方向性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6F83DC-BBD9-49F3-A9CC-0398C9F47247}"/>
              </a:ext>
            </a:extLst>
          </p:cNvPr>
          <p:cNvSpPr/>
          <p:nvPr/>
        </p:nvSpPr>
        <p:spPr>
          <a:xfrm>
            <a:off x="457200" y="2717800"/>
            <a:ext cx="35052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内部検証結果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4C00D66-53A9-4A10-AC8F-A4CF5996F50E}"/>
              </a:ext>
            </a:extLst>
          </p:cNvPr>
          <p:cNvSpPr/>
          <p:nvPr/>
        </p:nvSpPr>
        <p:spPr>
          <a:xfrm>
            <a:off x="45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良好。スコア上位の患者を優先的にフォローする運用に即した施策が実行可能である。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943B4C2-CC94-418D-9E95-D87AB5A7C643}"/>
              </a:ext>
            </a:extLst>
          </p:cNvPr>
          <p:cNvSpPr/>
          <p:nvPr/>
        </p:nvSpPr>
        <p:spPr>
          <a:xfrm>
            <a:off x="4267200" y="2717800"/>
            <a:ext cx="35052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実運用化の条件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7DA182D-A9C9-407A-B949-CDEC8C508F41}"/>
              </a:ext>
            </a:extLst>
          </p:cNvPr>
          <p:cNvSpPr/>
          <p:nvPr/>
        </p:nvSpPr>
        <p:spPr>
          <a:xfrm>
            <a:off x="426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外部検証やパイロットによる再確認、運用フローの整備が必須である。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33D9B4F-5E3E-4B3E-A226-0078CBBE0B7C}"/>
              </a:ext>
            </a:extLst>
          </p:cNvPr>
          <p:cNvSpPr/>
          <p:nvPr/>
        </p:nvSpPr>
        <p:spPr>
          <a:xfrm>
            <a:off x="8077200" y="2717800"/>
            <a:ext cx="35052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推奨アクション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304B43C-87AD-4AAA-82AC-81ECF994127F}"/>
              </a:ext>
            </a:extLst>
          </p:cNvPr>
          <p:cNvSpPr/>
          <p:nvPr/>
        </p:nvSpPr>
        <p:spPr>
          <a:xfrm>
            <a:off x="807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運用パイロット→評価→本番化の順で進めることを推奨する。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3B690B-F3E9-4F61-850D-A2053EB6ACBB}"/>
              </a:ext>
            </a:extLst>
          </p:cNvPr>
          <p:cNvSpPr txBox="1"/>
          <p:nvPr/>
        </p:nvSpPr>
        <p:spPr>
          <a:xfrm>
            <a:off x="457200" y="4648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推奨する次のステップ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FCAB40B-EAA0-4A6E-B48A-D6E7D4EF0A27}"/>
              </a:ext>
            </a:extLst>
          </p:cNvPr>
          <p:cNvSpPr/>
          <p:nvPr/>
        </p:nvSpPr>
        <p:spPr>
          <a:xfrm>
            <a:off x="457200" y="5080000"/>
            <a:ext cx="26670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運用パイロット
実施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B5A9546B-A43F-449F-B2B3-B8F122848BAE}"/>
              </a:ext>
            </a:extLst>
          </p:cNvPr>
          <p:cNvSpPr/>
          <p:nvPr/>
        </p:nvSpPr>
        <p:spPr>
          <a:xfrm>
            <a:off x="3175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0F2086C-DB78-44C6-9EED-B73F54D0B8EE}"/>
              </a:ext>
            </a:extLst>
          </p:cNvPr>
          <p:cNvSpPr/>
          <p:nvPr/>
        </p:nvSpPr>
        <p:spPr>
          <a:xfrm>
            <a:off x="3378200" y="5080000"/>
            <a:ext cx="26670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精度・業務負荷
評価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D3F66E9-857D-4F9E-989C-E821942683A9}"/>
              </a:ext>
            </a:extLst>
          </p:cNvPr>
          <p:cNvSpPr/>
          <p:nvPr/>
        </p:nvSpPr>
        <p:spPr>
          <a:xfrm>
            <a:off x="6096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69DC54D-4C27-48C7-BF61-C11D4B4A4B9E}"/>
              </a:ext>
            </a:extLst>
          </p:cNvPr>
          <p:cNvSpPr/>
          <p:nvPr/>
        </p:nvSpPr>
        <p:spPr>
          <a:xfrm>
            <a:off x="6299200" y="5080000"/>
            <a:ext cx="26670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閾値最終
チューニング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86F8FF8F-85EE-423C-84F1-BEE389F8829D}"/>
              </a:ext>
            </a:extLst>
          </p:cNvPr>
          <p:cNvSpPr/>
          <p:nvPr/>
        </p:nvSpPr>
        <p:spPr>
          <a:xfrm>
            <a:off x="9017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29CA533-308F-407D-BDA4-FAA17234C4BA}"/>
              </a:ext>
            </a:extLst>
          </p:cNvPr>
          <p:cNvSpPr/>
          <p:nvPr/>
        </p:nvSpPr>
        <p:spPr>
          <a:xfrm>
            <a:off x="9220200" y="5080000"/>
            <a:ext cx="2667000" cy="711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本番化検討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FB1052-8A72-44D7-8920-317D27A1DE57}"/>
              </a:ext>
            </a:extLst>
          </p:cNvPr>
          <p:cNvSpPr txBox="1"/>
          <p:nvPr/>
        </p:nvSpPr>
        <p:spPr>
          <a:xfrm>
            <a:off x="457200" y="5969000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ご不明点や追加の検証依頼があれば、会議にてご指示ください。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8387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4958842068]">
  <a:themeElements>
    <a:clrScheme name="KaedeReport">
      <a:dk1>
        <a:srgbClr val="2D2D2D"/>
      </a:dk1>
      <a:lt1>
        <a:srgbClr val="FFFFFF"/>
      </a:lt1>
      <a:dk2>
        <a:srgbClr val="4A4A4A"/>
      </a:dk2>
      <a:lt2>
        <a:srgbClr val="F2F0ED"/>
      </a:lt2>
      <a:accent1>
        <a:srgbClr val="A0332E"/>
      </a:accent1>
      <a:accent2>
        <a:srgbClr val="5C5C5C"/>
      </a:accent2>
      <a:accent3>
        <a:srgbClr val="8C8C8C"/>
      </a:accent3>
      <a:accent4>
        <a:srgbClr val="C45B4E"/>
      </a:accent4>
      <a:accent5>
        <a:srgbClr val="383838"/>
      </a:accent5>
      <a:accent6>
        <a:srgbClr val="D4CFC8"/>
      </a:accent6>
      <a:hlink>
        <a:srgbClr val="467886"/>
      </a:hlink>
      <a:folHlink>
        <a:srgbClr val="96607D"/>
      </a:folHlink>
    </a:clrScheme>
    <a:fontScheme name="KaedeFont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F49711-E115-419F-A70D-E271F7912228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2884</Words>
  <Application>Microsoft Office PowerPoint</Application>
  <PresentationFormat>ワイド画面</PresentationFormat>
  <Paragraphs>326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Arial</vt:lpstr>
      <vt:lpstr>BIZ UDPゴシック</vt:lpstr>
      <vt:lpstr>Office テーマ [1774958842068]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6</cp:revision>
  <dcterms:created xsi:type="dcterms:W3CDTF">2026-03-31T12:06:09Z</dcterms:created>
  <dcterms:modified xsi:type="dcterms:W3CDTF">2026-04-01T02:51:47Z</dcterms:modified>
</cp:coreProperties>
</file>