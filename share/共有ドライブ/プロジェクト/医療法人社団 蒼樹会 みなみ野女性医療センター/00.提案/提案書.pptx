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0" r:id="rId3"/>
    <p:sldId id="262" r:id="rId4"/>
    <p:sldId id="264" r:id="rId5"/>
    <p:sldId id="287" r:id="rId6"/>
    <p:sldId id="268" r:id="rId7"/>
    <p:sldId id="288" r:id="rId8"/>
    <p:sldId id="272" r:id="rId9"/>
    <p:sldId id="286" r:id="rId10"/>
    <p:sldId id="285" r:id="rId11"/>
    <p:sldId id="278" r:id="rId12"/>
    <p:sldId id="280" r:id="rId13"/>
    <p:sldId id="282" r:id="rId14"/>
    <p:sldId id="289"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561"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1E7C68-CB30-4CF3-DCEC-AC063B3956E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F703BA9-8DB7-DCEC-3A47-A433712DBD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894BFCE-89FC-E79A-512C-1C25D130B3F5}"/>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5" name="フッター プレースホルダー 4">
            <a:extLst>
              <a:ext uri="{FF2B5EF4-FFF2-40B4-BE49-F238E27FC236}">
                <a16:creationId xmlns:a16="http://schemas.microsoft.com/office/drawing/2014/main" id="{956B76AF-2114-8CD8-4116-4868E2E059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930BFFC-D955-75F9-A7A6-522C029BF520}"/>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1054449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970C95-5228-5538-1F15-5D622E706A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10779C4-4321-E172-B9A5-030AD23A01D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2877A6-E973-3B0B-F8A4-75AACB60C0BD}"/>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5" name="フッター プレースホルダー 4">
            <a:extLst>
              <a:ext uri="{FF2B5EF4-FFF2-40B4-BE49-F238E27FC236}">
                <a16:creationId xmlns:a16="http://schemas.microsoft.com/office/drawing/2014/main" id="{CF12D448-EF19-D4D2-05A7-11CDC90AD6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33A90D5-80D4-7E64-CD38-80CFD927CD07}"/>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1871754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9EDB4D-409D-FD71-1BB7-39F3FE867E7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DDFE77-6549-F369-760C-0AF3FEBFF8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A1436D1-2785-3D59-914A-36C8E73C9011}"/>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5" name="フッター プレースホルダー 4">
            <a:extLst>
              <a:ext uri="{FF2B5EF4-FFF2-40B4-BE49-F238E27FC236}">
                <a16:creationId xmlns:a16="http://schemas.microsoft.com/office/drawing/2014/main" id="{B639825E-A00A-90AA-A1DA-18CA82FD56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9C4027-4CCD-92AF-F008-DF9E296389A9}"/>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3630473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E25AC4-E063-CC7D-E367-3744DA3A389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99B907-96D9-F250-243C-D8FA15418DD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589AA01-1D36-0B79-047B-BEC74279DE1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1B8F4F3-BBB0-0C19-80E7-AC4FCDDF1711}"/>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6" name="フッター プレースホルダー 5">
            <a:extLst>
              <a:ext uri="{FF2B5EF4-FFF2-40B4-BE49-F238E27FC236}">
                <a16:creationId xmlns:a16="http://schemas.microsoft.com/office/drawing/2014/main" id="{5A6C992E-AD2B-6717-2475-D4E03368BEA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7D76E0B-F02C-66FC-5A62-F2E8A59DC92E}"/>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167349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0A7EA6-8331-5753-6B3B-68D52DF85D6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B8020A9-7928-CDF0-A58F-6AA0BBBCEA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0C4684B-8E05-FB56-15FB-D7B43041C58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B0D897D-0F2E-81F6-4245-5E5305A0A8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05CA025-3277-A140-2A32-247B8F5338C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D0D1754-129F-4932-687F-14E7E45F0A65}"/>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8" name="フッター プレースホルダー 7">
            <a:extLst>
              <a:ext uri="{FF2B5EF4-FFF2-40B4-BE49-F238E27FC236}">
                <a16:creationId xmlns:a16="http://schemas.microsoft.com/office/drawing/2014/main" id="{C9F006C6-C96D-77CA-5F8E-B8DE249047A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D775EDA-983E-5165-2C78-2941F7415DF3}"/>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213368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D5C1A8-7143-739A-8D13-2F364D56E5B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D654A2-D2BA-DB09-F9B3-99122C2CE399}"/>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4" name="フッター プレースホルダー 3">
            <a:extLst>
              <a:ext uri="{FF2B5EF4-FFF2-40B4-BE49-F238E27FC236}">
                <a16:creationId xmlns:a16="http://schemas.microsoft.com/office/drawing/2014/main" id="{F77B07D9-D455-A027-6C6E-6F7EB3042B7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CFA4C9D-8F53-28A5-345D-AB14D2A4FA9D}"/>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2433899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3D6450A-DAC5-8391-BC59-48A0AA5D3E7B}"/>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3" name="フッター プレースホルダー 2">
            <a:extLst>
              <a:ext uri="{FF2B5EF4-FFF2-40B4-BE49-F238E27FC236}">
                <a16:creationId xmlns:a16="http://schemas.microsoft.com/office/drawing/2014/main" id="{D7959DCE-1A77-7F27-3E33-58DEF8DDA0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9A9115-2E1C-ECE4-431D-4CB3BC73B88E}"/>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1598891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0CF83-21BC-3F57-07F3-5CEE3DC919F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E767D1-E908-495F-8439-1D38CF4FB2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CDEC3E3-D127-E75D-7AAB-D09272221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487D58F-1127-8F42-74F0-8CD9069F0035}"/>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6" name="フッター プレースホルダー 5">
            <a:extLst>
              <a:ext uri="{FF2B5EF4-FFF2-40B4-BE49-F238E27FC236}">
                <a16:creationId xmlns:a16="http://schemas.microsoft.com/office/drawing/2014/main" id="{732C52D0-945C-8306-4C61-61F1A95BC41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D90530D-3A80-AA07-D374-35F739090139}"/>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3097541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8767DF-F1B5-3425-D4BC-B1C65DBDF73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83E0E5C-C11E-EDD5-8DA3-E8836E566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0B25B3-17C0-A36E-E893-96F43E1CEE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B5710C4-3D54-5F6B-0C63-99DB7BF82519}"/>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6" name="フッター プレースホルダー 5">
            <a:extLst>
              <a:ext uri="{FF2B5EF4-FFF2-40B4-BE49-F238E27FC236}">
                <a16:creationId xmlns:a16="http://schemas.microsoft.com/office/drawing/2014/main" id="{6BFB8457-2253-48C9-D8C9-5C8ED6A74AE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3192B03-ABC9-B900-72A0-F9BFC8A7EA64}"/>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1327323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E727E8-A02C-AF80-DF9B-F5E1385C543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2BAC70B-CE27-ACF6-7B5B-57BF3C11E96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58F0AA-EC95-C50D-DEE1-0AAB64EECE53}"/>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5" name="フッター プレースホルダー 4">
            <a:extLst>
              <a:ext uri="{FF2B5EF4-FFF2-40B4-BE49-F238E27FC236}">
                <a16:creationId xmlns:a16="http://schemas.microsoft.com/office/drawing/2014/main" id="{2B4A5F82-F31D-6F38-E5ED-513C626941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AA0C44-6C2A-DC06-19E2-1F52B761FD52}"/>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4066155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135BADB-5EBE-873E-C47B-B67E482FECF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338635F-B695-FE60-B5F7-8431D2DCD2D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6C6353F-7F21-D419-625E-B405A769D878}"/>
              </a:ext>
            </a:extLst>
          </p:cNvPr>
          <p:cNvSpPr>
            <a:spLocks noGrp="1"/>
          </p:cNvSpPr>
          <p:nvPr>
            <p:ph type="dt" sz="half" idx="10"/>
          </p:nvPr>
        </p:nvSpPr>
        <p:spPr/>
        <p:txBody>
          <a:bodyPr/>
          <a:lstStyle/>
          <a:p>
            <a:fld id="{FE6ED471-EEF8-4E9C-9341-4200B8319EC4}" type="datetimeFigureOut">
              <a:rPr kumimoji="1" lang="ja-JP" altLang="en-US" smtClean="0"/>
              <a:t>2026/4/7</a:t>
            </a:fld>
            <a:endParaRPr kumimoji="1" lang="ja-JP" altLang="en-US"/>
          </a:p>
        </p:txBody>
      </p:sp>
      <p:sp>
        <p:nvSpPr>
          <p:cNvPr id="5" name="フッター プレースホルダー 4">
            <a:extLst>
              <a:ext uri="{FF2B5EF4-FFF2-40B4-BE49-F238E27FC236}">
                <a16:creationId xmlns:a16="http://schemas.microsoft.com/office/drawing/2014/main" id="{F92039F3-A8F7-BA08-9380-468FCDD101C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956BE9A-D838-2B64-9B30-BEAB545F41D2}"/>
              </a:ext>
            </a:extLst>
          </p:cNvPr>
          <p:cNvSpPr>
            <a:spLocks noGrp="1"/>
          </p:cNvSpPr>
          <p:nvPr>
            <p:ph type="sldNum" sz="quarter" idx="12"/>
          </p:nvPr>
        </p:nvSpPr>
        <p:spPr/>
        <p:txBody>
          <a:bodyPr/>
          <a:lstStyle/>
          <a:p>
            <a:fld id="{D9664B79-7FA3-4036-95ED-B35538E7F00D}" type="slidenum">
              <a:rPr kumimoji="1" lang="ja-JP" altLang="en-US" smtClean="0"/>
              <a:t>‹#›</a:t>
            </a:fld>
            <a:endParaRPr kumimoji="1" lang="ja-JP" altLang="en-US"/>
          </a:p>
        </p:txBody>
      </p:sp>
    </p:spTree>
    <p:extLst>
      <p:ext uri="{BB962C8B-B14F-4D97-AF65-F5344CB8AC3E}">
        <p14:creationId xmlns:p14="http://schemas.microsoft.com/office/powerpoint/2010/main" val="3919881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6EC93DC-B23F-1A21-2D4C-DE5A4F2609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18F94FE-598E-C14F-D3DB-C36EC01F53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0E3D9F-D512-14A8-734B-948DF7DDC0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6ED471-EEF8-4E9C-9341-4200B8319EC4}" type="datetimeFigureOut">
              <a:rPr kumimoji="1" lang="ja-JP" altLang="en-US" smtClean="0"/>
              <a:t>2026/4/7</a:t>
            </a:fld>
            <a:endParaRPr kumimoji="1" lang="ja-JP" altLang="en-US"/>
          </a:p>
        </p:txBody>
      </p:sp>
      <p:sp>
        <p:nvSpPr>
          <p:cNvPr id="5" name="フッター プレースホルダー 4">
            <a:extLst>
              <a:ext uri="{FF2B5EF4-FFF2-40B4-BE49-F238E27FC236}">
                <a16:creationId xmlns:a16="http://schemas.microsoft.com/office/drawing/2014/main" id="{A2915619-9BBA-62BE-FCBB-19C3EB4891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09EDFB7-2FE0-A518-24D1-F582BDE793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664B79-7FA3-4036-95ED-B35538E7F00D}" type="slidenum">
              <a:rPr kumimoji="1" lang="ja-JP" altLang="en-US" smtClean="0"/>
              <a:t>‹#›</a:t>
            </a:fld>
            <a:endParaRPr kumimoji="1" lang="ja-JP" altLang="en-US"/>
          </a:p>
        </p:txBody>
      </p:sp>
      <p:sp>
        <p:nvSpPr>
          <p:cNvPr id="900" name="BottomBar"/>
          <p:cNvSpPr/>
          <p:nvPr userDrawn="1"/>
        </p:nvSpPr>
        <p:spPr>
          <a:xfrm>
            <a:off x="0" y="6705600"/>
            <a:ext cx="12192000" cy="152400"/>
          </a:xfrm>
          <a:prstGeom prst="rect">
            <a:avLst/>
          </a:prstGeom>
          <a:solidFill>
            <a:srgbClr val="A03028"/>
          </a:solidFill>
          <a:ln>
            <a:noFill/>
          </a:ln>
        </p:spPr>
        <p:txBody>
          <a:bodyPr/>
          <a:lstStyle/>
          <a:p>
            <a:endParaRPr lang="ja-JP"/>
          </a:p>
        </p:txBody>
      </p:sp>
      <p:sp>
        <p:nvSpPr>
          <p:cNvPr id="901" name="TopLine"/>
          <p:cNvSpPr/>
          <p:nvPr userDrawn="1"/>
        </p:nvSpPr>
        <p:spPr>
          <a:xfrm>
            <a:off x="0" y="0"/>
            <a:ext cx="12192000" cy="38100"/>
          </a:xfrm>
          <a:prstGeom prst="rect">
            <a:avLst/>
          </a:prstGeom>
          <a:solidFill>
            <a:srgbClr val="2B2B2B"/>
          </a:solidFill>
          <a:ln>
            <a:noFill/>
          </a:ln>
        </p:spPr>
        <p:txBody>
          <a:bodyPr/>
          <a:lstStyle/>
          <a:p>
            <a:endParaRPr lang="ja-JP"/>
          </a:p>
        </p:txBody>
      </p:sp>
    </p:spTree>
    <p:extLst>
      <p:ext uri="{BB962C8B-B14F-4D97-AF65-F5344CB8AC3E}">
        <p14:creationId xmlns:p14="http://schemas.microsoft.com/office/powerpoint/2010/main" val="4100583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2B2B2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4A4A4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4A4A4A"/>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4A4A4A"/>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9pPr>
    </p:bodyStyle>
    <p:otherStyle>
      <a:defPPr>
        <a:defRPr lang="ja-JP">
          <a:solidFill>
            <a:srgbClr val="4A4A4A"/>
          </a:solidFill>
        </a:defRPr>
      </a:defPPr>
      <a:lvl1pPr marL="0" algn="l" defTabSz="914400" rtl="0" eaLnBrk="1" latinLnBrk="0" hangingPunct="1">
        <a:defRPr kumimoji="1" sz="1800" kern="1200">
          <a:solidFill>
            <a:srgbClr val="4A4A4A"/>
          </a:solidFill>
          <a:latin typeface="+mn-lt"/>
          <a:ea typeface="+mn-ea"/>
          <a:cs typeface="+mn-cs"/>
        </a:defRPr>
      </a:lvl1pPr>
      <a:lvl2pPr marL="457200" algn="l" defTabSz="914400" rtl="0" eaLnBrk="1" latinLnBrk="0" hangingPunct="1">
        <a:defRPr kumimoji="1" sz="1800" kern="1200">
          <a:solidFill>
            <a:srgbClr val="4A4A4A"/>
          </a:solidFill>
          <a:latin typeface="+mn-lt"/>
          <a:ea typeface="+mn-ea"/>
          <a:cs typeface="+mn-cs"/>
        </a:defRPr>
      </a:lvl2pPr>
      <a:lvl3pPr marL="914400" algn="l" defTabSz="914400" rtl="0" eaLnBrk="1" latinLnBrk="0" hangingPunct="1">
        <a:defRPr kumimoji="1" sz="1800" kern="1200">
          <a:solidFill>
            <a:srgbClr val="4A4A4A"/>
          </a:solidFill>
          <a:latin typeface="+mn-lt"/>
          <a:ea typeface="+mn-ea"/>
          <a:cs typeface="+mn-cs"/>
        </a:defRPr>
      </a:lvl3pPr>
      <a:lvl4pPr marL="1371600" algn="l" defTabSz="914400" rtl="0" eaLnBrk="1" latinLnBrk="0" hangingPunct="1">
        <a:defRPr kumimoji="1" sz="1800" kern="1200">
          <a:solidFill>
            <a:srgbClr val="4A4A4A"/>
          </a:solidFill>
          <a:latin typeface="+mn-lt"/>
          <a:ea typeface="+mn-ea"/>
          <a:cs typeface="+mn-cs"/>
        </a:defRPr>
      </a:lvl4pPr>
      <a:lvl5pPr marL="1828800" algn="l" defTabSz="914400" rtl="0" eaLnBrk="1" latinLnBrk="0" hangingPunct="1">
        <a:defRPr kumimoji="1" sz="1800" kern="1200">
          <a:solidFill>
            <a:srgbClr val="4A4A4A"/>
          </a:solidFill>
          <a:latin typeface="+mn-lt"/>
          <a:ea typeface="+mn-ea"/>
          <a:cs typeface="+mn-cs"/>
        </a:defRPr>
      </a:lvl5pPr>
      <a:lvl6pPr marL="2286000" algn="l" defTabSz="914400" rtl="0" eaLnBrk="1" latinLnBrk="0" hangingPunct="1">
        <a:defRPr kumimoji="1" sz="1800" kern="1200">
          <a:solidFill>
            <a:srgbClr val="4A4A4A"/>
          </a:solidFill>
          <a:latin typeface="+mn-lt"/>
          <a:ea typeface="+mn-ea"/>
          <a:cs typeface="+mn-cs"/>
        </a:defRPr>
      </a:lvl6pPr>
      <a:lvl7pPr marL="2743200" algn="l" defTabSz="914400" rtl="0" eaLnBrk="1" latinLnBrk="0" hangingPunct="1">
        <a:defRPr kumimoji="1" sz="1800" kern="1200">
          <a:solidFill>
            <a:srgbClr val="4A4A4A"/>
          </a:solidFill>
          <a:latin typeface="+mn-lt"/>
          <a:ea typeface="+mn-ea"/>
          <a:cs typeface="+mn-cs"/>
        </a:defRPr>
      </a:lvl7pPr>
      <a:lvl8pPr marL="3200400" algn="l" defTabSz="914400" rtl="0" eaLnBrk="1" latinLnBrk="0" hangingPunct="1">
        <a:defRPr kumimoji="1" sz="1800" kern="1200">
          <a:solidFill>
            <a:srgbClr val="4A4A4A"/>
          </a:solidFill>
          <a:latin typeface="+mn-lt"/>
          <a:ea typeface="+mn-ea"/>
          <a:cs typeface="+mn-cs"/>
        </a:defRPr>
      </a:lvl8pPr>
      <a:lvl9pPr marL="3657600" algn="l" defTabSz="914400" rtl="0" eaLnBrk="1" latinLnBrk="0" hangingPunct="1">
        <a:defRPr kumimoji="1" sz="1800" kern="1200">
          <a:solidFill>
            <a:srgbClr val="4A4A4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eftBar"/>
          <p:cNvSpPr/>
          <p:nvPr/>
        </p:nvSpPr>
        <p:spPr>
          <a:xfrm>
            <a:off x="0" y="0"/>
            <a:ext cx="304800" cy="6858000"/>
          </a:xfrm>
          <a:prstGeom prst="rect">
            <a:avLst/>
          </a:prstGeom>
          <a:solidFill>
            <a:srgbClr val="A03028"/>
          </a:solidFill>
          <a:ln>
            <a:noFill/>
          </a:ln>
        </p:spPr>
        <p:txBody>
          <a:bodyPr/>
          <a:lstStyle/>
          <a:p>
            <a:endParaRPr lang="ja-JP"/>
          </a:p>
        </p:txBody>
      </p:sp>
      <p:sp>
        <p:nvSpPr>
          <p:cNvPr id="11" name="MainTitle"/>
          <p:cNvSpPr/>
          <p:nvPr/>
        </p:nvSpPr>
        <p:spPr>
          <a:xfrm>
            <a:off x="762000" y="1778000"/>
            <a:ext cx="10668000" cy="1016000"/>
          </a:xfrm>
          <a:prstGeom prst="rect">
            <a:avLst/>
          </a:prstGeom>
          <a:noFill/>
          <a:ln>
            <a:noFill/>
          </a:ln>
        </p:spPr>
        <p:txBody>
          <a:bodyPr wrap="square" lIns="0" tIns="0" rIns="0" bIns="0" anchor="b"/>
          <a:lstStyle/>
          <a:p>
            <a:pPr algn="l">
              <a:buNone/>
            </a:pPr>
            <a:r>
              <a:rPr lang="ja-JP" sz="3600" b="1" dirty="0">
                <a:solidFill>
                  <a:srgbClr val="2B2B2B"/>
                </a:solidFill>
                <a:latin typeface="BIZ UDPGothic"/>
                <a:ea typeface="BIZ UDPGothic"/>
              </a:rPr>
              <a:t>データ分析プロジェクト提案書</a:t>
            </a:r>
          </a:p>
        </p:txBody>
      </p:sp>
      <p:sp>
        <p:nvSpPr>
          <p:cNvPr id="12" name="Subtitle"/>
          <p:cNvSpPr/>
          <p:nvPr/>
        </p:nvSpPr>
        <p:spPr>
          <a:xfrm>
            <a:off x="762000" y="2895600"/>
            <a:ext cx="10668000" cy="635000"/>
          </a:xfrm>
          <a:prstGeom prst="rect">
            <a:avLst/>
          </a:prstGeom>
          <a:noFill/>
          <a:ln>
            <a:noFill/>
          </a:ln>
        </p:spPr>
        <p:txBody>
          <a:bodyPr wrap="square" lIns="0" tIns="0" rIns="0" bIns="0" anchor="t"/>
          <a:lstStyle/>
          <a:p>
            <a:pPr algn="l">
              <a:buNone/>
            </a:pPr>
            <a:r>
              <a:rPr lang="ja-JP" sz="1800" dirty="0">
                <a:solidFill>
                  <a:srgbClr val="A03028"/>
                </a:solidFill>
                <a:latin typeface="BIZ UDPGothic"/>
                <a:ea typeface="BIZ UDPGothic"/>
              </a:rPr>
              <a:t>糖尿病リスク早期把握に向けた分析基盤整備</a:t>
            </a:r>
          </a:p>
        </p:txBody>
      </p:sp>
      <p:sp>
        <p:nvSpPr>
          <p:cNvPr id="13" name="Divider"/>
          <p:cNvSpPr/>
          <p:nvPr/>
        </p:nvSpPr>
        <p:spPr>
          <a:xfrm>
            <a:off x="762000" y="3683000"/>
            <a:ext cx="10668000" cy="25400"/>
          </a:xfrm>
          <a:prstGeom prst="rect">
            <a:avLst/>
          </a:prstGeom>
          <a:solidFill>
            <a:srgbClr val="8B8B8B"/>
          </a:solidFill>
          <a:ln>
            <a:noFill/>
          </a:ln>
        </p:spPr>
        <p:txBody>
          <a:bodyPr/>
          <a:lstStyle/>
          <a:p>
            <a:endParaRPr lang="ja-JP"/>
          </a:p>
        </p:txBody>
      </p:sp>
      <p:sp>
        <p:nvSpPr>
          <p:cNvPr id="14" name="ClientInfo"/>
          <p:cNvSpPr/>
          <p:nvPr/>
        </p:nvSpPr>
        <p:spPr>
          <a:xfrm>
            <a:off x="762000" y="3937000"/>
            <a:ext cx="5080000" cy="1143000"/>
          </a:xfrm>
          <a:prstGeom prst="rect">
            <a:avLst/>
          </a:prstGeom>
          <a:noFill/>
          <a:ln>
            <a:noFill/>
          </a:ln>
        </p:spPr>
        <p:txBody>
          <a:bodyPr wrap="square" lIns="0" tIns="0" rIns="0" bIns="0" anchor="t"/>
          <a:lstStyle/>
          <a:p>
            <a:pPr algn="l">
              <a:buNone/>
            </a:pPr>
            <a:r>
              <a:rPr lang="ja-JP" sz="1400" b="1" dirty="0">
                <a:solidFill>
                  <a:srgbClr val="5C5C5C"/>
                </a:solidFill>
                <a:latin typeface="BIZ UDPGothic"/>
                <a:ea typeface="BIZ UDPGothic"/>
              </a:rPr>
              <a:t>提出先</a:t>
            </a:r>
          </a:p>
          <a:p>
            <a:pPr algn="l">
              <a:buNone/>
            </a:pPr>
            <a:r>
              <a:rPr lang="ja-JP" sz="1400" dirty="0">
                <a:solidFill>
                  <a:srgbClr val="4A4A4A"/>
                </a:solidFill>
                <a:latin typeface="BIZ UDPGothic"/>
                <a:ea typeface="BIZ UDPGothic"/>
              </a:rPr>
              <a:t>医療法人社団 蒼樹会</a:t>
            </a:r>
          </a:p>
          <a:p>
            <a:pPr algn="l">
              <a:buNone/>
            </a:pPr>
            <a:r>
              <a:rPr lang="ja-JP" sz="1400" dirty="0">
                <a:solidFill>
                  <a:srgbClr val="4A4A4A"/>
                </a:solidFill>
                <a:latin typeface="BIZ UDPGothic"/>
                <a:ea typeface="BIZ UDPGothic"/>
              </a:rPr>
              <a:t>みなみ野女性医療センター</a:t>
            </a:r>
          </a:p>
          <a:p>
            <a:pPr algn="l">
              <a:buNone/>
            </a:pPr>
            <a:r>
              <a:rPr lang="ja-JP" sz="1400" dirty="0">
                <a:solidFill>
                  <a:srgbClr val="4A4A4A"/>
                </a:solidFill>
                <a:latin typeface="BIZ UDPGothic"/>
                <a:ea typeface="BIZ UDPGothic"/>
              </a:rPr>
              <a:t>医療情報・品質改善推進室 林 さくら 室長</a:t>
            </a:r>
          </a:p>
        </p:txBody>
      </p:sp>
      <p:sp>
        <p:nvSpPr>
          <p:cNvPr id="15" name="VendorInfo"/>
          <p:cNvSpPr/>
          <p:nvPr/>
        </p:nvSpPr>
        <p:spPr>
          <a:xfrm>
            <a:off x="6350000" y="3937000"/>
            <a:ext cx="5080000" cy="1143000"/>
          </a:xfrm>
          <a:prstGeom prst="rect">
            <a:avLst/>
          </a:prstGeom>
          <a:noFill/>
          <a:ln>
            <a:noFill/>
          </a:ln>
        </p:spPr>
        <p:txBody>
          <a:bodyPr wrap="square" lIns="0" tIns="0" rIns="0" bIns="0" anchor="t"/>
          <a:lstStyle/>
          <a:p>
            <a:pPr algn="l">
              <a:buNone/>
            </a:pPr>
            <a:r>
              <a:rPr lang="ja-JP" sz="1400" b="1" dirty="0">
                <a:solidFill>
                  <a:srgbClr val="5C5C5C"/>
                </a:solidFill>
                <a:latin typeface="BIZ UDPGothic"/>
                <a:ea typeface="BIZ UDPGothic"/>
              </a:rPr>
              <a:t>提出元</a:t>
            </a:r>
          </a:p>
          <a:p>
            <a:pPr algn="l">
              <a:buNone/>
            </a:pPr>
            <a:r>
              <a:rPr lang="ja-JP" sz="1400" dirty="0">
                <a:solidFill>
                  <a:srgbClr val="4A4A4A"/>
                </a:solidFill>
                <a:latin typeface="BIZ UDPGothic"/>
                <a:ea typeface="BIZ UDPGothic"/>
              </a:rPr>
              <a:t>株式会社データアステル</a:t>
            </a:r>
          </a:p>
          <a:p>
            <a:pPr algn="l">
              <a:buNone/>
            </a:pPr>
            <a:r>
              <a:rPr lang="ja-JP" sz="1400" dirty="0">
                <a:solidFill>
                  <a:srgbClr val="4A4A4A"/>
                </a:solidFill>
                <a:latin typeface="BIZ UDPGothic"/>
                <a:ea typeface="BIZ UDPGothic"/>
              </a:rPr>
              <a:t>データサイエンス部</a:t>
            </a:r>
          </a:p>
        </p:txBody>
      </p:sp>
      <p:sp>
        <p:nvSpPr>
          <p:cNvPr id="16" name="Date"/>
          <p:cNvSpPr/>
          <p:nvPr/>
        </p:nvSpPr>
        <p:spPr>
          <a:xfrm>
            <a:off x="762000" y="5270500"/>
            <a:ext cx="10668000" cy="381000"/>
          </a:xfrm>
          <a:prstGeom prst="rect">
            <a:avLst/>
          </a:prstGeom>
          <a:noFill/>
          <a:ln>
            <a:noFill/>
          </a:ln>
        </p:spPr>
        <p:txBody>
          <a:bodyPr wrap="square" lIns="0" tIns="0" rIns="0" bIns="0" anchor="t"/>
          <a:lstStyle/>
          <a:p>
            <a:pPr algn="l">
              <a:buNone/>
            </a:pPr>
            <a:r>
              <a:rPr lang="ja-JP" sz="1400" dirty="0">
                <a:solidFill>
                  <a:srgbClr val="8B8B8B"/>
                </a:solidFill>
                <a:latin typeface="BIZ UDPGothic"/>
                <a:ea typeface="BIZ UDPGothic"/>
              </a:rPr>
              <a:t>2025-04-03</a:t>
            </a:r>
          </a:p>
        </p:txBody>
      </p:sp>
    </p:spTree>
    <p:extLst>
      <p:ext uri="{BB962C8B-B14F-4D97-AF65-F5344CB8AC3E}">
        <p14:creationId xmlns:p14="http://schemas.microsoft.com/office/powerpoint/2010/main" val="2655375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エグゼクティブサマリー</a:t>
            </a:r>
          </a:p>
        </p:txBody>
      </p:sp>
      <p:sp>
        <p:nvSpPr>
          <p:cNvPr id="21" name="TitleUnder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2" name="OverviewLabel"/>
          <p:cNvSpPr/>
          <p:nvPr/>
        </p:nvSpPr>
        <p:spPr>
          <a:xfrm>
            <a:off x="457200" y="889000"/>
            <a:ext cx="254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プロジェクト概要</a:t>
            </a:r>
          </a:p>
        </p:txBody>
      </p:sp>
      <p:sp>
        <p:nvSpPr>
          <p:cNvPr id="23" name="OverviewBox"/>
          <p:cNvSpPr/>
          <p:nvPr/>
        </p:nvSpPr>
        <p:spPr>
          <a:xfrm>
            <a:off x="457200" y="1206500"/>
            <a:ext cx="5461000" cy="1079500"/>
          </a:xfrm>
          <a:prstGeom prst="roundRect">
            <a:avLst/>
          </a:prstGeom>
          <a:solidFill>
            <a:srgbClr val="F7F7F7"/>
          </a:solidFill>
          <a:ln w="12700">
            <a:solidFill>
              <a:srgbClr val="E0E0E0"/>
            </a:solidFill>
          </a:ln>
        </p:spPr>
        <p:txBody>
          <a:bodyPr wrap="square" lIns="72000" tIns="36000" rIns="72000" bIns="36000" anchor="t"/>
          <a:lstStyle/>
          <a:p>
            <a:pPr algn="l">
              <a:buNone/>
            </a:pPr>
            <a:r>
              <a:rPr lang="ja-JP" sz="1200" dirty="0">
                <a:solidFill>
                  <a:srgbClr val="4A4A4A"/>
                </a:solidFill>
                <a:latin typeface="BIZ UDPGothic"/>
                <a:ea typeface="BIZ UDPGothic"/>
              </a:rPr>
              <a:t>医療法人社団 蒼樹会 みなみ野女性医療センターにおける糖尿病リスク早期把握のためのデータ分析基盤整備プロジェクト。train.csv（3,000行×10カラム）を対象に、Outcome（糖尿病有無）の予測可能性を検証し、業務活用可否を判断できる分析基盤を整備する。</a:t>
            </a:r>
          </a:p>
        </p:txBody>
      </p:sp>
      <p:sp>
        <p:nvSpPr>
          <p:cNvPr id="30" name="Metric0"/>
          <p:cNvSpPr/>
          <p:nvPr/>
        </p:nvSpPr>
        <p:spPr>
          <a:xfrm>
            <a:off x="457200" y="2540000"/>
            <a:ext cx="1333500" cy="952500"/>
          </a:xfrm>
          <a:prstGeom prst="roundRect">
            <a:avLst/>
          </a:prstGeom>
          <a:solidFill>
            <a:srgbClr val="2B2B2B"/>
          </a:solidFill>
          <a:ln>
            <a:noFill/>
          </a:ln>
        </p:spPr>
        <p:txBody>
          <a:bodyPr wrap="square" lIns="72000" tIns="36000" rIns="72000" bIns="36000" anchor="ctr"/>
          <a:lstStyle/>
          <a:p>
            <a:pPr algn="ctr">
              <a:buNone/>
            </a:pPr>
            <a:r>
              <a:rPr lang="ja-JP" sz="1000" dirty="0">
                <a:solidFill>
                  <a:srgbClr val="BBBBBB"/>
                </a:solidFill>
                <a:latin typeface="BIZ UDPGothic"/>
                <a:ea typeface="BIZ UDPGothic"/>
              </a:rPr>
              <a:t>契約期間</a:t>
            </a:r>
          </a:p>
          <a:p>
            <a:pPr algn="ctr">
              <a:buNone/>
            </a:pPr>
            <a:r>
              <a:rPr lang="ja-JP" sz="1800" b="1" dirty="0">
                <a:solidFill>
                  <a:srgbClr val="FFFFFF"/>
                </a:solidFill>
                <a:latin typeface="BIZ UDPGothic"/>
                <a:ea typeface="BIZ UDPGothic"/>
              </a:rPr>
              <a:t>6週間</a:t>
            </a:r>
          </a:p>
          <a:p>
            <a:pPr algn="ctr">
              <a:buNone/>
            </a:pPr>
            <a:r>
              <a:rPr lang="ja-JP" sz="900" dirty="0">
                <a:solidFill>
                  <a:srgbClr val="BBBBBB"/>
                </a:solidFill>
                <a:latin typeface="BIZ UDPGothic"/>
                <a:ea typeface="BIZ UDPGothic"/>
              </a:rPr>
              <a:t>2025-04-03 起点</a:t>
            </a:r>
          </a:p>
        </p:txBody>
      </p:sp>
      <p:sp>
        <p:nvSpPr>
          <p:cNvPr id="31" name="Metric1"/>
          <p:cNvSpPr/>
          <p:nvPr/>
        </p:nvSpPr>
        <p:spPr>
          <a:xfrm>
            <a:off x="1879600" y="2540000"/>
            <a:ext cx="1333500" cy="952500"/>
          </a:xfrm>
          <a:prstGeom prst="roundRect">
            <a:avLst/>
          </a:prstGeom>
          <a:solidFill>
            <a:srgbClr val="2B2B2B"/>
          </a:solidFill>
          <a:ln>
            <a:noFill/>
          </a:ln>
        </p:spPr>
        <p:txBody>
          <a:bodyPr wrap="square" lIns="72000" tIns="36000" rIns="72000" bIns="36000" anchor="ctr"/>
          <a:lstStyle/>
          <a:p>
            <a:pPr algn="ctr">
              <a:buNone/>
            </a:pPr>
            <a:r>
              <a:rPr lang="ja-JP" sz="1000" dirty="0">
                <a:solidFill>
                  <a:srgbClr val="BBBBBB"/>
                </a:solidFill>
                <a:latin typeface="BIZ UDPGothic"/>
                <a:ea typeface="BIZ UDPGothic"/>
              </a:rPr>
              <a:t>契約金額</a:t>
            </a:r>
          </a:p>
          <a:p>
            <a:pPr algn="ctr">
              <a:buNone/>
            </a:pPr>
            <a:r>
              <a:rPr lang="ja-JP" sz="1800" b="1" dirty="0">
                <a:solidFill>
                  <a:srgbClr val="FFFFFF"/>
                </a:solidFill>
                <a:latin typeface="BIZ UDPGothic"/>
                <a:ea typeface="BIZ UDPGothic"/>
              </a:rPr>
              <a:t>¥3,960,000</a:t>
            </a:r>
          </a:p>
          <a:p>
            <a:pPr algn="ctr">
              <a:buNone/>
            </a:pPr>
            <a:r>
              <a:rPr lang="ja-JP" sz="900" dirty="0">
                <a:solidFill>
                  <a:srgbClr val="BBBBBB"/>
                </a:solidFill>
                <a:latin typeface="BIZ UDPGothic"/>
                <a:ea typeface="BIZ UDPGothic"/>
              </a:rPr>
              <a:t>税込・固定価格</a:t>
            </a:r>
          </a:p>
        </p:txBody>
      </p:sp>
      <p:sp>
        <p:nvSpPr>
          <p:cNvPr id="32" name="Metric2"/>
          <p:cNvSpPr/>
          <p:nvPr/>
        </p:nvSpPr>
        <p:spPr>
          <a:xfrm>
            <a:off x="3302000" y="2540000"/>
            <a:ext cx="1333500" cy="952500"/>
          </a:xfrm>
          <a:prstGeom prst="roundRect">
            <a:avLst/>
          </a:prstGeom>
          <a:solidFill>
            <a:srgbClr val="2B2B2B"/>
          </a:solidFill>
          <a:ln>
            <a:noFill/>
          </a:ln>
        </p:spPr>
        <p:txBody>
          <a:bodyPr wrap="square" lIns="72000" tIns="36000" rIns="72000" bIns="36000" anchor="ctr"/>
          <a:lstStyle/>
          <a:p>
            <a:pPr algn="ctr">
              <a:buNone/>
            </a:pPr>
            <a:r>
              <a:rPr lang="ja-JP" sz="1000" dirty="0">
                <a:solidFill>
                  <a:srgbClr val="BBBBBB"/>
                </a:solidFill>
                <a:latin typeface="BIZ UDPGothic"/>
                <a:ea typeface="BIZ UDPGothic"/>
              </a:rPr>
              <a:t>対象データ</a:t>
            </a:r>
          </a:p>
          <a:p>
            <a:pPr algn="ctr">
              <a:buNone/>
            </a:pPr>
            <a:r>
              <a:rPr lang="ja-JP" sz="1800" b="1" dirty="0">
                <a:solidFill>
                  <a:srgbClr val="FFFFFF"/>
                </a:solidFill>
                <a:latin typeface="BIZ UDPGothic"/>
                <a:ea typeface="BIZ UDPGothic"/>
              </a:rPr>
              <a:t>3,000行</a:t>
            </a:r>
          </a:p>
          <a:p>
            <a:pPr algn="ctr">
              <a:buNone/>
            </a:pPr>
            <a:r>
              <a:rPr lang="ja-JP" sz="900" dirty="0">
                <a:solidFill>
                  <a:srgbClr val="BBBBBB"/>
                </a:solidFill>
                <a:latin typeface="BIZ UDPGothic"/>
                <a:ea typeface="BIZ UDPGothic"/>
              </a:rPr>
              <a:t>10カラム・二値分類</a:t>
            </a:r>
          </a:p>
        </p:txBody>
      </p:sp>
      <p:sp>
        <p:nvSpPr>
          <p:cNvPr id="33" name="Metric3"/>
          <p:cNvSpPr/>
          <p:nvPr/>
        </p:nvSpPr>
        <p:spPr>
          <a:xfrm>
            <a:off x="4724400" y="2540000"/>
            <a:ext cx="1333500" cy="952500"/>
          </a:xfrm>
          <a:prstGeom prst="roundRect">
            <a:avLst/>
          </a:prstGeom>
          <a:solidFill>
            <a:srgbClr val="2B2B2B"/>
          </a:solidFill>
          <a:ln>
            <a:noFill/>
          </a:ln>
        </p:spPr>
        <p:txBody>
          <a:bodyPr wrap="square" lIns="72000" tIns="36000" rIns="72000" bIns="36000" anchor="ctr"/>
          <a:lstStyle/>
          <a:p>
            <a:pPr algn="ctr">
              <a:buNone/>
            </a:pPr>
            <a:r>
              <a:rPr lang="ja-JP" sz="1000" dirty="0">
                <a:solidFill>
                  <a:srgbClr val="BBBBBB"/>
                </a:solidFill>
                <a:latin typeface="BIZ UDPGothic"/>
                <a:ea typeface="BIZ UDPGothic"/>
              </a:rPr>
              <a:t>陽性率</a:t>
            </a:r>
          </a:p>
          <a:p>
            <a:pPr algn="ctr">
              <a:buNone/>
            </a:pPr>
            <a:r>
              <a:rPr lang="ja-JP" sz="1800" b="1" dirty="0">
                <a:solidFill>
                  <a:srgbClr val="FFFFFF"/>
                </a:solidFill>
                <a:latin typeface="BIZ UDPGothic"/>
                <a:ea typeface="BIZ UDPGothic"/>
              </a:rPr>
              <a:t>23.9%</a:t>
            </a:r>
          </a:p>
          <a:p>
            <a:pPr algn="ctr">
              <a:buNone/>
            </a:pPr>
            <a:r>
              <a:rPr lang="ja-JP" sz="900" dirty="0">
                <a:solidFill>
                  <a:srgbClr val="BBBBBB"/>
                </a:solidFill>
                <a:latin typeface="BIZ UDPGothic"/>
                <a:ea typeface="BIZ UDPGothic"/>
              </a:rPr>
              <a:t>不均衡データ対応</a:t>
            </a:r>
          </a:p>
        </p:txBody>
      </p:sp>
      <p:sp>
        <p:nvSpPr>
          <p:cNvPr id="40" name="DelLabel"/>
          <p:cNvSpPr/>
          <p:nvPr/>
        </p:nvSpPr>
        <p:spPr>
          <a:xfrm>
            <a:off x="6350000" y="889000"/>
            <a:ext cx="254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主要目的</a:t>
            </a:r>
          </a:p>
        </p:txBody>
      </p:sp>
      <p:sp>
        <p:nvSpPr>
          <p:cNvPr id="50" name="ObjNum0"/>
          <p:cNvSpPr/>
          <p:nvPr/>
        </p:nvSpPr>
        <p:spPr>
          <a:xfrm>
            <a:off x="6350000" y="1206500"/>
            <a:ext cx="254000" cy="254000"/>
          </a:xfrm>
          <a:prstGeom prst="ellipse">
            <a:avLst/>
          </a:prstGeom>
          <a:solidFill>
            <a:srgbClr val="A03028"/>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1</a:t>
            </a:r>
          </a:p>
        </p:txBody>
      </p:sp>
      <p:sp>
        <p:nvSpPr>
          <p:cNvPr id="60" name="ObjText0"/>
          <p:cNvSpPr/>
          <p:nvPr/>
        </p:nvSpPr>
        <p:spPr>
          <a:xfrm>
            <a:off x="6667500" y="1206500"/>
            <a:ext cx="5016500" cy="279400"/>
          </a:xfrm>
          <a:prstGeom prst="rect">
            <a:avLst/>
          </a:prstGeom>
          <a:noFill/>
          <a:ln>
            <a:noFill/>
          </a:ln>
        </p:spPr>
        <p:txBody>
          <a:bodyPr wrap="square" lIns="72000" tIns="36000" rIns="72000" bIns="36000" anchor="ctr"/>
          <a:lstStyle/>
          <a:p>
            <a:pPr algn="l">
              <a:buNone/>
            </a:pPr>
            <a:r>
              <a:rPr lang="ja-JP" sz="1200" dirty="0">
                <a:solidFill>
                  <a:srgbClr val="4A4A4A"/>
                </a:solidFill>
                <a:latin typeface="BIZ UDPGothic"/>
                <a:ea typeface="BIZ UDPGothic"/>
              </a:rPr>
              <a:t>糖尿病判定に寄与する主要因子の特定</a:t>
            </a:r>
          </a:p>
        </p:txBody>
      </p:sp>
      <p:sp>
        <p:nvSpPr>
          <p:cNvPr id="51" name="ObjNum1"/>
          <p:cNvSpPr/>
          <p:nvPr/>
        </p:nvSpPr>
        <p:spPr>
          <a:xfrm>
            <a:off x="6350000" y="1562100"/>
            <a:ext cx="254000" cy="254000"/>
          </a:xfrm>
          <a:prstGeom prst="ellipse">
            <a:avLst/>
          </a:prstGeom>
          <a:solidFill>
            <a:srgbClr val="A03028"/>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2</a:t>
            </a:r>
          </a:p>
        </p:txBody>
      </p:sp>
      <p:sp>
        <p:nvSpPr>
          <p:cNvPr id="61" name="ObjText1"/>
          <p:cNvSpPr/>
          <p:nvPr/>
        </p:nvSpPr>
        <p:spPr>
          <a:xfrm>
            <a:off x="6667500" y="1562100"/>
            <a:ext cx="5016500" cy="279400"/>
          </a:xfrm>
          <a:prstGeom prst="rect">
            <a:avLst/>
          </a:prstGeom>
          <a:noFill/>
          <a:ln>
            <a:noFill/>
          </a:ln>
        </p:spPr>
        <p:txBody>
          <a:bodyPr wrap="square" lIns="72000" tIns="36000" rIns="72000" bIns="36000" anchor="ctr"/>
          <a:lstStyle/>
          <a:p>
            <a:pPr algn="l">
              <a:buNone/>
            </a:pPr>
            <a:r>
              <a:rPr lang="ja-JP" sz="1200" dirty="0">
                <a:solidFill>
                  <a:srgbClr val="4A4A4A"/>
                </a:solidFill>
                <a:latin typeface="BIZ UDPGothic"/>
                <a:ea typeface="BIZ UDPGothic"/>
              </a:rPr>
              <a:t>再利用可能な前処理・分析・評価の標準手順定義</a:t>
            </a:r>
          </a:p>
        </p:txBody>
      </p:sp>
      <p:sp>
        <p:nvSpPr>
          <p:cNvPr id="52" name="ObjNum2"/>
          <p:cNvSpPr/>
          <p:nvPr/>
        </p:nvSpPr>
        <p:spPr>
          <a:xfrm>
            <a:off x="6350000" y="1917700"/>
            <a:ext cx="254000" cy="254000"/>
          </a:xfrm>
          <a:prstGeom prst="ellipse">
            <a:avLst/>
          </a:prstGeom>
          <a:solidFill>
            <a:srgbClr val="A03028"/>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3</a:t>
            </a:r>
          </a:p>
        </p:txBody>
      </p:sp>
      <p:sp>
        <p:nvSpPr>
          <p:cNvPr id="62" name="ObjText2"/>
          <p:cNvSpPr/>
          <p:nvPr/>
        </p:nvSpPr>
        <p:spPr>
          <a:xfrm>
            <a:off x="6667500" y="1917700"/>
            <a:ext cx="5016500" cy="279400"/>
          </a:xfrm>
          <a:prstGeom prst="rect">
            <a:avLst/>
          </a:prstGeom>
          <a:noFill/>
          <a:ln>
            <a:noFill/>
          </a:ln>
        </p:spPr>
        <p:txBody>
          <a:bodyPr wrap="square" lIns="72000" tIns="36000" rIns="72000" bIns="36000" anchor="ctr"/>
          <a:lstStyle/>
          <a:p>
            <a:pPr algn="l">
              <a:buNone/>
            </a:pPr>
            <a:r>
              <a:rPr lang="ja-JP" sz="1200" dirty="0">
                <a:solidFill>
                  <a:srgbClr val="4A4A4A"/>
                </a:solidFill>
                <a:latin typeface="BIZ UDPGothic"/>
                <a:ea typeface="BIZ UDPGothic"/>
              </a:rPr>
              <a:t>業務活用可否を判断できる水準での精度・解釈性整理</a:t>
            </a:r>
          </a:p>
        </p:txBody>
      </p:sp>
      <p:sp>
        <p:nvSpPr>
          <p:cNvPr id="70" name="ApproachLabel"/>
          <p:cNvSpPr/>
          <p:nvPr/>
        </p:nvSpPr>
        <p:spPr>
          <a:xfrm>
            <a:off x="6350000" y="2540000"/>
            <a:ext cx="254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分析アプローチ</a:t>
            </a:r>
          </a:p>
        </p:txBody>
      </p:sp>
      <p:sp>
        <p:nvSpPr>
          <p:cNvPr id="80" name="Step0"/>
          <p:cNvSpPr/>
          <p:nvPr/>
        </p:nvSpPr>
        <p:spPr>
          <a:xfrm>
            <a:off x="6350000" y="2895600"/>
            <a:ext cx="1206500" cy="5969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データ理解</a:t>
            </a:r>
          </a:p>
          <a:p>
            <a:pPr algn="ctr">
              <a:buNone/>
            </a:pPr>
            <a:r>
              <a:rPr lang="ja-JP" sz="900" dirty="0">
                <a:solidFill>
                  <a:srgbClr val="8B8B8B"/>
                </a:solidFill>
                <a:latin typeface="BIZ UDPGothic"/>
                <a:ea typeface="BIZ UDPGothic"/>
              </a:rPr>
              <a:t>品質確認</a:t>
            </a:r>
          </a:p>
        </p:txBody>
      </p:sp>
      <p:sp>
        <p:nvSpPr>
          <p:cNvPr id="90" name="Arrow0"/>
          <p:cNvSpPr/>
          <p:nvPr/>
        </p:nvSpPr>
        <p:spPr>
          <a:xfrm>
            <a:off x="7556500" y="3124200"/>
            <a:ext cx="101600" cy="152400"/>
          </a:xfrm>
          <a:prstGeom prst="rightArrow">
            <a:avLst/>
          </a:prstGeom>
          <a:solidFill>
            <a:srgbClr val="A03028"/>
          </a:solidFill>
          <a:ln>
            <a:noFill/>
          </a:ln>
        </p:spPr>
        <p:txBody>
          <a:bodyPr wrap="square" lIns="72000" tIns="36000" rIns="72000" bIns="36000" anchor="ctr"/>
          <a:lstStyle/>
          <a:p>
            <a:endParaRPr lang="ja-JP"/>
          </a:p>
        </p:txBody>
      </p:sp>
      <p:sp>
        <p:nvSpPr>
          <p:cNvPr id="81" name="Step1"/>
          <p:cNvSpPr/>
          <p:nvPr/>
        </p:nvSpPr>
        <p:spPr>
          <a:xfrm>
            <a:off x="7658100" y="2895600"/>
            <a:ext cx="1206500" cy="5969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前処理設計</a:t>
            </a:r>
          </a:p>
          <a:p>
            <a:pPr algn="ctr">
              <a:buNone/>
            </a:pPr>
            <a:r>
              <a:rPr lang="ja-JP" sz="900" dirty="0">
                <a:solidFill>
                  <a:srgbClr val="8B8B8B"/>
                </a:solidFill>
                <a:latin typeface="BIZ UDPGothic"/>
                <a:ea typeface="BIZ UDPGothic"/>
              </a:rPr>
              <a:t>方針策定</a:t>
            </a:r>
          </a:p>
        </p:txBody>
      </p:sp>
      <p:sp>
        <p:nvSpPr>
          <p:cNvPr id="91" name="Arrow1"/>
          <p:cNvSpPr/>
          <p:nvPr/>
        </p:nvSpPr>
        <p:spPr>
          <a:xfrm>
            <a:off x="8864600" y="3124200"/>
            <a:ext cx="101600" cy="152400"/>
          </a:xfrm>
          <a:prstGeom prst="rightArrow">
            <a:avLst/>
          </a:prstGeom>
          <a:solidFill>
            <a:srgbClr val="A03028"/>
          </a:solidFill>
          <a:ln>
            <a:noFill/>
          </a:ln>
        </p:spPr>
        <p:txBody>
          <a:bodyPr wrap="square" lIns="72000" tIns="36000" rIns="72000" bIns="36000" anchor="ctr"/>
          <a:lstStyle/>
          <a:p>
            <a:endParaRPr lang="ja-JP"/>
          </a:p>
        </p:txBody>
      </p:sp>
      <p:sp>
        <p:nvSpPr>
          <p:cNvPr id="82" name="Step2"/>
          <p:cNvSpPr/>
          <p:nvPr/>
        </p:nvSpPr>
        <p:spPr>
          <a:xfrm>
            <a:off x="8966200" y="2895600"/>
            <a:ext cx="1206500" cy="5969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モデル構築</a:t>
            </a:r>
          </a:p>
          <a:p>
            <a:pPr algn="ctr">
              <a:buNone/>
            </a:pPr>
            <a:r>
              <a:rPr lang="ja-JP" sz="900" dirty="0">
                <a:solidFill>
                  <a:srgbClr val="8B8B8B"/>
                </a:solidFill>
                <a:latin typeface="BIZ UDPGothic"/>
                <a:ea typeface="BIZ UDPGothic"/>
              </a:rPr>
              <a:t>性能比較</a:t>
            </a:r>
          </a:p>
        </p:txBody>
      </p:sp>
      <p:sp>
        <p:nvSpPr>
          <p:cNvPr id="92" name="Arrow2"/>
          <p:cNvSpPr/>
          <p:nvPr/>
        </p:nvSpPr>
        <p:spPr>
          <a:xfrm>
            <a:off x="10172700" y="3124200"/>
            <a:ext cx="101600" cy="152400"/>
          </a:xfrm>
          <a:prstGeom prst="rightArrow">
            <a:avLst/>
          </a:prstGeom>
          <a:solidFill>
            <a:srgbClr val="A03028"/>
          </a:solidFill>
          <a:ln>
            <a:noFill/>
          </a:ln>
        </p:spPr>
        <p:txBody>
          <a:bodyPr wrap="square" lIns="72000" tIns="36000" rIns="72000" bIns="36000" anchor="ctr"/>
          <a:lstStyle/>
          <a:p>
            <a:endParaRPr lang="ja-JP"/>
          </a:p>
        </p:txBody>
      </p:sp>
      <p:sp>
        <p:nvSpPr>
          <p:cNvPr id="83" name="Step3"/>
          <p:cNvSpPr/>
          <p:nvPr/>
        </p:nvSpPr>
        <p:spPr>
          <a:xfrm>
            <a:off x="10274300" y="2895600"/>
            <a:ext cx="1206500" cy="5969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示唆整理</a:t>
            </a:r>
          </a:p>
          <a:p>
            <a:pPr algn="ctr">
              <a:buNone/>
            </a:pPr>
            <a:r>
              <a:rPr lang="ja-JP" sz="900" dirty="0">
                <a:solidFill>
                  <a:srgbClr val="8B8B8B"/>
                </a:solidFill>
                <a:latin typeface="BIZ UDPGothic"/>
                <a:ea typeface="BIZ UDPGothic"/>
              </a:rPr>
              <a:t>業務活用</a:t>
            </a:r>
          </a:p>
        </p:txBody>
      </p:sp>
      <p:sp>
        <p:nvSpPr>
          <p:cNvPr id="100" name="RiskNote"/>
          <p:cNvSpPr/>
          <p:nvPr/>
        </p:nvSpPr>
        <p:spPr>
          <a:xfrm>
            <a:off x="457200" y="3746500"/>
            <a:ext cx="11239500" cy="444500"/>
          </a:xfrm>
          <a:prstGeom prst="roundRect">
            <a:avLst/>
          </a:prstGeom>
          <a:solidFill>
            <a:srgbClr val="FFF5F5"/>
          </a:solidFill>
          <a:ln w="12700">
            <a:solidFill>
              <a:srgbClr val="A03028"/>
            </a:solidFill>
          </a:ln>
        </p:spPr>
        <p:txBody>
          <a:bodyPr wrap="square" lIns="72000" tIns="36000" rIns="72000" bIns="36000" anchor="ctr"/>
          <a:lstStyle/>
          <a:p>
            <a:pPr algn="l">
              <a:buNone/>
            </a:pPr>
            <a:r>
              <a:rPr lang="ja-JP" sz="1100" b="1" dirty="0">
                <a:solidFill>
                  <a:srgbClr val="A03028"/>
                </a:solidFill>
                <a:latin typeface="BIZ UDPGothic"/>
                <a:ea typeface="BIZ UDPGothic"/>
              </a:rPr>
              <a:t>主要リスク：</a:t>
            </a:r>
            <a:r>
              <a:rPr lang="ja-JP" sz="1100" dirty="0">
                <a:solidFill>
                  <a:srgbClr val="5C5C5C"/>
                </a:solidFill>
                <a:latin typeface="BIZ UDPGothic"/>
                <a:ea typeface="BIZ UDPGothic"/>
              </a:rPr>
              <a:t> 疑似欠損（0値）の存在 ／ クラス不均衡（陽性率23.9%） ／ 解釈の過剰一般化の回避 ／ 個人情報の慎重な取り扱い</a:t>
            </a:r>
          </a:p>
        </p:txBody>
      </p:sp>
      <p:sp>
        <p:nvSpPr>
          <p:cNvPr id="101"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2</a:t>
            </a:r>
          </a:p>
        </p:txBody>
      </p:sp>
    </p:spTree>
    <p:extLst>
      <p:ext uri="{BB962C8B-B14F-4D97-AF65-F5344CB8AC3E}">
        <p14:creationId xmlns:p14="http://schemas.microsoft.com/office/powerpoint/2010/main" val="4094617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1. 背景</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12" name="ContextBox"/>
          <p:cNvSpPr/>
          <p:nvPr/>
        </p:nvSpPr>
        <p:spPr>
          <a:xfrm>
            <a:off x="457200" y="863600"/>
            <a:ext cx="11277600" cy="6985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100" dirty="0">
                <a:solidFill>
                  <a:srgbClr val="4A4A4A"/>
                </a:solidFill>
                <a:latin typeface="BIZ UDPGothic"/>
                <a:ea typeface="BIZ UDPGothic"/>
              </a:rPr>
              <a:t>医療法人社団 蒼樹会 みなみ野女性医療センターでは、医療品質向上・業務効率化・患者安全性の観点から、データを活用した意思決定高度化が求められている。特に、糖尿病リスクの早期把握は、診療優先順位付け、保健指導対象の抽出、フォローアップ設計の標準化に直結する重要テーマである。</a:t>
            </a:r>
          </a:p>
        </p:txBody>
      </p:sp>
      <p:sp>
        <p:nvSpPr>
          <p:cNvPr id="13" name="DataLabel"/>
          <p:cNvSpPr/>
          <p:nvPr/>
        </p:nvSpPr>
        <p:spPr>
          <a:xfrm>
            <a:off x="457200" y="1714500"/>
            <a:ext cx="254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対象データ概要</a:t>
            </a:r>
          </a:p>
        </p:txBody>
      </p:sp>
      <p:sp>
        <p:nvSpPr>
          <p:cNvPr id="20" name="Data0"/>
          <p:cNvSpPr/>
          <p:nvPr/>
        </p:nvSpPr>
        <p:spPr>
          <a:xfrm>
            <a:off x="457200" y="2032000"/>
            <a:ext cx="2667000" cy="508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000" dirty="0">
                <a:solidFill>
                  <a:srgbClr val="8B8B8B"/>
                </a:solidFill>
                <a:latin typeface="BIZ UDPGothic"/>
                <a:ea typeface="BIZ UDPGothic"/>
              </a:rPr>
              <a:t>データソース</a:t>
            </a:r>
          </a:p>
          <a:p>
            <a:pPr algn="ctr">
              <a:buNone/>
            </a:pPr>
            <a:r>
              <a:rPr lang="ja-JP" sz="1400" b="1" dirty="0">
                <a:solidFill>
                  <a:srgbClr val="2B2B2B"/>
                </a:solidFill>
                <a:latin typeface="BIZ UDPGothic"/>
                <a:ea typeface="BIZ UDPGothic"/>
              </a:rPr>
              <a:t>train.csv</a:t>
            </a:r>
          </a:p>
        </p:txBody>
      </p:sp>
      <p:sp>
        <p:nvSpPr>
          <p:cNvPr id="21" name="Data1"/>
          <p:cNvSpPr/>
          <p:nvPr/>
        </p:nvSpPr>
        <p:spPr>
          <a:xfrm>
            <a:off x="3225800" y="2032000"/>
            <a:ext cx="2667000" cy="508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000" dirty="0">
                <a:solidFill>
                  <a:srgbClr val="8B8B8B"/>
                </a:solidFill>
                <a:latin typeface="BIZ UDPGothic"/>
                <a:ea typeface="BIZ UDPGothic"/>
              </a:rPr>
              <a:t>レコード数</a:t>
            </a:r>
          </a:p>
          <a:p>
            <a:pPr algn="ctr">
              <a:buNone/>
            </a:pPr>
            <a:r>
              <a:rPr lang="ja-JP" sz="1400" b="1" dirty="0">
                <a:solidFill>
                  <a:srgbClr val="2B2B2B"/>
                </a:solidFill>
                <a:latin typeface="BIZ UDPGothic"/>
                <a:ea typeface="BIZ UDPGothic"/>
              </a:rPr>
              <a:t>3,000行</a:t>
            </a:r>
          </a:p>
        </p:txBody>
      </p:sp>
      <p:sp>
        <p:nvSpPr>
          <p:cNvPr id="22" name="Data2"/>
          <p:cNvSpPr/>
          <p:nvPr/>
        </p:nvSpPr>
        <p:spPr>
          <a:xfrm>
            <a:off x="5994400" y="2032000"/>
            <a:ext cx="2667000" cy="508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000" dirty="0">
                <a:solidFill>
                  <a:srgbClr val="8B8B8B"/>
                </a:solidFill>
                <a:latin typeface="BIZ UDPGothic"/>
                <a:ea typeface="BIZ UDPGothic"/>
              </a:rPr>
              <a:t>カラム数</a:t>
            </a:r>
          </a:p>
          <a:p>
            <a:pPr algn="ctr">
              <a:buNone/>
            </a:pPr>
            <a:r>
              <a:rPr lang="ja-JP" sz="1400" b="1" dirty="0">
                <a:solidFill>
                  <a:srgbClr val="2B2B2B"/>
                </a:solidFill>
                <a:latin typeface="BIZ UDPGothic"/>
                <a:ea typeface="BIZ UDPGothic"/>
              </a:rPr>
              <a:t>10</a:t>
            </a:r>
          </a:p>
        </p:txBody>
      </p:sp>
      <p:sp>
        <p:nvSpPr>
          <p:cNvPr id="23" name="Data3"/>
          <p:cNvSpPr/>
          <p:nvPr/>
        </p:nvSpPr>
        <p:spPr>
          <a:xfrm>
            <a:off x="8763000" y="2032000"/>
            <a:ext cx="2667000" cy="508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000" dirty="0">
                <a:solidFill>
                  <a:srgbClr val="8B8B8B"/>
                </a:solidFill>
                <a:latin typeface="BIZ UDPGothic"/>
                <a:ea typeface="BIZ UDPGothic"/>
              </a:rPr>
              <a:t>目的変数</a:t>
            </a:r>
          </a:p>
          <a:p>
            <a:pPr algn="ctr">
              <a:buNone/>
            </a:pPr>
            <a:r>
              <a:rPr lang="ja-JP" sz="1400" b="1" dirty="0">
                <a:solidFill>
                  <a:srgbClr val="2B2B2B"/>
                </a:solidFill>
                <a:latin typeface="BIZ UDPGothic"/>
                <a:ea typeface="BIZ UDPGothic"/>
              </a:rPr>
              <a:t>Outcome（0/1）</a:t>
            </a:r>
          </a:p>
        </p:txBody>
      </p:sp>
      <p:sp>
        <p:nvSpPr>
          <p:cNvPr id="25" name="FeatLabel"/>
          <p:cNvSpPr/>
          <p:nvPr/>
        </p:nvSpPr>
        <p:spPr>
          <a:xfrm>
            <a:off x="457200" y="2667000"/>
            <a:ext cx="3810000" cy="254000"/>
          </a:xfrm>
          <a:prstGeom prst="rect">
            <a:avLst/>
          </a:prstGeom>
          <a:noFill/>
          <a:ln>
            <a:noFill/>
          </a:ln>
        </p:spPr>
        <p:txBody>
          <a:bodyPr wrap="square" lIns="72000" tIns="36000" rIns="72000" bIns="36000" anchor="ctr"/>
          <a:lstStyle/>
          <a:p>
            <a:pPr algn="l">
              <a:buNone/>
            </a:pPr>
            <a:r>
              <a:rPr lang="ja-JP" sz="1000" dirty="0">
                <a:solidFill>
                  <a:srgbClr val="5C5C5C"/>
                </a:solidFill>
                <a:latin typeface="BIZ UDPGothic"/>
                <a:ea typeface="BIZ UDPGothic"/>
              </a:rPr>
              <a:t>主な特徴量：妊娠回数、血糖値、血圧、皮膚厚、インスリン、BMI、糖尿病血統、年齢</a:t>
            </a:r>
          </a:p>
        </p:txBody>
      </p:sp>
      <p:sp>
        <p:nvSpPr>
          <p:cNvPr id="26" name="ApproachLabel"/>
          <p:cNvSpPr/>
          <p:nvPr/>
        </p:nvSpPr>
        <p:spPr>
          <a:xfrm>
            <a:off x="457200" y="3022600"/>
            <a:ext cx="508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本プロジェクトのアプローチ</a:t>
            </a:r>
          </a:p>
        </p:txBody>
      </p:sp>
      <p:sp>
        <p:nvSpPr>
          <p:cNvPr id="30" name="Flow0"/>
          <p:cNvSpPr/>
          <p:nvPr/>
        </p:nvSpPr>
        <p:spPr>
          <a:xfrm>
            <a:off x="457200" y="3378200"/>
            <a:ext cx="3429000" cy="6350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200" b="1" dirty="0">
                <a:solidFill>
                  <a:srgbClr val="2B2B2B"/>
                </a:solidFill>
                <a:latin typeface="BIZ UDPGothic"/>
                <a:ea typeface="BIZ UDPGothic"/>
              </a:rPr>
              <a:t>データ品質確認</a:t>
            </a:r>
          </a:p>
          <a:p>
            <a:pPr algn="ctr">
              <a:buNone/>
            </a:pPr>
            <a:r>
              <a:rPr lang="ja-JP" sz="1100" dirty="0">
                <a:solidFill>
                  <a:srgbClr val="5C5C5C"/>
                </a:solidFill>
                <a:latin typeface="BIZ UDPGothic"/>
                <a:ea typeface="BIZ UDPGothic"/>
              </a:rPr>
              <a:t>前処理方針の明文化</a:t>
            </a:r>
          </a:p>
        </p:txBody>
      </p:sp>
      <p:sp>
        <p:nvSpPr>
          <p:cNvPr id="40" name="FlowArrow0"/>
          <p:cNvSpPr/>
          <p:nvPr/>
        </p:nvSpPr>
        <p:spPr>
          <a:xfrm>
            <a:off x="3886200" y="3606800"/>
            <a:ext cx="279400" cy="177800"/>
          </a:xfrm>
          <a:prstGeom prst="rightArrow">
            <a:avLst/>
          </a:prstGeom>
          <a:solidFill>
            <a:srgbClr val="A03028"/>
          </a:solidFill>
          <a:ln>
            <a:noFill/>
          </a:ln>
        </p:spPr>
        <p:txBody>
          <a:bodyPr wrap="square" lIns="72000" tIns="36000" rIns="72000" bIns="36000" anchor="ctr"/>
          <a:lstStyle/>
          <a:p>
            <a:endParaRPr lang="ja-JP"/>
          </a:p>
        </p:txBody>
      </p:sp>
      <p:sp>
        <p:nvSpPr>
          <p:cNvPr id="31" name="Flow1"/>
          <p:cNvSpPr/>
          <p:nvPr/>
        </p:nvSpPr>
        <p:spPr>
          <a:xfrm>
            <a:off x="4165600" y="3378200"/>
            <a:ext cx="3429000" cy="6350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200" b="1" dirty="0">
                <a:solidFill>
                  <a:srgbClr val="2B2B2B"/>
                </a:solidFill>
                <a:latin typeface="BIZ UDPGothic"/>
                <a:ea typeface="BIZ UDPGothic"/>
              </a:rPr>
              <a:t>説明可能な分析</a:t>
            </a:r>
          </a:p>
          <a:p>
            <a:pPr algn="ctr">
              <a:buNone/>
            </a:pPr>
            <a:r>
              <a:rPr lang="ja-JP" sz="1100" dirty="0">
                <a:solidFill>
                  <a:srgbClr val="5C5C5C"/>
                </a:solidFill>
                <a:latin typeface="BIZ UDPGothic"/>
                <a:ea typeface="BIZ UDPGothic"/>
              </a:rPr>
              <a:t>複数モデル比較</a:t>
            </a:r>
          </a:p>
        </p:txBody>
      </p:sp>
      <p:sp>
        <p:nvSpPr>
          <p:cNvPr id="41" name="FlowArrow1"/>
          <p:cNvSpPr/>
          <p:nvPr/>
        </p:nvSpPr>
        <p:spPr>
          <a:xfrm>
            <a:off x="7594600" y="3606800"/>
            <a:ext cx="279400" cy="177800"/>
          </a:xfrm>
          <a:prstGeom prst="rightArrow">
            <a:avLst/>
          </a:prstGeom>
          <a:solidFill>
            <a:srgbClr val="A03028"/>
          </a:solidFill>
          <a:ln>
            <a:noFill/>
          </a:ln>
        </p:spPr>
        <p:txBody>
          <a:bodyPr wrap="square" lIns="72000" tIns="36000" rIns="72000" bIns="36000" anchor="ctr"/>
          <a:lstStyle/>
          <a:p>
            <a:endParaRPr lang="ja-JP"/>
          </a:p>
        </p:txBody>
      </p:sp>
      <p:sp>
        <p:nvSpPr>
          <p:cNvPr id="32" name="Flow2"/>
          <p:cNvSpPr/>
          <p:nvPr/>
        </p:nvSpPr>
        <p:spPr>
          <a:xfrm>
            <a:off x="7874000" y="3378200"/>
            <a:ext cx="3429000" cy="635000"/>
          </a:xfrm>
          <a:prstGeom prst="roundRect">
            <a:avLst/>
          </a:prstGeom>
          <a:solidFill>
            <a:srgbClr val="A03028"/>
          </a:solidFill>
          <a:ln w="12700">
            <a:solidFill>
              <a:srgbClr val="8B2020"/>
            </a:solidFill>
          </a:ln>
        </p:spPr>
        <p:txBody>
          <a:bodyPr wrap="square" lIns="72000" tIns="36000" rIns="72000" bIns="36000" anchor="ctr"/>
          <a:lstStyle/>
          <a:p>
            <a:pPr algn="ctr">
              <a:buNone/>
            </a:pPr>
            <a:r>
              <a:rPr lang="ja-JP" sz="1200" b="1" dirty="0">
                <a:solidFill>
                  <a:srgbClr val="FFFFFF"/>
                </a:solidFill>
                <a:latin typeface="BIZ UDPGothic"/>
                <a:ea typeface="BIZ UDPGothic"/>
              </a:rPr>
              <a:t>業務判断に資する</a:t>
            </a:r>
          </a:p>
          <a:p>
            <a:pPr algn="ctr">
              <a:buNone/>
            </a:pPr>
            <a:r>
              <a:rPr lang="ja-JP" sz="1100" dirty="0">
                <a:solidFill>
                  <a:srgbClr val="EEEEEE"/>
                </a:solidFill>
                <a:latin typeface="BIZ UDPGothic"/>
                <a:ea typeface="BIZ UDPGothic"/>
              </a:rPr>
              <a:t>論点整理</a:t>
            </a:r>
          </a:p>
        </p:txBody>
      </p:sp>
      <p:sp>
        <p:nvSpPr>
          <p:cNvPr id="50" name="KeyMsg"/>
          <p:cNvSpPr/>
          <p:nvPr/>
        </p:nvSpPr>
        <p:spPr>
          <a:xfrm>
            <a:off x="457200" y="4191000"/>
            <a:ext cx="11277600" cy="381000"/>
          </a:xfrm>
          <a:prstGeom prst="roundRect">
            <a:avLst/>
          </a:prstGeom>
          <a:solidFill>
            <a:srgbClr val="2B2B2B"/>
          </a:solidFill>
          <a:ln w="12700">
            <a:solidFill>
              <a:srgbClr val="2B2B2B"/>
            </a:solidFill>
          </a:ln>
        </p:spPr>
        <p:txBody>
          <a:bodyPr wrap="square" lIns="72000" tIns="36000" rIns="72000" bIns="36000" anchor="ctr"/>
          <a:lstStyle/>
          <a:p>
            <a:pPr algn="ctr">
              <a:buNone/>
            </a:pPr>
            <a:r>
              <a:rPr lang="ja-JP" sz="1200" b="1" dirty="0">
                <a:solidFill>
                  <a:srgbClr val="FFFFFF"/>
                </a:solidFill>
                <a:latin typeface="BIZ UDPGothic"/>
                <a:ea typeface="BIZ UDPGothic"/>
              </a:rPr>
              <a:t>単なる精度確認に留まらず、データ品質確認から業務判断に資する論点整理までを一体で実施</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3</a:t>
            </a:r>
          </a:p>
        </p:txBody>
      </p:sp>
    </p:spTree>
    <p:extLst>
      <p:ext uri="{BB962C8B-B14F-4D97-AF65-F5344CB8AC3E}">
        <p14:creationId xmlns:p14="http://schemas.microsoft.com/office/powerpoint/2010/main" val="293899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現状の課題</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0" name="Card0"/>
          <p:cNvSpPr/>
          <p:nvPr/>
        </p:nvSpPr>
        <p:spPr>
          <a:xfrm>
            <a:off x="457200" y="914400"/>
            <a:ext cx="3556000" cy="16510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1400" b="1" dirty="0">
                <a:solidFill>
                  <a:srgbClr val="2B2B2B"/>
                </a:solidFill>
                <a:latin typeface="BIZ UDPGothic"/>
                <a:ea typeface="BIZ UDPGothic"/>
              </a:rPr>
              <a:t>因子寄与度の未整理</a:t>
            </a:r>
          </a:p>
          <a:p>
            <a:pPr algn="l">
              <a:buNone/>
            </a:pPr>
            <a:r>
              <a:rPr lang="ja-JP" sz="1100" dirty="0">
                <a:solidFill>
                  <a:srgbClr val="5C5C5C"/>
                </a:solidFill>
                <a:latin typeface="BIZ UDPGothic"/>
                <a:ea typeface="BIZ UDPGothic"/>
              </a:rPr>
              <a:t>糖尿病有無の判定に関連する因子の寄与度が定量的に整理されていない</a:t>
            </a:r>
          </a:p>
        </p:txBody>
      </p:sp>
      <p:sp>
        <p:nvSpPr>
          <p:cNvPr id="21" name="Num0"/>
          <p:cNvSpPr/>
          <p:nvPr/>
        </p:nvSpPr>
        <p:spPr>
          <a:xfrm>
            <a:off x="3505200" y="977900"/>
            <a:ext cx="381000" cy="381000"/>
          </a:xfrm>
          <a:prstGeom prst="ellipse">
            <a:avLst/>
          </a:prstGeom>
          <a:solidFill>
            <a:srgbClr val="A03028"/>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1</a:t>
            </a:r>
          </a:p>
        </p:txBody>
      </p:sp>
      <p:sp>
        <p:nvSpPr>
          <p:cNvPr id="23" name="Card1"/>
          <p:cNvSpPr/>
          <p:nvPr/>
        </p:nvSpPr>
        <p:spPr>
          <a:xfrm>
            <a:off x="4165600" y="914400"/>
            <a:ext cx="3556000" cy="16510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1400" b="1" dirty="0">
                <a:solidFill>
                  <a:srgbClr val="2B2B2B"/>
                </a:solidFill>
                <a:latin typeface="BIZ UDPGothic"/>
                <a:ea typeface="BIZ UDPGothic"/>
              </a:rPr>
              <a:t>疑似欠損データ</a:t>
            </a:r>
          </a:p>
          <a:p>
            <a:pPr algn="l">
              <a:buNone/>
            </a:pPr>
            <a:r>
              <a:rPr lang="ja-JP" sz="1100" dirty="0">
                <a:solidFill>
                  <a:srgbClr val="5C5C5C"/>
                </a:solidFill>
                <a:latin typeface="BIZ UDPGothic"/>
                <a:ea typeface="BIZ UDPGothic"/>
              </a:rPr>
              <a:t>BloodPressure、SkinThickness、Insulin、BMIに実務上の疑似欠損を疑うべき0値等が含まれる</a:t>
            </a:r>
          </a:p>
        </p:txBody>
      </p:sp>
      <p:sp>
        <p:nvSpPr>
          <p:cNvPr id="24" name="Num1"/>
          <p:cNvSpPr/>
          <p:nvPr/>
        </p:nvSpPr>
        <p:spPr>
          <a:xfrm>
            <a:off x="7213600" y="977900"/>
            <a:ext cx="381000" cy="381000"/>
          </a:xfrm>
          <a:prstGeom prst="ellipse">
            <a:avLst/>
          </a:prstGeom>
          <a:solidFill>
            <a:srgbClr val="A03028"/>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2</a:t>
            </a:r>
          </a:p>
        </p:txBody>
      </p:sp>
      <p:sp>
        <p:nvSpPr>
          <p:cNvPr id="26" name="Card2"/>
          <p:cNvSpPr/>
          <p:nvPr/>
        </p:nvSpPr>
        <p:spPr>
          <a:xfrm>
            <a:off x="7874000" y="914400"/>
            <a:ext cx="3556000" cy="16510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1400" b="1" dirty="0">
                <a:solidFill>
                  <a:srgbClr val="2B2B2B"/>
                </a:solidFill>
                <a:latin typeface="BIZ UDPGothic"/>
                <a:ea typeface="BIZ UDPGothic"/>
              </a:rPr>
              <a:t>手順の未標準化</a:t>
            </a:r>
          </a:p>
          <a:p>
            <a:pPr algn="l">
              <a:buNone/>
            </a:pPr>
            <a:r>
              <a:rPr lang="ja-JP" sz="1100" dirty="0">
                <a:solidFill>
                  <a:srgbClr val="5C5C5C"/>
                </a:solidFill>
                <a:latin typeface="BIZ UDPGothic"/>
                <a:ea typeface="BIZ UDPGothic"/>
              </a:rPr>
              <a:t>前処理ルール、評価指標、分析手順の統一が必要である</a:t>
            </a:r>
          </a:p>
        </p:txBody>
      </p:sp>
      <p:sp>
        <p:nvSpPr>
          <p:cNvPr id="27" name="Num2"/>
          <p:cNvSpPr/>
          <p:nvPr/>
        </p:nvSpPr>
        <p:spPr>
          <a:xfrm>
            <a:off x="10922000" y="977900"/>
            <a:ext cx="381000" cy="381000"/>
          </a:xfrm>
          <a:prstGeom prst="ellipse">
            <a:avLst/>
          </a:prstGeom>
          <a:solidFill>
            <a:srgbClr val="A03028"/>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3</a:t>
            </a:r>
          </a:p>
        </p:txBody>
      </p:sp>
      <p:sp>
        <p:nvSpPr>
          <p:cNvPr id="29" name="Card3"/>
          <p:cNvSpPr/>
          <p:nvPr/>
        </p:nvSpPr>
        <p:spPr>
          <a:xfrm>
            <a:off x="2311400" y="2717800"/>
            <a:ext cx="3556000" cy="16510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1400" b="1" dirty="0">
                <a:solidFill>
                  <a:srgbClr val="2B2B2B"/>
                </a:solidFill>
                <a:latin typeface="BIZ UDPGothic"/>
                <a:ea typeface="BIZ UDPGothic"/>
              </a:rPr>
              <a:t>説明責任の確保</a:t>
            </a:r>
          </a:p>
          <a:p>
            <a:pPr algn="l">
              <a:buNone/>
            </a:pPr>
            <a:r>
              <a:rPr lang="ja-JP" sz="1100" dirty="0">
                <a:solidFill>
                  <a:srgbClr val="5C5C5C"/>
                </a:solidFill>
                <a:latin typeface="BIZ UDPGothic"/>
                <a:ea typeface="BIZ UDPGothic"/>
              </a:rPr>
              <a:t>医療分野として、説明責任を満たさないブラックボックス的判断や根拠のない臨床主張を避ける必要がある</a:t>
            </a:r>
          </a:p>
        </p:txBody>
      </p:sp>
      <p:sp>
        <p:nvSpPr>
          <p:cNvPr id="30" name="Num3"/>
          <p:cNvSpPr/>
          <p:nvPr/>
        </p:nvSpPr>
        <p:spPr>
          <a:xfrm>
            <a:off x="5359400" y="2781300"/>
            <a:ext cx="381000" cy="381000"/>
          </a:xfrm>
          <a:prstGeom prst="ellipse">
            <a:avLst/>
          </a:prstGeom>
          <a:solidFill>
            <a:srgbClr val="A03028"/>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4</a:t>
            </a:r>
          </a:p>
        </p:txBody>
      </p:sp>
      <p:sp>
        <p:nvSpPr>
          <p:cNvPr id="32" name="Card4"/>
          <p:cNvSpPr/>
          <p:nvPr/>
        </p:nvSpPr>
        <p:spPr>
          <a:xfrm>
            <a:off x="6019800" y="2717800"/>
            <a:ext cx="3556000" cy="16510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1400" b="1" dirty="0">
                <a:solidFill>
                  <a:srgbClr val="2B2B2B"/>
                </a:solidFill>
                <a:latin typeface="BIZ UDPGothic"/>
                <a:ea typeface="BIZ UDPGothic"/>
              </a:rPr>
              <a:t>運用と再現性の両立</a:t>
            </a:r>
          </a:p>
          <a:p>
            <a:pPr algn="l">
              <a:buNone/>
            </a:pPr>
            <a:r>
              <a:rPr lang="ja-JP" sz="1100" dirty="0">
                <a:solidFill>
                  <a:srgbClr val="5C5C5C"/>
                </a:solidFill>
                <a:latin typeface="BIZ UDPGothic"/>
                <a:ea typeface="BIZ UDPGothic"/>
              </a:rPr>
              <a:t>患者アウトカム改善に資する示唆と、現場運用に耐える再現性ある手順整備の両立が必要である</a:t>
            </a:r>
          </a:p>
        </p:txBody>
      </p:sp>
      <p:sp>
        <p:nvSpPr>
          <p:cNvPr id="33" name="Num4"/>
          <p:cNvSpPr/>
          <p:nvPr/>
        </p:nvSpPr>
        <p:spPr>
          <a:xfrm>
            <a:off x="9067800" y="2781300"/>
            <a:ext cx="381000" cy="381000"/>
          </a:xfrm>
          <a:prstGeom prst="ellipse">
            <a:avLst/>
          </a:prstGeom>
          <a:solidFill>
            <a:srgbClr val="A03028"/>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5</a:t>
            </a:r>
          </a:p>
        </p:txBody>
      </p:sp>
      <p:sp>
        <p:nvSpPr>
          <p:cNvPr id="50" name="Takeaway"/>
          <p:cNvSpPr/>
          <p:nvPr/>
        </p:nvSpPr>
        <p:spPr>
          <a:xfrm>
            <a:off x="457200" y="4699000"/>
            <a:ext cx="11277600" cy="406400"/>
          </a:xfrm>
          <a:prstGeom prst="roundRect">
            <a:avLst/>
          </a:prstGeom>
          <a:solidFill>
            <a:srgbClr val="F7F7F7"/>
          </a:solidFill>
          <a:ln w="12700">
            <a:solidFill>
              <a:srgbClr val="D4D4D4"/>
            </a:solidFill>
          </a:ln>
        </p:spPr>
        <p:txBody>
          <a:bodyPr wrap="square" lIns="72000" tIns="36000" rIns="72000" bIns="36000" anchor="ctr"/>
          <a:lstStyle/>
          <a:p>
            <a:pPr algn="ctr">
              <a:buNone/>
            </a:pPr>
            <a:r>
              <a:rPr lang="ja-JP" sz="1200" b="1" dirty="0">
                <a:solidFill>
                  <a:srgbClr val="4A4A4A"/>
                </a:solidFill>
                <a:latin typeface="BIZ UDPGothic"/>
                <a:ea typeface="BIZ UDPGothic"/>
              </a:rPr>
              <a:t>これらの課題に対し、本プロジェクトではデータ品質確認から業務論点整理まで一体で取り組む</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4</a:t>
            </a:r>
          </a:p>
        </p:txBody>
      </p:sp>
    </p:spTree>
    <p:extLst>
      <p:ext uri="{BB962C8B-B14F-4D97-AF65-F5344CB8AC3E}">
        <p14:creationId xmlns:p14="http://schemas.microsoft.com/office/powerpoint/2010/main" val="1230387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2. プロジェクト目的</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0" name="ObjNum0"/>
          <p:cNvSpPr/>
          <p:nvPr/>
        </p:nvSpPr>
        <p:spPr>
          <a:xfrm>
            <a:off x="2032000" y="863600"/>
            <a:ext cx="406400" cy="406400"/>
          </a:xfrm>
          <a:prstGeom prst="ellipse">
            <a:avLst/>
          </a:prstGeom>
          <a:solidFill>
            <a:srgbClr val="A03028"/>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1</a:t>
            </a:r>
          </a:p>
        </p:txBody>
      </p:sp>
      <p:sp>
        <p:nvSpPr>
          <p:cNvPr id="21" name="ObjCard0"/>
          <p:cNvSpPr/>
          <p:nvPr/>
        </p:nvSpPr>
        <p:spPr>
          <a:xfrm>
            <a:off x="457200" y="1346200"/>
            <a:ext cx="3556000" cy="850900"/>
          </a:xfrm>
          <a:prstGeom prst="roundRect">
            <a:avLst/>
          </a:prstGeom>
          <a:solidFill>
            <a:srgbClr val="F7F7F7"/>
          </a:solidFill>
          <a:ln w="12700">
            <a:solidFill>
              <a:srgbClr val="E0E0E0"/>
            </a:solidFill>
          </a:ln>
        </p:spPr>
        <p:txBody>
          <a:bodyPr wrap="square" lIns="72000" tIns="36000" rIns="72000" bIns="36000" anchor="t"/>
          <a:lstStyle/>
          <a:p>
            <a:pPr algn="ctr">
              <a:buNone/>
            </a:pPr>
            <a:r>
              <a:rPr lang="ja-JP" sz="1400" b="1" dirty="0">
                <a:solidFill>
                  <a:srgbClr val="2B2B2B"/>
                </a:solidFill>
                <a:latin typeface="BIZ UDPGothic"/>
                <a:ea typeface="BIZ UDPGothic"/>
              </a:rPr>
              <a:t>主要因子の特定</a:t>
            </a:r>
          </a:p>
          <a:p>
            <a:pPr algn="ctr">
              <a:buNone/>
            </a:pPr>
            <a:r>
              <a:rPr lang="ja-JP" sz="1200" dirty="0">
                <a:solidFill>
                  <a:srgbClr val="5C5C5C"/>
                </a:solidFill>
                <a:latin typeface="BIZ UDPGothic"/>
                <a:ea typeface="BIZ UDPGothic"/>
              </a:rPr>
              <a:t>Outcomeを目的変数とする分類分析を実施し、糖尿病判定に寄与する主要因子を特定する</a:t>
            </a:r>
          </a:p>
        </p:txBody>
      </p:sp>
      <p:sp>
        <p:nvSpPr>
          <p:cNvPr id="22" name="ObjNum1"/>
          <p:cNvSpPr/>
          <p:nvPr/>
        </p:nvSpPr>
        <p:spPr>
          <a:xfrm>
            <a:off x="5765800" y="863600"/>
            <a:ext cx="406400" cy="406400"/>
          </a:xfrm>
          <a:prstGeom prst="ellipse">
            <a:avLst/>
          </a:prstGeom>
          <a:solidFill>
            <a:srgbClr val="A03028"/>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2</a:t>
            </a:r>
          </a:p>
        </p:txBody>
      </p:sp>
      <p:sp>
        <p:nvSpPr>
          <p:cNvPr id="23" name="ObjCard1"/>
          <p:cNvSpPr/>
          <p:nvPr/>
        </p:nvSpPr>
        <p:spPr>
          <a:xfrm>
            <a:off x="4191000" y="1346200"/>
            <a:ext cx="3556000" cy="850900"/>
          </a:xfrm>
          <a:prstGeom prst="roundRect">
            <a:avLst/>
          </a:prstGeom>
          <a:solidFill>
            <a:srgbClr val="F7F7F7"/>
          </a:solidFill>
          <a:ln w="12700">
            <a:solidFill>
              <a:srgbClr val="E0E0E0"/>
            </a:solidFill>
          </a:ln>
        </p:spPr>
        <p:txBody>
          <a:bodyPr wrap="square" lIns="72000" tIns="36000" rIns="72000" bIns="36000" anchor="t"/>
          <a:lstStyle/>
          <a:p>
            <a:pPr algn="ctr">
              <a:buNone/>
            </a:pPr>
            <a:r>
              <a:rPr lang="ja-JP" sz="1400" b="1" dirty="0">
                <a:solidFill>
                  <a:srgbClr val="2B2B2B"/>
                </a:solidFill>
                <a:latin typeface="BIZ UDPGothic"/>
                <a:ea typeface="BIZ UDPGothic"/>
              </a:rPr>
              <a:t>標準手順の定義</a:t>
            </a:r>
          </a:p>
          <a:p>
            <a:pPr algn="ctr">
              <a:buNone/>
            </a:pPr>
            <a:r>
              <a:rPr lang="ja-JP" sz="1200" dirty="0">
                <a:solidFill>
                  <a:srgbClr val="5C5C5C"/>
                </a:solidFill>
                <a:latin typeface="BIZ UDPGothic"/>
                <a:ea typeface="BIZ UDPGothic"/>
              </a:rPr>
              <a:t>医療情報・品質改善推進室が再利用可能な、前処理・分析・評価の標準手順を定義する</a:t>
            </a:r>
          </a:p>
        </p:txBody>
      </p:sp>
      <p:sp>
        <p:nvSpPr>
          <p:cNvPr id="24" name="ObjNum2"/>
          <p:cNvSpPr/>
          <p:nvPr/>
        </p:nvSpPr>
        <p:spPr>
          <a:xfrm>
            <a:off x="9499600" y="863600"/>
            <a:ext cx="406400" cy="406400"/>
          </a:xfrm>
          <a:prstGeom prst="ellipse">
            <a:avLst/>
          </a:prstGeom>
          <a:solidFill>
            <a:srgbClr val="A03028"/>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3</a:t>
            </a:r>
          </a:p>
        </p:txBody>
      </p:sp>
      <p:sp>
        <p:nvSpPr>
          <p:cNvPr id="25" name="ObjCard2"/>
          <p:cNvSpPr/>
          <p:nvPr/>
        </p:nvSpPr>
        <p:spPr>
          <a:xfrm>
            <a:off x="7924800" y="1346200"/>
            <a:ext cx="3556000" cy="850900"/>
          </a:xfrm>
          <a:prstGeom prst="roundRect">
            <a:avLst/>
          </a:prstGeom>
          <a:solidFill>
            <a:srgbClr val="F7F7F7"/>
          </a:solidFill>
          <a:ln w="12700">
            <a:solidFill>
              <a:srgbClr val="E0E0E0"/>
            </a:solidFill>
          </a:ln>
        </p:spPr>
        <p:txBody>
          <a:bodyPr wrap="square" lIns="72000" tIns="36000" rIns="72000" bIns="36000" anchor="t"/>
          <a:lstStyle/>
          <a:p>
            <a:pPr algn="ctr">
              <a:buNone/>
            </a:pPr>
            <a:r>
              <a:rPr lang="ja-JP" sz="1400" b="1" dirty="0">
                <a:solidFill>
                  <a:srgbClr val="2B2B2B"/>
                </a:solidFill>
                <a:latin typeface="BIZ UDPGothic"/>
                <a:ea typeface="BIZ UDPGothic"/>
              </a:rPr>
              <a:t>活用可否の判断基盤</a:t>
            </a:r>
          </a:p>
          <a:p>
            <a:pPr algn="ctr">
              <a:buNone/>
            </a:pPr>
            <a:r>
              <a:rPr lang="ja-JP" sz="1200" dirty="0">
                <a:solidFill>
                  <a:srgbClr val="5C5C5C"/>
                </a:solidFill>
                <a:latin typeface="BIZ UDPGothic"/>
                <a:ea typeface="BIZ UDPGothic"/>
              </a:rPr>
              <a:t>今後の業務活用可否を判断できる水準で、分析精度・解釈性・運用上の留意点を整理する</a:t>
            </a:r>
          </a:p>
        </p:txBody>
      </p:sp>
      <p:sp>
        <p:nvSpPr>
          <p:cNvPr id="30" name="PocLabel"/>
          <p:cNvSpPr/>
          <p:nvPr/>
        </p:nvSpPr>
        <p:spPr>
          <a:xfrm>
            <a:off x="457200" y="2413000"/>
            <a:ext cx="5080000" cy="3048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PoC/分析初期フェーズ重視観点</a:t>
            </a:r>
          </a:p>
        </p:txBody>
      </p:sp>
      <p:sp>
        <p:nvSpPr>
          <p:cNvPr id="40" name="PoC0"/>
          <p:cNvSpPr/>
          <p:nvPr/>
        </p:nvSpPr>
        <p:spPr>
          <a:xfrm>
            <a:off x="457200" y="2794000"/>
            <a:ext cx="2133600" cy="762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200" dirty="0">
                <a:solidFill>
                  <a:srgbClr val="4A4A4A"/>
                </a:solidFill>
                <a:latin typeface="BIZ UDPGothic"/>
                <a:ea typeface="BIZ UDPGothic"/>
              </a:rPr>
              <a:t>ベースラインモデルの構築</a:t>
            </a:r>
          </a:p>
        </p:txBody>
      </p:sp>
      <p:sp>
        <p:nvSpPr>
          <p:cNvPr id="41" name="PoC1"/>
          <p:cNvSpPr/>
          <p:nvPr/>
        </p:nvSpPr>
        <p:spPr>
          <a:xfrm>
            <a:off x="2717800" y="2794000"/>
            <a:ext cx="2133600" cy="762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200" dirty="0">
                <a:solidFill>
                  <a:srgbClr val="4A4A4A"/>
                </a:solidFill>
                <a:latin typeface="BIZ UDPGothic"/>
                <a:ea typeface="BIZ UDPGothic"/>
              </a:rPr>
              <a:t>複数モデル比較による性能評価</a:t>
            </a:r>
          </a:p>
        </p:txBody>
      </p:sp>
      <p:sp>
        <p:nvSpPr>
          <p:cNvPr id="42" name="PoC2"/>
          <p:cNvSpPr/>
          <p:nvPr/>
        </p:nvSpPr>
        <p:spPr>
          <a:xfrm>
            <a:off x="4978400" y="2794000"/>
            <a:ext cx="2133600" cy="762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200" dirty="0">
                <a:solidFill>
                  <a:srgbClr val="4A4A4A"/>
                </a:solidFill>
                <a:latin typeface="BIZ UDPGothic"/>
                <a:ea typeface="BIZ UDPGothic"/>
              </a:rPr>
              <a:t>不均衡データを考慮した評価指標</a:t>
            </a:r>
          </a:p>
        </p:txBody>
      </p:sp>
      <p:sp>
        <p:nvSpPr>
          <p:cNvPr id="43" name="PoC3"/>
          <p:cNvSpPr/>
          <p:nvPr/>
        </p:nvSpPr>
        <p:spPr>
          <a:xfrm>
            <a:off x="7239000" y="2794000"/>
            <a:ext cx="2133600" cy="762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200" dirty="0">
                <a:solidFill>
                  <a:srgbClr val="4A4A4A"/>
                </a:solidFill>
                <a:latin typeface="BIZ UDPGothic"/>
                <a:ea typeface="BIZ UDPGothic"/>
              </a:rPr>
              <a:t>ROC-AUC/Precision/Recall/F1/混同行列の報告</a:t>
            </a:r>
          </a:p>
        </p:txBody>
      </p:sp>
      <p:sp>
        <p:nvSpPr>
          <p:cNvPr id="44" name="PoC4"/>
          <p:cNvSpPr/>
          <p:nvPr/>
        </p:nvSpPr>
        <p:spPr>
          <a:xfrm>
            <a:off x="9499600" y="2794000"/>
            <a:ext cx="2133600" cy="762000"/>
          </a:xfrm>
          <a:prstGeom prst="roundRect">
            <a:avLst/>
          </a:prstGeom>
          <a:solidFill>
            <a:srgbClr val="FFFFFF"/>
          </a:solidFill>
          <a:ln w="12700">
            <a:solidFill>
              <a:srgbClr val="D4D4D4"/>
            </a:solidFill>
          </a:ln>
        </p:spPr>
        <p:txBody>
          <a:bodyPr wrap="square" lIns="72000" tIns="36000" rIns="72000" bIns="36000" anchor="ctr"/>
          <a:lstStyle/>
          <a:p>
            <a:pPr algn="ctr">
              <a:buNone/>
            </a:pPr>
            <a:r>
              <a:rPr lang="ja-JP" sz="1200" dirty="0">
                <a:solidFill>
                  <a:srgbClr val="4A4A4A"/>
                </a:solidFill>
                <a:latin typeface="BIZ UDPGothic"/>
                <a:ea typeface="BIZ UDPGothic"/>
              </a:rPr>
              <a:t>特徴量重要度・係数ベースの解釈</a:t>
            </a:r>
          </a:p>
        </p:txBody>
      </p:sp>
      <p:sp>
        <p:nvSpPr>
          <p:cNvPr id="50" name="EvalBox"/>
          <p:cNvSpPr/>
          <p:nvPr/>
        </p:nvSpPr>
        <p:spPr>
          <a:xfrm>
            <a:off x="457200" y="3784600"/>
            <a:ext cx="11277600" cy="698500"/>
          </a:xfrm>
          <a:prstGeom prst="roundRect">
            <a:avLst/>
          </a:prstGeom>
          <a:solidFill>
            <a:srgbClr val="FFF5F5"/>
          </a:solidFill>
          <a:ln w="12700">
            <a:solidFill>
              <a:srgbClr val="A03028"/>
            </a:solidFill>
          </a:ln>
        </p:spPr>
        <p:txBody>
          <a:bodyPr wrap="square" lIns="72000" tIns="36000" rIns="72000" bIns="36000" anchor="t"/>
          <a:lstStyle/>
          <a:p>
            <a:pPr algn="l">
              <a:buNone/>
            </a:pPr>
            <a:r>
              <a:rPr lang="ja-JP" sz="1200" b="1" dirty="0">
                <a:solidFill>
                  <a:srgbClr val="A03028"/>
                </a:solidFill>
                <a:latin typeface="BIZ UDPGothic"/>
                <a:ea typeface="BIZ UDPGothic"/>
              </a:rPr>
              <a:t>評価指標の重点</a:t>
            </a:r>
          </a:p>
          <a:p>
            <a:pPr algn="l">
              <a:buNone/>
            </a:pPr>
            <a:r>
              <a:rPr lang="ja-JP" sz="1200" dirty="0">
                <a:solidFill>
                  <a:srgbClr val="5C5C5C"/>
                </a:solidFill>
                <a:latin typeface="BIZ UDPGothic"/>
                <a:ea typeface="BIZ UDPGothic"/>
              </a:rPr>
              <a:t>陽性率は約23.9%であるため、Accuracyのみではなく、RecallとROC-AUCを重視しつつ、業務負荷を踏まえてPrecisionも併記して評価する。</a:t>
            </a:r>
          </a:p>
        </p:txBody>
      </p:sp>
      <p:sp>
        <p:nvSpPr>
          <p:cNvPr id="55" name="DownArrow"/>
          <p:cNvSpPr/>
          <p:nvPr/>
        </p:nvSpPr>
        <p:spPr>
          <a:xfrm>
            <a:off x="5842000" y="4597400"/>
            <a:ext cx="508000" cy="317500"/>
          </a:xfrm>
          <a:prstGeom prst="downArrow">
            <a:avLst/>
          </a:prstGeom>
          <a:solidFill>
            <a:srgbClr val="D4D4D4"/>
          </a:solidFill>
          <a:ln>
            <a:noFill/>
          </a:ln>
        </p:spPr>
        <p:txBody>
          <a:bodyPr wrap="square" lIns="72000" tIns="36000" rIns="72000" bIns="36000" anchor="ctr"/>
          <a:lstStyle/>
          <a:p>
            <a:endParaRPr lang="ja-JP"/>
          </a:p>
        </p:txBody>
      </p:sp>
      <p:sp>
        <p:nvSpPr>
          <p:cNvPr id="56" name="BottomMsg"/>
          <p:cNvSpPr/>
          <p:nvPr/>
        </p:nvSpPr>
        <p:spPr>
          <a:xfrm>
            <a:off x="457200" y="4978400"/>
            <a:ext cx="11277600" cy="355600"/>
          </a:xfrm>
          <a:prstGeom prst="roundRect">
            <a:avLst/>
          </a:prstGeom>
          <a:solidFill>
            <a:srgbClr val="2B2B2B"/>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精度確認 × 解釈性 × 運用性 の3軸で業務活用可否を判断</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5</a:t>
            </a:r>
          </a:p>
        </p:txBody>
      </p:sp>
    </p:spTree>
    <p:extLst>
      <p:ext uri="{BB962C8B-B14F-4D97-AF65-F5344CB8AC3E}">
        <p14:creationId xmlns:p14="http://schemas.microsoft.com/office/powerpoint/2010/main" val="335096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3. スコープ</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0" name="InScopeHeader"/>
          <p:cNvSpPr/>
          <p:nvPr/>
        </p:nvSpPr>
        <p:spPr>
          <a:xfrm>
            <a:off x="457200" y="825500"/>
            <a:ext cx="5461000" cy="355600"/>
          </a:xfrm>
          <a:prstGeom prst="roundRect">
            <a:avLst/>
          </a:prstGeom>
          <a:solidFill>
            <a:srgbClr val="A03028"/>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対象範囲（In-Scope）</a:t>
            </a:r>
          </a:p>
        </p:txBody>
      </p:sp>
      <p:sp>
        <p:nvSpPr>
          <p:cNvPr id="21" name="InScopeBox"/>
          <p:cNvSpPr/>
          <p:nvPr/>
        </p:nvSpPr>
        <p:spPr>
          <a:xfrm>
            <a:off x="457200" y="1231900"/>
            <a:ext cx="5461000" cy="3492500"/>
          </a:xfrm>
          <a:prstGeom prst="roundRect">
            <a:avLst/>
          </a:prstGeom>
          <a:solidFill>
            <a:srgbClr val="F7F7F7"/>
          </a:solidFill>
          <a:ln w="12700">
            <a:solidFill>
              <a:srgbClr val="E0E0E0"/>
            </a:solidFill>
          </a:ln>
        </p:spPr>
        <p:txBody>
          <a:bodyPr wrap="square" lIns="72000" tIns="36000" rIns="72000" bIns="36000" anchor="t"/>
          <a:lstStyle/>
          <a:p>
            <a:pPr marL="228600" indent="-228600" algn="l">
              <a:buFont typeface="Arial"/>
              <a:buChar char="●"/>
            </a:pPr>
            <a:r>
              <a:rPr lang="ja-JP" sz="1050" dirty="0">
                <a:solidFill>
                  <a:srgbClr val="4A4A4A"/>
                </a:solidFill>
                <a:latin typeface="BIZ UDPGothic"/>
                <a:ea typeface="BIZ UDPGothic"/>
              </a:rPr>
              <a:t>train.csvの内容確認、カラム定義確認、品質診断</a:t>
            </a:r>
          </a:p>
          <a:p>
            <a:pPr marL="228600" indent="-228600" algn="l">
              <a:buFont typeface="Arial"/>
              <a:buChar char="●"/>
            </a:pPr>
            <a:r>
              <a:rPr lang="ja-JP" sz="1050" dirty="0">
                <a:solidFill>
                  <a:srgbClr val="4A4A4A"/>
                </a:solidFill>
                <a:latin typeface="BIZ UDPGothic"/>
                <a:ea typeface="BIZ UDPGothic"/>
              </a:rPr>
              <a:t>Outcomeを目的変数とした二値分類分析</a:t>
            </a:r>
          </a:p>
          <a:p>
            <a:pPr marL="228600" indent="-228600" algn="l">
              <a:buFont typeface="Arial"/>
              <a:buChar char="●"/>
            </a:pPr>
            <a:r>
              <a:rPr lang="ja-JP" sz="1050" dirty="0">
                <a:solidFill>
                  <a:srgbClr val="4A4A4A"/>
                </a:solidFill>
                <a:latin typeface="BIZ UDPGothic"/>
                <a:ea typeface="BIZ UDPGothic"/>
              </a:rPr>
              <a:t>0値・外れ値・スケーリング要否を含む前処理方針の比較検討</a:t>
            </a:r>
          </a:p>
          <a:p>
            <a:pPr marL="228600" indent="-228600" algn="l">
              <a:buFont typeface="Arial"/>
              <a:buChar char="●"/>
            </a:pPr>
            <a:r>
              <a:rPr lang="ja-JP" sz="1050" dirty="0">
                <a:solidFill>
                  <a:srgbClr val="4A4A4A"/>
                </a:solidFill>
                <a:latin typeface="BIZ UDPGothic"/>
                <a:ea typeface="BIZ UDPGothic"/>
              </a:rPr>
              <a:t>ベースラインモデルおよび複数候補モデルの構築・性能比較</a:t>
            </a:r>
          </a:p>
          <a:p>
            <a:pPr marL="228600" indent="-228600" algn="l">
              <a:buFont typeface="Arial"/>
              <a:buChar char="●"/>
            </a:pPr>
            <a:r>
              <a:rPr lang="ja-JP" sz="1050" dirty="0">
                <a:solidFill>
                  <a:srgbClr val="4A4A4A"/>
                </a:solidFill>
                <a:latin typeface="BIZ UDPGothic"/>
                <a:ea typeface="BIZ UDPGothic"/>
              </a:rPr>
              <a:t>評価結果の可視化と解釈</a:t>
            </a:r>
          </a:p>
          <a:p>
            <a:pPr marL="228600" indent="-228600" algn="l">
              <a:buFont typeface="Arial"/>
              <a:buChar char="●"/>
            </a:pPr>
            <a:r>
              <a:rPr lang="ja-JP" sz="1050" dirty="0">
                <a:solidFill>
                  <a:srgbClr val="4A4A4A"/>
                </a:solidFill>
                <a:latin typeface="BIZ UDPGothic"/>
                <a:ea typeface="BIZ UDPGothic"/>
              </a:rPr>
              <a:t>業務活用に向けた示唆整理</a:t>
            </a:r>
          </a:p>
          <a:p>
            <a:pPr marL="228600" indent="-228600" algn="l">
              <a:buFont typeface="Arial"/>
              <a:buChar char="●"/>
            </a:pPr>
            <a:r>
              <a:rPr lang="ja-JP" sz="1050" dirty="0">
                <a:solidFill>
                  <a:srgbClr val="4A4A4A"/>
                </a:solidFill>
                <a:latin typeface="BIZ UDPGothic"/>
                <a:ea typeface="BIZ UDPGothic"/>
              </a:rPr>
              <a:t>最終報告書を含む成果物一式の作成</a:t>
            </a:r>
          </a:p>
        </p:txBody>
      </p:sp>
      <p:sp>
        <p:nvSpPr>
          <p:cNvPr id="30" name="OutScopeHeader"/>
          <p:cNvSpPr/>
          <p:nvPr/>
        </p:nvSpPr>
        <p:spPr>
          <a:xfrm>
            <a:off x="6273800" y="825500"/>
            <a:ext cx="5461000" cy="355600"/>
          </a:xfrm>
          <a:prstGeom prst="roundRect">
            <a:avLst/>
          </a:prstGeom>
          <a:solidFill>
            <a:srgbClr val="5C5C5C"/>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対象外（Out-of-Scope）</a:t>
            </a:r>
          </a:p>
        </p:txBody>
      </p:sp>
      <p:sp>
        <p:nvSpPr>
          <p:cNvPr id="31" name="OutScopeBox"/>
          <p:cNvSpPr/>
          <p:nvPr/>
        </p:nvSpPr>
        <p:spPr>
          <a:xfrm>
            <a:off x="6273800" y="1231900"/>
            <a:ext cx="5461000" cy="3492500"/>
          </a:xfrm>
          <a:prstGeom prst="roundRect">
            <a:avLst/>
          </a:prstGeom>
          <a:solidFill>
            <a:srgbClr val="F7F7F7"/>
          </a:solidFill>
          <a:ln w="12700">
            <a:solidFill>
              <a:srgbClr val="E0E0E0"/>
            </a:solidFill>
          </a:ln>
        </p:spPr>
        <p:txBody>
          <a:bodyPr wrap="square" lIns="72000" tIns="36000" rIns="72000" bIns="36000" anchor="t"/>
          <a:lstStyle/>
          <a:p>
            <a:pPr marL="228600" indent="-228600" algn="l">
              <a:buFont typeface="Arial"/>
              <a:buChar char="✕"/>
            </a:pPr>
            <a:r>
              <a:rPr lang="ja-JP" sz="1050" dirty="0">
                <a:solidFill>
                  <a:srgbClr val="5C5C5C"/>
                </a:solidFill>
                <a:latin typeface="BIZ UDPGothic"/>
                <a:ea typeface="BIZ UDPGothic"/>
              </a:rPr>
              <a:t>本番システム実装、API化、運用監視設計</a:t>
            </a:r>
          </a:p>
          <a:p>
            <a:pPr marL="228600" indent="-228600" algn="l">
              <a:buFont typeface="Arial"/>
              <a:buChar char="✕"/>
            </a:pPr>
            <a:r>
              <a:rPr lang="ja-JP" sz="1050" dirty="0">
                <a:solidFill>
                  <a:srgbClr val="5C5C5C"/>
                </a:solidFill>
                <a:latin typeface="BIZ UDPGothic"/>
                <a:ea typeface="BIZ UDPGothic"/>
              </a:rPr>
              <a:t>電子カルテ等の他システムとの接続開発</a:t>
            </a:r>
          </a:p>
          <a:p>
            <a:pPr marL="228600" indent="-228600" algn="l">
              <a:buFont typeface="Arial"/>
              <a:buChar char="✕"/>
            </a:pPr>
            <a:r>
              <a:rPr lang="ja-JP" sz="1050" dirty="0">
                <a:solidFill>
                  <a:srgbClr val="5C5C5C"/>
                </a:solidFill>
                <a:latin typeface="BIZ UDPGothic"/>
                <a:ea typeface="BIZ UDPGothic"/>
              </a:rPr>
              <a:t>新規データ取得、追加調査の大幅拡張</a:t>
            </a:r>
          </a:p>
          <a:p>
            <a:pPr marL="228600" indent="-228600" algn="l">
              <a:buFont typeface="Arial"/>
              <a:buChar char="✕"/>
            </a:pPr>
            <a:r>
              <a:rPr lang="ja-JP" sz="1050" dirty="0">
                <a:solidFill>
                  <a:srgbClr val="5C5C5C"/>
                </a:solidFill>
                <a:latin typeface="BIZ UDPGothic"/>
                <a:ea typeface="BIZ UDPGothic"/>
              </a:rPr>
              <a:t>医学的因果関係の証明</a:t>
            </a:r>
          </a:p>
          <a:p>
            <a:pPr marL="228600" indent="-228600" algn="l">
              <a:buFont typeface="Arial"/>
              <a:buChar char="✕"/>
            </a:pPr>
            <a:r>
              <a:rPr lang="ja-JP" sz="1050" dirty="0">
                <a:solidFill>
                  <a:srgbClr val="5C5C5C"/>
                </a:solidFill>
                <a:latin typeface="BIZ UDPGothic"/>
                <a:ea typeface="BIZ UDPGothic"/>
              </a:rPr>
              <a:t>臨床ガイドライン改定提案</a:t>
            </a:r>
          </a:p>
          <a:p>
            <a:pPr marL="228600" indent="-228600" algn="l">
              <a:buFont typeface="Arial"/>
              <a:buChar char="✕"/>
            </a:pPr>
            <a:r>
              <a:rPr lang="ja-JP" sz="1050" dirty="0">
                <a:solidFill>
                  <a:srgbClr val="5C5C5C"/>
                </a:solidFill>
                <a:latin typeface="BIZ UDPGothic"/>
                <a:ea typeface="BIZ UDPGothic"/>
              </a:rPr>
              <a:t>本分析結果のみに基づく診療判断ルールの制定</a:t>
            </a:r>
          </a:p>
          <a:p>
            <a:pPr marL="228600" indent="-228600" algn="l">
              <a:buFont typeface="Arial"/>
              <a:buChar char="✕"/>
            </a:pPr>
            <a:r>
              <a:rPr lang="ja-JP" sz="1050" dirty="0">
                <a:solidFill>
                  <a:srgbClr val="5C5C5C"/>
                </a:solidFill>
                <a:latin typeface="BIZ UDPGothic"/>
                <a:ea typeface="BIZ UDPGothic"/>
              </a:rPr>
              <a:t>契約締結時点で提示されていない追加データの統合分析</a:t>
            </a:r>
          </a:p>
          <a:p>
            <a:pPr marL="228600" indent="-228600" algn="l">
              <a:buFont typeface="Arial"/>
              <a:buChar char="✕"/>
            </a:pPr>
            <a:r>
              <a:rPr lang="ja-JP" sz="1050" dirty="0">
                <a:solidFill>
                  <a:srgbClr val="5C5C5C"/>
                </a:solidFill>
                <a:latin typeface="BIZ UDPGothic"/>
                <a:ea typeface="BIZ UDPGothic"/>
              </a:rPr>
              <a:t>契約範囲外の追加帳票・追加会議体の無償対応</a:t>
            </a:r>
          </a:p>
        </p:txBody>
      </p:sp>
      <p:sp>
        <p:nvSpPr>
          <p:cNvPr id="40" name="ScopeMgmt"/>
          <p:cNvSpPr/>
          <p:nvPr/>
        </p:nvSpPr>
        <p:spPr>
          <a:xfrm>
            <a:off x="457200" y="4889500"/>
            <a:ext cx="11277600" cy="508000"/>
          </a:xfrm>
          <a:prstGeom prst="roundRect">
            <a:avLst/>
          </a:prstGeom>
          <a:solidFill>
            <a:srgbClr val="FFF5F5"/>
          </a:solidFill>
          <a:ln w="12700">
            <a:solidFill>
              <a:srgbClr val="A03028"/>
            </a:solidFill>
          </a:ln>
        </p:spPr>
        <p:txBody>
          <a:bodyPr wrap="square" lIns="72000" tIns="36000" rIns="72000" bIns="36000" anchor="t"/>
          <a:lstStyle/>
          <a:p>
            <a:pPr algn="l">
              <a:buNone/>
            </a:pPr>
            <a:r>
              <a:rPr lang="ja-JP" sz="1200" b="1" dirty="0">
                <a:solidFill>
                  <a:srgbClr val="A03028"/>
                </a:solidFill>
                <a:latin typeface="BIZ UDPGothic"/>
                <a:ea typeface="BIZ UDPGothic"/>
              </a:rPr>
              <a:t>スコープ管理</a:t>
            </a:r>
          </a:p>
          <a:p>
            <a:pPr algn="l">
              <a:buNone/>
            </a:pPr>
            <a:r>
              <a:rPr lang="ja-JP" sz="1050" dirty="0">
                <a:solidFill>
                  <a:srgbClr val="5C5C5C"/>
                </a:solidFill>
                <a:latin typeface="BIZ UDPGothic"/>
                <a:ea typeface="BIZ UDPGothic"/>
              </a:rPr>
              <a:t>契約範囲を明確化した上で推進する。契約範囲外の追加対応は別途対応とし、契約内作業と混在しないよう管理する。</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6</a:t>
            </a:r>
          </a:p>
        </p:txBody>
      </p:sp>
    </p:spTree>
    <p:extLst>
      <p:ext uri="{BB962C8B-B14F-4D97-AF65-F5344CB8AC3E}">
        <p14:creationId xmlns:p14="http://schemas.microsoft.com/office/powerpoint/2010/main" val="2227217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635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4. 分析アプローチ ─ 全体概観</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12" name="Subtitle"/>
          <p:cNvSpPr/>
          <p:nvPr/>
        </p:nvSpPr>
        <p:spPr>
          <a:xfrm>
            <a:off x="457200" y="736600"/>
            <a:ext cx="11277600" cy="279400"/>
          </a:xfrm>
          <a:prstGeom prst="rect">
            <a:avLst/>
          </a:prstGeom>
          <a:noFill/>
          <a:ln>
            <a:noFill/>
          </a:ln>
        </p:spPr>
        <p:txBody>
          <a:bodyPr wrap="square" lIns="72000" tIns="36000" rIns="72000" bIns="36000" anchor="t"/>
          <a:lstStyle/>
          <a:p>
            <a:pPr algn="l">
              <a:buNone/>
            </a:pPr>
            <a:r>
              <a:rPr lang="ja-JP" sz="1400" dirty="0">
                <a:solidFill>
                  <a:srgbClr val="5C5C5C"/>
                </a:solidFill>
                <a:latin typeface="BIZ UDPGothic"/>
                <a:ea typeface="BIZ UDPGothic"/>
              </a:rPr>
              <a:t>再現性、説明可能性、医療分野への配慮を重視した4段階アプローチ</a:t>
            </a:r>
          </a:p>
        </p:txBody>
      </p:sp>
      <p:sp>
        <p:nvSpPr>
          <p:cNvPr id="20" name="StepNum0"/>
          <p:cNvSpPr/>
          <p:nvPr/>
        </p:nvSpPr>
        <p:spPr>
          <a:xfrm>
            <a:off x="457200" y="1117600"/>
            <a:ext cx="825500" cy="279400"/>
          </a:xfrm>
          <a:prstGeom prst="roundRect">
            <a:avLst/>
          </a:prstGeom>
          <a:solidFill>
            <a:srgbClr val="A03028"/>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STEP 1</a:t>
            </a:r>
          </a:p>
        </p:txBody>
      </p:sp>
      <p:sp>
        <p:nvSpPr>
          <p:cNvPr id="21" name="PhaseTitle0"/>
          <p:cNvSpPr/>
          <p:nvPr/>
        </p:nvSpPr>
        <p:spPr>
          <a:xfrm>
            <a:off x="457200" y="1447800"/>
            <a:ext cx="2667000" cy="355600"/>
          </a:xfrm>
          <a:prstGeom prst="rect">
            <a:avLst/>
          </a:prstGeom>
          <a:noFill/>
          <a:ln>
            <a:noFill/>
          </a:ln>
        </p:spPr>
        <p:txBody>
          <a:bodyPr wrap="square" lIns="72000" tIns="36000" rIns="72000" bIns="36000" anchor="ctr"/>
          <a:lstStyle/>
          <a:p>
            <a:pPr algn="l">
              <a:buNone/>
            </a:pPr>
            <a:r>
              <a:rPr lang="ja-JP" sz="1400" b="1" dirty="0">
                <a:solidFill>
                  <a:srgbClr val="2B2B2B"/>
                </a:solidFill>
                <a:latin typeface="BIZ UDPGothic"/>
                <a:ea typeface="BIZ UDPGothic"/>
              </a:rPr>
              <a:t>データ理解・品質確認</a:t>
            </a:r>
          </a:p>
        </p:txBody>
      </p:sp>
      <p:sp>
        <p:nvSpPr>
          <p:cNvPr id="22" name="PhaseItems0"/>
          <p:cNvSpPr/>
          <p:nvPr/>
        </p:nvSpPr>
        <p:spPr>
          <a:xfrm>
            <a:off x="457200" y="1854200"/>
            <a:ext cx="2667000" cy="3048000"/>
          </a:xfrm>
          <a:prstGeom prst="roundRect">
            <a:avLst/>
          </a:prstGeom>
          <a:solidFill>
            <a:srgbClr val="F7F7F7"/>
          </a:solidFill>
          <a:ln w="12700">
            <a:solidFill>
              <a:srgbClr val="E0E0E0"/>
            </a:solidFill>
          </a:ln>
        </p:spPr>
        <p:txBody>
          <a:bodyPr wrap="square" lIns="72000" tIns="36000" rIns="72000" bIns="36000" anchor="t"/>
          <a:lstStyle/>
          <a:p>
            <a:pPr marL="171450" indent="-171450" algn="l">
              <a:buFont typeface="Arial"/>
              <a:buChar char="▸"/>
            </a:pPr>
            <a:r>
              <a:rPr lang="ja-JP" sz="1100" dirty="0">
                <a:solidFill>
                  <a:srgbClr val="4A4A4A"/>
                </a:solidFill>
                <a:latin typeface="BIZ UDPGothic"/>
                <a:ea typeface="BIZ UDPGothic"/>
              </a:rPr>
              <a:t>カラム定義・件数・分布・値域の確認</a:t>
            </a:r>
          </a:p>
          <a:p>
            <a:pPr marL="171450" indent="-171450" algn="l">
              <a:buFont typeface="Arial"/>
              <a:buChar char="▸"/>
            </a:pPr>
            <a:r>
              <a:rPr lang="ja-JP" sz="1100" dirty="0">
                <a:solidFill>
                  <a:srgbClr val="4A4A4A"/>
                </a:solidFill>
                <a:latin typeface="BIZ UDPGothic"/>
                <a:ea typeface="BIZ UDPGothic"/>
              </a:rPr>
              <a:t>indexは識別用途として除外</a:t>
            </a:r>
          </a:p>
          <a:p>
            <a:pPr marL="171450" indent="-171450" algn="l">
              <a:buFont typeface="Arial"/>
              <a:buChar char="▸"/>
            </a:pPr>
            <a:r>
              <a:rPr lang="ja-JP" sz="1100" dirty="0">
                <a:solidFill>
                  <a:srgbClr val="4A4A4A"/>
                </a:solidFill>
                <a:latin typeface="BIZ UDPGothic"/>
                <a:ea typeface="BIZ UDPGothic"/>
              </a:rPr>
              <a:t>0値の疑似欠損可能性を確認</a:t>
            </a:r>
          </a:p>
          <a:p>
            <a:pPr marL="171450" indent="-171450" algn="l">
              <a:buFont typeface="Arial"/>
              <a:buChar char="▸"/>
            </a:pPr>
            <a:r>
              <a:rPr lang="ja-JP" sz="1100" dirty="0">
                <a:solidFill>
                  <a:srgbClr val="4A4A4A"/>
                </a:solidFill>
                <a:latin typeface="BIZ UDPGothic"/>
                <a:ea typeface="BIZ UDPGothic"/>
              </a:rPr>
              <a:t>外れ値影響・クラス不均衡の確認</a:t>
            </a:r>
          </a:p>
          <a:p>
            <a:pPr marL="171450" indent="-171450" algn="l">
              <a:buFont typeface="Arial"/>
              <a:buChar char="▸"/>
            </a:pPr>
            <a:r>
              <a:rPr lang="ja-JP" sz="1100" dirty="0">
                <a:solidFill>
                  <a:srgbClr val="4A4A4A"/>
                </a:solidFill>
                <a:latin typeface="BIZ UDPGothic"/>
                <a:ea typeface="BIZ UDPGothic"/>
              </a:rPr>
              <a:t>分析前提・解釈上の注意点整理</a:t>
            </a:r>
          </a:p>
        </p:txBody>
      </p:sp>
      <p:sp>
        <p:nvSpPr>
          <p:cNvPr id="25" name="PhaseArrow0"/>
          <p:cNvSpPr/>
          <p:nvPr/>
        </p:nvSpPr>
        <p:spPr>
          <a:xfrm>
            <a:off x="3124200" y="3149600"/>
            <a:ext cx="152400" cy="203200"/>
          </a:xfrm>
          <a:prstGeom prst="rightArrow">
            <a:avLst/>
          </a:prstGeom>
          <a:solidFill>
            <a:srgbClr val="A03028"/>
          </a:solidFill>
          <a:ln>
            <a:noFill/>
          </a:ln>
        </p:spPr>
        <p:txBody>
          <a:bodyPr wrap="square" lIns="72000" tIns="36000" rIns="72000" bIns="36000" anchor="ctr"/>
          <a:lstStyle/>
          <a:p>
            <a:endParaRPr lang="ja-JP"/>
          </a:p>
        </p:txBody>
      </p:sp>
      <p:sp>
        <p:nvSpPr>
          <p:cNvPr id="30" name="StepNum1"/>
          <p:cNvSpPr/>
          <p:nvPr/>
        </p:nvSpPr>
        <p:spPr>
          <a:xfrm>
            <a:off x="3276600" y="1117600"/>
            <a:ext cx="825500" cy="279400"/>
          </a:xfrm>
          <a:prstGeom prst="roundRect">
            <a:avLst/>
          </a:prstGeom>
          <a:solidFill>
            <a:srgbClr val="A03028"/>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STEP 2</a:t>
            </a:r>
          </a:p>
        </p:txBody>
      </p:sp>
      <p:sp>
        <p:nvSpPr>
          <p:cNvPr id="31" name="PhaseTitle1"/>
          <p:cNvSpPr/>
          <p:nvPr/>
        </p:nvSpPr>
        <p:spPr>
          <a:xfrm>
            <a:off x="3276600" y="1447800"/>
            <a:ext cx="2667000" cy="355600"/>
          </a:xfrm>
          <a:prstGeom prst="rect">
            <a:avLst/>
          </a:prstGeom>
          <a:noFill/>
          <a:ln>
            <a:noFill/>
          </a:ln>
        </p:spPr>
        <p:txBody>
          <a:bodyPr wrap="square" lIns="72000" tIns="36000" rIns="72000" bIns="36000" anchor="ctr"/>
          <a:lstStyle/>
          <a:p>
            <a:pPr algn="l">
              <a:buNone/>
            </a:pPr>
            <a:r>
              <a:rPr lang="ja-JP" sz="1400" b="1" dirty="0">
                <a:solidFill>
                  <a:srgbClr val="2B2B2B"/>
                </a:solidFill>
                <a:latin typeface="BIZ UDPGothic"/>
                <a:ea typeface="BIZ UDPGothic"/>
              </a:rPr>
              <a:t>前処理方針</a:t>
            </a:r>
          </a:p>
        </p:txBody>
      </p:sp>
      <p:sp>
        <p:nvSpPr>
          <p:cNvPr id="32" name="PhaseItems1"/>
          <p:cNvSpPr/>
          <p:nvPr/>
        </p:nvSpPr>
        <p:spPr>
          <a:xfrm>
            <a:off x="3276600" y="1854200"/>
            <a:ext cx="2667000" cy="3048000"/>
          </a:xfrm>
          <a:prstGeom prst="roundRect">
            <a:avLst/>
          </a:prstGeom>
          <a:solidFill>
            <a:srgbClr val="F7F7F7"/>
          </a:solidFill>
          <a:ln w="12700">
            <a:solidFill>
              <a:srgbClr val="E0E0E0"/>
            </a:solidFill>
          </a:ln>
        </p:spPr>
        <p:txBody>
          <a:bodyPr wrap="square" lIns="72000" tIns="36000" rIns="72000" bIns="36000" anchor="t"/>
          <a:lstStyle/>
          <a:p>
            <a:pPr marL="171450" indent="-171450" algn="l">
              <a:buFont typeface="Arial"/>
              <a:buChar char="▸"/>
            </a:pPr>
            <a:r>
              <a:rPr lang="ja-JP" sz="1100" dirty="0">
                <a:solidFill>
                  <a:srgbClr val="4A4A4A"/>
                </a:solidFill>
                <a:latin typeface="BIZ UDPGothic"/>
                <a:ea typeface="BIZ UDPGothic"/>
              </a:rPr>
              <a:t>識別子列のモデリング除外</a:t>
            </a:r>
          </a:p>
          <a:p>
            <a:pPr marL="171450" indent="-171450" algn="l">
              <a:buFont typeface="Arial"/>
              <a:buChar char="▸"/>
            </a:pPr>
            <a:r>
              <a:rPr lang="ja-JP" sz="1100" dirty="0">
                <a:solidFill>
                  <a:srgbClr val="4A4A4A"/>
                </a:solidFill>
                <a:latin typeface="BIZ UDPGothic"/>
                <a:ea typeface="BIZ UDPGothic"/>
              </a:rPr>
              <a:t>数値欠損は中央値補完</a:t>
            </a:r>
          </a:p>
          <a:p>
            <a:pPr marL="171450" indent="-171450" algn="l">
              <a:buFont typeface="Arial"/>
              <a:buChar char="▸"/>
            </a:pPr>
            <a:r>
              <a:rPr lang="ja-JP" sz="1100" dirty="0">
                <a:solidFill>
                  <a:srgbClr val="4A4A4A"/>
                </a:solidFill>
                <a:latin typeface="BIZ UDPGothic"/>
                <a:ea typeface="BIZ UDPGothic"/>
              </a:rPr>
              <a:t>カテゴリ欠損は最頻値補完</a:t>
            </a:r>
          </a:p>
          <a:p>
            <a:pPr marL="171450" indent="-171450" algn="l">
              <a:buFont typeface="Arial"/>
              <a:buChar char="▸"/>
            </a:pPr>
            <a:r>
              <a:rPr lang="ja-JP" sz="1100" dirty="0">
                <a:solidFill>
                  <a:srgbClr val="4A4A4A"/>
                </a:solidFill>
                <a:latin typeface="BIZ UDPGothic"/>
                <a:ea typeface="BIZ UDPGothic"/>
              </a:rPr>
              <a:t>低cardinality列はone-hot encoding</a:t>
            </a:r>
          </a:p>
          <a:p>
            <a:pPr marL="171450" indent="-171450" algn="l">
              <a:buFont typeface="Arial"/>
              <a:buChar char="▸"/>
            </a:pPr>
            <a:r>
              <a:rPr lang="ja-JP" sz="1100" dirty="0">
                <a:solidFill>
                  <a:srgbClr val="4A4A4A"/>
                </a:solidFill>
                <a:latin typeface="BIZ UDPGothic"/>
                <a:ea typeface="BIZ UDPGothic"/>
              </a:rPr>
              <a:t>0値：有効値 vs 疑似欠損を比較</a:t>
            </a:r>
          </a:p>
        </p:txBody>
      </p:sp>
      <p:sp>
        <p:nvSpPr>
          <p:cNvPr id="35" name="PhaseArrow1"/>
          <p:cNvSpPr/>
          <p:nvPr/>
        </p:nvSpPr>
        <p:spPr>
          <a:xfrm>
            <a:off x="5943600" y="3149600"/>
            <a:ext cx="152400" cy="203200"/>
          </a:xfrm>
          <a:prstGeom prst="rightArrow">
            <a:avLst/>
          </a:prstGeom>
          <a:solidFill>
            <a:srgbClr val="A03028"/>
          </a:solidFill>
          <a:ln>
            <a:noFill/>
          </a:ln>
        </p:spPr>
        <p:txBody>
          <a:bodyPr wrap="square" lIns="72000" tIns="36000" rIns="72000" bIns="36000" anchor="ctr"/>
          <a:lstStyle/>
          <a:p>
            <a:endParaRPr lang="ja-JP"/>
          </a:p>
        </p:txBody>
      </p:sp>
      <p:sp>
        <p:nvSpPr>
          <p:cNvPr id="40" name="StepNum2"/>
          <p:cNvSpPr/>
          <p:nvPr/>
        </p:nvSpPr>
        <p:spPr>
          <a:xfrm>
            <a:off x="6096000" y="1117600"/>
            <a:ext cx="825500" cy="279400"/>
          </a:xfrm>
          <a:prstGeom prst="roundRect">
            <a:avLst/>
          </a:prstGeom>
          <a:solidFill>
            <a:srgbClr val="A03028"/>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STEP 3</a:t>
            </a:r>
          </a:p>
        </p:txBody>
      </p:sp>
      <p:sp>
        <p:nvSpPr>
          <p:cNvPr id="41" name="PhaseTitle2"/>
          <p:cNvSpPr/>
          <p:nvPr/>
        </p:nvSpPr>
        <p:spPr>
          <a:xfrm>
            <a:off x="6096000" y="1447800"/>
            <a:ext cx="2667000" cy="355600"/>
          </a:xfrm>
          <a:prstGeom prst="rect">
            <a:avLst/>
          </a:prstGeom>
          <a:noFill/>
          <a:ln>
            <a:noFill/>
          </a:ln>
        </p:spPr>
        <p:txBody>
          <a:bodyPr wrap="square" lIns="72000" tIns="36000" rIns="72000" bIns="36000" anchor="ctr"/>
          <a:lstStyle/>
          <a:p>
            <a:pPr algn="l">
              <a:buNone/>
            </a:pPr>
            <a:r>
              <a:rPr lang="ja-JP" sz="1400" b="1" dirty="0">
                <a:solidFill>
                  <a:srgbClr val="2B2B2B"/>
                </a:solidFill>
                <a:latin typeface="BIZ UDPGothic"/>
                <a:ea typeface="BIZ UDPGothic"/>
              </a:rPr>
              <a:t>モデル構築・評価</a:t>
            </a:r>
          </a:p>
        </p:txBody>
      </p:sp>
      <p:sp>
        <p:nvSpPr>
          <p:cNvPr id="42" name="PhaseItems2"/>
          <p:cNvSpPr/>
          <p:nvPr/>
        </p:nvSpPr>
        <p:spPr>
          <a:xfrm>
            <a:off x="6096000" y="1854200"/>
            <a:ext cx="2667000" cy="3048000"/>
          </a:xfrm>
          <a:prstGeom prst="roundRect">
            <a:avLst/>
          </a:prstGeom>
          <a:solidFill>
            <a:srgbClr val="F7F7F7"/>
          </a:solidFill>
          <a:ln w="12700">
            <a:solidFill>
              <a:srgbClr val="E0E0E0"/>
            </a:solidFill>
          </a:ln>
        </p:spPr>
        <p:txBody>
          <a:bodyPr wrap="square" lIns="72000" tIns="36000" rIns="72000" bIns="36000" anchor="t"/>
          <a:lstStyle/>
          <a:p>
            <a:pPr marL="171450" indent="-171450" algn="l">
              <a:buFont typeface="Arial"/>
              <a:buChar char="▸"/>
            </a:pPr>
            <a:r>
              <a:rPr lang="ja-JP" sz="1100" dirty="0">
                <a:solidFill>
                  <a:srgbClr val="4A4A4A"/>
                </a:solidFill>
                <a:latin typeface="BIZ UDPGothic"/>
                <a:ea typeface="BIZ UDPGothic"/>
              </a:rPr>
              <a:t>ベースラインモデル作成</a:t>
            </a:r>
          </a:p>
          <a:p>
            <a:pPr marL="171450" indent="-171450" algn="l">
              <a:buFont typeface="Arial"/>
              <a:buChar char="▸"/>
            </a:pPr>
            <a:r>
              <a:rPr lang="ja-JP" sz="1100" dirty="0">
                <a:solidFill>
                  <a:srgbClr val="4A4A4A"/>
                </a:solidFill>
                <a:latin typeface="BIZ UDPGothic"/>
                <a:ea typeface="BIZ UDPGothic"/>
              </a:rPr>
              <a:t>複数候補モデルの比較</a:t>
            </a:r>
          </a:p>
          <a:p>
            <a:pPr marL="171450" indent="-171450" algn="l">
              <a:buFont typeface="Arial"/>
              <a:buChar char="▸"/>
            </a:pPr>
            <a:r>
              <a:rPr lang="ja-JP" sz="1100" dirty="0">
                <a:solidFill>
                  <a:srgbClr val="4A4A4A"/>
                </a:solidFill>
                <a:latin typeface="BIZ UDPGothic"/>
                <a:ea typeface="BIZ UDPGothic"/>
              </a:rPr>
              <a:t>ROC-AUC/Precision/Recall/F1/混同行列</a:t>
            </a:r>
          </a:p>
          <a:p>
            <a:pPr marL="171450" indent="-171450" algn="l">
              <a:buFont typeface="Arial"/>
              <a:buChar char="▸"/>
            </a:pPr>
            <a:r>
              <a:rPr lang="ja-JP" sz="1100" dirty="0">
                <a:solidFill>
                  <a:srgbClr val="4A4A4A"/>
                </a:solidFill>
                <a:latin typeface="BIZ UDPGothic"/>
                <a:ea typeface="BIZ UDPGothic"/>
              </a:rPr>
              <a:t>Recall・ROC-AUC重視の評価</a:t>
            </a:r>
          </a:p>
          <a:p>
            <a:pPr marL="171450" indent="-171450" algn="l">
              <a:buFont typeface="Arial"/>
              <a:buChar char="▸"/>
            </a:pPr>
            <a:r>
              <a:rPr lang="ja-JP" sz="1100" dirty="0">
                <a:solidFill>
                  <a:srgbClr val="4A4A4A"/>
                </a:solidFill>
                <a:latin typeface="BIZ UDPGothic"/>
                <a:ea typeface="BIZ UDPGothic"/>
              </a:rPr>
              <a:t>特徴量重要度・係数ベース解釈</a:t>
            </a:r>
          </a:p>
        </p:txBody>
      </p:sp>
      <p:sp>
        <p:nvSpPr>
          <p:cNvPr id="45" name="PhaseArrow2"/>
          <p:cNvSpPr/>
          <p:nvPr/>
        </p:nvSpPr>
        <p:spPr>
          <a:xfrm>
            <a:off x="8763000" y="3149600"/>
            <a:ext cx="152400" cy="203200"/>
          </a:xfrm>
          <a:prstGeom prst="rightArrow">
            <a:avLst/>
          </a:prstGeom>
          <a:solidFill>
            <a:srgbClr val="A03028"/>
          </a:solidFill>
          <a:ln>
            <a:noFill/>
          </a:ln>
        </p:spPr>
        <p:txBody>
          <a:bodyPr wrap="square" lIns="72000" tIns="36000" rIns="72000" bIns="36000" anchor="ctr"/>
          <a:lstStyle/>
          <a:p>
            <a:endParaRPr lang="ja-JP"/>
          </a:p>
        </p:txBody>
      </p:sp>
      <p:sp>
        <p:nvSpPr>
          <p:cNvPr id="50" name="StepNum3"/>
          <p:cNvSpPr/>
          <p:nvPr/>
        </p:nvSpPr>
        <p:spPr>
          <a:xfrm>
            <a:off x="8915400" y="1117600"/>
            <a:ext cx="825500" cy="279400"/>
          </a:xfrm>
          <a:prstGeom prst="roundRect">
            <a:avLst/>
          </a:prstGeom>
          <a:solidFill>
            <a:srgbClr val="A03028"/>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STEP 4</a:t>
            </a:r>
          </a:p>
        </p:txBody>
      </p:sp>
      <p:sp>
        <p:nvSpPr>
          <p:cNvPr id="51" name="PhaseTitle3"/>
          <p:cNvSpPr/>
          <p:nvPr/>
        </p:nvSpPr>
        <p:spPr>
          <a:xfrm>
            <a:off x="8915400" y="1447800"/>
            <a:ext cx="2667000" cy="355600"/>
          </a:xfrm>
          <a:prstGeom prst="rect">
            <a:avLst/>
          </a:prstGeom>
          <a:noFill/>
          <a:ln>
            <a:noFill/>
          </a:ln>
        </p:spPr>
        <p:txBody>
          <a:bodyPr wrap="square" lIns="72000" tIns="36000" rIns="72000" bIns="36000" anchor="ctr"/>
          <a:lstStyle/>
          <a:p>
            <a:pPr algn="l">
              <a:buNone/>
            </a:pPr>
            <a:r>
              <a:rPr lang="ja-JP" sz="1400" b="1" dirty="0">
                <a:solidFill>
                  <a:srgbClr val="2B2B2B"/>
                </a:solidFill>
                <a:latin typeface="BIZ UDPGothic"/>
                <a:ea typeface="BIZ UDPGothic"/>
              </a:rPr>
              <a:t>示唆整理</a:t>
            </a:r>
          </a:p>
        </p:txBody>
      </p:sp>
      <p:sp>
        <p:nvSpPr>
          <p:cNvPr id="52" name="PhaseItems3"/>
          <p:cNvSpPr/>
          <p:nvPr/>
        </p:nvSpPr>
        <p:spPr>
          <a:xfrm>
            <a:off x="8915400" y="1854200"/>
            <a:ext cx="2667000" cy="3048000"/>
          </a:xfrm>
          <a:prstGeom prst="roundRect">
            <a:avLst/>
          </a:prstGeom>
          <a:solidFill>
            <a:srgbClr val="F7F7F7"/>
          </a:solidFill>
          <a:ln w="12700">
            <a:solidFill>
              <a:srgbClr val="E0E0E0"/>
            </a:solidFill>
          </a:ln>
        </p:spPr>
        <p:txBody>
          <a:bodyPr wrap="square" lIns="72000" tIns="36000" rIns="72000" bIns="36000" anchor="t"/>
          <a:lstStyle/>
          <a:p>
            <a:pPr marL="171450" indent="-171450" algn="l">
              <a:buFont typeface="Arial"/>
              <a:buChar char="▸"/>
            </a:pPr>
            <a:r>
              <a:rPr lang="ja-JP" sz="1100" dirty="0">
                <a:solidFill>
                  <a:srgbClr val="4A4A4A"/>
                </a:solidFill>
                <a:latin typeface="BIZ UDPGothic"/>
                <a:ea typeface="BIZ UDPGothic"/>
              </a:rPr>
              <a:t>業務活用の可否判断材料</a:t>
            </a:r>
          </a:p>
          <a:p>
            <a:pPr marL="171450" indent="-171450" algn="l">
              <a:buFont typeface="Arial"/>
              <a:buChar char="▸"/>
            </a:pPr>
            <a:r>
              <a:rPr lang="ja-JP" sz="1100" dirty="0">
                <a:solidFill>
                  <a:srgbClr val="4A4A4A"/>
                </a:solidFill>
                <a:latin typeface="BIZ UDPGothic"/>
                <a:ea typeface="BIZ UDPGothic"/>
              </a:rPr>
              <a:t>リスク評価候補者抽出の初期ルール案</a:t>
            </a:r>
          </a:p>
          <a:p>
            <a:pPr marL="171450" indent="-171450" algn="l">
              <a:buFont typeface="Arial"/>
              <a:buChar char="▸"/>
            </a:pPr>
            <a:r>
              <a:rPr lang="ja-JP" sz="1100" dirty="0">
                <a:solidFill>
                  <a:srgbClr val="4A4A4A"/>
                </a:solidFill>
                <a:latin typeface="BIZ UDPGothic"/>
                <a:ea typeface="BIZ UDPGothic"/>
              </a:rPr>
              <a:t>運用上の留意点</a:t>
            </a:r>
          </a:p>
          <a:p>
            <a:pPr marL="171450" indent="-171450" algn="l">
              <a:buFont typeface="Arial"/>
              <a:buChar char="▸"/>
            </a:pPr>
            <a:r>
              <a:rPr lang="ja-JP" sz="1100" dirty="0">
                <a:solidFill>
                  <a:srgbClr val="4A4A4A"/>
                </a:solidFill>
                <a:latin typeface="BIZ UDPGothic"/>
                <a:ea typeface="BIZ UDPGothic"/>
              </a:rPr>
              <a:t>データ品質改善の示唆</a:t>
            </a:r>
          </a:p>
          <a:p>
            <a:pPr marL="171450" indent="-171450" algn="l">
              <a:buFont typeface="Arial"/>
              <a:buChar char="▸"/>
            </a:pPr>
            <a:r>
              <a:rPr lang="ja-JP" sz="1100" dirty="0">
                <a:solidFill>
                  <a:srgbClr val="4A4A4A"/>
                </a:solidFill>
                <a:latin typeface="BIZ UDPGothic"/>
                <a:ea typeface="BIZ UDPGothic"/>
              </a:rPr>
              <a:t>次フェーズで必要な検証事項</a:t>
            </a:r>
          </a:p>
        </p:txBody>
      </p:sp>
      <p:sp>
        <p:nvSpPr>
          <p:cNvPr id="80" name="PrincipleBar"/>
          <p:cNvSpPr/>
          <p:nvPr/>
        </p:nvSpPr>
        <p:spPr>
          <a:xfrm>
            <a:off x="457200" y="5080000"/>
            <a:ext cx="11277600" cy="355600"/>
          </a:xfrm>
          <a:prstGeom prst="roundRect">
            <a:avLst/>
          </a:prstGeom>
          <a:solidFill>
            <a:srgbClr val="2B2B2B"/>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基本方針：診療判断の代替ではなく、診療補助および品質改善の参考情報として提示する</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7</a:t>
            </a:r>
          </a:p>
        </p:txBody>
      </p:sp>
    </p:spTree>
    <p:extLst>
      <p:ext uri="{BB962C8B-B14F-4D97-AF65-F5344CB8AC3E}">
        <p14:creationId xmlns:p14="http://schemas.microsoft.com/office/powerpoint/2010/main" val="673218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5. 実施体制</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12" name="ClientLabel"/>
          <p:cNvSpPr/>
          <p:nvPr/>
        </p:nvSpPr>
        <p:spPr>
          <a:xfrm>
            <a:off x="457200" y="825500"/>
            <a:ext cx="254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クライアント体制</a:t>
            </a:r>
          </a:p>
        </p:txBody>
      </p:sp>
      <p:sp>
        <p:nvSpPr>
          <p:cNvPr id="13" name="ClientBox"/>
          <p:cNvSpPr/>
          <p:nvPr/>
        </p:nvSpPr>
        <p:spPr>
          <a:xfrm>
            <a:off x="457200" y="1143000"/>
            <a:ext cx="5461000" cy="635000"/>
          </a:xfrm>
          <a:prstGeom prst="roundRect">
            <a:avLst/>
          </a:prstGeom>
          <a:solidFill>
            <a:srgbClr val="F7F7F7"/>
          </a:solidFill>
          <a:ln w="12700">
            <a:solidFill>
              <a:srgbClr val="E0E0E0"/>
            </a:solidFill>
          </a:ln>
        </p:spPr>
        <p:txBody>
          <a:bodyPr wrap="square" lIns="72000" tIns="36000" rIns="72000" bIns="36000" anchor="t"/>
          <a:lstStyle/>
          <a:p>
            <a:pPr algn="l">
              <a:buNone/>
            </a:pPr>
            <a:r>
              <a:rPr lang="ja-JP" sz="1100" b="1" dirty="0">
                <a:solidFill>
                  <a:srgbClr val="2B2B2B"/>
                </a:solidFill>
                <a:latin typeface="BIZ UDPGothic"/>
                <a:ea typeface="BIZ UDPGothic"/>
              </a:rPr>
              <a:t>医療法人社団 蒼樹会 みなみ野女性医療センター</a:t>
            </a:r>
          </a:p>
          <a:p>
            <a:pPr algn="l">
              <a:buNone/>
            </a:pPr>
            <a:r>
              <a:rPr lang="ja-JP" sz="1100" dirty="0">
                <a:solidFill>
                  <a:srgbClr val="4A4A4A"/>
                </a:solidFill>
                <a:latin typeface="BIZ UDPGothic"/>
                <a:ea typeface="BIZ UDPGothic"/>
              </a:rPr>
              <a:t>医療情報・品質改善推進室　林 さくら 室長</a:t>
            </a:r>
          </a:p>
        </p:txBody>
      </p:sp>
      <p:sp>
        <p:nvSpPr>
          <p:cNvPr id="14" name="VendorLabel"/>
          <p:cNvSpPr/>
          <p:nvPr/>
        </p:nvSpPr>
        <p:spPr>
          <a:xfrm>
            <a:off x="6350000" y="825500"/>
            <a:ext cx="381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ベンダー体制</a:t>
            </a:r>
          </a:p>
        </p:txBody>
      </p:sp>
      <p:sp>
        <p:nvSpPr>
          <p:cNvPr id="15" name="VendorOrg"/>
          <p:cNvSpPr/>
          <p:nvPr/>
        </p:nvSpPr>
        <p:spPr>
          <a:xfrm>
            <a:off x="6350000" y="1143000"/>
            <a:ext cx="5384800" cy="635000"/>
          </a:xfrm>
          <a:prstGeom prst="roundRect">
            <a:avLst/>
          </a:prstGeom>
          <a:solidFill>
            <a:srgbClr val="F7F7F7"/>
          </a:solidFill>
          <a:ln w="12700">
            <a:solidFill>
              <a:srgbClr val="E0E0E0"/>
            </a:solidFill>
          </a:ln>
        </p:spPr>
        <p:txBody>
          <a:bodyPr wrap="square" lIns="72000" tIns="36000" rIns="72000" bIns="36000" anchor="t"/>
          <a:lstStyle/>
          <a:p>
            <a:pPr algn="l">
              <a:buNone/>
            </a:pPr>
            <a:r>
              <a:rPr lang="ja-JP" sz="1100" b="1" dirty="0">
                <a:solidFill>
                  <a:srgbClr val="2B2B2B"/>
                </a:solidFill>
                <a:latin typeface="BIZ UDPGothic"/>
                <a:ea typeface="BIZ UDPGothic"/>
              </a:rPr>
              <a:t>株式会社データアステル</a:t>
            </a:r>
          </a:p>
          <a:p>
            <a:pPr algn="l">
              <a:buNone/>
            </a:pPr>
            <a:r>
              <a:rPr lang="ja-JP" sz="1100" dirty="0">
                <a:solidFill>
                  <a:srgbClr val="4A4A4A"/>
                </a:solidFill>
                <a:latin typeface="BIZ UDPGothic"/>
                <a:ea typeface="BIZ UDPGothic"/>
              </a:rPr>
              <a:t>データサイエンス部</a:t>
            </a:r>
          </a:p>
        </p:txBody>
      </p:sp>
      <p:sp>
        <p:nvSpPr>
          <p:cNvPr id="30" name="Member0"/>
          <p:cNvSpPr/>
          <p:nvPr/>
        </p:nvSpPr>
        <p:spPr>
          <a:xfrm>
            <a:off x="457200" y="1968500"/>
            <a:ext cx="3619500" cy="9144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900" dirty="0">
                <a:solidFill>
                  <a:srgbClr val="A03028"/>
                </a:solidFill>
                <a:latin typeface="BIZ UDPGothic"/>
                <a:ea typeface="BIZ UDPGothic"/>
              </a:rPr>
              <a:t>エグゼクティブスポンサー</a:t>
            </a:r>
          </a:p>
          <a:p>
            <a:pPr algn="l">
              <a:buNone/>
            </a:pPr>
            <a:r>
              <a:rPr lang="ja-JP" sz="1300" b="1" dirty="0">
                <a:solidFill>
                  <a:srgbClr val="2B2B2B"/>
                </a:solidFill>
                <a:latin typeface="BIZ UDPGothic"/>
                <a:ea typeface="BIZ UDPGothic"/>
              </a:rPr>
              <a:t>山田 直樹</a:t>
            </a:r>
          </a:p>
          <a:p>
            <a:pPr algn="l">
              <a:buNone/>
            </a:pPr>
            <a:r>
              <a:rPr lang="ja-JP" sz="900" dirty="0">
                <a:solidFill>
                  <a:srgbClr val="5C5C5C"/>
                </a:solidFill>
                <a:latin typeface="BIZ UDPGothic"/>
                <a:ea typeface="BIZ UDPGothic"/>
              </a:rPr>
              <a:t>全体統括、重要課題の意思決定支援</a:t>
            </a:r>
          </a:p>
        </p:txBody>
      </p:sp>
      <p:sp>
        <p:nvSpPr>
          <p:cNvPr id="31" name="Member1"/>
          <p:cNvSpPr/>
          <p:nvPr/>
        </p:nvSpPr>
        <p:spPr>
          <a:xfrm>
            <a:off x="4203700" y="1968500"/>
            <a:ext cx="3619500" cy="9144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900" dirty="0">
                <a:solidFill>
                  <a:srgbClr val="A03028"/>
                </a:solidFill>
                <a:latin typeface="BIZ UDPGothic"/>
                <a:ea typeface="BIZ UDPGothic"/>
              </a:rPr>
              <a:t>プロジェクトマネージャー</a:t>
            </a:r>
          </a:p>
          <a:p>
            <a:pPr algn="l">
              <a:buNone/>
            </a:pPr>
            <a:r>
              <a:rPr lang="ja-JP" sz="1300" b="1" dirty="0">
                <a:solidFill>
                  <a:srgbClr val="2B2B2B"/>
                </a:solidFill>
                <a:latin typeface="BIZ UDPGothic"/>
                <a:ea typeface="BIZ UDPGothic"/>
              </a:rPr>
              <a:t>伊藤 翔太</a:t>
            </a:r>
          </a:p>
          <a:p>
            <a:pPr algn="l">
              <a:buNone/>
            </a:pPr>
            <a:r>
              <a:rPr lang="ja-JP" sz="900" dirty="0">
                <a:solidFill>
                  <a:srgbClr val="5C5C5C"/>
                </a:solidFill>
                <a:latin typeface="BIZ UDPGothic"/>
                <a:ea typeface="BIZ UDPGothic"/>
              </a:rPr>
              <a:t>進行管理、課題管理、対外窓口</a:t>
            </a:r>
          </a:p>
        </p:txBody>
      </p:sp>
      <p:sp>
        <p:nvSpPr>
          <p:cNvPr id="32" name="Member2"/>
          <p:cNvSpPr/>
          <p:nvPr/>
        </p:nvSpPr>
        <p:spPr>
          <a:xfrm>
            <a:off x="7950200" y="1968500"/>
            <a:ext cx="3619500" cy="9144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900" dirty="0">
                <a:solidFill>
                  <a:srgbClr val="A03028"/>
                </a:solidFill>
                <a:latin typeface="BIZ UDPGothic"/>
                <a:ea typeface="BIZ UDPGothic"/>
              </a:rPr>
              <a:t>リードデータサイエンティスト</a:t>
            </a:r>
          </a:p>
          <a:p>
            <a:pPr algn="l">
              <a:buNone/>
            </a:pPr>
            <a:r>
              <a:rPr lang="ja-JP" sz="1300" b="1" dirty="0">
                <a:solidFill>
                  <a:srgbClr val="2B2B2B"/>
                </a:solidFill>
                <a:latin typeface="BIZ UDPGothic"/>
                <a:ea typeface="BIZ UDPGothic"/>
              </a:rPr>
              <a:t>鈴木 美咲</a:t>
            </a:r>
          </a:p>
          <a:p>
            <a:pPr algn="l">
              <a:buNone/>
            </a:pPr>
            <a:r>
              <a:rPr lang="ja-JP" sz="900" dirty="0">
                <a:solidFill>
                  <a:srgbClr val="5C5C5C"/>
                </a:solidFill>
                <a:latin typeface="BIZ UDPGothic"/>
                <a:ea typeface="BIZ UDPGothic"/>
              </a:rPr>
              <a:t>分析設計、モデル評価、結果解釈</a:t>
            </a:r>
          </a:p>
        </p:txBody>
      </p:sp>
      <p:sp>
        <p:nvSpPr>
          <p:cNvPr id="33" name="Member3"/>
          <p:cNvSpPr/>
          <p:nvPr/>
        </p:nvSpPr>
        <p:spPr>
          <a:xfrm>
            <a:off x="457200" y="3009900"/>
            <a:ext cx="3619500" cy="9144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900" dirty="0">
                <a:solidFill>
                  <a:srgbClr val="A03028"/>
                </a:solidFill>
                <a:latin typeface="BIZ UDPGothic"/>
                <a:ea typeface="BIZ UDPGothic"/>
              </a:rPr>
              <a:t>データエンジニア</a:t>
            </a:r>
          </a:p>
          <a:p>
            <a:pPr algn="l">
              <a:buNone/>
            </a:pPr>
            <a:r>
              <a:rPr lang="ja-JP" sz="1300" b="1" dirty="0">
                <a:solidFill>
                  <a:srgbClr val="2B2B2B"/>
                </a:solidFill>
                <a:latin typeface="BIZ UDPGothic"/>
                <a:ea typeface="BIZ UDPGothic"/>
              </a:rPr>
              <a:t>岡田 佑樹</a:t>
            </a:r>
          </a:p>
          <a:p>
            <a:pPr algn="l">
              <a:buNone/>
            </a:pPr>
            <a:r>
              <a:rPr lang="ja-JP" sz="900" dirty="0">
                <a:solidFill>
                  <a:srgbClr val="5C5C5C"/>
                </a:solidFill>
                <a:latin typeface="BIZ UDPGothic"/>
                <a:ea typeface="BIZ UDPGothic"/>
              </a:rPr>
              <a:t>データ整形、前処理実装、再現環境整備</a:t>
            </a:r>
          </a:p>
        </p:txBody>
      </p:sp>
      <p:sp>
        <p:nvSpPr>
          <p:cNvPr id="34" name="Member4"/>
          <p:cNvSpPr/>
          <p:nvPr/>
        </p:nvSpPr>
        <p:spPr>
          <a:xfrm>
            <a:off x="4203700" y="3009900"/>
            <a:ext cx="3619500" cy="9144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900" dirty="0">
                <a:solidFill>
                  <a:srgbClr val="A03028"/>
                </a:solidFill>
                <a:latin typeface="BIZ UDPGothic"/>
                <a:ea typeface="BIZ UDPGothic"/>
              </a:rPr>
              <a:t>ビジネスアナリスト</a:t>
            </a:r>
          </a:p>
          <a:p>
            <a:pPr algn="l">
              <a:buNone/>
            </a:pPr>
            <a:r>
              <a:rPr lang="ja-JP" sz="1300" b="1" dirty="0">
                <a:solidFill>
                  <a:srgbClr val="2B2B2B"/>
                </a:solidFill>
                <a:latin typeface="BIZ UDPGothic"/>
                <a:ea typeface="BIZ UDPGothic"/>
              </a:rPr>
              <a:t>松本 真央</a:t>
            </a:r>
          </a:p>
          <a:p>
            <a:pPr algn="l">
              <a:buNone/>
            </a:pPr>
            <a:r>
              <a:rPr lang="ja-JP" sz="900" dirty="0">
                <a:solidFill>
                  <a:srgbClr val="5C5C5C"/>
                </a:solidFill>
                <a:latin typeface="BIZ UDPGothic"/>
                <a:ea typeface="BIZ UDPGothic"/>
              </a:rPr>
              <a:t>要件整理、業務論点整理、報告資料整備</a:t>
            </a:r>
          </a:p>
        </p:txBody>
      </p:sp>
      <p:sp>
        <p:nvSpPr>
          <p:cNvPr id="35" name="Member5"/>
          <p:cNvSpPr/>
          <p:nvPr/>
        </p:nvSpPr>
        <p:spPr>
          <a:xfrm>
            <a:off x="7950200" y="3009900"/>
            <a:ext cx="3619500" cy="914400"/>
          </a:xfrm>
          <a:prstGeom prst="roundRect">
            <a:avLst/>
          </a:prstGeom>
          <a:solidFill>
            <a:srgbClr val="FFFFFF"/>
          </a:solidFill>
          <a:ln w="12700">
            <a:solidFill>
              <a:srgbClr val="E0E0E0"/>
            </a:solidFill>
          </a:ln>
        </p:spPr>
        <p:txBody>
          <a:bodyPr wrap="square" lIns="72000" tIns="36000" rIns="72000" bIns="36000" anchor="t"/>
          <a:lstStyle/>
          <a:p>
            <a:pPr algn="l">
              <a:buNone/>
            </a:pPr>
            <a:r>
              <a:rPr lang="ja-JP" sz="900" dirty="0">
                <a:solidFill>
                  <a:srgbClr val="A03028"/>
                </a:solidFill>
                <a:latin typeface="BIZ UDPGothic"/>
                <a:ea typeface="BIZ UDPGothic"/>
              </a:rPr>
              <a:t>QAレビュー担当</a:t>
            </a:r>
          </a:p>
          <a:p>
            <a:pPr algn="l">
              <a:buNone/>
            </a:pPr>
            <a:r>
              <a:rPr lang="ja-JP" sz="1300" b="1" dirty="0">
                <a:solidFill>
                  <a:srgbClr val="2B2B2B"/>
                </a:solidFill>
                <a:latin typeface="BIZ UDPGothic"/>
                <a:ea typeface="BIZ UDPGothic"/>
              </a:rPr>
              <a:t>池田 直哉</a:t>
            </a:r>
          </a:p>
          <a:p>
            <a:pPr algn="l">
              <a:buNone/>
            </a:pPr>
            <a:r>
              <a:rPr lang="ja-JP" sz="900" dirty="0">
                <a:solidFill>
                  <a:srgbClr val="5C5C5C"/>
                </a:solidFill>
                <a:latin typeface="BIZ UDPGothic"/>
                <a:ea typeface="BIZ UDPGothic"/>
              </a:rPr>
              <a:t>成果物レビュー、整合性・品質確認</a:t>
            </a:r>
          </a:p>
        </p:txBody>
      </p:sp>
      <p:sp>
        <p:nvSpPr>
          <p:cNvPr id="40" name="OpsLabel"/>
          <p:cNvSpPr/>
          <p:nvPr/>
        </p:nvSpPr>
        <p:spPr>
          <a:xfrm>
            <a:off x="457200" y="4127500"/>
            <a:ext cx="2540000" cy="2794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推進運営</a:t>
            </a:r>
          </a:p>
        </p:txBody>
      </p:sp>
      <p:sp>
        <p:nvSpPr>
          <p:cNvPr id="50" name="Ops0"/>
          <p:cNvSpPr/>
          <p:nvPr/>
        </p:nvSpPr>
        <p:spPr>
          <a:xfrm>
            <a:off x="457200" y="4470400"/>
            <a:ext cx="2667000" cy="6096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週次進捗確認</a:t>
            </a:r>
          </a:p>
          <a:p>
            <a:pPr algn="ctr">
              <a:buNone/>
            </a:pPr>
            <a:r>
              <a:rPr lang="ja-JP" sz="1000" dirty="0">
                <a:solidFill>
                  <a:srgbClr val="5C5C5C"/>
                </a:solidFill>
                <a:latin typeface="BIZ UDPGothic"/>
                <a:ea typeface="BIZ UDPGothic"/>
              </a:rPr>
              <a:t>週1回</a:t>
            </a:r>
          </a:p>
        </p:txBody>
      </p:sp>
      <p:sp>
        <p:nvSpPr>
          <p:cNvPr id="51" name="Ops1"/>
          <p:cNvSpPr/>
          <p:nvPr/>
        </p:nvSpPr>
        <p:spPr>
          <a:xfrm>
            <a:off x="3251200" y="4470400"/>
            <a:ext cx="2667000" cy="6096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中間レビュー</a:t>
            </a:r>
          </a:p>
          <a:p>
            <a:pPr algn="ctr">
              <a:buNone/>
            </a:pPr>
            <a:r>
              <a:rPr lang="ja-JP" sz="1000" dirty="0">
                <a:solidFill>
                  <a:srgbClr val="5C5C5C"/>
                </a:solidFill>
                <a:latin typeface="BIZ UDPGothic"/>
                <a:ea typeface="BIZ UDPGothic"/>
              </a:rPr>
              <a:t>分析方針確定後1回</a:t>
            </a:r>
          </a:p>
        </p:txBody>
      </p:sp>
      <p:sp>
        <p:nvSpPr>
          <p:cNvPr id="52" name="Ops2"/>
          <p:cNvSpPr/>
          <p:nvPr/>
        </p:nvSpPr>
        <p:spPr>
          <a:xfrm>
            <a:off x="6045200" y="4470400"/>
            <a:ext cx="2667000" cy="6096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最終報告会</a:t>
            </a:r>
          </a:p>
          <a:p>
            <a:pPr algn="ctr">
              <a:buNone/>
            </a:pPr>
            <a:r>
              <a:rPr lang="ja-JP" sz="1000" dirty="0">
                <a:solidFill>
                  <a:srgbClr val="5C5C5C"/>
                </a:solidFill>
                <a:latin typeface="BIZ UDPGothic"/>
                <a:ea typeface="BIZ UDPGothic"/>
              </a:rPr>
              <a:t>成果物提出時1回</a:t>
            </a:r>
          </a:p>
        </p:txBody>
      </p:sp>
      <p:sp>
        <p:nvSpPr>
          <p:cNvPr id="53" name="Ops3"/>
          <p:cNvSpPr/>
          <p:nvPr/>
        </p:nvSpPr>
        <p:spPr>
          <a:xfrm>
            <a:off x="8839200" y="4470400"/>
            <a:ext cx="2667000" cy="609600"/>
          </a:xfrm>
          <a:prstGeom prst="roundRect">
            <a:avLst/>
          </a:prstGeom>
          <a:solidFill>
            <a:srgbClr val="F2F2F2"/>
          </a:solidFill>
          <a:ln w="12700">
            <a:solidFill>
              <a:srgbClr val="D4D4D4"/>
            </a:solidFill>
          </a:ln>
        </p:spPr>
        <p:txBody>
          <a:bodyPr wrap="square" lIns="72000" tIns="36000" rIns="72000" bIns="36000" anchor="ctr"/>
          <a:lstStyle/>
          <a:p>
            <a:pPr algn="ctr">
              <a:buNone/>
            </a:pPr>
            <a:r>
              <a:rPr lang="ja-JP" sz="1100" b="1" dirty="0">
                <a:solidFill>
                  <a:srgbClr val="2B2B2B"/>
                </a:solidFill>
                <a:latin typeface="BIZ UDPGothic"/>
                <a:ea typeface="BIZ UDPGothic"/>
              </a:rPr>
              <a:t>議事録管理</a:t>
            </a:r>
          </a:p>
          <a:p>
            <a:pPr algn="ctr">
              <a:buNone/>
            </a:pPr>
            <a:r>
              <a:rPr lang="ja-JP" sz="1000" dirty="0">
                <a:solidFill>
                  <a:srgbClr val="5C5C5C"/>
                </a:solidFill>
                <a:latin typeface="BIZ UDPGothic"/>
                <a:ea typeface="BIZ UDPGothic"/>
              </a:rPr>
              <a:t>決定・保留・依頼を明確化</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8</a:t>
            </a:r>
          </a:p>
        </p:txBody>
      </p:sp>
    </p:spTree>
    <p:extLst>
      <p:ext uri="{BB962C8B-B14F-4D97-AF65-F5344CB8AC3E}">
        <p14:creationId xmlns:p14="http://schemas.microsoft.com/office/powerpoint/2010/main" val="117209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6350000" cy="457200"/>
          </a:xfrm>
          <a:prstGeom prst="rect">
            <a:avLst/>
          </a:prstGeom>
          <a:noFill/>
          <a:ln>
            <a:noFill/>
          </a:ln>
        </p:spPr>
        <p:txBody>
          <a:bodyPr wrap="square" lIns="54000" tIns="18000" rIns="54000" bIns="18000" anchor="b"/>
          <a:lstStyle/>
          <a:p>
            <a:pPr algn="l">
              <a:buNone/>
            </a:pPr>
            <a:r>
              <a:rPr lang="ja-JP" sz="2400" b="1" dirty="0">
                <a:solidFill>
                  <a:srgbClr val="2B2B2B"/>
                </a:solidFill>
                <a:latin typeface="BIZ UDPGothic"/>
                <a:ea typeface="BIZ UDPGothic"/>
              </a:rPr>
              <a:t>6. スケジュール案（6週間）</a:t>
            </a:r>
          </a:p>
        </p:txBody>
      </p:sp>
      <p:sp>
        <p:nvSpPr>
          <p:cNvPr id="11" name="TitleLine"/>
          <p:cNvSpPr/>
          <p:nvPr/>
        </p:nvSpPr>
        <p:spPr>
          <a:xfrm>
            <a:off x="457200" y="660400"/>
            <a:ext cx="1270000" cy="25400"/>
          </a:xfrm>
          <a:prstGeom prst="rect">
            <a:avLst/>
          </a:prstGeom>
          <a:solidFill>
            <a:srgbClr val="A03028"/>
          </a:solidFill>
          <a:ln>
            <a:noFill/>
          </a:ln>
        </p:spPr>
        <p:txBody>
          <a:bodyPr wrap="square" lIns="54000" tIns="18000" rIns="54000" bIns="18000" anchor="ctr"/>
          <a:lstStyle/>
          <a:p>
            <a:endParaRPr lang="ja-JP"/>
          </a:p>
        </p:txBody>
      </p:sp>
      <p:sp>
        <p:nvSpPr>
          <p:cNvPr id="12" name="DateInfo"/>
          <p:cNvSpPr/>
          <p:nvPr/>
        </p:nvSpPr>
        <p:spPr>
          <a:xfrm>
            <a:off x="6350000" y="228600"/>
            <a:ext cx="5384800" cy="279400"/>
          </a:xfrm>
          <a:prstGeom prst="rect">
            <a:avLst/>
          </a:prstGeom>
          <a:noFill/>
          <a:ln>
            <a:noFill/>
          </a:ln>
        </p:spPr>
        <p:txBody>
          <a:bodyPr wrap="square" lIns="54000" tIns="18000" rIns="54000" bIns="18000" anchor="ctr"/>
          <a:lstStyle/>
          <a:p>
            <a:pPr algn="r">
              <a:buNone/>
            </a:pPr>
            <a:r>
              <a:rPr lang="ja-JP" sz="1100" dirty="0">
                <a:solidFill>
                  <a:srgbClr val="8B8B8B"/>
                </a:solidFill>
                <a:latin typeface="BIZ UDPGothic"/>
                <a:ea typeface="BIZ UDPGothic"/>
              </a:rPr>
              <a:t>契約開始: 2025-04-03　契約期間: 6週間</a:t>
            </a:r>
          </a:p>
        </p:txBody>
      </p:sp>
      <p:sp>
        <p:nvSpPr>
          <p:cNvPr id="20" name="Week1"/>
          <p:cNvSpPr/>
          <p:nvPr/>
        </p:nvSpPr>
        <p:spPr>
          <a:xfrm>
            <a:off x="2997200" y="787400"/>
            <a:ext cx="1397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1週目</a:t>
            </a:r>
          </a:p>
        </p:txBody>
      </p:sp>
      <p:sp>
        <p:nvSpPr>
          <p:cNvPr id="21" name="Week2"/>
          <p:cNvSpPr/>
          <p:nvPr/>
        </p:nvSpPr>
        <p:spPr>
          <a:xfrm>
            <a:off x="4394200" y="787400"/>
            <a:ext cx="1397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2週目</a:t>
            </a:r>
          </a:p>
        </p:txBody>
      </p:sp>
      <p:sp>
        <p:nvSpPr>
          <p:cNvPr id="22" name="Week3"/>
          <p:cNvSpPr/>
          <p:nvPr/>
        </p:nvSpPr>
        <p:spPr>
          <a:xfrm>
            <a:off x="5791200" y="787400"/>
            <a:ext cx="1397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3週目</a:t>
            </a:r>
          </a:p>
        </p:txBody>
      </p:sp>
      <p:sp>
        <p:nvSpPr>
          <p:cNvPr id="23" name="Week4"/>
          <p:cNvSpPr/>
          <p:nvPr/>
        </p:nvSpPr>
        <p:spPr>
          <a:xfrm>
            <a:off x="7188200" y="787400"/>
            <a:ext cx="1397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4週目</a:t>
            </a:r>
          </a:p>
        </p:txBody>
      </p:sp>
      <p:sp>
        <p:nvSpPr>
          <p:cNvPr id="24" name="Week5"/>
          <p:cNvSpPr/>
          <p:nvPr/>
        </p:nvSpPr>
        <p:spPr>
          <a:xfrm>
            <a:off x="8585200" y="787400"/>
            <a:ext cx="1397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5週目</a:t>
            </a:r>
          </a:p>
        </p:txBody>
      </p:sp>
      <p:sp>
        <p:nvSpPr>
          <p:cNvPr id="25" name="Week6"/>
          <p:cNvSpPr/>
          <p:nvPr/>
        </p:nvSpPr>
        <p:spPr>
          <a:xfrm>
            <a:off x="9982200" y="787400"/>
            <a:ext cx="1397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6週目</a:t>
            </a:r>
          </a:p>
        </p:txBody>
      </p:sp>
      <p:sp>
        <p:nvSpPr>
          <p:cNvPr id="19" name="PhaseHeader"/>
          <p:cNvSpPr/>
          <p:nvPr/>
        </p:nvSpPr>
        <p:spPr>
          <a:xfrm>
            <a:off x="457200" y="787400"/>
            <a:ext cx="2540000" cy="304800"/>
          </a:xfrm>
          <a:prstGeom prst="rect">
            <a:avLst/>
          </a:prstGeom>
          <a:solidFill>
            <a:srgbClr val="2B2B2B"/>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フェーズ</a:t>
            </a:r>
          </a:p>
        </p:txBody>
      </p:sp>
      <p:sp>
        <p:nvSpPr>
          <p:cNvPr id="30" name="RowBg0"/>
          <p:cNvSpPr/>
          <p:nvPr/>
        </p:nvSpPr>
        <p:spPr>
          <a:xfrm>
            <a:off x="457200" y="1117600"/>
            <a:ext cx="10922000" cy="508000"/>
          </a:xfrm>
          <a:prstGeom prst="rect">
            <a:avLst/>
          </a:prstGeom>
          <a:solidFill>
            <a:srgbClr val="F7F7F7"/>
          </a:solidFill>
          <a:ln w="6350">
            <a:solidFill>
              <a:srgbClr val="E8E8E8"/>
            </a:solidFill>
          </a:ln>
        </p:spPr>
        <p:txBody>
          <a:bodyPr wrap="square" lIns="54000" tIns="18000" rIns="54000" bIns="18000" anchor="ctr"/>
          <a:lstStyle/>
          <a:p>
            <a:endParaRPr lang="ja-JP"/>
          </a:p>
        </p:txBody>
      </p:sp>
      <p:sp>
        <p:nvSpPr>
          <p:cNvPr id="31" name="Phase0"/>
          <p:cNvSpPr/>
          <p:nvPr/>
        </p:nvSpPr>
        <p:spPr>
          <a:xfrm>
            <a:off x="457200" y="1117600"/>
            <a:ext cx="2540000" cy="508000"/>
          </a:xfrm>
          <a:prstGeom prst="rect">
            <a:avLst/>
          </a:prstGeom>
          <a:noFill/>
          <a:ln>
            <a:noFill/>
          </a:ln>
        </p:spPr>
        <p:txBody>
          <a:bodyPr wrap="square" lIns="54000" tIns="18000" rIns="54000" bIns="18000" anchor="ctr"/>
          <a:lstStyle/>
          <a:p>
            <a:pPr algn="l">
              <a:buNone/>
            </a:pPr>
            <a:r>
              <a:rPr lang="ja-JP" sz="1000" b="1" dirty="0">
                <a:solidFill>
                  <a:srgbClr val="2B2B2B"/>
                </a:solidFill>
                <a:latin typeface="BIZ UDPGothic"/>
                <a:ea typeface="BIZ UDPGothic"/>
              </a:rPr>
              <a:t>キックオフ・要件確認</a:t>
            </a:r>
          </a:p>
          <a:p>
            <a:pPr algn="l">
              <a:buNone/>
            </a:pPr>
            <a:r>
              <a:rPr lang="ja-JP" sz="800" dirty="0">
                <a:solidFill>
                  <a:srgbClr val="8B8B8B"/>
                </a:solidFill>
                <a:latin typeface="BIZ UDPGothic"/>
                <a:ea typeface="BIZ UDPGothic"/>
              </a:rPr>
              <a:t>伊藤・松本</a:t>
            </a:r>
          </a:p>
        </p:txBody>
      </p:sp>
      <p:sp>
        <p:nvSpPr>
          <p:cNvPr id="32" name="Bar0"/>
          <p:cNvSpPr/>
          <p:nvPr/>
        </p:nvSpPr>
        <p:spPr>
          <a:xfrm>
            <a:off x="3048000" y="1244600"/>
            <a:ext cx="1295400" cy="254000"/>
          </a:xfrm>
          <a:prstGeom prst="roundRect">
            <a:avLst/>
          </a:prstGeom>
          <a:solidFill>
            <a:srgbClr val="D4D4D4"/>
          </a:solidFill>
          <a:ln>
            <a:noFill/>
          </a:ln>
        </p:spPr>
        <p:txBody>
          <a:bodyPr wrap="square" lIns="54000" tIns="18000" rIns="54000" bIns="18000" anchor="ctr"/>
          <a:lstStyle/>
          <a:p>
            <a:endParaRPr lang="ja-JP"/>
          </a:p>
        </p:txBody>
      </p:sp>
      <p:sp>
        <p:nvSpPr>
          <p:cNvPr id="33" name="RowBg1"/>
          <p:cNvSpPr/>
          <p:nvPr/>
        </p:nvSpPr>
        <p:spPr>
          <a:xfrm>
            <a:off x="457200" y="1651000"/>
            <a:ext cx="10922000" cy="508000"/>
          </a:xfrm>
          <a:prstGeom prst="rect">
            <a:avLst/>
          </a:prstGeom>
          <a:solidFill>
            <a:srgbClr val="FFFFFF"/>
          </a:solidFill>
          <a:ln w="6350">
            <a:solidFill>
              <a:srgbClr val="E8E8E8"/>
            </a:solidFill>
          </a:ln>
        </p:spPr>
        <p:txBody>
          <a:bodyPr wrap="square" lIns="54000" tIns="18000" rIns="54000" bIns="18000" anchor="ctr"/>
          <a:lstStyle/>
          <a:p>
            <a:endParaRPr lang="ja-JP"/>
          </a:p>
        </p:txBody>
      </p:sp>
      <p:sp>
        <p:nvSpPr>
          <p:cNvPr id="34" name="Phase1"/>
          <p:cNvSpPr/>
          <p:nvPr/>
        </p:nvSpPr>
        <p:spPr>
          <a:xfrm>
            <a:off x="457200" y="1651000"/>
            <a:ext cx="2540000" cy="508000"/>
          </a:xfrm>
          <a:prstGeom prst="rect">
            <a:avLst/>
          </a:prstGeom>
          <a:noFill/>
          <a:ln>
            <a:noFill/>
          </a:ln>
        </p:spPr>
        <p:txBody>
          <a:bodyPr wrap="square" lIns="54000" tIns="18000" rIns="54000" bIns="18000" anchor="ctr"/>
          <a:lstStyle/>
          <a:p>
            <a:pPr algn="l">
              <a:buNone/>
            </a:pPr>
            <a:r>
              <a:rPr lang="ja-JP" sz="1000" b="1" dirty="0">
                <a:solidFill>
                  <a:srgbClr val="2B2B2B"/>
                </a:solidFill>
                <a:latin typeface="BIZ UDPGothic"/>
                <a:ea typeface="BIZ UDPGothic"/>
              </a:rPr>
              <a:t>データ理解・品質診断</a:t>
            </a:r>
          </a:p>
          <a:p>
            <a:pPr algn="l">
              <a:buNone/>
            </a:pPr>
            <a:r>
              <a:rPr lang="ja-JP" sz="800" dirty="0">
                <a:solidFill>
                  <a:srgbClr val="8B8B8B"/>
                </a:solidFill>
                <a:latin typeface="BIZ UDPGothic"/>
                <a:ea typeface="BIZ UDPGothic"/>
              </a:rPr>
              <a:t>鈴木・岡田</a:t>
            </a:r>
          </a:p>
        </p:txBody>
      </p:sp>
      <p:sp>
        <p:nvSpPr>
          <p:cNvPr id="35" name="Bar1"/>
          <p:cNvSpPr/>
          <p:nvPr/>
        </p:nvSpPr>
        <p:spPr>
          <a:xfrm>
            <a:off x="4445000" y="1778000"/>
            <a:ext cx="1295400" cy="254000"/>
          </a:xfrm>
          <a:prstGeom prst="roundRect">
            <a:avLst/>
          </a:prstGeom>
          <a:solidFill>
            <a:srgbClr val="8B8B8B"/>
          </a:solidFill>
          <a:ln>
            <a:noFill/>
          </a:ln>
        </p:spPr>
        <p:txBody>
          <a:bodyPr wrap="square" lIns="54000" tIns="18000" rIns="54000" bIns="18000" anchor="ctr"/>
          <a:lstStyle/>
          <a:p>
            <a:endParaRPr lang="ja-JP"/>
          </a:p>
        </p:txBody>
      </p:sp>
      <p:sp>
        <p:nvSpPr>
          <p:cNvPr id="36" name="RowBg2"/>
          <p:cNvSpPr/>
          <p:nvPr/>
        </p:nvSpPr>
        <p:spPr>
          <a:xfrm>
            <a:off x="457200" y="2184400"/>
            <a:ext cx="10922000" cy="508000"/>
          </a:xfrm>
          <a:prstGeom prst="rect">
            <a:avLst/>
          </a:prstGeom>
          <a:solidFill>
            <a:srgbClr val="F7F7F7"/>
          </a:solidFill>
          <a:ln w="6350">
            <a:solidFill>
              <a:srgbClr val="E8E8E8"/>
            </a:solidFill>
          </a:ln>
        </p:spPr>
        <p:txBody>
          <a:bodyPr wrap="square" lIns="54000" tIns="18000" rIns="54000" bIns="18000" anchor="ctr"/>
          <a:lstStyle/>
          <a:p>
            <a:endParaRPr lang="ja-JP"/>
          </a:p>
        </p:txBody>
      </p:sp>
      <p:sp>
        <p:nvSpPr>
          <p:cNvPr id="37" name="Phase2"/>
          <p:cNvSpPr/>
          <p:nvPr/>
        </p:nvSpPr>
        <p:spPr>
          <a:xfrm>
            <a:off x="457200" y="2184400"/>
            <a:ext cx="2540000" cy="508000"/>
          </a:xfrm>
          <a:prstGeom prst="rect">
            <a:avLst/>
          </a:prstGeom>
          <a:noFill/>
          <a:ln>
            <a:noFill/>
          </a:ln>
        </p:spPr>
        <p:txBody>
          <a:bodyPr wrap="square" lIns="54000" tIns="18000" rIns="54000" bIns="18000" anchor="ctr"/>
          <a:lstStyle/>
          <a:p>
            <a:pPr algn="l">
              <a:buNone/>
            </a:pPr>
            <a:r>
              <a:rPr lang="ja-JP" sz="1000" b="1" dirty="0">
                <a:solidFill>
                  <a:srgbClr val="2B2B2B"/>
                </a:solidFill>
                <a:latin typeface="BIZ UDPGothic"/>
                <a:ea typeface="BIZ UDPGothic"/>
              </a:rPr>
              <a:t>前処理設計</a:t>
            </a:r>
          </a:p>
          <a:p>
            <a:pPr algn="l">
              <a:buNone/>
            </a:pPr>
            <a:r>
              <a:rPr lang="ja-JP" sz="800" dirty="0">
                <a:solidFill>
                  <a:srgbClr val="8B8B8B"/>
                </a:solidFill>
                <a:latin typeface="BIZ UDPGothic"/>
                <a:ea typeface="BIZ UDPGothic"/>
              </a:rPr>
              <a:t>鈴木・岡田</a:t>
            </a:r>
          </a:p>
        </p:txBody>
      </p:sp>
      <p:sp>
        <p:nvSpPr>
          <p:cNvPr id="38" name="Bar2"/>
          <p:cNvSpPr/>
          <p:nvPr/>
        </p:nvSpPr>
        <p:spPr>
          <a:xfrm>
            <a:off x="5842000" y="2311400"/>
            <a:ext cx="1295400" cy="254000"/>
          </a:xfrm>
          <a:prstGeom prst="roundRect">
            <a:avLst/>
          </a:prstGeom>
          <a:solidFill>
            <a:srgbClr val="5C5C5C"/>
          </a:solidFill>
          <a:ln>
            <a:noFill/>
          </a:ln>
        </p:spPr>
        <p:txBody>
          <a:bodyPr wrap="square" lIns="54000" tIns="18000" rIns="54000" bIns="18000" anchor="ctr"/>
          <a:lstStyle/>
          <a:p>
            <a:endParaRPr lang="ja-JP"/>
          </a:p>
        </p:txBody>
      </p:sp>
      <p:sp>
        <p:nvSpPr>
          <p:cNvPr id="39" name="RowBg3"/>
          <p:cNvSpPr/>
          <p:nvPr/>
        </p:nvSpPr>
        <p:spPr>
          <a:xfrm>
            <a:off x="457200" y="2692400"/>
            <a:ext cx="10922000" cy="508000"/>
          </a:xfrm>
          <a:prstGeom prst="rect">
            <a:avLst/>
          </a:prstGeom>
          <a:solidFill>
            <a:srgbClr val="FFFFFF"/>
          </a:solidFill>
          <a:ln w="6350">
            <a:solidFill>
              <a:srgbClr val="E8E8E8"/>
            </a:solidFill>
          </a:ln>
        </p:spPr>
        <p:txBody>
          <a:bodyPr wrap="square" lIns="54000" tIns="18000" rIns="54000" bIns="18000" anchor="ctr"/>
          <a:lstStyle/>
          <a:p>
            <a:endParaRPr lang="ja-JP" dirty="0"/>
          </a:p>
        </p:txBody>
      </p:sp>
      <p:sp>
        <p:nvSpPr>
          <p:cNvPr id="40" name="Phase3"/>
          <p:cNvSpPr/>
          <p:nvPr/>
        </p:nvSpPr>
        <p:spPr>
          <a:xfrm>
            <a:off x="457200" y="2717800"/>
            <a:ext cx="2540000" cy="508000"/>
          </a:xfrm>
          <a:prstGeom prst="rect">
            <a:avLst/>
          </a:prstGeom>
          <a:noFill/>
          <a:ln>
            <a:noFill/>
          </a:ln>
        </p:spPr>
        <p:txBody>
          <a:bodyPr wrap="square" lIns="54000" tIns="18000" rIns="54000" bIns="18000" anchor="ctr"/>
          <a:lstStyle/>
          <a:p>
            <a:pPr algn="l">
              <a:buNone/>
            </a:pPr>
            <a:r>
              <a:rPr lang="ja-JP" sz="1000" b="1" dirty="0">
                <a:solidFill>
                  <a:srgbClr val="2B2B2B"/>
                </a:solidFill>
                <a:latin typeface="BIZ UDPGothic"/>
                <a:ea typeface="BIZ UDPGothic"/>
              </a:rPr>
              <a:t>モデル構築</a:t>
            </a:r>
          </a:p>
          <a:p>
            <a:pPr algn="l">
              <a:buNone/>
            </a:pPr>
            <a:r>
              <a:rPr lang="ja-JP" sz="800" dirty="0">
                <a:solidFill>
                  <a:srgbClr val="8B8B8B"/>
                </a:solidFill>
                <a:latin typeface="BIZ UDPGothic"/>
                <a:ea typeface="BIZ UDPGothic"/>
              </a:rPr>
              <a:t>鈴木</a:t>
            </a:r>
          </a:p>
        </p:txBody>
      </p:sp>
      <p:sp>
        <p:nvSpPr>
          <p:cNvPr id="41" name="Bar3"/>
          <p:cNvSpPr/>
          <p:nvPr/>
        </p:nvSpPr>
        <p:spPr>
          <a:xfrm>
            <a:off x="7239000" y="2847921"/>
            <a:ext cx="1295400" cy="254000"/>
          </a:xfrm>
          <a:prstGeom prst="roundRect">
            <a:avLst/>
          </a:prstGeom>
          <a:solidFill>
            <a:srgbClr val="A03028"/>
          </a:solidFill>
          <a:ln>
            <a:noFill/>
          </a:ln>
        </p:spPr>
        <p:txBody>
          <a:bodyPr wrap="square" lIns="54000" tIns="18000" rIns="54000" bIns="18000" anchor="ctr"/>
          <a:lstStyle/>
          <a:p>
            <a:endParaRPr lang="ja-JP"/>
          </a:p>
        </p:txBody>
      </p:sp>
      <p:sp>
        <p:nvSpPr>
          <p:cNvPr id="42" name="RowBg4"/>
          <p:cNvSpPr/>
          <p:nvPr/>
        </p:nvSpPr>
        <p:spPr>
          <a:xfrm>
            <a:off x="457200" y="3251200"/>
            <a:ext cx="10922000" cy="508000"/>
          </a:xfrm>
          <a:prstGeom prst="rect">
            <a:avLst/>
          </a:prstGeom>
          <a:solidFill>
            <a:srgbClr val="F7F7F7"/>
          </a:solidFill>
          <a:ln w="6350">
            <a:solidFill>
              <a:srgbClr val="E8E8E8"/>
            </a:solidFill>
          </a:ln>
        </p:spPr>
        <p:txBody>
          <a:bodyPr wrap="square" lIns="54000" tIns="18000" rIns="54000" bIns="18000" anchor="ctr"/>
          <a:lstStyle/>
          <a:p>
            <a:endParaRPr lang="ja-JP"/>
          </a:p>
        </p:txBody>
      </p:sp>
      <p:sp>
        <p:nvSpPr>
          <p:cNvPr id="43" name="Phase4"/>
          <p:cNvSpPr/>
          <p:nvPr/>
        </p:nvSpPr>
        <p:spPr>
          <a:xfrm>
            <a:off x="457200" y="3251200"/>
            <a:ext cx="2540000" cy="508000"/>
          </a:xfrm>
          <a:prstGeom prst="rect">
            <a:avLst/>
          </a:prstGeom>
          <a:noFill/>
          <a:ln>
            <a:noFill/>
          </a:ln>
        </p:spPr>
        <p:txBody>
          <a:bodyPr wrap="square" lIns="54000" tIns="18000" rIns="54000" bIns="18000" anchor="ctr"/>
          <a:lstStyle/>
          <a:p>
            <a:pPr algn="l">
              <a:buNone/>
            </a:pPr>
            <a:r>
              <a:rPr lang="ja-JP" sz="1000" b="1" dirty="0">
                <a:solidFill>
                  <a:srgbClr val="2B2B2B"/>
                </a:solidFill>
                <a:latin typeface="BIZ UDPGothic"/>
                <a:ea typeface="BIZ UDPGothic"/>
              </a:rPr>
              <a:t>解釈・業務示唆整理</a:t>
            </a:r>
          </a:p>
          <a:p>
            <a:pPr algn="l">
              <a:buNone/>
            </a:pPr>
            <a:r>
              <a:rPr lang="ja-JP" sz="800" dirty="0">
                <a:solidFill>
                  <a:srgbClr val="8B8B8B"/>
                </a:solidFill>
                <a:latin typeface="BIZ UDPGothic"/>
                <a:ea typeface="BIZ UDPGothic"/>
              </a:rPr>
              <a:t>松本・鈴木</a:t>
            </a:r>
          </a:p>
        </p:txBody>
      </p:sp>
      <p:sp>
        <p:nvSpPr>
          <p:cNvPr id="44" name="Bar4"/>
          <p:cNvSpPr/>
          <p:nvPr/>
        </p:nvSpPr>
        <p:spPr>
          <a:xfrm>
            <a:off x="8636000" y="3378200"/>
            <a:ext cx="1295400" cy="254000"/>
          </a:xfrm>
          <a:prstGeom prst="roundRect">
            <a:avLst/>
          </a:prstGeom>
          <a:solidFill>
            <a:srgbClr val="5C5C5C"/>
          </a:solidFill>
          <a:ln>
            <a:noFill/>
          </a:ln>
        </p:spPr>
        <p:txBody>
          <a:bodyPr wrap="square" lIns="54000" tIns="18000" rIns="54000" bIns="18000" anchor="ctr"/>
          <a:lstStyle/>
          <a:p>
            <a:endParaRPr lang="ja-JP"/>
          </a:p>
        </p:txBody>
      </p:sp>
      <p:sp>
        <p:nvSpPr>
          <p:cNvPr id="45" name="RowBg5"/>
          <p:cNvSpPr/>
          <p:nvPr/>
        </p:nvSpPr>
        <p:spPr>
          <a:xfrm>
            <a:off x="457200" y="3784600"/>
            <a:ext cx="10922000" cy="508000"/>
          </a:xfrm>
          <a:prstGeom prst="rect">
            <a:avLst/>
          </a:prstGeom>
          <a:solidFill>
            <a:srgbClr val="FFFFFF"/>
          </a:solidFill>
          <a:ln w="6350">
            <a:solidFill>
              <a:srgbClr val="E8E8E8"/>
            </a:solidFill>
          </a:ln>
        </p:spPr>
        <p:txBody>
          <a:bodyPr wrap="square" lIns="54000" tIns="18000" rIns="54000" bIns="18000" anchor="ctr"/>
          <a:lstStyle/>
          <a:p>
            <a:endParaRPr lang="ja-JP"/>
          </a:p>
        </p:txBody>
      </p:sp>
      <p:sp>
        <p:nvSpPr>
          <p:cNvPr id="46" name="Phase5"/>
          <p:cNvSpPr/>
          <p:nvPr/>
        </p:nvSpPr>
        <p:spPr>
          <a:xfrm>
            <a:off x="457200" y="3784600"/>
            <a:ext cx="2540000" cy="508000"/>
          </a:xfrm>
          <a:prstGeom prst="rect">
            <a:avLst/>
          </a:prstGeom>
          <a:noFill/>
          <a:ln>
            <a:noFill/>
          </a:ln>
        </p:spPr>
        <p:txBody>
          <a:bodyPr wrap="square" lIns="54000" tIns="18000" rIns="54000" bIns="18000" anchor="ctr"/>
          <a:lstStyle/>
          <a:p>
            <a:pPr algn="l">
              <a:buNone/>
            </a:pPr>
            <a:r>
              <a:rPr lang="ja-JP" sz="1000" b="1" dirty="0">
                <a:solidFill>
                  <a:srgbClr val="2B2B2B"/>
                </a:solidFill>
                <a:latin typeface="BIZ UDPGothic"/>
                <a:ea typeface="BIZ UDPGothic"/>
              </a:rPr>
              <a:t>最終化・報告</a:t>
            </a:r>
          </a:p>
          <a:p>
            <a:pPr algn="l">
              <a:buNone/>
            </a:pPr>
            <a:r>
              <a:rPr lang="ja-JP" sz="800" dirty="0">
                <a:solidFill>
                  <a:srgbClr val="8B8B8B"/>
                </a:solidFill>
                <a:latin typeface="BIZ UDPGothic"/>
                <a:ea typeface="BIZ UDPGothic"/>
              </a:rPr>
              <a:t>伊藤・池田</a:t>
            </a:r>
          </a:p>
        </p:txBody>
      </p:sp>
      <p:sp>
        <p:nvSpPr>
          <p:cNvPr id="47" name="Bar5"/>
          <p:cNvSpPr/>
          <p:nvPr/>
        </p:nvSpPr>
        <p:spPr>
          <a:xfrm>
            <a:off x="10033000" y="3911600"/>
            <a:ext cx="1295400" cy="254000"/>
          </a:xfrm>
          <a:prstGeom prst="roundRect">
            <a:avLst/>
          </a:prstGeom>
          <a:solidFill>
            <a:srgbClr val="2B2B2B"/>
          </a:solidFill>
          <a:ln>
            <a:noFill/>
          </a:ln>
        </p:spPr>
        <p:txBody>
          <a:bodyPr wrap="square" lIns="54000" tIns="18000" rIns="54000" bIns="18000" anchor="ctr"/>
          <a:lstStyle/>
          <a:p>
            <a:endParaRPr lang="ja-JP"/>
          </a:p>
        </p:txBody>
      </p:sp>
      <p:sp>
        <p:nvSpPr>
          <p:cNvPr id="60" name="MilestoneLabel"/>
          <p:cNvSpPr/>
          <p:nvPr/>
        </p:nvSpPr>
        <p:spPr>
          <a:xfrm>
            <a:off x="457200" y="4394200"/>
            <a:ext cx="2540000" cy="279400"/>
          </a:xfrm>
          <a:prstGeom prst="rect">
            <a:avLst/>
          </a:prstGeom>
          <a:noFill/>
          <a:ln>
            <a:noFill/>
          </a:ln>
        </p:spPr>
        <p:txBody>
          <a:bodyPr wrap="square" lIns="54000" tIns="18000" rIns="54000" bIns="18000" anchor="b"/>
          <a:lstStyle/>
          <a:p>
            <a:pPr algn="l">
              <a:buNone/>
            </a:pPr>
            <a:r>
              <a:rPr lang="ja-JP" sz="1400" b="1" dirty="0">
                <a:solidFill>
                  <a:srgbClr val="A03028"/>
                </a:solidFill>
                <a:latin typeface="BIZ UDPGothic"/>
                <a:ea typeface="BIZ UDPGothic"/>
              </a:rPr>
              <a:t>マイルストン</a:t>
            </a:r>
          </a:p>
        </p:txBody>
      </p:sp>
      <p:sp>
        <p:nvSpPr>
          <p:cNvPr id="70" name="MS0"/>
          <p:cNvSpPr/>
          <p:nvPr/>
        </p:nvSpPr>
        <p:spPr>
          <a:xfrm>
            <a:off x="457200" y="4724400"/>
            <a:ext cx="2184400" cy="635000"/>
          </a:xfrm>
          <a:prstGeom prst="roundRect">
            <a:avLst/>
          </a:prstGeom>
          <a:solidFill>
            <a:srgbClr val="FFFFFF"/>
          </a:solidFill>
          <a:ln w="12700">
            <a:solidFill>
              <a:srgbClr val="D4D4D4"/>
            </a:solidFill>
          </a:ln>
        </p:spPr>
        <p:txBody>
          <a:bodyPr wrap="square" lIns="54000" tIns="18000" rIns="54000" bIns="18000" anchor="ctr"/>
          <a:lstStyle/>
          <a:p>
            <a:pPr algn="ctr">
              <a:buNone/>
            </a:pPr>
            <a:r>
              <a:rPr lang="ja-JP" sz="1200" b="1" dirty="0">
                <a:solidFill>
                  <a:srgbClr val="A03028"/>
                </a:solidFill>
                <a:latin typeface="BIZ UDPGothic"/>
                <a:ea typeface="BIZ UDPGothic"/>
              </a:rPr>
              <a:t>M1</a:t>
            </a:r>
            <a:r>
              <a:rPr lang="ja-JP" sz="900" dirty="0">
                <a:solidFill>
                  <a:srgbClr val="8B8B8B"/>
                </a:solidFill>
                <a:latin typeface="BIZ UDPGothic"/>
                <a:ea typeface="BIZ UDPGothic"/>
              </a:rPr>
              <a:t> (1週目)</a:t>
            </a:r>
          </a:p>
          <a:p>
            <a:pPr algn="ctr">
              <a:buNone/>
            </a:pPr>
            <a:r>
              <a:rPr lang="ja-JP" sz="1000" dirty="0">
                <a:solidFill>
                  <a:srgbClr val="4A4A4A"/>
                </a:solidFill>
                <a:latin typeface="BIZ UDPGothic"/>
                <a:ea typeface="BIZ UDPGothic"/>
              </a:rPr>
              <a:t>プロジェクト開始合意</a:t>
            </a:r>
          </a:p>
        </p:txBody>
      </p:sp>
      <p:sp>
        <p:nvSpPr>
          <p:cNvPr id="71" name="MS1"/>
          <p:cNvSpPr/>
          <p:nvPr/>
        </p:nvSpPr>
        <p:spPr>
          <a:xfrm>
            <a:off x="2743200" y="4724400"/>
            <a:ext cx="2184400" cy="635000"/>
          </a:xfrm>
          <a:prstGeom prst="roundRect">
            <a:avLst/>
          </a:prstGeom>
          <a:solidFill>
            <a:srgbClr val="FFFFFF"/>
          </a:solidFill>
          <a:ln w="12700">
            <a:solidFill>
              <a:srgbClr val="D4D4D4"/>
            </a:solidFill>
          </a:ln>
        </p:spPr>
        <p:txBody>
          <a:bodyPr wrap="square" lIns="54000" tIns="18000" rIns="54000" bIns="18000" anchor="ctr"/>
          <a:lstStyle/>
          <a:p>
            <a:pPr algn="ctr">
              <a:buNone/>
            </a:pPr>
            <a:r>
              <a:rPr lang="ja-JP" sz="1200" b="1" dirty="0">
                <a:solidFill>
                  <a:srgbClr val="A03028"/>
                </a:solidFill>
                <a:latin typeface="BIZ UDPGothic"/>
                <a:ea typeface="BIZ UDPGothic"/>
              </a:rPr>
              <a:t>M2</a:t>
            </a:r>
            <a:r>
              <a:rPr lang="ja-JP" sz="900" dirty="0">
                <a:solidFill>
                  <a:srgbClr val="8B8B8B"/>
                </a:solidFill>
                <a:latin typeface="BIZ UDPGothic"/>
                <a:ea typeface="BIZ UDPGothic"/>
              </a:rPr>
              <a:t> (2週目)</a:t>
            </a:r>
          </a:p>
          <a:p>
            <a:pPr algn="ctr">
              <a:buNone/>
            </a:pPr>
            <a:r>
              <a:rPr lang="ja-JP" sz="1000" dirty="0">
                <a:solidFill>
                  <a:srgbClr val="4A4A4A"/>
                </a:solidFill>
                <a:latin typeface="BIZ UDPGothic"/>
                <a:ea typeface="BIZ UDPGothic"/>
              </a:rPr>
              <a:t>データ理解・品質診断完了</a:t>
            </a:r>
          </a:p>
        </p:txBody>
      </p:sp>
      <p:sp>
        <p:nvSpPr>
          <p:cNvPr id="72" name="MS2"/>
          <p:cNvSpPr/>
          <p:nvPr/>
        </p:nvSpPr>
        <p:spPr>
          <a:xfrm>
            <a:off x="5029200" y="4724400"/>
            <a:ext cx="2184400" cy="635000"/>
          </a:xfrm>
          <a:prstGeom prst="roundRect">
            <a:avLst/>
          </a:prstGeom>
          <a:solidFill>
            <a:srgbClr val="FFFFFF"/>
          </a:solidFill>
          <a:ln w="12700">
            <a:solidFill>
              <a:srgbClr val="D4D4D4"/>
            </a:solidFill>
          </a:ln>
        </p:spPr>
        <p:txBody>
          <a:bodyPr wrap="square" lIns="54000" tIns="18000" rIns="54000" bIns="18000" anchor="ctr"/>
          <a:lstStyle/>
          <a:p>
            <a:pPr algn="ctr">
              <a:buNone/>
            </a:pPr>
            <a:r>
              <a:rPr lang="ja-JP" sz="1200" b="1" dirty="0">
                <a:solidFill>
                  <a:srgbClr val="A03028"/>
                </a:solidFill>
                <a:latin typeface="BIZ UDPGothic"/>
                <a:ea typeface="BIZ UDPGothic"/>
              </a:rPr>
              <a:t>M3</a:t>
            </a:r>
            <a:r>
              <a:rPr lang="ja-JP" sz="900" dirty="0">
                <a:solidFill>
                  <a:srgbClr val="8B8B8B"/>
                </a:solidFill>
                <a:latin typeface="BIZ UDPGothic"/>
                <a:ea typeface="BIZ UDPGothic"/>
              </a:rPr>
              <a:t> (3週目)</a:t>
            </a:r>
          </a:p>
          <a:p>
            <a:pPr algn="ctr">
              <a:buNone/>
            </a:pPr>
            <a:r>
              <a:rPr lang="ja-JP" sz="1000" dirty="0">
                <a:solidFill>
                  <a:srgbClr val="4A4A4A"/>
                </a:solidFill>
                <a:latin typeface="BIZ UDPGothic"/>
                <a:ea typeface="BIZ UDPGothic"/>
              </a:rPr>
              <a:t>前処理・評価方針確定</a:t>
            </a:r>
          </a:p>
        </p:txBody>
      </p:sp>
      <p:sp>
        <p:nvSpPr>
          <p:cNvPr id="73" name="MS3"/>
          <p:cNvSpPr/>
          <p:nvPr/>
        </p:nvSpPr>
        <p:spPr>
          <a:xfrm>
            <a:off x="7315200" y="4724400"/>
            <a:ext cx="2184400" cy="635000"/>
          </a:xfrm>
          <a:prstGeom prst="roundRect">
            <a:avLst/>
          </a:prstGeom>
          <a:solidFill>
            <a:srgbClr val="FFFFFF"/>
          </a:solidFill>
          <a:ln w="12700">
            <a:solidFill>
              <a:srgbClr val="D4D4D4"/>
            </a:solidFill>
          </a:ln>
        </p:spPr>
        <p:txBody>
          <a:bodyPr wrap="square" lIns="54000" tIns="18000" rIns="54000" bIns="18000" anchor="ctr"/>
          <a:lstStyle/>
          <a:p>
            <a:pPr algn="ctr">
              <a:buNone/>
            </a:pPr>
            <a:r>
              <a:rPr lang="ja-JP" sz="1200" b="1" dirty="0">
                <a:solidFill>
                  <a:srgbClr val="A03028"/>
                </a:solidFill>
                <a:latin typeface="BIZ UDPGothic"/>
                <a:ea typeface="BIZ UDPGothic"/>
              </a:rPr>
              <a:t>M4</a:t>
            </a:r>
            <a:r>
              <a:rPr lang="ja-JP" sz="900" dirty="0">
                <a:solidFill>
                  <a:srgbClr val="8B8B8B"/>
                </a:solidFill>
                <a:latin typeface="BIZ UDPGothic"/>
                <a:ea typeface="BIZ UDPGothic"/>
              </a:rPr>
              <a:t> (4週目)</a:t>
            </a:r>
          </a:p>
          <a:p>
            <a:pPr algn="ctr">
              <a:buNone/>
            </a:pPr>
            <a:r>
              <a:rPr lang="ja-JP" sz="1000" dirty="0">
                <a:solidFill>
                  <a:srgbClr val="4A4A4A"/>
                </a:solidFill>
                <a:latin typeface="BIZ UDPGothic"/>
                <a:ea typeface="BIZ UDPGothic"/>
              </a:rPr>
              <a:t>モデル比較完了</a:t>
            </a:r>
          </a:p>
        </p:txBody>
      </p:sp>
      <p:sp>
        <p:nvSpPr>
          <p:cNvPr id="74" name="MS4"/>
          <p:cNvSpPr/>
          <p:nvPr/>
        </p:nvSpPr>
        <p:spPr>
          <a:xfrm>
            <a:off x="9601200" y="4724400"/>
            <a:ext cx="2184400" cy="635000"/>
          </a:xfrm>
          <a:prstGeom prst="roundRect">
            <a:avLst/>
          </a:prstGeom>
          <a:solidFill>
            <a:srgbClr val="FFFFFF"/>
          </a:solidFill>
          <a:ln w="12700">
            <a:solidFill>
              <a:srgbClr val="D4D4D4"/>
            </a:solidFill>
          </a:ln>
        </p:spPr>
        <p:txBody>
          <a:bodyPr wrap="square" lIns="54000" tIns="18000" rIns="54000" bIns="18000" anchor="ctr"/>
          <a:lstStyle/>
          <a:p>
            <a:pPr algn="ctr">
              <a:buNone/>
            </a:pPr>
            <a:r>
              <a:rPr lang="ja-JP" sz="1200" b="1" dirty="0">
                <a:solidFill>
                  <a:srgbClr val="A03028"/>
                </a:solidFill>
                <a:latin typeface="BIZ UDPGothic"/>
                <a:ea typeface="BIZ UDPGothic"/>
              </a:rPr>
              <a:t>M5</a:t>
            </a:r>
            <a:r>
              <a:rPr lang="ja-JP" sz="900" dirty="0">
                <a:solidFill>
                  <a:srgbClr val="8B8B8B"/>
                </a:solidFill>
                <a:latin typeface="BIZ UDPGothic"/>
                <a:ea typeface="BIZ UDPGothic"/>
              </a:rPr>
              <a:t> (6週目)</a:t>
            </a:r>
          </a:p>
          <a:p>
            <a:pPr algn="ctr">
              <a:buNone/>
            </a:pPr>
            <a:r>
              <a:rPr lang="ja-JP" sz="1000" dirty="0">
                <a:solidFill>
                  <a:srgbClr val="4A4A4A"/>
                </a:solidFill>
                <a:latin typeface="BIZ UDPGothic"/>
                <a:ea typeface="BIZ UDPGothic"/>
              </a:rPr>
              <a:t>最終報告書提出・説明完了</a:t>
            </a:r>
          </a:p>
        </p:txBody>
      </p:sp>
      <p:sp>
        <p:nvSpPr>
          <p:cNvPr id="99" name="PageNum"/>
          <p:cNvSpPr/>
          <p:nvPr/>
        </p:nvSpPr>
        <p:spPr>
          <a:xfrm>
            <a:off x="11176000" y="6350000"/>
            <a:ext cx="635000" cy="254000"/>
          </a:xfrm>
          <a:prstGeom prst="rect">
            <a:avLst/>
          </a:prstGeom>
          <a:noFill/>
          <a:ln>
            <a:noFill/>
          </a:ln>
        </p:spPr>
        <p:txBody>
          <a:bodyPr wrap="square" lIns="54000" tIns="18000" rIns="54000" bIns="18000" anchor="ctr"/>
          <a:lstStyle/>
          <a:p>
            <a:pPr algn="r">
              <a:buNone/>
            </a:pPr>
            <a:r>
              <a:rPr lang="ja-JP" sz="1000" dirty="0">
                <a:solidFill>
                  <a:srgbClr val="8B8B8B"/>
                </a:solidFill>
                <a:latin typeface="BIZ UDPGothic"/>
                <a:ea typeface="BIZ UDPGothic"/>
              </a:rPr>
              <a:t>9</a:t>
            </a:r>
          </a:p>
        </p:txBody>
      </p:sp>
      <p:sp>
        <p:nvSpPr>
          <p:cNvPr id="2" name="Bar3">
            <a:extLst>
              <a:ext uri="{FF2B5EF4-FFF2-40B4-BE49-F238E27FC236}">
                <a16:creationId xmlns:a16="http://schemas.microsoft.com/office/drawing/2014/main" id="{05682592-F206-B784-62A0-C3171E378F7B}"/>
              </a:ext>
            </a:extLst>
          </p:cNvPr>
          <p:cNvSpPr/>
          <p:nvPr/>
        </p:nvSpPr>
        <p:spPr>
          <a:xfrm>
            <a:off x="6096000" y="2844627"/>
            <a:ext cx="3481794" cy="254000"/>
          </a:xfrm>
          <a:prstGeom prst="roundRect">
            <a:avLst/>
          </a:prstGeom>
          <a:noFill/>
          <a:ln>
            <a:noFill/>
          </a:ln>
        </p:spPr>
        <p:txBody>
          <a:bodyPr wrap="square" lIns="54000" tIns="18000" rIns="54000" bIns="18000" anchor="ctr"/>
          <a:lstStyle/>
          <a:p>
            <a:endParaRPr lang="ja-JP"/>
          </a:p>
        </p:txBody>
      </p:sp>
      <p:sp>
        <p:nvSpPr>
          <p:cNvPr id="3" name="Bar0">
            <a:extLst>
              <a:ext uri="{FF2B5EF4-FFF2-40B4-BE49-F238E27FC236}">
                <a16:creationId xmlns:a16="http://schemas.microsoft.com/office/drawing/2014/main" id="{93CB5A65-3CAF-4F98-E422-060056F34E8E}"/>
              </a:ext>
            </a:extLst>
          </p:cNvPr>
          <p:cNvSpPr/>
          <p:nvPr/>
        </p:nvSpPr>
        <p:spPr>
          <a:xfrm>
            <a:off x="3047999" y="1244600"/>
            <a:ext cx="2716153" cy="254000"/>
          </a:xfrm>
          <a:prstGeom prst="roundRect">
            <a:avLst/>
          </a:prstGeom>
          <a:noFill/>
          <a:ln>
            <a:noFill/>
          </a:ln>
        </p:spPr>
        <p:txBody>
          <a:bodyPr wrap="square" lIns="54000" tIns="18000" rIns="54000" bIns="18000" anchor="ctr"/>
          <a:lstStyle/>
          <a:p>
            <a:endParaRPr lang="ja-JP"/>
          </a:p>
        </p:txBody>
      </p:sp>
    </p:spTree>
    <p:extLst>
      <p:ext uri="{BB962C8B-B14F-4D97-AF65-F5344CB8AC3E}">
        <p14:creationId xmlns:p14="http://schemas.microsoft.com/office/powerpoint/2010/main" val="292162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7. 成果物定義</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0" name="Header1"/>
          <p:cNvSpPr/>
          <p:nvPr/>
        </p:nvSpPr>
        <p:spPr>
          <a:xfrm>
            <a:off x="457200" y="812800"/>
            <a:ext cx="2540000" cy="355600"/>
          </a:xfrm>
          <a:prstGeom prst="rect">
            <a:avLst/>
          </a:prstGeom>
          <a:solidFill>
            <a:srgbClr val="2B2B2B"/>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成果物</a:t>
            </a:r>
          </a:p>
        </p:txBody>
      </p:sp>
      <p:sp>
        <p:nvSpPr>
          <p:cNvPr id="21" name="Header2"/>
          <p:cNvSpPr/>
          <p:nvPr/>
        </p:nvSpPr>
        <p:spPr>
          <a:xfrm>
            <a:off x="2997200" y="812800"/>
            <a:ext cx="4826000" cy="355600"/>
          </a:xfrm>
          <a:prstGeom prst="rect">
            <a:avLst/>
          </a:prstGeom>
          <a:solidFill>
            <a:srgbClr val="2B2B2B"/>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主な内容</a:t>
            </a:r>
          </a:p>
        </p:txBody>
      </p:sp>
      <p:sp>
        <p:nvSpPr>
          <p:cNvPr id="22" name="Header3"/>
          <p:cNvSpPr/>
          <p:nvPr/>
        </p:nvSpPr>
        <p:spPr>
          <a:xfrm>
            <a:off x="7823200" y="812800"/>
            <a:ext cx="3683000" cy="355600"/>
          </a:xfrm>
          <a:prstGeom prst="rect">
            <a:avLst/>
          </a:prstGeom>
          <a:solidFill>
            <a:srgbClr val="2B2B2B"/>
          </a:solidFill>
          <a:ln>
            <a:noFill/>
          </a:ln>
        </p:spPr>
        <p:txBody>
          <a:bodyPr wrap="square" lIns="72000" tIns="36000" rIns="72000" bIns="36000" anchor="ctr"/>
          <a:lstStyle/>
          <a:p>
            <a:pPr algn="ctr">
              <a:buNone/>
            </a:pPr>
            <a:r>
              <a:rPr lang="ja-JP" sz="1100" b="1" dirty="0">
                <a:solidFill>
                  <a:srgbClr val="FFFFFF"/>
                </a:solidFill>
                <a:latin typeface="BIZ UDPGothic"/>
                <a:ea typeface="BIZ UDPGothic"/>
              </a:rPr>
              <a:t>利用目的</a:t>
            </a:r>
          </a:p>
        </p:txBody>
      </p:sp>
      <p:sp>
        <p:nvSpPr>
          <p:cNvPr id="30" name="Del0C1"/>
          <p:cNvSpPr/>
          <p:nvPr/>
        </p:nvSpPr>
        <p:spPr>
          <a:xfrm>
            <a:off x="457200" y="1168400"/>
            <a:ext cx="2540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プロジェクト概要書</a:t>
            </a:r>
          </a:p>
        </p:txBody>
      </p:sp>
      <p:sp>
        <p:nvSpPr>
          <p:cNvPr id="31" name="Del0C2"/>
          <p:cNvSpPr/>
          <p:nvPr/>
        </p:nvSpPr>
        <p:spPr>
          <a:xfrm>
            <a:off x="2997200" y="1168400"/>
            <a:ext cx="4826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スコープ、目的、前提、体制</a:t>
            </a:r>
          </a:p>
        </p:txBody>
      </p:sp>
      <p:sp>
        <p:nvSpPr>
          <p:cNvPr id="32" name="Del0C3"/>
          <p:cNvSpPr/>
          <p:nvPr/>
        </p:nvSpPr>
        <p:spPr>
          <a:xfrm>
            <a:off x="7823200" y="1168400"/>
            <a:ext cx="3683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全文書の基準</a:t>
            </a:r>
          </a:p>
        </p:txBody>
      </p:sp>
      <p:sp>
        <p:nvSpPr>
          <p:cNvPr id="33" name="Del1C1"/>
          <p:cNvSpPr/>
          <p:nvPr/>
        </p:nvSpPr>
        <p:spPr>
          <a:xfrm>
            <a:off x="457200" y="1600200"/>
            <a:ext cx="2540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スケジュール</a:t>
            </a:r>
          </a:p>
        </p:txBody>
      </p:sp>
      <p:sp>
        <p:nvSpPr>
          <p:cNvPr id="34" name="Del1C2"/>
          <p:cNvSpPr/>
          <p:nvPr/>
        </p:nvSpPr>
        <p:spPr>
          <a:xfrm>
            <a:off x="2997200" y="1600200"/>
            <a:ext cx="4826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マイルストン、作業計画</a:t>
            </a:r>
          </a:p>
        </p:txBody>
      </p:sp>
      <p:sp>
        <p:nvSpPr>
          <p:cNvPr id="35" name="Del1C3"/>
          <p:cNvSpPr/>
          <p:nvPr/>
        </p:nvSpPr>
        <p:spPr>
          <a:xfrm>
            <a:off x="7823200" y="1600200"/>
            <a:ext cx="3683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進捗管理</a:t>
            </a:r>
          </a:p>
        </p:txBody>
      </p:sp>
      <p:sp>
        <p:nvSpPr>
          <p:cNvPr id="36" name="Del2C1"/>
          <p:cNvSpPr/>
          <p:nvPr/>
        </p:nvSpPr>
        <p:spPr>
          <a:xfrm>
            <a:off x="457200" y="2032000"/>
            <a:ext cx="2540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打合せ議事録</a:t>
            </a:r>
          </a:p>
        </p:txBody>
      </p:sp>
      <p:sp>
        <p:nvSpPr>
          <p:cNvPr id="37" name="Del2C2"/>
          <p:cNvSpPr/>
          <p:nvPr/>
        </p:nvSpPr>
        <p:spPr>
          <a:xfrm>
            <a:off x="2997200" y="2032000"/>
            <a:ext cx="4826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決定事項、課題、依頼事項</a:t>
            </a:r>
          </a:p>
        </p:txBody>
      </p:sp>
      <p:sp>
        <p:nvSpPr>
          <p:cNvPr id="38" name="Del2C3"/>
          <p:cNvSpPr/>
          <p:nvPr/>
        </p:nvSpPr>
        <p:spPr>
          <a:xfrm>
            <a:off x="7823200" y="2032000"/>
            <a:ext cx="3683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合意履歴管理</a:t>
            </a:r>
          </a:p>
        </p:txBody>
      </p:sp>
      <p:sp>
        <p:nvSpPr>
          <p:cNvPr id="39" name="Del3C1"/>
          <p:cNvSpPr/>
          <p:nvPr/>
        </p:nvSpPr>
        <p:spPr>
          <a:xfrm>
            <a:off x="457200" y="2463800"/>
            <a:ext cx="2540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中間報告書</a:t>
            </a:r>
          </a:p>
        </p:txBody>
      </p:sp>
      <p:sp>
        <p:nvSpPr>
          <p:cNvPr id="40" name="Del3C2"/>
          <p:cNvSpPr/>
          <p:nvPr/>
        </p:nvSpPr>
        <p:spPr>
          <a:xfrm>
            <a:off x="2997200" y="2463800"/>
            <a:ext cx="4826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データ品質、初期分析、論点</a:t>
            </a:r>
          </a:p>
        </p:txBody>
      </p:sp>
      <p:sp>
        <p:nvSpPr>
          <p:cNvPr id="41" name="Del3C3"/>
          <p:cNvSpPr/>
          <p:nvPr/>
        </p:nvSpPr>
        <p:spPr>
          <a:xfrm>
            <a:off x="7823200" y="2463800"/>
            <a:ext cx="3683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中間意思決定</a:t>
            </a:r>
          </a:p>
        </p:txBody>
      </p:sp>
      <p:sp>
        <p:nvSpPr>
          <p:cNvPr id="42" name="Del4C1"/>
          <p:cNvSpPr/>
          <p:nvPr/>
        </p:nvSpPr>
        <p:spPr>
          <a:xfrm>
            <a:off x="457200" y="2895600"/>
            <a:ext cx="2540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最終報告書</a:t>
            </a:r>
          </a:p>
        </p:txBody>
      </p:sp>
      <p:sp>
        <p:nvSpPr>
          <p:cNvPr id="43" name="Del4C2"/>
          <p:cNvSpPr/>
          <p:nvPr/>
        </p:nvSpPr>
        <p:spPr>
          <a:xfrm>
            <a:off x="2997200" y="2895600"/>
            <a:ext cx="4826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分析結果、示唆、制約</a:t>
            </a:r>
          </a:p>
        </p:txBody>
      </p:sp>
      <p:sp>
        <p:nvSpPr>
          <p:cNvPr id="44" name="Del4C3"/>
          <p:cNvSpPr/>
          <p:nvPr/>
        </p:nvSpPr>
        <p:spPr>
          <a:xfrm>
            <a:off x="7823200" y="2895600"/>
            <a:ext cx="3683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検収用・次施策判断用</a:t>
            </a:r>
          </a:p>
        </p:txBody>
      </p:sp>
      <p:sp>
        <p:nvSpPr>
          <p:cNvPr id="45" name="Del5C1"/>
          <p:cNvSpPr/>
          <p:nvPr/>
        </p:nvSpPr>
        <p:spPr>
          <a:xfrm>
            <a:off x="457200" y="3327400"/>
            <a:ext cx="2540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分析用データ理解メモ</a:t>
            </a:r>
          </a:p>
        </p:txBody>
      </p:sp>
      <p:sp>
        <p:nvSpPr>
          <p:cNvPr id="46" name="Del5C2"/>
          <p:cNvSpPr/>
          <p:nvPr/>
        </p:nvSpPr>
        <p:spPr>
          <a:xfrm>
            <a:off x="2997200" y="3327400"/>
            <a:ext cx="4826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カラム定義、品質所見、疑義</a:t>
            </a:r>
          </a:p>
        </p:txBody>
      </p:sp>
      <p:sp>
        <p:nvSpPr>
          <p:cNvPr id="47" name="Del5C3"/>
          <p:cNvSpPr/>
          <p:nvPr/>
        </p:nvSpPr>
        <p:spPr>
          <a:xfrm>
            <a:off x="7823200" y="3327400"/>
            <a:ext cx="3683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分析前提の固定</a:t>
            </a:r>
          </a:p>
        </p:txBody>
      </p:sp>
      <p:sp>
        <p:nvSpPr>
          <p:cNvPr id="48" name="Del6C1"/>
          <p:cNvSpPr/>
          <p:nvPr/>
        </p:nvSpPr>
        <p:spPr>
          <a:xfrm>
            <a:off x="457200" y="3759200"/>
            <a:ext cx="2540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前処理・評価方針書</a:t>
            </a:r>
          </a:p>
        </p:txBody>
      </p:sp>
      <p:sp>
        <p:nvSpPr>
          <p:cNvPr id="49" name="Del6C2"/>
          <p:cNvSpPr/>
          <p:nvPr/>
        </p:nvSpPr>
        <p:spPr>
          <a:xfrm>
            <a:off x="2997200" y="3759200"/>
            <a:ext cx="4826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欠損相当処理、分割、指標</a:t>
            </a:r>
          </a:p>
        </p:txBody>
      </p:sp>
      <p:sp>
        <p:nvSpPr>
          <p:cNvPr id="50" name="Del6C3"/>
          <p:cNvSpPr/>
          <p:nvPr/>
        </p:nvSpPr>
        <p:spPr>
          <a:xfrm>
            <a:off x="7823200" y="3759200"/>
            <a:ext cx="3683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再現性確保</a:t>
            </a:r>
          </a:p>
        </p:txBody>
      </p:sp>
      <p:sp>
        <p:nvSpPr>
          <p:cNvPr id="51" name="Del7C1"/>
          <p:cNvSpPr/>
          <p:nvPr/>
        </p:nvSpPr>
        <p:spPr>
          <a:xfrm>
            <a:off x="457200" y="4191000"/>
            <a:ext cx="2540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モデル比較結果サマリ</a:t>
            </a:r>
          </a:p>
        </p:txBody>
      </p:sp>
      <p:sp>
        <p:nvSpPr>
          <p:cNvPr id="52" name="Del7C2"/>
          <p:cNvSpPr/>
          <p:nvPr/>
        </p:nvSpPr>
        <p:spPr>
          <a:xfrm>
            <a:off x="2997200" y="4191000"/>
            <a:ext cx="4826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モデル別性能比較</a:t>
            </a:r>
          </a:p>
        </p:txBody>
      </p:sp>
      <p:sp>
        <p:nvSpPr>
          <p:cNvPr id="53" name="Del7C3"/>
          <p:cNvSpPr/>
          <p:nvPr/>
        </p:nvSpPr>
        <p:spPr>
          <a:xfrm>
            <a:off x="7823200" y="4191000"/>
            <a:ext cx="3683000" cy="431800"/>
          </a:xfrm>
          <a:prstGeom prst="rect">
            <a:avLst/>
          </a:prstGeom>
          <a:solidFill>
            <a:srgbClr val="FFFFFF"/>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採用候補判断</a:t>
            </a:r>
          </a:p>
        </p:txBody>
      </p:sp>
      <p:sp>
        <p:nvSpPr>
          <p:cNvPr id="54" name="Del8C1"/>
          <p:cNvSpPr/>
          <p:nvPr/>
        </p:nvSpPr>
        <p:spPr>
          <a:xfrm>
            <a:off x="457200" y="4622800"/>
            <a:ext cx="2540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b="1" dirty="0">
                <a:solidFill>
                  <a:srgbClr val="2B2B2B"/>
                </a:solidFill>
                <a:latin typeface="BIZ UDPGothic"/>
                <a:ea typeface="BIZ UDPGothic"/>
              </a:rPr>
              <a:t>業務活用示唆一覧</a:t>
            </a:r>
          </a:p>
        </p:txBody>
      </p:sp>
      <p:sp>
        <p:nvSpPr>
          <p:cNvPr id="55" name="Del8C2"/>
          <p:cNvSpPr/>
          <p:nvPr/>
        </p:nvSpPr>
        <p:spPr>
          <a:xfrm>
            <a:off x="2997200" y="4622800"/>
            <a:ext cx="4826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4A4A4A"/>
                </a:solidFill>
                <a:latin typeface="BIZ UDPGothic"/>
                <a:ea typeface="BIZ UDPGothic"/>
              </a:rPr>
              <a:t>実務での使い方、注意点</a:t>
            </a:r>
          </a:p>
        </p:txBody>
      </p:sp>
      <p:sp>
        <p:nvSpPr>
          <p:cNvPr id="56" name="Del8C3"/>
          <p:cNvSpPr/>
          <p:nvPr/>
        </p:nvSpPr>
        <p:spPr>
          <a:xfrm>
            <a:off x="7823200" y="4622800"/>
            <a:ext cx="3683000" cy="431800"/>
          </a:xfrm>
          <a:prstGeom prst="rect">
            <a:avLst/>
          </a:prstGeom>
          <a:solidFill>
            <a:srgbClr val="F7F7F7"/>
          </a:solidFill>
          <a:ln w="6350">
            <a:solidFill>
              <a:srgbClr val="E8E8E8"/>
            </a:solidFill>
          </a:ln>
        </p:spPr>
        <p:txBody>
          <a:bodyPr wrap="square" lIns="72000" tIns="36000" rIns="72000" bIns="36000" anchor="ctr"/>
          <a:lstStyle/>
          <a:p>
            <a:pPr algn="l">
              <a:buNone/>
            </a:pPr>
            <a:r>
              <a:rPr lang="ja-JP" sz="1050" dirty="0">
                <a:solidFill>
                  <a:srgbClr val="5C5C5C"/>
                </a:solidFill>
                <a:latin typeface="BIZ UDPGothic"/>
                <a:ea typeface="BIZ UDPGothic"/>
              </a:rPr>
              <a:t>現場展開検討</a:t>
            </a:r>
          </a:p>
        </p:txBody>
      </p:sp>
      <p:sp>
        <p:nvSpPr>
          <p:cNvPr id="70" name="Note"/>
          <p:cNvSpPr/>
          <p:nvPr/>
        </p:nvSpPr>
        <p:spPr>
          <a:xfrm>
            <a:off x="457200" y="5105400"/>
            <a:ext cx="11277600" cy="444500"/>
          </a:xfrm>
          <a:prstGeom prst="roundRect">
            <a:avLst/>
          </a:prstGeom>
          <a:solidFill>
            <a:srgbClr val="FFF5F5"/>
          </a:solidFill>
          <a:ln w="12700">
            <a:solidFill>
              <a:srgbClr val="A03028"/>
            </a:solidFill>
          </a:ln>
        </p:spPr>
        <p:txBody>
          <a:bodyPr wrap="square" lIns="72000" tIns="36000" rIns="72000" bIns="36000" anchor="ctr"/>
          <a:lstStyle/>
          <a:p>
            <a:pPr algn="l">
              <a:buNone/>
            </a:pPr>
            <a:r>
              <a:rPr lang="ja-JP" sz="1100" b="1" dirty="0">
                <a:solidFill>
                  <a:srgbClr val="A03028"/>
                </a:solidFill>
                <a:latin typeface="BIZ UDPGothic"/>
                <a:ea typeface="BIZ UDPGothic"/>
              </a:rPr>
              <a:t>管理方針：</a:t>
            </a:r>
            <a:r>
              <a:rPr lang="ja-JP" sz="1050" dirty="0">
                <a:solidFill>
                  <a:srgbClr val="5C5C5C"/>
                </a:solidFill>
                <a:latin typeface="BIZ UDPGothic"/>
                <a:ea typeface="BIZ UDPGothic"/>
              </a:rPr>
              <a:t>後続文書間で定義・件数・前提の不整合が生じないよう、一元管理の考え方で整備する。</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10</a:t>
            </a:r>
          </a:p>
        </p:txBody>
      </p:sp>
    </p:spTree>
    <p:extLst>
      <p:ext uri="{BB962C8B-B14F-4D97-AF65-F5344CB8AC3E}">
        <p14:creationId xmlns:p14="http://schemas.microsoft.com/office/powerpoint/2010/main" val="3230838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8. 費用見積</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12" name="ContractLabel"/>
          <p:cNvSpPr/>
          <p:nvPr/>
        </p:nvSpPr>
        <p:spPr>
          <a:xfrm>
            <a:off x="457200" y="863600"/>
            <a:ext cx="2540000" cy="3048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契約条件</a:t>
            </a:r>
          </a:p>
        </p:txBody>
      </p:sp>
      <p:sp>
        <p:nvSpPr>
          <p:cNvPr id="13" name="AmountBox"/>
          <p:cNvSpPr/>
          <p:nvPr/>
        </p:nvSpPr>
        <p:spPr>
          <a:xfrm>
            <a:off x="457200" y="1270000"/>
            <a:ext cx="5461000" cy="1524000"/>
          </a:xfrm>
          <a:prstGeom prst="roundRect">
            <a:avLst/>
          </a:prstGeom>
          <a:solidFill>
            <a:srgbClr val="2B2B2B"/>
          </a:solidFill>
          <a:ln>
            <a:noFill/>
          </a:ln>
        </p:spPr>
        <p:txBody>
          <a:bodyPr wrap="square" lIns="72000" tIns="36000" rIns="72000" bIns="36000" anchor="ctr"/>
          <a:lstStyle/>
          <a:p>
            <a:pPr algn="ctr">
              <a:buNone/>
            </a:pPr>
            <a:r>
              <a:rPr lang="ja-JP" sz="1200" dirty="0">
                <a:solidFill>
                  <a:srgbClr val="BBBBBB"/>
                </a:solidFill>
                <a:latin typeface="BIZ UDPGothic"/>
                <a:ea typeface="BIZ UDPGothic"/>
              </a:rPr>
              <a:t>契約金額（税込）</a:t>
            </a:r>
          </a:p>
          <a:p>
            <a:pPr algn="ctr">
              <a:buNone/>
            </a:pPr>
            <a:r>
              <a:rPr lang="ja-JP" sz="3600" b="1" dirty="0">
                <a:solidFill>
                  <a:srgbClr val="FFFFFF"/>
                </a:solidFill>
                <a:latin typeface="BIZ UDPGothic"/>
                <a:ea typeface="BIZ UDPGothic"/>
              </a:rPr>
              <a:t>¥3,960,000</a:t>
            </a:r>
          </a:p>
          <a:p>
            <a:pPr algn="ctr">
              <a:buNone/>
            </a:pPr>
            <a:r>
              <a:rPr lang="ja-JP" sz="1100" dirty="0">
                <a:solidFill>
                  <a:srgbClr val="BBBBBB"/>
                </a:solidFill>
                <a:latin typeface="BIZ UDPGothic"/>
                <a:ea typeface="BIZ UDPGothic"/>
              </a:rPr>
              <a:t>固定価格契約（工数実績による事後精算なし）</a:t>
            </a:r>
          </a:p>
        </p:txBody>
      </p:sp>
      <p:sp>
        <p:nvSpPr>
          <p:cNvPr id="20" name="BD0"/>
          <p:cNvSpPr/>
          <p:nvPr/>
        </p:nvSpPr>
        <p:spPr>
          <a:xfrm>
            <a:off x="6350000" y="1270000"/>
            <a:ext cx="5384800" cy="4318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100" dirty="0">
                <a:solidFill>
                  <a:srgbClr val="5C5C5C"/>
                </a:solidFill>
                <a:latin typeface="BIZ UDPGothic"/>
                <a:ea typeface="BIZ UDPGothic"/>
              </a:rPr>
              <a:t>契約金額（税抜）</a:t>
            </a:r>
            <a:r>
              <a:rPr lang="ja-JP" sz="1100" dirty="0">
                <a:solidFill>
                  <a:srgbClr val="4A4A4A"/>
                </a:solidFill>
                <a:latin typeface="BIZ UDPGothic"/>
                <a:ea typeface="BIZ UDPGothic"/>
              </a:rPr>
              <a:t>　　</a:t>
            </a:r>
            <a:r>
              <a:rPr lang="ja-JP" sz="1400" b="1" dirty="0">
                <a:solidFill>
                  <a:srgbClr val="2B2B2B"/>
                </a:solidFill>
                <a:latin typeface="BIZ UDPGothic"/>
                <a:ea typeface="BIZ UDPGothic"/>
              </a:rPr>
              <a:t>¥3,600,000</a:t>
            </a:r>
          </a:p>
        </p:txBody>
      </p:sp>
      <p:sp>
        <p:nvSpPr>
          <p:cNvPr id="21" name="BD1"/>
          <p:cNvSpPr/>
          <p:nvPr/>
        </p:nvSpPr>
        <p:spPr>
          <a:xfrm>
            <a:off x="6350000" y="1778000"/>
            <a:ext cx="5384800" cy="4318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100" dirty="0">
                <a:solidFill>
                  <a:srgbClr val="5C5C5C"/>
                </a:solidFill>
                <a:latin typeface="BIZ UDPGothic"/>
                <a:ea typeface="BIZ UDPGothic"/>
              </a:rPr>
              <a:t>消費税額</a:t>
            </a:r>
            <a:r>
              <a:rPr lang="ja-JP" sz="1100" dirty="0">
                <a:solidFill>
                  <a:srgbClr val="4A4A4A"/>
                </a:solidFill>
                <a:latin typeface="BIZ UDPGothic"/>
                <a:ea typeface="BIZ UDPGothic"/>
              </a:rPr>
              <a:t>　　</a:t>
            </a:r>
            <a:r>
              <a:rPr lang="ja-JP" sz="1400" b="1" dirty="0">
                <a:solidFill>
                  <a:srgbClr val="2B2B2B"/>
                </a:solidFill>
                <a:latin typeface="BIZ UDPGothic"/>
                <a:ea typeface="BIZ UDPGothic"/>
              </a:rPr>
              <a:t>¥360,000</a:t>
            </a:r>
          </a:p>
        </p:txBody>
      </p:sp>
      <p:sp>
        <p:nvSpPr>
          <p:cNvPr id="22" name="BD2"/>
          <p:cNvSpPr/>
          <p:nvPr/>
        </p:nvSpPr>
        <p:spPr>
          <a:xfrm>
            <a:off x="6350000" y="2286000"/>
            <a:ext cx="5384800" cy="4318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100" dirty="0">
                <a:solidFill>
                  <a:srgbClr val="5C5C5C"/>
                </a:solidFill>
                <a:latin typeface="BIZ UDPGothic"/>
                <a:ea typeface="BIZ UDPGothic"/>
              </a:rPr>
              <a:t>契約形態</a:t>
            </a:r>
            <a:r>
              <a:rPr lang="ja-JP" sz="1100" dirty="0">
                <a:solidFill>
                  <a:srgbClr val="4A4A4A"/>
                </a:solidFill>
                <a:latin typeface="BIZ UDPGothic"/>
                <a:ea typeface="BIZ UDPGothic"/>
              </a:rPr>
              <a:t>　　</a:t>
            </a:r>
            <a:r>
              <a:rPr lang="ja-JP" sz="1400" b="1" dirty="0">
                <a:solidFill>
                  <a:srgbClr val="2B2B2B"/>
                </a:solidFill>
                <a:latin typeface="BIZ UDPGothic"/>
                <a:ea typeface="BIZ UDPGothic"/>
              </a:rPr>
              <a:t>固定価格</a:t>
            </a:r>
          </a:p>
        </p:txBody>
      </p:sp>
      <p:sp>
        <p:nvSpPr>
          <p:cNvPr id="30" name="PayLabel"/>
          <p:cNvSpPr/>
          <p:nvPr/>
        </p:nvSpPr>
        <p:spPr>
          <a:xfrm>
            <a:off x="457200" y="3048000"/>
            <a:ext cx="3810000" cy="304800"/>
          </a:xfrm>
          <a:prstGeom prst="rect">
            <a:avLst/>
          </a:prstGeom>
          <a:noFill/>
          <a:ln>
            <a:noFill/>
          </a:ln>
        </p:spPr>
        <p:txBody>
          <a:bodyPr wrap="square" lIns="72000" tIns="36000" rIns="72000" bIns="36000" anchor="b"/>
          <a:lstStyle/>
          <a:p>
            <a:pPr algn="l">
              <a:buNone/>
            </a:pPr>
            <a:r>
              <a:rPr lang="ja-JP" sz="1400" b="1" dirty="0">
                <a:solidFill>
                  <a:srgbClr val="A03028"/>
                </a:solidFill>
                <a:latin typeface="BIZ UDPGothic"/>
                <a:ea typeface="BIZ UDPGothic"/>
              </a:rPr>
              <a:t>支払条件</a:t>
            </a:r>
          </a:p>
        </p:txBody>
      </p:sp>
      <p:sp>
        <p:nvSpPr>
          <p:cNvPr id="40" name="PayH1"/>
          <p:cNvSpPr/>
          <p:nvPr/>
        </p:nvSpPr>
        <p:spPr>
          <a:xfrm>
            <a:off x="457200" y="3454400"/>
            <a:ext cx="1270000" cy="406400"/>
          </a:xfrm>
          <a:prstGeom prst="rect">
            <a:avLst/>
          </a:prstGeom>
          <a:solidFill>
            <a:srgbClr val="2B2B2B"/>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支払回</a:t>
            </a:r>
          </a:p>
        </p:txBody>
      </p:sp>
      <p:sp>
        <p:nvSpPr>
          <p:cNvPr id="41" name="PayH2"/>
          <p:cNvSpPr/>
          <p:nvPr/>
        </p:nvSpPr>
        <p:spPr>
          <a:xfrm>
            <a:off x="1727200" y="3454400"/>
            <a:ext cx="2540000" cy="406400"/>
          </a:xfrm>
          <a:prstGeom prst="rect">
            <a:avLst/>
          </a:prstGeom>
          <a:solidFill>
            <a:srgbClr val="2B2B2B"/>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支払条件</a:t>
            </a:r>
          </a:p>
        </p:txBody>
      </p:sp>
      <p:sp>
        <p:nvSpPr>
          <p:cNvPr id="42" name="PayH3"/>
          <p:cNvSpPr/>
          <p:nvPr/>
        </p:nvSpPr>
        <p:spPr>
          <a:xfrm>
            <a:off x="4267200" y="3454400"/>
            <a:ext cx="2540000" cy="406400"/>
          </a:xfrm>
          <a:prstGeom prst="rect">
            <a:avLst/>
          </a:prstGeom>
          <a:solidFill>
            <a:srgbClr val="2B2B2B"/>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金額（税抜）</a:t>
            </a:r>
          </a:p>
        </p:txBody>
      </p:sp>
      <p:sp>
        <p:nvSpPr>
          <p:cNvPr id="43" name="PayH4"/>
          <p:cNvSpPr/>
          <p:nvPr/>
        </p:nvSpPr>
        <p:spPr>
          <a:xfrm>
            <a:off x="6807200" y="3454400"/>
            <a:ext cx="2286000" cy="406400"/>
          </a:xfrm>
          <a:prstGeom prst="rect">
            <a:avLst/>
          </a:prstGeom>
          <a:solidFill>
            <a:srgbClr val="2B2B2B"/>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消費税</a:t>
            </a:r>
          </a:p>
        </p:txBody>
      </p:sp>
      <p:sp>
        <p:nvSpPr>
          <p:cNvPr id="44" name="PayH5"/>
          <p:cNvSpPr/>
          <p:nvPr/>
        </p:nvSpPr>
        <p:spPr>
          <a:xfrm>
            <a:off x="9093200" y="3454400"/>
            <a:ext cx="2413000" cy="406400"/>
          </a:xfrm>
          <a:prstGeom prst="rect">
            <a:avLst/>
          </a:prstGeom>
          <a:solidFill>
            <a:srgbClr val="2B2B2B"/>
          </a:solidFill>
          <a:ln>
            <a:noFill/>
          </a:ln>
        </p:spPr>
        <p:txBody>
          <a:bodyPr wrap="square" lIns="72000" tIns="36000" rIns="72000" bIns="36000" anchor="ctr"/>
          <a:lstStyle/>
          <a:p>
            <a:pPr algn="ctr">
              <a:buNone/>
            </a:pPr>
            <a:r>
              <a:rPr lang="ja-JP" sz="1000" b="1" dirty="0">
                <a:solidFill>
                  <a:srgbClr val="FFFFFF"/>
                </a:solidFill>
                <a:latin typeface="BIZ UDPGothic"/>
                <a:ea typeface="BIZ UDPGothic"/>
              </a:rPr>
              <a:t>金額（税込）</a:t>
            </a:r>
          </a:p>
        </p:txBody>
      </p:sp>
      <p:sp>
        <p:nvSpPr>
          <p:cNvPr id="50" name="PayD1"/>
          <p:cNvSpPr/>
          <p:nvPr/>
        </p:nvSpPr>
        <p:spPr>
          <a:xfrm>
            <a:off x="457200" y="3860800"/>
            <a:ext cx="1270000" cy="508000"/>
          </a:xfrm>
          <a:prstGeom prst="rect">
            <a:avLst/>
          </a:prstGeom>
          <a:solidFill>
            <a:srgbClr val="F7F7F7"/>
          </a:solidFill>
          <a:ln w="6350">
            <a:solidFill>
              <a:srgbClr val="E8E8E8"/>
            </a:solidFill>
          </a:ln>
        </p:spPr>
        <p:txBody>
          <a:bodyPr wrap="square" lIns="72000" tIns="36000" rIns="72000" bIns="36000" anchor="ctr"/>
          <a:lstStyle/>
          <a:p>
            <a:pPr algn="ctr">
              <a:buNone/>
            </a:pPr>
            <a:r>
              <a:rPr lang="ja-JP" sz="1000" dirty="0">
                <a:solidFill>
                  <a:srgbClr val="2B2B2B"/>
                </a:solidFill>
                <a:latin typeface="BIZ UDPGothic"/>
                <a:ea typeface="BIZ UDPGothic"/>
              </a:rPr>
              <a:t>1回（100%）</a:t>
            </a:r>
          </a:p>
        </p:txBody>
      </p:sp>
      <p:sp>
        <p:nvSpPr>
          <p:cNvPr id="51" name="PayD2"/>
          <p:cNvSpPr/>
          <p:nvPr/>
        </p:nvSpPr>
        <p:spPr>
          <a:xfrm>
            <a:off x="1727200" y="3860800"/>
            <a:ext cx="2540000" cy="508000"/>
          </a:xfrm>
          <a:prstGeom prst="rect">
            <a:avLst/>
          </a:prstGeom>
          <a:solidFill>
            <a:srgbClr val="F7F7F7"/>
          </a:solidFill>
          <a:ln w="6350">
            <a:solidFill>
              <a:srgbClr val="E8E8E8"/>
            </a:solidFill>
          </a:ln>
        </p:spPr>
        <p:txBody>
          <a:bodyPr wrap="square" lIns="72000" tIns="36000" rIns="72000" bIns="36000" anchor="ctr"/>
          <a:lstStyle/>
          <a:p>
            <a:pPr algn="ctr">
              <a:buNone/>
            </a:pPr>
            <a:r>
              <a:rPr lang="ja-JP" sz="900" dirty="0">
                <a:solidFill>
                  <a:srgbClr val="4A4A4A"/>
                </a:solidFill>
                <a:latin typeface="BIZ UDPGothic"/>
                <a:ea typeface="BIZ UDPGothic"/>
              </a:rPr>
              <a:t>最終成果物の検収完了後5営業日以内</a:t>
            </a:r>
          </a:p>
        </p:txBody>
      </p:sp>
      <p:sp>
        <p:nvSpPr>
          <p:cNvPr id="52" name="PayD3"/>
          <p:cNvSpPr/>
          <p:nvPr/>
        </p:nvSpPr>
        <p:spPr>
          <a:xfrm>
            <a:off x="4267200" y="3860800"/>
            <a:ext cx="2540000" cy="508000"/>
          </a:xfrm>
          <a:prstGeom prst="rect">
            <a:avLst/>
          </a:prstGeom>
          <a:solidFill>
            <a:srgbClr val="F7F7F7"/>
          </a:solidFill>
          <a:ln w="6350">
            <a:solidFill>
              <a:srgbClr val="E8E8E8"/>
            </a:solidFill>
          </a:ln>
        </p:spPr>
        <p:txBody>
          <a:bodyPr wrap="square" lIns="72000" tIns="36000" rIns="72000" bIns="36000" anchor="ctr"/>
          <a:lstStyle/>
          <a:p>
            <a:pPr algn="ctr">
              <a:buNone/>
            </a:pPr>
            <a:r>
              <a:rPr lang="ja-JP" sz="1200" b="1" dirty="0">
                <a:solidFill>
                  <a:srgbClr val="2B2B2B"/>
                </a:solidFill>
                <a:latin typeface="BIZ UDPGothic"/>
                <a:ea typeface="BIZ UDPGothic"/>
              </a:rPr>
              <a:t>¥3,600,000</a:t>
            </a:r>
          </a:p>
        </p:txBody>
      </p:sp>
      <p:sp>
        <p:nvSpPr>
          <p:cNvPr id="53" name="PayD4"/>
          <p:cNvSpPr/>
          <p:nvPr/>
        </p:nvSpPr>
        <p:spPr>
          <a:xfrm>
            <a:off x="6807200" y="3860800"/>
            <a:ext cx="2286000" cy="508000"/>
          </a:xfrm>
          <a:prstGeom prst="rect">
            <a:avLst/>
          </a:prstGeom>
          <a:solidFill>
            <a:srgbClr val="F7F7F7"/>
          </a:solidFill>
          <a:ln w="6350">
            <a:solidFill>
              <a:srgbClr val="E8E8E8"/>
            </a:solidFill>
          </a:ln>
        </p:spPr>
        <p:txBody>
          <a:bodyPr wrap="square" lIns="72000" tIns="36000" rIns="72000" bIns="36000" anchor="ctr"/>
          <a:lstStyle/>
          <a:p>
            <a:pPr algn="ctr">
              <a:buNone/>
            </a:pPr>
            <a:r>
              <a:rPr lang="ja-JP" sz="1200" dirty="0">
                <a:solidFill>
                  <a:srgbClr val="4A4A4A"/>
                </a:solidFill>
                <a:latin typeface="BIZ UDPGothic"/>
                <a:ea typeface="BIZ UDPGothic"/>
              </a:rPr>
              <a:t>¥360,000</a:t>
            </a:r>
          </a:p>
        </p:txBody>
      </p:sp>
      <p:sp>
        <p:nvSpPr>
          <p:cNvPr id="54" name="PayD5"/>
          <p:cNvSpPr/>
          <p:nvPr/>
        </p:nvSpPr>
        <p:spPr>
          <a:xfrm>
            <a:off x="9093200" y="3860800"/>
            <a:ext cx="2413000" cy="508000"/>
          </a:xfrm>
          <a:prstGeom prst="rect">
            <a:avLst/>
          </a:prstGeom>
          <a:solidFill>
            <a:srgbClr val="F7F7F7"/>
          </a:solidFill>
          <a:ln w="6350">
            <a:solidFill>
              <a:srgbClr val="E8E8E8"/>
            </a:solidFill>
          </a:ln>
        </p:spPr>
        <p:txBody>
          <a:bodyPr wrap="square" lIns="72000" tIns="36000" rIns="72000" bIns="36000" anchor="ctr"/>
          <a:lstStyle/>
          <a:p>
            <a:pPr algn="ctr">
              <a:buNone/>
            </a:pPr>
            <a:r>
              <a:rPr lang="ja-JP" sz="1200" b="1" dirty="0">
                <a:solidFill>
                  <a:srgbClr val="A03028"/>
                </a:solidFill>
                <a:latin typeface="BIZ UDPGothic"/>
                <a:ea typeface="BIZ UDPGothic"/>
              </a:rPr>
              <a:t>¥3,960,000</a:t>
            </a:r>
          </a:p>
        </p:txBody>
      </p:sp>
      <p:sp>
        <p:nvSpPr>
          <p:cNvPr id="60" name="KeyNote"/>
          <p:cNvSpPr/>
          <p:nvPr/>
        </p:nvSpPr>
        <p:spPr>
          <a:xfrm>
            <a:off x="457200" y="4699000"/>
            <a:ext cx="11277600" cy="508000"/>
          </a:xfrm>
          <a:prstGeom prst="roundRect">
            <a:avLst/>
          </a:prstGeom>
          <a:solidFill>
            <a:srgbClr val="FFF5F5"/>
          </a:solidFill>
          <a:ln w="12700">
            <a:solidFill>
              <a:srgbClr val="A03028"/>
            </a:solidFill>
          </a:ln>
        </p:spPr>
        <p:txBody>
          <a:bodyPr wrap="square" lIns="72000" tIns="36000" rIns="72000" bIns="36000" anchor="ctr"/>
          <a:lstStyle/>
          <a:p>
            <a:pPr algn="l">
              <a:buNone/>
            </a:pPr>
            <a:r>
              <a:rPr lang="ja-JP" sz="1100" b="1" dirty="0">
                <a:solidFill>
                  <a:srgbClr val="A03028"/>
                </a:solidFill>
                <a:latin typeface="BIZ UDPGothic"/>
                <a:ea typeface="BIZ UDPGothic"/>
              </a:rPr>
              <a:t>重要：</a:t>
            </a:r>
            <a:r>
              <a:rPr lang="ja-JP" sz="1050" dirty="0">
                <a:solidFill>
                  <a:srgbClr val="5C5C5C"/>
                </a:solidFill>
                <a:latin typeface="BIZ UDPGothic"/>
                <a:ea typeface="BIZ UDPGothic"/>
              </a:rPr>
              <a:t>本契約は固定価格契約であり、契約時に金額を固定し、工数実績による事後精算は行わない。契約範囲外の追加対応は、別紙見積にて金額・納期を事前合意のうえ実施する。</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11</a:t>
            </a:r>
          </a:p>
        </p:txBody>
      </p:sp>
    </p:spTree>
    <p:extLst>
      <p:ext uri="{BB962C8B-B14F-4D97-AF65-F5344CB8AC3E}">
        <p14:creationId xmlns:p14="http://schemas.microsoft.com/office/powerpoint/2010/main" val="357803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5080000" cy="457200"/>
          </a:xfrm>
          <a:prstGeom prst="rect">
            <a:avLst/>
          </a:prstGeom>
          <a:noFill/>
          <a:ln>
            <a:noFill/>
          </a:ln>
        </p:spPr>
        <p:txBody>
          <a:bodyPr wrap="square" lIns="54000" tIns="18000" rIns="54000" bIns="18000" anchor="b"/>
          <a:lstStyle/>
          <a:p>
            <a:pPr algn="l">
              <a:buNone/>
            </a:pPr>
            <a:r>
              <a:rPr lang="ja-JP" sz="2400" b="1" dirty="0">
                <a:solidFill>
                  <a:srgbClr val="2B2B2B"/>
                </a:solidFill>
                <a:latin typeface="BIZ UDPGothic"/>
                <a:ea typeface="BIZ UDPGothic"/>
              </a:rPr>
              <a:t>9. リスクと対応策</a:t>
            </a:r>
          </a:p>
        </p:txBody>
      </p:sp>
      <p:sp>
        <p:nvSpPr>
          <p:cNvPr id="11" name="TitleLine"/>
          <p:cNvSpPr/>
          <p:nvPr/>
        </p:nvSpPr>
        <p:spPr>
          <a:xfrm>
            <a:off x="457200" y="660400"/>
            <a:ext cx="1270000" cy="25400"/>
          </a:xfrm>
          <a:prstGeom prst="rect">
            <a:avLst/>
          </a:prstGeom>
          <a:solidFill>
            <a:srgbClr val="A03028"/>
          </a:solidFill>
          <a:ln>
            <a:noFill/>
          </a:ln>
        </p:spPr>
        <p:txBody>
          <a:bodyPr wrap="square" lIns="54000" tIns="18000" rIns="54000" bIns="18000" anchor="ctr"/>
          <a:lstStyle/>
          <a:p>
            <a:endParaRPr lang="ja-JP"/>
          </a:p>
        </p:txBody>
      </p:sp>
      <p:sp>
        <p:nvSpPr>
          <p:cNvPr id="20" name="H1"/>
          <p:cNvSpPr/>
          <p:nvPr/>
        </p:nvSpPr>
        <p:spPr>
          <a:xfrm>
            <a:off x="457200" y="787400"/>
            <a:ext cx="2159000" cy="330200"/>
          </a:xfrm>
          <a:prstGeom prst="rect">
            <a:avLst/>
          </a:prstGeom>
          <a:solidFill>
            <a:srgbClr val="A03028"/>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リスク</a:t>
            </a:r>
          </a:p>
        </p:txBody>
      </p:sp>
      <p:sp>
        <p:nvSpPr>
          <p:cNvPr id="21" name="H2"/>
          <p:cNvSpPr/>
          <p:nvPr/>
        </p:nvSpPr>
        <p:spPr>
          <a:xfrm>
            <a:off x="2616200" y="787400"/>
            <a:ext cx="3937000" cy="330200"/>
          </a:xfrm>
          <a:prstGeom prst="rect">
            <a:avLst/>
          </a:prstGeom>
          <a:solidFill>
            <a:srgbClr val="A03028"/>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内容</a:t>
            </a:r>
          </a:p>
        </p:txBody>
      </p:sp>
      <p:sp>
        <p:nvSpPr>
          <p:cNvPr id="22" name="H3"/>
          <p:cNvSpPr/>
          <p:nvPr/>
        </p:nvSpPr>
        <p:spPr>
          <a:xfrm>
            <a:off x="6553200" y="787400"/>
            <a:ext cx="4953000" cy="330200"/>
          </a:xfrm>
          <a:prstGeom prst="rect">
            <a:avLst/>
          </a:prstGeom>
          <a:solidFill>
            <a:srgbClr val="A03028"/>
          </a:solidFill>
          <a:ln>
            <a:noFill/>
          </a:ln>
        </p:spPr>
        <p:txBody>
          <a:bodyPr wrap="square" lIns="54000" tIns="18000" rIns="54000" bIns="18000" anchor="ctr"/>
          <a:lstStyle/>
          <a:p>
            <a:pPr algn="ctr">
              <a:buNone/>
            </a:pPr>
            <a:r>
              <a:rPr lang="ja-JP" sz="1000" b="1" dirty="0">
                <a:solidFill>
                  <a:srgbClr val="FFFFFF"/>
                </a:solidFill>
                <a:latin typeface="BIZ UDPGothic"/>
                <a:ea typeface="BIZ UDPGothic"/>
              </a:rPr>
              <a:t>対応策</a:t>
            </a:r>
          </a:p>
        </p:txBody>
      </p:sp>
      <p:sp>
        <p:nvSpPr>
          <p:cNvPr id="30" name="R0C1"/>
          <p:cNvSpPr/>
          <p:nvPr/>
        </p:nvSpPr>
        <p:spPr>
          <a:xfrm>
            <a:off x="457200" y="1117600"/>
            <a:ext cx="2159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疑似欠損の存在</a:t>
            </a:r>
          </a:p>
        </p:txBody>
      </p:sp>
      <p:sp>
        <p:nvSpPr>
          <p:cNvPr id="31" name="R0C2"/>
          <p:cNvSpPr/>
          <p:nvPr/>
        </p:nvSpPr>
        <p:spPr>
          <a:xfrm>
            <a:off x="2616200" y="1117600"/>
            <a:ext cx="3937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BloodPressure等の0値が未測定や代入値の可能性</a:t>
            </a:r>
          </a:p>
        </p:txBody>
      </p:sp>
      <p:sp>
        <p:nvSpPr>
          <p:cNvPr id="32" name="R0C3"/>
          <p:cNvSpPr/>
          <p:nvPr/>
        </p:nvSpPr>
        <p:spPr>
          <a:xfrm>
            <a:off x="6553200" y="1117600"/>
            <a:ext cx="4953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有効値ケースと疑似欠損ケースを比較し、前処理差分の影響を明示</a:t>
            </a:r>
          </a:p>
        </p:txBody>
      </p:sp>
      <p:sp>
        <p:nvSpPr>
          <p:cNvPr id="33" name="R1C1"/>
          <p:cNvSpPr/>
          <p:nvPr/>
        </p:nvSpPr>
        <p:spPr>
          <a:xfrm>
            <a:off x="457200" y="1676400"/>
            <a:ext cx="2159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データ入力の不整合</a:t>
            </a:r>
          </a:p>
        </p:txBody>
      </p:sp>
      <p:sp>
        <p:nvSpPr>
          <p:cNvPr id="34" name="R1C2"/>
          <p:cNvSpPr/>
          <p:nvPr/>
        </p:nvSpPr>
        <p:spPr>
          <a:xfrm>
            <a:off x="2616200" y="1676400"/>
            <a:ext cx="3937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入力ルールや測定条件のばらつきが想定</a:t>
            </a:r>
          </a:p>
        </p:txBody>
      </p:sp>
      <p:sp>
        <p:nvSpPr>
          <p:cNvPr id="35" name="R1C3"/>
          <p:cNvSpPr/>
          <p:nvPr/>
        </p:nvSpPr>
        <p:spPr>
          <a:xfrm>
            <a:off x="6553200" y="1676400"/>
            <a:ext cx="4953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分布確認、外れ値確認、前提・除外基準の文書化</a:t>
            </a:r>
          </a:p>
        </p:txBody>
      </p:sp>
      <p:sp>
        <p:nvSpPr>
          <p:cNvPr id="36" name="R2C1"/>
          <p:cNvSpPr/>
          <p:nvPr/>
        </p:nvSpPr>
        <p:spPr>
          <a:xfrm>
            <a:off x="457200" y="2235200"/>
            <a:ext cx="2159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クラス不均衡</a:t>
            </a:r>
          </a:p>
        </p:txBody>
      </p:sp>
      <p:sp>
        <p:nvSpPr>
          <p:cNvPr id="37" name="R2C2"/>
          <p:cNvSpPr/>
          <p:nvPr/>
        </p:nvSpPr>
        <p:spPr>
          <a:xfrm>
            <a:off x="2616200" y="2235200"/>
            <a:ext cx="3937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Outcome=1が約23.9%で多数派偏重の恐れ</a:t>
            </a:r>
          </a:p>
        </p:txBody>
      </p:sp>
      <p:sp>
        <p:nvSpPr>
          <p:cNvPr id="38" name="R2C3"/>
          <p:cNvSpPr/>
          <p:nvPr/>
        </p:nvSpPr>
        <p:spPr>
          <a:xfrm>
            <a:off x="6553200" y="2235200"/>
            <a:ext cx="4953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ROC-AUC/Recall/Precision/F1/混同行列で多面的評価</a:t>
            </a:r>
          </a:p>
        </p:txBody>
      </p:sp>
      <p:sp>
        <p:nvSpPr>
          <p:cNvPr id="39" name="R3C1"/>
          <p:cNvSpPr/>
          <p:nvPr/>
        </p:nvSpPr>
        <p:spPr>
          <a:xfrm>
            <a:off x="457200" y="2794000"/>
            <a:ext cx="2159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解釈の過剰一般化</a:t>
            </a:r>
          </a:p>
        </p:txBody>
      </p:sp>
      <p:sp>
        <p:nvSpPr>
          <p:cNvPr id="40" name="R3C2"/>
          <p:cNvSpPr/>
          <p:nvPr/>
        </p:nvSpPr>
        <p:spPr>
          <a:xfrm>
            <a:off x="2616200" y="2794000"/>
            <a:ext cx="3937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単一データセット結果を一般医学知見と断定するリスク</a:t>
            </a:r>
          </a:p>
        </p:txBody>
      </p:sp>
      <p:sp>
        <p:nvSpPr>
          <p:cNvPr id="41" name="R3C3"/>
          <p:cNvSpPr/>
          <p:nvPr/>
        </p:nvSpPr>
        <p:spPr>
          <a:xfrm>
            <a:off x="6553200" y="2794000"/>
            <a:ext cx="4953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医学的因果と分析結果を明確に区分</a:t>
            </a:r>
          </a:p>
        </p:txBody>
      </p:sp>
      <p:sp>
        <p:nvSpPr>
          <p:cNvPr id="42" name="R4C1"/>
          <p:cNvSpPr/>
          <p:nvPr/>
        </p:nvSpPr>
        <p:spPr>
          <a:xfrm>
            <a:off x="457200" y="3352800"/>
            <a:ext cx="2159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業務適用時の運用差異</a:t>
            </a:r>
          </a:p>
        </p:txBody>
      </p:sp>
      <p:sp>
        <p:nvSpPr>
          <p:cNvPr id="43" name="R4C2"/>
          <p:cNvSpPr/>
          <p:nvPr/>
        </p:nvSpPr>
        <p:spPr>
          <a:xfrm>
            <a:off x="2616200" y="3352800"/>
            <a:ext cx="3937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部門や診療フローの差異が影響する可能性</a:t>
            </a:r>
          </a:p>
        </p:txBody>
      </p:sp>
      <p:sp>
        <p:nvSpPr>
          <p:cNvPr id="44" name="R4C3"/>
          <p:cNvSpPr/>
          <p:nvPr/>
        </p:nvSpPr>
        <p:spPr>
          <a:xfrm>
            <a:off x="6553200" y="3352800"/>
            <a:ext cx="4953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適用前提と留意点を整理し次フェーズ課題として明示</a:t>
            </a:r>
          </a:p>
        </p:txBody>
      </p:sp>
      <p:sp>
        <p:nvSpPr>
          <p:cNvPr id="45" name="R5C1"/>
          <p:cNvSpPr/>
          <p:nvPr/>
        </p:nvSpPr>
        <p:spPr>
          <a:xfrm>
            <a:off x="457200" y="3911600"/>
            <a:ext cx="2159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個人情報の取り扱い</a:t>
            </a:r>
          </a:p>
        </p:txBody>
      </p:sp>
      <p:sp>
        <p:nvSpPr>
          <p:cNvPr id="46" name="R5C2"/>
          <p:cNvSpPr/>
          <p:nvPr/>
        </p:nvSpPr>
        <p:spPr>
          <a:xfrm>
            <a:off x="2616200" y="3911600"/>
            <a:ext cx="3937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医療関連データとして慎重な管理が必要</a:t>
            </a:r>
          </a:p>
        </p:txBody>
      </p:sp>
      <p:sp>
        <p:nvSpPr>
          <p:cNvPr id="47" name="R5C3"/>
          <p:cNvSpPr/>
          <p:nvPr/>
        </p:nvSpPr>
        <p:spPr>
          <a:xfrm>
            <a:off x="6553200" y="3911600"/>
            <a:ext cx="4953000" cy="558800"/>
          </a:xfrm>
          <a:prstGeom prst="rect">
            <a:avLst/>
          </a:prstGeom>
          <a:solidFill>
            <a:srgbClr val="FFFFFF"/>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共有範囲・保管の限定、トレーサビリティ確保</a:t>
            </a:r>
          </a:p>
        </p:txBody>
      </p:sp>
      <p:sp>
        <p:nvSpPr>
          <p:cNvPr id="48" name="R6C1"/>
          <p:cNvSpPr/>
          <p:nvPr/>
        </p:nvSpPr>
        <p:spPr>
          <a:xfrm>
            <a:off x="457200" y="4470400"/>
            <a:ext cx="2159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50" b="1" dirty="0">
                <a:solidFill>
                  <a:srgbClr val="2B2B2B"/>
                </a:solidFill>
                <a:latin typeface="BIZ UDPGothic"/>
                <a:ea typeface="BIZ UDPGothic"/>
              </a:rPr>
              <a:t>成果物の整合性低下</a:t>
            </a:r>
          </a:p>
        </p:txBody>
      </p:sp>
      <p:sp>
        <p:nvSpPr>
          <p:cNvPr id="49" name="R6C2"/>
          <p:cNvSpPr/>
          <p:nvPr/>
        </p:nvSpPr>
        <p:spPr>
          <a:xfrm>
            <a:off x="2616200" y="4470400"/>
            <a:ext cx="3937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文書間で前提や数値に差異が生じる可能性</a:t>
            </a:r>
          </a:p>
        </p:txBody>
      </p:sp>
      <p:sp>
        <p:nvSpPr>
          <p:cNvPr id="50" name="R6C3"/>
          <p:cNvSpPr/>
          <p:nvPr/>
        </p:nvSpPr>
        <p:spPr>
          <a:xfrm>
            <a:off x="6553200" y="4470400"/>
            <a:ext cx="4953000" cy="558800"/>
          </a:xfrm>
          <a:prstGeom prst="rect">
            <a:avLst/>
          </a:prstGeom>
          <a:solidFill>
            <a:srgbClr val="F7F7F7"/>
          </a:solidFill>
          <a:ln w="6350">
            <a:solidFill>
              <a:srgbClr val="E8E8E8"/>
            </a:solidFill>
          </a:ln>
        </p:spPr>
        <p:txBody>
          <a:bodyPr wrap="square" lIns="54000" tIns="18000" rIns="54000" bIns="18000" anchor="ctr"/>
          <a:lstStyle/>
          <a:p>
            <a:pPr algn="l">
              <a:buNone/>
            </a:pPr>
            <a:r>
              <a:rPr lang="ja-JP" sz="900" dirty="0">
                <a:solidFill>
                  <a:srgbClr val="4A4A4A"/>
                </a:solidFill>
                <a:latin typeface="BIZ UDPGothic"/>
                <a:ea typeface="BIZ UDPGothic"/>
              </a:rPr>
              <a:t>QAレビュー、単一情報源管理、議事録による合意管理</a:t>
            </a:r>
          </a:p>
        </p:txBody>
      </p:sp>
      <p:sp>
        <p:nvSpPr>
          <p:cNvPr id="99" name="PageNum"/>
          <p:cNvSpPr/>
          <p:nvPr/>
        </p:nvSpPr>
        <p:spPr>
          <a:xfrm>
            <a:off x="11176000" y="6350000"/>
            <a:ext cx="635000" cy="254000"/>
          </a:xfrm>
          <a:prstGeom prst="rect">
            <a:avLst/>
          </a:prstGeom>
          <a:noFill/>
          <a:ln>
            <a:noFill/>
          </a:ln>
        </p:spPr>
        <p:txBody>
          <a:bodyPr wrap="square" lIns="54000" tIns="18000" rIns="54000" bIns="18000" anchor="ctr"/>
          <a:lstStyle/>
          <a:p>
            <a:pPr algn="r">
              <a:buNone/>
            </a:pPr>
            <a:r>
              <a:rPr lang="ja-JP" sz="1000" dirty="0">
                <a:solidFill>
                  <a:srgbClr val="8B8B8B"/>
                </a:solidFill>
                <a:latin typeface="BIZ UDPGothic"/>
                <a:ea typeface="BIZ UDPGothic"/>
              </a:rPr>
              <a:t>12</a:t>
            </a:r>
          </a:p>
        </p:txBody>
      </p:sp>
    </p:spTree>
    <p:extLst>
      <p:ext uri="{BB962C8B-B14F-4D97-AF65-F5344CB8AC3E}">
        <p14:creationId xmlns:p14="http://schemas.microsoft.com/office/powerpoint/2010/main" val="2320455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635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10. 前提条件・除外事項</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0" name="PreLabel"/>
          <p:cNvSpPr/>
          <p:nvPr/>
        </p:nvSpPr>
        <p:spPr>
          <a:xfrm>
            <a:off x="457200" y="787400"/>
            <a:ext cx="5461000" cy="330200"/>
          </a:xfrm>
          <a:prstGeom prst="roundRect">
            <a:avLst/>
          </a:prstGeom>
          <a:solidFill>
            <a:srgbClr val="2B2B2B"/>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前提条件</a:t>
            </a:r>
          </a:p>
        </p:txBody>
      </p:sp>
      <p:sp>
        <p:nvSpPr>
          <p:cNvPr id="21" name="PreBox"/>
          <p:cNvSpPr/>
          <p:nvPr/>
        </p:nvSpPr>
        <p:spPr>
          <a:xfrm>
            <a:off x="457200" y="1168400"/>
            <a:ext cx="5461000" cy="3619500"/>
          </a:xfrm>
          <a:prstGeom prst="roundRect">
            <a:avLst/>
          </a:prstGeom>
          <a:solidFill>
            <a:srgbClr val="F7F7F7"/>
          </a:solidFill>
          <a:ln w="12700">
            <a:solidFill>
              <a:srgbClr val="E0E0E0"/>
            </a:solidFill>
          </a:ln>
        </p:spPr>
        <p:txBody>
          <a:bodyPr wrap="square" lIns="72000" tIns="36000" rIns="72000" bIns="36000" anchor="t"/>
          <a:lstStyle/>
          <a:p>
            <a:pPr marL="171450" indent="-171450" algn="l">
              <a:buFont typeface="Arial"/>
              <a:buChar char="●"/>
            </a:pPr>
            <a:r>
              <a:rPr lang="ja-JP" sz="950" dirty="0">
                <a:solidFill>
                  <a:srgbClr val="4A4A4A"/>
                </a:solidFill>
                <a:latin typeface="BIZ UDPGothic"/>
                <a:ea typeface="BIZ UDPGothic"/>
              </a:rPr>
              <a:t>train.csvおよびカラム説明を正本として利用する</a:t>
            </a:r>
          </a:p>
          <a:p>
            <a:pPr marL="171450" indent="-171450" algn="l">
              <a:buFont typeface="Arial"/>
              <a:buChar char="●"/>
            </a:pPr>
            <a:r>
              <a:rPr lang="ja-JP" sz="950" dirty="0">
                <a:solidFill>
                  <a:srgbClr val="4A4A4A"/>
                </a:solidFill>
                <a:latin typeface="BIZ UDPGothic"/>
                <a:ea typeface="BIZ UDPGothic"/>
              </a:rPr>
              <a:t>目的変数はOutcomeとする</a:t>
            </a:r>
          </a:p>
          <a:p>
            <a:pPr marL="171450" indent="-171450" algn="l">
              <a:buFont typeface="Arial"/>
              <a:buChar char="●"/>
            </a:pPr>
            <a:r>
              <a:rPr lang="ja-JP" sz="950" dirty="0">
                <a:solidFill>
                  <a:srgbClr val="4A4A4A"/>
                </a:solidFill>
                <a:latin typeface="BIZ UDPGothic"/>
                <a:ea typeface="BIZ UDPGothic"/>
              </a:rPr>
              <a:t>indexは識別用であり、予測特徴量には使用しない</a:t>
            </a:r>
          </a:p>
          <a:p>
            <a:pPr marL="171450" indent="-171450" algn="l">
              <a:buFont typeface="Arial"/>
              <a:buChar char="●"/>
            </a:pPr>
            <a:r>
              <a:rPr lang="ja-JP" sz="950" dirty="0">
                <a:solidFill>
                  <a:srgbClr val="4A4A4A"/>
                </a:solidFill>
                <a:latin typeface="BIZ UDPGothic"/>
                <a:ea typeface="BIZ UDPGothic"/>
              </a:rPr>
              <a:t>0値を疑似欠損として検討する</a:t>
            </a:r>
          </a:p>
          <a:p>
            <a:pPr marL="171450" indent="-171450" algn="l">
              <a:buFont typeface="Arial"/>
              <a:buChar char="●"/>
            </a:pPr>
            <a:r>
              <a:rPr lang="ja-JP" sz="950" dirty="0">
                <a:solidFill>
                  <a:srgbClr val="4A4A4A"/>
                </a:solidFill>
                <a:latin typeface="BIZ UDPGothic"/>
                <a:ea typeface="BIZ UDPGothic"/>
              </a:rPr>
              <a:t>時系列情報を持たないため、時系列分析は対象外</a:t>
            </a:r>
          </a:p>
          <a:p>
            <a:pPr marL="171450" indent="-171450" algn="l">
              <a:buFont typeface="Arial"/>
              <a:buChar char="●"/>
            </a:pPr>
            <a:r>
              <a:rPr lang="ja-JP" sz="950" dirty="0">
                <a:solidFill>
                  <a:srgbClr val="4A4A4A"/>
                </a:solidFill>
                <a:latin typeface="BIZ UDPGothic"/>
                <a:ea typeface="BIZ UDPGothic"/>
              </a:rPr>
              <a:t>分析結果は診療判断の代替ではなく補助情報として扱う</a:t>
            </a:r>
          </a:p>
          <a:p>
            <a:pPr marL="171450" indent="-171450" algn="l">
              <a:buFont typeface="Arial"/>
              <a:buChar char="●"/>
            </a:pPr>
            <a:r>
              <a:rPr lang="ja-JP" sz="950" dirty="0">
                <a:solidFill>
                  <a:srgbClr val="4A4A4A"/>
                </a:solidFill>
                <a:latin typeface="BIZ UDPGothic"/>
                <a:ea typeface="BIZ UDPGothic"/>
              </a:rPr>
              <a:t>個人特定情報は含まれない前提だが慎重に取り扱う</a:t>
            </a:r>
          </a:p>
          <a:p>
            <a:pPr marL="171450" indent="-171450" algn="l">
              <a:buFont typeface="Arial"/>
              <a:buChar char="●"/>
            </a:pPr>
            <a:r>
              <a:rPr lang="ja-JP" sz="950" dirty="0">
                <a:solidFill>
                  <a:srgbClr val="4A4A4A"/>
                </a:solidFill>
                <a:latin typeface="BIZ UDPGothic"/>
                <a:ea typeface="BIZ UDPGothic"/>
              </a:rPr>
              <a:t>仮説・前処理判断・除外基準は追跡可能な形で記録</a:t>
            </a:r>
          </a:p>
          <a:p>
            <a:pPr marL="171450" indent="-171450" algn="l">
              <a:buFont typeface="Arial"/>
              <a:buChar char="●"/>
            </a:pPr>
            <a:r>
              <a:rPr lang="ja-JP" sz="950" dirty="0">
                <a:solidFill>
                  <a:srgbClr val="4A4A4A"/>
                </a:solidFill>
                <a:latin typeface="BIZ UDPGothic"/>
                <a:ea typeface="BIZ UDPGothic"/>
              </a:rPr>
              <a:t>追加対応が発生しない前提で本契約を締結する</a:t>
            </a:r>
          </a:p>
        </p:txBody>
      </p:sp>
      <p:sp>
        <p:nvSpPr>
          <p:cNvPr id="30" name="ExLabel"/>
          <p:cNvSpPr/>
          <p:nvPr/>
        </p:nvSpPr>
        <p:spPr>
          <a:xfrm>
            <a:off x="6273800" y="787400"/>
            <a:ext cx="5461000" cy="330200"/>
          </a:xfrm>
          <a:prstGeom prst="roundRect">
            <a:avLst/>
          </a:prstGeom>
          <a:solidFill>
            <a:srgbClr val="5C5C5C"/>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除外事項</a:t>
            </a:r>
          </a:p>
        </p:txBody>
      </p:sp>
      <p:sp>
        <p:nvSpPr>
          <p:cNvPr id="31" name="ExBox"/>
          <p:cNvSpPr/>
          <p:nvPr/>
        </p:nvSpPr>
        <p:spPr>
          <a:xfrm>
            <a:off x="6273800" y="1168400"/>
            <a:ext cx="5461000" cy="2413000"/>
          </a:xfrm>
          <a:prstGeom prst="roundRect">
            <a:avLst/>
          </a:prstGeom>
          <a:solidFill>
            <a:srgbClr val="F7F7F7"/>
          </a:solidFill>
          <a:ln w="12700">
            <a:solidFill>
              <a:srgbClr val="E0E0E0"/>
            </a:solidFill>
          </a:ln>
        </p:spPr>
        <p:txBody>
          <a:bodyPr wrap="square" lIns="72000" tIns="36000" rIns="72000" bIns="36000" anchor="t"/>
          <a:lstStyle/>
          <a:p>
            <a:pPr marL="171450" indent="-171450" algn="l">
              <a:buFont typeface="Arial"/>
              <a:buChar char="✕"/>
            </a:pPr>
            <a:r>
              <a:rPr lang="ja-JP" sz="950" dirty="0">
                <a:solidFill>
                  <a:srgbClr val="5C5C5C"/>
                </a:solidFill>
                <a:latin typeface="BIZ UDPGothic"/>
                <a:ea typeface="BIZ UDPGothic"/>
              </a:rPr>
              <a:t>本番環境実装、API化、システム連携開発</a:t>
            </a:r>
          </a:p>
          <a:p>
            <a:pPr marL="171450" indent="-171450" algn="l">
              <a:buFont typeface="Arial"/>
              <a:buChar char="✕"/>
            </a:pPr>
            <a:r>
              <a:rPr lang="ja-JP" sz="950" dirty="0">
                <a:solidFill>
                  <a:srgbClr val="5C5C5C"/>
                </a:solidFill>
                <a:latin typeface="BIZ UDPGothic"/>
                <a:ea typeface="BIZ UDPGothic"/>
              </a:rPr>
              <a:t>契約時点で提示されていない追加データの分析</a:t>
            </a:r>
          </a:p>
          <a:p>
            <a:pPr marL="171450" indent="-171450" algn="l">
              <a:buFont typeface="Arial"/>
              <a:buChar char="✕"/>
            </a:pPr>
            <a:r>
              <a:rPr lang="ja-JP" sz="950" dirty="0">
                <a:solidFill>
                  <a:srgbClr val="5C5C5C"/>
                </a:solidFill>
                <a:latin typeface="BIZ UDPGothic"/>
                <a:ea typeface="BIZ UDPGothic"/>
              </a:rPr>
              <a:t>新規調査設計、外部データ取得、長期運用設計</a:t>
            </a:r>
          </a:p>
          <a:p>
            <a:pPr marL="171450" indent="-171450" algn="l">
              <a:buFont typeface="Arial"/>
              <a:buChar char="✕"/>
            </a:pPr>
            <a:r>
              <a:rPr lang="ja-JP" sz="950" dirty="0">
                <a:solidFill>
                  <a:srgbClr val="5C5C5C"/>
                </a:solidFill>
                <a:latin typeface="BIZ UDPGothic"/>
                <a:ea typeface="BIZ UDPGothic"/>
              </a:rPr>
              <a:t>医学的因果関係の証明</a:t>
            </a:r>
          </a:p>
          <a:p>
            <a:pPr marL="171450" indent="-171450" algn="l">
              <a:buFont typeface="Arial"/>
              <a:buChar char="✕"/>
            </a:pPr>
            <a:r>
              <a:rPr lang="ja-JP" sz="950" dirty="0">
                <a:solidFill>
                  <a:srgbClr val="5C5C5C"/>
                </a:solidFill>
                <a:latin typeface="BIZ UDPGothic"/>
                <a:ea typeface="BIZ UDPGothic"/>
              </a:rPr>
              <a:t>本分析結果のみに基づく診療ルール制定</a:t>
            </a:r>
          </a:p>
          <a:p>
            <a:pPr marL="171450" indent="-171450" algn="l">
              <a:buFont typeface="Arial"/>
              <a:buChar char="✕"/>
            </a:pPr>
            <a:r>
              <a:rPr lang="ja-JP" sz="950" dirty="0">
                <a:solidFill>
                  <a:srgbClr val="5C5C5C"/>
                </a:solidFill>
                <a:latin typeface="BIZ UDPGothic"/>
                <a:ea typeface="BIZ UDPGothic"/>
              </a:rPr>
              <a:t>契約範囲外の追加帳票・会議・分析の無償対応</a:t>
            </a:r>
          </a:p>
        </p:txBody>
      </p:sp>
      <p:sp>
        <p:nvSpPr>
          <p:cNvPr id="40" name="ChangeLabel"/>
          <p:cNvSpPr/>
          <p:nvPr/>
        </p:nvSpPr>
        <p:spPr>
          <a:xfrm>
            <a:off x="6273800" y="3746500"/>
            <a:ext cx="5461000" cy="330200"/>
          </a:xfrm>
          <a:prstGeom prst="roundRect">
            <a:avLst/>
          </a:prstGeom>
          <a:solidFill>
            <a:srgbClr val="A03028"/>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変更管理方針</a:t>
            </a:r>
          </a:p>
        </p:txBody>
      </p:sp>
      <p:sp>
        <p:nvSpPr>
          <p:cNvPr id="41" name="ChangeBox"/>
          <p:cNvSpPr/>
          <p:nvPr/>
        </p:nvSpPr>
        <p:spPr>
          <a:xfrm>
            <a:off x="6273800" y="4127500"/>
            <a:ext cx="5461000" cy="660400"/>
          </a:xfrm>
          <a:prstGeom prst="roundRect">
            <a:avLst/>
          </a:prstGeom>
          <a:solidFill>
            <a:srgbClr val="FFF5F5"/>
          </a:solidFill>
          <a:ln w="12700">
            <a:solidFill>
              <a:srgbClr val="A03028"/>
            </a:solidFill>
          </a:ln>
        </p:spPr>
        <p:txBody>
          <a:bodyPr wrap="square" lIns="72000" tIns="36000" rIns="72000" bIns="36000" anchor="t"/>
          <a:lstStyle/>
          <a:p>
            <a:pPr algn="l">
              <a:buNone/>
            </a:pPr>
            <a:r>
              <a:rPr lang="ja-JP" sz="950" dirty="0">
                <a:solidFill>
                  <a:srgbClr val="5C5C5C"/>
                </a:solidFill>
                <a:latin typeface="BIZ UDPGothic"/>
                <a:ea typeface="BIZ UDPGothic"/>
              </a:rPr>
              <a:t>契約範囲外の追加対応は、別紙見積にて金額・納期を事前合意のうえ実施する。</a:t>
            </a:r>
          </a:p>
          <a:p>
            <a:pPr algn="l">
              <a:buNone/>
            </a:pPr>
            <a:r>
              <a:rPr lang="ja-JP" sz="950" b="1" dirty="0">
                <a:solidFill>
                  <a:srgbClr val="A03028"/>
                </a:solidFill>
                <a:latin typeface="BIZ UDPGothic"/>
                <a:ea typeface="BIZ UDPGothic"/>
              </a:rPr>
              <a:t>契約時に金額を固定し、工数実績による事後精算は行わない。</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13</a:t>
            </a:r>
          </a:p>
        </p:txBody>
      </p:sp>
    </p:spTree>
    <p:extLst>
      <p:ext uri="{BB962C8B-B14F-4D97-AF65-F5344CB8AC3E}">
        <p14:creationId xmlns:p14="http://schemas.microsoft.com/office/powerpoint/2010/main" val="3060069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57200" y="177800"/>
            <a:ext cx="6350000" cy="457200"/>
          </a:xfrm>
          <a:prstGeom prst="rect">
            <a:avLst/>
          </a:prstGeom>
          <a:noFill/>
          <a:ln>
            <a:noFill/>
          </a:ln>
        </p:spPr>
        <p:txBody>
          <a:bodyPr wrap="square" lIns="72000" tIns="36000" rIns="72000" bIns="36000" anchor="b"/>
          <a:lstStyle/>
          <a:p>
            <a:pPr algn="l">
              <a:buNone/>
            </a:pPr>
            <a:r>
              <a:rPr lang="ja-JP" sz="2400" b="1" dirty="0">
                <a:solidFill>
                  <a:srgbClr val="2B2B2B"/>
                </a:solidFill>
                <a:latin typeface="BIZ UDPGothic"/>
                <a:ea typeface="BIZ UDPGothic"/>
              </a:rPr>
              <a:t>11. 次アクション</a:t>
            </a:r>
          </a:p>
        </p:txBody>
      </p:sp>
      <p:sp>
        <p:nvSpPr>
          <p:cNvPr id="11" name="TitleLine"/>
          <p:cNvSpPr/>
          <p:nvPr/>
        </p:nvSpPr>
        <p:spPr>
          <a:xfrm>
            <a:off x="457200" y="660400"/>
            <a:ext cx="1270000" cy="25400"/>
          </a:xfrm>
          <a:prstGeom prst="rect">
            <a:avLst/>
          </a:prstGeom>
          <a:solidFill>
            <a:srgbClr val="A03028"/>
          </a:solidFill>
          <a:ln>
            <a:noFill/>
          </a:ln>
        </p:spPr>
        <p:txBody>
          <a:bodyPr wrap="square" lIns="72000" tIns="36000" rIns="72000" bIns="36000" anchor="ctr"/>
          <a:lstStyle/>
          <a:p>
            <a:endParaRPr lang="ja-JP"/>
          </a:p>
        </p:txBody>
      </p:sp>
      <p:sp>
        <p:nvSpPr>
          <p:cNvPr id="20" name="ActionNum0"/>
          <p:cNvSpPr/>
          <p:nvPr/>
        </p:nvSpPr>
        <p:spPr>
          <a:xfrm>
            <a:off x="457200" y="914400"/>
            <a:ext cx="457200" cy="457200"/>
          </a:xfrm>
          <a:prstGeom prst="ellipse">
            <a:avLst/>
          </a:prstGeom>
          <a:solidFill>
            <a:srgbClr val="A03028"/>
          </a:solidFill>
          <a:ln>
            <a:noFill/>
          </a:ln>
        </p:spPr>
        <p:txBody>
          <a:bodyPr wrap="square" lIns="72000" tIns="36000" rIns="72000" bIns="36000" anchor="ctr"/>
          <a:lstStyle/>
          <a:p>
            <a:pPr algn="ctr">
              <a:buNone/>
            </a:pPr>
            <a:r>
              <a:rPr lang="ja-JP" sz="1600" b="1" dirty="0">
                <a:solidFill>
                  <a:srgbClr val="FFFFFF"/>
                </a:solidFill>
                <a:latin typeface="BIZ UDPGothic"/>
                <a:ea typeface="BIZ UDPGothic"/>
              </a:rPr>
              <a:t>1</a:t>
            </a:r>
          </a:p>
        </p:txBody>
      </p:sp>
      <p:sp>
        <p:nvSpPr>
          <p:cNvPr id="21" name="ActionCard0"/>
          <p:cNvSpPr/>
          <p:nvPr/>
        </p:nvSpPr>
        <p:spPr>
          <a:xfrm>
            <a:off x="965200" y="914400"/>
            <a:ext cx="3276600" cy="12700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400" b="1" dirty="0">
                <a:solidFill>
                  <a:srgbClr val="2B2B2B"/>
                </a:solidFill>
                <a:latin typeface="BIZ UDPGothic"/>
                <a:ea typeface="BIZ UDPGothic"/>
              </a:rPr>
              <a:t>提案書の確認・承認</a:t>
            </a:r>
          </a:p>
          <a:p>
            <a:pPr algn="l">
              <a:buNone/>
            </a:pPr>
            <a:r>
              <a:rPr lang="ja-JP" sz="1100" dirty="0">
                <a:solidFill>
                  <a:srgbClr val="5C5C5C"/>
                </a:solidFill>
                <a:latin typeface="BIZ UDPGothic"/>
                <a:ea typeface="BIZ UDPGothic"/>
              </a:rPr>
              <a:t>本提案書内容のご確認およびご承認</a:t>
            </a:r>
          </a:p>
        </p:txBody>
      </p:sp>
      <p:sp>
        <p:nvSpPr>
          <p:cNvPr id="40" name="Arrow0"/>
          <p:cNvSpPr/>
          <p:nvPr/>
        </p:nvSpPr>
        <p:spPr>
          <a:xfrm>
            <a:off x="4241800" y="1447800"/>
            <a:ext cx="279400" cy="203200"/>
          </a:xfrm>
          <a:prstGeom prst="rightArrow">
            <a:avLst/>
          </a:prstGeom>
          <a:solidFill>
            <a:srgbClr val="D4D4D4"/>
          </a:solidFill>
          <a:ln>
            <a:noFill/>
          </a:ln>
        </p:spPr>
        <p:txBody>
          <a:bodyPr wrap="square" lIns="72000" tIns="36000" rIns="72000" bIns="36000" anchor="ctr"/>
          <a:lstStyle/>
          <a:p>
            <a:endParaRPr lang="ja-JP"/>
          </a:p>
        </p:txBody>
      </p:sp>
      <p:sp>
        <p:nvSpPr>
          <p:cNvPr id="22" name="ActionNum1"/>
          <p:cNvSpPr/>
          <p:nvPr/>
        </p:nvSpPr>
        <p:spPr>
          <a:xfrm>
            <a:off x="4394200" y="914400"/>
            <a:ext cx="457200" cy="457200"/>
          </a:xfrm>
          <a:prstGeom prst="ellipse">
            <a:avLst/>
          </a:prstGeom>
          <a:solidFill>
            <a:srgbClr val="A03028"/>
          </a:solidFill>
          <a:ln>
            <a:noFill/>
          </a:ln>
        </p:spPr>
        <p:txBody>
          <a:bodyPr wrap="square" lIns="72000" tIns="36000" rIns="72000" bIns="36000" anchor="ctr"/>
          <a:lstStyle/>
          <a:p>
            <a:pPr algn="ctr">
              <a:buNone/>
            </a:pPr>
            <a:r>
              <a:rPr lang="ja-JP" sz="1600" b="1" dirty="0">
                <a:solidFill>
                  <a:srgbClr val="FFFFFF"/>
                </a:solidFill>
                <a:latin typeface="BIZ UDPGothic"/>
                <a:ea typeface="BIZ UDPGothic"/>
              </a:rPr>
              <a:t>2</a:t>
            </a:r>
          </a:p>
        </p:txBody>
      </p:sp>
      <p:sp>
        <p:nvSpPr>
          <p:cNvPr id="23" name="ActionCard1"/>
          <p:cNvSpPr/>
          <p:nvPr/>
        </p:nvSpPr>
        <p:spPr>
          <a:xfrm>
            <a:off x="4902200" y="914400"/>
            <a:ext cx="3276600" cy="12700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400" b="1" dirty="0">
                <a:solidFill>
                  <a:srgbClr val="2B2B2B"/>
                </a:solidFill>
                <a:latin typeface="BIZ UDPGothic"/>
                <a:ea typeface="BIZ UDPGothic"/>
              </a:rPr>
              <a:t>契約条件の最終確認</a:t>
            </a:r>
          </a:p>
          <a:p>
            <a:pPr algn="l">
              <a:buNone/>
            </a:pPr>
            <a:r>
              <a:rPr lang="ja-JP" sz="1100" dirty="0">
                <a:solidFill>
                  <a:srgbClr val="5C5C5C"/>
                </a:solidFill>
                <a:latin typeface="BIZ UDPGothic"/>
                <a:ea typeface="BIZ UDPGothic"/>
              </a:rPr>
              <a:t>契約条件（金額・期間・スコープ）の最終確認</a:t>
            </a:r>
          </a:p>
        </p:txBody>
      </p:sp>
      <p:sp>
        <p:nvSpPr>
          <p:cNvPr id="41" name="Arrow1"/>
          <p:cNvSpPr/>
          <p:nvPr/>
        </p:nvSpPr>
        <p:spPr>
          <a:xfrm>
            <a:off x="8178800" y="1447800"/>
            <a:ext cx="279400" cy="203200"/>
          </a:xfrm>
          <a:prstGeom prst="rightArrow">
            <a:avLst/>
          </a:prstGeom>
          <a:solidFill>
            <a:srgbClr val="D4D4D4"/>
          </a:solidFill>
          <a:ln>
            <a:noFill/>
          </a:ln>
        </p:spPr>
        <p:txBody>
          <a:bodyPr wrap="square" lIns="72000" tIns="36000" rIns="72000" bIns="36000" anchor="ctr"/>
          <a:lstStyle/>
          <a:p>
            <a:endParaRPr lang="ja-JP"/>
          </a:p>
        </p:txBody>
      </p:sp>
      <p:sp>
        <p:nvSpPr>
          <p:cNvPr id="24" name="ActionNum2"/>
          <p:cNvSpPr/>
          <p:nvPr/>
        </p:nvSpPr>
        <p:spPr>
          <a:xfrm>
            <a:off x="8331200" y="914400"/>
            <a:ext cx="457200" cy="457200"/>
          </a:xfrm>
          <a:prstGeom prst="ellipse">
            <a:avLst/>
          </a:prstGeom>
          <a:solidFill>
            <a:srgbClr val="A03028"/>
          </a:solidFill>
          <a:ln>
            <a:noFill/>
          </a:ln>
        </p:spPr>
        <p:txBody>
          <a:bodyPr wrap="square" lIns="72000" tIns="36000" rIns="72000" bIns="36000" anchor="ctr"/>
          <a:lstStyle/>
          <a:p>
            <a:pPr algn="ctr">
              <a:buNone/>
            </a:pPr>
            <a:r>
              <a:rPr lang="ja-JP" sz="1600" b="1" dirty="0">
                <a:solidFill>
                  <a:srgbClr val="FFFFFF"/>
                </a:solidFill>
                <a:latin typeface="BIZ UDPGothic"/>
                <a:ea typeface="BIZ UDPGothic"/>
              </a:rPr>
              <a:t>3</a:t>
            </a:r>
          </a:p>
        </p:txBody>
      </p:sp>
      <p:sp>
        <p:nvSpPr>
          <p:cNvPr id="25" name="ActionCard2"/>
          <p:cNvSpPr/>
          <p:nvPr/>
        </p:nvSpPr>
        <p:spPr>
          <a:xfrm>
            <a:off x="8839200" y="914400"/>
            <a:ext cx="3276600" cy="12700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400" b="1" dirty="0">
                <a:solidFill>
                  <a:srgbClr val="2B2B2B"/>
                </a:solidFill>
                <a:latin typeface="BIZ UDPGothic"/>
                <a:ea typeface="BIZ UDPGothic"/>
              </a:rPr>
              <a:t>キックオフ会議設定</a:t>
            </a:r>
          </a:p>
          <a:p>
            <a:pPr algn="l">
              <a:buNone/>
            </a:pPr>
            <a:r>
              <a:rPr lang="ja-JP" sz="1100" dirty="0">
                <a:solidFill>
                  <a:srgbClr val="5C5C5C"/>
                </a:solidFill>
                <a:latin typeface="BIZ UDPGothic"/>
                <a:ea typeface="BIZ UDPGothic"/>
              </a:rPr>
              <a:t>キックオフ会議の日程調整・設定</a:t>
            </a:r>
          </a:p>
        </p:txBody>
      </p:sp>
      <p:sp>
        <p:nvSpPr>
          <p:cNvPr id="26" name="ActionNum3"/>
          <p:cNvSpPr/>
          <p:nvPr/>
        </p:nvSpPr>
        <p:spPr>
          <a:xfrm>
            <a:off x="457200" y="2463800"/>
            <a:ext cx="457200" cy="457200"/>
          </a:xfrm>
          <a:prstGeom prst="ellipse">
            <a:avLst/>
          </a:prstGeom>
          <a:solidFill>
            <a:srgbClr val="A03028"/>
          </a:solidFill>
          <a:ln>
            <a:noFill/>
          </a:ln>
        </p:spPr>
        <p:txBody>
          <a:bodyPr wrap="square" lIns="72000" tIns="36000" rIns="72000" bIns="36000" anchor="ctr"/>
          <a:lstStyle/>
          <a:p>
            <a:pPr algn="ctr">
              <a:buNone/>
            </a:pPr>
            <a:r>
              <a:rPr lang="ja-JP" sz="1600" b="1" dirty="0">
                <a:solidFill>
                  <a:srgbClr val="FFFFFF"/>
                </a:solidFill>
                <a:latin typeface="BIZ UDPGothic"/>
                <a:ea typeface="BIZ UDPGothic"/>
              </a:rPr>
              <a:t>4</a:t>
            </a:r>
          </a:p>
        </p:txBody>
      </p:sp>
      <p:sp>
        <p:nvSpPr>
          <p:cNvPr id="27" name="ActionCard3"/>
          <p:cNvSpPr/>
          <p:nvPr/>
        </p:nvSpPr>
        <p:spPr>
          <a:xfrm>
            <a:off x="965200" y="2463800"/>
            <a:ext cx="3276600" cy="12700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400" b="1" dirty="0">
                <a:solidFill>
                  <a:srgbClr val="2B2B2B"/>
                </a:solidFill>
                <a:latin typeface="BIZ UDPGothic"/>
                <a:ea typeface="BIZ UDPGothic"/>
              </a:rPr>
              <a:t>データ受領確認</a:t>
            </a:r>
          </a:p>
          <a:p>
            <a:pPr algn="l">
              <a:buNone/>
            </a:pPr>
            <a:r>
              <a:rPr lang="ja-JP" sz="1100" dirty="0">
                <a:solidFill>
                  <a:srgbClr val="5C5C5C"/>
                </a:solidFill>
                <a:latin typeface="BIZ UDPGothic"/>
                <a:ea typeface="BIZ UDPGothic"/>
              </a:rPr>
              <a:t>train.csvおよびカラム説明資料の最終受領確認</a:t>
            </a:r>
          </a:p>
        </p:txBody>
      </p:sp>
      <p:sp>
        <p:nvSpPr>
          <p:cNvPr id="43" name="Arrow3"/>
          <p:cNvSpPr/>
          <p:nvPr/>
        </p:nvSpPr>
        <p:spPr>
          <a:xfrm>
            <a:off x="4241800" y="2997200"/>
            <a:ext cx="279400" cy="203200"/>
          </a:xfrm>
          <a:prstGeom prst="rightArrow">
            <a:avLst/>
          </a:prstGeom>
          <a:solidFill>
            <a:srgbClr val="D4D4D4"/>
          </a:solidFill>
          <a:ln>
            <a:noFill/>
          </a:ln>
        </p:spPr>
        <p:txBody>
          <a:bodyPr wrap="square" lIns="72000" tIns="36000" rIns="72000" bIns="36000" anchor="ctr"/>
          <a:lstStyle/>
          <a:p>
            <a:endParaRPr lang="ja-JP"/>
          </a:p>
        </p:txBody>
      </p:sp>
      <p:sp>
        <p:nvSpPr>
          <p:cNvPr id="28" name="ActionNum4"/>
          <p:cNvSpPr/>
          <p:nvPr/>
        </p:nvSpPr>
        <p:spPr>
          <a:xfrm>
            <a:off x="4394200" y="2463800"/>
            <a:ext cx="457200" cy="457200"/>
          </a:xfrm>
          <a:prstGeom prst="ellipse">
            <a:avLst/>
          </a:prstGeom>
          <a:solidFill>
            <a:srgbClr val="A03028"/>
          </a:solidFill>
          <a:ln>
            <a:noFill/>
          </a:ln>
        </p:spPr>
        <p:txBody>
          <a:bodyPr wrap="square" lIns="72000" tIns="36000" rIns="72000" bIns="36000" anchor="ctr"/>
          <a:lstStyle/>
          <a:p>
            <a:pPr algn="ctr">
              <a:buNone/>
            </a:pPr>
            <a:r>
              <a:rPr lang="ja-JP" sz="1600" b="1" dirty="0">
                <a:solidFill>
                  <a:srgbClr val="FFFFFF"/>
                </a:solidFill>
                <a:latin typeface="BIZ UDPGothic"/>
                <a:ea typeface="BIZ UDPGothic"/>
              </a:rPr>
              <a:t>5</a:t>
            </a:r>
          </a:p>
        </p:txBody>
      </p:sp>
      <p:sp>
        <p:nvSpPr>
          <p:cNvPr id="29" name="ActionCard4"/>
          <p:cNvSpPr/>
          <p:nvPr/>
        </p:nvSpPr>
        <p:spPr>
          <a:xfrm>
            <a:off x="4902200" y="2463800"/>
            <a:ext cx="3276600" cy="12700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400" b="1" dirty="0">
                <a:solidFill>
                  <a:srgbClr val="2B2B2B"/>
                </a:solidFill>
                <a:latin typeface="BIZ UDPGothic"/>
                <a:ea typeface="BIZ UDPGothic"/>
              </a:rPr>
              <a:t>窓口・レビュー者確定</a:t>
            </a:r>
          </a:p>
          <a:p>
            <a:pPr algn="l">
              <a:buNone/>
            </a:pPr>
            <a:r>
              <a:rPr lang="ja-JP" sz="1100" dirty="0">
                <a:solidFill>
                  <a:srgbClr val="5C5C5C"/>
                </a:solidFill>
                <a:latin typeface="BIZ UDPGothic"/>
                <a:ea typeface="BIZ UDPGothic"/>
              </a:rPr>
              <a:t>コミュニケーション窓口およびレビュー参加者の確定</a:t>
            </a:r>
          </a:p>
        </p:txBody>
      </p:sp>
      <p:sp>
        <p:nvSpPr>
          <p:cNvPr id="44" name="Arrow4"/>
          <p:cNvSpPr/>
          <p:nvPr/>
        </p:nvSpPr>
        <p:spPr>
          <a:xfrm>
            <a:off x="8178800" y="2997200"/>
            <a:ext cx="279400" cy="203200"/>
          </a:xfrm>
          <a:prstGeom prst="rightArrow">
            <a:avLst/>
          </a:prstGeom>
          <a:solidFill>
            <a:srgbClr val="D4D4D4"/>
          </a:solidFill>
          <a:ln>
            <a:noFill/>
          </a:ln>
        </p:spPr>
        <p:txBody>
          <a:bodyPr wrap="square" lIns="72000" tIns="36000" rIns="72000" bIns="36000" anchor="ctr"/>
          <a:lstStyle/>
          <a:p>
            <a:endParaRPr lang="ja-JP"/>
          </a:p>
        </p:txBody>
      </p:sp>
      <p:sp>
        <p:nvSpPr>
          <p:cNvPr id="30" name="ActionNum5"/>
          <p:cNvSpPr/>
          <p:nvPr/>
        </p:nvSpPr>
        <p:spPr>
          <a:xfrm>
            <a:off x="8331200" y="2463800"/>
            <a:ext cx="457200" cy="457200"/>
          </a:xfrm>
          <a:prstGeom prst="ellipse">
            <a:avLst/>
          </a:prstGeom>
          <a:solidFill>
            <a:srgbClr val="A03028"/>
          </a:solidFill>
          <a:ln>
            <a:noFill/>
          </a:ln>
        </p:spPr>
        <p:txBody>
          <a:bodyPr wrap="square" lIns="72000" tIns="36000" rIns="72000" bIns="36000" anchor="ctr"/>
          <a:lstStyle/>
          <a:p>
            <a:pPr algn="ctr">
              <a:buNone/>
            </a:pPr>
            <a:r>
              <a:rPr lang="ja-JP" sz="1600" b="1" dirty="0">
                <a:solidFill>
                  <a:srgbClr val="FFFFFF"/>
                </a:solidFill>
                <a:latin typeface="BIZ UDPGothic"/>
                <a:ea typeface="BIZ UDPGothic"/>
              </a:rPr>
              <a:t>6</a:t>
            </a:r>
          </a:p>
        </p:txBody>
      </p:sp>
      <p:sp>
        <p:nvSpPr>
          <p:cNvPr id="31" name="ActionCard5"/>
          <p:cNvSpPr/>
          <p:nvPr/>
        </p:nvSpPr>
        <p:spPr>
          <a:xfrm>
            <a:off x="8839200" y="2463800"/>
            <a:ext cx="3276600" cy="1270000"/>
          </a:xfrm>
          <a:prstGeom prst="roundRect">
            <a:avLst/>
          </a:prstGeom>
          <a:solidFill>
            <a:srgbClr val="F7F7F7"/>
          </a:solidFill>
          <a:ln w="12700">
            <a:solidFill>
              <a:srgbClr val="E0E0E0"/>
            </a:solidFill>
          </a:ln>
        </p:spPr>
        <p:txBody>
          <a:bodyPr wrap="square" lIns="72000" tIns="36000" rIns="72000" bIns="36000" anchor="ctr"/>
          <a:lstStyle/>
          <a:p>
            <a:pPr algn="l">
              <a:buNone/>
            </a:pPr>
            <a:r>
              <a:rPr lang="ja-JP" sz="1400" b="1" dirty="0">
                <a:solidFill>
                  <a:srgbClr val="2B2B2B"/>
                </a:solidFill>
                <a:latin typeface="BIZ UDPGothic"/>
                <a:ea typeface="BIZ UDPGothic"/>
              </a:rPr>
              <a:t>実施計画開始</a:t>
            </a:r>
          </a:p>
          <a:p>
            <a:pPr algn="l">
              <a:buNone/>
            </a:pPr>
            <a:r>
              <a:rPr lang="ja-JP" sz="1100" dirty="0">
                <a:solidFill>
                  <a:srgbClr val="5C5C5C"/>
                </a:solidFill>
                <a:latin typeface="BIZ UDPGothic"/>
                <a:ea typeface="BIZ UDPGothic"/>
              </a:rPr>
              <a:t>2025-04-03を起点とした6週間の実施計画開始</a:t>
            </a:r>
          </a:p>
        </p:txBody>
      </p:sp>
      <p:sp>
        <p:nvSpPr>
          <p:cNvPr id="48" name="DownArrow"/>
          <p:cNvSpPr/>
          <p:nvPr/>
        </p:nvSpPr>
        <p:spPr>
          <a:xfrm>
            <a:off x="5842000" y="2209800"/>
            <a:ext cx="254000" cy="228600"/>
          </a:xfrm>
          <a:prstGeom prst="downArrow">
            <a:avLst/>
          </a:prstGeom>
          <a:solidFill>
            <a:srgbClr val="D4D4D4"/>
          </a:solidFill>
          <a:ln>
            <a:noFill/>
          </a:ln>
        </p:spPr>
        <p:txBody>
          <a:bodyPr wrap="square" lIns="72000" tIns="36000" rIns="72000" bIns="36000" anchor="ctr"/>
          <a:lstStyle/>
          <a:p>
            <a:endParaRPr lang="ja-JP"/>
          </a:p>
        </p:txBody>
      </p:sp>
      <p:sp>
        <p:nvSpPr>
          <p:cNvPr id="50" name="ClosingBox"/>
          <p:cNvSpPr/>
          <p:nvPr/>
        </p:nvSpPr>
        <p:spPr>
          <a:xfrm>
            <a:off x="457200" y="4165600"/>
            <a:ext cx="11277600" cy="825500"/>
          </a:xfrm>
          <a:prstGeom prst="roundRect">
            <a:avLst/>
          </a:prstGeom>
          <a:solidFill>
            <a:srgbClr val="2B2B2B"/>
          </a:solidFill>
          <a:ln>
            <a:noFill/>
          </a:ln>
        </p:spPr>
        <p:txBody>
          <a:bodyPr wrap="square" lIns="72000" tIns="36000" rIns="72000" bIns="36000" anchor="ctr"/>
          <a:lstStyle/>
          <a:p>
            <a:pPr algn="ctr">
              <a:buNone/>
            </a:pPr>
            <a:r>
              <a:rPr lang="ja-JP" sz="1200" dirty="0">
                <a:solidFill>
                  <a:srgbClr val="DDDDDD"/>
                </a:solidFill>
                <a:latin typeface="BIZ UDPGothic"/>
                <a:ea typeface="BIZ UDPGothic"/>
              </a:rPr>
              <a:t>ご承認後、株式会社データアステルは速やかにキックオフを実施し、</a:t>
            </a:r>
          </a:p>
          <a:p>
            <a:pPr algn="ctr">
              <a:buNone/>
            </a:pPr>
            <a:r>
              <a:rPr lang="ja-JP" sz="1200" b="1" dirty="0">
                <a:solidFill>
                  <a:srgbClr val="FFFFFF"/>
                </a:solidFill>
                <a:latin typeface="BIZ UDPGothic"/>
                <a:ea typeface="BIZ UDPGothic"/>
              </a:rPr>
              <a:t>初週内に前提条件・成果物運用・レビュー運営を確定のうえ、分析作業に着手する。</a:t>
            </a:r>
          </a:p>
        </p:txBody>
      </p:sp>
      <p:sp>
        <p:nvSpPr>
          <p:cNvPr id="55" name="Contact"/>
          <p:cNvSpPr/>
          <p:nvPr/>
        </p:nvSpPr>
        <p:spPr>
          <a:xfrm>
            <a:off x="457200" y="5080000"/>
            <a:ext cx="11277600" cy="381000"/>
          </a:xfrm>
          <a:prstGeom prst="rect">
            <a:avLst/>
          </a:prstGeom>
          <a:noFill/>
          <a:ln>
            <a:noFill/>
          </a:ln>
        </p:spPr>
        <p:txBody>
          <a:bodyPr wrap="square" lIns="72000" tIns="36000" rIns="72000" bIns="36000" anchor="ctr"/>
          <a:lstStyle/>
          <a:p>
            <a:pPr algn="ctr">
              <a:buNone/>
            </a:pPr>
            <a:r>
              <a:rPr lang="ja-JP" sz="1100" dirty="0">
                <a:solidFill>
                  <a:srgbClr val="8B8B8B"/>
                </a:solidFill>
                <a:latin typeface="BIZ UDPGothic"/>
                <a:ea typeface="BIZ UDPGothic"/>
              </a:rPr>
              <a:t>株式会社データアステル　データサイエンス部</a:t>
            </a:r>
          </a:p>
        </p:txBody>
      </p:sp>
      <p:sp>
        <p:nvSpPr>
          <p:cNvPr id="99" name="PageNum"/>
          <p:cNvSpPr/>
          <p:nvPr/>
        </p:nvSpPr>
        <p:spPr>
          <a:xfrm>
            <a:off x="11176000" y="6350000"/>
            <a:ext cx="635000" cy="254000"/>
          </a:xfrm>
          <a:prstGeom prst="rect">
            <a:avLst/>
          </a:prstGeom>
          <a:noFill/>
          <a:ln>
            <a:noFill/>
          </a:ln>
        </p:spPr>
        <p:txBody>
          <a:bodyPr wrap="square" lIns="72000" tIns="36000" rIns="72000" bIns="36000" anchor="ctr"/>
          <a:lstStyle/>
          <a:p>
            <a:pPr algn="r">
              <a:buNone/>
            </a:pPr>
            <a:r>
              <a:rPr lang="ja-JP" sz="1000" dirty="0">
                <a:solidFill>
                  <a:srgbClr val="8B8B8B"/>
                </a:solidFill>
                <a:latin typeface="BIZ UDPGothic"/>
                <a:ea typeface="BIZ UDPGothic"/>
              </a:rPr>
              <a:t>14</a:t>
            </a:r>
          </a:p>
        </p:txBody>
      </p:sp>
    </p:spTree>
    <p:extLst>
      <p:ext uri="{BB962C8B-B14F-4D97-AF65-F5344CB8AC3E}">
        <p14:creationId xmlns:p14="http://schemas.microsoft.com/office/powerpoint/2010/main" val="20883080"/>
      </p:ext>
    </p:extLst>
  </p:cSld>
  <p:clrMapOvr>
    <a:masterClrMapping/>
  </p:clrMapOvr>
</p:sld>
</file>

<file path=ppt/theme/theme1.xml><?xml version="1.0" encoding="utf-8"?>
<a:theme xmlns:a="http://schemas.openxmlformats.org/drawingml/2006/main" name="Office テーマ [1775545577313]">
  <a:themeElements>
    <a:clrScheme name="MonoProposal">
      <a:dk1>
        <a:srgbClr val="2B2B2B"/>
      </a:dk1>
      <a:lt1>
        <a:srgbClr val="FFFFFF"/>
      </a:lt1>
      <a:dk2>
        <a:srgbClr val="4A4A4A"/>
      </a:dk2>
      <a:lt2>
        <a:srgbClr val="F2F2F2"/>
      </a:lt2>
      <a:accent1>
        <a:srgbClr val="A03028"/>
      </a:accent1>
      <a:accent2>
        <a:srgbClr val="5C5C5C"/>
      </a:accent2>
      <a:accent3>
        <a:srgbClr val="8B8B8B"/>
      </a:accent3>
      <a:accent4>
        <a:srgbClr val="C0392B"/>
      </a:accent4>
      <a:accent5>
        <a:srgbClr val="3A3A3A"/>
      </a:accent5>
      <a:accent6>
        <a:srgbClr val="D4D4D4"/>
      </a:accent6>
      <a:hlink>
        <a:srgbClr val="467886"/>
      </a:hlink>
      <a:folHlink>
        <a:srgbClr val="96607D"/>
      </a:folHlink>
    </a:clrScheme>
    <a:fontScheme name="BIZ 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2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78863B6-D657-4FD4-9895-1E17D4C042EA}">
  <we:reference id="WA200010001" version="1.0.0.1" store="Omex" storeType="OMEX"/>
  <we:alternateReferences>
    <we:reference id="WA200010001" version="1.0.0.1" store="WA200010001" storeType="OMEX"/>
  </we:alternateReferences>
  <we:properties>
    <we:property name="claude.fileId" value="&quot;e638b5fd-47d7-4617-abf0-7bb67585f32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915</TotalTime>
  <Words>2125</Words>
  <Application>Microsoft Office PowerPoint</Application>
  <PresentationFormat>ワイド画面</PresentationFormat>
  <Paragraphs>348</Paragraphs>
  <Slides>14</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14</vt:i4>
      </vt:variant>
    </vt:vector>
  </HeadingPairs>
  <TitlesOfParts>
    <vt:vector size="17" baseType="lpstr">
      <vt:lpstr>BIZ UDPGothic</vt:lpstr>
      <vt:lpstr>Arial</vt:lpstr>
      <vt:lpstr>Office テーマ [1775545577313]</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3</cp:revision>
  <dcterms:created xsi:type="dcterms:W3CDTF">2026-04-07T07:03:22Z</dcterms:created>
  <dcterms:modified xsi:type="dcterms:W3CDTF">2026-04-08T00:50:29Z</dcterms:modified>
</cp:coreProperties>
</file>