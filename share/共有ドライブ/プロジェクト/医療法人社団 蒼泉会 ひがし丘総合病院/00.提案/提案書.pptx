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4" r:id="rId2"/>
    <p:sldId id="259" r:id="rId3"/>
    <p:sldId id="261" r:id="rId4"/>
    <p:sldId id="263" r:id="rId5"/>
    <p:sldId id="265" r:id="rId6"/>
    <p:sldId id="267" r:id="rId7"/>
    <p:sldId id="268" r:id="rId8"/>
    <p:sldId id="270" r:id="rId9"/>
    <p:sldId id="272" r:id="rId10"/>
    <p:sldId id="274" r:id="rId11"/>
    <p:sldId id="275" r:id="rId12"/>
    <p:sldId id="277" r:id="rId13"/>
    <p:sldId id="278" r:id="rId14"/>
    <p:sldId id="280" r:id="rId15"/>
    <p:sldId id="282"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561"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242745-340E-E00C-D1D2-AED930010CD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37DB11E-077B-84D7-B348-6B811A2939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7FED2B6-DBAA-AF32-62D3-3A2DCED17CD7}"/>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1D39E5D8-E206-653F-866A-8FFE893B03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F71692-366A-6132-1CA1-76958B3EB21A}"/>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3030653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520C15-A53D-52EB-9F67-19FFDE8D1CF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D807B60-E592-EF3E-D9E9-36267DFBEE4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6769E68-8526-B44F-52A3-C9DBAACCBDB8}"/>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A37E3108-8D95-06F8-63E9-10EA58908E0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EAC80F-45FB-AAF4-74D6-A75E964D3785}"/>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3813132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5166FE-608F-F329-6FDE-CDA52EF48AB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7D7EC5D-20B3-3C52-15AF-F2D66BE262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AFD975C-9529-A871-1144-0B92A58CDFDA}"/>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59DBCAC-FE22-D061-B465-947A84E1CA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191BBD-4047-7871-E930-82FA0D83383C}"/>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114844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48B8D2-9E21-240E-4CC9-5BBDD77C56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4DC3551-B1C1-6F61-CFD4-0C9E620BE2E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A54D940-C2D2-5557-6A11-17748064CB5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93077F3-D1F6-F4A6-CD28-97E9A31E1A00}"/>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577D3709-3284-58FB-71B7-A3A697EAD9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8D22FBC-97AF-7358-5EE4-E348236A07F0}"/>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2268508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F4B10F-D38B-23E6-9D26-6E8799978DF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5164D04-493C-004A-A91E-E7A506E6FE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9F94587C-8CE8-8F82-7F03-0DCA64BFC1C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7696345-08B8-8C13-27B1-AD03A21AC2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6A63902-AB5C-AEB6-E837-A58604FC11D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FE9B019-135D-7F21-0A85-6CEAB897AFA7}"/>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B888A022-B7AB-EF97-B091-D191BDCABAE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A6BDE86-16AA-71C9-FA3D-E016ACE2A0AD}"/>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1886094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47F467-61FB-032A-1BA4-3EC50D55498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6769BF5-132B-AD4F-0EF3-34E5FAA34E10}"/>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8AAB76EE-91F3-C71D-73DF-19595627629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EDA43C7-6F7C-6F92-CF61-A6BFC0958441}"/>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652748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252394-0845-C9B7-61DE-6C98066A65A8}"/>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86A167B8-7466-FD72-E3DA-BE2DF7CDAD1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3E665A5-0429-D526-245E-8E4651D987B9}"/>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800638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D4DE74-6A32-CA7B-73BC-23427D8E4E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EBF8984-352D-828C-0983-C6ADCC9E2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C9E22C2-DF94-7730-3853-F5036D438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7F8011D-E7CA-F132-AD85-9200F4860CC2}"/>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73880FA1-2CFD-DAAC-C1E7-95D93C0B4CF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8B9D2C2-3319-78FE-EE25-5BABF0D532FA}"/>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3131744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9E0E3D-FC3F-B328-546B-228B4DB2759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0C4D398-3087-D534-8CEB-6C379ED159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1308F69-CC0A-96F6-A472-10F5FD9C4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B1F87E5-DA06-58B9-A7C6-E9348044F8B9}"/>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0CAE584E-5D66-4177-A0A5-74D636F0FB9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88E0F4-6A52-70E8-8295-EF2CE8E31CAB}"/>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3340367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6A89DC-8BC2-12EF-BEC4-07F678776CE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03C8105-2D86-E4EF-3404-37F2601735B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2367125-6CD3-D8B8-2BE1-8DA75A61EDF7}"/>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D89A6CA4-E111-1486-4F4D-1B6E29F85D4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3370435-3606-D62D-3C50-50DE8405200A}"/>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3643089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A1AD61-53CD-B584-AD9F-B21D45EC05D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50E36CD-7261-16FD-51B2-02735122BFC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4831908-AE70-8873-7F42-A8676642AAEE}"/>
              </a:ext>
            </a:extLst>
          </p:cNvPr>
          <p:cNvSpPr>
            <a:spLocks noGrp="1"/>
          </p:cNvSpPr>
          <p:nvPr>
            <p:ph type="dt" sz="half" idx="10"/>
          </p:nvPr>
        </p:nvSpPr>
        <p:spPr/>
        <p:txBody>
          <a:body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4E26CA41-311C-3DF3-D27B-C30A7FC75D6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12C004A-32D7-804C-87E8-CCB2BA12A1E0}"/>
              </a:ext>
            </a:extLst>
          </p:cNvPr>
          <p:cNvSpPr>
            <a:spLocks noGrp="1"/>
          </p:cNvSpPr>
          <p:nvPr>
            <p:ph type="sldNum" sz="quarter" idx="12"/>
          </p:nvPr>
        </p:nvSpPr>
        <p:spPr/>
        <p:txBody>
          <a:bodyPr/>
          <a:lstStyle/>
          <a:p>
            <a:fld id="{082EE1F2-3F52-4795-9706-2CDB2A10F636}" type="slidenum">
              <a:rPr kumimoji="1" lang="ja-JP" altLang="en-US" smtClean="0"/>
              <a:t>‹#›</a:t>
            </a:fld>
            <a:endParaRPr kumimoji="1" lang="ja-JP" altLang="en-US"/>
          </a:p>
        </p:txBody>
      </p:sp>
    </p:spTree>
    <p:extLst>
      <p:ext uri="{BB962C8B-B14F-4D97-AF65-F5344CB8AC3E}">
        <p14:creationId xmlns:p14="http://schemas.microsoft.com/office/powerpoint/2010/main" val="4221652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D9D9599-1E85-8927-82FB-9038484740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C4F2FEE-4E45-2BDE-F796-BF88C84588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5F4B2A7-6C20-751B-B179-27466DB21F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64A2C4-DCD0-4C0D-8618-A7ED8B73C810}"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211C7BE9-407E-EEEA-A4F7-0813EC2EA6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431C1CE-97EE-4313-25B3-DEAD7B7CC0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2EE1F2-3F52-4795-9706-2CDB2A10F636}" type="slidenum">
              <a:rPr kumimoji="1" lang="ja-JP" altLang="en-US" smtClean="0"/>
              <a:t>‹#›</a:t>
            </a:fld>
            <a:endParaRPr kumimoji="1" lang="ja-JP" altLang="en-US"/>
          </a:p>
        </p:txBody>
      </p:sp>
      <p:sp>
        <p:nvSpPr>
          <p:cNvPr id="100" name="BottomAccent"/>
          <p:cNvSpPr/>
          <p:nvPr userDrawn="1"/>
        </p:nvSpPr>
        <p:spPr>
          <a:xfrm>
            <a:off x="0" y="6705600"/>
            <a:ext cx="12192000" cy="152400"/>
          </a:xfrm>
          <a:prstGeom prst="rect">
            <a:avLst/>
          </a:prstGeom>
          <a:solidFill>
            <a:srgbClr val="8B2500"/>
          </a:solidFill>
          <a:ln>
            <a:noFill/>
          </a:ln>
        </p:spPr>
        <p:txBody>
          <a:bodyPr/>
          <a:lstStyle/>
          <a:p>
            <a:endParaRPr lang="ja-JP"/>
          </a:p>
        </p:txBody>
      </p:sp>
      <p:sp>
        <p:nvSpPr>
          <p:cNvPr id="101" name="LeftAccent"/>
          <p:cNvSpPr/>
          <p:nvPr userDrawn="1"/>
        </p:nvSpPr>
        <p:spPr>
          <a:xfrm>
            <a:off x="0" y="0"/>
            <a:ext cx="76200" cy="6858000"/>
          </a:xfrm>
          <a:prstGeom prst="rect">
            <a:avLst/>
          </a:prstGeom>
          <a:solidFill>
            <a:srgbClr val="3D3D3D"/>
          </a:solidFill>
          <a:ln>
            <a:noFill/>
          </a:ln>
        </p:spPr>
        <p:txBody>
          <a:bodyPr/>
          <a:lstStyle/>
          <a:p>
            <a:endParaRPr lang="ja-JP"/>
          </a:p>
        </p:txBody>
      </p:sp>
    </p:spTree>
    <p:extLst>
      <p:ext uri="{BB962C8B-B14F-4D97-AF65-F5344CB8AC3E}">
        <p14:creationId xmlns:p14="http://schemas.microsoft.com/office/powerpoint/2010/main" val="8713644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D3D3D"/>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3D3D3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3D3D3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3D3D3D"/>
          </a:solidFill>
          <a:latin typeface="+mn-lt"/>
          <a:ea typeface="+mn-ea"/>
          <a:cs typeface="+mn-cs"/>
        </a:defRPr>
      </a:lvl9pPr>
    </p:bodyStyle>
    <p:otherStyle>
      <a:defPPr>
        <a:defRPr lang="ja-JP">
          <a:solidFill>
            <a:srgbClr val="3D3D3D"/>
          </a:solidFill>
        </a:defRPr>
      </a:defPPr>
      <a:lvl1pPr marL="0" algn="l" defTabSz="914400" rtl="0" eaLnBrk="1" latinLnBrk="0" hangingPunct="1">
        <a:defRPr kumimoji="1" sz="1800" kern="1200">
          <a:solidFill>
            <a:srgbClr val="3D3D3D"/>
          </a:solidFill>
          <a:latin typeface="+mn-lt"/>
          <a:ea typeface="+mn-ea"/>
          <a:cs typeface="+mn-cs"/>
        </a:defRPr>
      </a:lvl1pPr>
      <a:lvl2pPr marL="457200" algn="l" defTabSz="914400" rtl="0" eaLnBrk="1" latinLnBrk="0" hangingPunct="1">
        <a:defRPr kumimoji="1" sz="1800" kern="1200">
          <a:solidFill>
            <a:srgbClr val="3D3D3D"/>
          </a:solidFill>
          <a:latin typeface="+mn-lt"/>
          <a:ea typeface="+mn-ea"/>
          <a:cs typeface="+mn-cs"/>
        </a:defRPr>
      </a:lvl2pPr>
      <a:lvl3pPr marL="914400" algn="l" defTabSz="914400" rtl="0" eaLnBrk="1" latinLnBrk="0" hangingPunct="1">
        <a:defRPr kumimoji="1" sz="1800" kern="1200">
          <a:solidFill>
            <a:srgbClr val="3D3D3D"/>
          </a:solidFill>
          <a:latin typeface="+mn-lt"/>
          <a:ea typeface="+mn-ea"/>
          <a:cs typeface="+mn-cs"/>
        </a:defRPr>
      </a:lvl3pPr>
      <a:lvl4pPr marL="1371600" algn="l" defTabSz="914400" rtl="0" eaLnBrk="1" latinLnBrk="0" hangingPunct="1">
        <a:defRPr kumimoji="1" sz="1800" kern="1200">
          <a:solidFill>
            <a:srgbClr val="3D3D3D"/>
          </a:solidFill>
          <a:latin typeface="+mn-lt"/>
          <a:ea typeface="+mn-ea"/>
          <a:cs typeface="+mn-cs"/>
        </a:defRPr>
      </a:lvl4pPr>
      <a:lvl5pPr marL="1828800" algn="l" defTabSz="914400" rtl="0" eaLnBrk="1" latinLnBrk="0" hangingPunct="1">
        <a:defRPr kumimoji="1" sz="1800" kern="1200">
          <a:solidFill>
            <a:srgbClr val="3D3D3D"/>
          </a:solidFill>
          <a:latin typeface="+mn-lt"/>
          <a:ea typeface="+mn-ea"/>
          <a:cs typeface="+mn-cs"/>
        </a:defRPr>
      </a:lvl5pPr>
      <a:lvl6pPr marL="2286000" algn="l" defTabSz="914400" rtl="0" eaLnBrk="1" latinLnBrk="0" hangingPunct="1">
        <a:defRPr kumimoji="1" sz="1800" kern="1200">
          <a:solidFill>
            <a:srgbClr val="3D3D3D"/>
          </a:solidFill>
          <a:latin typeface="+mn-lt"/>
          <a:ea typeface="+mn-ea"/>
          <a:cs typeface="+mn-cs"/>
        </a:defRPr>
      </a:lvl6pPr>
      <a:lvl7pPr marL="2743200" algn="l" defTabSz="914400" rtl="0" eaLnBrk="1" latinLnBrk="0" hangingPunct="1">
        <a:defRPr kumimoji="1" sz="1800" kern="1200">
          <a:solidFill>
            <a:srgbClr val="3D3D3D"/>
          </a:solidFill>
          <a:latin typeface="+mn-lt"/>
          <a:ea typeface="+mn-ea"/>
          <a:cs typeface="+mn-cs"/>
        </a:defRPr>
      </a:lvl7pPr>
      <a:lvl8pPr marL="3200400" algn="l" defTabSz="914400" rtl="0" eaLnBrk="1" latinLnBrk="0" hangingPunct="1">
        <a:defRPr kumimoji="1" sz="1800" kern="1200">
          <a:solidFill>
            <a:srgbClr val="3D3D3D"/>
          </a:solidFill>
          <a:latin typeface="+mn-lt"/>
          <a:ea typeface="+mn-ea"/>
          <a:cs typeface="+mn-cs"/>
        </a:defRPr>
      </a:lvl8pPr>
      <a:lvl9pPr marL="3657600" algn="l" defTabSz="914400" rtl="0" eaLnBrk="1" latinLnBrk="0" hangingPunct="1">
        <a:defRPr kumimoji="1" sz="1800" kern="1200">
          <a:solidFill>
            <a:srgbClr val="3D3D3D"/>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7CB151-81E3-844E-E592-517B37CFBEDA}"/>
              </a:ext>
            </a:extLst>
          </p:cNvPr>
          <p:cNvSpPr>
            <a:spLocks noGrp="1"/>
          </p:cNvSpPr>
          <p:nvPr>
            <p:ph type="ctrTitle"/>
          </p:nvPr>
        </p:nvSpPr>
        <p:spPr>
          <a:xfrm>
            <a:off x="1524000" y="1778000"/>
            <a:ext cx="9144000" cy="1016000"/>
          </a:xfrm>
        </p:spPr>
        <p:txBody>
          <a:bodyPr/>
          <a:lstStyle/>
          <a:p>
            <a:pPr algn="ctr">
              <a:buNone/>
            </a:pPr>
            <a:r>
              <a:rPr lang="ja-JP" sz="3600" b="1" dirty="0">
                <a:solidFill>
                  <a:srgbClr val="1A1A1A"/>
                </a:solidFill>
                <a:latin typeface="BIZ UDPGothic"/>
                <a:ea typeface="BIZ UDPGothic"/>
              </a:rPr>
              <a:t>データ分析プロジェクト提案書</a:t>
            </a:r>
          </a:p>
        </p:txBody>
      </p:sp>
      <p:sp>
        <p:nvSpPr>
          <p:cNvPr id="3" name="字幕 2">
            <a:extLst>
              <a:ext uri="{FF2B5EF4-FFF2-40B4-BE49-F238E27FC236}">
                <a16:creationId xmlns:a16="http://schemas.microsoft.com/office/drawing/2014/main" id="{D029AB40-F50F-B0E2-606F-A840A2579DC2}"/>
              </a:ext>
            </a:extLst>
          </p:cNvPr>
          <p:cNvSpPr>
            <a:spLocks noGrp="1"/>
          </p:cNvSpPr>
          <p:nvPr>
            <p:ph type="subTitle" idx="1"/>
          </p:nvPr>
        </p:nvSpPr>
        <p:spPr>
          <a:xfrm>
            <a:off x="1524000" y="3429000"/>
            <a:ext cx="9144000" cy="1270000"/>
          </a:xfrm>
        </p:spPr>
        <p:txBody>
          <a:bodyPr/>
          <a:lstStyle/>
          <a:p>
            <a:pPr algn="ctr">
              <a:buNone/>
            </a:pPr>
            <a:r>
              <a:rPr lang="ja-JP" sz="1800" dirty="0">
                <a:solidFill>
                  <a:srgbClr val="4A4A4A"/>
                </a:solidFill>
                <a:latin typeface="BIZ UDPGothic"/>
                <a:ea typeface="BIZ UDPGothic"/>
              </a:rPr>
              <a:t>医療法人社団 蒼泉会 ひがし丘総合病院</a:t>
            </a:r>
          </a:p>
          <a:p>
            <a:pPr algn="ctr">
              <a:buNone/>
            </a:pPr>
            <a:r>
              <a:rPr lang="ja-JP" sz="1800" dirty="0">
                <a:solidFill>
                  <a:srgbClr val="4A4A4A"/>
                </a:solidFill>
                <a:latin typeface="BIZ UDPGothic"/>
                <a:ea typeface="BIZ UDPGothic"/>
              </a:rPr>
              <a:t>医療費関連 価格帯分類分析</a:t>
            </a:r>
          </a:p>
        </p:txBody>
      </p:sp>
      <p:sp>
        <p:nvSpPr>
          <p:cNvPr id="10" name="AccentLine"/>
          <p:cNvSpPr/>
          <p:nvPr/>
        </p:nvSpPr>
        <p:spPr>
          <a:xfrm>
            <a:off x="3810000" y="2984500"/>
            <a:ext cx="4572000" cy="36000"/>
          </a:xfrm>
          <a:prstGeom prst="rect">
            <a:avLst/>
          </a:prstGeom>
          <a:solidFill>
            <a:srgbClr val="8B2500"/>
          </a:solidFill>
          <a:ln>
            <a:noFill/>
          </a:ln>
        </p:spPr>
        <p:txBody>
          <a:bodyPr/>
          <a:lstStyle/>
          <a:p>
            <a:endParaRPr lang="ja-JP"/>
          </a:p>
        </p:txBody>
      </p:sp>
      <p:sp>
        <p:nvSpPr>
          <p:cNvPr id="11" name="DateText"/>
          <p:cNvSpPr/>
          <p:nvPr/>
        </p:nvSpPr>
        <p:spPr>
          <a:xfrm>
            <a:off x="7620000" y="5943600"/>
            <a:ext cx="4000000" cy="360000"/>
          </a:xfrm>
          <a:prstGeom prst="rect">
            <a:avLst/>
          </a:prstGeom>
          <a:noFill/>
          <a:ln>
            <a:noFill/>
          </a:ln>
        </p:spPr>
        <p:txBody>
          <a:bodyPr wrap="square" anchor="ctr"/>
          <a:lstStyle/>
          <a:p>
            <a:pPr algn="r">
              <a:buNone/>
            </a:pPr>
            <a:r>
              <a:rPr lang="ja-JP" sz="1400" dirty="0">
                <a:solidFill>
                  <a:srgbClr val="787878"/>
                </a:solidFill>
                <a:latin typeface="BIZ UDPゴシック"/>
                <a:ea typeface="BIZ UDPゴシック"/>
              </a:rPr>
              <a:t>契約開始日：2025-07-08</a:t>
            </a:r>
          </a:p>
        </p:txBody>
      </p:sp>
    </p:spTree>
    <p:extLst>
      <p:ext uri="{BB962C8B-B14F-4D97-AF65-F5344CB8AC3E}">
        <p14:creationId xmlns:p14="http://schemas.microsoft.com/office/powerpoint/2010/main" val="464468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8C1937-1300-EDC0-6248-3DD24E72A921}"/>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1. </a:t>
            </a:r>
            <a:r>
              <a:rPr kumimoji="1" lang="ja-JP" altLang="en-US" sz="2800" b="1">
                <a:solidFill>
                  <a:srgbClr val="8B2500"/>
                </a:solidFill>
                <a:latin typeface="BIZ UDPゴシック"/>
                <a:ea typeface="BIZ UDPゴシック"/>
              </a:rPr>
              <a:t>背景</a:t>
            </a:r>
          </a:p>
        </p:txBody>
      </p:sp>
      <p:sp>
        <p:nvSpPr>
          <p:cNvPr id="20" name="ContextBox"/>
          <p:cNvSpPr/>
          <p:nvPr/>
        </p:nvSpPr>
        <p:spPr>
          <a:xfrm>
            <a:off x="457200" y="1143000"/>
            <a:ext cx="11277600" cy="1371600"/>
          </a:xfrm>
          <a:prstGeom prst="roundRect">
            <a:avLst>
              <a:gd name="adj" fmla="val 5000"/>
            </a:avLst>
          </a:prstGeom>
          <a:solidFill>
            <a:srgbClr val="F2F0ED"/>
          </a:solidFill>
          <a:ln>
            <a:noFill/>
          </a:ln>
        </p:spPr>
        <p:txBody>
          <a:bodyPr wrap="square" lIns="91440" tIns="45720" rIns="91440" bIns="45720" anchor="ctr"/>
          <a:lstStyle/>
          <a:p>
            <a:pPr algn="l">
              <a:buNone/>
            </a:pPr>
            <a:r>
              <a:rPr lang="ja-JP" sz="1400" dirty="0">
                <a:solidFill>
                  <a:srgbClr val="1A1A1A"/>
                </a:solidFill>
                <a:latin typeface="BIZ UDPGothic"/>
                <a:ea typeface="BIZ UDPGothic"/>
              </a:rPr>
              <a:t>医療法人社団 蒼泉会 ひがし丘総合病院において、患者属性・生活習慣・地域情報にもとづく医療費関連の価格帯把握は、</a:t>
            </a:r>
          </a:p>
          <a:p>
            <a:pPr algn="l">
              <a:buNone/>
            </a:pPr>
            <a:r>
              <a:rPr lang="ja-JP" sz="1400" b="1" dirty="0">
                <a:solidFill>
                  <a:srgbClr val="8B2500"/>
                </a:solidFill>
                <a:latin typeface="BIZ UDPGothic"/>
                <a:ea typeface="BIZ UDPGothic"/>
              </a:rPr>
              <a:t>業務負荷の見通し、標準的な患者セグメント整理、今後の運営計画立案</a:t>
            </a:r>
            <a:r>
              <a:rPr lang="ja-JP" sz="1400" dirty="0">
                <a:solidFill>
                  <a:srgbClr val="1A1A1A"/>
                </a:solidFill>
                <a:latin typeface="BIZ UDPGothic"/>
                <a:ea typeface="BIZ UDPGothic"/>
              </a:rPr>
              <a:t>に資する重要テーマである。</a:t>
            </a:r>
          </a:p>
        </p:txBody>
      </p:sp>
      <p:sp>
        <p:nvSpPr>
          <p:cNvPr id="21" name="ProjBox"/>
          <p:cNvSpPr/>
          <p:nvPr/>
        </p:nvSpPr>
        <p:spPr>
          <a:xfrm>
            <a:off x="457200" y="2743200"/>
            <a:ext cx="11277600" cy="1143000"/>
          </a:xfrm>
          <a:prstGeom prst="roundRect">
            <a:avLst>
              <a:gd name="adj" fmla="val 5000"/>
            </a:avLst>
          </a:prstGeom>
          <a:solidFill>
            <a:srgbClr val="FFFFFF"/>
          </a:solidFill>
          <a:ln w="19050">
            <a:solidFill>
              <a:srgbClr val="8B2500"/>
            </a:solidFill>
          </a:ln>
        </p:spPr>
        <p:txBody>
          <a:bodyPr wrap="square" lIns="91440" tIns="45720" rIns="91440" bIns="45720" anchor="ctr"/>
          <a:lstStyle/>
          <a:p>
            <a:pPr algn="l">
              <a:buNone/>
            </a:pPr>
            <a:r>
              <a:rPr lang="ja-JP" sz="1400" b="1" dirty="0">
                <a:solidFill>
                  <a:srgbClr val="8B2500"/>
                </a:solidFill>
                <a:latin typeface="BIZ UDPGothic"/>
                <a:ea typeface="BIZ UDPGothic"/>
              </a:rPr>
              <a:t>本プロジェクトの位置づけ</a:t>
            </a:r>
          </a:p>
          <a:p>
            <a:pPr algn="l">
              <a:buNone/>
            </a:pPr>
            <a:r>
              <a:rPr lang="ja-JP" sz="1300" dirty="0">
                <a:solidFill>
                  <a:srgbClr val="3D3D3D"/>
                </a:solidFill>
                <a:latin typeface="BIZ UDPGothic"/>
                <a:ea typeface="BIZ UDPGothic"/>
              </a:rPr>
              <a:t>train.csv の患者単位データを対象に、目的変数 charges（価格帯 0:低、1:中、2:高）の3クラス分類分析を実施し、短期間で再現可能かつ説明可能な分析基盤を整備する。医療費関連セグメント把握に向けた前段の分析資産整備として位置づける。</a:t>
            </a:r>
          </a:p>
        </p:txBody>
      </p:sp>
      <p:sp>
        <p:nvSpPr>
          <p:cNvPr id="30" name="Obj0"/>
          <p:cNvSpPr/>
          <p:nvPr/>
        </p:nvSpPr>
        <p:spPr>
          <a:xfrm>
            <a:off x="457200" y="4114800"/>
            <a:ext cx="5334000" cy="600000"/>
          </a:xfrm>
          <a:prstGeom prst="roundRect">
            <a:avLst>
              <a:gd name="adj" fmla="val 5000"/>
            </a:avLst>
          </a:prstGeom>
          <a:solidFill>
            <a:srgbClr val="8B2500"/>
          </a:solidFill>
          <a:ln>
            <a:noFill/>
          </a:ln>
        </p:spPr>
        <p:txBody>
          <a:bodyPr wrap="square" lIns="91440" tIns="45720" rIns="91440" bIns="45720" anchor="ctr"/>
          <a:lstStyle/>
          <a:p>
            <a:pPr algn="ctr">
              <a:buNone/>
            </a:pPr>
            <a:r>
              <a:rPr lang="ja-JP" sz="1400" b="1" dirty="0">
                <a:solidFill>
                  <a:srgbClr val="FFFFFF"/>
                </a:solidFill>
                <a:latin typeface="BIZ UDPGothic"/>
                <a:ea typeface="BIZ UDPGothic"/>
              </a:rPr>
              <a:t>charges判定の主要因の定量把握</a:t>
            </a:r>
          </a:p>
        </p:txBody>
      </p:sp>
      <p:sp>
        <p:nvSpPr>
          <p:cNvPr id="31" name="Obj1"/>
          <p:cNvSpPr/>
          <p:nvPr/>
        </p:nvSpPr>
        <p:spPr>
          <a:xfrm>
            <a:off x="6400800" y="4114800"/>
            <a:ext cx="5334000" cy="600000"/>
          </a:xfrm>
          <a:prstGeom prst="roundRect">
            <a:avLst>
              <a:gd name="adj" fmla="val 5000"/>
            </a:avLst>
          </a:prstGeom>
          <a:solidFill>
            <a:srgbClr val="4A4A4A"/>
          </a:solidFill>
          <a:ln>
            <a:noFill/>
          </a:ln>
        </p:spPr>
        <p:txBody>
          <a:bodyPr wrap="square" lIns="91440" tIns="45720" rIns="91440" bIns="45720" anchor="ctr"/>
          <a:lstStyle/>
          <a:p>
            <a:pPr algn="ctr">
              <a:buNone/>
            </a:pPr>
            <a:r>
              <a:rPr lang="ja-JP" sz="1400" b="1" dirty="0">
                <a:solidFill>
                  <a:srgbClr val="FFFFFF"/>
                </a:solidFill>
                <a:latin typeface="BIZ UDPGothic"/>
                <a:ea typeface="BIZ UDPGothic"/>
              </a:rPr>
              <a:t>解釈可能な分析結果の整理</a:t>
            </a:r>
          </a:p>
        </p:txBody>
      </p:sp>
      <p:sp>
        <p:nvSpPr>
          <p:cNvPr id="32" name="Obj2"/>
          <p:cNvSpPr/>
          <p:nvPr/>
        </p:nvSpPr>
        <p:spPr>
          <a:xfrm>
            <a:off x="457200" y="4943400"/>
            <a:ext cx="5334000" cy="600000"/>
          </a:xfrm>
          <a:prstGeom prst="roundRect">
            <a:avLst>
              <a:gd name="adj" fmla="val 5000"/>
            </a:avLst>
          </a:prstGeom>
          <a:solidFill>
            <a:srgbClr val="4A4A4A"/>
          </a:solidFill>
          <a:ln>
            <a:noFill/>
          </a:ln>
        </p:spPr>
        <p:txBody>
          <a:bodyPr wrap="square" lIns="91440" tIns="45720" rIns="91440" bIns="45720" anchor="ctr"/>
          <a:lstStyle/>
          <a:p>
            <a:pPr algn="ctr">
              <a:buNone/>
            </a:pPr>
            <a:r>
              <a:rPr lang="ja-JP" sz="1400" b="1" dirty="0">
                <a:solidFill>
                  <a:srgbClr val="FFFFFF"/>
                </a:solidFill>
                <a:latin typeface="BIZ UDPGothic"/>
                <a:ea typeface="BIZ UDPGothic"/>
              </a:rPr>
              <a:t>再実行可能な分析手順の確立</a:t>
            </a:r>
          </a:p>
        </p:txBody>
      </p:sp>
      <p:sp>
        <p:nvSpPr>
          <p:cNvPr id="33" name="Obj3"/>
          <p:cNvSpPr/>
          <p:nvPr/>
        </p:nvSpPr>
        <p:spPr>
          <a:xfrm>
            <a:off x="6400800" y="4943400"/>
            <a:ext cx="5334000" cy="600000"/>
          </a:xfrm>
          <a:prstGeom prst="roundRect">
            <a:avLst>
              <a:gd name="adj" fmla="val 5000"/>
            </a:avLst>
          </a:prstGeom>
          <a:solidFill>
            <a:srgbClr val="8B2500"/>
          </a:solidFill>
          <a:ln>
            <a:noFill/>
          </a:ln>
        </p:spPr>
        <p:txBody>
          <a:bodyPr wrap="square" lIns="91440" tIns="45720" rIns="91440" bIns="45720" anchor="ctr"/>
          <a:lstStyle/>
          <a:p>
            <a:pPr algn="ctr">
              <a:buNone/>
            </a:pPr>
            <a:r>
              <a:rPr lang="ja-JP" sz="1400" b="1" dirty="0">
                <a:solidFill>
                  <a:srgbClr val="FFFFFF"/>
                </a:solidFill>
                <a:latin typeface="BIZ UDPGothic"/>
                <a:ea typeface="BIZ UDPGothic"/>
              </a:rPr>
              <a:t>個人情報配慮・臨床断定回避</a:t>
            </a:r>
          </a:p>
        </p:txBody>
      </p:sp>
      <p:sp>
        <p:nvSpPr>
          <p:cNvPr id="40" name="Note"/>
          <p:cNvSpPr/>
          <p:nvPr/>
        </p:nvSpPr>
        <p:spPr>
          <a:xfrm>
            <a:off x="457200" y="5715000"/>
            <a:ext cx="11277600" cy="360000"/>
          </a:xfrm>
          <a:prstGeom prst="rect">
            <a:avLst/>
          </a:prstGeom>
          <a:noFill/>
          <a:ln>
            <a:noFill/>
          </a:ln>
        </p:spPr>
        <p:txBody>
          <a:bodyPr wrap="square" anchor="t"/>
          <a:lstStyle/>
          <a:p>
            <a:pPr algn="l">
              <a:buNone/>
            </a:pPr>
            <a:r>
              <a:rPr lang="ja-JP" sz="1100" dirty="0">
                <a:solidFill>
                  <a:srgbClr val="787878"/>
                </a:solidFill>
                <a:latin typeface="BIZ UDPGothic"/>
                <a:ea typeface="BIZ UDPGothic"/>
              </a:rPr>
              <a:t>※ 本データには時系列情報や診療科別・疾患別情報は含まれていないため、再入院率、在院日数、病床利用率等の直接評価は対象外。</a:t>
            </a:r>
          </a:p>
        </p:txBody>
      </p:sp>
    </p:spTree>
    <p:extLst>
      <p:ext uri="{BB962C8B-B14F-4D97-AF65-F5344CB8AC3E}">
        <p14:creationId xmlns:p14="http://schemas.microsoft.com/office/powerpoint/2010/main" val="2165313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89740C-D5EC-07E3-D910-B9E9752CD7FF}"/>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2. </a:t>
            </a:r>
            <a:r>
              <a:rPr kumimoji="1" lang="ja-JP" altLang="en-US" sz="2800" b="1">
                <a:solidFill>
                  <a:srgbClr val="8B2500"/>
                </a:solidFill>
                <a:latin typeface="BIZ UDPゴシック"/>
                <a:ea typeface="BIZ UDPゴシック"/>
              </a:rPr>
              <a:t>目的</a:t>
            </a:r>
          </a:p>
        </p:txBody>
      </p:sp>
      <p:sp>
        <p:nvSpPr>
          <p:cNvPr id="20" name="PurposeMain"/>
          <p:cNvSpPr/>
          <p:nvPr/>
        </p:nvSpPr>
        <p:spPr>
          <a:xfrm>
            <a:off x="457200" y="1100000"/>
            <a:ext cx="11277600" cy="685800"/>
          </a:xfrm>
          <a:prstGeom prst="roundRect">
            <a:avLst/>
          </a:prstGeom>
          <a:solidFill>
            <a:srgbClr val="F2F0ED"/>
          </a:solidFill>
          <a:ln>
            <a:noFill/>
          </a:ln>
        </p:spPr>
        <p:txBody>
          <a:bodyPr wrap="square" lIns="91440" tIns="45720" rIns="91440" bIns="45720" anchor="ctr"/>
          <a:lstStyle/>
          <a:p>
            <a:pPr algn="l">
              <a:buNone/>
            </a:pPr>
            <a:r>
              <a:rPr lang="ja-JP" sz="1400" dirty="0">
                <a:solidFill>
                  <a:srgbClr val="1A1A1A"/>
                </a:solidFill>
                <a:latin typeface="BIZ UDPGothic"/>
                <a:ea typeface="BIZ UDPGothic"/>
              </a:rPr>
              <a:t>train.csv を用いて charges を目的変数とする分類分析を実施し、以下を達成する。</a:t>
            </a:r>
          </a:p>
        </p:txBody>
      </p:sp>
      <p:sp>
        <p:nvSpPr>
          <p:cNvPr id="30" name="Goal0"/>
          <p:cNvSpPr/>
          <p:nvPr/>
        </p:nvSpPr>
        <p:spPr>
          <a:xfrm>
            <a:off x="457200" y="1943000"/>
            <a:ext cx="2590800" cy="1143000"/>
          </a:xfrm>
          <a:prstGeom prst="roundRect">
            <a:avLst/>
          </a:prstGeom>
          <a:solidFill>
            <a:srgbClr val="8B2500"/>
          </a:solidFill>
          <a:ln>
            <a:noFill/>
          </a:ln>
        </p:spPr>
        <p:txBody>
          <a:bodyPr wrap="square" lIns="72000" tIns="36000" rIns="72000" bIns="36000" anchor="ctr"/>
          <a:lstStyle/>
          <a:p>
            <a:pPr algn="ctr">
              <a:buNone/>
            </a:pPr>
            <a:r>
              <a:rPr lang="ja-JP" sz="1300" dirty="0">
                <a:solidFill>
                  <a:srgbClr val="FFFFFF"/>
                </a:solidFill>
                <a:latin typeface="BIZ UDPGothic"/>
                <a:ea typeface="BIZ UDPGothic"/>
              </a:rPr>
              <a:t>価格帯分布と</a:t>
            </a:r>
          </a:p>
          <a:p>
            <a:pPr algn="ctr">
              <a:buNone/>
            </a:pPr>
            <a:r>
              <a:rPr lang="ja-JP" sz="1300" dirty="0">
                <a:solidFill>
                  <a:srgbClr val="FFFFFF"/>
                </a:solidFill>
                <a:latin typeface="BIZ UDPGothic"/>
                <a:ea typeface="BIZ UDPGothic"/>
              </a:rPr>
              <a:t>説明変数の</a:t>
            </a:r>
          </a:p>
          <a:p>
            <a:pPr algn="ctr">
              <a:buNone/>
            </a:pPr>
            <a:r>
              <a:rPr lang="ja-JP" sz="1300" dirty="0">
                <a:solidFill>
                  <a:srgbClr val="FFFFFF"/>
                </a:solidFill>
                <a:latin typeface="BIZ UDPGothic"/>
                <a:ea typeface="BIZ UDPGothic"/>
              </a:rPr>
              <a:t>関係を把握</a:t>
            </a:r>
          </a:p>
        </p:txBody>
      </p:sp>
      <p:sp>
        <p:nvSpPr>
          <p:cNvPr id="40" name="Num0"/>
          <p:cNvSpPr/>
          <p:nvPr/>
        </p:nvSpPr>
        <p:spPr>
          <a:xfrm>
            <a:off x="1572600" y="1763000"/>
            <a:ext cx="360000" cy="360000"/>
          </a:xfrm>
          <a:prstGeom prst="ellipse">
            <a:avLst/>
          </a:prstGeom>
          <a:solidFill>
            <a:srgbClr val="8B2500"/>
          </a:solidFill>
          <a:ln w="25400">
            <a:solidFill>
              <a:srgbClr val="FFFFFF"/>
            </a:solidFill>
          </a:ln>
        </p:spPr>
        <p:txBody>
          <a:bodyPr wrap="square" lIns="0" tIns="0" rIns="0" bIns="0" anchor="ctr"/>
          <a:lstStyle/>
          <a:p>
            <a:pPr algn="ctr">
              <a:buNone/>
            </a:pPr>
            <a:r>
              <a:rPr lang="ja-JP" sz="1600" b="1" dirty="0">
                <a:solidFill>
                  <a:srgbClr val="FFFFFF"/>
                </a:solidFill>
                <a:latin typeface="BIZ UDPGothic"/>
                <a:ea typeface="BIZ UDPGothic"/>
              </a:rPr>
              <a:t>1</a:t>
            </a:r>
          </a:p>
        </p:txBody>
      </p:sp>
      <p:sp>
        <p:nvSpPr>
          <p:cNvPr id="31" name="Goal1"/>
          <p:cNvSpPr/>
          <p:nvPr/>
        </p:nvSpPr>
        <p:spPr>
          <a:xfrm>
            <a:off x="3276600" y="1943000"/>
            <a:ext cx="2590800" cy="1143000"/>
          </a:xfrm>
          <a:prstGeom prst="roundRect">
            <a:avLst/>
          </a:prstGeom>
          <a:solidFill>
            <a:srgbClr val="4A4A4A"/>
          </a:solidFill>
          <a:ln>
            <a:noFill/>
          </a:ln>
        </p:spPr>
        <p:txBody>
          <a:bodyPr wrap="square" lIns="72000" tIns="36000" rIns="72000" bIns="36000" anchor="ctr"/>
          <a:lstStyle/>
          <a:p>
            <a:pPr algn="ctr">
              <a:buNone/>
            </a:pPr>
            <a:r>
              <a:rPr lang="ja-JP" sz="1300" dirty="0">
                <a:solidFill>
                  <a:srgbClr val="FFFFFF"/>
                </a:solidFill>
                <a:latin typeface="BIZ UDPGothic"/>
                <a:ea typeface="BIZ UDPGothic"/>
              </a:rPr>
              <a:t>実務で説明可能な</a:t>
            </a:r>
          </a:p>
          <a:p>
            <a:pPr algn="ctr">
              <a:buNone/>
            </a:pPr>
            <a:r>
              <a:rPr lang="ja-JP" sz="1300" dirty="0">
                <a:solidFill>
                  <a:srgbClr val="FFFFFF"/>
                </a:solidFill>
                <a:latin typeface="BIZ UDPGothic"/>
                <a:ea typeface="BIZ UDPGothic"/>
              </a:rPr>
              <a:t>分類モデルの</a:t>
            </a:r>
          </a:p>
          <a:p>
            <a:pPr algn="ctr">
              <a:buNone/>
            </a:pPr>
            <a:r>
              <a:rPr lang="ja-JP" sz="1300" dirty="0">
                <a:solidFill>
                  <a:srgbClr val="FFFFFF"/>
                </a:solidFill>
                <a:latin typeface="BIZ UDPGothic"/>
                <a:ea typeface="BIZ UDPGothic"/>
              </a:rPr>
              <a:t>初版を構築</a:t>
            </a:r>
          </a:p>
        </p:txBody>
      </p:sp>
      <p:sp>
        <p:nvSpPr>
          <p:cNvPr id="41" name="Num1"/>
          <p:cNvSpPr/>
          <p:nvPr/>
        </p:nvSpPr>
        <p:spPr>
          <a:xfrm>
            <a:off x="4392000" y="1763000"/>
            <a:ext cx="360000" cy="360000"/>
          </a:xfrm>
          <a:prstGeom prst="ellipse">
            <a:avLst/>
          </a:prstGeom>
          <a:solidFill>
            <a:srgbClr val="4A4A4A"/>
          </a:solidFill>
          <a:ln w="25400">
            <a:solidFill>
              <a:srgbClr val="FFFFFF"/>
            </a:solidFill>
          </a:ln>
        </p:spPr>
        <p:txBody>
          <a:bodyPr wrap="square" lIns="0" tIns="0" rIns="0" bIns="0" anchor="ctr"/>
          <a:lstStyle/>
          <a:p>
            <a:pPr algn="ctr">
              <a:buNone/>
            </a:pPr>
            <a:r>
              <a:rPr lang="ja-JP" sz="1600" b="1" dirty="0">
                <a:solidFill>
                  <a:srgbClr val="FFFFFF"/>
                </a:solidFill>
                <a:latin typeface="BIZ UDPGothic"/>
                <a:ea typeface="BIZ UDPGothic"/>
              </a:rPr>
              <a:t>2</a:t>
            </a:r>
          </a:p>
        </p:txBody>
      </p:sp>
      <p:sp>
        <p:nvSpPr>
          <p:cNvPr id="32" name="Goal2"/>
          <p:cNvSpPr/>
          <p:nvPr/>
        </p:nvSpPr>
        <p:spPr>
          <a:xfrm>
            <a:off x="6096000" y="1943000"/>
            <a:ext cx="2590800" cy="1143000"/>
          </a:xfrm>
          <a:prstGeom prst="roundRect">
            <a:avLst/>
          </a:prstGeom>
          <a:solidFill>
            <a:srgbClr val="8B2500"/>
          </a:solidFill>
          <a:ln>
            <a:noFill/>
          </a:ln>
        </p:spPr>
        <p:txBody>
          <a:bodyPr wrap="square" lIns="72000" tIns="36000" rIns="72000" bIns="36000" anchor="ctr"/>
          <a:lstStyle/>
          <a:p>
            <a:pPr algn="ctr">
              <a:buNone/>
            </a:pPr>
            <a:r>
              <a:rPr lang="ja-JP" sz="1300" dirty="0">
                <a:solidFill>
                  <a:srgbClr val="FFFFFF"/>
                </a:solidFill>
                <a:latin typeface="BIZ UDPGothic"/>
                <a:ea typeface="BIZ UDPGothic"/>
              </a:rPr>
              <a:t>重要変数・判定傾向</a:t>
            </a:r>
          </a:p>
          <a:p>
            <a:pPr algn="ctr">
              <a:buNone/>
            </a:pPr>
            <a:r>
              <a:rPr lang="ja-JP" sz="1300" dirty="0">
                <a:solidFill>
                  <a:srgbClr val="FFFFFF"/>
                </a:solidFill>
                <a:latin typeface="BIZ UDPGothic"/>
                <a:ea typeface="BIZ UDPGothic"/>
              </a:rPr>
              <a:t>業務上の示唆を</a:t>
            </a:r>
          </a:p>
          <a:p>
            <a:pPr algn="ctr">
              <a:buNone/>
            </a:pPr>
            <a:r>
              <a:rPr lang="ja-JP" sz="1300" dirty="0">
                <a:solidFill>
                  <a:srgbClr val="FFFFFF"/>
                </a:solidFill>
                <a:latin typeface="BIZ UDPGothic"/>
                <a:ea typeface="BIZ UDPGothic"/>
              </a:rPr>
              <a:t>明文化</a:t>
            </a:r>
          </a:p>
        </p:txBody>
      </p:sp>
      <p:sp>
        <p:nvSpPr>
          <p:cNvPr id="42" name="Num2"/>
          <p:cNvSpPr/>
          <p:nvPr/>
        </p:nvSpPr>
        <p:spPr>
          <a:xfrm>
            <a:off x="7211400" y="1763000"/>
            <a:ext cx="360000" cy="360000"/>
          </a:xfrm>
          <a:prstGeom prst="ellipse">
            <a:avLst/>
          </a:prstGeom>
          <a:solidFill>
            <a:srgbClr val="8B2500"/>
          </a:solidFill>
          <a:ln w="25400">
            <a:solidFill>
              <a:srgbClr val="FFFFFF"/>
            </a:solidFill>
          </a:ln>
        </p:spPr>
        <p:txBody>
          <a:bodyPr wrap="square" lIns="0" tIns="0" rIns="0" bIns="0" anchor="ctr"/>
          <a:lstStyle/>
          <a:p>
            <a:pPr algn="ctr">
              <a:buNone/>
            </a:pPr>
            <a:r>
              <a:rPr lang="ja-JP" sz="1600" b="1" dirty="0">
                <a:solidFill>
                  <a:srgbClr val="FFFFFF"/>
                </a:solidFill>
                <a:latin typeface="BIZ UDPGothic"/>
                <a:ea typeface="BIZ UDPGothic"/>
              </a:rPr>
              <a:t>3</a:t>
            </a:r>
          </a:p>
        </p:txBody>
      </p:sp>
      <p:sp>
        <p:nvSpPr>
          <p:cNvPr id="33" name="Goal3"/>
          <p:cNvSpPr/>
          <p:nvPr/>
        </p:nvSpPr>
        <p:spPr>
          <a:xfrm>
            <a:off x="8915400" y="1943000"/>
            <a:ext cx="2590800" cy="1143000"/>
          </a:xfrm>
          <a:prstGeom prst="roundRect">
            <a:avLst/>
          </a:prstGeom>
          <a:solidFill>
            <a:srgbClr val="4A4A4A"/>
          </a:solidFill>
          <a:ln>
            <a:noFill/>
          </a:ln>
        </p:spPr>
        <p:txBody>
          <a:bodyPr wrap="square" lIns="72000" tIns="36000" rIns="72000" bIns="36000" anchor="ctr"/>
          <a:lstStyle/>
          <a:p>
            <a:pPr algn="ctr">
              <a:buNone/>
            </a:pPr>
            <a:r>
              <a:rPr lang="ja-JP" sz="1300" dirty="0">
                <a:solidFill>
                  <a:srgbClr val="FFFFFF"/>
                </a:solidFill>
                <a:latin typeface="BIZ UDPGothic"/>
                <a:ea typeface="BIZ UDPGothic"/>
              </a:rPr>
              <a:t>後続の精緻化・運用</a:t>
            </a:r>
          </a:p>
          <a:p>
            <a:pPr algn="ctr">
              <a:buNone/>
            </a:pPr>
            <a:r>
              <a:rPr lang="ja-JP" sz="1300" dirty="0">
                <a:solidFill>
                  <a:srgbClr val="FFFFFF"/>
                </a:solidFill>
                <a:latin typeface="BIZ UDPGothic"/>
                <a:ea typeface="BIZ UDPGothic"/>
              </a:rPr>
              <a:t>検討に利用できる</a:t>
            </a:r>
          </a:p>
          <a:p>
            <a:pPr algn="ctr">
              <a:buNone/>
            </a:pPr>
            <a:r>
              <a:rPr lang="ja-JP" sz="1300" dirty="0">
                <a:solidFill>
                  <a:srgbClr val="FFFFFF"/>
                </a:solidFill>
                <a:latin typeface="BIZ UDPGothic"/>
                <a:ea typeface="BIZ UDPGothic"/>
              </a:rPr>
              <a:t>成果物を整備</a:t>
            </a:r>
          </a:p>
        </p:txBody>
      </p:sp>
      <p:sp>
        <p:nvSpPr>
          <p:cNvPr id="43" name="Num3"/>
          <p:cNvSpPr/>
          <p:nvPr/>
        </p:nvSpPr>
        <p:spPr>
          <a:xfrm>
            <a:off x="10030800" y="1763000"/>
            <a:ext cx="360000" cy="360000"/>
          </a:xfrm>
          <a:prstGeom prst="ellipse">
            <a:avLst/>
          </a:prstGeom>
          <a:solidFill>
            <a:srgbClr val="4A4A4A"/>
          </a:solidFill>
          <a:ln w="25400">
            <a:solidFill>
              <a:srgbClr val="FFFFFF"/>
            </a:solidFill>
          </a:ln>
        </p:spPr>
        <p:txBody>
          <a:bodyPr wrap="square" lIns="0" tIns="0" rIns="0" bIns="0" anchor="ctr"/>
          <a:lstStyle/>
          <a:p>
            <a:pPr algn="ctr">
              <a:buNone/>
            </a:pPr>
            <a:r>
              <a:rPr lang="ja-JP" sz="1600" b="1" dirty="0">
                <a:solidFill>
                  <a:srgbClr val="FFFFFF"/>
                </a:solidFill>
                <a:latin typeface="BIZ UDPGothic"/>
                <a:ea typeface="BIZ UDPGothic"/>
              </a:rPr>
              <a:t>4</a:t>
            </a:r>
          </a:p>
        </p:txBody>
      </p:sp>
      <p:sp>
        <p:nvSpPr>
          <p:cNvPr id="50" name="SepLine"/>
          <p:cNvSpPr/>
          <p:nvPr/>
        </p:nvSpPr>
        <p:spPr>
          <a:xfrm>
            <a:off x="457200" y="3330000"/>
            <a:ext cx="11277600" cy="28000"/>
          </a:xfrm>
          <a:prstGeom prst="rect">
            <a:avLst/>
          </a:prstGeom>
          <a:solidFill>
            <a:srgbClr val="C8C8C8"/>
          </a:solidFill>
          <a:ln>
            <a:noFill/>
          </a:ln>
        </p:spPr>
        <p:txBody>
          <a:bodyPr wrap="square" anchor="ctr"/>
          <a:lstStyle/>
          <a:p>
            <a:endParaRPr lang="ja-JP"/>
          </a:p>
        </p:txBody>
      </p:sp>
      <p:sp>
        <p:nvSpPr>
          <p:cNvPr id="51" name="SubHeader"/>
          <p:cNvSpPr/>
          <p:nvPr/>
        </p:nvSpPr>
        <p:spPr>
          <a:xfrm>
            <a:off x="457200" y="3400000"/>
            <a:ext cx="11277600" cy="400000"/>
          </a:xfrm>
          <a:prstGeom prst="rect">
            <a:avLst/>
          </a:prstGeom>
          <a:noFill/>
          <a:ln>
            <a:noFill/>
          </a:ln>
        </p:spPr>
        <p:txBody>
          <a:bodyPr wrap="square" lIns="91440" anchor="ctr"/>
          <a:lstStyle/>
          <a:p>
            <a:pPr algn="l">
              <a:buNone/>
            </a:pPr>
            <a:r>
              <a:rPr lang="ja-JP" sz="1600" b="1" dirty="0">
                <a:solidFill>
                  <a:srgbClr val="1A1A1A"/>
                </a:solidFill>
                <a:latin typeface="BIZ UDPGothic"/>
                <a:ea typeface="BIZ UDPGothic"/>
              </a:rPr>
              <a:t>業務・分析の両観点で達成を目指す事項</a:t>
            </a:r>
          </a:p>
        </p:txBody>
      </p:sp>
      <p:sp>
        <p:nvSpPr>
          <p:cNvPr id="60" name="Sub0"/>
          <p:cNvSpPr/>
          <p:nvPr/>
        </p:nvSpPr>
        <p:spPr>
          <a:xfrm>
            <a:off x="457200" y="3900000"/>
            <a:ext cx="3581400" cy="500000"/>
          </a:xfrm>
          <a:prstGeom prst="roundRect">
            <a:avLst/>
          </a:prstGeom>
          <a:solidFill>
            <a:srgbClr val="FFFFFF"/>
          </a:solidFill>
          <a:ln w="12700">
            <a:solidFill>
              <a:srgbClr val="8B2500"/>
            </a:solidFill>
          </a:ln>
        </p:spPr>
        <p:txBody>
          <a:bodyPr wrap="square" lIns="91440" tIns="36000" rIns="91440" bIns="36000" anchor="ctr"/>
          <a:lstStyle/>
          <a:p>
            <a:pPr algn="ctr">
              <a:buNone/>
            </a:pPr>
            <a:r>
              <a:rPr lang="ja-JP" sz="1200" b="1" dirty="0">
                <a:solidFill>
                  <a:srgbClr val="8B2500"/>
                </a:solidFill>
                <a:latin typeface="BIZ UDPGothic"/>
                <a:ea typeface="BIZ UDPGothic"/>
              </a:rPr>
              <a:t>✓ </a:t>
            </a:r>
            <a:r>
              <a:rPr lang="ja-JP" sz="1200" dirty="0">
                <a:solidFill>
                  <a:srgbClr val="3D3D3D"/>
                </a:solidFill>
                <a:latin typeface="BIZ UDPGothic"/>
                <a:ea typeface="BIZ UDPGothic"/>
              </a:rPr>
              <a:t>価格帯セグメント定義の確立</a:t>
            </a:r>
          </a:p>
        </p:txBody>
      </p:sp>
      <p:sp>
        <p:nvSpPr>
          <p:cNvPr id="61" name="Sub1"/>
          <p:cNvSpPr/>
          <p:nvPr/>
        </p:nvSpPr>
        <p:spPr>
          <a:xfrm>
            <a:off x="4267200" y="3900000"/>
            <a:ext cx="3581400" cy="500000"/>
          </a:xfrm>
          <a:prstGeom prst="roundRect">
            <a:avLst/>
          </a:prstGeom>
          <a:solidFill>
            <a:srgbClr val="FFFFFF"/>
          </a:solidFill>
          <a:ln w="12700">
            <a:solidFill>
              <a:srgbClr val="8B2500"/>
            </a:solidFill>
          </a:ln>
        </p:spPr>
        <p:txBody>
          <a:bodyPr wrap="square" lIns="91440" tIns="36000" rIns="91440" bIns="36000" anchor="ctr"/>
          <a:lstStyle/>
          <a:p>
            <a:pPr algn="ctr">
              <a:buNone/>
            </a:pPr>
            <a:r>
              <a:rPr lang="ja-JP" sz="1200" b="1" dirty="0">
                <a:solidFill>
                  <a:srgbClr val="8B2500"/>
                </a:solidFill>
                <a:latin typeface="BIZ UDPGothic"/>
                <a:ea typeface="BIZ UDPGothic"/>
              </a:rPr>
              <a:t>✓ </a:t>
            </a:r>
            <a:r>
              <a:rPr lang="ja-JP" sz="1200" dirty="0">
                <a:solidFill>
                  <a:srgbClr val="3D3D3D"/>
                </a:solidFill>
                <a:latin typeface="BIZ UDPGothic"/>
                <a:ea typeface="BIZ UDPGothic"/>
              </a:rPr>
              <a:t>高価格帯候補群の特徴把握</a:t>
            </a:r>
          </a:p>
        </p:txBody>
      </p:sp>
      <p:sp>
        <p:nvSpPr>
          <p:cNvPr id="62" name="Sub2"/>
          <p:cNvSpPr/>
          <p:nvPr/>
        </p:nvSpPr>
        <p:spPr>
          <a:xfrm>
            <a:off x="8077200" y="3900000"/>
            <a:ext cx="3581400" cy="500000"/>
          </a:xfrm>
          <a:prstGeom prst="roundRect">
            <a:avLst/>
          </a:prstGeom>
          <a:solidFill>
            <a:srgbClr val="FFFFFF"/>
          </a:solidFill>
          <a:ln w="12700">
            <a:solidFill>
              <a:srgbClr val="8B2500"/>
            </a:solidFill>
          </a:ln>
        </p:spPr>
        <p:txBody>
          <a:bodyPr wrap="square" lIns="91440" tIns="36000" rIns="91440" bIns="36000" anchor="ctr"/>
          <a:lstStyle/>
          <a:p>
            <a:pPr algn="ctr">
              <a:buNone/>
            </a:pPr>
            <a:r>
              <a:rPr lang="ja-JP" sz="1200" b="1" dirty="0">
                <a:solidFill>
                  <a:srgbClr val="8B2500"/>
                </a:solidFill>
                <a:latin typeface="BIZ UDPGothic"/>
                <a:ea typeface="BIZ UDPGothic"/>
              </a:rPr>
              <a:t>✓ </a:t>
            </a:r>
            <a:r>
              <a:rPr lang="ja-JP" sz="1200" dirty="0">
                <a:solidFill>
                  <a:srgbClr val="3D3D3D"/>
                </a:solidFill>
                <a:latin typeface="BIZ UDPGothic"/>
                <a:ea typeface="BIZ UDPGothic"/>
              </a:rPr>
              <a:t>前処理〜評価〜解釈の再現可能な分析手順の文書化</a:t>
            </a:r>
          </a:p>
        </p:txBody>
      </p:sp>
      <p:sp>
        <p:nvSpPr>
          <p:cNvPr id="63" name="Sub3"/>
          <p:cNvSpPr/>
          <p:nvPr/>
        </p:nvSpPr>
        <p:spPr>
          <a:xfrm>
            <a:off x="457200" y="4552400"/>
            <a:ext cx="3581400" cy="500000"/>
          </a:xfrm>
          <a:prstGeom prst="roundRect">
            <a:avLst/>
          </a:prstGeom>
          <a:solidFill>
            <a:srgbClr val="FFFFFF"/>
          </a:solidFill>
          <a:ln w="12700">
            <a:solidFill>
              <a:srgbClr val="4A4A4A"/>
            </a:solidFill>
          </a:ln>
        </p:spPr>
        <p:txBody>
          <a:bodyPr wrap="square" lIns="91440" tIns="36000" rIns="91440" bIns="36000" anchor="ctr"/>
          <a:lstStyle/>
          <a:p>
            <a:pPr algn="ctr">
              <a:buNone/>
            </a:pPr>
            <a:r>
              <a:rPr lang="ja-JP" sz="1200" b="1" dirty="0">
                <a:solidFill>
                  <a:srgbClr val="4A4A4A"/>
                </a:solidFill>
                <a:latin typeface="BIZ UDPGothic"/>
                <a:ea typeface="BIZ UDPGothic"/>
              </a:rPr>
              <a:t>✓ </a:t>
            </a:r>
            <a:r>
              <a:rPr lang="ja-JP" sz="1200" dirty="0">
                <a:solidFill>
                  <a:srgbClr val="3D3D3D"/>
                </a:solidFill>
                <a:latin typeface="BIZ UDPGothic"/>
                <a:ea typeface="BIZ UDPGothic"/>
              </a:rPr>
              <a:t>3クラス分類としての評価指標整備</a:t>
            </a:r>
          </a:p>
        </p:txBody>
      </p:sp>
      <p:sp>
        <p:nvSpPr>
          <p:cNvPr id="64" name="Sub4"/>
          <p:cNvSpPr/>
          <p:nvPr/>
        </p:nvSpPr>
        <p:spPr>
          <a:xfrm>
            <a:off x="4267200" y="4552400"/>
            <a:ext cx="3581400" cy="500000"/>
          </a:xfrm>
          <a:prstGeom prst="roundRect">
            <a:avLst/>
          </a:prstGeom>
          <a:solidFill>
            <a:srgbClr val="FFFFFF"/>
          </a:solidFill>
          <a:ln w="12700">
            <a:solidFill>
              <a:srgbClr val="4A4A4A"/>
            </a:solidFill>
          </a:ln>
        </p:spPr>
        <p:txBody>
          <a:bodyPr wrap="square" lIns="91440" tIns="36000" rIns="91440" bIns="36000" anchor="ctr"/>
          <a:lstStyle/>
          <a:p>
            <a:pPr algn="ctr">
              <a:buNone/>
            </a:pPr>
            <a:r>
              <a:rPr lang="ja-JP" sz="1200" b="1" dirty="0">
                <a:solidFill>
                  <a:srgbClr val="4A4A4A"/>
                </a:solidFill>
                <a:latin typeface="BIZ UDPGothic"/>
                <a:ea typeface="BIZ UDPGothic"/>
              </a:rPr>
              <a:t>✓ </a:t>
            </a:r>
            <a:r>
              <a:rPr lang="ja-JP" sz="1200" dirty="0">
                <a:solidFill>
                  <a:srgbClr val="3D3D3D"/>
                </a:solidFill>
                <a:latin typeface="BIZ UDPGothic"/>
                <a:ea typeface="BIZ UDPGothic"/>
              </a:rPr>
              <a:t>単純ベースラインを上回る性能確認</a:t>
            </a:r>
          </a:p>
        </p:txBody>
      </p:sp>
      <p:sp>
        <p:nvSpPr>
          <p:cNvPr id="65" name="Sub5"/>
          <p:cNvSpPr/>
          <p:nvPr/>
        </p:nvSpPr>
        <p:spPr>
          <a:xfrm>
            <a:off x="8077200" y="4552400"/>
            <a:ext cx="3581400" cy="500000"/>
          </a:xfrm>
          <a:prstGeom prst="roundRect">
            <a:avLst/>
          </a:prstGeom>
          <a:solidFill>
            <a:srgbClr val="FFFFFF"/>
          </a:solidFill>
          <a:ln w="12700">
            <a:solidFill>
              <a:srgbClr val="4A4A4A"/>
            </a:solidFill>
          </a:ln>
        </p:spPr>
        <p:txBody>
          <a:bodyPr wrap="square" lIns="91440" tIns="36000" rIns="91440" bIns="36000" anchor="ctr"/>
          <a:lstStyle/>
          <a:p>
            <a:pPr algn="ctr">
              <a:buNone/>
            </a:pPr>
            <a:r>
              <a:rPr lang="ja-JP" sz="1200" b="1" dirty="0">
                <a:solidFill>
                  <a:srgbClr val="4A4A4A"/>
                </a:solidFill>
                <a:latin typeface="BIZ UDPGothic"/>
                <a:ea typeface="BIZ UDPGothic"/>
              </a:rPr>
              <a:t>✓ </a:t>
            </a:r>
            <a:r>
              <a:rPr lang="ja-JP" sz="1200" dirty="0">
                <a:solidFill>
                  <a:srgbClr val="3D3D3D"/>
                </a:solidFill>
                <a:latin typeface="BIZ UDPGothic"/>
                <a:ea typeface="BIZ UDPGothic"/>
              </a:rPr>
              <a:t>変数重要度や主要傾向の説明可能性確保</a:t>
            </a:r>
          </a:p>
        </p:txBody>
      </p:sp>
    </p:spTree>
    <p:extLst>
      <p:ext uri="{BB962C8B-B14F-4D97-AF65-F5344CB8AC3E}">
        <p14:creationId xmlns:p14="http://schemas.microsoft.com/office/powerpoint/2010/main" val="4204266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53C78D-B957-BCA0-B6E4-1367682881D1}"/>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3. </a:t>
            </a:r>
            <a:r>
              <a:rPr kumimoji="1" lang="ja-JP" altLang="en-US" sz="2800" b="1">
                <a:solidFill>
                  <a:srgbClr val="8B2500"/>
                </a:solidFill>
                <a:latin typeface="BIZ UDPゴシック"/>
                <a:ea typeface="BIZ UDPゴシック"/>
              </a:rPr>
              <a:t>スコープ </a:t>
            </a:r>
            <a:r>
              <a:rPr kumimoji="1" lang="en-US" altLang="ja-JP" sz="2800" b="1">
                <a:solidFill>
                  <a:srgbClr val="8B2500"/>
                </a:solidFill>
                <a:latin typeface="BIZ UDPゴシック"/>
                <a:ea typeface="BIZ UDPゴシック"/>
              </a:rPr>
              <a:t>― </a:t>
            </a:r>
            <a:r>
              <a:rPr kumimoji="1" lang="ja-JP" altLang="en-US" sz="2800" b="1">
                <a:solidFill>
                  <a:srgbClr val="8B2500"/>
                </a:solidFill>
                <a:latin typeface="BIZ UDPゴシック"/>
                <a:ea typeface="BIZ UDPゴシック"/>
              </a:rPr>
              <a:t>対象範囲</a:t>
            </a:r>
          </a:p>
        </p:txBody>
      </p:sp>
      <p:sp>
        <p:nvSpPr>
          <p:cNvPr id="20" name="S20"/>
          <p:cNvSpPr/>
          <p:nvPr/>
        </p:nvSpPr>
        <p:spPr>
          <a:xfrm>
            <a:off x="457200" y="1100000"/>
            <a:ext cx="2133600" cy="500000"/>
          </a:xfrm>
          <a:prstGeom prst="roundRect">
            <a:avLst/>
          </a:prstGeom>
          <a:solidFill>
            <a:srgbClr val="8B2500"/>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対象データ</a:t>
            </a:r>
          </a:p>
        </p:txBody>
      </p:sp>
      <p:sp>
        <p:nvSpPr>
          <p:cNvPr id="21" name="S21"/>
          <p:cNvSpPr/>
          <p:nvPr/>
        </p:nvSpPr>
        <p:spPr>
          <a:xfrm>
            <a:off x="457200" y="1650000"/>
            <a:ext cx="2133600" cy="2100000"/>
          </a:xfrm>
          <a:prstGeom prst="roundRect">
            <a:avLst/>
          </a:prstGeom>
          <a:solidFill>
            <a:srgbClr val="F2F0ED"/>
          </a:solidFill>
          <a:ln>
            <a:noFill/>
          </a:ln>
        </p:spPr>
        <p:txBody>
          <a:bodyPr wrap="square" lIns="72000" tIns="54000" rIns="72000" bIns="54000" anchor="t"/>
          <a:lstStyle/>
          <a:p>
            <a:pPr marL="228600" indent="-228600">
              <a:buFont typeface="Arial"/>
              <a:buChar char="•"/>
            </a:pPr>
            <a:r>
              <a:rPr lang="ja-JP" sz="1100" dirty="0">
                <a:solidFill>
                  <a:srgbClr val="3D3D3D"/>
                </a:solidFill>
                <a:latin typeface="BIZ UDPGothic"/>
                <a:ea typeface="BIZ UDPGothic"/>
              </a:rPr>
              <a:t>train.csv を用いた単票レベル分析</a:t>
            </a:r>
          </a:p>
          <a:p>
            <a:pPr marL="228600" indent="-228600">
              <a:buFont typeface="Arial"/>
              <a:buChar char="•"/>
            </a:pPr>
            <a:r>
              <a:rPr lang="ja-JP" sz="1100" dirty="0">
                <a:solidFill>
                  <a:srgbClr val="3D3D3D"/>
                </a:solidFill>
                <a:latin typeface="BIZ UDPGothic"/>
                <a:ea typeface="BIZ UDPGothic"/>
              </a:rPr>
              <a:t>charges を目的変数とする3クラス分類</a:t>
            </a:r>
          </a:p>
        </p:txBody>
      </p:sp>
      <p:sp>
        <p:nvSpPr>
          <p:cNvPr id="22" name="S22"/>
          <p:cNvSpPr/>
          <p:nvPr/>
        </p:nvSpPr>
        <p:spPr>
          <a:xfrm>
            <a:off x="2743200" y="1100000"/>
            <a:ext cx="2133600" cy="500000"/>
          </a:xfrm>
          <a:prstGeom prst="roundRect">
            <a:avLst/>
          </a:prstGeom>
          <a:solidFill>
            <a:srgbClr val="4A4A4A"/>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データ確認</a:t>
            </a:r>
          </a:p>
        </p:txBody>
      </p:sp>
      <p:sp>
        <p:nvSpPr>
          <p:cNvPr id="23" name="S23"/>
          <p:cNvSpPr/>
          <p:nvPr/>
        </p:nvSpPr>
        <p:spPr>
          <a:xfrm>
            <a:off x="2743200" y="1650000"/>
            <a:ext cx="2133600" cy="2100000"/>
          </a:xfrm>
          <a:prstGeom prst="roundRect">
            <a:avLst/>
          </a:prstGeom>
          <a:solidFill>
            <a:srgbClr val="F2F0ED"/>
          </a:solidFill>
          <a:ln>
            <a:noFill/>
          </a:ln>
        </p:spPr>
        <p:txBody>
          <a:bodyPr wrap="square" lIns="72000" tIns="54000" rIns="72000" bIns="54000" anchor="t"/>
          <a:lstStyle/>
          <a:p>
            <a:pPr marL="228600" indent="-228600">
              <a:buFont typeface="Arial"/>
              <a:buChar char="•"/>
            </a:pPr>
            <a:r>
              <a:rPr lang="ja-JP" sz="1100" dirty="0">
                <a:solidFill>
                  <a:srgbClr val="3D3D3D"/>
                </a:solidFill>
                <a:latin typeface="BIZ UDPGothic"/>
                <a:ea typeface="BIZ UDPGothic"/>
              </a:rPr>
              <a:t>型確認・列定義確認</a:t>
            </a:r>
          </a:p>
          <a:p>
            <a:pPr marL="228600" indent="-228600">
              <a:buFont typeface="Arial"/>
              <a:buChar char="•"/>
            </a:pPr>
            <a:r>
              <a:rPr lang="ja-JP" sz="1100" dirty="0">
                <a:solidFill>
                  <a:srgbClr val="3D3D3D"/>
                </a:solidFill>
                <a:latin typeface="BIZ UDPGothic"/>
                <a:ea typeface="BIZ UDPGothic"/>
              </a:rPr>
              <a:t>欠損確認・値分布確認</a:t>
            </a:r>
          </a:p>
        </p:txBody>
      </p:sp>
      <p:sp>
        <p:nvSpPr>
          <p:cNvPr id="24" name="S24"/>
          <p:cNvSpPr/>
          <p:nvPr/>
        </p:nvSpPr>
        <p:spPr>
          <a:xfrm>
            <a:off x="5029200" y="1100000"/>
            <a:ext cx="2133600" cy="500000"/>
          </a:xfrm>
          <a:prstGeom prst="roundRect">
            <a:avLst/>
          </a:prstGeom>
          <a:solidFill>
            <a:srgbClr val="4A4A4A"/>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前処理</a:t>
            </a:r>
          </a:p>
        </p:txBody>
      </p:sp>
      <p:sp>
        <p:nvSpPr>
          <p:cNvPr id="25" name="S25"/>
          <p:cNvSpPr/>
          <p:nvPr/>
        </p:nvSpPr>
        <p:spPr>
          <a:xfrm>
            <a:off x="5029200" y="1650000"/>
            <a:ext cx="2133600" cy="2100000"/>
          </a:xfrm>
          <a:prstGeom prst="roundRect">
            <a:avLst/>
          </a:prstGeom>
          <a:solidFill>
            <a:srgbClr val="F2F0ED"/>
          </a:solidFill>
          <a:ln>
            <a:noFill/>
          </a:ln>
        </p:spPr>
        <p:txBody>
          <a:bodyPr wrap="square" lIns="72000" tIns="54000" rIns="72000" bIns="54000" anchor="t"/>
          <a:lstStyle/>
          <a:p>
            <a:pPr marL="228600" indent="-228600">
              <a:buFont typeface="Arial"/>
              <a:buChar char="•"/>
            </a:pPr>
            <a:r>
              <a:rPr lang="ja-JP" sz="1100" dirty="0">
                <a:solidFill>
                  <a:srgbClr val="3D3D3D"/>
                </a:solidFill>
                <a:latin typeface="BIZ UDPGothic"/>
                <a:ea typeface="BIZ UDPGothic"/>
              </a:rPr>
              <a:t>識別子列の除外</a:t>
            </a:r>
          </a:p>
          <a:p>
            <a:pPr marL="228600" indent="-228600">
              <a:buFont typeface="Arial"/>
              <a:buChar char="•"/>
            </a:pPr>
            <a:r>
              <a:rPr lang="ja-JP" sz="1100" dirty="0">
                <a:solidFill>
                  <a:srgbClr val="3D3D3D"/>
                </a:solidFill>
                <a:latin typeface="BIZ UDPGothic"/>
                <a:ea typeface="BIZ UDPGothic"/>
              </a:rPr>
              <a:t>欠損値補完（中央値/最頻値）</a:t>
            </a:r>
          </a:p>
          <a:p>
            <a:pPr marL="228600" indent="-228600">
              <a:buFont typeface="Arial"/>
              <a:buChar char="•"/>
            </a:pPr>
            <a:r>
              <a:rPr lang="ja-JP" sz="1100" dirty="0">
                <a:solidFill>
                  <a:srgbClr val="3D3D3D"/>
                </a:solidFill>
                <a:latin typeface="BIZ UDPGothic"/>
                <a:ea typeface="BIZ UDPGothic"/>
              </a:rPr>
              <a:t>日付由来特徴量（有効時のみ）</a:t>
            </a:r>
          </a:p>
          <a:p>
            <a:pPr marL="228600" indent="-228600">
              <a:buFont typeface="Arial"/>
              <a:buChar char="•"/>
            </a:pPr>
            <a:r>
              <a:rPr lang="ja-JP" sz="1100" dirty="0">
                <a:solidFill>
                  <a:srgbClr val="3D3D3D"/>
                </a:solidFill>
                <a:latin typeface="BIZ UDPGothic"/>
                <a:ea typeface="BIZ UDPGothic"/>
              </a:rPr>
              <a:t>低Cardinality OHE / 高Cardinality除外</a:t>
            </a:r>
          </a:p>
        </p:txBody>
      </p:sp>
      <p:sp>
        <p:nvSpPr>
          <p:cNvPr id="26" name="S26"/>
          <p:cNvSpPr/>
          <p:nvPr/>
        </p:nvSpPr>
        <p:spPr>
          <a:xfrm>
            <a:off x="7315200" y="1100000"/>
            <a:ext cx="2133600" cy="500000"/>
          </a:xfrm>
          <a:prstGeom prst="roundRect">
            <a:avLst/>
          </a:prstGeom>
          <a:solidFill>
            <a:srgbClr val="8B2500"/>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モデリング・評価</a:t>
            </a:r>
          </a:p>
        </p:txBody>
      </p:sp>
      <p:sp>
        <p:nvSpPr>
          <p:cNvPr id="27" name="S27"/>
          <p:cNvSpPr/>
          <p:nvPr/>
        </p:nvSpPr>
        <p:spPr>
          <a:xfrm>
            <a:off x="7315200" y="1650000"/>
            <a:ext cx="2133600" cy="2100000"/>
          </a:xfrm>
          <a:prstGeom prst="roundRect">
            <a:avLst/>
          </a:prstGeom>
          <a:solidFill>
            <a:srgbClr val="F2F0ED"/>
          </a:solidFill>
          <a:ln>
            <a:noFill/>
          </a:ln>
        </p:spPr>
        <p:txBody>
          <a:bodyPr wrap="square" lIns="72000" tIns="54000" rIns="72000" bIns="54000" anchor="t"/>
          <a:lstStyle/>
          <a:p>
            <a:pPr marL="228600" indent="-228600">
              <a:buFont typeface="Arial"/>
              <a:buChar char="•"/>
            </a:pPr>
            <a:r>
              <a:rPr lang="ja-JP" sz="1100" dirty="0">
                <a:solidFill>
                  <a:srgbClr val="3D3D3D"/>
                </a:solidFill>
                <a:latin typeface="BIZ UDPGothic"/>
                <a:ea typeface="BIZ UDPGothic"/>
              </a:rPr>
              <a:t>ベースライン＋初期モデル構築</a:t>
            </a:r>
          </a:p>
          <a:p>
            <a:pPr marL="228600" indent="-228600">
              <a:buFont typeface="Arial"/>
              <a:buChar char="•"/>
            </a:pPr>
            <a:r>
              <a:rPr lang="ja-JP" sz="1100" dirty="0">
                <a:solidFill>
                  <a:srgbClr val="3D3D3D"/>
                </a:solidFill>
                <a:latin typeface="BIZ UDPGothic"/>
                <a:ea typeface="BIZ UDPGothic"/>
              </a:rPr>
              <a:t>混同行列、Accuracy、Macro F1</a:t>
            </a:r>
          </a:p>
          <a:p>
            <a:pPr marL="228600" indent="-228600">
              <a:buFont typeface="Arial"/>
              <a:buChar char="•"/>
            </a:pPr>
            <a:r>
              <a:rPr lang="ja-JP" sz="1100" dirty="0">
                <a:solidFill>
                  <a:srgbClr val="3D3D3D"/>
                </a:solidFill>
                <a:latin typeface="BIZ UDPGothic"/>
                <a:ea typeface="BIZ UDPGothic"/>
              </a:rPr>
              <a:t>クラス別 Precision / Recall</a:t>
            </a:r>
          </a:p>
        </p:txBody>
      </p:sp>
      <p:sp>
        <p:nvSpPr>
          <p:cNvPr id="28" name="S28"/>
          <p:cNvSpPr/>
          <p:nvPr/>
        </p:nvSpPr>
        <p:spPr>
          <a:xfrm>
            <a:off x="9601200" y="1100000"/>
            <a:ext cx="2133600" cy="500000"/>
          </a:xfrm>
          <a:prstGeom prst="roundRect">
            <a:avLst/>
          </a:prstGeom>
          <a:solidFill>
            <a:srgbClr val="4A4A4A"/>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解釈・報告</a:t>
            </a:r>
          </a:p>
        </p:txBody>
      </p:sp>
      <p:sp>
        <p:nvSpPr>
          <p:cNvPr id="29" name="S29"/>
          <p:cNvSpPr/>
          <p:nvPr/>
        </p:nvSpPr>
        <p:spPr>
          <a:xfrm>
            <a:off x="9601200" y="1650000"/>
            <a:ext cx="2133600" cy="2100000"/>
          </a:xfrm>
          <a:prstGeom prst="roundRect">
            <a:avLst/>
          </a:prstGeom>
          <a:solidFill>
            <a:srgbClr val="F2F0ED"/>
          </a:solidFill>
          <a:ln>
            <a:noFill/>
          </a:ln>
        </p:spPr>
        <p:txBody>
          <a:bodyPr wrap="square" lIns="72000" tIns="54000" rIns="72000" bIns="54000" anchor="t"/>
          <a:lstStyle/>
          <a:p>
            <a:pPr marL="228600" indent="-228600">
              <a:buFont typeface="Arial"/>
              <a:buChar char="•"/>
            </a:pPr>
            <a:r>
              <a:rPr lang="ja-JP" sz="1100" dirty="0">
                <a:solidFill>
                  <a:srgbClr val="3D3D3D"/>
                </a:solidFill>
                <a:latin typeface="BIZ UDPGothic"/>
                <a:ea typeface="BIZ UDPGothic"/>
              </a:rPr>
              <a:t>重要変数・属性別傾向整理</a:t>
            </a:r>
          </a:p>
          <a:p>
            <a:pPr marL="228600" indent="-228600">
              <a:buFont typeface="Arial"/>
              <a:buChar char="•"/>
            </a:pPr>
            <a:r>
              <a:rPr lang="ja-JP" sz="1100" dirty="0">
                <a:solidFill>
                  <a:srgbClr val="3D3D3D"/>
                </a:solidFill>
                <a:latin typeface="BIZ UDPGothic"/>
                <a:ea typeface="BIZ UDPGothic"/>
              </a:rPr>
              <a:t>業務示唆整理</a:t>
            </a:r>
          </a:p>
          <a:p>
            <a:pPr marL="228600" indent="-228600">
              <a:buFont typeface="Arial"/>
              <a:buChar char="•"/>
            </a:pPr>
            <a:r>
              <a:rPr lang="ja-JP" sz="1100" dirty="0">
                <a:solidFill>
                  <a:srgbClr val="3D3D3D"/>
                </a:solidFill>
                <a:latin typeface="BIZ UDPGothic"/>
                <a:ea typeface="BIZ UDPGothic"/>
              </a:rPr>
              <a:t>中間報告・最終報告</a:t>
            </a:r>
          </a:p>
        </p:txBody>
      </p:sp>
      <p:sp>
        <p:nvSpPr>
          <p:cNvPr id="50" name="S50"/>
          <p:cNvSpPr/>
          <p:nvPr/>
        </p:nvSpPr>
        <p:spPr>
          <a:xfrm>
            <a:off x="457200" y="3950000"/>
            <a:ext cx="11277600" cy="20000"/>
          </a:xfrm>
          <a:prstGeom prst="rect">
            <a:avLst/>
          </a:prstGeom>
          <a:solidFill>
            <a:srgbClr val="C8C8C8"/>
          </a:solidFill>
          <a:ln>
            <a:noFill/>
          </a:ln>
        </p:spPr>
        <p:txBody>
          <a:bodyPr wrap="square" anchor="ctr"/>
          <a:lstStyle/>
          <a:p>
            <a:endParaRPr lang="ja-JP"/>
          </a:p>
        </p:txBody>
      </p:sp>
      <p:sp>
        <p:nvSpPr>
          <p:cNvPr id="51" name="S51"/>
          <p:cNvSpPr/>
          <p:nvPr/>
        </p:nvSpPr>
        <p:spPr>
          <a:xfrm>
            <a:off x="457200" y="4050000"/>
            <a:ext cx="5486400" cy="500000"/>
          </a:xfrm>
          <a:prstGeom prst="roundRect">
            <a:avLst/>
          </a:prstGeom>
          <a:solidFill>
            <a:srgbClr val="FFFFFF"/>
          </a:solidFill>
          <a:ln w="12700">
            <a:solidFill>
              <a:srgbClr val="8B2500"/>
            </a:solidFill>
          </a:ln>
        </p:spPr>
        <p:txBody>
          <a:bodyPr wrap="square" lIns="91440" tIns="36000" rIns="91440" bIns="36000" anchor="ctr"/>
          <a:lstStyle/>
          <a:p>
            <a:pPr>
              <a:buNone/>
            </a:pPr>
            <a:r>
              <a:rPr lang="ja-JP" sz="1300" b="1" dirty="0">
                <a:solidFill>
                  <a:srgbClr val="8B2500"/>
                </a:solidFill>
                <a:latin typeface="BIZ UDPGothic"/>
                <a:ea typeface="BIZ UDPGothic"/>
              </a:rPr>
              <a:t>学習用・評価用データ分割</a:t>
            </a:r>
          </a:p>
          <a:p>
            <a:pPr marL="228600" indent="-228600">
              <a:buFont typeface="Arial"/>
              <a:buChar char="•"/>
            </a:pPr>
            <a:r>
              <a:rPr lang="ja-JP" sz="1100" dirty="0">
                <a:solidFill>
                  <a:srgbClr val="3D3D3D"/>
                </a:solidFill>
                <a:latin typeface="BIZ UDPGothic"/>
                <a:ea typeface="BIZ UDPGothic"/>
              </a:rPr>
              <a:t>Hold-out分割によりモデル汎化性能を検証</a:t>
            </a:r>
          </a:p>
        </p:txBody>
      </p:sp>
      <p:sp>
        <p:nvSpPr>
          <p:cNvPr id="52" name="S52"/>
          <p:cNvSpPr/>
          <p:nvPr/>
        </p:nvSpPr>
        <p:spPr>
          <a:xfrm>
            <a:off x="6172200" y="4050000"/>
            <a:ext cx="5562600" cy="500000"/>
          </a:xfrm>
          <a:prstGeom prst="roundRect">
            <a:avLst/>
          </a:prstGeom>
          <a:solidFill>
            <a:srgbClr val="FFFFFF"/>
          </a:solidFill>
          <a:ln w="12700">
            <a:solidFill>
              <a:srgbClr val="4A4A4A"/>
            </a:solidFill>
          </a:ln>
        </p:spPr>
        <p:txBody>
          <a:bodyPr wrap="square" lIns="91440" tIns="36000" rIns="91440" bIns="36000" anchor="ctr"/>
          <a:lstStyle/>
          <a:p>
            <a:pPr>
              <a:buNone/>
            </a:pPr>
            <a:r>
              <a:rPr lang="ja-JP" sz="1300" b="1" dirty="0">
                <a:solidFill>
                  <a:srgbClr val="4A4A4A"/>
                </a:solidFill>
                <a:latin typeface="BIZ UDPGothic"/>
                <a:ea typeface="BIZ UDPGothic"/>
              </a:rPr>
              <a:t>基礎集計</a:t>
            </a:r>
          </a:p>
          <a:p>
            <a:pPr marL="228600" indent="-228600">
              <a:buFont typeface="Arial"/>
              <a:buChar char="•"/>
            </a:pPr>
            <a:r>
              <a:rPr lang="ja-JP" sz="1100" dirty="0">
                <a:solidFill>
                  <a:srgbClr val="3D3D3D"/>
                </a:solidFill>
                <a:latin typeface="BIZ UDPGothic"/>
                <a:ea typeface="BIZ UDPGothic"/>
              </a:rPr>
              <a:t>クラス分布、変数分布、目的変数別比較</a:t>
            </a:r>
          </a:p>
        </p:txBody>
      </p:sp>
      <p:sp>
        <p:nvSpPr>
          <p:cNvPr id="55" name="S55"/>
          <p:cNvSpPr/>
          <p:nvPr/>
        </p:nvSpPr>
        <p:spPr>
          <a:xfrm>
            <a:off x="457200" y="4700000"/>
            <a:ext cx="11277600" cy="800000"/>
          </a:xfrm>
          <a:prstGeom prst="roundRect">
            <a:avLst/>
          </a:prstGeom>
          <a:solidFill>
            <a:srgbClr val="F2F0ED"/>
          </a:solidFill>
          <a:ln>
            <a:noFill/>
          </a:ln>
        </p:spPr>
        <p:txBody>
          <a:bodyPr wrap="square" lIns="91440" tIns="36000" rIns="91440" bIns="36000" anchor="ctr"/>
          <a:lstStyle/>
          <a:p>
            <a:pPr>
              <a:buNone/>
            </a:pPr>
            <a:r>
              <a:rPr lang="ja-JP" sz="1300" b="1" dirty="0">
                <a:solidFill>
                  <a:srgbClr val="8B2500"/>
                </a:solidFill>
                <a:latin typeface="BIZ UDPGothic"/>
                <a:ea typeface="BIZ UDPGothic"/>
              </a:rPr>
              <a:t>モデル解釈</a:t>
            </a:r>
          </a:p>
          <a:p>
            <a:pPr marL="228600" indent="-228600">
              <a:buFont typeface="Arial"/>
              <a:buChar char="•"/>
            </a:pPr>
            <a:r>
              <a:rPr lang="ja-JP" sz="1200" dirty="0">
                <a:solidFill>
                  <a:srgbClr val="3D3D3D"/>
                </a:solidFill>
                <a:latin typeface="BIZ UDPGothic"/>
                <a:ea typeface="BIZ UDPGothic"/>
              </a:rPr>
              <a:t>重要変数整理、属性別傾向整理、業務示唆整理</a:t>
            </a:r>
          </a:p>
          <a:p>
            <a:pPr marL="228600" indent="-228600">
              <a:buFont typeface="Arial"/>
              <a:buChar char="•"/>
            </a:pPr>
            <a:r>
              <a:rPr lang="ja-JP" sz="1200" dirty="0">
                <a:solidFill>
                  <a:srgbClr val="3D3D3D"/>
                </a:solidFill>
                <a:latin typeface="BIZ UDPGothic"/>
                <a:ea typeface="BIZ UDPGothic"/>
              </a:rPr>
              <a:t>高価格帯候補群の特徴を順位付きで提示し、結果の解釈は業務示唆に限定（臨床的因果や効果を断定しない）</a:t>
            </a:r>
          </a:p>
        </p:txBody>
      </p:sp>
    </p:spTree>
    <p:extLst>
      <p:ext uri="{BB962C8B-B14F-4D97-AF65-F5344CB8AC3E}">
        <p14:creationId xmlns:p14="http://schemas.microsoft.com/office/powerpoint/2010/main" val="18286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EABA37-4A63-8D86-8D23-3F7A3BD9B00F}"/>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3. </a:t>
            </a:r>
            <a:r>
              <a:rPr kumimoji="1" lang="ja-JP" altLang="en-US" sz="2800" b="1">
                <a:solidFill>
                  <a:srgbClr val="8B2500"/>
                </a:solidFill>
                <a:latin typeface="BIZ UDPゴシック"/>
                <a:ea typeface="BIZ UDPゴシック"/>
              </a:rPr>
              <a:t>スコープ </a:t>
            </a:r>
            <a:r>
              <a:rPr kumimoji="1" lang="en-US" altLang="ja-JP" sz="2800" b="1">
                <a:solidFill>
                  <a:srgbClr val="8B2500"/>
                </a:solidFill>
                <a:latin typeface="BIZ UDPゴシック"/>
                <a:ea typeface="BIZ UDPゴシック"/>
              </a:rPr>
              <a:t>― </a:t>
            </a:r>
            <a:r>
              <a:rPr kumimoji="1" lang="ja-JP" altLang="en-US" sz="2800" b="1">
                <a:solidFill>
                  <a:srgbClr val="8B2500"/>
                </a:solidFill>
                <a:latin typeface="BIZ UDPゴシック"/>
                <a:ea typeface="BIZ UDPゴシック"/>
              </a:rPr>
              <a:t>対象外</a:t>
            </a:r>
          </a:p>
        </p:txBody>
      </p:sp>
      <p:sp>
        <p:nvSpPr>
          <p:cNvPr id="20" name="S20"/>
          <p:cNvSpPr/>
          <p:nvPr/>
        </p:nvSpPr>
        <p:spPr>
          <a:xfrm>
            <a:off x="457200" y="1100000"/>
            <a:ext cx="3581400" cy="400000"/>
          </a:xfrm>
          <a:prstGeom prst="roundRect">
            <a:avLst/>
          </a:prstGeom>
          <a:solidFill>
            <a:srgbClr val="4A4A4A"/>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システム実装</a:t>
            </a:r>
          </a:p>
        </p:txBody>
      </p:sp>
      <p:sp>
        <p:nvSpPr>
          <p:cNvPr id="21" name="S21"/>
          <p:cNvSpPr/>
          <p:nvPr/>
        </p:nvSpPr>
        <p:spPr>
          <a:xfrm>
            <a:off x="457200" y="15300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本番システム実装</a:t>
            </a:r>
          </a:p>
          <a:p>
            <a:pPr marL="228600" indent="-228600">
              <a:buFont typeface="Arial"/>
              <a:buChar char="—"/>
            </a:pPr>
            <a:r>
              <a:rPr lang="ja-JP" sz="1200" dirty="0">
                <a:solidFill>
                  <a:srgbClr val="3D3D3D"/>
                </a:solidFill>
                <a:latin typeface="BIZ UDPGothic"/>
                <a:ea typeface="BIZ UDPGothic"/>
              </a:rPr>
              <a:t>API化、ダッシュボード本開発</a:t>
            </a:r>
          </a:p>
          <a:p>
            <a:pPr marL="228600" indent="-228600">
              <a:buFont typeface="Arial"/>
              <a:buChar char="—"/>
            </a:pPr>
            <a:r>
              <a:rPr lang="ja-JP" sz="1200" dirty="0">
                <a:solidFill>
                  <a:srgbClr val="3D3D3D"/>
                </a:solidFill>
                <a:latin typeface="BIZ UDPGothic"/>
                <a:ea typeface="BIZ UDPGothic"/>
              </a:rPr>
              <a:t>運用監視実装</a:t>
            </a:r>
          </a:p>
        </p:txBody>
      </p:sp>
      <p:sp>
        <p:nvSpPr>
          <p:cNvPr id="22" name="S22"/>
          <p:cNvSpPr/>
          <p:nvPr/>
        </p:nvSpPr>
        <p:spPr>
          <a:xfrm>
            <a:off x="4267200" y="1100000"/>
            <a:ext cx="3581400" cy="400000"/>
          </a:xfrm>
          <a:prstGeom prst="roundRect">
            <a:avLst/>
          </a:prstGeom>
          <a:solidFill>
            <a:srgbClr val="4A4A4A"/>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外部データ</a:t>
            </a:r>
          </a:p>
        </p:txBody>
      </p:sp>
      <p:sp>
        <p:nvSpPr>
          <p:cNvPr id="23" name="S23"/>
          <p:cNvSpPr/>
          <p:nvPr/>
        </p:nvSpPr>
        <p:spPr>
          <a:xfrm>
            <a:off x="4267200" y="15300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外部データ連携</a:t>
            </a:r>
          </a:p>
          <a:p>
            <a:pPr marL="228600" indent="-228600">
              <a:buFont typeface="Arial"/>
              <a:buChar char="—"/>
            </a:pPr>
            <a:r>
              <a:rPr lang="ja-JP" sz="1200" dirty="0">
                <a:solidFill>
                  <a:srgbClr val="3D3D3D"/>
                </a:solidFill>
                <a:latin typeface="BIZ UDPGothic"/>
                <a:ea typeface="BIZ UDPGothic"/>
              </a:rPr>
              <a:t>電子カルテ等の追加医療データ取得</a:t>
            </a:r>
          </a:p>
        </p:txBody>
      </p:sp>
      <p:sp>
        <p:nvSpPr>
          <p:cNvPr id="24" name="S24"/>
          <p:cNvSpPr/>
          <p:nvPr/>
        </p:nvSpPr>
        <p:spPr>
          <a:xfrm>
            <a:off x="8077200" y="1100000"/>
            <a:ext cx="3581400" cy="400000"/>
          </a:xfrm>
          <a:prstGeom prst="roundRect">
            <a:avLst/>
          </a:prstGeom>
          <a:solidFill>
            <a:srgbClr val="8B2500"/>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個人情報</a:t>
            </a:r>
          </a:p>
        </p:txBody>
      </p:sp>
      <p:sp>
        <p:nvSpPr>
          <p:cNvPr id="25" name="S25"/>
          <p:cNvSpPr/>
          <p:nvPr/>
        </p:nvSpPr>
        <p:spPr>
          <a:xfrm>
            <a:off x="8077200" y="15300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個人識別情報の加工・復元・名寄せ</a:t>
            </a:r>
          </a:p>
        </p:txBody>
      </p:sp>
      <p:sp>
        <p:nvSpPr>
          <p:cNvPr id="26" name="S26"/>
          <p:cNvSpPr/>
          <p:nvPr/>
        </p:nvSpPr>
        <p:spPr>
          <a:xfrm>
            <a:off x="457200" y="3028600"/>
            <a:ext cx="3581400" cy="400000"/>
          </a:xfrm>
          <a:prstGeom prst="roundRect">
            <a:avLst/>
          </a:prstGeom>
          <a:solidFill>
            <a:srgbClr val="8B2500"/>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臨床判断</a:t>
            </a:r>
          </a:p>
        </p:txBody>
      </p:sp>
      <p:sp>
        <p:nvSpPr>
          <p:cNvPr id="27" name="S27"/>
          <p:cNvSpPr/>
          <p:nvPr/>
        </p:nvSpPr>
        <p:spPr>
          <a:xfrm>
            <a:off x="457200" y="34586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臨床判断ルール設計</a:t>
            </a:r>
          </a:p>
          <a:p>
            <a:pPr marL="228600" indent="-228600">
              <a:buFont typeface="Arial"/>
              <a:buChar char="—"/>
            </a:pPr>
            <a:r>
              <a:rPr lang="ja-JP" sz="1200" dirty="0">
                <a:solidFill>
                  <a:srgbClr val="3D3D3D"/>
                </a:solidFill>
                <a:latin typeface="BIZ UDPGothic"/>
                <a:ea typeface="BIZ UDPGothic"/>
              </a:rPr>
              <a:t>患者個別施策の運用導入</a:t>
            </a:r>
          </a:p>
        </p:txBody>
      </p:sp>
      <p:sp>
        <p:nvSpPr>
          <p:cNvPr id="28" name="S28"/>
          <p:cNvSpPr/>
          <p:nvPr/>
        </p:nvSpPr>
        <p:spPr>
          <a:xfrm>
            <a:off x="4267200" y="3028600"/>
            <a:ext cx="3581400" cy="400000"/>
          </a:xfrm>
          <a:prstGeom prst="roundRect">
            <a:avLst/>
          </a:prstGeom>
          <a:solidFill>
            <a:srgbClr val="4A4A4A"/>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高度分析</a:t>
            </a:r>
          </a:p>
        </p:txBody>
      </p:sp>
      <p:sp>
        <p:nvSpPr>
          <p:cNvPr id="29" name="S29"/>
          <p:cNvSpPr/>
          <p:nvPr/>
        </p:nvSpPr>
        <p:spPr>
          <a:xfrm>
            <a:off x="4267200" y="34586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因果分析、介入効果検証</a:t>
            </a:r>
          </a:p>
          <a:p>
            <a:pPr marL="228600" indent="-228600">
              <a:buFont typeface="Arial"/>
              <a:buChar char="—"/>
            </a:pPr>
            <a:r>
              <a:rPr lang="ja-JP" sz="1200" dirty="0">
                <a:solidFill>
                  <a:srgbClr val="3D3D3D"/>
                </a:solidFill>
                <a:latin typeface="BIZ UDPGothic"/>
                <a:ea typeface="BIZ UDPGothic"/>
              </a:rPr>
              <a:t>継続学習基盤の構築</a:t>
            </a:r>
          </a:p>
        </p:txBody>
      </p:sp>
      <p:sp>
        <p:nvSpPr>
          <p:cNvPr id="30" name="S30"/>
          <p:cNvSpPr/>
          <p:nvPr/>
        </p:nvSpPr>
        <p:spPr>
          <a:xfrm>
            <a:off x="8077200" y="3028600"/>
            <a:ext cx="3581400" cy="400000"/>
          </a:xfrm>
          <a:prstGeom prst="roundRect">
            <a:avLst/>
          </a:prstGeom>
          <a:solidFill>
            <a:srgbClr val="4A4A4A"/>
          </a:solidFill>
          <a:ln>
            <a:noFill/>
          </a:ln>
        </p:spPr>
        <p:txBody>
          <a:bodyPr wrap="square" lIns="91440" tIns="18000" rIns="91440" bIns="18000" anchor="ctr"/>
          <a:lstStyle/>
          <a:p>
            <a:pPr algn="l">
              <a:buNone/>
            </a:pPr>
            <a:r>
              <a:rPr lang="ja-JP" sz="1300" b="1" dirty="0">
                <a:solidFill>
                  <a:srgbClr val="FFFFFF"/>
                </a:solidFill>
                <a:latin typeface="BIZ UDPGothic"/>
                <a:ea typeface="BIZ UDPGothic"/>
              </a:rPr>
              <a:t>✕  運用設計</a:t>
            </a:r>
          </a:p>
        </p:txBody>
      </p:sp>
      <p:sp>
        <p:nvSpPr>
          <p:cNvPr id="31" name="S31"/>
          <p:cNvSpPr/>
          <p:nvPr/>
        </p:nvSpPr>
        <p:spPr>
          <a:xfrm>
            <a:off x="8077200" y="3458600"/>
            <a:ext cx="3581400" cy="1270000"/>
          </a:xfrm>
          <a:prstGeom prst="roundRect">
            <a:avLst/>
          </a:prstGeom>
          <a:solidFill>
            <a:srgbClr val="F2F0ED"/>
          </a:solidFill>
          <a:ln>
            <a:noFill/>
          </a:ln>
        </p:spPr>
        <p:txBody>
          <a:bodyPr wrap="square" lIns="91440" tIns="54000" rIns="91440" bIns="54000" anchor="t"/>
          <a:lstStyle/>
          <a:p>
            <a:pPr marL="228600" indent="-228600">
              <a:buFont typeface="Arial"/>
              <a:buChar char="—"/>
            </a:pPr>
            <a:r>
              <a:rPr lang="ja-JP" sz="1200" dirty="0">
                <a:solidFill>
                  <a:srgbClr val="3D3D3D"/>
                </a:solidFill>
                <a:latin typeface="BIZ UDPGothic"/>
                <a:ea typeface="BIZ UDPGothic"/>
              </a:rPr>
              <a:t>テストデータ予測納品を含む運用設計一式</a:t>
            </a:r>
          </a:p>
        </p:txBody>
      </p:sp>
      <p:sp>
        <p:nvSpPr>
          <p:cNvPr id="50" name="S50"/>
          <p:cNvSpPr/>
          <p:nvPr/>
        </p:nvSpPr>
        <p:spPr>
          <a:xfrm>
            <a:off x="457200" y="5200000"/>
            <a:ext cx="11277600" cy="450000"/>
          </a:xfrm>
          <a:prstGeom prst="rect">
            <a:avLst/>
          </a:prstGeom>
          <a:noFill/>
          <a:ln>
            <a:noFill/>
          </a:ln>
        </p:spPr>
        <p:txBody>
          <a:bodyPr wrap="square" lIns="91440" anchor="ctr"/>
          <a:lstStyle/>
          <a:p>
            <a:pPr algn="l">
              <a:buNone/>
            </a:pPr>
            <a:r>
              <a:rPr lang="ja-JP" sz="1200" dirty="0">
                <a:solidFill>
                  <a:srgbClr val="787878"/>
                </a:solidFill>
                <a:latin typeface="BIZ UDPGothic"/>
                <a:ea typeface="BIZ UDPGothic"/>
              </a:rPr>
              <a:t>※ 本プロジェクトは、医療費関連セグメント把握に向けた前段の分析資産整備として位置づけ、上記は後続フェーズの検討課題とする。</a:t>
            </a:r>
          </a:p>
        </p:txBody>
      </p:sp>
    </p:spTree>
    <p:extLst>
      <p:ext uri="{BB962C8B-B14F-4D97-AF65-F5344CB8AC3E}">
        <p14:creationId xmlns:p14="http://schemas.microsoft.com/office/powerpoint/2010/main" val="1118525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C092F7-7473-39BB-2947-4B9C81D3D958}"/>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4. </a:t>
            </a:r>
            <a:r>
              <a:rPr kumimoji="1" lang="ja-JP" altLang="en-US" sz="2800" b="1">
                <a:solidFill>
                  <a:srgbClr val="8B2500"/>
                </a:solidFill>
                <a:latin typeface="BIZ UDPゴシック"/>
                <a:ea typeface="BIZ UDPゴシック"/>
              </a:rPr>
              <a:t>分析アプローチ </a:t>
            </a:r>
            <a:r>
              <a:rPr kumimoji="1" lang="en-US" altLang="ja-JP" sz="2800" b="1">
                <a:solidFill>
                  <a:srgbClr val="8B2500"/>
                </a:solidFill>
                <a:latin typeface="BIZ UDPゴシック"/>
                <a:ea typeface="BIZ UDPゴシック"/>
              </a:rPr>
              <a:t>― </a:t>
            </a:r>
            <a:r>
              <a:rPr kumimoji="1" lang="ja-JP" altLang="en-US" sz="2800" b="1">
                <a:solidFill>
                  <a:srgbClr val="8B2500"/>
                </a:solidFill>
                <a:latin typeface="BIZ UDPゴシック"/>
                <a:ea typeface="BIZ UDPゴシック"/>
              </a:rPr>
              <a:t>全体フロー</a:t>
            </a:r>
          </a:p>
        </p:txBody>
      </p:sp>
      <p:sp>
        <p:nvSpPr>
          <p:cNvPr id="15" name="S15"/>
          <p:cNvSpPr/>
          <p:nvPr/>
        </p:nvSpPr>
        <p:spPr>
          <a:xfrm>
            <a:off x="457200" y="1050000"/>
            <a:ext cx="11277600" cy="400000"/>
          </a:xfrm>
          <a:prstGeom prst="rect">
            <a:avLst/>
          </a:prstGeom>
          <a:noFill/>
          <a:ln>
            <a:noFill/>
          </a:ln>
        </p:spPr>
        <p:txBody>
          <a:bodyPr wrap="square" lIns="91440" anchor="ctr"/>
          <a:lstStyle/>
          <a:p>
            <a:pPr algn="l">
              <a:buNone/>
            </a:pPr>
            <a:r>
              <a:rPr lang="ja-JP" sz="1400" dirty="0">
                <a:solidFill>
                  <a:srgbClr val="3D3D3D"/>
                </a:solidFill>
                <a:latin typeface="BIZ UDPGothic"/>
                <a:ea typeface="BIZ UDPGothic"/>
              </a:rPr>
              <a:t>短期間・限定データ・説明可能性重視の条件に適合する、再現可能な標準分析プロセスを採用する。</a:t>
            </a:r>
          </a:p>
        </p:txBody>
      </p:sp>
      <p:sp>
        <p:nvSpPr>
          <p:cNvPr id="20" name="S20"/>
          <p:cNvSpPr/>
          <p:nvPr/>
        </p:nvSpPr>
        <p:spPr>
          <a:xfrm>
            <a:off x="457200" y="1600000"/>
            <a:ext cx="2057400" cy="1143000"/>
          </a:xfrm>
          <a:prstGeom prst="homePlate">
            <a:avLst/>
          </a:prstGeom>
          <a:solidFill>
            <a:srgbClr val="8B2500"/>
          </a:solidFill>
          <a:ln>
            <a:noFill/>
          </a:ln>
        </p:spPr>
        <p:txBody>
          <a:bodyPr wrap="square" lIns="72000" tIns="36000" rIns="180000" bIns="36000" anchor="ctr"/>
          <a:lstStyle/>
          <a:p>
            <a:pPr algn="ctr">
              <a:buNone/>
            </a:pPr>
            <a:r>
              <a:rPr lang="ja-JP" sz="1100" dirty="0">
                <a:solidFill>
                  <a:srgbClr val="FFFFFF"/>
                </a:solidFill>
                <a:latin typeface="BIZ UDPGothic"/>
                <a:ea typeface="BIZ UDPGothic"/>
              </a:rPr>
              <a:t>STEP 1</a:t>
            </a:r>
          </a:p>
          <a:p>
            <a:pPr algn="ctr">
              <a:buNone/>
            </a:pPr>
            <a:r>
              <a:rPr lang="ja-JP" sz="1400" b="1" dirty="0">
                <a:solidFill>
                  <a:srgbClr val="FFFFFF"/>
                </a:solidFill>
                <a:latin typeface="BIZ UDPGothic"/>
                <a:ea typeface="BIZ UDPGothic"/>
              </a:rPr>
              <a:t>データ理解</a:t>
            </a:r>
          </a:p>
          <a:p>
            <a:pPr algn="ctr">
              <a:buNone/>
            </a:pPr>
            <a:r>
              <a:rPr lang="ja-JP" sz="1400" b="1" dirty="0">
                <a:solidFill>
                  <a:srgbClr val="FFFFFF"/>
                </a:solidFill>
                <a:latin typeface="BIZ UDPGothic"/>
                <a:ea typeface="BIZ UDPGothic"/>
              </a:rPr>
              <a:t>品質確認</a:t>
            </a:r>
          </a:p>
        </p:txBody>
      </p:sp>
      <p:sp>
        <p:nvSpPr>
          <p:cNvPr id="21" name="S21"/>
          <p:cNvSpPr/>
          <p:nvPr/>
        </p:nvSpPr>
        <p:spPr>
          <a:xfrm>
            <a:off x="2667000" y="1600000"/>
            <a:ext cx="2057400" cy="1143000"/>
          </a:xfrm>
          <a:prstGeom prst="homePlate">
            <a:avLst/>
          </a:prstGeom>
          <a:solidFill>
            <a:srgbClr val="A03A1A"/>
          </a:solidFill>
          <a:ln>
            <a:noFill/>
          </a:ln>
        </p:spPr>
        <p:txBody>
          <a:bodyPr wrap="square" lIns="72000" tIns="36000" rIns="180000" bIns="36000" anchor="ctr"/>
          <a:lstStyle/>
          <a:p>
            <a:pPr algn="ctr">
              <a:buNone/>
            </a:pPr>
            <a:r>
              <a:rPr lang="ja-JP" sz="1100" dirty="0">
                <a:solidFill>
                  <a:srgbClr val="FFFFFF"/>
                </a:solidFill>
                <a:latin typeface="BIZ UDPGothic"/>
                <a:ea typeface="BIZ UDPGothic"/>
              </a:rPr>
              <a:t>STEP 2</a:t>
            </a:r>
          </a:p>
          <a:p>
            <a:pPr algn="ctr">
              <a:buNone/>
            </a:pPr>
            <a:r>
              <a:rPr lang="ja-JP" sz="1400" b="1" dirty="0">
                <a:solidFill>
                  <a:srgbClr val="FFFFFF"/>
                </a:solidFill>
                <a:latin typeface="BIZ UDPGothic"/>
                <a:ea typeface="BIZ UDPGothic"/>
              </a:rPr>
              <a:t>基礎集計</a:t>
            </a:r>
          </a:p>
          <a:p>
            <a:pPr algn="ctr">
              <a:buNone/>
            </a:pPr>
            <a:r>
              <a:rPr lang="ja-JP" sz="1400" b="1" dirty="0">
                <a:solidFill>
                  <a:srgbClr val="FFFFFF"/>
                </a:solidFill>
                <a:latin typeface="BIZ UDPGothic"/>
                <a:ea typeface="BIZ UDPGothic"/>
              </a:rPr>
              <a:t>仮説整理</a:t>
            </a:r>
          </a:p>
        </p:txBody>
      </p:sp>
      <p:sp>
        <p:nvSpPr>
          <p:cNvPr id="22" name="S22"/>
          <p:cNvSpPr/>
          <p:nvPr/>
        </p:nvSpPr>
        <p:spPr>
          <a:xfrm>
            <a:off x="4876800" y="1600000"/>
            <a:ext cx="2057400" cy="1143000"/>
          </a:xfrm>
          <a:prstGeom prst="homePlate">
            <a:avLst/>
          </a:prstGeom>
          <a:solidFill>
            <a:srgbClr val="4A4A4A"/>
          </a:solidFill>
          <a:ln>
            <a:noFill/>
          </a:ln>
        </p:spPr>
        <p:txBody>
          <a:bodyPr wrap="square" lIns="72000" tIns="36000" rIns="180000" bIns="36000" anchor="ctr"/>
          <a:lstStyle/>
          <a:p>
            <a:pPr algn="ctr">
              <a:buNone/>
            </a:pPr>
            <a:r>
              <a:rPr lang="ja-JP" sz="1100" dirty="0">
                <a:solidFill>
                  <a:srgbClr val="FFFFFF"/>
                </a:solidFill>
                <a:latin typeface="BIZ UDPGothic"/>
                <a:ea typeface="BIZ UDPGothic"/>
              </a:rPr>
              <a:t>STEP 3</a:t>
            </a:r>
          </a:p>
          <a:p>
            <a:pPr algn="ctr">
              <a:buNone/>
            </a:pPr>
            <a:r>
              <a:rPr lang="ja-JP" sz="1400" b="1" dirty="0">
                <a:solidFill>
                  <a:srgbClr val="FFFFFF"/>
                </a:solidFill>
                <a:latin typeface="BIZ UDPGothic"/>
                <a:ea typeface="BIZ UDPGothic"/>
              </a:rPr>
              <a:t>前処理</a:t>
            </a:r>
          </a:p>
        </p:txBody>
      </p:sp>
      <p:sp>
        <p:nvSpPr>
          <p:cNvPr id="23" name="S23"/>
          <p:cNvSpPr/>
          <p:nvPr/>
        </p:nvSpPr>
        <p:spPr>
          <a:xfrm>
            <a:off x="7086600" y="1600000"/>
            <a:ext cx="2057400" cy="1143000"/>
          </a:xfrm>
          <a:prstGeom prst="homePlate">
            <a:avLst/>
          </a:prstGeom>
          <a:solidFill>
            <a:srgbClr val="3D3D3D"/>
          </a:solidFill>
          <a:ln>
            <a:noFill/>
          </a:ln>
        </p:spPr>
        <p:txBody>
          <a:bodyPr wrap="square" lIns="72000" tIns="36000" rIns="180000" bIns="36000" anchor="ctr"/>
          <a:lstStyle/>
          <a:p>
            <a:pPr algn="ctr">
              <a:buNone/>
            </a:pPr>
            <a:r>
              <a:rPr lang="ja-JP" sz="1100" dirty="0">
                <a:solidFill>
                  <a:srgbClr val="FFFFFF"/>
                </a:solidFill>
                <a:latin typeface="BIZ UDPGothic"/>
                <a:ea typeface="BIZ UDPGothic"/>
              </a:rPr>
              <a:t>STEP 4</a:t>
            </a:r>
          </a:p>
          <a:p>
            <a:pPr algn="ctr">
              <a:buNone/>
            </a:pPr>
            <a:r>
              <a:rPr lang="ja-JP" sz="1400" b="1" dirty="0">
                <a:solidFill>
                  <a:srgbClr val="FFFFFF"/>
                </a:solidFill>
                <a:latin typeface="BIZ UDPGothic"/>
                <a:ea typeface="BIZ UDPGothic"/>
              </a:rPr>
              <a:t>モデリング</a:t>
            </a:r>
          </a:p>
        </p:txBody>
      </p:sp>
      <p:sp>
        <p:nvSpPr>
          <p:cNvPr id="24" name="S24"/>
          <p:cNvSpPr/>
          <p:nvPr/>
        </p:nvSpPr>
        <p:spPr>
          <a:xfrm>
            <a:off x="9296400" y="1600000"/>
            <a:ext cx="2057400" cy="1143000"/>
          </a:xfrm>
          <a:prstGeom prst="homePlate">
            <a:avLst/>
          </a:prstGeom>
          <a:solidFill>
            <a:srgbClr val="8B2500"/>
          </a:solidFill>
          <a:ln>
            <a:noFill/>
          </a:ln>
        </p:spPr>
        <p:txBody>
          <a:bodyPr wrap="square" lIns="72000" tIns="36000" rIns="180000" bIns="36000" anchor="ctr"/>
          <a:lstStyle/>
          <a:p>
            <a:pPr algn="ctr">
              <a:buNone/>
            </a:pPr>
            <a:r>
              <a:rPr lang="ja-JP" sz="1100" dirty="0">
                <a:solidFill>
                  <a:srgbClr val="FFFFFF"/>
                </a:solidFill>
                <a:latin typeface="BIZ UDPGothic"/>
                <a:ea typeface="BIZ UDPGothic"/>
              </a:rPr>
              <a:t>STEP 5</a:t>
            </a:r>
          </a:p>
          <a:p>
            <a:pPr algn="ctr">
              <a:buNone/>
            </a:pPr>
            <a:r>
              <a:rPr lang="ja-JP" sz="1400" b="1" dirty="0">
                <a:solidFill>
                  <a:srgbClr val="FFFFFF"/>
                </a:solidFill>
                <a:latin typeface="BIZ UDPGothic"/>
                <a:ea typeface="BIZ UDPGothic"/>
              </a:rPr>
              <a:t>評価・解釈</a:t>
            </a:r>
          </a:p>
        </p:txBody>
      </p:sp>
      <p:sp>
        <p:nvSpPr>
          <p:cNvPr id="30" name="S30"/>
          <p:cNvSpPr/>
          <p:nvPr/>
        </p:nvSpPr>
        <p:spPr>
          <a:xfrm>
            <a:off x="457200" y="2895400"/>
            <a:ext cx="2057400" cy="2400000"/>
          </a:xfrm>
          <a:prstGeom prst="roundRect">
            <a:avLst/>
          </a:prstGeom>
          <a:solidFill>
            <a:srgbClr val="F2F0ED"/>
          </a:solidFill>
          <a:ln>
            <a:noFill/>
          </a:ln>
        </p:spPr>
        <p:txBody>
          <a:bodyPr wrap="square" lIns="72000" tIns="54000" rIns="72000" bIns="54000" anchor="t"/>
          <a:lstStyle/>
          <a:p>
            <a:pPr marL="171450" indent="-171450">
              <a:buFont typeface="Arial"/>
              <a:buChar char="•"/>
            </a:pPr>
            <a:r>
              <a:rPr lang="ja-JP" sz="1100" dirty="0">
                <a:solidFill>
                  <a:srgbClr val="3D3D3D"/>
                </a:solidFill>
                <a:latin typeface="BIZ UDPGothic"/>
                <a:ea typeface="BIZ UDPGothic"/>
              </a:rPr>
              <a:t>CSV読み込み確認</a:t>
            </a:r>
          </a:p>
          <a:p>
            <a:pPr marL="171450" indent="-171450">
              <a:buFont typeface="Arial"/>
              <a:buChar char="•"/>
            </a:pPr>
            <a:r>
              <a:rPr lang="ja-JP" sz="1100" dirty="0">
                <a:solidFill>
                  <a:srgbClr val="3D3D3D"/>
                </a:solidFill>
                <a:latin typeface="BIZ UDPGothic"/>
                <a:ea typeface="BIZ UDPGothic"/>
              </a:rPr>
              <a:t>カラム定義整合確認</a:t>
            </a:r>
          </a:p>
          <a:p>
            <a:pPr marL="171450" indent="-171450">
              <a:buFont typeface="Arial"/>
              <a:buChar char="•"/>
            </a:pPr>
            <a:r>
              <a:rPr lang="ja-JP" sz="1100" dirty="0">
                <a:solidFill>
                  <a:srgbClr val="3D3D3D"/>
                </a:solidFill>
                <a:latin typeface="BIZ UDPGothic"/>
                <a:ea typeface="BIZ UDPGothic"/>
              </a:rPr>
              <a:t>件数・型・欠損確認</a:t>
            </a:r>
          </a:p>
          <a:p>
            <a:pPr marL="171450" indent="-171450">
              <a:buFont typeface="Arial"/>
              <a:buChar char="•"/>
            </a:pPr>
            <a:r>
              <a:rPr lang="ja-JP" sz="1100" dirty="0">
                <a:solidFill>
                  <a:srgbClr val="3D3D3D"/>
                </a:solidFill>
                <a:latin typeface="BIZ UDPGothic"/>
                <a:ea typeface="BIZ UDPGothic"/>
              </a:rPr>
              <a:t>chargesクラス分布確認</a:t>
            </a:r>
          </a:p>
          <a:p>
            <a:pPr marL="171450" indent="-171450">
              <a:buFont typeface="Arial"/>
              <a:buChar char="•"/>
            </a:pPr>
            <a:r>
              <a:rPr lang="ja-JP" sz="1100" dirty="0">
                <a:solidFill>
                  <a:srgbClr val="3D3D3D"/>
                </a:solidFill>
                <a:latin typeface="BIZ UDPGothic"/>
                <a:ea typeface="BIZ UDPGothic"/>
              </a:rPr>
              <a:t>id識別子除外</a:t>
            </a:r>
          </a:p>
        </p:txBody>
      </p:sp>
      <p:sp>
        <p:nvSpPr>
          <p:cNvPr id="31" name="S31"/>
          <p:cNvSpPr/>
          <p:nvPr/>
        </p:nvSpPr>
        <p:spPr>
          <a:xfrm>
            <a:off x="2667000" y="2895400"/>
            <a:ext cx="2057400" cy="2400000"/>
          </a:xfrm>
          <a:prstGeom prst="roundRect">
            <a:avLst/>
          </a:prstGeom>
          <a:solidFill>
            <a:srgbClr val="F2F0ED"/>
          </a:solidFill>
          <a:ln>
            <a:noFill/>
          </a:ln>
        </p:spPr>
        <p:txBody>
          <a:bodyPr wrap="square" lIns="72000" tIns="54000" rIns="72000" bIns="54000" anchor="t"/>
          <a:lstStyle/>
          <a:p>
            <a:pPr marL="171450" indent="-171450">
              <a:buFont typeface="Arial"/>
              <a:buChar char="•"/>
            </a:pPr>
            <a:r>
              <a:rPr lang="ja-JP" sz="1100" dirty="0">
                <a:solidFill>
                  <a:srgbClr val="3D3D3D"/>
                </a:solidFill>
                <a:latin typeface="BIZ UDPGothic"/>
                <a:ea typeface="BIZ UDPGothic"/>
              </a:rPr>
              <a:t>年齢・BMI・子供数等の分布</a:t>
            </a:r>
          </a:p>
          <a:p>
            <a:pPr marL="171450" indent="-171450">
              <a:buFont typeface="Arial"/>
              <a:buChar char="•"/>
            </a:pPr>
            <a:r>
              <a:rPr lang="ja-JP" sz="1100" dirty="0">
                <a:solidFill>
                  <a:srgbClr val="3D3D3D"/>
                </a:solidFill>
                <a:latin typeface="BIZ UDPGothic"/>
                <a:ea typeface="BIZ UDPGothic"/>
              </a:rPr>
              <a:t>charges別の比較集計</a:t>
            </a:r>
          </a:p>
          <a:p>
            <a:pPr marL="171450" indent="-171450">
              <a:buFont typeface="Arial"/>
              <a:buChar char="•"/>
            </a:pPr>
            <a:r>
              <a:rPr lang="ja-JP" sz="1100" dirty="0">
                <a:solidFill>
                  <a:srgbClr val="3D3D3D"/>
                </a:solidFill>
                <a:latin typeface="BIZ UDPGothic"/>
                <a:ea typeface="BIZ UDPGothic"/>
              </a:rPr>
              <a:t>高価格帯関連傾向の初期整理</a:t>
            </a:r>
          </a:p>
          <a:p>
            <a:pPr marL="171450" indent="-171450">
              <a:buFont typeface="Arial"/>
              <a:buChar char="•"/>
            </a:pPr>
            <a:r>
              <a:rPr lang="ja-JP" sz="1100" dirty="0">
                <a:solidFill>
                  <a:srgbClr val="3D3D3D"/>
                </a:solidFill>
                <a:latin typeface="BIZ UDPGothic"/>
                <a:ea typeface="BIZ UDPGothic"/>
              </a:rPr>
              <a:t>クラス不均衡の確認</a:t>
            </a:r>
          </a:p>
        </p:txBody>
      </p:sp>
      <p:sp>
        <p:nvSpPr>
          <p:cNvPr id="32" name="S32"/>
          <p:cNvSpPr/>
          <p:nvPr/>
        </p:nvSpPr>
        <p:spPr>
          <a:xfrm>
            <a:off x="4876800" y="2895400"/>
            <a:ext cx="2057400" cy="2400000"/>
          </a:xfrm>
          <a:prstGeom prst="roundRect">
            <a:avLst/>
          </a:prstGeom>
          <a:solidFill>
            <a:srgbClr val="F2F0ED"/>
          </a:solidFill>
          <a:ln>
            <a:noFill/>
          </a:ln>
        </p:spPr>
        <p:txBody>
          <a:bodyPr wrap="square" lIns="72000" tIns="54000" rIns="72000" bIns="54000" anchor="t"/>
          <a:lstStyle/>
          <a:p>
            <a:pPr marL="171450" indent="-171450">
              <a:buFont typeface="Arial"/>
              <a:buChar char="•"/>
            </a:pPr>
            <a:r>
              <a:rPr lang="ja-JP" sz="1100" dirty="0">
                <a:solidFill>
                  <a:srgbClr val="3D3D3D"/>
                </a:solidFill>
                <a:latin typeface="BIZ UDPGothic"/>
                <a:ea typeface="BIZ UDPGothic"/>
              </a:rPr>
              <a:t>識別子列除外</a:t>
            </a:r>
          </a:p>
          <a:p>
            <a:pPr marL="171450" indent="-171450">
              <a:buFont typeface="Arial"/>
              <a:buChar char="•"/>
            </a:pPr>
            <a:r>
              <a:rPr lang="ja-JP" sz="1100" dirty="0">
                <a:solidFill>
                  <a:srgbClr val="3D3D3D"/>
                </a:solidFill>
                <a:latin typeface="BIZ UDPGothic"/>
                <a:ea typeface="BIZ UDPGothic"/>
              </a:rPr>
              <a:t>欠損値補完（中央値/最頻値）</a:t>
            </a:r>
          </a:p>
          <a:p>
            <a:pPr marL="171450" indent="-171450">
              <a:buFont typeface="Arial"/>
              <a:buChar char="•"/>
            </a:pPr>
            <a:r>
              <a:rPr lang="ja-JP" sz="1100" dirty="0">
                <a:solidFill>
                  <a:srgbClr val="3D3D3D"/>
                </a:solidFill>
                <a:latin typeface="BIZ UDPGothic"/>
                <a:ea typeface="BIZ UDPGothic"/>
              </a:rPr>
              <a:t>カテゴリ列OHE</a:t>
            </a:r>
          </a:p>
          <a:p>
            <a:pPr marL="171450" indent="-171450">
              <a:buFont typeface="Arial"/>
              <a:buChar char="•"/>
            </a:pPr>
            <a:r>
              <a:rPr lang="ja-JP" sz="1100" dirty="0">
                <a:solidFill>
                  <a:srgbClr val="3D3D3D"/>
                </a:solidFill>
                <a:latin typeface="BIZ UDPGothic"/>
                <a:ea typeface="BIZ UDPGothic"/>
              </a:rPr>
              <a:t>高Cardinality列除外</a:t>
            </a:r>
          </a:p>
        </p:txBody>
      </p:sp>
      <p:sp>
        <p:nvSpPr>
          <p:cNvPr id="33" name="S33"/>
          <p:cNvSpPr/>
          <p:nvPr/>
        </p:nvSpPr>
        <p:spPr>
          <a:xfrm>
            <a:off x="7086600" y="2895400"/>
            <a:ext cx="2057400" cy="2400000"/>
          </a:xfrm>
          <a:prstGeom prst="roundRect">
            <a:avLst/>
          </a:prstGeom>
          <a:solidFill>
            <a:srgbClr val="F2F0ED"/>
          </a:solidFill>
          <a:ln>
            <a:noFill/>
          </a:ln>
        </p:spPr>
        <p:txBody>
          <a:bodyPr wrap="square" lIns="72000" tIns="54000" rIns="72000" bIns="54000" anchor="t"/>
          <a:lstStyle/>
          <a:p>
            <a:pPr marL="171450" indent="-171450">
              <a:buFont typeface="Arial"/>
              <a:buChar char="•"/>
            </a:pPr>
            <a:r>
              <a:rPr lang="ja-JP" sz="1100" dirty="0">
                <a:solidFill>
                  <a:srgbClr val="3D3D3D"/>
                </a:solidFill>
                <a:latin typeface="BIZ UDPGothic"/>
                <a:ea typeface="BIZ UDPGothic"/>
              </a:rPr>
              <a:t>単純ベースライン設定</a:t>
            </a:r>
          </a:p>
          <a:p>
            <a:pPr marL="171450" indent="-171450">
              <a:buFont typeface="Arial"/>
              <a:buChar char="•"/>
            </a:pPr>
            <a:r>
              <a:rPr lang="ja-JP" sz="1100" dirty="0">
                <a:solidFill>
                  <a:srgbClr val="3D3D3D"/>
                </a:solidFill>
                <a:latin typeface="BIZ UDPGothic"/>
                <a:ea typeface="BIZ UDPGothic"/>
              </a:rPr>
              <a:t>説明可能な初期モデル構築</a:t>
            </a:r>
          </a:p>
          <a:p>
            <a:pPr marL="171450" indent="-171450">
              <a:buFont typeface="Arial"/>
              <a:buChar char="•"/>
            </a:pPr>
            <a:r>
              <a:rPr lang="ja-JP" sz="1100" dirty="0">
                <a:solidFill>
                  <a:srgbClr val="3D3D3D"/>
                </a:solidFill>
                <a:latin typeface="BIZ UDPGothic"/>
                <a:ea typeface="BIZ UDPGothic"/>
              </a:rPr>
              <a:t>必要に応じた比較モデル</a:t>
            </a:r>
          </a:p>
          <a:p>
            <a:pPr marL="171450" indent="-171450">
              <a:buFont typeface="Arial"/>
              <a:buChar char="•"/>
            </a:pPr>
            <a:r>
              <a:rPr lang="ja-JP" sz="1100" dirty="0">
                <a:solidFill>
                  <a:srgbClr val="3D3D3D"/>
                </a:solidFill>
                <a:latin typeface="BIZ UDPGothic"/>
                <a:ea typeface="BIZ UDPGothic"/>
              </a:rPr>
              <a:t>採用モデル選定</a:t>
            </a:r>
          </a:p>
        </p:txBody>
      </p:sp>
      <p:sp>
        <p:nvSpPr>
          <p:cNvPr id="34" name="S34"/>
          <p:cNvSpPr/>
          <p:nvPr/>
        </p:nvSpPr>
        <p:spPr>
          <a:xfrm>
            <a:off x="9296400" y="2895400"/>
            <a:ext cx="2057400" cy="2400000"/>
          </a:xfrm>
          <a:prstGeom prst="roundRect">
            <a:avLst/>
          </a:prstGeom>
          <a:solidFill>
            <a:srgbClr val="F2F0ED"/>
          </a:solidFill>
          <a:ln>
            <a:noFill/>
          </a:ln>
        </p:spPr>
        <p:txBody>
          <a:bodyPr wrap="square" lIns="72000" tIns="54000" rIns="72000" bIns="54000" anchor="t"/>
          <a:lstStyle/>
          <a:p>
            <a:pPr marL="171450" indent="-171450">
              <a:buFont typeface="Arial"/>
              <a:buChar char="•"/>
            </a:pPr>
            <a:r>
              <a:rPr lang="ja-JP" sz="1100" dirty="0">
                <a:solidFill>
                  <a:srgbClr val="3D3D3D"/>
                </a:solidFill>
                <a:latin typeface="BIZ UDPGothic"/>
                <a:ea typeface="BIZ UDPGothic"/>
              </a:rPr>
              <a:t>Accuracy / Macro F1</a:t>
            </a:r>
          </a:p>
          <a:p>
            <a:pPr marL="171450" indent="-171450">
              <a:buFont typeface="Arial"/>
              <a:buChar char="•"/>
            </a:pPr>
            <a:r>
              <a:rPr lang="ja-JP" sz="1100" dirty="0">
                <a:solidFill>
                  <a:srgbClr val="3D3D3D"/>
                </a:solidFill>
                <a:latin typeface="BIZ UDPGothic"/>
                <a:ea typeface="BIZ UDPGothic"/>
              </a:rPr>
              <a:t>混同行列で誤分類確認</a:t>
            </a:r>
          </a:p>
          <a:p>
            <a:pPr marL="171450" indent="-171450">
              <a:buFont typeface="Arial"/>
              <a:buChar char="•"/>
            </a:pPr>
            <a:r>
              <a:rPr lang="ja-JP" sz="1100" dirty="0">
                <a:solidFill>
                  <a:srgbClr val="3D3D3D"/>
                </a:solidFill>
                <a:latin typeface="BIZ UDPGothic"/>
                <a:ea typeface="BIZ UDPGothic"/>
              </a:rPr>
              <a:t>変数重要度整理</a:t>
            </a:r>
          </a:p>
          <a:p>
            <a:pPr marL="171450" indent="-171450">
              <a:buFont typeface="Arial"/>
              <a:buChar char="•"/>
            </a:pPr>
            <a:r>
              <a:rPr lang="ja-JP" sz="1100" dirty="0">
                <a:solidFill>
                  <a:srgbClr val="3D3D3D"/>
                </a:solidFill>
                <a:latin typeface="BIZ UDPGothic"/>
                <a:ea typeface="BIZ UDPGothic"/>
              </a:rPr>
              <a:t>高価格帯候補の特徴提示</a:t>
            </a:r>
          </a:p>
        </p:txBody>
      </p:sp>
      <p:sp>
        <p:nvSpPr>
          <p:cNvPr id="50" name="S50"/>
          <p:cNvSpPr/>
          <p:nvPr/>
        </p:nvSpPr>
        <p:spPr>
          <a:xfrm>
            <a:off x="457200" y="5350000"/>
            <a:ext cx="11277600" cy="380000"/>
          </a:xfrm>
          <a:prstGeom prst="roundRect">
            <a:avLst/>
          </a:prstGeom>
          <a:solidFill>
            <a:srgbClr val="FFFFFF"/>
          </a:solidFill>
          <a:ln w="12700">
            <a:solidFill>
              <a:srgbClr val="8B2500"/>
            </a:solidFill>
          </a:ln>
        </p:spPr>
        <p:txBody>
          <a:bodyPr wrap="square" lIns="91440" tIns="36000" rIns="91440" bIns="36000" anchor="ctr"/>
          <a:lstStyle/>
          <a:p>
            <a:pPr algn="ctr">
              <a:buNone/>
            </a:pPr>
            <a:r>
              <a:rPr lang="ja-JP" sz="1200" b="1" dirty="0">
                <a:solidFill>
                  <a:srgbClr val="8B2500"/>
                </a:solidFill>
                <a:latin typeface="BIZ UDPGothic"/>
                <a:ea typeface="BIZ UDPGothic"/>
              </a:rPr>
              <a:t>基本方針：</a:t>
            </a:r>
            <a:r>
              <a:rPr lang="ja-JP" sz="1200" dirty="0">
                <a:solidFill>
                  <a:srgbClr val="3D3D3D"/>
                </a:solidFill>
                <a:latin typeface="BIZ UDPGothic"/>
                <a:ea typeface="BIZ UDPGothic"/>
              </a:rPr>
              <a:t>ブラックボックスモデル単独での提案は行わず、病院側で説明しやすい結果提示を前提とする。</a:t>
            </a:r>
          </a:p>
        </p:txBody>
      </p:sp>
    </p:spTree>
    <p:extLst>
      <p:ext uri="{BB962C8B-B14F-4D97-AF65-F5344CB8AC3E}">
        <p14:creationId xmlns:p14="http://schemas.microsoft.com/office/powerpoint/2010/main" val="174136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04DF46-DA60-9FA8-CDBB-60AA60EDB759}"/>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5. </a:t>
            </a:r>
            <a:r>
              <a:rPr kumimoji="1" lang="ja-JP" altLang="en-US" sz="2800" b="1">
                <a:solidFill>
                  <a:srgbClr val="8B2500"/>
                </a:solidFill>
                <a:latin typeface="BIZ UDPゴシック"/>
                <a:ea typeface="BIZ UDPゴシック"/>
              </a:rPr>
              <a:t>実施体制</a:t>
            </a:r>
          </a:p>
        </p:txBody>
      </p:sp>
      <p:graphicFrame>
        <p:nvGraphicFramePr>
          <p:cNvPr id="4" name="表 3">
            <a:extLst>
              <a:ext uri="{FF2B5EF4-FFF2-40B4-BE49-F238E27FC236}">
                <a16:creationId xmlns:a16="http://schemas.microsoft.com/office/drawing/2014/main" id="{2B6A907F-1A00-49F9-AC5E-98D621700EF9}"/>
              </a:ext>
            </a:extLst>
          </p:cNvPr>
          <p:cNvGraphicFramePr>
            <a:graphicFrameLocks noGrp="1"/>
          </p:cNvGraphicFramePr>
          <p:nvPr>
            <p:extLst>
              <p:ext uri="{D42A27DB-BD31-4B8C-83A1-F6EECF244321}">
                <p14:modId xmlns:p14="http://schemas.microsoft.com/office/powerpoint/2010/main" val="2758767120"/>
              </p:ext>
            </p:extLst>
          </p:nvPr>
        </p:nvGraphicFramePr>
        <p:xfrm>
          <a:off x="762000" y="952500"/>
          <a:ext cx="10668000" cy="35560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1697202790"/>
                    </a:ext>
                  </a:extLst>
                </a:gridCol>
                <a:gridCol w="3048000">
                  <a:extLst>
                    <a:ext uri="{9D8B030D-6E8A-4147-A177-3AD203B41FA5}">
                      <a16:colId xmlns:a16="http://schemas.microsoft.com/office/drawing/2014/main" val="3647625997"/>
                    </a:ext>
                  </a:extLst>
                </a:gridCol>
                <a:gridCol w="2286000">
                  <a:extLst>
                    <a:ext uri="{9D8B030D-6E8A-4147-A177-3AD203B41FA5}">
                      <a16:colId xmlns:a16="http://schemas.microsoft.com/office/drawing/2014/main" val="2615335986"/>
                    </a:ext>
                  </a:extLst>
                </a:gridCol>
                <a:gridCol w="4064000">
                  <a:extLst>
                    <a:ext uri="{9D8B030D-6E8A-4147-A177-3AD203B41FA5}">
                      <a16:colId xmlns:a16="http://schemas.microsoft.com/office/drawing/2014/main" val="459198084"/>
                    </a:ext>
                  </a:extLst>
                </a:gridCol>
              </a:tblGrid>
              <a:tr h="444500">
                <a:tc>
                  <a:txBody>
                    <a:bodyPr/>
                    <a:lstStyle/>
                    <a:p>
                      <a:pPr algn="ctr"/>
                      <a:r>
                        <a:rPr lang="ja-JP" altLang="en-US" sz="1400" b="1">
                          <a:solidFill>
                            <a:srgbClr val="FFFFFF"/>
                          </a:solidFill>
                          <a:latin typeface="BIZ UDPゴシック"/>
                          <a:ea typeface="BIZ UDPゴシック"/>
                        </a:rPr>
                        <a:t>区分</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役割</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氏名</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主な責任</a:t>
                      </a:r>
                    </a:p>
                  </a:txBody>
                  <a:tcPr anchor="ctr">
                    <a:solidFill>
                      <a:srgbClr val="8B2500"/>
                    </a:solidFill>
                  </a:tcPr>
                </a:tc>
                <a:extLst>
                  <a:ext uri="{0D108BD9-81ED-4DB2-BD59-A6C34878D82A}">
                    <a16:rowId xmlns:a16="http://schemas.microsoft.com/office/drawing/2014/main" val="3971129418"/>
                  </a:ext>
                </a:extLst>
              </a:tr>
              <a:tr h="444500">
                <a:tc>
                  <a:txBody>
                    <a:bodyPr/>
                    <a:lstStyle/>
                    <a:p>
                      <a:pPr algn="ctr"/>
                      <a:r>
                        <a:rPr lang="ja-JP" altLang="en-US" sz="1400" b="1">
                          <a:solidFill>
                            <a:srgbClr val="1A1A1A"/>
                          </a:solidFill>
                          <a:latin typeface="BIZ UDPゴシック"/>
                          <a:ea typeface="BIZ UDPゴシック"/>
                        </a:rPr>
                        <a:t>委託元</a:t>
                      </a:r>
                    </a:p>
                  </a:txBody>
                  <a:tcPr anchor="ctr">
                    <a:solidFill>
                      <a:srgbClr val="FFF5F0"/>
                    </a:solidFill>
                  </a:tcPr>
                </a:tc>
                <a:tc>
                  <a:txBody>
                    <a:bodyPr/>
                    <a:lstStyle/>
                    <a:p>
                      <a:pPr algn="ctr"/>
                      <a:r>
                        <a:rPr lang="ja-JP" altLang="en-US" sz="1400" b="1">
                          <a:solidFill>
                            <a:srgbClr val="1A1A1A"/>
                          </a:solidFill>
                          <a:latin typeface="BIZ UDPゴシック"/>
                          <a:ea typeface="BIZ UDPゴシック"/>
                        </a:rPr>
                        <a:t>主担当</a:t>
                      </a:r>
                    </a:p>
                  </a:txBody>
                  <a:tcPr anchor="ctr">
                    <a:solidFill>
                      <a:srgbClr val="FFF5F0"/>
                    </a:solidFill>
                  </a:tcPr>
                </a:tc>
                <a:tc>
                  <a:txBody>
                    <a:bodyPr/>
                    <a:lstStyle/>
                    <a:p>
                      <a:pPr algn="l"/>
                      <a:r>
                        <a:rPr lang="ja-JP" altLang="en-US" sz="1400" b="1">
                          <a:solidFill>
                            <a:srgbClr val="1A1A1A"/>
                          </a:solidFill>
                          <a:latin typeface="BIZ UDPゴシック"/>
                          <a:ea typeface="BIZ UDPゴシック"/>
                        </a:rPr>
                        <a:t>宮本 恒一 課長</a:t>
                      </a:r>
                    </a:p>
                  </a:txBody>
                  <a:tcPr anchor="ctr">
                    <a:solidFill>
                      <a:srgbClr val="FFF5F0"/>
                    </a:solidFill>
                  </a:tcPr>
                </a:tc>
                <a:tc>
                  <a:txBody>
                    <a:bodyPr/>
                    <a:lstStyle/>
                    <a:p>
                      <a:pPr algn="l"/>
                      <a:r>
                        <a:rPr lang="ja-JP" altLang="en-US" sz="1400" b="1">
                          <a:solidFill>
                            <a:srgbClr val="1A1A1A"/>
                          </a:solidFill>
                          <a:latin typeface="BIZ UDPゴシック"/>
                          <a:ea typeface="BIZ UDPゴシック"/>
                        </a:rPr>
                        <a:t>業務要件確認、レビュー、意思決定</a:t>
                      </a:r>
                    </a:p>
                  </a:txBody>
                  <a:tcPr anchor="ctr">
                    <a:solidFill>
                      <a:srgbClr val="FFF5F0"/>
                    </a:solidFill>
                  </a:tcPr>
                </a:tc>
                <a:extLst>
                  <a:ext uri="{0D108BD9-81ED-4DB2-BD59-A6C34878D82A}">
                    <a16:rowId xmlns:a16="http://schemas.microsoft.com/office/drawing/2014/main" val="259299849"/>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エグゼクティブスポンサー</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山田 直樹</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全体統括、重要判断支援</a:t>
                      </a:r>
                    </a:p>
                  </a:txBody>
                  <a:tcPr anchor="ctr">
                    <a:solidFill>
                      <a:srgbClr val="F2F0ED"/>
                    </a:solidFill>
                  </a:tcPr>
                </a:tc>
                <a:extLst>
                  <a:ext uri="{0D108BD9-81ED-4DB2-BD59-A6C34878D82A}">
                    <a16:rowId xmlns:a16="http://schemas.microsoft.com/office/drawing/2014/main" val="2767687767"/>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プロジェクトマネージャー</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加藤 大輔</a:t>
                      </a:r>
                    </a:p>
                  </a:txBody>
                  <a:tcPr anchor="ctr">
                    <a:solidFill>
                      <a:srgbClr val="FFFFFF"/>
                    </a:solidFill>
                  </a:tcPr>
                </a:tc>
                <a:tc>
                  <a:txBody>
                    <a:bodyPr/>
                    <a:lstStyle/>
                    <a:p>
                      <a:pPr algn="l"/>
                      <a:r>
                        <a:rPr lang="ja-JP" altLang="en-US" sz="1400">
                          <a:solidFill>
                            <a:srgbClr val="1A1A1A"/>
                          </a:solidFill>
                          <a:latin typeface="BIZ UDPゴシック"/>
                          <a:ea typeface="BIZ UDPゴシック"/>
                        </a:rPr>
                        <a:t>進行管理、課題管理、対外窓口統括</a:t>
                      </a:r>
                    </a:p>
                  </a:txBody>
                  <a:tcPr anchor="ctr">
                    <a:solidFill>
                      <a:srgbClr val="FFFFFF"/>
                    </a:solidFill>
                  </a:tcPr>
                </a:tc>
                <a:extLst>
                  <a:ext uri="{0D108BD9-81ED-4DB2-BD59-A6C34878D82A}">
                    <a16:rowId xmlns:a16="http://schemas.microsoft.com/office/drawing/2014/main" val="2572108973"/>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リードデータサイエンティスト</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山本 彩乃</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分析設計、モデル方針、結果解釈統括</a:t>
                      </a:r>
                    </a:p>
                  </a:txBody>
                  <a:tcPr anchor="ctr">
                    <a:solidFill>
                      <a:srgbClr val="F2F0ED"/>
                    </a:solidFill>
                  </a:tcPr>
                </a:tc>
                <a:extLst>
                  <a:ext uri="{0D108BD9-81ED-4DB2-BD59-A6C34878D82A}">
                    <a16:rowId xmlns:a16="http://schemas.microsoft.com/office/drawing/2014/main" val="1767522198"/>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データエンジニア</a:t>
                      </a:r>
                    </a:p>
                  </a:txBody>
                  <a:tcPr anchor="ctr">
                    <a:solidFill>
                      <a:srgbClr val="FFFFFF"/>
                    </a:solidFill>
                  </a:tcPr>
                </a:tc>
                <a:tc>
                  <a:txBody>
                    <a:bodyPr/>
                    <a:lstStyle/>
                    <a:p>
                      <a:pPr algn="l"/>
                      <a:r>
                        <a:rPr lang="ja-JP" altLang="en-US" sz="1400">
                          <a:solidFill>
                            <a:srgbClr val="1A1A1A"/>
                          </a:solidFill>
                          <a:latin typeface="BIZ UDPゴシック"/>
                          <a:ea typeface="BIZ UDPゴシック"/>
                        </a:rPr>
                        <a:t>斎藤 悠斗</a:t>
                      </a:r>
                    </a:p>
                  </a:txBody>
                  <a:tcPr anchor="ctr">
                    <a:solidFill>
                      <a:srgbClr val="FFFFFF"/>
                    </a:solidFill>
                  </a:tcPr>
                </a:tc>
                <a:tc>
                  <a:txBody>
                    <a:bodyPr/>
                    <a:lstStyle/>
                    <a:p>
                      <a:pPr algn="l"/>
                      <a:r>
                        <a:rPr lang="ja-JP" altLang="en-US" sz="1400">
                          <a:solidFill>
                            <a:srgbClr val="1A1A1A"/>
                          </a:solidFill>
                          <a:latin typeface="BIZ UDPゴシック"/>
                          <a:ea typeface="BIZ UDPゴシック"/>
                        </a:rPr>
                        <a:t>データ確認、前処理、実行環境整備</a:t>
                      </a:r>
                    </a:p>
                  </a:txBody>
                  <a:tcPr anchor="ctr">
                    <a:solidFill>
                      <a:srgbClr val="FFFFFF"/>
                    </a:solidFill>
                  </a:tcPr>
                </a:tc>
                <a:extLst>
                  <a:ext uri="{0D108BD9-81ED-4DB2-BD59-A6C34878D82A}">
                    <a16:rowId xmlns:a16="http://schemas.microsoft.com/office/drawing/2014/main" val="3052509640"/>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ビジネスアナリスト</a:t>
                      </a:r>
                    </a:p>
                  </a:txBody>
                  <a:tcPr anchor="ctr">
                    <a:solidFill>
                      <a:srgbClr val="F2F0ED"/>
                    </a:solidFill>
                  </a:tcPr>
                </a:tc>
                <a:tc>
                  <a:txBody>
                    <a:bodyPr/>
                    <a:lstStyle/>
                    <a:p>
                      <a:pPr algn="l"/>
                      <a:r>
                        <a:rPr lang="ja-JP" altLang="en-US" sz="1400">
                          <a:solidFill>
                            <a:srgbClr val="1A1A1A"/>
                          </a:solidFill>
                          <a:latin typeface="BIZ UDPゴシック"/>
                          <a:ea typeface="BIZ UDPゴシック"/>
                        </a:rPr>
                        <a:t>藤田 彩</a:t>
                      </a:r>
                    </a:p>
                  </a:txBody>
                  <a:tcPr anchor="ctr">
                    <a:solidFill>
                      <a:srgbClr val="F2F0ED"/>
                    </a:solidFill>
                  </a:tcPr>
                </a:tc>
                <a:tc>
                  <a:txBody>
                    <a:bodyPr/>
                    <a:lstStyle/>
                    <a:p>
                      <a:pPr algn="l"/>
                      <a:r>
                        <a:rPr lang="ja-JP" altLang="en-US" sz="1400">
                          <a:solidFill>
                            <a:srgbClr val="1A1A1A"/>
                          </a:solidFill>
                          <a:latin typeface="BIZ UDPゴシック"/>
                          <a:ea typeface="BIZ UDPゴシック"/>
                        </a:rPr>
                        <a:t>業務論点整理、示唆整理、報告資料作成</a:t>
                      </a:r>
                    </a:p>
                  </a:txBody>
                  <a:tcPr anchor="ctr">
                    <a:solidFill>
                      <a:srgbClr val="F2F0ED"/>
                    </a:solidFill>
                  </a:tcPr>
                </a:tc>
                <a:extLst>
                  <a:ext uri="{0D108BD9-81ED-4DB2-BD59-A6C34878D82A}">
                    <a16:rowId xmlns:a16="http://schemas.microsoft.com/office/drawing/2014/main" val="4128668757"/>
                  </a:ext>
                </a:extLst>
              </a:tr>
              <a:tr h="444500">
                <a:tc>
                  <a:txBody>
                    <a:bodyPr/>
                    <a:lstStyle/>
                    <a:p>
                      <a:pPr algn="ctr"/>
                      <a:r>
                        <a:rPr lang="ja-JP" altLang="en-US" sz="1400">
                          <a:solidFill>
                            <a:srgbClr val="1A1A1A"/>
                          </a:solidFill>
                          <a:latin typeface="BIZ UDPゴシック"/>
                          <a:ea typeface="BIZ UDPゴシック"/>
                        </a:rPr>
                        <a:t>委託先</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QAレビューア</a:t>
                      </a:r>
                    </a:p>
                  </a:txBody>
                  <a:tcPr anchor="ctr">
                    <a:solidFill>
                      <a:srgbClr val="FFFFFF"/>
                    </a:solidFill>
                  </a:tcPr>
                </a:tc>
                <a:tc>
                  <a:txBody>
                    <a:bodyPr/>
                    <a:lstStyle/>
                    <a:p>
                      <a:pPr algn="l"/>
                      <a:r>
                        <a:rPr lang="ja-JP" altLang="en-US" sz="1400">
                          <a:solidFill>
                            <a:srgbClr val="1A1A1A"/>
                          </a:solidFill>
                          <a:latin typeface="BIZ UDPゴシック"/>
                          <a:ea typeface="BIZ UDPゴシック"/>
                        </a:rPr>
                        <a:t>池田 直哉</a:t>
                      </a:r>
                    </a:p>
                  </a:txBody>
                  <a:tcPr anchor="ctr">
                    <a:solidFill>
                      <a:srgbClr val="FFFFFF"/>
                    </a:solidFill>
                  </a:tcPr>
                </a:tc>
                <a:tc>
                  <a:txBody>
                    <a:bodyPr/>
                    <a:lstStyle/>
                    <a:p>
                      <a:pPr algn="l"/>
                      <a:r>
                        <a:rPr lang="ja-JP" altLang="en-US" sz="1400">
                          <a:solidFill>
                            <a:srgbClr val="1A1A1A"/>
                          </a:solidFill>
                          <a:latin typeface="BIZ UDPゴシック"/>
                          <a:ea typeface="BIZ UDPゴシック"/>
                        </a:rPr>
                        <a:t>成果物レビュー、整合性・品質確認</a:t>
                      </a:r>
                    </a:p>
                  </a:txBody>
                  <a:tcPr anchor="ctr">
                    <a:solidFill>
                      <a:srgbClr val="FFFFFF"/>
                    </a:solidFill>
                  </a:tcPr>
                </a:tc>
                <a:extLst>
                  <a:ext uri="{0D108BD9-81ED-4DB2-BD59-A6C34878D82A}">
                    <a16:rowId xmlns:a16="http://schemas.microsoft.com/office/drawing/2014/main" val="1350568789"/>
                  </a:ext>
                </a:extLst>
              </a:tr>
            </a:tbl>
          </a:graphicData>
        </a:graphic>
      </p:graphicFrame>
    </p:spTree>
    <p:extLst>
      <p:ext uri="{BB962C8B-B14F-4D97-AF65-F5344CB8AC3E}">
        <p14:creationId xmlns:p14="http://schemas.microsoft.com/office/powerpoint/2010/main" val="382993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EF9B05-5B37-6684-029F-5807003EAD33}"/>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5. </a:t>
            </a:r>
            <a:r>
              <a:rPr kumimoji="1" lang="ja-JP" altLang="en-US" sz="2800" b="1">
                <a:solidFill>
                  <a:srgbClr val="8B2500"/>
                </a:solidFill>
                <a:latin typeface="BIZ UDPゴシック"/>
                <a:ea typeface="BIZ UDPゴシック"/>
              </a:rPr>
              <a:t>会議・報告運営</a:t>
            </a:r>
          </a:p>
        </p:txBody>
      </p:sp>
      <p:sp>
        <p:nvSpPr>
          <p:cNvPr id="20" name="S20"/>
          <p:cNvSpPr/>
          <p:nvPr/>
        </p:nvSpPr>
        <p:spPr>
          <a:xfrm>
            <a:off x="609600" y="1428600"/>
            <a:ext cx="457200" cy="457200"/>
          </a:xfrm>
          <a:prstGeom prst="ellipse">
            <a:avLst/>
          </a:prstGeom>
          <a:solidFill>
            <a:srgbClr val="8B2500"/>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21" name="S21"/>
          <p:cNvSpPr/>
          <p:nvPr/>
        </p:nvSpPr>
        <p:spPr>
          <a:xfrm>
            <a:off x="1219200" y="1352400"/>
            <a:ext cx="2667000" cy="914400"/>
          </a:xfrm>
          <a:prstGeom prst="rect">
            <a:avLst/>
          </a:prstGeom>
          <a:noFill/>
          <a:ln>
            <a:noFill/>
          </a:ln>
        </p:spPr>
        <p:txBody>
          <a:bodyPr wrap="square" lIns="72000" tIns="36000" rIns="72000" bIns="36000" anchor="ctr"/>
          <a:lstStyle/>
          <a:p>
            <a:pPr algn="l">
              <a:buNone/>
            </a:pPr>
            <a:r>
              <a:rPr lang="ja-JP" sz="1600" b="1" dirty="0">
                <a:solidFill>
                  <a:srgbClr val="8B2500"/>
                </a:solidFill>
                <a:latin typeface="BIZ UDPGothic"/>
                <a:ea typeface="BIZ UDPGothic"/>
              </a:rPr>
              <a:t>キックオフ</a:t>
            </a:r>
          </a:p>
          <a:p>
            <a:pPr algn="l">
              <a:buNone/>
            </a:pPr>
            <a:r>
              <a:rPr lang="ja-JP" sz="1300" dirty="0">
                <a:solidFill>
                  <a:srgbClr val="3D3D3D"/>
                </a:solidFill>
                <a:latin typeface="BIZ UDPGothic"/>
                <a:ea typeface="BIZ UDPGothic"/>
              </a:rPr>
              <a:t>開始週に実施</a:t>
            </a:r>
          </a:p>
        </p:txBody>
      </p:sp>
      <p:sp>
        <p:nvSpPr>
          <p:cNvPr id="22" name="S22"/>
          <p:cNvSpPr/>
          <p:nvPr/>
        </p:nvSpPr>
        <p:spPr>
          <a:xfrm>
            <a:off x="457200" y="1200000"/>
            <a:ext cx="3581400" cy="1371600"/>
          </a:xfrm>
          <a:prstGeom prst="roundRect">
            <a:avLst/>
          </a:prstGeom>
          <a:noFill/>
          <a:ln w="12700">
            <a:solidFill>
              <a:srgbClr val="8B2500"/>
            </a:solidFill>
          </a:ln>
        </p:spPr>
        <p:txBody>
          <a:bodyPr wrap="square" anchor="ctr"/>
          <a:lstStyle/>
          <a:p>
            <a:endParaRPr lang="ja-JP"/>
          </a:p>
        </p:txBody>
      </p:sp>
      <p:sp>
        <p:nvSpPr>
          <p:cNvPr id="23" name="S23"/>
          <p:cNvSpPr/>
          <p:nvPr/>
        </p:nvSpPr>
        <p:spPr>
          <a:xfrm>
            <a:off x="4419600" y="1428600"/>
            <a:ext cx="457200" cy="457200"/>
          </a:xfrm>
          <a:prstGeom prst="ellipse">
            <a:avLst/>
          </a:prstGeom>
          <a:solidFill>
            <a:srgbClr val="4A4A4A"/>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24" name="S24"/>
          <p:cNvSpPr/>
          <p:nvPr/>
        </p:nvSpPr>
        <p:spPr>
          <a:xfrm>
            <a:off x="5029200" y="1352400"/>
            <a:ext cx="2667000" cy="914400"/>
          </a:xfrm>
          <a:prstGeom prst="rect">
            <a:avLst/>
          </a:prstGeom>
          <a:noFill/>
          <a:ln>
            <a:noFill/>
          </a:ln>
        </p:spPr>
        <p:txBody>
          <a:bodyPr wrap="square" lIns="72000" tIns="36000" rIns="72000" bIns="36000" anchor="ctr"/>
          <a:lstStyle/>
          <a:p>
            <a:pPr algn="l">
              <a:buNone/>
            </a:pPr>
            <a:r>
              <a:rPr lang="ja-JP" sz="1600" b="1" dirty="0">
                <a:solidFill>
                  <a:srgbClr val="4A4A4A"/>
                </a:solidFill>
                <a:latin typeface="BIZ UDPGothic"/>
                <a:ea typeface="BIZ UDPGothic"/>
              </a:rPr>
              <a:t>定例会</a:t>
            </a:r>
          </a:p>
          <a:p>
            <a:pPr algn="l">
              <a:buNone/>
            </a:pPr>
            <a:r>
              <a:rPr lang="ja-JP" sz="1300" dirty="0">
                <a:solidFill>
                  <a:srgbClr val="3D3D3D"/>
                </a:solidFill>
                <a:latin typeface="BIZ UDPGothic"/>
                <a:ea typeface="BIZ UDPGothic"/>
              </a:rPr>
              <a:t>週1回</a:t>
            </a:r>
          </a:p>
        </p:txBody>
      </p:sp>
      <p:sp>
        <p:nvSpPr>
          <p:cNvPr id="25" name="S25"/>
          <p:cNvSpPr/>
          <p:nvPr/>
        </p:nvSpPr>
        <p:spPr>
          <a:xfrm>
            <a:off x="4267200" y="1200000"/>
            <a:ext cx="3581400" cy="1371600"/>
          </a:xfrm>
          <a:prstGeom prst="roundRect">
            <a:avLst/>
          </a:prstGeom>
          <a:noFill/>
          <a:ln w="12700">
            <a:solidFill>
              <a:srgbClr val="4A4A4A"/>
            </a:solidFill>
          </a:ln>
        </p:spPr>
        <p:txBody>
          <a:bodyPr wrap="square" anchor="ctr"/>
          <a:lstStyle/>
          <a:p>
            <a:endParaRPr lang="ja-JP"/>
          </a:p>
        </p:txBody>
      </p:sp>
      <p:sp>
        <p:nvSpPr>
          <p:cNvPr id="26" name="S26"/>
          <p:cNvSpPr/>
          <p:nvPr/>
        </p:nvSpPr>
        <p:spPr>
          <a:xfrm>
            <a:off x="8229600" y="1428600"/>
            <a:ext cx="457200" cy="457200"/>
          </a:xfrm>
          <a:prstGeom prst="ellipse">
            <a:avLst/>
          </a:prstGeom>
          <a:solidFill>
            <a:srgbClr val="8B2500"/>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27" name="S27"/>
          <p:cNvSpPr/>
          <p:nvPr/>
        </p:nvSpPr>
        <p:spPr>
          <a:xfrm>
            <a:off x="8839200" y="1352400"/>
            <a:ext cx="2667000" cy="914400"/>
          </a:xfrm>
          <a:prstGeom prst="rect">
            <a:avLst/>
          </a:prstGeom>
          <a:noFill/>
          <a:ln>
            <a:noFill/>
          </a:ln>
        </p:spPr>
        <p:txBody>
          <a:bodyPr wrap="square" lIns="72000" tIns="36000" rIns="72000" bIns="36000" anchor="ctr"/>
          <a:lstStyle/>
          <a:p>
            <a:pPr algn="l">
              <a:buNone/>
            </a:pPr>
            <a:r>
              <a:rPr lang="ja-JP" sz="1600" b="1" dirty="0">
                <a:solidFill>
                  <a:srgbClr val="8B2500"/>
                </a:solidFill>
                <a:latin typeface="BIZ UDPGothic"/>
                <a:ea typeface="BIZ UDPGothic"/>
              </a:rPr>
              <a:t>中間報告</a:t>
            </a:r>
          </a:p>
          <a:p>
            <a:pPr algn="l">
              <a:buNone/>
            </a:pPr>
            <a:r>
              <a:rPr lang="ja-JP" sz="1300" dirty="0">
                <a:solidFill>
                  <a:srgbClr val="3D3D3D"/>
                </a:solidFill>
                <a:latin typeface="BIZ UDPGothic"/>
                <a:ea typeface="BIZ UDPGothic"/>
              </a:rPr>
              <a:t>3週目を目安に実施</a:t>
            </a:r>
          </a:p>
        </p:txBody>
      </p:sp>
      <p:sp>
        <p:nvSpPr>
          <p:cNvPr id="28" name="S28"/>
          <p:cNvSpPr/>
          <p:nvPr/>
        </p:nvSpPr>
        <p:spPr>
          <a:xfrm>
            <a:off x="8077200" y="1200000"/>
            <a:ext cx="3581400" cy="1371600"/>
          </a:xfrm>
          <a:prstGeom prst="roundRect">
            <a:avLst/>
          </a:prstGeom>
          <a:noFill/>
          <a:ln w="12700">
            <a:solidFill>
              <a:srgbClr val="8B2500"/>
            </a:solidFill>
          </a:ln>
        </p:spPr>
        <p:txBody>
          <a:bodyPr wrap="square" anchor="ctr"/>
          <a:lstStyle/>
          <a:p>
            <a:endParaRPr lang="ja-JP"/>
          </a:p>
        </p:txBody>
      </p:sp>
      <p:sp>
        <p:nvSpPr>
          <p:cNvPr id="29" name="S29"/>
          <p:cNvSpPr/>
          <p:nvPr/>
        </p:nvSpPr>
        <p:spPr>
          <a:xfrm>
            <a:off x="609600" y="3028800"/>
            <a:ext cx="457200" cy="457200"/>
          </a:xfrm>
          <a:prstGeom prst="ellipse">
            <a:avLst/>
          </a:prstGeom>
          <a:solidFill>
            <a:srgbClr val="4A4A4A"/>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30" name="S30"/>
          <p:cNvSpPr/>
          <p:nvPr/>
        </p:nvSpPr>
        <p:spPr>
          <a:xfrm>
            <a:off x="1219200" y="2952600"/>
            <a:ext cx="2667000" cy="914400"/>
          </a:xfrm>
          <a:prstGeom prst="rect">
            <a:avLst/>
          </a:prstGeom>
          <a:noFill/>
          <a:ln>
            <a:noFill/>
          </a:ln>
        </p:spPr>
        <p:txBody>
          <a:bodyPr wrap="square" lIns="72000" tIns="36000" rIns="72000" bIns="36000" anchor="ctr"/>
          <a:lstStyle/>
          <a:p>
            <a:pPr algn="l">
              <a:buNone/>
            </a:pPr>
            <a:r>
              <a:rPr lang="ja-JP" sz="1600" b="1" dirty="0">
                <a:solidFill>
                  <a:srgbClr val="4A4A4A"/>
                </a:solidFill>
                <a:latin typeface="BIZ UDPGothic"/>
                <a:ea typeface="BIZ UDPGothic"/>
              </a:rPr>
              <a:t>最終報告</a:t>
            </a:r>
          </a:p>
          <a:p>
            <a:pPr algn="l">
              <a:buNone/>
            </a:pPr>
            <a:r>
              <a:rPr lang="ja-JP" sz="1300" dirty="0">
                <a:solidFill>
                  <a:srgbClr val="3D3D3D"/>
                </a:solidFill>
                <a:latin typeface="BIZ UDPGothic"/>
                <a:ea typeface="BIZ UDPGothic"/>
              </a:rPr>
              <a:t>5週目に実施</a:t>
            </a:r>
          </a:p>
        </p:txBody>
      </p:sp>
      <p:sp>
        <p:nvSpPr>
          <p:cNvPr id="31" name="S31"/>
          <p:cNvSpPr/>
          <p:nvPr/>
        </p:nvSpPr>
        <p:spPr>
          <a:xfrm>
            <a:off x="457200" y="2800200"/>
            <a:ext cx="3581400" cy="1371600"/>
          </a:xfrm>
          <a:prstGeom prst="roundRect">
            <a:avLst/>
          </a:prstGeom>
          <a:noFill/>
          <a:ln w="12700">
            <a:solidFill>
              <a:srgbClr val="4A4A4A"/>
            </a:solidFill>
          </a:ln>
        </p:spPr>
        <p:txBody>
          <a:bodyPr wrap="square" anchor="ctr"/>
          <a:lstStyle/>
          <a:p>
            <a:endParaRPr lang="ja-JP"/>
          </a:p>
        </p:txBody>
      </p:sp>
      <p:sp>
        <p:nvSpPr>
          <p:cNvPr id="32" name="S32"/>
          <p:cNvSpPr/>
          <p:nvPr/>
        </p:nvSpPr>
        <p:spPr>
          <a:xfrm>
            <a:off x="4419600" y="3028800"/>
            <a:ext cx="457200" cy="457200"/>
          </a:xfrm>
          <a:prstGeom prst="ellipse">
            <a:avLst/>
          </a:prstGeom>
          <a:solidFill>
            <a:srgbClr val="4A4A4A"/>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33" name="S33"/>
          <p:cNvSpPr/>
          <p:nvPr/>
        </p:nvSpPr>
        <p:spPr>
          <a:xfrm>
            <a:off x="5029200" y="2952600"/>
            <a:ext cx="2667000" cy="914400"/>
          </a:xfrm>
          <a:prstGeom prst="rect">
            <a:avLst/>
          </a:prstGeom>
          <a:noFill/>
          <a:ln>
            <a:noFill/>
          </a:ln>
        </p:spPr>
        <p:txBody>
          <a:bodyPr wrap="square" lIns="72000" tIns="36000" rIns="72000" bIns="36000" anchor="ctr"/>
          <a:lstStyle/>
          <a:p>
            <a:pPr algn="l">
              <a:buNone/>
            </a:pPr>
            <a:r>
              <a:rPr lang="ja-JP" sz="1600" b="1" dirty="0">
                <a:solidFill>
                  <a:srgbClr val="4A4A4A"/>
                </a:solidFill>
                <a:latin typeface="BIZ UDPGothic"/>
                <a:ea typeface="BIZ UDPGothic"/>
              </a:rPr>
              <a:t>課題管理</a:t>
            </a:r>
          </a:p>
          <a:p>
            <a:pPr algn="l">
              <a:buNone/>
            </a:pPr>
            <a:r>
              <a:rPr lang="ja-JP" sz="1300" dirty="0">
                <a:solidFill>
                  <a:srgbClr val="3D3D3D"/>
                </a:solidFill>
                <a:latin typeface="BIZ UDPGothic"/>
                <a:ea typeface="BIZ UDPGothic"/>
              </a:rPr>
              <a:t>課題一覧を随時更新</a:t>
            </a:r>
          </a:p>
        </p:txBody>
      </p:sp>
      <p:sp>
        <p:nvSpPr>
          <p:cNvPr id="34" name="S34"/>
          <p:cNvSpPr/>
          <p:nvPr/>
        </p:nvSpPr>
        <p:spPr>
          <a:xfrm>
            <a:off x="4267200" y="2800200"/>
            <a:ext cx="3581400" cy="1371600"/>
          </a:xfrm>
          <a:prstGeom prst="roundRect">
            <a:avLst/>
          </a:prstGeom>
          <a:noFill/>
          <a:ln w="12700">
            <a:solidFill>
              <a:srgbClr val="4A4A4A"/>
            </a:solidFill>
          </a:ln>
        </p:spPr>
        <p:txBody>
          <a:bodyPr wrap="square" anchor="ctr"/>
          <a:lstStyle/>
          <a:p>
            <a:endParaRPr lang="ja-JP"/>
          </a:p>
        </p:txBody>
      </p:sp>
      <p:sp>
        <p:nvSpPr>
          <p:cNvPr id="35" name="S35"/>
          <p:cNvSpPr/>
          <p:nvPr/>
        </p:nvSpPr>
        <p:spPr>
          <a:xfrm>
            <a:off x="8229600" y="3028800"/>
            <a:ext cx="457200" cy="457200"/>
          </a:xfrm>
          <a:prstGeom prst="ellipse">
            <a:avLst/>
          </a:prstGeom>
          <a:solidFill>
            <a:srgbClr val="8B2500"/>
          </a:solidFill>
          <a:ln>
            <a:noFill/>
          </a:ln>
        </p:spPr>
        <p:txBody>
          <a:bodyPr wrap="square" lIns="0" tIns="0" rIns="0" bIns="0" anchor="ctr"/>
          <a:lstStyle/>
          <a:p>
            <a:pPr algn="ctr">
              <a:buNone/>
            </a:pPr>
            <a:r>
              <a:rPr lang="ja-JP" sz="1600" b="1" dirty="0">
                <a:solidFill>
                  <a:srgbClr val="FFFFFF"/>
                </a:solidFill>
                <a:latin typeface="BIZ UDPGothic"/>
                <a:ea typeface="BIZ UDPGothic"/>
              </a:rPr>
              <a:t>⇄</a:t>
            </a:r>
          </a:p>
        </p:txBody>
      </p:sp>
      <p:sp>
        <p:nvSpPr>
          <p:cNvPr id="36" name="S36"/>
          <p:cNvSpPr/>
          <p:nvPr/>
        </p:nvSpPr>
        <p:spPr>
          <a:xfrm>
            <a:off x="8839200" y="2952600"/>
            <a:ext cx="2667000" cy="914400"/>
          </a:xfrm>
          <a:prstGeom prst="rect">
            <a:avLst/>
          </a:prstGeom>
          <a:noFill/>
          <a:ln>
            <a:noFill/>
          </a:ln>
        </p:spPr>
        <p:txBody>
          <a:bodyPr wrap="square" lIns="72000" tIns="36000" rIns="72000" bIns="36000" anchor="ctr"/>
          <a:lstStyle/>
          <a:p>
            <a:pPr algn="l">
              <a:buNone/>
            </a:pPr>
            <a:r>
              <a:rPr lang="ja-JP" sz="1600" b="1" dirty="0">
                <a:solidFill>
                  <a:srgbClr val="8B2500"/>
                </a:solidFill>
                <a:latin typeface="BIZ UDPGothic"/>
                <a:ea typeface="BIZ UDPGothic"/>
              </a:rPr>
              <a:t>変更管理</a:t>
            </a:r>
          </a:p>
          <a:p>
            <a:pPr algn="l">
              <a:buNone/>
            </a:pPr>
            <a:r>
              <a:rPr lang="ja-JP" sz="1300" dirty="0">
                <a:solidFill>
                  <a:srgbClr val="3D3D3D"/>
                </a:solidFill>
                <a:latin typeface="BIZ UDPGothic"/>
                <a:ea typeface="BIZ UDPGothic"/>
              </a:rPr>
              <a:t>追加対応は契約条件に従い管理</a:t>
            </a:r>
          </a:p>
        </p:txBody>
      </p:sp>
      <p:sp>
        <p:nvSpPr>
          <p:cNvPr id="37" name="S37"/>
          <p:cNvSpPr/>
          <p:nvPr/>
        </p:nvSpPr>
        <p:spPr>
          <a:xfrm>
            <a:off x="8077200" y="2800200"/>
            <a:ext cx="3581400" cy="1371600"/>
          </a:xfrm>
          <a:prstGeom prst="roundRect">
            <a:avLst/>
          </a:prstGeom>
          <a:noFill/>
          <a:ln w="12700">
            <a:solidFill>
              <a:srgbClr val="8B2500"/>
            </a:solidFill>
          </a:ln>
        </p:spPr>
        <p:txBody>
          <a:bodyPr wrap="square" anchor="ctr"/>
          <a:lstStyle/>
          <a:p>
            <a:endParaRPr lang="ja-JP"/>
          </a:p>
        </p:txBody>
      </p:sp>
      <p:sp>
        <p:nvSpPr>
          <p:cNvPr id="50" name="S50"/>
          <p:cNvSpPr/>
          <p:nvPr/>
        </p:nvSpPr>
        <p:spPr>
          <a:xfrm>
            <a:off x="457200" y="4200000"/>
            <a:ext cx="11277600" cy="500000"/>
          </a:xfrm>
          <a:prstGeom prst="rect">
            <a:avLst/>
          </a:prstGeom>
          <a:noFill/>
          <a:ln>
            <a:noFill/>
          </a:ln>
        </p:spPr>
        <p:txBody>
          <a:bodyPr wrap="square" lIns="91440" anchor="ctr"/>
          <a:lstStyle/>
          <a:p>
            <a:pPr algn="ctr">
              <a:buNone/>
            </a:pPr>
            <a:r>
              <a:rPr lang="ja-JP" sz="1400" b="1" dirty="0">
                <a:solidFill>
                  <a:srgbClr val="787878"/>
                </a:solidFill>
                <a:latin typeface="BIZ UDPGothic"/>
                <a:ea typeface="BIZ UDPGothic"/>
              </a:rPr>
              <a:t>キックオフ → 週次定例 → 中間報告 → 最終報告（全5週間）</a:t>
            </a:r>
          </a:p>
        </p:txBody>
      </p:sp>
    </p:spTree>
    <p:extLst>
      <p:ext uri="{BB962C8B-B14F-4D97-AF65-F5344CB8AC3E}">
        <p14:creationId xmlns:p14="http://schemas.microsoft.com/office/powerpoint/2010/main" val="106709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D6BCC4-C5B0-1A81-0CD8-6017851CB468}"/>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6. </a:t>
            </a:r>
            <a:r>
              <a:rPr kumimoji="1" lang="ja-JP" altLang="en-US" sz="2800" b="1">
                <a:solidFill>
                  <a:srgbClr val="8B2500"/>
                </a:solidFill>
                <a:latin typeface="BIZ UDPゴシック"/>
                <a:ea typeface="BIZ UDPゴシック"/>
              </a:rPr>
              <a:t>スケジュール案</a:t>
            </a:r>
          </a:p>
        </p:txBody>
      </p:sp>
      <p:sp>
        <p:nvSpPr>
          <p:cNvPr id="15" name="S15"/>
          <p:cNvSpPr/>
          <p:nvPr/>
        </p:nvSpPr>
        <p:spPr>
          <a:xfrm>
            <a:off x="457200" y="1050000"/>
            <a:ext cx="11277600" cy="350000"/>
          </a:xfrm>
          <a:prstGeom prst="rect">
            <a:avLst/>
          </a:prstGeom>
          <a:noFill/>
          <a:ln>
            <a:noFill/>
          </a:ln>
        </p:spPr>
        <p:txBody>
          <a:bodyPr wrap="square" lIns="91440" anchor="ctr"/>
          <a:lstStyle/>
          <a:p>
            <a:pPr algn="l">
              <a:buNone/>
            </a:pPr>
            <a:r>
              <a:rPr lang="ja-JP" sz="1400" b="1" dirty="0">
                <a:solidFill>
                  <a:srgbClr val="8B2500"/>
                </a:solidFill>
                <a:latin typeface="BIZ UDPGothic"/>
                <a:ea typeface="BIZ UDPGothic"/>
              </a:rPr>
              <a:t>契約開始日：</a:t>
            </a:r>
            <a:r>
              <a:rPr lang="ja-JP" sz="1400" dirty="0">
                <a:solidFill>
                  <a:srgbClr val="1A1A1A"/>
                </a:solidFill>
                <a:latin typeface="BIZ UDPGothic"/>
                <a:ea typeface="BIZ UDPGothic"/>
              </a:rPr>
              <a:t>2025-07-08　｜　</a:t>
            </a:r>
            <a:r>
              <a:rPr lang="ja-JP" sz="1400" b="1" dirty="0">
                <a:solidFill>
                  <a:srgbClr val="8B2500"/>
                </a:solidFill>
                <a:latin typeface="BIZ UDPGothic"/>
                <a:ea typeface="BIZ UDPGothic"/>
              </a:rPr>
              <a:t>期間：</a:t>
            </a:r>
            <a:r>
              <a:rPr lang="ja-JP" sz="1400" dirty="0">
                <a:solidFill>
                  <a:srgbClr val="1A1A1A"/>
                </a:solidFill>
                <a:latin typeface="BIZ UDPGothic"/>
                <a:ea typeface="BIZ UDPGothic"/>
              </a:rPr>
              <a:t>5週間</a:t>
            </a:r>
          </a:p>
        </p:txBody>
      </p:sp>
      <p:sp>
        <p:nvSpPr>
          <p:cNvPr id="20" name="S20"/>
          <p:cNvSpPr/>
          <p:nvPr/>
        </p:nvSpPr>
        <p:spPr>
          <a:xfrm>
            <a:off x="3200400" y="1500000"/>
            <a:ext cx="1524000" cy="400000"/>
          </a:xfrm>
          <a:prstGeom prst="rect">
            <a:avLst/>
          </a:prstGeom>
          <a:solidFill>
            <a:srgbClr val="4A4A4A"/>
          </a:solidFill>
          <a:ln w="6350">
            <a:solidFill>
              <a:srgbClr val="FFFFFF"/>
            </a:solidFill>
          </a:ln>
        </p:spPr>
        <p:txBody>
          <a:bodyPr wrap="square" lIns="0" tIns="0" rIns="0" bIns="0" anchor="ctr"/>
          <a:lstStyle/>
          <a:p>
            <a:pPr algn="ctr">
              <a:buNone/>
            </a:pPr>
            <a:r>
              <a:rPr lang="ja-JP" sz="1200" b="1" dirty="0">
                <a:solidFill>
                  <a:srgbClr val="FFFFFF"/>
                </a:solidFill>
                <a:latin typeface="BIZ UDPGothic"/>
                <a:ea typeface="BIZ UDPGothic"/>
              </a:rPr>
              <a:t>W1</a:t>
            </a:r>
          </a:p>
        </p:txBody>
      </p:sp>
      <p:sp>
        <p:nvSpPr>
          <p:cNvPr id="21" name="S21"/>
          <p:cNvSpPr/>
          <p:nvPr/>
        </p:nvSpPr>
        <p:spPr>
          <a:xfrm>
            <a:off x="4724400" y="1500000"/>
            <a:ext cx="1524000" cy="400000"/>
          </a:xfrm>
          <a:prstGeom prst="rect">
            <a:avLst/>
          </a:prstGeom>
          <a:solidFill>
            <a:srgbClr val="787878"/>
          </a:solidFill>
          <a:ln w="6350">
            <a:solidFill>
              <a:srgbClr val="FFFFFF"/>
            </a:solidFill>
          </a:ln>
        </p:spPr>
        <p:txBody>
          <a:bodyPr wrap="square" lIns="0" tIns="0" rIns="0" bIns="0" anchor="ctr"/>
          <a:lstStyle/>
          <a:p>
            <a:pPr algn="ctr">
              <a:buNone/>
            </a:pPr>
            <a:r>
              <a:rPr lang="ja-JP" sz="1200" b="1" dirty="0">
                <a:solidFill>
                  <a:srgbClr val="FFFFFF"/>
                </a:solidFill>
                <a:latin typeface="BIZ UDPGothic"/>
                <a:ea typeface="BIZ UDPGothic"/>
              </a:rPr>
              <a:t>W2</a:t>
            </a:r>
          </a:p>
        </p:txBody>
      </p:sp>
      <p:sp>
        <p:nvSpPr>
          <p:cNvPr id="22" name="S22"/>
          <p:cNvSpPr/>
          <p:nvPr/>
        </p:nvSpPr>
        <p:spPr>
          <a:xfrm>
            <a:off x="6248400" y="1500000"/>
            <a:ext cx="1524000" cy="400000"/>
          </a:xfrm>
          <a:prstGeom prst="rect">
            <a:avLst/>
          </a:prstGeom>
          <a:solidFill>
            <a:srgbClr val="4A4A4A"/>
          </a:solidFill>
          <a:ln w="6350">
            <a:solidFill>
              <a:srgbClr val="FFFFFF"/>
            </a:solidFill>
          </a:ln>
        </p:spPr>
        <p:txBody>
          <a:bodyPr wrap="square" lIns="0" tIns="0" rIns="0" bIns="0" anchor="ctr"/>
          <a:lstStyle/>
          <a:p>
            <a:pPr algn="ctr">
              <a:buNone/>
            </a:pPr>
            <a:r>
              <a:rPr lang="ja-JP" sz="1200" b="1" dirty="0">
                <a:solidFill>
                  <a:srgbClr val="FFFFFF"/>
                </a:solidFill>
                <a:latin typeface="BIZ UDPGothic"/>
                <a:ea typeface="BIZ UDPGothic"/>
              </a:rPr>
              <a:t>W3</a:t>
            </a:r>
          </a:p>
        </p:txBody>
      </p:sp>
      <p:sp>
        <p:nvSpPr>
          <p:cNvPr id="23" name="S23"/>
          <p:cNvSpPr/>
          <p:nvPr/>
        </p:nvSpPr>
        <p:spPr>
          <a:xfrm>
            <a:off x="7772400" y="1500000"/>
            <a:ext cx="1524000" cy="400000"/>
          </a:xfrm>
          <a:prstGeom prst="rect">
            <a:avLst/>
          </a:prstGeom>
          <a:solidFill>
            <a:srgbClr val="787878"/>
          </a:solidFill>
          <a:ln w="6350">
            <a:solidFill>
              <a:srgbClr val="FFFFFF"/>
            </a:solidFill>
          </a:ln>
        </p:spPr>
        <p:txBody>
          <a:bodyPr wrap="square" lIns="0" tIns="0" rIns="0" bIns="0" anchor="ctr"/>
          <a:lstStyle/>
          <a:p>
            <a:pPr algn="ctr">
              <a:buNone/>
            </a:pPr>
            <a:r>
              <a:rPr lang="ja-JP" sz="1200" b="1" dirty="0">
                <a:solidFill>
                  <a:srgbClr val="FFFFFF"/>
                </a:solidFill>
                <a:latin typeface="BIZ UDPGothic"/>
                <a:ea typeface="BIZ UDPGothic"/>
              </a:rPr>
              <a:t>W4</a:t>
            </a:r>
          </a:p>
        </p:txBody>
      </p:sp>
      <p:sp>
        <p:nvSpPr>
          <p:cNvPr id="24" name="S24"/>
          <p:cNvSpPr/>
          <p:nvPr/>
        </p:nvSpPr>
        <p:spPr>
          <a:xfrm>
            <a:off x="9296400" y="1500000"/>
            <a:ext cx="1524000" cy="400000"/>
          </a:xfrm>
          <a:prstGeom prst="rect">
            <a:avLst/>
          </a:prstGeom>
          <a:solidFill>
            <a:srgbClr val="4A4A4A"/>
          </a:solidFill>
          <a:ln w="6350">
            <a:solidFill>
              <a:srgbClr val="FFFFFF"/>
            </a:solidFill>
          </a:ln>
        </p:spPr>
        <p:txBody>
          <a:bodyPr wrap="square" lIns="0" tIns="0" rIns="0" bIns="0" anchor="ctr"/>
          <a:lstStyle/>
          <a:p>
            <a:pPr algn="ctr">
              <a:buNone/>
            </a:pPr>
            <a:r>
              <a:rPr lang="ja-JP" sz="1200" b="1" dirty="0">
                <a:solidFill>
                  <a:srgbClr val="FFFFFF"/>
                </a:solidFill>
                <a:latin typeface="BIZ UDPGothic"/>
                <a:ea typeface="BIZ UDPGothic"/>
              </a:rPr>
              <a:t>W5</a:t>
            </a:r>
          </a:p>
        </p:txBody>
      </p:sp>
      <p:sp>
        <p:nvSpPr>
          <p:cNvPr id="26" name="S26"/>
          <p:cNvSpPr/>
          <p:nvPr/>
        </p:nvSpPr>
        <p:spPr>
          <a:xfrm>
            <a:off x="457200" y="1500000"/>
            <a:ext cx="2743200" cy="400000"/>
          </a:xfrm>
          <a:prstGeom prst="rect">
            <a:avLst/>
          </a:prstGeom>
          <a:solidFill>
            <a:srgbClr val="1A1A1A"/>
          </a:solidFill>
          <a:ln w="6350">
            <a:solidFill>
              <a:srgbClr val="FFFFFF"/>
            </a:solidFill>
          </a:ln>
        </p:spPr>
        <p:txBody>
          <a:bodyPr wrap="square" lIns="91440" tIns="0" rIns="91440" bIns="0" anchor="ctr"/>
          <a:lstStyle/>
          <a:p>
            <a:pPr algn="l">
              <a:buNone/>
            </a:pPr>
            <a:r>
              <a:rPr lang="ja-JP" sz="1200" b="1" dirty="0">
                <a:solidFill>
                  <a:srgbClr val="FFFFFF"/>
                </a:solidFill>
                <a:latin typeface="BIZ UDPGothic"/>
                <a:ea typeface="BIZ UDPGothic"/>
              </a:rPr>
              <a:t>フェーズ</a:t>
            </a:r>
          </a:p>
        </p:txBody>
      </p:sp>
      <p:sp>
        <p:nvSpPr>
          <p:cNvPr id="30" name="S30"/>
          <p:cNvSpPr/>
          <p:nvPr/>
        </p:nvSpPr>
        <p:spPr>
          <a:xfrm>
            <a:off x="457200" y="1976200"/>
            <a:ext cx="2743200" cy="685800"/>
          </a:xfrm>
          <a:prstGeom prst="rect">
            <a:avLst/>
          </a:prstGeom>
          <a:solidFill>
            <a:srgbClr val="F2F0ED"/>
          </a:solidFill>
          <a:ln w="6350">
            <a:solidFill>
              <a:srgbClr val="C8C8C8"/>
            </a:solidFill>
          </a:ln>
        </p:spPr>
        <p:txBody>
          <a:bodyPr wrap="square" lIns="91440" tIns="18000" rIns="91440" bIns="18000" anchor="ctr"/>
          <a:lstStyle/>
          <a:p>
            <a:pPr algn="l">
              <a:buNone/>
            </a:pPr>
            <a:r>
              <a:rPr lang="ja-JP" sz="1200" b="1" dirty="0">
                <a:solidFill>
                  <a:srgbClr val="1A1A1A"/>
                </a:solidFill>
                <a:latin typeface="BIZ UDPGothic"/>
                <a:ea typeface="BIZ UDPGothic"/>
              </a:rPr>
              <a:t>立上げ・要件確認</a:t>
            </a:r>
          </a:p>
        </p:txBody>
      </p:sp>
      <p:sp>
        <p:nvSpPr>
          <p:cNvPr id="31" name="S31"/>
          <p:cNvSpPr/>
          <p:nvPr/>
        </p:nvSpPr>
        <p:spPr>
          <a:xfrm>
            <a:off x="3200400" y="2052400"/>
            <a:ext cx="1524000" cy="533400"/>
          </a:xfrm>
          <a:prstGeom prst="roundRect">
            <a:avLst/>
          </a:prstGeom>
          <a:solidFill>
            <a:srgbClr val="8B2500"/>
          </a:solidFill>
          <a:ln>
            <a:noFill/>
          </a:ln>
        </p:spPr>
        <p:txBody>
          <a:bodyPr wrap="square" lIns="72000" tIns="18000" rIns="72000" bIns="18000" anchor="ctr"/>
          <a:lstStyle/>
          <a:p>
            <a:pPr algn="ctr">
              <a:buNone/>
            </a:pPr>
            <a:r>
              <a:rPr lang="ja-JP" sz="1100" b="1" dirty="0">
                <a:solidFill>
                  <a:srgbClr val="FFFFFF"/>
                </a:solidFill>
                <a:latin typeface="BIZ UDPGothic"/>
                <a:ea typeface="BIZ UDPGothic"/>
              </a:rPr>
              <a:t>キックオフ完了</a:t>
            </a:r>
          </a:p>
        </p:txBody>
      </p:sp>
      <p:sp>
        <p:nvSpPr>
          <p:cNvPr id="100" name="S100"/>
          <p:cNvSpPr/>
          <p:nvPr/>
        </p:nvSpPr>
        <p:spPr>
          <a:xfrm>
            <a:off x="3200400" y="1976200"/>
            <a:ext cx="1524000" cy="685800"/>
          </a:xfrm>
          <a:prstGeom prst="rect">
            <a:avLst/>
          </a:prstGeom>
          <a:noFill/>
          <a:ln w="6350">
            <a:solidFill>
              <a:srgbClr val="E0E0E0"/>
            </a:solidFill>
          </a:ln>
        </p:spPr>
        <p:txBody>
          <a:bodyPr wrap="square" anchor="ctr"/>
          <a:lstStyle/>
          <a:p>
            <a:endParaRPr lang="ja-JP"/>
          </a:p>
        </p:txBody>
      </p:sp>
      <p:sp>
        <p:nvSpPr>
          <p:cNvPr id="101" name="S101"/>
          <p:cNvSpPr/>
          <p:nvPr/>
        </p:nvSpPr>
        <p:spPr>
          <a:xfrm>
            <a:off x="4724400" y="1976200"/>
            <a:ext cx="1524000" cy="685800"/>
          </a:xfrm>
          <a:prstGeom prst="rect">
            <a:avLst/>
          </a:prstGeom>
          <a:noFill/>
          <a:ln w="6350">
            <a:solidFill>
              <a:srgbClr val="E0E0E0"/>
            </a:solidFill>
          </a:ln>
        </p:spPr>
        <p:txBody>
          <a:bodyPr wrap="square" anchor="ctr"/>
          <a:lstStyle/>
          <a:p>
            <a:endParaRPr lang="ja-JP"/>
          </a:p>
        </p:txBody>
      </p:sp>
      <p:sp>
        <p:nvSpPr>
          <p:cNvPr id="102" name="S102"/>
          <p:cNvSpPr/>
          <p:nvPr/>
        </p:nvSpPr>
        <p:spPr>
          <a:xfrm>
            <a:off x="6248400" y="1976200"/>
            <a:ext cx="1524000" cy="685800"/>
          </a:xfrm>
          <a:prstGeom prst="rect">
            <a:avLst/>
          </a:prstGeom>
          <a:noFill/>
          <a:ln w="6350">
            <a:solidFill>
              <a:srgbClr val="E0E0E0"/>
            </a:solidFill>
          </a:ln>
        </p:spPr>
        <p:txBody>
          <a:bodyPr wrap="square" anchor="ctr"/>
          <a:lstStyle/>
          <a:p>
            <a:endParaRPr lang="ja-JP"/>
          </a:p>
        </p:txBody>
      </p:sp>
      <p:sp>
        <p:nvSpPr>
          <p:cNvPr id="103" name="S103"/>
          <p:cNvSpPr/>
          <p:nvPr/>
        </p:nvSpPr>
        <p:spPr>
          <a:xfrm>
            <a:off x="7772400" y="1976200"/>
            <a:ext cx="1524000" cy="685800"/>
          </a:xfrm>
          <a:prstGeom prst="rect">
            <a:avLst/>
          </a:prstGeom>
          <a:noFill/>
          <a:ln w="6350">
            <a:solidFill>
              <a:srgbClr val="E0E0E0"/>
            </a:solidFill>
          </a:ln>
        </p:spPr>
        <p:txBody>
          <a:bodyPr wrap="square" anchor="ctr"/>
          <a:lstStyle/>
          <a:p>
            <a:endParaRPr lang="ja-JP"/>
          </a:p>
        </p:txBody>
      </p:sp>
      <p:sp>
        <p:nvSpPr>
          <p:cNvPr id="104" name="S104"/>
          <p:cNvSpPr/>
          <p:nvPr/>
        </p:nvSpPr>
        <p:spPr>
          <a:xfrm>
            <a:off x="9296400" y="1976200"/>
            <a:ext cx="1524000" cy="685800"/>
          </a:xfrm>
          <a:prstGeom prst="rect">
            <a:avLst/>
          </a:prstGeom>
          <a:noFill/>
          <a:ln w="6350">
            <a:solidFill>
              <a:srgbClr val="E0E0E0"/>
            </a:solidFill>
          </a:ln>
        </p:spPr>
        <p:txBody>
          <a:bodyPr wrap="square" anchor="ctr"/>
          <a:lstStyle/>
          <a:p>
            <a:endParaRPr lang="ja-JP"/>
          </a:p>
        </p:txBody>
      </p:sp>
      <p:sp>
        <p:nvSpPr>
          <p:cNvPr id="33" name="S33"/>
          <p:cNvSpPr/>
          <p:nvPr/>
        </p:nvSpPr>
        <p:spPr>
          <a:xfrm>
            <a:off x="457200" y="2738200"/>
            <a:ext cx="2743200" cy="685800"/>
          </a:xfrm>
          <a:prstGeom prst="rect">
            <a:avLst/>
          </a:prstGeom>
          <a:solidFill>
            <a:srgbClr val="F2F0ED"/>
          </a:solidFill>
          <a:ln w="6350">
            <a:solidFill>
              <a:srgbClr val="C8C8C8"/>
            </a:solidFill>
          </a:ln>
        </p:spPr>
        <p:txBody>
          <a:bodyPr wrap="square" lIns="91440" tIns="18000" rIns="91440" bIns="18000" anchor="ctr"/>
          <a:lstStyle/>
          <a:p>
            <a:pPr algn="l">
              <a:buNone/>
            </a:pPr>
            <a:r>
              <a:rPr lang="ja-JP" sz="1200" b="1" dirty="0">
                <a:solidFill>
                  <a:srgbClr val="1A1A1A"/>
                </a:solidFill>
                <a:latin typeface="BIZ UDPGothic"/>
                <a:ea typeface="BIZ UDPGothic"/>
              </a:rPr>
              <a:t>データ理解・基礎集計</a:t>
            </a:r>
          </a:p>
        </p:txBody>
      </p:sp>
      <p:sp>
        <p:nvSpPr>
          <p:cNvPr id="34" name="S34"/>
          <p:cNvSpPr/>
          <p:nvPr/>
        </p:nvSpPr>
        <p:spPr>
          <a:xfrm>
            <a:off x="4419600" y="2814400"/>
            <a:ext cx="2286000" cy="533400"/>
          </a:xfrm>
          <a:prstGeom prst="roundRect">
            <a:avLst/>
          </a:prstGeom>
          <a:solidFill>
            <a:srgbClr val="A03A1A"/>
          </a:solidFill>
          <a:ln>
            <a:noFill/>
          </a:ln>
        </p:spPr>
        <p:txBody>
          <a:bodyPr wrap="square" lIns="72000" tIns="18000" rIns="72000" bIns="18000" anchor="ctr"/>
          <a:lstStyle/>
          <a:p>
            <a:pPr algn="ctr">
              <a:buNone/>
            </a:pPr>
            <a:r>
              <a:rPr lang="ja-JP" sz="1100" b="1" dirty="0">
                <a:solidFill>
                  <a:srgbClr val="FFFFFF"/>
                </a:solidFill>
                <a:latin typeface="BIZ UDPGothic"/>
                <a:ea typeface="BIZ UDPGothic"/>
              </a:rPr>
              <a:t>データ理解完了</a:t>
            </a:r>
          </a:p>
        </p:txBody>
      </p:sp>
      <p:sp>
        <p:nvSpPr>
          <p:cNvPr id="105" name="S105"/>
          <p:cNvSpPr/>
          <p:nvPr/>
        </p:nvSpPr>
        <p:spPr>
          <a:xfrm>
            <a:off x="3200400" y="2738200"/>
            <a:ext cx="1524000" cy="685800"/>
          </a:xfrm>
          <a:prstGeom prst="rect">
            <a:avLst/>
          </a:prstGeom>
          <a:noFill/>
          <a:ln w="6350">
            <a:solidFill>
              <a:srgbClr val="E0E0E0"/>
            </a:solidFill>
          </a:ln>
        </p:spPr>
        <p:txBody>
          <a:bodyPr wrap="square" anchor="ctr"/>
          <a:lstStyle/>
          <a:p>
            <a:endParaRPr lang="ja-JP"/>
          </a:p>
        </p:txBody>
      </p:sp>
      <p:sp>
        <p:nvSpPr>
          <p:cNvPr id="106" name="S106"/>
          <p:cNvSpPr/>
          <p:nvPr/>
        </p:nvSpPr>
        <p:spPr>
          <a:xfrm>
            <a:off x="4724400" y="2738200"/>
            <a:ext cx="1524000" cy="685800"/>
          </a:xfrm>
          <a:prstGeom prst="rect">
            <a:avLst/>
          </a:prstGeom>
          <a:noFill/>
          <a:ln w="6350">
            <a:solidFill>
              <a:srgbClr val="E0E0E0"/>
            </a:solidFill>
          </a:ln>
        </p:spPr>
        <p:txBody>
          <a:bodyPr wrap="square" anchor="ctr"/>
          <a:lstStyle/>
          <a:p>
            <a:endParaRPr lang="ja-JP"/>
          </a:p>
        </p:txBody>
      </p:sp>
      <p:sp>
        <p:nvSpPr>
          <p:cNvPr id="107" name="S107"/>
          <p:cNvSpPr/>
          <p:nvPr/>
        </p:nvSpPr>
        <p:spPr>
          <a:xfrm>
            <a:off x="6248400" y="2738200"/>
            <a:ext cx="1524000" cy="685800"/>
          </a:xfrm>
          <a:prstGeom prst="rect">
            <a:avLst/>
          </a:prstGeom>
          <a:noFill/>
          <a:ln w="6350">
            <a:solidFill>
              <a:srgbClr val="E0E0E0"/>
            </a:solidFill>
          </a:ln>
        </p:spPr>
        <p:txBody>
          <a:bodyPr wrap="square" anchor="ctr"/>
          <a:lstStyle/>
          <a:p>
            <a:endParaRPr lang="ja-JP"/>
          </a:p>
        </p:txBody>
      </p:sp>
      <p:sp>
        <p:nvSpPr>
          <p:cNvPr id="108" name="S108"/>
          <p:cNvSpPr/>
          <p:nvPr/>
        </p:nvSpPr>
        <p:spPr>
          <a:xfrm>
            <a:off x="7772400" y="2738200"/>
            <a:ext cx="1524000" cy="685800"/>
          </a:xfrm>
          <a:prstGeom prst="rect">
            <a:avLst/>
          </a:prstGeom>
          <a:noFill/>
          <a:ln w="6350">
            <a:solidFill>
              <a:srgbClr val="E0E0E0"/>
            </a:solidFill>
          </a:ln>
        </p:spPr>
        <p:txBody>
          <a:bodyPr wrap="square" anchor="ctr"/>
          <a:lstStyle/>
          <a:p>
            <a:endParaRPr lang="ja-JP"/>
          </a:p>
        </p:txBody>
      </p:sp>
      <p:sp>
        <p:nvSpPr>
          <p:cNvPr id="109" name="S109"/>
          <p:cNvSpPr/>
          <p:nvPr/>
        </p:nvSpPr>
        <p:spPr>
          <a:xfrm>
            <a:off x="9296400" y="2738200"/>
            <a:ext cx="1524000" cy="685800"/>
          </a:xfrm>
          <a:prstGeom prst="rect">
            <a:avLst/>
          </a:prstGeom>
          <a:noFill/>
          <a:ln w="6350">
            <a:solidFill>
              <a:srgbClr val="E0E0E0"/>
            </a:solidFill>
          </a:ln>
        </p:spPr>
        <p:txBody>
          <a:bodyPr wrap="square" anchor="ctr"/>
          <a:lstStyle/>
          <a:p>
            <a:endParaRPr lang="ja-JP"/>
          </a:p>
        </p:txBody>
      </p:sp>
      <p:sp>
        <p:nvSpPr>
          <p:cNvPr id="36" name="S36"/>
          <p:cNvSpPr/>
          <p:nvPr/>
        </p:nvSpPr>
        <p:spPr>
          <a:xfrm>
            <a:off x="457200" y="3500200"/>
            <a:ext cx="2743200" cy="685800"/>
          </a:xfrm>
          <a:prstGeom prst="rect">
            <a:avLst/>
          </a:prstGeom>
          <a:solidFill>
            <a:srgbClr val="F2F0ED"/>
          </a:solidFill>
          <a:ln w="6350">
            <a:solidFill>
              <a:srgbClr val="C8C8C8"/>
            </a:solidFill>
          </a:ln>
        </p:spPr>
        <p:txBody>
          <a:bodyPr wrap="square" lIns="91440" tIns="18000" rIns="91440" bIns="18000" anchor="ctr"/>
          <a:lstStyle/>
          <a:p>
            <a:pPr algn="l">
              <a:buNone/>
            </a:pPr>
            <a:r>
              <a:rPr lang="ja-JP" sz="1200" b="1" dirty="0">
                <a:solidFill>
                  <a:srgbClr val="1A1A1A"/>
                </a:solidFill>
                <a:latin typeface="BIZ UDPGothic"/>
                <a:ea typeface="BIZ UDPGothic"/>
              </a:rPr>
              <a:t>モデリング・評価</a:t>
            </a:r>
          </a:p>
        </p:txBody>
      </p:sp>
      <p:sp>
        <p:nvSpPr>
          <p:cNvPr id="37" name="S37"/>
          <p:cNvSpPr/>
          <p:nvPr/>
        </p:nvSpPr>
        <p:spPr>
          <a:xfrm>
            <a:off x="5882528" y="3590408"/>
            <a:ext cx="3810000" cy="533400"/>
          </a:xfrm>
          <a:prstGeom prst="roundRect">
            <a:avLst/>
          </a:prstGeom>
          <a:solidFill>
            <a:srgbClr val="4A4A4A"/>
          </a:solidFill>
          <a:ln>
            <a:noFill/>
          </a:ln>
        </p:spPr>
        <p:txBody>
          <a:bodyPr wrap="square" lIns="72000" tIns="18000" rIns="72000" bIns="18000" anchor="ctr"/>
          <a:lstStyle/>
          <a:p>
            <a:pPr algn="ctr">
              <a:buNone/>
            </a:pPr>
            <a:r>
              <a:rPr lang="ja-JP" sz="1100" b="1" dirty="0">
                <a:solidFill>
                  <a:srgbClr val="FFFFFF"/>
                </a:solidFill>
                <a:latin typeface="BIZ UDPGothic"/>
                <a:ea typeface="BIZ UDPGothic"/>
              </a:rPr>
              <a:t>中間報告 / 分析方針確定</a:t>
            </a:r>
          </a:p>
        </p:txBody>
      </p:sp>
      <p:sp>
        <p:nvSpPr>
          <p:cNvPr id="110" name="S110"/>
          <p:cNvSpPr/>
          <p:nvPr/>
        </p:nvSpPr>
        <p:spPr>
          <a:xfrm>
            <a:off x="3200400" y="3500200"/>
            <a:ext cx="1524000" cy="685800"/>
          </a:xfrm>
          <a:prstGeom prst="rect">
            <a:avLst/>
          </a:prstGeom>
          <a:noFill/>
          <a:ln w="6350">
            <a:solidFill>
              <a:srgbClr val="E0E0E0"/>
            </a:solidFill>
          </a:ln>
        </p:spPr>
        <p:txBody>
          <a:bodyPr wrap="square" anchor="ctr"/>
          <a:lstStyle/>
          <a:p>
            <a:endParaRPr lang="ja-JP"/>
          </a:p>
        </p:txBody>
      </p:sp>
      <p:sp>
        <p:nvSpPr>
          <p:cNvPr id="111" name="S111"/>
          <p:cNvSpPr/>
          <p:nvPr/>
        </p:nvSpPr>
        <p:spPr>
          <a:xfrm>
            <a:off x="4724400" y="3500200"/>
            <a:ext cx="1524000" cy="685800"/>
          </a:xfrm>
          <a:prstGeom prst="rect">
            <a:avLst/>
          </a:prstGeom>
          <a:noFill/>
          <a:ln w="6350">
            <a:solidFill>
              <a:srgbClr val="E0E0E0"/>
            </a:solidFill>
          </a:ln>
        </p:spPr>
        <p:txBody>
          <a:bodyPr wrap="square" anchor="ctr"/>
          <a:lstStyle/>
          <a:p>
            <a:endParaRPr lang="ja-JP"/>
          </a:p>
        </p:txBody>
      </p:sp>
      <p:sp>
        <p:nvSpPr>
          <p:cNvPr id="112" name="S112"/>
          <p:cNvSpPr/>
          <p:nvPr/>
        </p:nvSpPr>
        <p:spPr>
          <a:xfrm>
            <a:off x="6248400" y="3500200"/>
            <a:ext cx="1524000" cy="685800"/>
          </a:xfrm>
          <a:prstGeom prst="rect">
            <a:avLst/>
          </a:prstGeom>
          <a:noFill/>
          <a:ln w="6350">
            <a:solidFill>
              <a:srgbClr val="E0E0E0"/>
            </a:solidFill>
          </a:ln>
        </p:spPr>
        <p:txBody>
          <a:bodyPr wrap="square" anchor="ctr"/>
          <a:lstStyle/>
          <a:p>
            <a:endParaRPr lang="ja-JP"/>
          </a:p>
        </p:txBody>
      </p:sp>
      <p:sp>
        <p:nvSpPr>
          <p:cNvPr id="113" name="S113"/>
          <p:cNvSpPr/>
          <p:nvPr/>
        </p:nvSpPr>
        <p:spPr>
          <a:xfrm>
            <a:off x="7772400" y="3500200"/>
            <a:ext cx="1524000" cy="685800"/>
          </a:xfrm>
          <a:prstGeom prst="rect">
            <a:avLst/>
          </a:prstGeom>
          <a:noFill/>
          <a:ln w="6350">
            <a:solidFill>
              <a:srgbClr val="E0E0E0"/>
            </a:solidFill>
          </a:ln>
        </p:spPr>
        <p:txBody>
          <a:bodyPr wrap="square" anchor="ctr"/>
          <a:lstStyle/>
          <a:p>
            <a:endParaRPr lang="ja-JP"/>
          </a:p>
        </p:txBody>
      </p:sp>
      <p:sp>
        <p:nvSpPr>
          <p:cNvPr id="114" name="S114"/>
          <p:cNvSpPr/>
          <p:nvPr/>
        </p:nvSpPr>
        <p:spPr>
          <a:xfrm>
            <a:off x="9296400" y="3500200"/>
            <a:ext cx="1524000" cy="685800"/>
          </a:xfrm>
          <a:prstGeom prst="rect">
            <a:avLst/>
          </a:prstGeom>
          <a:noFill/>
          <a:ln w="6350">
            <a:solidFill>
              <a:srgbClr val="E0E0E0"/>
            </a:solidFill>
          </a:ln>
        </p:spPr>
        <p:txBody>
          <a:bodyPr wrap="square" anchor="ctr"/>
          <a:lstStyle/>
          <a:p>
            <a:endParaRPr lang="ja-JP"/>
          </a:p>
        </p:txBody>
      </p:sp>
      <p:sp>
        <p:nvSpPr>
          <p:cNvPr id="39" name="S39"/>
          <p:cNvSpPr/>
          <p:nvPr/>
        </p:nvSpPr>
        <p:spPr>
          <a:xfrm>
            <a:off x="457200" y="4262200"/>
            <a:ext cx="2743200" cy="685800"/>
          </a:xfrm>
          <a:prstGeom prst="rect">
            <a:avLst/>
          </a:prstGeom>
          <a:solidFill>
            <a:srgbClr val="F2F0ED"/>
          </a:solidFill>
          <a:ln w="6350">
            <a:solidFill>
              <a:srgbClr val="C8C8C8"/>
            </a:solidFill>
          </a:ln>
        </p:spPr>
        <p:txBody>
          <a:bodyPr wrap="square" lIns="91440" tIns="18000" rIns="91440" bIns="18000" anchor="ctr"/>
          <a:lstStyle/>
          <a:p>
            <a:pPr algn="l">
              <a:buNone/>
            </a:pPr>
            <a:r>
              <a:rPr lang="ja-JP" sz="1200" b="1" dirty="0">
                <a:solidFill>
                  <a:srgbClr val="1A1A1A"/>
                </a:solidFill>
                <a:latin typeface="BIZ UDPGothic"/>
                <a:ea typeface="BIZ UDPGothic"/>
              </a:rPr>
              <a:t>示唆整理・報告</a:t>
            </a:r>
          </a:p>
        </p:txBody>
      </p:sp>
      <p:sp>
        <p:nvSpPr>
          <p:cNvPr id="40" name="S40"/>
          <p:cNvSpPr/>
          <p:nvPr/>
        </p:nvSpPr>
        <p:spPr>
          <a:xfrm>
            <a:off x="8534400" y="4338400"/>
            <a:ext cx="2286000" cy="533400"/>
          </a:xfrm>
          <a:prstGeom prst="roundRect">
            <a:avLst/>
          </a:prstGeom>
          <a:solidFill>
            <a:srgbClr val="3D3D3D"/>
          </a:solidFill>
          <a:ln>
            <a:noFill/>
          </a:ln>
        </p:spPr>
        <p:txBody>
          <a:bodyPr wrap="square" lIns="72000" tIns="18000" rIns="72000" bIns="18000" anchor="ctr"/>
          <a:lstStyle/>
          <a:p>
            <a:pPr algn="ctr">
              <a:buNone/>
            </a:pPr>
            <a:r>
              <a:rPr lang="ja-JP" sz="1100" b="1" dirty="0">
                <a:solidFill>
                  <a:srgbClr val="FFFFFF"/>
                </a:solidFill>
                <a:latin typeface="BIZ UDPGothic"/>
                <a:ea typeface="BIZ UDPGothic"/>
              </a:rPr>
              <a:t>最終報告完了</a:t>
            </a:r>
          </a:p>
        </p:txBody>
      </p:sp>
      <p:sp>
        <p:nvSpPr>
          <p:cNvPr id="115" name="S115"/>
          <p:cNvSpPr/>
          <p:nvPr/>
        </p:nvSpPr>
        <p:spPr>
          <a:xfrm>
            <a:off x="3200400" y="4262200"/>
            <a:ext cx="1524000" cy="685800"/>
          </a:xfrm>
          <a:prstGeom prst="rect">
            <a:avLst/>
          </a:prstGeom>
          <a:noFill/>
          <a:ln w="6350">
            <a:solidFill>
              <a:srgbClr val="E0E0E0"/>
            </a:solidFill>
          </a:ln>
        </p:spPr>
        <p:txBody>
          <a:bodyPr wrap="square" anchor="ctr"/>
          <a:lstStyle/>
          <a:p>
            <a:endParaRPr lang="ja-JP"/>
          </a:p>
        </p:txBody>
      </p:sp>
      <p:sp>
        <p:nvSpPr>
          <p:cNvPr id="116" name="S116"/>
          <p:cNvSpPr/>
          <p:nvPr/>
        </p:nvSpPr>
        <p:spPr>
          <a:xfrm>
            <a:off x="4724400" y="4262200"/>
            <a:ext cx="1524000" cy="685800"/>
          </a:xfrm>
          <a:prstGeom prst="rect">
            <a:avLst/>
          </a:prstGeom>
          <a:noFill/>
          <a:ln w="6350">
            <a:solidFill>
              <a:srgbClr val="E0E0E0"/>
            </a:solidFill>
          </a:ln>
        </p:spPr>
        <p:txBody>
          <a:bodyPr wrap="square" anchor="ctr"/>
          <a:lstStyle/>
          <a:p>
            <a:endParaRPr lang="ja-JP"/>
          </a:p>
        </p:txBody>
      </p:sp>
      <p:sp>
        <p:nvSpPr>
          <p:cNvPr id="117" name="S117"/>
          <p:cNvSpPr/>
          <p:nvPr/>
        </p:nvSpPr>
        <p:spPr>
          <a:xfrm>
            <a:off x="6248400" y="4262200"/>
            <a:ext cx="1524000" cy="685800"/>
          </a:xfrm>
          <a:prstGeom prst="rect">
            <a:avLst/>
          </a:prstGeom>
          <a:noFill/>
          <a:ln w="6350">
            <a:solidFill>
              <a:srgbClr val="E0E0E0"/>
            </a:solidFill>
          </a:ln>
        </p:spPr>
        <p:txBody>
          <a:bodyPr wrap="square" anchor="ctr"/>
          <a:lstStyle/>
          <a:p>
            <a:endParaRPr lang="ja-JP"/>
          </a:p>
        </p:txBody>
      </p:sp>
      <p:sp>
        <p:nvSpPr>
          <p:cNvPr id="118" name="S118"/>
          <p:cNvSpPr/>
          <p:nvPr/>
        </p:nvSpPr>
        <p:spPr>
          <a:xfrm>
            <a:off x="7772400" y="4262200"/>
            <a:ext cx="1524000" cy="685800"/>
          </a:xfrm>
          <a:prstGeom prst="rect">
            <a:avLst/>
          </a:prstGeom>
          <a:noFill/>
          <a:ln w="6350">
            <a:solidFill>
              <a:srgbClr val="E0E0E0"/>
            </a:solidFill>
          </a:ln>
        </p:spPr>
        <p:txBody>
          <a:bodyPr wrap="square" anchor="ctr"/>
          <a:lstStyle/>
          <a:p>
            <a:endParaRPr lang="ja-JP"/>
          </a:p>
        </p:txBody>
      </p:sp>
      <p:sp>
        <p:nvSpPr>
          <p:cNvPr id="119" name="S119"/>
          <p:cNvSpPr/>
          <p:nvPr/>
        </p:nvSpPr>
        <p:spPr>
          <a:xfrm>
            <a:off x="9296400" y="4262200"/>
            <a:ext cx="1524000" cy="685800"/>
          </a:xfrm>
          <a:prstGeom prst="rect">
            <a:avLst/>
          </a:prstGeom>
          <a:noFill/>
          <a:ln w="6350">
            <a:solidFill>
              <a:srgbClr val="E0E0E0"/>
            </a:solidFill>
          </a:ln>
        </p:spPr>
        <p:txBody>
          <a:bodyPr wrap="square" anchor="ctr"/>
          <a:lstStyle/>
          <a:p>
            <a:endParaRPr lang="ja-JP"/>
          </a:p>
        </p:txBody>
      </p:sp>
    </p:spTree>
    <p:extLst>
      <p:ext uri="{BB962C8B-B14F-4D97-AF65-F5344CB8AC3E}">
        <p14:creationId xmlns:p14="http://schemas.microsoft.com/office/powerpoint/2010/main" val="190657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B94BCF-342E-8EA0-F48B-B36448406149}"/>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6. </a:t>
            </a:r>
            <a:r>
              <a:rPr kumimoji="1" lang="ja-JP" altLang="en-US" sz="2800" b="1">
                <a:solidFill>
                  <a:srgbClr val="8B2500"/>
                </a:solidFill>
                <a:latin typeface="BIZ UDPゴシック"/>
                <a:ea typeface="BIZ UDPゴシック"/>
              </a:rPr>
              <a:t>マイルストーン詳細</a:t>
            </a:r>
          </a:p>
        </p:txBody>
      </p:sp>
      <p:sp>
        <p:nvSpPr>
          <p:cNvPr id="15" name="S15"/>
          <p:cNvSpPr/>
          <p:nvPr/>
        </p:nvSpPr>
        <p:spPr>
          <a:xfrm>
            <a:off x="457200" y="2700000"/>
            <a:ext cx="11277600" cy="36000"/>
          </a:xfrm>
          <a:prstGeom prst="rect">
            <a:avLst/>
          </a:prstGeom>
          <a:solidFill>
            <a:srgbClr val="C8C8C8"/>
          </a:solidFill>
          <a:ln>
            <a:noFill/>
          </a:ln>
        </p:spPr>
        <p:txBody>
          <a:bodyPr wrap="square" anchor="ctr"/>
          <a:lstStyle/>
          <a:p>
            <a:endParaRPr lang="ja-JP"/>
          </a:p>
        </p:txBody>
      </p:sp>
      <p:sp>
        <p:nvSpPr>
          <p:cNvPr id="20" name="S20"/>
          <p:cNvSpPr/>
          <p:nvPr/>
        </p:nvSpPr>
        <p:spPr>
          <a:xfrm>
            <a:off x="1371600" y="2600000"/>
            <a:ext cx="228600" cy="228600"/>
          </a:xfrm>
          <a:prstGeom prst="diamond">
            <a:avLst/>
          </a:prstGeom>
          <a:solidFill>
            <a:srgbClr val="8B2500"/>
          </a:solidFill>
          <a:ln w="19050">
            <a:solidFill>
              <a:srgbClr val="FFFFFF"/>
            </a:solidFill>
          </a:ln>
        </p:spPr>
        <p:txBody>
          <a:bodyPr wrap="square" lIns="0" tIns="0" rIns="0" bIns="0" anchor="ctr"/>
          <a:lstStyle/>
          <a:p>
            <a:endParaRPr lang="ja-JP"/>
          </a:p>
        </p:txBody>
      </p:sp>
      <p:sp>
        <p:nvSpPr>
          <p:cNvPr id="21" name="S21"/>
          <p:cNvSpPr/>
          <p:nvPr/>
        </p:nvSpPr>
        <p:spPr>
          <a:xfrm>
            <a:off x="457200" y="2800000"/>
            <a:ext cx="2057400" cy="300000"/>
          </a:xfrm>
          <a:prstGeom prst="rect">
            <a:avLst/>
          </a:prstGeom>
          <a:noFill/>
          <a:ln>
            <a:noFill/>
          </a:ln>
        </p:spPr>
        <p:txBody>
          <a:bodyPr wrap="square" lIns="0" tIns="0" rIns="0" bIns="0" anchor="t"/>
          <a:lstStyle/>
          <a:p>
            <a:pPr algn="ctr">
              <a:buNone/>
            </a:pPr>
            <a:r>
              <a:rPr lang="ja-JP" sz="1200" b="1" dirty="0">
                <a:solidFill>
                  <a:srgbClr val="8B2500"/>
                </a:solidFill>
                <a:latin typeface="BIZ UDPGothic"/>
                <a:ea typeface="BIZ UDPGothic"/>
              </a:rPr>
              <a:t>W1</a:t>
            </a:r>
          </a:p>
        </p:txBody>
      </p:sp>
      <p:sp>
        <p:nvSpPr>
          <p:cNvPr id="22" name="S22"/>
          <p:cNvSpPr/>
          <p:nvPr/>
        </p:nvSpPr>
        <p:spPr>
          <a:xfrm>
            <a:off x="457200" y="1100000"/>
            <a:ext cx="2057400" cy="600000"/>
          </a:xfrm>
          <a:prstGeom prst="roundRect">
            <a:avLst/>
          </a:prstGeom>
          <a:solidFill>
            <a:srgbClr val="8B2500"/>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キックオフ完了</a:t>
            </a:r>
          </a:p>
        </p:txBody>
      </p:sp>
      <p:sp>
        <p:nvSpPr>
          <p:cNvPr id="23" name="S23"/>
          <p:cNvSpPr/>
          <p:nvPr/>
        </p:nvSpPr>
        <p:spPr>
          <a:xfrm>
            <a:off x="457200" y="1750000"/>
            <a:ext cx="2057400" cy="700000"/>
          </a:xfrm>
          <a:prstGeom prst="roundRect">
            <a:avLst/>
          </a:prstGeom>
          <a:solidFill>
            <a:srgbClr val="F2F0ED"/>
          </a:solidFill>
          <a:ln>
            <a:noFill/>
          </a:ln>
        </p:spPr>
        <p:txBody>
          <a:bodyPr wrap="square" lIns="72000" tIns="36000" rIns="72000" bIns="36000" anchor="ctr"/>
          <a:lstStyle/>
          <a:p>
            <a:pPr algn="ctr">
              <a:buNone/>
            </a:pPr>
            <a:r>
              <a:rPr lang="ja-JP" sz="1100" b="1" dirty="0">
                <a:solidFill>
                  <a:srgbClr val="8B2500"/>
                </a:solidFill>
                <a:latin typeface="BIZ UDPGothic"/>
                <a:ea typeface="BIZ UDPGothic"/>
              </a:rPr>
              <a:t>完了条件：</a:t>
            </a:r>
          </a:p>
          <a:p>
            <a:pPr algn="ctr">
              <a:buNone/>
            </a:pPr>
            <a:r>
              <a:rPr lang="ja-JP" sz="1200" dirty="0">
                <a:solidFill>
                  <a:srgbClr val="3D3D3D"/>
                </a:solidFill>
                <a:latin typeface="BIZ UDPGothic"/>
                <a:ea typeface="BIZ UDPGothic"/>
              </a:rPr>
              <a:t>目的、範囲、役割分担、運営方法を合意</a:t>
            </a:r>
          </a:p>
        </p:txBody>
      </p:sp>
      <p:sp>
        <p:nvSpPr>
          <p:cNvPr id="24" name="S24"/>
          <p:cNvSpPr/>
          <p:nvPr/>
        </p:nvSpPr>
        <p:spPr>
          <a:xfrm>
            <a:off x="3657600" y="2600000"/>
            <a:ext cx="228600" cy="228600"/>
          </a:xfrm>
          <a:prstGeom prst="diamond">
            <a:avLst/>
          </a:prstGeom>
          <a:solidFill>
            <a:srgbClr val="4A4A4A"/>
          </a:solidFill>
          <a:ln w="19050">
            <a:solidFill>
              <a:srgbClr val="FFFFFF"/>
            </a:solidFill>
          </a:ln>
        </p:spPr>
        <p:txBody>
          <a:bodyPr wrap="square" lIns="0" tIns="0" rIns="0" bIns="0" anchor="ctr"/>
          <a:lstStyle/>
          <a:p>
            <a:endParaRPr lang="ja-JP"/>
          </a:p>
        </p:txBody>
      </p:sp>
      <p:sp>
        <p:nvSpPr>
          <p:cNvPr id="25" name="S25"/>
          <p:cNvSpPr/>
          <p:nvPr/>
        </p:nvSpPr>
        <p:spPr>
          <a:xfrm>
            <a:off x="2743200" y="2800000"/>
            <a:ext cx="2057400" cy="300000"/>
          </a:xfrm>
          <a:prstGeom prst="rect">
            <a:avLst/>
          </a:prstGeom>
          <a:noFill/>
          <a:ln>
            <a:noFill/>
          </a:ln>
        </p:spPr>
        <p:txBody>
          <a:bodyPr wrap="square" lIns="0" tIns="0" rIns="0" bIns="0" anchor="t"/>
          <a:lstStyle/>
          <a:p>
            <a:pPr algn="ctr">
              <a:buNone/>
            </a:pPr>
            <a:r>
              <a:rPr lang="ja-JP" sz="1200" b="1" dirty="0">
                <a:solidFill>
                  <a:srgbClr val="4A4A4A"/>
                </a:solidFill>
                <a:latin typeface="BIZ UDPGothic"/>
                <a:ea typeface="BIZ UDPGothic"/>
              </a:rPr>
              <a:t>W2</a:t>
            </a:r>
          </a:p>
        </p:txBody>
      </p:sp>
      <p:sp>
        <p:nvSpPr>
          <p:cNvPr id="26" name="S26"/>
          <p:cNvSpPr/>
          <p:nvPr/>
        </p:nvSpPr>
        <p:spPr>
          <a:xfrm>
            <a:off x="2743200" y="3200000"/>
            <a:ext cx="2057400" cy="600000"/>
          </a:xfrm>
          <a:prstGeom prst="roundRect">
            <a:avLst/>
          </a:prstGeom>
          <a:solidFill>
            <a:srgbClr val="4A4A4A"/>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データ理解完了</a:t>
            </a:r>
          </a:p>
        </p:txBody>
      </p:sp>
      <p:sp>
        <p:nvSpPr>
          <p:cNvPr id="27" name="S27"/>
          <p:cNvSpPr/>
          <p:nvPr/>
        </p:nvSpPr>
        <p:spPr>
          <a:xfrm>
            <a:off x="2743200" y="3850000"/>
            <a:ext cx="2057400" cy="700000"/>
          </a:xfrm>
          <a:prstGeom prst="roundRect">
            <a:avLst/>
          </a:prstGeom>
          <a:solidFill>
            <a:srgbClr val="F2F0ED"/>
          </a:solidFill>
          <a:ln>
            <a:noFill/>
          </a:ln>
        </p:spPr>
        <p:txBody>
          <a:bodyPr wrap="square" lIns="72000" tIns="36000" rIns="72000" bIns="36000" anchor="ctr"/>
          <a:lstStyle/>
          <a:p>
            <a:pPr algn="ctr">
              <a:buNone/>
            </a:pPr>
            <a:r>
              <a:rPr lang="ja-JP" sz="1050" b="1" dirty="0">
                <a:solidFill>
                  <a:srgbClr val="4A4A4A"/>
                </a:solidFill>
                <a:latin typeface="BIZ UDPGothic"/>
                <a:ea typeface="BIZ UDPGothic"/>
              </a:rPr>
              <a:t>完了条件：</a:t>
            </a:r>
          </a:p>
          <a:p>
            <a:pPr algn="ctr">
              <a:buNone/>
            </a:pPr>
            <a:r>
              <a:rPr lang="ja-JP" sz="1100" dirty="0">
                <a:solidFill>
                  <a:srgbClr val="3D3D3D"/>
                </a:solidFill>
                <a:latin typeface="BIZ UDPGothic"/>
                <a:ea typeface="BIZ UDPGothic"/>
              </a:rPr>
              <a:t>基礎集計と主要論点整理を完了</a:t>
            </a:r>
          </a:p>
        </p:txBody>
      </p:sp>
      <p:sp>
        <p:nvSpPr>
          <p:cNvPr id="28" name="S28"/>
          <p:cNvSpPr/>
          <p:nvPr/>
        </p:nvSpPr>
        <p:spPr>
          <a:xfrm>
            <a:off x="5943600" y="2600000"/>
            <a:ext cx="228600" cy="228600"/>
          </a:xfrm>
          <a:prstGeom prst="diamond">
            <a:avLst/>
          </a:prstGeom>
          <a:solidFill>
            <a:srgbClr val="8B2500"/>
          </a:solidFill>
          <a:ln w="19050">
            <a:solidFill>
              <a:srgbClr val="FFFFFF"/>
            </a:solidFill>
          </a:ln>
        </p:spPr>
        <p:txBody>
          <a:bodyPr wrap="square" lIns="0" tIns="0" rIns="0" bIns="0" anchor="ctr"/>
          <a:lstStyle/>
          <a:p>
            <a:endParaRPr lang="ja-JP"/>
          </a:p>
        </p:txBody>
      </p:sp>
      <p:sp>
        <p:nvSpPr>
          <p:cNvPr id="29" name="S29"/>
          <p:cNvSpPr/>
          <p:nvPr/>
        </p:nvSpPr>
        <p:spPr>
          <a:xfrm>
            <a:off x="5029200" y="2800000"/>
            <a:ext cx="2057400" cy="300000"/>
          </a:xfrm>
          <a:prstGeom prst="rect">
            <a:avLst/>
          </a:prstGeom>
          <a:noFill/>
          <a:ln>
            <a:noFill/>
          </a:ln>
        </p:spPr>
        <p:txBody>
          <a:bodyPr wrap="square" lIns="0" tIns="0" rIns="0" bIns="0" anchor="t"/>
          <a:lstStyle/>
          <a:p>
            <a:pPr algn="ctr">
              <a:buNone/>
            </a:pPr>
            <a:r>
              <a:rPr lang="ja-JP" sz="1200" b="1" dirty="0">
                <a:solidFill>
                  <a:srgbClr val="8B2500"/>
                </a:solidFill>
                <a:latin typeface="BIZ UDPGothic"/>
                <a:ea typeface="BIZ UDPGothic"/>
              </a:rPr>
              <a:t>W3</a:t>
            </a:r>
          </a:p>
        </p:txBody>
      </p:sp>
      <p:sp>
        <p:nvSpPr>
          <p:cNvPr id="30" name="S30"/>
          <p:cNvSpPr/>
          <p:nvPr/>
        </p:nvSpPr>
        <p:spPr>
          <a:xfrm>
            <a:off x="5029200" y="1100000"/>
            <a:ext cx="2057400" cy="600000"/>
          </a:xfrm>
          <a:prstGeom prst="roundRect">
            <a:avLst/>
          </a:prstGeom>
          <a:solidFill>
            <a:srgbClr val="8B2500"/>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中間報告完了</a:t>
            </a:r>
          </a:p>
        </p:txBody>
      </p:sp>
      <p:sp>
        <p:nvSpPr>
          <p:cNvPr id="31" name="S31"/>
          <p:cNvSpPr/>
          <p:nvPr/>
        </p:nvSpPr>
        <p:spPr>
          <a:xfrm>
            <a:off x="5029200" y="1750000"/>
            <a:ext cx="2057400" cy="700000"/>
          </a:xfrm>
          <a:prstGeom prst="roundRect">
            <a:avLst/>
          </a:prstGeom>
          <a:solidFill>
            <a:srgbClr val="F2F0ED"/>
          </a:solidFill>
          <a:ln>
            <a:noFill/>
          </a:ln>
        </p:spPr>
        <p:txBody>
          <a:bodyPr wrap="square" lIns="72000" tIns="36000" rIns="72000" bIns="36000" anchor="ctr"/>
          <a:lstStyle/>
          <a:p>
            <a:pPr algn="ctr">
              <a:buNone/>
            </a:pPr>
            <a:r>
              <a:rPr lang="ja-JP" sz="1100" b="1" dirty="0">
                <a:solidFill>
                  <a:srgbClr val="8B2500"/>
                </a:solidFill>
                <a:latin typeface="BIZ UDPGothic"/>
                <a:ea typeface="BIZ UDPGothic"/>
              </a:rPr>
              <a:t>完了条件：</a:t>
            </a:r>
          </a:p>
          <a:p>
            <a:pPr algn="ctr">
              <a:buNone/>
            </a:pPr>
            <a:r>
              <a:rPr lang="ja-JP" sz="1200" dirty="0">
                <a:solidFill>
                  <a:srgbClr val="3D3D3D"/>
                </a:solidFill>
                <a:latin typeface="BIZ UDPGothic"/>
                <a:ea typeface="BIZ UDPGothic"/>
              </a:rPr>
              <a:t>初期モデル結果と論点を共有</a:t>
            </a:r>
          </a:p>
        </p:txBody>
      </p:sp>
      <p:sp>
        <p:nvSpPr>
          <p:cNvPr id="32" name="S32"/>
          <p:cNvSpPr/>
          <p:nvPr/>
        </p:nvSpPr>
        <p:spPr>
          <a:xfrm>
            <a:off x="8229600" y="2600000"/>
            <a:ext cx="228600" cy="228600"/>
          </a:xfrm>
          <a:prstGeom prst="diamond">
            <a:avLst/>
          </a:prstGeom>
          <a:solidFill>
            <a:srgbClr val="4A4A4A"/>
          </a:solidFill>
          <a:ln w="19050">
            <a:solidFill>
              <a:srgbClr val="FFFFFF"/>
            </a:solidFill>
          </a:ln>
        </p:spPr>
        <p:txBody>
          <a:bodyPr wrap="square" lIns="0" tIns="0" rIns="0" bIns="0" anchor="ctr"/>
          <a:lstStyle/>
          <a:p>
            <a:endParaRPr lang="ja-JP"/>
          </a:p>
        </p:txBody>
      </p:sp>
      <p:sp>
        <p:nvSpPr>
          <p:cNvPr id="33" name="S33"/>
          <p:cNvSpPr/>
          <p:nvPr/>
        </p:nvSpPr>
        <p:spPr>
          <a:xfrm>
            <a:off x="7315200" y="2800000"/>
            <a:ext cx="2057400" cy="300000"/>
          </a:xfrm>
          <a:prstGeom prst="rect">
            <a:avLst/>
          </a:prstGeom>
          <a:noFill/>
          <a:ln>
            <a:noFill/>
          </a:ln>
        </p:spPr>
        <p:txBody>
          <a:bodyPr wrap="square" lIns="0" tIns="0" rIns="0" bIns="0" anchor="t"/>
          <a:lstStyle/>
          <a:p>
            <a:pPr algn="ctr">
              <a:buNone/>
            </a:pPr>
            <a:r>
              <a:rPr lang="ja-JP" sz="1200" b="1" dirty="0">
                <a:solidFill>
                  <a:srgbClr val="4A4A4A"/>
                </a:solidFill>
                <a:latin typeface="BIZ UDPGothic"/>
                <a:ea typeface="BIZ UDPGothic"/>
              </a:rPr>
              <a:t>W3-4</a:t>
            </a:r>
          </a:p>
        </p:txBody>
      </p:sp>
      <p:sp>
        <p:nvSpPr>
          <p:cNvPr id="34" name="S34"/>
          <p:cNvSpPr/>
          <p:nvPr/>
        </p:nvSpPr>
        <p:spPr>
          <a:xfrm>
            <a:off x="7315200" y="3200000"/>
            <a:ext cx="2057400" cy="600000"/>
          </a:xfrm>
          <a:prstGeom prst="roundRect">
            <a:avLst/>
          </a:prstGeom>
          <a:solidFill>
            <a:srgbClr val="4A4A4A"/>
          </a:solidFill>
          <a:ln>
            <a:noFill/>
          </a:ln>
        </p:spPr>
        <p:txBody>
          <a:bodyPr wrap="square" lIns="72000" tIns="36000" rIns="72000" bIns="36000" anchor="ctr"/>
          <a:lstStyle/>
          <a:p>
            <a:pPr algn="ctr">
              <a:buNone/>
            </a:pPr>
            <a:r>
              <a:rPr lang="ja-JP" sz="1200" b="1" dirty="0">
                <a:solidFill>
                  <a:srgbClr val="FFFFFF"/>
                </a:solidFill>
                <a:latin typeface="BIZ UDPGothic"/>
                <a:ea typeface="BIZ UDPGothic"/>
              </a:rPr>
              <a:t>分析方針確定</a:t>
            </a:r>
          </a:p>
        </p:txBody>
      </p:sp>
      <p:sp>
        <p:nvSpPr>
          <p:cNvPr id="35" name="S35"/>
          <p:cNvSpPr/>
          <p:nvPr/>
        </p:nvSpPr>
        <p:spPr>
          <a:xfrm>
            <a:off x="7315200" y="3850000"/>
            <a:ext cx="2057400" cy="700000"/>
          </a:xfrm>
          <a:prstGeom prst="roundRect">
            <a:avLst/>
          </a:prstGeom>
          <a:solidFill>
            <a:srgbClr val="F2F0ED"/>
          </a:solidFill>
          <a:ln>
            <a:noFill/>
          </a:ln>
        </p:spPr>
        <p:txBody>
          <a:bodyPr wrap="square" lIns="72000" tIns="36000" rIns="72000" bIns="36000" anchor="ctr"/>
          <a:lstStyle/>
          <a:p>
            <a:pPr algn="ctr">
              <a:buNone/>
            </a:pPr>
            <a:r>
              <a:rPr lang="ja-JP" sz="1050" b="1" dirty="0">
                <a:solidFill>
                  <a:srgbClr val="4A4A4A"/>
                </a:solidFill>
                <a:latin typeface="BIZ UDPGothic"/>
                <a:ea typeface="BIZ UDPGothic"/>
              </a:rPr>
              <a:t>完了条件：</a:t>
            </a:r>
          </a:p>
          <a:p>
            <a:pPr algn="ctr">
              <a:buNone/>
            </a:pPr>
            <a:r>
              <a:rPr lang="ja-JP" sz="1100" dirty="0">
                <a:solidFill>
                  <a:srgbClr val="3D3D3D"/>
                </a:solidFill>
                <a:latin typeface="BIZ UDPGothic"/>
                <a:ea typeface="BIZ UDPGothic"/>
              </a:rPr>
              <a:t>最終評価対象モデルを確定</a:t>
            </a:r>
          </a:p>
        </p:txBody>
      </p:sp>
      <p:sp>
        <p:nvSpPr>
          <p:cNvPr id="36" name="S36"/>
          <p:cNvSpPr/>
          <p:nvPr/>
        </p:nvSpPr>
        <p:spPr>
          <a:xfrm>
            <a:off x="10515600" y="2600000"/>
            <a:ext cx="228600" cy="228600"/>
          </a:xfrm>
          <a:prstGeom prst="diamond">
            <a:avLst/>
          </a:prstGeom>
          <a:solidFill>
            <a:srgbClr val="8B2500"/>
          </a:solidFill>
          <a:ln w="19050">
            <a:solidFill>
              <a:srgbClr val="FFFFFF"/>
            </a:solidFill>
          </a:ln>
        </p:spPr>
        <p:txBody>
          <a:bodyPr wrap="square" lIns="0" tIns="0" rIns="0" bIns="0" anchor="ctr"/>
          <a:lstStyle/>
          <a:p>
            <a:endParaRPr lang="ja-JP"/>
          </a:p>
        </p:txBody>
      </p:sp>
      <p:sp>
        <p:nvSpPr>
          <p:cNvPr id="37" name="S37"/>
          <p:cNvSpPr/>
          <p:nvPr/>
        </p:nvSpPr>
        <p:spPr>
          <a:xfrm>
            <a:off x="9601200" y="2800000"/>
            <a:ext cx="2057400" cy="300000"/>
          </a:xfrm>
          <a:prstGeom prst="rect">
            <a:avLst/>
          </a:prstGeom>
          <a:noFill/>
          <a:ln>
            <a:noFill/>
          </a:ln>
        </p:spPr>
        <p:txBody>
          <a:bodyPr wrap="square" lIns="0" tIns="0" rIns="0" bIns="0" anchor="t"/>
          <a:lstStyle/>
          <a:p>
            <a:pPr algn="ctr">
              <a:buNone/>
            </a:pPr>
            <a:r>
              <a:rPr lang="ja-JP" sz="1200" b="1" dirty="0">
                <a:solidFill>
                  <a:srgbClr val="8B2500"/>
                </a:solidFill>
                <a:latin typeface="BIZ UDPGothic"/>
                <a:ea typeface="BIZ UDPGothic"/>
              </a:rPr>
              <a:t>W5</a:t>
            </a:r>
          </a:p>
        </p:txBody>
      </p:sp>
      <p:sp>
        <p:nvSpPr>
          <p:cNvPr id="38" name="S38"/>
          <p:cNvSpPr/>
          <p:nvPr/>
        </p:nvSpPr>
        <p:spPr>
          <a:xfrm>
            <a:off x="9601200" y="1100000"/>
            <a:ext cx="2057400" cy="600000"/>
          </a:xfrm>
          <a:prstGeom prst="roundRect">
            <a:avLst/>
          </a:prstGeom>
          <a:solidFill>
            <a:srgbClr val="8B2500"/>
          </a:solidFill>
          <a:ln>
            <a:noFill/>
          </a:ln>
        </p:spPr>
        <p:txBody>
          <a:bodyPr wrap="square" lIns="72000" tIns="36000" rIns="72000" bIns="36000" anchor="ctr"/>
          <a:lstStyle/>
          <a:p>
            <a:pPr algn="ctr">
              <a:buNone/>
            </a:pPr>
            <a:r>
              <a:rPr lang="ja-JP" sz="1400" b="1" dirty="0">
                <a:solidFill>
                  <a:srgbClr val="FFFFFF"/>
                </a:solidFill>
                <a:latin typeface="BIZ UDPGothic"/>
                <a:ea typeface="BIZ UDPGothic"/>
              </a:rPr>
              <a:t>最終報告完了</a:t>
            </a:r>
          </a:p>
        </p:txBody>
      </p:sp>
      <p:sp>
        <p:nvSpPr>
          <p:cNvPr id="39" name="S39"/>
          <p:cNvSpPr/>
          <p:nvPr/>
        </p:nvSpPr>
        <p:spPr>
          <a:xfrm>
            <a:off x="9601200" y="1750000"/>
            <a:ext cx="2057400" cy="700000"/>
          </a:xfrm>
          <a:prstGeom prst="roundRect">
            <a:avLst/>
          </a:prstGeom>
          <a:solidFill>
            <a:srgbClr val="F2F0ED"/>
          </a:solidFill>
          <a:ln>
            <a:noFill/>
          </a:ln>
        </p:spPr>
        <p:txBody>
          <a:bodyPr wrap="square" lIns="72000" tIns="36000" rIns="72000" bIns="36000" anchor="ctr"/>
          <a:lstStyle/>
          <a:p>
            <a:pPr algn="ctr">
              <a:buNone/>
            </a:pPr>
            <a:r>
              <a:rPr lang="ja-JP" sz="1100" b="1" dirty="0">
                <a:solidFill>
                  <a:srgbClr val="8B2500"/>
                </a:solidFill>
                <a:latin typeface="BIZ UDPGothic"/>
                <a:ea typeface="BIZ UDPGothic"/>
              </a:rPr>
              <a:t>完了条件：</a:t>
            </a:r>
          </a:p>
          <a:p>
            <a:pPr algn="ctr">
              <a:buNone/>
            </a:pPr>
            <a:r>
              <a:rPr lang="ja-JP" sz="1200" dirty="0">
                <a:solidFill>
                  <a:srgbClr val="3D3D3D"/>
                </a:solidFill>
                <a:latin typeface="BIZ UDPGothic"/>
                <a:ea typeface="BIZ UDPGothic"/>
              </a:rPr>
              <a:t>成果物提出および説明完了</a:t>
            </a:r>
          </a:p>
        </p:txBody>
      </p:sp>
    </p:spTree>
    <p:extLst>
      <p:ext uri="{BB962C8B-B14F-4D97-AF65-F5344CB8AC3E}">
        <p14:creationId xmlns:p14="http://schemas.microsoft.com/office/powerpoint/2010/main" val="206011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57013D-AD64-F12D-5ADE-685E13CA47A9}"/>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7. </a:t>
            </a:r>
            <a:r>
              <a:rPr kumimoji="1" lang="ja-JP" altLang="en-US" sz="2800" b="1">
                <a:solidFill>
                  <a:srgbClr val="8B2500"/>
                </a:solidFill>
                <a:latin typeface="BIZ UDPゴシック"/>
                <a:ea typeface="BIZ UDPゴシック"/>
              </a:rPr>
              <a:t>成果物定義</a:t>
            </a:r>
          </a:p>
        </p:txBody>
      </p:sp>
      <p:graphicFrame>
        <p:nvGraphicFramePr>
          <p:cNvPr id="4" name="表 3">
            <a:extLst>
              <a:ext uri="{FF2B5EF4-FFF2-40B4-BE49-F238E27FC236}">
                <a16:creationId xmlns:a16="http://schemas.microsoft.com/office/drawing/2014/main" id="{CFE13425-0850-4080-BFDB-E037B12B915F}"/>
              </a:ext>
            </a:extLst>
          </p:cNvPr>
          <p:cNvGraphicFramePr>
            <a:graphicFrameLocks noGrp="1"/>
          </p:cNvGraphicFramePr>
          <p:nvPr>
            <p:extLst>
              <p:ext uri="{D42A27DB-BD31-4B8C-83A1-F6EECF244321}">
                <p14:modId xmlns:p14="http://schemas.microsoft.com/office/powerpoint/2010/main" val="33408692"/>
              </p:ext>
            </p:extLst>
          </p:nvPr>
        </p:nvGraphicFramePr>
        <p:xfrm>
          <a:off x="762000" y="952500"/>
          <a:ext cx="10668000" cy="46228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486774152"/>
                    </a:ext>
                  </a:extLst>
                </a:gridCol>
                <a:gridCol w="5461000">
                  <a:extLst>
                    <a:ext uri="{9D8B030D-6E8A-4147-A177-3AD203B41FA5}">
                      <a16:colId xmlns:a16="http://schemas.microsoft.com/office/drawing/2014/main" val="2967437013"/>
                    </a:ext>
                  </a:extLst>
                </a:gridCol>
                <a:gridCol w="2413000">
                  <a:extLst>
                    <a:ext uri="{9D8B030D-6E8A-4147-A177-3AD203B41FA5}">
                      <a16:colId xmlns:a16="http://schemas.microsoft.com/office/drawing/2014/main" val="76411861"/>
                    </a:ext>
                  </a:extLst>
                </a:gridCol>
              </a:tblGrid>
              <a:tr h="355600">
                <a:tc>
                  <a:txBody>
                    <a:bodyPr/>
                    <a:lstStyle/>
                    <a:p>
                      <a:pPr algn="ctr"/>
                      <a:r>
                        <a:rPr lang="ja-JP" altLang="en-US" sz="1400" b="1">
                          <a:solidFill>
                            <a:srgbClr val="FFFFFF"/>
                          </a:solidFill>
                          <a:latin typeface="BIZ UDPゴシック"/>
                          <a:ea typeface="BIZ UDPゴシック"/>
                        </a:rPr>
                        <a:t>成果物</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目的</a:t>
                      </a:r>
                    </a:p>
                  </a:txBody>
                  <a:tcPr anchor="ctr">
                    <a:solidFill>
                      <a:srgbClr val="8B2500"/>
                    </a:solidFill>
                  </a:tcPr>
                </a:tc>
                <a:extLst>
                  <a:ext uri="{0D108BD9-81ED-4DB2-BD59-A6C34878D82A}">
                    <a16:rowId xmlns:a16="http://schemas.microsoft.com/office/drawing/2014/main" val="2714198036"/>
                  </a:ext>
                </a:extLst>
              </a:tr>
              <a:tr h="355600">
                <a:tc>
                  <a:txBody>
                    <a:bodyPr/>
                    <a:lstStyle/>
                    <a:p>
                      <a:pPr algn="l"/>
                      <a:r>
                        <a:rPr lang="ja-JP" altLang="en-US" sz="1400" b="1">
                          <a:solidFill>
                            <a:srgbClr val="3D3D3D"/>
                          </a:solidFill>
                          <a:latin typeface="BIZ UDPゴシック"/>
                          <a:ea typeface="BIZ UDPゴシック"/>
                        </a:rPr>
                        <a:t>提案書</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実施方針、体制、進め方、契約条件</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合意形成</a:t>
                      </a:r>
                    </a:p>
                  </a:txBody>
                  <a:tcPr anchor="ctr">
                    <a:solidFill>
                      <a:srgbClr val="FFFFFF"/>
                    </a:solidFill>
                  </a:tcPr>
                </a:tc>
                <a:extLst>
                  <a:ext uri="{0D108BD9-81ED-4DB2-BD59-A6C34878D82A}">
                    <a16:rowId xmlns:a16="http://schemas.microsoft.com/office/drawing/2014/main" val="3247153347"/>
                  </a:ext>
                </a:extLst>
              </a:tr>
              <a:tr h="355600">
                <a:tc>
                  <a:txBody>
                    <a:bodyPr/>
                    <a:lstStyle/>
                    <a:p>
                      <a:pPr algn="l"/>
                      <a:r>
                        <a:rPr lang="ja-JP" altLang="en-US" sz="1400" b="1">
                          <a:solidFill>
                            <a:srgbClr val="3D3D3D"/>
                          </a:solidFill>
                          <a:latin typeface="BIZ UDPゴシック"/>
                          <a:ea typeface="BIZ UDPゴシック"/>
                        </a:rPr>
                        <a:t>契約ドラフト</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契約条件、精算条件、変更条件</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契約実務</a:t>
                      </a:r>
                    </a:p>
                  </a:txBody>
                  <a:tcPr anchor="ctr">
                    <a:solidFill>
                      <a:srgbClr val="F2F0ED"/>
                    </a:solidFill>
                  </a:tcPr>
                </a:tc>
                <a:extLst>
                  <a:ext uri="{0D108BD9-81ED-4DB2-BD59-A6C34878D82A}">
                    <a16:rowId xmlns:a16="http://schemas.microsoft.com/office/drawing/2014/main" val="476139973"/>
                  </a:ext>
                </a:extLst>
              </a:tr>
              <a:tr h="355600">
                <a:tc>
                  <a:txBody>
                    <a:bodyPr/>
                    <a:lstStyle/>
                    <a:p>
                      <a:pPr algn="l"/>
                      <a:r>
                        <a:rPr lang="ja-JP" altLang="en-US" sz="1400" b="1">
                          <a:solidFill>
                            <a:srgbClr val="3D3D3D"/>
                          </a:solidFill>
                          <a:latin typeface="BIZ UDPゴシック"/>
                          <a:ea typeface="BIZ UDPゴシック"/>
                        </a:rPr>
                        <a:t>スケジュール</a:t>
                      </a:r>
                    </a:p>
                  </a:txBody>
                  <a:tcPr anchor="ctr">
                    <a:solidFill>
                      <a:srgbClr val="FFFFFF"/>
                    </a:solidFill>
                  </a:tcPr>
                </a:tc>
                <a:tc>
                  <a:txBody>
                    <a:bodyPr/>
                    <a:lstStyle/>
                    <a:p>
                      <a:pPr algn="l"/>
                      <a:r>
                        <a:rPr lang="ja-JP" altLang="en-US" sz="1400">
                          <a:solidFill>
                            <a:srgbClr val="1A1A1A"/>
                          </a:solidFill>
                          <a:latin typeface="BIZ UDPゴシック"/>
                          <a:ea typeface="BIZ UDPゴシック"/>
                        </a:rPr>
                        <a:t>5週間の作業計画</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進行管理</a:t>
                      </a:r>
                    </a:p>
                  </a:txBody>
                  <a:tcPr anchor="ctr">
                    <a:solidFill>
                      <a:srgbClr val="FFFFFF"/>
                    </a:solidFill>
                  </a:tcPr>
                </a:tc>
                <a:extLst>
                  <a:ext uri="{0D108BD9-81ED-4DB2-BD59-A6C34878D82A}">
                    <a16:rowId xmlns:a16="http://schemas.microsoft.com/office/drawing/2014/main" val="1634579267"/>
                  </a:ext>
                </a:extLst>
              </a:tr>
              <a:tr h="355600">
                <a:tc>
                  <a:txBody>
                    <a:bodyPr/>
                    <a:lstStyle/>
                    <a:p>
                      <a:pPr algn="l"/>
                      <a:r>
                        <a:rPr lang="ja-JP" altLang="en-US" sz="1400" b="1">
                          <a:solidFill>
                            <a:srgbClr val="3D3D3D"/>
                          </a:solidFill>
                          <a:latin typeface="BIZ UDPゴシック"/>
                          <a:ea typeface="BIZ UDPゴシック"/>
                        </a:rPr>
                        <a:t>議事録</a:t>
                      </a:r>
                    </a:p>
                  </a:txBody>
                  <a:tcPr anchor="ctr">
                    <a:solidFill>
                      <a:srgbClr val="F2F0ED"/>
                    </a:solidFill>
                  </a:tcPr>
                </a:tc>
                <a:tc>
                  <a:txBody>
                    <a:bodyPr/>
                    <a:lstStyle/>
                    <a:p>
                      <a:pPr algn="l"/>
                      <a:r>
                        <a:rPr lang="ja-JP" altLang="en-US" sz="1400">
                          <a:solidFill>
                            <a:srgbClr val="1A1A1A"/>
                          </a:solidFill>
                          <a:latin typeface="BIZ UDPゴシック"/>
                          <a:ea typeface="BIZ UDPゴシック"/>
                        </a:rPr>
                        <a:t>会議決定事項、宿題、論点</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合意記録</a:t>
                      </a:r>
                    </a:p>
                  </a:txBody>
                  <a:tcPr anchor="ctr">
                    <a:solidFill>
                      <a:srgbClr val="F2F0ED"/>
                    </a:solidFill>
                  </a:tcPr>
                </a:tc>
                <a:extLst>
                  <a:ext uri="{0D108BD9-81ED-4DB2-BD59-A6C34878D82A}">
                    <a16:rowId xmlns:a16="http://schemas.microsoft.com/office/drawing/2014/main" val="256073571"/>
                  </a:ext>
                </a:extLst>
              </a:tr>
              <a:tr h="355600">
                <a:tc>
                  <a:txBody>
                    <a:bodyPr/>
                    <a:lstStyle/>
                    <a:p>
                      <a:pPr algn="l"/>
                      <a:r>
                        <a:rPr lang="ja-JP" altLang="en-US" sz="1400" b="1">
                          <a:solidFill>
                            <a:srgbClr val="3D3D3D"/>
                          </a:solidFill>
                          <a:latin typeface="BIZ UDPゴシック"/>
                          <a:ea typeface="BIZ UDPゴシック"/>
                        </a:rPr>
                        <a:t>中間報告</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基礎集計、初期示唆、モデル途中結果</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方針確認</a:t>
                      </a:r>
                    </a:p>
                  </a:txBody>
                  <a:tcPr anchor="ctr">
                    <a:solidFill>
                      <a:srgbClr val="FFFFFF"/>
                    </a:solidFill>
                  </a:tcPr>
                </a:tc>
                <a:extLst>
                  <a:ext uri="{0D108BD9-81ED-4DB2-BD59-A6C34878D82A}">
                    <a16:rowId xmlns:a16="http://schemas.microsoft.com/office/drawing/2014/main" val="1420365969"/>
                  </a:ext>
                </a:extLst>
              </a:tr>
              <a:tr h="355600">
                <a:tc>
                  <a:txBody>
                    <a:bodyPr/>
                    <a:lstStyle/>
                    <a:p>
                      <a:pPr algn="l"/>
                      <a:r>
                        <a:rPr lang="ja-JP" altLang="en-US" sz="1400" b="1">
                          <a:solidFill>
                            <a:srgbClr val="3D3D3D"/>
                          </a:solidFill>
                          <a:latin typeface="BIZ UDPゴシック"/>
                          <a:ea typeface="BIZ UDPゴシック"/>
                        </a:rPr>
                        <a:t>最終報告</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分析結果、評価結果、示唆、次フェーズ提言</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成果報告</a:t>
                      </a:r>
                    </a:p>
                  </a:txBody>
                  <a:tcPr anchor="ctr">
                    <a:solidFill>
                      <a:srgbClr val="F2F0ED"/>
                    </a:solidFill>
                  </a:tcPr>
                </a:tc>
                <a:extLst>
                  <a:ext uri="{0D108BD9-81ED-4DB2-BD59-A6C34878D82A}">
                    <a16:rowId xmlns:a16="http://schemas.microsoft.com/office/drawing/2014/main" val="2909477176"/>
                  </a:ext>
                </a:extLst>
              </a:tr>
              <a:tr h="355600">
                <a:tc>
                  <a:txBody>
                    <a:bodyPr/>
                    <a:lstStyle/>
                    <a:p>
                      <a:pPr algn="l"/>
                      <a:r>
                        <a:rPr lang="ja-JP" altLang="en-US" sz="1400" b="1">
                          <a:solidFill>
                            <a:srgbClr val="3D3D3D"/>
                          </a:solidFill>
                          <a:latin typeface="BIZ UDPゴシック"/>
                          <a:ea typeface="BIZ UDPゴシック"/>
                        </a:rPr>
                        <a:t>分析計画書/作業メモ</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前処理、学習、評価、解釈の手順整理</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再現性確保</a:t>
                      </a:r>
                    </a:p>
                  </a:txBody>
                  <a:tcPr anchor="ctr">
                    <a:solidFill>
                      <a:srgbClr val="FFFFFF"/>
                    </a:solidFill>
                  </a:tcPr>
                </a:tc>
                <a:extLst>
                  <a:ext uri="{0D108BD9-81ED-4DB2-BD59-A6C34878D82A}">
                    <a16:rowId xmlns:a16="http://schemas.microsoft.com/office/drawing/2014/main" val="3621292451"/>
                  </a:ext>
                </a:extLst>
              </a:tr>
              <a:tr h="355600">
                <a:tc>
                  <a:txBody>
                    <a:bodyPr/>
                    <a:lstStyle/>
                    <a:p>
                      <a:pPr algn="l"/>
                      <a:r>
                        <a:rPr lang="ja-JP" altLang="en-US" sz="1400" b="1">
                          <a:solidFill>
                            <a:srgbClr val="3D3D3D"/>
                          </a:solidFill>
                          <a:latin typeface="BIZ UDPゴシック"/>
                          <a:ea typeface="BIZ UDPゴシック"/>
                        </a:rPr>
                        <a:t>課題管理表</a:t>
                      </a:r>
                    </a:p>
                  </a:txBody>
                  <a:tcPr anchor="ctr">
                    <a:solidFill>
                      <a:srgbClr val="F2F0ED"/>
                    </a:solidFill>
                  </a:tcPr>
                </a:tc>
                <a:tc>
                  <a:txBody>
                    <a:bodyPr/>
                    <a:lstStyle/>
                    <a:p>
                      <a:pPr algn="l"/>
                      <a:r>
                        <a:rPr lang="ja-JP" altLang="en-US" sz="1400">
                          <a:solidFill>
                            <a:srgbClr val="1A1A1A"/>
                          </a:solidFill>
                          <a:latin typeface="BIZ UDPゴシック"/>
                          <a:ea typeface="BIZ UDPゴシック"/>
                        </a:rPr>
                        <a:t>論点、課題、対応状況</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進行管理</a:t>
                      </a:r>
                    </a:p>
                  </a:txBody>
                  <a:tcPr anchor="ctr">
                    <a:solidFill>
                      <a:srgbClr val="F2F0ED"/>
                    </a:solidFill>
                  </a:tcPr>
                </a:tc>
                <a:extLst>
                  <a:ext uri="{0D108BD9-81ED-4DB2-BD59-A6C34878D82A}">
                    <a16:rowId xmlns:a16="http://schemas.microsoft.com/office/drawing/2014/main" val="1029271876"/>
                  </a:ext>
                </a:extLst>
              </a:tr>
              <a:tr h="355600">
                <a:tc>
                  <a:txBody>
                    <a:bodyPr/>
                    <a:lstStyle/>
                    <a:p>
                      <a:pPr algn="l"/>
                      <a:r>
                        <a:rPr lang="ja-JP" altLang="en-US" sz="1400" b="1">
                          <a:solidFill>
                            <a:srgbClr val="3D3D3D"/>
                          </a:solidFill>
                          <a:latin typeface="BIZ UDPゴシック"/>
                          <a:ea typeface="BIZ UDPゴシック"/>
                        </a:rPr>
                        <a:t>目的変数定義メモ</a:t>
                      </a:r>
                    </a:p>
                  </a:txBody>
                  <a:tcPr anchor="ctr">
                    <a:solidFill>
                      <a:srgbClr val="FFFFFF"/>
                    </a:solidFill>
                  </a:tcPr>
                </a:tc>
                <a:tc>
                  <a:txBody>
                    <a:bodyPr/>
                    <a:lstStyle/>
                    <a:p>
                      <a:pPr algn="l"/>
                      <a:r>
                        <a:rPr lang="ja-JP" altLang="en-US" sz="1400">
                          <a:solidFill>
                            <a:srgbClr val="1A1A1A"/>
                          </a:solidFill>
                          <a:latin typeface="BIZ UDPゴシック"/>
                          <a:ea typeface="BIZ UDPゴシック"/>
                        </a:rPr>
                        <a:t>chargesの定義固定</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用語統一</a:t>
                      </a:r>
                    </a:p>
                  </a:txBody>
                  <a:tcPr anchor="ctr">
                    <a:solidFill>
                      <a:srgbClr val="FFFFFF"/>
                    </a:solidFill>
                  </a:tcPr>
                </a:tc>
                <a:extLst>
                  <a:ext uri="{0D108BD9-81ED-4DB2-BD59-A6C34878D82A}">
                    <a16:rowId xmlns:a16="http://schemas.microsoft.com/office/drawing/2014/main" val="3867764608"/>
                  </a:ext>
                </a:extLst>
              </a:tr>
              <a:tr h="355600">
                <a:tc>
                  <a:txBody>
                    <a:bodyPr/>
                    <a:lstStyle/>
                    <a:p>
                      <a:pPr algn="l"/>
                      <a:r>
                        <a:rPr lang="ja-JP" altLang="en-US" sz="1400" b="1">
                          <a:solidFill>
                            <a:srgbClr val="3D3D3D"/>
                          </a:solidFill>
                          <a:latin typeface="BIZ UDPゴシック"/>
                          <a:ea typeface="BIZ UDPゴシック"/>
                        </a:rPr>
                        <a:t>データ前処理仕様メモ</a:t>
                      </a:r>
                    </a:p>
                  </a:txBody>
                  <a:tcPr anchor="ctr">
                    <a:solidFill>
                      <a:srgbClr val="F2F0ED"/>
                    </a:solidFill>
                  </a:tcPr>
                </a:tc>
                <a:tc>
                  <a:txBody>
                    <a:bodyPr/>
                    <a:lstStyle/>
                    <a:p>
                      <a:pPr algn="l"/>
                      <a:r>
                        <a:rPr lang="ja-JP" altLang="en-US" sz="1400">
                          <a:solidFill>
                            <a:srgbClr val="1A1A1A"/>
                          </a:solidFill>
                          <a:latin typeface="BIZ UDPゴシック"/>
                          <a:ea typeface="BIZ UDPゴシック"/>
                        </a:rPr>
                        <a:t>使用列、除外列、前処理ルール</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実装整合</a:t>
                      </a:r>
                    </a:p>
                  </a:txBody>
                  <a:tcPr anchor="ctr">
                    <a:solidFill>
                      <a:srgbClr val="F2F0ED"/>
                    </a:solidFill>
                  </a:tcPr>
                </a:tc>
                <a:extLst>
                  <a:ext uri="{0D108BD9-81ED-4DB2-BD59-A6C34878D82A}">
                    <a16:rowId xmlns:a16="http://schemas.microsoft.com/office/drawing/2014/main" val="1465872394"/>
                  </a:ext>
                </a:extLst>
              </a:tr>
              <a:tr h="355600">
                <a:tc>
                  <a:txBody>
                    <a:bodyPr/>
                    <a:lstStyle/>
                    <a:p>
                      <a:pPr algn="l"/>
                      <a:r>
                        <a:rPr lang="ja-JP" altLang="en-US" sz="1400" b="1">
                          <a:solidFill>
                            <a:srgbClr val="3D3D3D"/>
                          </a:solidFill>
                          <a:latin typeface="BIZ UDPゴシック"/>
                          <a:ea typeface="BIZ UDPゴシック"/>
                        </a:rPr>
                        <a:t>モデル評価サマリ</a:t>
                      </a:r>
                    </a:p>
                  </a:txBody>
                  <a:tcPr anchor="ctr">
                    <a:solidFill>
                      <a:srgbClr val="FFFFFF"/>
                    </a:solidFill>
                  </a:tcPr>
                </a:tc>
                <a:tc>
                  <a:txBody>
                    <a:bodyPr/>
                    <a:lstStyle/>
                    <a:p>
                      <a:pPr algn="l"/>
                      <a:r>
                        <a:rPr lang="ja-JP" altLang="en-US" sz="1400">
                          <a:solidFill>
                            <a:srgbClr val="1A1A1A"/>
                          </a:solidFill>
                          <a:latin typeface="BIZ UDPゴシック"/>
                          <a:ea typeface="BIZ UDPゴシック"/>
                        </a:rPr>
                        <a:t>指標一覧、混同行列、比較結果</a:t>
                      </a:r>
                    </a:p>
                  </a:txBody>
                  <a:tcPr anchor="ctr">
                    <a:solidFill>
                      <a:srgbClr val="FFFFFF"/>
                    </a:solidFill>
                  </a:tcPr>
                </a:tc>
                <a:tc>
                  <a:txBody>
                    <a:bodyPr/>
                    <a:lstStyle/>
                    <a:p>
                      <a:pPr algn="ctr"/>
                      <a:r>
                        <a:rPr lang="ja-JP" altLang="en-US" sz="1400">
                          <a:solidFill>
                            <a:srgbClr val="1A1A1A"/>
                          </a:solidFill>
                          <a:latin typeface="BIZ UDPゴシック"/>
                          <a:ea typeface="BIZ UDPゴシック"/>
                        </a:rPr>
                        <a:t>評価記録</a:t>
                      </a:r>
                    </a:p>
                  </a:txBody>
                  <a:tcPr anchor="ctr">
                    <a:solidFill>
                      <a:srgbClr val="FFFFFF"/>
                    </a:solidFill>
                  </a:tcPr>
                </a:tc>
                <a:extLst>
                  <a:ext uri="{0D108BD9-81ED-4DB2-BD59-A6C34878D82A}">
                    <a16:rowId xmlns:a16="http://schemas.microsoft.com/office/drawing/2014/main" val="2934573637"/>
                  </a:ext>
                </a:extLst>
              </a:tr>
              <a:tr h="355600">
                <a:tc>
                  <a:txBody>
                    <a:bodyPr/>
                    <a:lstStyle/>
                    <a:p>
                      <a:pPr algn="l"/>
                      <a:r>
                        <a:rPr lang="ja-JP" altLang="en-US" sz="1400" b="1">
                          <a:solidFill>
                            <a:srgbClr val="3D3D3D"/>
                          </a:solidFill>
                          <a:latin typeface="BIZ UDPゴシック"/>
                          <a:ea typeface="BIZ UDPゴシック"/>
                        </a:rPr>
                        <a:t>主要仮定一覧</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制約、前提、留意事項</a:t>
                      </a:r>
                    </a:p>
                  </a:txBody>
                  <a:tcPr anchor="ctr">
                    <a:solidFill>
                      <a:srgbClr val="F2F0ED"/>
                    </a:solidFill>
                  </a:tcPr>
                </a:tc>
                <a:tc>
                  <a:txBody>
                    <a:bodyPr/>
                    <a:lstStyle/>
                    <a:p>
                      <a:pPr algn="ctr"/>
                      <a:r>
                        <a:rPr lang="ja-JP" altLang="en-US" sz="1400">
                          <a:solidFill>
                            <a:srgbClr val="1A1A1A"/>
                          </a:solidFill>
                          <a:latin typeface="BIZ UDPゴシック"/>
                          <a:ea typeface="BIZ UDPゴシック"/>
                        </a:rPr>
                        <a:t>追跡可能性確保</a:t>
                      </a:r>
                    </a:p>
                  </a:txBody>
                  <a:tcPr anchor="ctr">
                    <a:solidFill>
                      <a:srgbClr val="F2F0ED"/>
                    </a:solidFill>
                  </a:tcPr>
                </a:tc>
                <a:extLst>
                  <a:ext uri="{0D108BD9-81ED-4DB2-BD59-A6C34878D82A}">
                    <a16:rowId xmlns:a16="http://schemas.microsoft.com/office/drawing/2014/main" val="3285691793"/>
                  </a:ext>
                </a:extLst>
              </a:tr>
            </a:tbl>
          </a:graphicData>
        </a:graphic>
      </p:graphicFrame>
    </p:spTree>
    <p:extLst>
      <p:ext uri="{BB962C8B-B14F-4D97-AF65-F5344CB8AC3E}">
        <p14:creationId xmlns:p14="http://schemas.microsoft.com/office/powerpoint/2010/main" val="2647721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5E0589-0A85-B6B9-B27D-787FC91DFF35}"/>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8. </a:t>
            </a:r>
            <a:r>
              <a:rPr kumimoji="1" lang="ja-JP" altLang="en-US" sz="2800" b="1">
                <a:solidFill>
                  <a:srgbClr val="8B2500"/>
                </a:solidFill>
                <a:latin typeface="BIZ UDPゴシック"/>
                <a:ea typeface="BIZ UDPゴシック"/>
              </a:rPr>
              <a:t>費用見積</a:t>
            </a:r>
          </a:p>
        </p:txBody>
      </p:sp>
      <p:sp>
        <p:nvSpPr>
          <p:cNvPr id="20" name="S20"/>
          <p:cNvSpPr/>
          <p:nvPr/>
        </p:nvSpPr>
        <p:spPr>
          <a:xfrm>
            <a:off x="457200" y="1100000"/>
            <a:ext cx="2667000" cy="1143000"/>
          </a:xfrm>
          <a:prstGeom prst="roundRect">
            <a:avLst/>
          </a:prstGeom>
          <a:solidFill>
            <a:srgbClr val="8B2500"/>
          </a:solidFill>
          <a:ln>
            <a:noFill/>
          </a:ln>
        </p:spPr>
        <p:txBody>
          <a:bodyPr wrap="square" lIns="72000" tIns="36000" rIns="72000" bIns="36000" anchor="ctr"/>
          <a:lstStyle/>
          <a:p>
            <a:pPr algn="ctr">
              <a:buNone/>
            </a:pPr>
            <a:r>
              <a:rPr lang="ja-JP" sz="1200" dirty="0">
                <a:solidFill>
                  <a:srgbClr val="FFFFFF"/>
                </a:solidFill>
                <a:latin typeface="BIZ UDPGothic"/>
                <a:ea typeface="BIZ UDPGothic"/>
              </a:rPr>
              <a:t>契約形態</a:t>
            </a:r>
          </a:p>
          <a:p>
            <a:pPr algn="ctr">
              <a:buNone/>
            </a:pPr>
            <a:r>
              <a:rPr lang="ja-JP" sz="2400" b="1" dirty="0">
                <a:solidFill>
                  <a:srgbClr val="FFFFFF"/>
                </a:solidFill>
                <a:latin typeface="BIZ UDPGothic"/>
                <a:ea typeface="BIZ UDPGothic"/>
              </a:rPr>
              <a:t>Time &amp; Materials</a:t>
            </a:r>
          </a:p>
        </p:txBody>
      </p:sp>
      <p:sp>
        <p:nvSpPr>
          <p:cNvPr id="21" name="S21"/>
          <p:cNvSpPr/>
          <p:nvPr/>
        </p:nvSpPr>
        <p:spPr>
          <a:xfrm>
            <a:off x="3352800" y="1100000"/>
            <a:ext cx="2667000" cy="1143000"/>
          </a:xfrm>
          <a:prstGeom prst="roundRect">
            <a:avLst/>
          </a:prstGeom>
          <a:solidFill>
            <a:srgbClr val="4A4A4A"/>
          </a:solidFill>
          <a:ln>
            <a:noFill/>
          </a:ln>
        </p:spPr>
        <p:txBody>
          <a:bodyPr wrap="square" lIns="72000" tIns="36000" rIns="72000" bIns="36000" anchor="ctr"/>
          <a:lstStyle/>
          <a:p>
            <a:pPr algn="ctr">
              <a:buNone/>
            </a:pPr>
            <a:r>
              <a:rPr lang="ja-JP" sz="1200" dirty="0">
                <a:solidFill>
                  <a:srgbClr val="FFFFFF"/>
                </a:solidFill>
                <a:latin typeface="BIZ UDPGothic"/>
                <a:ea typeface="BIZ UDPGothic"/>
              </a:rPr>
              <a:t>時間単価</a:t>
            </a:r>
          </a:p>
          <a:p>
            <a:pPr algn="ctr">
              <a:buNone/>
            </a:pPr>
            <a:r>
              <a:rPr lang="ja-JP" sz="2400" b="1" dirty="0">
                <a:solidFill>
                  <a:srgbClr val="FFFFFF"/>
                </a:solidFill>
                <a:latin typeface="BIZ UDPGothic"/>
                <a:ea typeface="BIZ UDPGothic"/>
              </a:rPr>
              <a:t>¥25,000</a:t>
            </a:r>
          </a:p>
        </p:txBody>
      </p:sp>
      <p:sp>
        <p:nvSpPr>
          <p:cNvPr id="22" name="S22"/>
          <p:cNvSpPr/>
          <p:nvPr/>
        </p:nvSpPr>
        <p:spPr>
          <a:xfrm>
            <a:off x="6248400" y="1100000"/>
            <a:ext cx="2667000" cy="1143000"/>
          </a:xfrm>
          <a:prstGeom prst="roundRect">
            <a:avLst/>
          </a:prstGeom>
          <a:solidFill>
            <a:srgbClr val="4A4A4A"/>
          </a:solidFill>
          <a:ln>
            <a:noFill/>
          </a:ln>
        </p:spPr>
        <p:txBody>
          <a:bodyPr wrap="square" lIns="72000" tIns="36000" rIns="72000" bIns="36000" anchor="ctr"/>
          <a:lstStyle/>
          <a:p>
            <a:pPr algn="ctr">
              <a:buNone/>
            </a:pPr>
            <a:r>
              <a:rPr lang="ja-JP" sz="1200" dirty="0">
                <a:solidFill>
                  <a:srgbClr val="FFFFFF"/>
                </a:solidFill>
                <a:latin typeface="BIZ UDPGothic"/>
                <a:ea typeface="BIZ UDPGothic"/>
              </a:rPr>
              <a:t>見込工数</a:t>
            </a:r>
          </a:p>
          <a:p>
            <a:pPr algn="ctr">
              <a:buNone/>
            </a:pPr>
            <a:r>
              <a:rPr lang="ja-JP" sz="2400" b="1" dirty="0">
                <a:solidFill>
                  <a:srgbClr val="FFFFFF"/>
                </a:solidFill>
                <a:latin typeface="BIZ UDPGothic"/>
                <a:ea typeface="BIZ UDPGothic"/>
              </a:rPr>
              <a:t>170時間</a:t>
            </a:r>
          </a:p>
        </p:txBody>
      </p:sp>
      <p:sp>
        <p:nvSpPr>
          <p:cNvPr id="23" name="S23"/>
          <p:cNvSpPr/>
          <p:nvPr/>
        </p:nvSpPr>
        <p:spPr>
          <a:xfrm>
            <a:off x="9144000" y="1100000"/>
            <a:ext cx="2667000" cy="1143000"/>
          </a:xfrm>
          <a:prstGeom prst="roundRect">
            <a:avLst/>
          </a:prstGeom>
          <a:solidFill>
            <a:srgbClr val="8B2500"/>
          </a:solidFill>
          <a:ln>
            <a:noFill/>
          </a:ln>
        </p:spPr>
        <p:txBody>
          <a:bodyPr wrap="square" lIns="72000" tIns="36000" rIns="72000" bIns="36000" anchor="ctr"/>
          <a:lstStyle/>
          <a:p>
            <a:pPr algn="ctr">
              <a:buNone/>
            </a:pPr>
            <a:r>
              <a:rPr lang="ja-JP" sz="1200" dirty="0">
                <a:solidFill>
                  <a:srgbClr val="FFFFFF"/>
                </a:solidFill>
                <a:latin typeface="BIZ UDPGothic"/>
                <a:ea typeface="BIZ UDPGothic"/>
              </a:rPr>
              <a:t>見込金額（税込）</a:t>
            </a:r>
          </a:p>
          <a:p>
            <a:pPr algn="ctr">
              <a:buNone/>
            </a:pPr>
            <a:r>
              <a:rPr lang="ja-JP" sz="2400" b="1" dirty="0">
                <a:solidFill>
                  <a:srgbClr val="FFFFFF"/>
                </a:solidFill>
                <a:latin typeface="BIZ UDPGothic"/>
                <a:ea typeface="BIZ UDPGothic"/>
              </a:rPr>
              <a:t>¥4,675,000</a:t>
            </a:r>
          </a:p>
        </p:txBody>
      </p:sp>
      <p:sp>
        <p:nvSpPr>
          <p:cNvPr id="30" name="S30"/>
          <p:cNvSpPr/>
          <p:nvPr/>
        </p:nvSpPr>
        <p:spPr>
          <a:xfrm>
            <a:off x="457200" y="2500000"/>
            <a:ext cx="5486400" cy="1828800"/>
          </a:xfrm>
          <a:prstGeom prst="roundRect">
            <a:avLst/>
          </a:prstGeom>
          <a:solidFill>
            <a:srgbClr val="F2F0ED"/>
          </a:solidFill>
          <a:ln>
            <a:noFill/>
          </a:ln>
        </p:spPr>
        <p:txBody>
          <a:bodyPr wrap="square" lIns="182880" tIns="91440" rIns="182880" bIns="91440" anchor="t"/>
          <a:lstStyle/>
          <a:p>
            <a:pPr algn="l">
              <a:buNone/>
            </a:pPr>
            <a:r>
              <a:rPr lang="ja-JP" sz="1400" b="1" dirty="0">
                <a:solidFill>
                  <a:srgbClr val="8B2500"/>
                </a:solidFill>
                <a:latin typeface="BIZ UDPGothic"/>
                <a:ea typeface="BIZ UDPGothic"/>
              </a:rPr>
              <a:t>契約条件詳細</a:t>
            </a:r>
          </a:p>
          <a:p>
            <a:pPr marL="228600" indent="-228600">
              <a:buFont typeface="Arial"/>
              <a:buChar char="•"/>
            </a:pPr>
            <a:r>
              <a:rPr lang="ja-JP" sz="1200" dirty="0">
                <a:solidFill>
                  <a:srgbClr val="3D3D3D"/>
                </a:solidFill>
                <a:latin typeface="BIZ UDPGothic"/>
                <a:ea typeface="BIZ UDPGothic"/>
              </a:rPr>
              <a:t>請求単位：hour</a:t>
            </a:r>
          </a:p>
          <a:p>
            <a:pPr marL="228600" indent="-228600">
              <a:buFont typeface="Arial"/>
              <a:buChar char="•"/>
            </a:pPr>
            <a:r>
              <a:rPr lang="ja-JP" sz="1200" dirty="0">
                <a:solidFill>
                  <a:srgbClr val="3D3D3D"/>
                </a:solidFill>
                <a:latin typeface="BIZ UDPGothic"/>
                <a:ea typeface="BIZ UDPGothic"/>
              </a:rPr>
              <a:t>精算ルール：実績工数に基づく事後精算（月次精算）</a:t>
            </a:r>
          </a:p>
          <a:p>
            <a:pPr marL="228600" indent="-228600">
              <a:buFont typeface="Arial"/>
              <a:buChar char="•"/>
            </a:pPr>
            <a:r>
              <a:rPr lang="ja-JP" sz="1200" dirty="0">
                <a:solidFill>
                  <a:srgbClr val="3D3D3D"/>
                </a:solidFill>
                <a:latin typeface="BIZ UDPGothic"/>
                <a:ea typeface="BIZ UDPGothic"/>
              </a:rPr>
              <a:t>工数丸め単位：30分</a:t>
            </a:r>
          </a:p>
          <a:p>
            <a:pPr marL="228600" indent="-228600">
              <a:buFont typeface="Arial"/>
              <a:buChar char="•"/>
            </a:pPr>
            <a:r>
              <a:rPr lang="ja-JP" sz="1200" dirty="0">
                <a:solidFill>
                  <a:srgbClr val="3D3D3D"/>
                </a:solidFill>
                <a:latin typeface="BIZ UDPGothic"/>
                <a:ea typeface="BIZ UDPGothic"/>
              </a:rPr>
              <a:t>見込金額（税抜）：4,250,000円</a:t>
            </a:r>
          </a:p>
          <a:p>
            <a:pPr marL="228600" indent="-228600">
              <a:buFont typeface="Arial"/>
              <a:buChar char="•"/>
            </a:pPr>
            <a:r>
              <a:rPr lang="ja-JP" sz="1200" dirty="0">
                <a:solidFill>
                  <a:srgbClr val="3D3D3D"/>
                </a:solidFill>
                <a:latin typeface="BIZ UDPGothic"/>
                <a:ea typeface="BIZ UDPGothic"/>
              </a:rPr>
              <a:t>消費税額：425,000円</a:t>
            </a:r>
          </a:p>
        </p:txBody>
      </p:sp>
      <p:sp>
        <p:nvSpPr>
          <p:cNvPr id="31" name="S31"/>
          <p:cNvSpPr/>
          <p:nvPr/>
        </p:nvSpPr>
        <p:spPr>
          <a:xfrm>
            <a:off x="6172200" y="2500000"/>
            <a:ext cx="5562600" cy="1828800"/>
          </a:xfrm>
          <a:prstGeom prst="roundRect">
            <a:avLst/>
          </a:prstGeom>
          <a:solidFill>
            <a:srgbClr val="FFFFFF"/>
          </a:solidFill>
          <a:ln w="12700">
            <a:solidFill>
              <a:srgbClr val="8B2500"/>
            </a:solidFill>
          </a:ln>
        </p:spPr>
        <p:txBody>
          <a:bodyPr wrap="square" lIns="182880" tIns="91440" rIns="182880" bIns="91440" anchor="t"/>
          <a:lstStyle/>
          <a:p>
            <a:r>
              <a:rPr sz="1400" dirty="0" err="1"/>
              <a:t>支払条件</a:t>
            </a:r>
            <a:endParaRPr sz="1400" dirty="0"/>
          </a:p>
          <a:p>
            <a:r>
              <a:rPr sz="1400" dirty="0"/>
              <a:t>支払回：1回（100%）</a:t>
            </a:r>
          </a:p>
          <a:p>
            <a:r>
              <a:rPr sz="1400" dirty="0"/>
              <a:t>条件：当月分タイムシート確定後、請求書受領から5営業日以内</a:t>
            </a:r>
          </a:p>
          <a:p>
            <a:r>
              <a:rPr sz="1400" dirty="0" err="1"/>
              <a:t>金額（税抜</a:t>
            </a:r>
            <a:r>
              <a:rPr sz="1400" dirty="0"/>
              <a:t>）：4,250,000円</a:t>
            </a:r>
          </a:p>
          <a:p>
            <a:r>
              <a:rPr sz="1400" dirty="0"/>
              <a:t>消費税額：425,000円</a:t>
            </a:r>
          </a:p>
          <a:p>
            <a:r>
              <a:rPr sz="1400" dirty="0" err="1"/>
              <a:t>金額（税込</a:t>
            </a:r>
            <a:r>
              <a:rPr sz="1400" dirty="0"/>
              <a:t>）：4,675,000円</a:t>
            </a:r>
          </a:p>
        </p:txBody>
      </p:sp>
      <p:sp>
        <p:nvSpPr>
          <p:cNvPr id="40" name="S40"/>
          <p:cNvSpPr/>
          <p:nvPr/>
        </p:nvSpPr>
        <p:spPr>
          <a:xfrm>
            <a:off x="457200" y="4571000"/>
            <a:ext cx="11277600" cy="900000"/>
          </a:xfrm>
          <a:prstGeom prst="roundRect">
            <a:avLst/>
          </a:prstGeom>
          <a:solidFill>
            <a:srgbClr val="FFF5F0"/>
          </a:solidFill>
          <a:ln w="12700">
            <a:solidFill>
              <a:srgbClr val="8B2500"/>
            </a:solidFill>
          </a:ln>
        </p:spPr>
        <p:txBody>
          <a:bodyPr wrap="square" lIns="182880" tIns="72000" rIns="182880" bIns="72000" anchor="ctr"/>
          <a:lstStyle/>
          <a:p>
            <a:pPr algn="l">
              <a:buNone/>
            </a:pPr>
            <a:r>
              <a:rPr lang="ja-JP" sz="1300" b="1" dirty="0">
                <a:solidFill>
                  <a:srgbClr val="8B2500"/>
                </a:solidFill>
                <a:latin typeface="BIZ UDPGothic"/>
                <a:ea typeface="BIZ UDPGothic"/>
              </a:rPr>
              <a:t>⚠ 重要事項</a:t>
            </a:r>
          </a:p>
          <a:p>
            <a:pPr algn="l">
              <a:buNone/>
            </a:pPr>
            <a:r>
              <a:rPr lang="ja-JP" sz="1200" dirty="0">
                <a:solidFill>
                  <a:srgbClr val="3D3D3D"/>
                </a:solidFill>
                <a:latin typeface="BIZ UDPGothic"/>
                <a:ea typeface="BIZ UDPGothic"/>
              </a:rPr>
              <a:t>本契約はTime &amp; Materialsであり、上記金額は170時間を前提とした見込金額である。</a:t>
            </a:r>
          </a:p>
          <a:p>
            <a:pPr algn="l">
              <a:buNone/>
            </a:pPr>
            <a:r>
              <a:rPr lang="ja-JP" sz="1200" dirty="0">
                <a:solidFill>
                  <a:srgbClr val="3D3D3D"/>
                </a:solidFill>
                <a:latin typeface="BIZ UDPGothic"/>
                <a:ea typeface="BIZ UDPGothic"/>
              </a:rPr>
              <a:t>最終請求額は固定総額ではなく、実績工数に時間単価を乗じ、消費税を加算した金額に基づく。</a:t>
            </a:r>
          </a:p>
        </p:txBody>
      </p:sp>
    </p:spTree>
    <p:extLst>
      <p:ext uri="{BB962C8B-B14F-4D97-AF65-F5344CB8AC3E}">
        <p14:creationId xmlns:p14="http://schemas.microsoft.com/office/powerpoint/2010/main" val="1885362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0E5DFE-EDA1-941A-4CA3-347F5DE88E10}"/>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9. </a:t>
            </a:r>
            <a:r>
              <a:rPr kumimoji="1" lang="ja-JP" altLang="en-US" sz="2800" b="1">
                <a:solidFill>
                  <a:srgbClr val="8B2500"/>
                </a:solidFill>
                <a:latin typeface="BIZ UDPゴシック"/>
                <a:ea typeface="BIZ UDPゴシック"/>
              </a:rPr>
              <a:t>リスクと対応策</a:t>
            </a:r>
          </a:p>
        </p:txBody>
      </p:sp>
      <p:graphicFrame>
        <p:nvGraphicFramePr>
          <p:cNvPr id="4" name="表 3">
            <a:extLst>
              <a:ext uri="{FF2B5EF4-FFF2-40B4-BE49-F238E27FC236}">
                <a16:creationId xmlns:a16="http://schemas.microsoft.com/office/drawing/2014/main" id="{5905A80B-1899-45E3-9944-032180EA9430}"/>
              </a:ext>
            </a:extLst>
          </p:cNvPr>
          <p:cNvGraphicFramePr>
            <a:graphicFrameLocks noGrp="1"/>
          </p:cNvGraphicFramePr>
          <p:nvPr>
            <p:extLst>
              <p:ext uri="{D42A27DB-BD31-4B8C-83A1-F6EECF244321}">
                <p14:modId xmlns:p14="http://schemas.microsoft.com/office/powerpoint/2010/main" val="3742608698"/>
              </p:ext>
            </p:extLst>
          </p:nvPr>
        </p:nvGraphicFramePr>
        <p:xfrm>
          <a:off x="482600" y="952500"/>
          <a:ext cx="11226800" cy="46736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792759997"/>
                    </a:ext>
                  </a:extLst>
                </a:gridCol>
                <a:gridCol w="4406900">
                  <a:extLst>
                    <a:ext uri="{9D8B030D-6E8A-4147-A177-3AD203B41FA5}">
                      <a16:colId xmlns:a16="http://schemas.microsoft.com/office/drawing/2014/main" val="4065059459"/>
                    </a:ext>
                  </a:extLst>
                </a:gridCol>
                <a:gridCol w="4406900">
                  <a:extLst>
                    <a:ext uri="{9D8B030D-6E8A-4147-A177-3AD203B41FA5}">
                      <a16:colId xmlns:a16="http://schemas.microsoft.com/office/drawing/2014/main" val="3043108429"/>
                    </a:ext>
                  </a:extLst>
                </a:gridCol>
              </a:tblGrid>
              <a:tr h="406400">
                <a:tc>
                  <a:txBody>
                    <a:bodyPr/>
                    <a:lstStyle/>
                    <a:p>
                      <a:pPr algn="ctr"/>
                      <a:r>
                        <a:rPr lang="ja-JP" altLang="en-US" sz="1400" b="1">
                          <a:solidFill>
                            <a:srgbClr val="FFFFFF"/>
                          </a:solidFill>
                          <a:latin typeface="BIZ UDPゴシック"/>
                          <a:ea typeface="BIZ UDPゴシック"/>
                        </a:rPr>
                        <a:t>リスク</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8B2500"/>
                    </a:solidFill>
                  </a:tcPr>
                </a:tc>
                <a:tc>
                  <a:txBody>
                    <a:bodyPr/>
                    <a:lstStyle/>
                    <a:p>
                      <a:pPr algn="ctr"/>
                      <a:r>
                        <a:rPr lang="ja-JP" altLang="en-US" sz="1400" b="1">
                          <a:solidFill>
                            <a:srgbClr val="FFFFFF"/>
                          </a:solidFill>
                          <a:latin typeface="BIZ UDPゴシック"/>
                          <a:ea typeface="BIZ UDPゴシック"/>
                        </a:rPr>
                        <a:t>対応策</a:t>
                      </a:r>
                    </a:p>
                  </a:txBody>
                  <a:tcPr anchor="ctr">
                    <a:solidFill>
                      <a:srgbClr val="8B2500"/>
                    </a:solidFill>
                  </a:tcPr>
                </a:tc>
                <a:extLst>
                  <a:ext uri="{0D108BD9-81ED-4DB2-BD59-A6C34878D82A}">
                    <a16:rowId xmlns:a16="http://schemas.microsoft.com/office/drawing/2014/main" val="1180449262"/>
                  </a:ext>
                </a:extLst>
              </a:tr>
              <a:tr h="609600">
                <a:tc>
                  <a:txBody>
                    <a:bodyPr/>
                    <a:lstStyle/>
                    <a:p>
                      <a:pPr algn="l"/>
                      <a:r>
                        <a:rPr lang="ja-JP" altLang="en-US" sz="1400" b="1">
                          <a:solidFill>
                            <a:srgbClr val="8B2500"/>
                          </a:solidFill>
                          <a:latin typeface="BIZ UDPゴシック"/>
                          <a:ea typeface="BIZ UDPゴシック"/>
                        </a:rPr>
                        <a:t>クラス不均衡</a:t>
                      </a:r>
                    </a:p>
                  </a:txBody>
                  <a:tcPr anchor="ctr">
                    <a:solidFill>
                      <a:srgbClr val="FFFFFF"/>
                    </a:solidFill>
                  </a:tcPr>
                </a:tc>
                <a:tc>
                  <a:txBody>
                    <a:bodyPr/>
                    <a:lstStyle/>
                    <a:p>
                      <a:pPr algn="l"/>
                      <a:r>
                        <a:rPr lang="ja-JP" altLang="en-US" sz="1400">
                          <a:solidFill>
                            <a:srgbClr val="1A1A1A"/>
                          </a:solidFill>
                          <a:latin typeface="BIZ UDPゴシック"/>
                          <a:ea typeface="BIZ UDPゴシック"/>
                        </a:rPr>
                        <a:t>chargesの分布偏りにより再現率低下の可能性</a:t>
                      </a:r>
                    </a:p>
                  </a:txBody>
                  <a:tcPr anchor="ctr">
                    <a:solidFill>
                      <a:srgbClr val="FFFFFF"/>
                    </a:solidFill>
                  </a:tcPr>
                </a:tc>
                <a:tc>
                  <a:txBody>
                    <a:bodyPr/>
                    <a:lstStyle/>
                    <a:p>
                      <a:pPr algn="l"/>
                      <a:r>
                        <a:rPr lang="ja-JP" altLang="en-US" sz="1400">
                          <a:solidFill>
                            <a:srgbClr val="1A1A1A"/>
                          </a:solidFill>
                          <a:latin typeface="BIZ UDPゴシック"/>
                          <a:ea typeface="BIZ UDPゴシック"/>
                        </a:rPr>
                        <a:t>Macro F1、クラス別P/R、混同行列で多面評価</a:t>
                      </a:r>
                    </a:p>
                  </a:txBody>
                  <a:tcPr anchor="ctr">
                    <a:solidFill>
                      <a:srgbClr val="FFFFFF"/>
                    </a:solidFill>
                  </a:tcPr>
                </a:tc>
                <a:extLst>
                  <a:ext uri="{0D108BD9-81ED-4DB2-BD59-A6C34878D82A}">
                    <a16:rowId xmlns:a16="http://schemas.microsoft.com/office/drawing/2014/main" val="3200333505"/>
                  </a:ext>
                </a:extLst>
              </a:tr>
              <a:tr h="609600">
                <a:tc>
                  <a:txBody>
                    <a:bodyPr/>
                    <a:lstStyle/>
                    <a:p>
                      <a:pPr algn="l"/>
                      <a:r>
                        <a:rPr lang="ja-JP" altLang="en-US" sz="1400" b="1">
                          <a:solidFill>
                            <a:srgbClr val="8B2500"/>
                          </a:solidFill>
                          <a:latin typeface="BIZ UDPゴシック"/>
                          <a:ea typeface="BIZ UDPゴシック"/>
                        </a:rPr>
                        <a:t>データ粒度不足</a:t>
                      </a:r>
                    </a:p>
                  </a:txBody>
                  <a:tcPr anchor="ctr">
                    <a:solidFill>
                      <a:srgbClr val="F2F0ED"/>
                    </a:solidFill>
                  </a:tcPr>
                </a:tc>
                <a:tc>
                  <a:txBody>
                    <a:bodyPr/>
                    <a:lstStyle/>
                    <a:p>
                      <a:pPr algn="l"/>
                      <a:r>
                        <a:rPr lang="ja-JP" altLang="en-US" sz="1400">
                          <a:solidFill>
                            <a:srgbClr val="1A1A1A"/>
                          </a:solidFill>
                          <a:latin typeface="BIZ UDPゴシック"/>
                          <a:ea typeface="BIZ UDPゴシック"/>
                        </a:rPr>
                        <a:t>診療内容・既往等がなく説明力に限界</a:t>
                      </a:r>
                    </a:p>
                  </a:txBody>
                  <a:tcPr anchor="ctr">
                    <a:solidFill>
                      <a:srgbClr val="F2F0ED"/>
                    </a:solidFill>
                  </a:tcPr>
                </a:tc>
                <a:tc>
                  <a:txBody>
                    <a:bodyPr/>
                    <a:lstStyle/>
                    <a:p>
                      <a:pPr algn="l"/>
                      <a:r>
                        <a:rPr lang="ja-JP" altLang="en-US" sz="1400">
                          <a:solidFill>
                            <a:srgbClr val="1A1A1A"/>
                          </a:solidFill>
                          <a:latin typeface="BIZ UDPゴシック"/>
                          <a:ea typeface="BIZ UDPゴシック"/>
                        </a:rPr>
                        <a:t>適用範囲を明示、現データで確認可能な範囲に限定</a:t>
                      </a:r>
                    </a:p>
                  </a:txBody>
                  <a:tcPr anchor="ctr">
                    <a:solidFill>
                      <a:srgbClr val="F2F0ED"/>
                    </a:solidFill>
                  </a:tcPr>
                </a:tc>
                <a:extLst>
                  <a:ext uri="{0D108BD9-81ED-4DB2-BD59-A6C34878D82A}">
                    <a16:rowId xmlns:a16="http://schemas.microsoft.com/office/drawing/2014/main" val="3215645480"/>
                  </a:ext>
                </a:extLst>
              </a:tr>
              <a:tr h="609600">
                <a:tc>
                  <a:txBody>
                    <a:bodyPr/>
                    <a:lstStyle/>
                    <a:p>
                      <a:pPr algn="l"/>
                      <a:r>
                        <a:rPr lang="ja-JP" altLang="en-US" sz="1400" b="1">
                          <a:solidFill>
                            <a:srgbClr val="8B2500"/>
                          </a:solidFill>
                          <a:latin typeface="BIZ UDPゴシック"/>
                          <a:ea typeface="BIZ UDPゴシック"/>
                        </a:rPr>
                        <a:t>データ入力不整合</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入力ゆらぎや定義差の混入可能性</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初期段階で型・分布・カテゴリ値を確認しレビュー</a:t>
                      </a:r>
                    </a:p>
                  </a:txBody>
                  <a:tcPr anchor="ctr">
                    <a:solidFill>
                      <a:srgbClr val="FFFFFF"/>
                    </a:solidFill>
                  </a:tcPr>
                </a:tc>
                <a:extLst>
                  <a:ext uri="{0D108BD9-81ED-4DB2-BD59-A6C34878D82A}">
                    <a16:rowId xmlns:a16="http://schemas.microsoft.com/office/drawing/2014/main" val="3631269856"/>
                  </a:ext>
                </a:extLst>
              </a:tr>
              <a:tr h="609600">
                <a:tc>
                  <a:txBody>
                    <a:bodyPr/>
                    <a:lstStyle/>
                    <a:p>
                      <a:pPr algn="l"/>
                      <a:r>
                        <a:rPr lang="ja-JP" altLang="en-US" sz="1400" b="1">
                          <a:solidFill>
                            <a:srgbClr val="8B2500"/>
                          </a:solidFill>
                          <a:latin typeface="BIZ UDPゴシック"/>
                          <a:ea typeface="BIZ UDPゴシック"/>
                        </a:rPr>
                        <a:t>解釈の飛躍</a:t>
                      </a:r>
                    </a:p>
                  </a:txBody>
                  <a:tcPr anchor="ctr">
                    <a:solidFill>
                      <a:srgbClr val="F2F0ED"/>
                    </a:solidFill>
                  </a:tcPr>
                </a:tc>
                <a:tc>
                  <a:txBody>
                    <a:bodyPr/>
                    <a:lstStyle/>
                    <a:p>
                      <a:pPr algn="l"/>
                      <a:r>
                        <a:rPr lang="ja-JP" altLang="en-US" sz="1400">
                          <a:solidFill>
                            <a:srgbClr val="1A1A1A"/>
                          </a:solidFill>
                          <a:latin typeface="BIZ UDPゴシック"/>
                          <a:ea typeface="BIZ UDPゴシック"/>
                        </a:rPr>
                        <a:t>臨床効果の断定として受け取られる可能性</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因果関係・臨床効果を断定しない旨を明記</a:t>
                      </a:r>
                    </a:p>
                  </a:txBody>
                  <a:tcPr anchor="ctr">
                    <a:solidFill>
                      <a:srgbClr val="F2F0ED"/>
                    </a:solidFill>
                  </a:tcPr>
                </a:tc>
                <a:extLst>
                  <a:ext uri="{0D108BD9-81ED-4DB2-BD59-A6C34878D82A}">
                    <a16:rowId xmlns:a16="http://schemas.microsoft.com/office/drawing/2014/main" val="4234020327"/>
                  </a:ext>
                </a:extLst>
              </a:tr>
              <a:tr h="609600">
                <a:tc>
                  <a:txBody>
                    <a:bodyPr/>
                    <a:lstStyle/>
                    <a:p>
                      <a:pPr algn="l"/>
                      <a:r>
                        <a:rPr lang="ja-JP" altLang="en-US" sz="1400" b="1">
                          <a:solidFill>
                            <a:srgbClr val="8B2500"/>
                          </a:solidFill>
                          <a:latin typeface="BIZ UDPゴシック"/>
                          <a:ea typeface="BIZ UDPゴシック"/>
                        </a:rPr>
                        <a:t>スコープ拡大</a:t>
                      </a:r>
                    </a:p>
                  </a:txBody>
                  <a:tcPr anchor="ctr">
                    <a:solidFill>
                      <a:srgbClr val="FFFFFF"/>
                    </a:solidFill>
                  </a:tcPr>
                </a:tc>
                <a:tc>
                  <a:txBody>
                    <a:bodyPr/>
                    <a:lstStyle/>
                    <a:p>
                      <a:pPr algn="l"/>
                      <a:r>
                        <a:rPr lang="ja-JP" altLang="en-US" sz="1400">
                          <a:solidFill>
                            <a:srgbClr val="1A1A1A"/>
                          </a:solidFill>
                          <a:latin typeface="BIZ UDPゴシック"/>
                          <a:ea typeface="BIZ UDPゴシック"/>
                        </a:rPr>
                        <a:t>ダッシュボード化等への要望拡大</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対象範囲を文書で固定、変更管理ルールで対応</a:t>
                      </a:r>
                    </a:p>
                  </a:txBody>
                  <a:tcPr anchor="ctr">
                    <a:solidFill>
                      <a:srgbClr val="FFFFFF"/>
                    </a:solidFill>
                  </a:tcPr>
                </a:tc>
                <a:extLst>
                  <a:ext uri="{0D108BD9-81ED-4DB2-BD59-A6C34878D82A}">
                    <a16:rowId xmlns:a16="http://schemas.microsoft.com/office/drawing/2014/main" val="3081099932"/>
                  </a:ext>
                </a:extLst>
              </a:tr>
              <a:tr h="609600">
                <a:tc>
                  <a:txBody>
                    <a:bodyPr/>
                    <a:lstStyle/>
                    <a:p>
                      <a:pPr algn="l"/>
                      <a:r>
                        <a:rPr lang="ja-JP" altLang="en-US" sz="1400" b="1">
                          <a:solidFill>
                            <a:srgbClr val="8B2500"/>
                          </a:solidFill>
                          <a:latin typeface="BIZ UDPゴシック"/>
                          <a:ea typeface="BIZ UDPゴシック"/>
                        </a:rPr>
                        <a:t>短納期</a:t>
                      </a:r>
                    </a:p>
                  </a:txBody>
                  <a:tcPr anchor="ctr">
                    <a:solidFill>
                      <a:srgbClr val="F2F0ED"/>
                    </a:solidFill>
                  </a:tcPr>
                </a:tc>
                <a:tc>
                  <a:txBody>
                    <a:bodyPr/>
                    <a:lstStyle/>
                    <a:p>
                      <a:pPr algn="l"/>
                      <a:r>
                        <a:rPr lang="ja-JP" altLang="en-US" sz="1400">
                          <a:solidFill>
                            <a:srgbClr val="1A1A1A"/>
                          </a:solidFill>
                          <a:latin typeface="BIZ UDPゴシック"/>
                          <a:ea typeface="BIZ UDPゴシック"/>
                        </a:rPr>
                        <a:t>5週間での完了が必要</a:t>
                      </a:r>
                    </a:p>
                  </a:txBody>
                  <a:tcPr anchor="ctr">
                    <a:solidFill>
                      <a:srgbClr val="F2F0ED"/>
                    </a:solidFill>
                  </a:tcPr>
                </a:tc>
                <a:tc>
                  <a:txBody>
                    <a:bodyPr/>
                    <a:lstStyle/>
                    <a:p>
                      <a:pPr algn="l"/>
                      <a:r>
                        <a:rPr lang="ja-JP" altLang="en-US" sz="1400">
                          <a:solidFill>
                            <a:srgbClr val="1A1A1A"/>
                          </a:solidFill>
                          <a:latin typeface="BIZ UDPゴシック"/>
                          <a:ea typeface="BIZ UDPゴシック"/>
                        </a:rPr>
                        <a:t>優先順位明確化、標準実装・再現性重視で進行</a:t>
                      </a:r>
                    </a:p>
                  </a:txBody>
                  <a:tcPr anchor="ctr">
                    <a:solidFill>
                      <a:srgbClr val="F2F0ED"/>
                    </a:solidFill>
                  </a:tcPr>
                </a:tc>
                <a:extLst>
                  <a:ext uri="{0D108BD9-81ED-4DB2-BD59-A6C34878D82A}">
                    <a16:rowId xmlns:a16="http://schemas.microsoft.com/office/drawing/2014/main" val="1072033265"/>
                  </a:ext>
                </a:extLst>
              </a:tr>
              <a:tr h="609600">
                <a:tc>
                  <a:txBody>
                    <a:bodyPr/>
                    <a:lstStyle/>
                    <a:p>
                      <a:pPr algn="l"/>
                      <a:r>
                        <a:rPr lang="ja-JP" altLang="en-US" sz="1400" b="1">
                          <a:solidFill>
                            <a:srgbClr val="8B2500"/>
                          </a:solidFill>
                          <a:latin typeface="BIZ UDPゴシック"/>
                          <a:ea typeface="BIZ UDPゴシック"/>
                        </a:rPr>
                        <a:t>個人情報・コンプライアンス</a:t>
                      </a:r>
                    </a:p>
                  </a:txBody>
                  <a:tcPr anchor="ctr">
                    <a:solidFill>
                      <a:srgbClr val="FFFFFF"/>
                    </a:solidFill>
                  </a:tcPr>
                </a:tc>
                <a:tc>
                  <a:txBody>
                    <a:bodyPr/>
                    <a:lstStyle/>
                    <a:p>
                      <a:pPr algn="l"/>
                      <a:r>
                        <a:rPr lang="ja-JP" altLang="en-US" sz="1400">
                          <a:solidFill>
                            <a:srgbClr val="1A1A1A"/>
                          </a:solidFill>
                          <a:latin typeface="BIZ UDPゴシック"/>
                          <a:ea typeface="BIZ UDPゴシック"/>
                        </a:rPr>
                        <a:t>医療分野特有の慎重な取扱い</a:t>
                      </a:r>
                    </a:p>
                  </a:txBody>
                  <a:tcPr anchor="ctr">
                    <a:solidFill>
                      <a:srgbClr val="FFFFFF"/>
                    </a:solidFill>
                  </a:tcPr>
                </a:tc>
                <a:tc>
                  <a:txBody>
                    <a:bodyPr/>
                    <a:lstStyle/>
                    <a:p>
                      <a:pPr algn="l"/>
                      <a:r>
                        <a:rPr lang="ja-JP" altLang="en-US" sz="1400">
                          <a:solidFill>
                            <a:srgbClr val="1A1A1A"/>
                          </a:solidFill>
                          <a:latin typeface="BIZ UDPゴシック"/>
                          <a:ea typeface="BIZ UDPゴシック"/>
                        </a:rPr>
                        <a:t>センシティブ情報配慮・臨床断定回避を運営ルール化</a:t>
                      </a:r>
                    </a:p>
                  </a:txBody>
                  <a:tcPr anchor="ctr">
                    <a:solidFill>
                      <a:srgbClr val="FFFFFF"/>
                    </a:solidFill>
                  </a:tcPr>
                </a:tc>
                <a:extLst>
                  <a:ext uri="{0D108BD9-81ED-4DB2-BD59-A6C34878D82A}">
                    <a16:rowId xmlns:a16="http://schemas.microsoft.com/office/drawing/2014/main" val="1715249743"/>
                  </a:ext>
                </a:extLst>
              </a:tr>
            </a:tbl>
          </a:graphicData>
        </a:graphic>
      </p:graphicFrame>
    </p:spTree>
    <p:extLst>
      <p:ext uri="{BB962C8B-B14F-4D97-AF65-F5344CB8AC3E}">
        <p14:creationId xmlns:p14="http://schemas.microsoft.com/office/powerpoint/2010/main" val="3345643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C21D5E-DCEF-B76A-AD7E-EDE46ADF2D90}"/>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10. </a:t>
            </a:r>
            <a:r>
              <a:rPr kumimoji="1" lang="ja-JP" altLang="en-US" sz="2800" b="1">
                <a:solidFill>
                  <a:srgbClr val="8B2500"/>
                </a:solidFill>
                <a:latin typeface="BIZ UDPゴシック"/>
                <a:ea typeface="BIZ UDPゴシック"/>
              </a:rPr>
              <a:t>前提条件と除外事項</a:t>
            </a:r>
          </a:p>
        </p:txBody>
      </p:sp>
      <p:sp>
        <p:nvSpPr>
          <p:cNvPr id="20" name="S20"/>
          <p:cNvSpPr/>
          <p:nvPr/>
        </p:nvSpPr>
        <p:spPr>
          <a:xfrm>
            <a:off x="457200" y="1100000"/>
            <a:ext cx="5486400" cy="500000"/>
          </a:xfrm>
          <a:prstGeom prst="roundRect">
            <a:avLst/>
          </a:prstGeom>
          <a:solidFill>
            <a:srgbClr val="4A4A4A"/>
          </a:solidFill>
          <a:ln>
            <a:noFill/>
          </a:ln>
        </p:spPr>
        <p:txBody>
          <a:bodyPr wrap="square" lIns="137160" tIns="36000" rIns="91440" bIns="36000" anchor="ctr"/>
          <a:lstStyle/>
          <a:p>
            <a:pPr algn="l">
              <a:buNone/>
            </a:pPr>
            <a:r>
              <a:rPr lang="ja-JP" sz="1600" b="1" dirty="0">
                <a:solidFill>
                  <a:srgbClr val="FFFFFF"/>
                </a:solidFill>
                <a:latin typeface="BIZ UDPGothic"/>
                <a:ea typeface="BIZ UDPGothic"/>
              </a:rPr>
              <a:t>前提条件</a:t>
            </a:r>
          </a:p>
        </p:txBody>
      </p:sp>
      <p:sp>
        <p:nvSpPr>
          <p:cNvPr id="21" name="S21"/>
          <p:cNvSpPr/>
          <p:nvPr/>
        </p:nvSpPr>
        <p:spPr>
          <a:xfrm>
            <a:off x="457200" y="1650000"/>
            <a:ext cx="5486400" cy="3600000"/>
          </a:xfrm>
          <a:prstGeom prst="roundRect">
            <a:avLst/>
          </a:prstGeom>
          <a:solidFill>
            <a:srgbClr val="F2F0ED"/>
          </a:solidFill>
          <a:ln>
            <a:noFill/>
          </a:ln>
        </p:spPr>
        <p:txBody>
          <a:bodyPr wrap="square" lIns="137160" tIns="72000" rIns="91440" bIns="72000" anchor="t"/>
          <a:lstStyle/>
          <a:p>
            <a:pPr marL="228600" indent="-228600">
              <a:buFont typeface="Arial"/>
              <a:buChar char="•"/>
            </a:pPr>
            <a:r>
              <a:rPr lang="ja-JP" sz="1100" dirty="0">
                <a:solidFill>
                  <a:srgbClr val="3D3D3D"/>
                </a:solidFill>
                <a:latin typeface="BIZ UDPGothic"/>
                <a:ea typeface="BIZ UDPGothic"/>
              </a:rPr>
              <a:t>対象データはtrain.csvに限定する</a:t>
            </a:r>
          </a:p>
          <a:p>
            <a:pPr marL="228600" indent="-228600">
              <a:buFont typeface="Arial"/>
              <a:buChar char="•"/>
            </a:pPr>
            <a:r>
              <a:rPr lang="ja-JP" sz="1100" dirty="0">
                <a:solidFill>
                  <a:srgbClr val="3D3D3D"/>
                </a:solidFill>
                <a:latin typeface="BIZ UDPGothic"/>
                <a:ea typeface="BIZ UDPGothic"/>
              </a:rPr>
              <a:t>chargesは価格帯0（低）、1（中）、2（高）の3クラス目的変数として扱う</a:t>
            </a:r>
          </a:p>
          <a:p>
            <a:pPr marL="228600" indent="-228600">
              <a:buFont typeface="Arial"/>
              <a:buChar char="•"/>
            </a:pPr>
            <a:r>
              <a:rPr lang="ja-JP" sz="1100" dirty="0">
                <a:solidFill>
                  <a:srgbClr val="3D3D3D"/>
                </a:solidFill>
                <a:latin typeface="BIZ UDPGothic"/>
                <a:ea typeface="BIZ UDPGothic"/>
              </a:rPr>
              <a:t>idはインデックス用途の識別子であり、分析特徴量に使用しない</a:t>
            </a:r>
          </a:p>
          <a:p>
            <a:pPr marL="228600" indent="-228600">
              <a:buFont typeface="Arial"/>
              <a:buChar char="•"/>
            </a:pPr>
            <a:r>
              <a:rPr lang="ja-JP" sz="1100" dirty="0">
                <a:solidFill>
                  <a:srgbClr val="3D3D3D"/>
                </a:solidFill>
                <a:latin typeface="BIZ UDPGothic"/>
                <a:ea typeface="BIZ UDPGothic"/>
              </a:rPr>
              <a:t>時系列データは保持していないため、時系列分析は実施しない</a:t>
            </a:r>
          </a:p>
          <a:p>
            <a:pPr marL="228600" indent="-228600">
              <a:buFont typeface="Arial"/>
              <a:buChar char="•"/>
            </a:pPr>
            <a:r>
              <a:rPr lang="ja-JP" sz="1100" dirty="0">
                <a:solidFill>
                  <a:srgbClr val="3D3D3D"/>
                </a:solidFill>
                <a:latin typeface="BIZ UDPGothic"/>
                <a:ea typeface="BIZ UDPGothic"/>
              </a:rPr>
              <a:t>提供済みデータおよびカラム説明の内容を正とする</a:t>
            </a:r>
          </a:p>
          <a:p>
            <a:pPr marL="228600" indent="-228600">
              <a:buFont typeface="Arial"/>
              <a:buChar char="•"/>
            </a:pPr>
            <a:r>
              <a:rPr lang="ja-JP" sz="1100" dirty="0">
                <a:solidFill>
                  <a:srgbClr val="3D3D3D"/>
                </a:solidFill>
                <a:latin typeface="BIZ UDPGothic"/>
                <a:ea typeface="BIZ UDPGothic"/>
              </a:rPr>
              <a:t>分析結果は探索的・説明的利用を主目的とし、患者個別の自動意思決定には用いない</a:t>
            </a:r>
          </a:p>
          <a:p>
            <a:pPr marL="228600" indent="-228600">
              <a:buFont typeface="Arial"/>
              <a:buChar char="•"/>
            </a:pPr>
            <a:r>
              <a:rPr lang="ja-JP" sz="1100" dirty="0">
                <a:solidFill>
                  <a:srgbClr val="3D3D3D"/>
                </a:solidFill>
                <a:latin typeface="BIZ UDPGothic"/>
                <a:ea typeface="BIZ UDPGothic"/>
              </a:rPr>
              <a:t>臨床上の因果関係や効果を断定しない</a:t>
            </a:r>
          </a:p>
          <a:p>
            <a:pPr marL="228600" indent="-228600">
              <a:buFont typeface="Arial"/>
              <a:buChar char="•"/>
            </a:pPr>
            <a:r>
              <a:rPr lang="ja-JP" sz="1100" dirty="0">
                <a:solidFill>
                  <a:srgbClr val="3D3D3D"/>
                </a:solidFill>
                <a:latin typeface="BIZ UDPGothic"/>
                <a:ea typeface="BIZ UDPGothic"/>
              </a:rPr>
              <a:t>センシティブ個人情報配慮、臨床断定回避、仮定の追跡可能性確保を前提に遂行する</a:t>
            </a:r>
          </a:p>
        </p:txBody>
      </p:sp>
      <p:sp>
        <p:nvSpPr>
          <p:cNvPr id="30" name="S30"/>
          <p:cNvSpPr/>
          <p:nvPr/>
        </p:nvSpPr>
        <p:spPr>
          <a:xfrm>
            <a:off x="6172200" y="1100000"/>
            <a:ext cx="5562600" cy="500000"/>
          </a:xfrm>
          <a:prstGeom prst="roundRect">
            <a:avLst/>
          </a:prstGeom>
          <a:solidFill>
            <a:srgbClr val="8B2500"/>
          </a:solidFill>
          <a:ln>
            <a:noFill/>
          </a:ln>
        </p:spPr>
        <p:txBody>
          <a:bodyPr wrap="square" lIns="137160" tIns="36000" rIns="91440" bIns="36000" anchor="ctr"/>
          <a:lstStyle/>
          <a:p>
            <a:pPr algn="l">
              <a:buNone/>
            </a:pPr>
            <a:r>
              <a:rPr lang="ja-JP" sz="1600" b="1" dirty="0">
                <a:solidFill>
                  <a:srgbClr val="FFFFFF"/>
                </a:solidFill>
                <a:latin typeface="BIZ UDPGothic"/>
                <a:ea typeface="BIZ UDPGothic"/>
              </a:rPr>
              <a:t>除外事項</a:t>
            </a:r>
          </a:p>
        </p:txBody>
      </p:sp>
      <p:sp>
        <p:nvSpPr>
          <p:cNvPr id="31" name="S31"/>
          <p:cNvSpPr/>
          <p:nvPr/>
        </p:nvSpPr>
        <p:spPr>
          <a:xfrm>
            <a:off x="6172200" y="1650000"/>
            <a:ext cx="5562600" cy="2300000"/>
          </a:xfrm>
          <a:prstGeom prst="roundRect">
            <a:avLst/>
          </a:prstGeom>
          <a:solidFill>
            <a:srgbClr val="FFF5F0"/>
          </a:solidFill>
          <a:ln>
            <a:noFill/>
          </a:ln>
        </p:spPr>
        <p:txBody>
          <a:bodyPr wrap="square" lIns="137160" tIns="72000" rIns="91440" bIns="72000" anchor="t"/>
          <a:lstStyle/>
          <a:p>
            <a:pPr marL="228600" indent="-228600">
              <a:buFont typeface="Arial"/>
              <a:buChar char="✕"/>
            </a:pPr>
            <a:r>
              <a:rPr lang="ja-JP" sz="1200" dirty="0">
                <a:solidFill>
                  <a:srgbClr val="8B2500"/>
                </a:solidFill>
                <a:latin typeface="BIZ UDPGothic"/>
                <a:ea typeface="BIZ UDPGothic"/>
              </a:rPr>
              <a:t>本番環境実装、API化、ダッシュボード本開発、監視運用</a:t>
            </a:r>
          </a:p>
          <a:p>
            <a:pPr marL="228600" indent="-228600">
              <a:buFont typeface="Arial"/>
              <a:buChar char="✕"/>
            </a:pPr>
            <a:r>
              <a:rPr lang="ja-JP" sz="1200" dirty="0">
                <a:solidFill>
                  <a:srgbClr val="8B2500"/>
                </a:solidFill>
                <a:latin typeface="BIZ UDPGothic"/>
                <a:ea typeface="BIZ UDPGothic"/>
              </a:rPr>
              <a:t>外部データ連携、追加医療データ取得</a:t>
            </a:r>
          </a:p>
          <a:p>
            <a:pPr marL="228600" indent="-228600">
              <a:buFont typeface="Arial"/>
              <a:buChar char="✕"/>
            </a:pPr>
            <a:r>
              <a:rPr lang="ja-JP" sz="1200" dirty="0">
                <a:solidFill>
                  <a:srgbClr val="8B2500"/>
                </a:solidFill>
                <a:latin typeface="BIZ UDPGothic"/>
                <a:ea typeface="BIZ UDPGothic"/>
              </a:rPr>
              <a:t>名寄せ、個人識別情報の復元・加工</a:t>
            </a:r>
          </a:p>
          <a:p>
            <a:pPr marL="228600" indent="-228600">
              <a:buFont typeface="Arial"/>
              <a:buChar char="✕"/>
            </a:pPr>
            <a:r>
              <a:rPr lang="ja-JP" sz="1200" dirty="0">
                <a:solidFill>
                  <a:srgbClr val="8B2500"/>
                </a:solidFill>
                <a:latin typeface="BIZ UDPGothic"/>
                <a:ea typeface="BIZ UDPGothic"/>
              </a:rPr>
              <a:t>臨床判断ルールの設計</a:t>
            </a:r>
          </a:p>
          <a:p>
            <a:pPr marL="228600" indent="-228600">
              <a:buFont typeface="Arial"/>
              <a:buChar char="✕"/>
            </a:pPr>
            <a:r>
              <a:rPr lang="ja-JP" sz="1200" dirty="0">
                <a:solidFill>
                  <a:srgbClr val="8B2500"/>
                </a:solidFill>
                <a:latin typeface="BIZ UDPGothic"/>
                <a:ea typeface="BIZ UDPGothic"/>
              </a:rPr>
              <a:t>因果推論、介入効果検証</a:t>
            </a:r>
          </a:p>
          <a:p>
            <a:pPr marL="228600" indent="-228600">
              <a:buFont typeface="Arial"/>
              <a:buChar char="✕"/>
            </a:pPr>
            <a:r>
              <a:rPr lang="ja-JP" sz="1200" dirty="0">
                <a:solidFill>
                  <a:srgbClr val="8B2500"/>
                </a:solidFill>
                <a:latin typeface="BIZ UDPGothic"/>
                <a:ea typeface="BIZ UDPGothic"/>
              </a:rPr>
              <a:t>継続学習基盤構築</a:t>
            </a:r>
          </a:p>
          <a:p>
            <a:pPr marL="228600" indent="-228600">
              <a:buFont typeface="Arial"/>
              <a:buChar char="✕"/>
            </a:pPr>
            <a:r>
              <a:rPr lang="ja-JP" sz="1200" dirty="0">
                <a:solidFill>
                  <a:srgbClr val="8B2500"/>
                </a:solidFill>
                <a:latin typeface="BIZ UDPGothic"/>
                <a:ea typeface="BIZ UDPGothic"/>
              </a:rPr>
              <a:t>患者個別施策の業務運用設計</a:t>
            </a:r>
          </a:p>
        </p:txBody>
      </p:sp>
      <p:sp>
        <p:nvSpPr>
          <p:cNvPr id="40" name="S40"/>
          <p:cNvSpPr/>
          <p:nvPr/>
        </p:nvSpPr>
        <p:spPr>
          <a:xfrm>
            <a:off x="6172200" y="4050000"/>
            <a:ext cx="5562600" cy="1200000"/>
          </a:xfrm>
          <a:prstGeom prst="roundRect">
            <a:avLst/>
          </a:prstGeom>
          <a:solidFill>
            <a:srgbClr val="FFFFFF"/>
          </a:solidFill>
          <a:ln w="12700">
            <a:solidFill>
              <a:srgbClr val="4A4A4A"/>
            </a:solidFill>
          </a:ln>
        </p:spPr>
        <p:txBody>
          <a:bodyPr wrap="square" lIns="137160" tIns="72000" rIns="91440" bIns="72000" anchor="t"/>
          <a:lstStyle/>
          <a:p>
            <a:pPr algn="l">
              <a:buNone/>
            </a:pPr>
            <a:r>
              <a:rPr lang="ja-JP" sz="1400" b="1" dirty="0">
                <a:solidFill>
                  <a:srgbClr val="4A4A4A"/>
                </a:solidFill>
                <a:latin typeface="BIZ UDPGothic"/>
                <a:ea typeface="BIZ UDPGothic"/>
              </a:rPr>
              <a:t>変更管理方針</a:t>
            </a:r>
          </a:p>
          <a:p>
            <a:pPr marL="228600" indent="-228600">
              <a:buFont typeface="Arial"/>
              <a:buChar char="•"/>
            </a:pPr>
            <a:r>
              <a:rPr lang="ja-JP" sz="1100" dirty="0">
                <a:solidFill>
                  <a:srgbClr val="3D3D3D"/>
                </a:solidFill>
                <a:latin typeface="BIZ UDPGothic"/>
                <a:ea typeface="BIZ UDPGothic"/>
              </a:rPr>
              <a:t>追加対応は時間単価ベースで別途見積または追加発注として扱う</a:t>
            </a:r>
          </a:p>
          <a:p>
            <a:pPr marL="228600" indent="-228600">
              <a:buFont typeface="Arial"/>
              <a:buChar char="•"/>
            </a:pPr>
            <a:r>
              <a:rPr lang="ja-JP" sz="1100" dirty="0">
                <a:solidFill>
                  <a:srgbClr val="3D3D3D"/>
                </a:solidFill>
                <a:latin typeface="BIZ UDPGothic"/>
                <a:ea typeface="BIZ UDPGothic"/>
              </a:rPr>
              <a:t>追加対応が発生しない前提は置かない</a:t>
            </a:r>
          </a:p>
          <a:p>
            <a:pPr marL="228600" indent="-228600">
              <a:buFont typeface="Arial"/>
              <a:buChar char="•"/>
            </a:pPr>
            <a:r>
              <a:rPr lang="ja-JP" sz="1100" dirty="0">
                <a:solidFill>
                  <a:srgbClr val="3D3D3D"/>
                </a:solidFill>
                <a:latin typeface="BIZ UDPGothic"/>
                <a:ea typeface="BIZ UDPGothic"/>
              </a:rPr>
              <a:t>スコープ超過時は影響範囲確認のうえ別途対応</a:t>
            </a:r>
          </a:p>
        </p:txBody>
      </p:sp>
    </p:spTree>
    <p:extLst>
      <p:ext uri="{BB962C8B-B14F-4D97-AF65-F5344CB8AC3E}">
        <p14:creationId xmlns:p14="http://schemas.microsoft.com/office/powerpoint/2010/main" val="3813683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59EADB-FCEE-6324-AA1A-6EE35D3905B6}"/>
              </a:ext>
            </a:extLst>
          </p:cNvPr>
          <p:cNvSpPr>
            <a:spLocks noGrp="1"/>
          </p:cNvSpPr>
          <p:nvPr>
            <p:ph type="title"/>
          </p:nvPr>
        </p:nvSpPr>
        <p:spPr>
          <a:xfrm>
            <a:off x="838200" y="190500"/>
            <a:ext cx="10515600" cy="635000"/>
          </a:xfrm>
        </p:spPr>
        <p:txBody>
          <a:bodyPr>
            <a:normAutofit/>
          </a:bodyPr>
          <a:lstStyle/>
          <a:p>
            <a:r>
              <a:rPr kumimoji="1" lang="en-US" altLang="ja-JP" sz="2800" b="1">
                <a:solidFill>
                  <a:srgbClr val="8B2500"/>
                </a:solidFill>
                <a:latin typeface="BIZ UDPゴシック"/>
                <a:ea typeface="BIZ UDPゴシック"/>
              </a:rPr>
              <a:t>11. </a:t>
            </a:r>
            <a:r>
              <a:rPr kumimoji="1" lang="ja-JP" altLang="en-US" sz="2800" b="1">
                <a:solidFill>
                  <a:srgbClr val="8B2500"/>
                </a:solidFill>
                <a:latin typeface="BIZ UDPゴシック"/>
                <a:ea typeface="BIZ UDPゴシック"/>
              </a:rPr>
              <a:t>次アクション</a:t>
            </a:r>
          </a:p>
        </p:txBody>
      </p:sp>
      <p:sp>
        <p:nvSpPr>
          <p:cNvPr id="20" name="S20"/>
          <p:cNvSpPr/>
          <p:nvPr/>
        </p:nvSpPr>
        <p:spPr>
          <a:xfrm>
            <a:off x="457200" y="1171400"/>
            <a:ext cx="457200" cy="4572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Gothic"/>
                <a:ea typeface="BIZ UDPGothic"/>
              </a:rPr>
              <a:t>1</a:t>
            </a:r>
          </a:p>
        </p:txBody>
      </p:sp>
      <p:sp>
        <p:nvSpPr>
          <p:cNvPr id="21" name="S21"/>
          <p:cNvSpPr/>
          <p:nvPr/>
        </p:nvSpPr>
        <p:spPr>
          <a:xfrm>
            <a:off x="1066800" y="1100000"/>
            <a:ext cx="10668000" cy="600000"/>
          </a:xfrm>
          <a:prstGeom prst="roundRect">
            <a:avLst/>
          </a:prstGeom>
          <a:solidFill>
            <a:srgbClr val="FFF5F0"/>
          </a:solidFill>
          <a:ln w="12700">
            <a:solidFill>
              <a:srgbClr val="8B2500"/>
            </a:solidFill>
          </a:ln>
        </p:spPr>
        <p:txBody>
          <a:bodyPr wrap="square" lIns="137160" tIns="36000" rIns="91440" bIns="36000" anchor="ctr"/>
          <a:lstStyle/>
          <a:p>
            <a:pPr algn="l">
              <a:buNone/>
            </a:pPr>
            <a:r>
              <a:rPr lang="ja-JP" sz="1400" b="1" dirty="0">
                <a:solidFill>
                  <a:srgbClr val="1A1A1A"/>
                </a:solidFill>
                <a:latin typeface="BIZ UDPGothic"/>
                <a:ea typeface="BIZ UDPGothic"/>
              </a:rPr>
              <a:t>本提案書の内容確認および合意</a:t>
            </a:r>
          </a:p>
        </p:txBody>
      </p:sp>
      <p:sp>
        <p:nvSpPr>
          <p:cNvPr id="22" name="S22"/>
          <p:cNvSpPr/>
          <p:nvPr/>
        </p:nvSpPr>
        <p:spPr>
          <a:xfrm>
            <a:off x="649800" y="1700000"/>
            <a:ext cx="72000" cy="114300"/>
          </a:xfrm>
          <a:prstGeom prst="rect">
            <a:avLst/>
          </a:prstGeom>
          <a:solidFill>
            <a:srgbClr val="C8C8C8"/>
          </a:solidFill>
          <a:ln>
            <a:noFill/>
          </a:ln>
        </p:spPr>
        <p:txBody>
          <a:bodyPr wrap="square" anchor="ctr"/>
          <a:lstStyle/>
          <a:p>
            <a:endParaRPr lang="ja-JP"/>
          </a:p>
        </p:txBody>
      </p:sp>
      <p:sp>
        <p:nvSpPr>
          <p:cNvPr id="23" name="S23"/>
          <p:cNvSpPr/>
          <p:nvPr/>
        </p:nvSpPr>
        <p:spPr>
          <a:xfrm>
            <a:off x="457200" y="1885700"/>
            <a:ext cx="457200" cy="4572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Gothic"/>
                <a:ea typeface="BIZ UDPGothic"/>
              </a:rPr>
              <a:t>2</a:t>
            </a:r>
          </a:p>
        </p:txBody>
      </p:sp>
      <p:sp>
        <p:nvSpPr>
          <p:cNvPr id="24" name="S24"/>
          <p:cNvSpPr/>
          <p:nvPr/>
        </p:nvSpPr>
        <p:spPr>
          <a:xfrm>
            <a:off x="1066800" y="1814300"/>
            <a:ext cx="10668000" cy="600000"/>
          </a:xfrm>
          <a:prstGeom prst="roundRect">
            <a:avLst/>
          </a:prstGeom>
          <a:solidFill>
            <a:srgbClr val="FFF5F0"/>
          </a:solidFill>
          <a:ln w="12700">
            <a:solidFill>
              <a:srgbClr val="8B2500"/>
            </a:solidFill>
          </a:ln>
        </p:spPr>
        <p:txBody>
          <a:bodyPr wrap="square" lIns="137160" tIns="36000" rIns="91440" bIns="36000" anchor="ctr"/>
          <a:lstStyle/>
          <a:p>
            <a:pPr algn="l">
              <a:buNone/>
            </a:pPr>
            <a:r>
              <a:rPr lang="ja-JP" sz="1400" b="1" dirty="0">
                <a:solidFill>
                  <a:srgbClr val="1A1A1A"/>
                </a:solidFill>
                <a:latin typeface="BIZ UDPGothic"/>
                <a:ea typeface="BIZ UDPGothic"/>
              </a:rPr>
              <a:t>契約条件確認</a:t>
            </a:r>
          </a:p>
          <a:p>
            <a:pPr algn="l">
              <a:buNone/>
            </a:pPr>
            <a:r>
              <a:rPr lang="ja-JP" sz="1200" dirty="0">
                <a:solidFill>
                  <a:srgbClr val="787878"/>
                </a:solidFill>
                <a:latin typeface="BIZ UDPGothic"/>
                <a:ea typeface="BIZ UDPGothic"/>
              </a:rPr>
              <a:t>契約形態：T&amp;M ／ 時間単価：¥25,000 ／ 精算：月次事後精算</a:t>
            </a:r>
          </a:p>
        </p:txBody>
      </p:sp>
      <p:sp>
        <p:nvSpPr>
          <p:cNvPr id="25" name="S25"/>
          <p:cNvSpPr/>
          <p:nvPr/>
        </p:nvSpPr>
        <p:spPr>
          <a:xfrm>
            <a:off x="649800" y="2414300"/>
            <a:ext cx="72000" cy="114300"/>
          </a:xfrm>
          <a:prstGeom prst="rect">
            <a:avLst/>
          </a:prstGeom>
          <a:solidFill>
            <a:srgbClr val="C8C8C8"/>
          </a:solidFill>
          <a:ln>
            <a:noFill/>
          </a:ln>
        </p:spPr>
        <p:txBody>
          <a:bodyPr wrap="square" anchor="ctr"/>
          <a:lstStyle/>
          <a:p>
            <a:endParaRPr lang="ja-JP"/>
          </a:p>
        </p:txBody>
      </p:sp>
      <p:sp>
        <p:nvSpPr>
          <p:cNvPr id="26" name="S26"/>
          <p:cNvSpPr/>
          <p:nvPr/>
        </p:nvSpPr>
        <p:spPr>
          <a:xfrm>
            <a:off x="457200" y="2600000"/>
            <a:ext cx="457200" cy="457200"/>
          </a:xfrm>
          <a:prstGeom prst="ellipse">
            <a:avLst/>
          </a:prstGeom>
          <a:solidFill>
            <a:srgbClr val="4A4A4A"/>
          </a:solidFill>
          <a:ln>
            <a:noFill/>
          </a:ln>
        </p:spPr>
        <p:txBody>
          <a:bodyPr wrap="square" lIns="0" tIns="0" rIns="0" bIns="0" anchor="ctr"/>
          <a:lstStyle/>
          <a:p>
            <a:pPr algn="ctr">
              <a:buNone/>
            </a:pPr>
            <a:r>
              <a:rPr lang="ja-JP" sz="1800" b="1" dirty="0">
                <a:solidFill>
                  <a:srgbClr val="FFFFFF"/>
                </a:solidFill>
                <a:latin typeface="BIZ UDPGothic"/>
                <a:ea typeface="BIZ UDPGothic"/>
              </a:rPr>
              <a:t>3</a:t>
            </a:r>
          </a:p>
        </p:txBody>
      </p:sp>
      <p:sp>
        <p:nvSpPr>
          <p:cNvPr id="27" name="S27"/>
          <p:cNvSpPr/>
          <p:nvPr/>
        </p:nvSpPr>
        <p:spPr>
          <a:xfrm>
            <a:off x="1066800" y="2528600"/>
            <a:ext cx="10668000" cy="600000"/>
          </a:xfrm>
          <a:prstGeom prst="roundRect">
            <a:avLst/>
          </a:prstGeom>
          <a:solidFill>
            <a:srgbClr val="F2F0ED"/>
          </a:solidFill>
          <a:ln w="12700">
            <a:solidFill>
              <a:srgbClr val="4A4A4A"/>
            </a:solidFill>
          </a:ln>
        </p:spPr>
        <p:txBody>
          <a:bodyPr wrap="square" lIns="137160" tIns="36000" rIns="91440" bIns="36000" anchor="ctr"/>
          <a:lstStyle/>
          <a:p>
            <a:pPr algn="l">
              <a:buNone/>
            </a:pPr>
            <a:r>
              <a:rPr lang="ja-JP" sz="1400" b="1" dirty="0">
                <a:solidFill>
                  <a:srgbClr val="1A1A1A"/>
                </a:solidFill>
                <a:latin typeface="BIZ UDPGothic"/>
                <a:ea typeface="BIZ UDPGothic"/>
              </a:rPr>
              <a:t>キックオフ日程確定</a:t>
            </a:r>
          </a:p>
        </p:txBody>
      </p:sp>
      <p:sp>
        <p:nvSpPr>
          <p:cNvPr id="28" name="S28"/>
          <p:cNvSpPr/>
          <p:nvPr/>
        </p:nvSpPr>
        <p:spPr>
          <a:xfrm>
            <a:off x="649800" y="3128600"/>
            <a:ext cx="72000" cy="114300"/>
          </a:xfrm>
          <a:prstGeom prst="rect">
            <a:avLst/>
          </a:prstGeom>
          <a:solidFill>
            <a:srgbClr val="C8C8C8"/>
          </a:solidFill>
          <a:ln>
            <a:noFill/>
          </a:ln>
        </p:spPr>
        <p:txBody>
          <a:bodyPr wrap="square" anchor="ctr"/>
          <a:lstStyle/>
          <a:p>
            <a:endParaRPr lang="ja-JP"/>
          </a:p>
        </p:txBody>
      </p:sp>
      <p:sp>
        <p:nvSpPr>
          <p:cNvPr id="29" name="S29"/>
          <p:cNvSpPr/>
          <p:nvPr/>
        </p:nvSpPr>
        <p:spPr>
          <a:xfrm>
            <a:off x="457200" y="3314300"/>
            <a:ext cx="457200" cy="457200"/>
          </a:xfrm>
          <a:prstGeom prst="ellipse">
            <a:avLst/>
          </a:prstGeom>
          <a:solidFill>
            <a:srgbClr val="4A4A4A"/>
          </a:solidFill>
          <a:ln>
            <a:noFill/>
          </a:ln>
        </p:spPr>
        <p:txBody>
          <a:bodyPr wrap="square" lIns="0" tIns="0" rIns="0" bIns="0" anchor="ctr"/>
          <a:lstStyle/>
          <a:p>
            <a:pPr algn="ctr">
              <a:buNone/>
            </a:pPr>
            <a:r>
              <a:rPr lang="ja-JP" sz="1800" b="1" dirty="0">
                <a:solidFill>
                  <a:srgbClr val="FFFFFF"/>
                </a:solidFill>
                <a:latin typeface="BIZ UDPGothic"/>
                <a:ea typeface="BIZ UDPGothic"/>
              </a:rPr>
              <a:t>4</a:t>
            </a:r>
          </a:p>
        </p:txBody>
      </p:sp>
      <p:sp>
        <p:nvSpPr>
          <p:cNvPr id="30" name="S30"/>
          <p:cNvSpPr/>
          <p:nvPr/>
        </p:nvSpPr>
        <p:spPr>
          <a:xfrm>
            <a:off x="1066800" y="3242900"/>
            <a:ext cx="10668000" cy="600000"/>
          </a:xfrm>
          <a:prstGeom prst="roundRect">
            <a:avLst/>
          </a:prstGeom>
          <a:solidFill>
            <a:srgbClr val="F2F0ED"/>
          </a:solidFill>
          <a:ln w="12700">
            <a:solidFill>
              <a:srgbClr val="4A4A4A"/>
            </a:solidFill>
          </a:ln>
        </p:spPr>
        <p:txBody>
          <a:bodyPr wrap="square" lIns="137160" tIns="36000" rIns="91440" bIns="36000" anchor="ctr"/>
          <a:lstStyle/>
          <a:p>
            <a:pPr algn="l">
              <a:buNone/>
            </a:pPr>
            <a:r>
              <a:rPr lang="ja-JP" sz="1400" b="1" dirty="0">
                <a:solidFill>
                  <a:srgbClr val="1A1A1A"/>
                </a:solidFill>
                <a:latin typeface="BIZ UDPGothic"/>
                <a:ea typeface="BIZ UDPGothic"/>
              </a:rPr>
              <a:t>分析対象ファイル・関連資料の最終受領確認</a:t>
            </a:r>
          </a:p>
          <a:p>
            <a:pPr algn="l">
              <a:buNone/>
            </a:pPr>
            <a:r>
              <a:rPr lang="ja-JP" sz="1200" dirty="0">
                <a:solidFill>
                  <a:srgbClr val="787878"/>
                </a:solidFill>
                <a:latin typeface="BIZ UDPGothic"/>
                <a:ea typeface="BIZ UDPGothic"/>
              </a:rPr>
              <a:t>train.csv および関連説明資料</a:t>
            </a:r>
          </a:p>
        </p:txBody>
      </p:sp>
      <p:sp>
        <p:nvSpPr>
          <p:cNvPr id="31" name="S31"/>
          <p:cNvSpPr/>
          <p:nvPr/>
        </p:nvSpPr>
        <p:spPr>
          <a:xfrm>
            <a:off x="649800" y="3842900"/>
            <a:ext cx="72000" cy="114300"/>
          </a:xfrm>
          <a:prstGeom prst="rect">
            <a:avLst/>
          </a:prstGeom>
          <a:solidFill>
            <a:srgbClr val="C8C8C8"/>
          </a:solidFill>
          <a:ln>
            <a:noFill/>
          </a:ln>
        </p:spPr>
        <p:txBody>
          <a:bodyPr wrap="square" anchor="ctr"/>
          <a:lstStyle/>
          <a:p>
            <a:endParaRPr lang="ja-JP"/>
          </a:p>
        </p:txBody>
      </p:sp>
      <p:sp>
        <p:nvSpPr>
          <p:cNvPr id="32" name="S32"/>
          <p:cNvSpPr/>
          <p:nvPr/>
        </p:nvSpPr>
        <p:spPr>
          <a:xfrm>
            <a:off x="457200" y="4028600"/>
            <a:ext cx="457200" cy="457200"/>
          </a:xfrm>
          <a:prstGeom prst="ellipse">
            <a:avLst/>
          </a:prstGeom>
          <a:solidFill>
            <a:srgbClr val="4A4A4A"/>
          </a:solidFill>
          <a:ln>
            <a:noFill/>
          </a:ln>
        </p:spPr>
        <p:txBody>
          <a:bodyPr wrap="square" lIns="0" tIns="0" rIns="0" bIns="0" anchor="ctr"/>
          <a:lstStyle/>
          <a:p>
            <a:pPr algn="ctr">
              <a:buNone/>
            </a:pPr>
            <a:r>
              <a:rPr lang="ja-JP" sz="1800" b="1" dirty="0">
                <a:solidFill>
                  <a:srgbClr val="FFFFFF"/>
                </a:solidFill>
                <a:latin typeface="BIZ UDPGothic"/>
                <a:ea typeface="BIZ UDPGothic"/>
              </a:rPr>
              <a:t>5</a:t>
            </a:r>
          </a:p>
        </p:txBody>
      </p:sp>
      <p:sp>
        <p:nvSpPr>
          <p:cNvPr id="33" name="S33"/>
          <p:cNvSpPr/>
          <p:nvPr/>
        </p:nvSpPr>
        <p:spPr>
          <a:xfrm>
            <a:off x="1066800" y="3957200"/>
            <a:ext cx="10668000" cy="600000"/>
          </a:xfrm>
          <a:prstGeom prst="roundRect">
            <a:avLst/>
          </a:prstGeom>
          <a:solidFill>
            <a:srgbClr val="F2F0ED"/>
          </a:solidFill>
          <a:ln w="12700">
            <a:solidFill>
              <a:srgbClr val="4A4A4A"/>
            </a:solidFill>
          </a:ln>
        </p:spPr>
        <p:txBody>
          <a:bodyPr wrap="square" lIns="137160" tIns="36000" rIns="91440" bIns="36000" anchor="ctr"/>
          <a:lstStyle/>
          <a:p>
            <a:pPr algn="l">
              <a:buNone/>
            </a:pPr>
            <a:r>
              <a:rPr lang="ja-JP" sz="1400" b="1" dirty="0">
                <a:solidFill>
                  <a:srgbClr val="1A1A1A"/>
                </a:solidFill>
                <a:latin typeface="BIZ UDPGothic"/>
                <a:ea typeface="BIZ UDPGothic"/>
              </a:rPr>
              <a:t>週次定例会の開催枠確定</a:t>
            </a:r>
          </a:p>
        </p:txBody>
      </p:sp>
      <p:sp>
        <p:nvSpPr>
          <p:cNvPr id="34" name="S34"/>
          <p:cNvSpPr/>
          <p:nvPr/>
        </p:nvSpPr>
        <p:spPr>
          <a:xfrm>
            <a:off x="649800" y="4557200"/>
            <a:ext cx="72000" cy="114300"/>
          </a:xfrm>
          <a:prstGeom prst="rect">
            <a:avLst/>
          </a:prstGeom>
          <a:solidFill>
            <a:srgbClr val="C8C8C8"/>
          </a:solidFill>
          <a:ln>
            <a:noFill/>
          </a:ln>
        </p:spPr>
        <p:txBody>
          <a:bodyPr wrap="square" anchor="ctr"/>
          <a:lstStyle/>
          <a:p>
            <a:endParaRPr lang="ja-JP"/>
          </a:p>
        </p:txBody>
      </p:sp>
      <p:sp>
        <p:nvSpPr>
          <p:cNvPr id="35" name="S35"/>
          <p:cNvSpPr/>
          <p:nvPr/>
        </p:nvSpPr>
        <p:spPr>
          <a:xfrm>
            <a:off x="457200" y="4742900"/>
            <a:ext cx="457200" cy="457200"/>
          </a:xfrm>
          <a:prstGeom prst="ellipse">
            <a:avLst/>
          </a:prstGeom>
          <a:solidFill>
            <a:srgbClr val="8B2500"/>
          </a:solidFill>
          <a:ln>
            <a:noFill/>
          </a:ln>
        </p:spPr>
        <p:txBody>
          <a:bodyPr wrap="square" lIns="0" tIns="0" rIns="0" bIns="0" anchor="ctr"/>
          <a:lstStyle/>
          <a:p>
            <a:pPr algn="ctr">
              <a:buNone/>
            </a:pPr>
            <a:r>
              <a:rPr lang="ja-JP" sz="1800" b="1" dirty="0">
                <a:solidFill>
                  <a:srgbClr val="FFFFFF"/>
                </a:solidFill>
                <a:latin typeface="BIZ UDPGothic"/>
                <a:ea typeface="BIZ UDPGothic"/>
              </a:rPr>
              <a:t>6</a:t>
            </a:r>
          </a:p>
        </p:txBody>
      </p:sp>
      <p:sp>
        <p:nvSpPr>
          <p:cNvPr id="36" name="S36"/>
          <p:cNvSpPr/>
          <p:nvPr/>
        </p:nvSpPr>
        <p:spPr>
          <a:xfrm>
            <a:off x="1066800" y="4671500"/>
            <a:ext cx="10668000" cy="600000"/>
          </a:xfrm>
          <a:prstGeom prst="roundRect">
            <a:avLst/>
          </a:prstGeom>
          <a:solidFill>
            <a:srgbClr val="FFF5F0"/>
          </a:solidFill>
          <a:ln w="12700">
            <a:solidFill>
              <a:srgbClr val="8B2500"/>
            </a:solidFill>
          </a:ln>
        </p:spPr>
        <p:txBody>
          <a:bodyPr wrap="square" lIns="137160" tIns="36000" rIns="91440" bIns="36000" anchor="ctr"/>
          <a:lstStyle/>
          <a:p>
            <a:pPr algn="l">
              <a:buNone/>
            </a:pPr>
            <a:r>
              <a:rPr lang="ja-JP" sz="1400" b="1" dirty="0">
                <a:solidFill>
                  <a:srgbClr val="1A1A1A"/>
                </a:solidFill>
                <a:latin typeface="BIZ UDPGothic"/>
                <a:ea typeface="BIZ UDPGothic"/>
              </a:rPr>
              <a:t>契約開始日 2025-07-08 での着手承認</a:t>
            </a:r>
          </a:p>
        </p:txBody>
      </p:sp>
      <p:sp>
        <p:nvSpPr>
          <p:cNvPr id="50" name="S50"/>
          <p:cNvSpPr/>
          <p:nvPr/>
        </p:nvSpPr>
        <p:spPr>
          <a:xfrm>
            <a:off x="457200" y="5486400"/>
            <a:ext cx="11277600" cy="360000"/>
          </a:xfrm>
          <a:prstGeom prst="rect">
            <a:avLst/>
          </a:prstGeom>
          <a:noFill/>
          <a:ln>
            <a:noFill/>
          </a:ln>
        </p:spPr>
        <p:txBody>
          <a:bodyPr wrap="square" lIns="91440" anchor="ctr"/>
          <a:lstStyle/>
          <a:p>
            <a:pPr algn="ctr">
              <a:buNone/>
            </a:pPr>
            <a:r>
              <a:rPr lang="ja-JP" sz="1300" b="1" dirty="0">
                <a:solidFill>
                  <a:srgbClr val="787878"/>
                </a:solidFill>
                <a:latin typeface="BIZ UDPGothic"/>
                <a:ea typeface="BIZ UDPGothic"/>
              </a:rPr>
              <a:t>以上により、5週間の短期分析プロジェクトとして、説明可能性と再現性を備えた医療費関連の価格帯分類と要因分析を円滑に開始可能である。</a:t>
            </a:r>
          </a:p>
        </p:txBody>
      </p:sp>
    </p:spTree>
    <p:extLst>
      <p:ext uri="{BB962C8B-B14F-4D97-AF65-F5344CB8AC3E}">
        <p14:creationId xmlns:p14="http://schemas.microsoft.com/office/powerpoint/2010/main" val="614049327"/>
      </p:ext>
    </p:extLst>
  </p:cSld>
  <p:clrMapOvr>
    <a:masterClrMapping/>
  </p:clrMapOvr>
</p:sld>
</file>

<file path=ppt/theme/theme1.xml><?xml version="1.0" encoding="utf-8"?>
<a:theme xmlns:a="http://schemas.openxmlformats.org/drawingml/2006/main" name="Office テーマ [1774484894689]">
  <a:themeElements>
    <a:clrScheme name="Proposal Monotone">
      <a:dk1>
        <a:srgbClr val="1A1A1A"/>
      </a:dk1>
      <a:lt1>
        <a:srgbClr val="FFFFFF"/>
      </a:lt1>
      <a:dk2>
        <a:srgbClr val="3D3D3D"/>
      </a:dk2>
      <a:lt2>
        <a:srgbClr val="F2F0ED"/>
      </a:lt2>
      <a:accent1>
        <a:srgbClr val="8B2500"/>
      </a:accent1>
      <a:accent2>
        <a:srgbClr val="4A4A4A"/>
      </a:accent2>
      <a:accent3>
        <a:srgbClr val="787878"/>
      </a:accent3>
      <a:accent4>
        <a:srgbClr val="A0A0A0"/>
      </a:accent4>
      <a:accent5>
        <a:srgbClr val="C8C8C8"/>
      </a:accent5>
      <a:accent6>
        <a:srgbClr val="B03020"/>
      </a:accent6>
      <a:hlink>
        <a:srgbClr val="467886"/>
      </a:hlink>
      <a:folHlink>
        <a:srgbClr val="96607D"/>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322602-9E1C-4220-94AD-5B8E61DCE87D}">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119</TotalTime>
  <Words>1858</Words>
  <Application>Microsoft Office PowerPoint</Application>
  <PresentationFormat>ワイド画面</PresentationFormat>
  <Paragraphs>338</Paragraphs>
  <Slides>15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BIZ UDPGothic</vt:lpstr>
      <vt:lpstr>BIZ UDPGothic</vt:lpstr>
      <vt:lpstr>Arial</vt:lpstr>
      <vt:lpstr>Office テーマ [1774484894689]</vt:lpstr>
      <vt:lpstr>データ分析プロジェクト提案書</vt:lpstr>
      <vt:lpstr>1. 背景</vt:lpstr>
      <vt:lpstr>2. 目的</vt:lpstr>
      <vt:lpstr>3. スコープ ― 対象範囲</vt:lpstr>
      <vt:lpstr>3. スコープ ― 対象外</vt:lpstr>
      <vt:lpstr>4. 分析アプローチ ― 全体フロー</vt:lpstr>
      <vt:lpstr>5. 実施体制</vt:lpstr>
      <vt:lpstr>5. 会議・報告運営</vt:lpstr>
      <vt:lpstr>6. スケジュール案</vt:lpstr>
      <vt:lpstr>6. マイルストーン詳細</vt:lpstr>
      <vt:lpstr>7. 成果物定義</vt:lpstr>
      <vt:lpstr>8. 費用見積</vt:lpstr>
      <vt:lpstr>9. リスクと対応策</vt:lpstr>
      <vt:lpstr>10. 前提条件と除外事項</vt:lpstr>
      <vt:lpstr>11. 次アクション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6</cp:revision>
  <dcterms:created xsi:type="dcterms:W3CDTF">2026-03-26T00:23:43Z</dcterms:created>
  <dcterms:modified xsi:type="dcterms:W3CDTF">2026-03-26T06:04:13Z</dcterms:modified>
</cp:coreProperties>
</file>