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8"/>
  </p:notesMasterIdLst>
  <p:sldIdLst>
    <p:sldId id="287" r:id="rId2"/>
    <p:sldId id="260" r:id="rId3"/>
    <p:sldId id="262" r:id="rId4"/>
    <p:sldId id="264" r:id="rId5"/>
    <p:sldId id="266" r:id="rId6"/>
    <p:sldId id="268" r:id="rId7"/>
    <p:sldId id="270" r:id="rId8"/>
    <p:sldId id="272" r:id="rId9"/>
    <p:sldId id="273" r:id="rId10"/>
    <p:sldId id="275" r:id="rId11"/>
    <p:sldId id="277" r:id="rId12"/>
    <p:sldId id="279" r:id="rId13"/>
    <p:sldId id="280" r:id="rId14"/>
    <p:sldId id="282" r:id="rId15"/>
    <p:sldId id="284" r:id="rId16"/>
    <p:sldId id="286"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8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625E6F-6BC7-46FB-ACD4-F1B22EA35284}" type="datetimeFigureOut">
              <a:rPr kumimoji="1" lang="ja-JP" altLang="en-US" smtClean="0"/>
              <a:t>2026/3/29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71D3D4-2A00-47BA-81D2-D2A2FC6BCAF4}" type="slidenum">
              <a:rPr kumimoji="1" lang="ja-JP" altLang="en-US" smtClean="0"/>
              <a:t>‹#›</a:t>
            </a:fld>
            <a:endParaRPr kumimoji="1" lang="ja-JP" altLang="en-US"/>
          </a:p>
        </p:txBody>
      </p:sp>
    </p:spTree>
    <p:extLst>
      <p:ext uri="{BB962C8B-B14F-4D97-AF65-F5344CB8AC3E}">
        <p14:creationId xmlns:p14="http://schemas.microsoft.com/office/powerpoint/2010/main" val="291713904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0C5B1-B623-6C11-32F2-E6FEA84437C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97D2BA3-D1D6-6639-C3B5-9CCF06DD1E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23816BD-2590-C487-40DA-6AFBDA523C39}"/>
              </a:ext>
            </a:extLst>
          </p:cNvPr>
          <p:cNvSpPr>
            <a:spLocks noGrp="1"/>
          </p:cNvSpPr>
          <p:nvPr>
            <p:ph type="dt" sz="half" idx="10"/>
          </p:nvPr>
        </p:nvSpPr>
        <p:spPr/>
        <p:txBody>
          <a:bodyPr/>
          <a:lstStyle/>
          <a:p>
            <a:fld id="{B63F4771-8E82-4349-995C-47D8CB1A0AAB}" type="datetimeFigureOut">
              <a:rPr kumimoji="1" lang="ja-JP" altLang="en-US" smtClean="0"/>
              <a:t>2026/3/29</a:t>
            </a:fld>
            <a:endParaRPr kumimoji="1" lang="ja-JP" altLang="en-US"/>
          </a:p>
        </p:txBody>
      </p:sp>
      <p:sp>
        <p:nvSpPr>
          <p:cNvPr id="5" name="フッター プレースホルダー 4">
            <a:extLst>
              <a:ext uri="{FF2B5EF4-FFF2-40B4-BE49-F238E27FC236}">
                <a16:creationId xmlns:a16="http://schemas.microsoft.com/office/drawing/2014/main" id="{FD6A729E-ED98-1CC4-A36A-808AE1333A5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C9FABA-0133-87BC-AD6D-E2075A6F7BC1}"/>
              </a:ext>
            </a:extLst>
          </p:cNvPr>
          <p:cNvSpPr>
            <a:spLocks noGrp="1"/>
          </p:cNvSpPr>
          <p:nvPr>
            <p:ph type="sldNum" sz="quarter" idx="12"/>
          </p:nvPr>
        </p:nvSpPr>
        <p:spPr/>
        <p:txBody>
          <a:bodyPr/>
          <a:lstStyle/>
          <a:p>
            <a:fld id="{10950C97-C505-4F15-B38F-34EDFD781397}" type="slidenum">
              <a:rPr kumimoji="1" lang="ja-JP" altLang="en-US" smtClean="0"/>
              <a:t>‹#›</a:t>
            </a:fld>
            <a:endParaRPr kumimoji="1" lang="ja-JP" altLang="en-US"/>
          </a:p>
        </p:txBody>
      </p:sp>
    </p:spTree>
    <p:extLst>
      <p:ext uri="{BB962C8B-B14F-4D97-AF65-F5344CB8AC3E}">
        <p14:creationId xmlns:p14="http://schemas.microsoft.com/office/powerpoint/2010/main" val="2180928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10D208-CE43-954D-9C01-25DC3B89AC7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2E07D09-EF17-818B-64FF-8E39E27F068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278E07F-858C-09A9-5ED6-0B472CBC7D71}"/>
              </a:ext>
            </a:extLst>
          </p:cNvPr>
          <p:cNvSpPr>
            <a:spLocks noGrp="1"/>
          </p:cNvSpPr>
          <p:nvPr>
            <p:ph type="dt" sz="half" idx="10"/>
          </p:nvPr>
        </p:nvSpPr>
        <p:spPr/>
        <p:txBody>
          <a:bodyPr/>
          <a:lstStyle/>
          <a:p>
            <a:fld id="{B63F4771-8E82-4349-995C-47D8CB1A0AAB}" type="datetimeFigureOut">
              <a:rPr kumimoji="1" lang="ja-JP" altLang="en-US" smtClean="0"/>
              <a:t>2026/3/29</a:t>
            </a:fld>
            <a:endParaRPr kumimoji="1" lang="ja-JP" altLang="en-US"/>
          </a:p>
        </p:txBody>
      </p:sp>
      <p:sp>
        <p:nvSpPr>
          <p:cNvPr id="5" name="フッター プレースホルダー 4">
            <a:extLst>
              <a:ext uri="{FF2B5EF4-FFF2-40B4-BE49-F238E27FC236}">
                <a16:creationId xmlns:a16="http://schemas.microsoft.com/office/drawing/2014/main" id="{A8425AF8-E389-E433-86BE-A0479F7D89B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4D8F08-3358-F36A-E708-F209F0D25950}"/>
              </a:ext>
            </a:extLst>
          </p:cNvPr>
          <p:cNvSpPr>
            <a:spLocks noGrp="1"/>
          </p:cNvSpPr>
          <p:nvPr>
            <p:ph type="sldNum" sz="quarter" idx="12"/>
          </p:nvPr>
        </p:nvSpPr>
        <p:spPr/>
        <p:txBody>
          <a:bodyPr/>
          <a:lstStyle/>
          <a:p>
            <a:fld id="{10950C97-C505-4F15-B38F-34EDFD781397}" type="slidenum">
              <a:rPr kumimoji="1" lang="ja-JP" altLang="en-US" smtClean="0"/>
              <a:t>‹#›</a:t>
            </a:fld>
            <a:endParaRPr kumimoji="1" lang="ja-JP" altLang="en-US"/>
          </a:p>
        </p:txBody>
      </p:sp>
    </p:spTree>
    <p:extLst>
      <p:ext uri="{BB962C8B-B14F-4D97-AF65-F5344CB8AC3E}">
        <p14:creationId xmlns:p14="http://schemas.microsoft.com/office/powerpoint/2010/main" val="746329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0400E1-1310-7918-5BB5-B48C4A7E558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5571A87-9E10-0D61-1C94-F01B19BCDC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51E6E39-262F-D325-6248-7C7FC9EEB9E7}"/>
              </a:ext>
            </a:extLst>
          </p:cNvPr>
          <p:cNvSpPr>
            <a:spLocks noGrp="1"/>
          </p:cNvSpPr>
          <p:nvPr>
            <p:ph type="dt" sz="half" idx="10"/>
          </p:nvPr>
        </p:nvSpPr>
        <p:spPr/>
        <p:txBody>
          <a:bodyPr/>
          <a:lstStyle/>
          <a:p>
            <a:fld id="{B63F4771-8E82-4349-995C-47D8CB1A0AAB}" type="datetimeFigureOut">
              <a:rPr kumimoji="1" lang="ja-JP" altLang="en-US" smtClean="0"/>
              <a:t>2026/3/29</a:t>
            </a:fld>
            <a:endParaRPr kumimoji="1" lang="ja-JP" altLang="en-US"/>
          </a:p>
        </p:txBody>
      </p:sp>
      <p:sp>
        <p:nvSpPr>
          <p:cNvPr id="5" name="フッター プレースホルダー 4">
            <a:extLst>
              <a:ext uri="{FF2B5EF4-FFF2-40B4-BE49-F238E27FC236}">
                <a16:creationId xmlns:a16="http://schemas.microsoft.com/office/drawing/2014/main" id="{AE7F4234-3D59-EE9E-2EE5-CB2C75FE4DE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FB5B1AD-2D45-0E1E-DFFD-16692F6090CA}"/>
              </a:ext>
            </a:extLst>
          </p:cNvPr>
          <p:cNvSpPr>
            <a:spLocks noGrp="1"/>
          </p:cNvSpPr>
          <p:nvPr>
            <p:ph type="sldNum" sz="quarter" idx="12"/>
          </p:nvPr>
        </p:nvSpPr>
        <p:spPr/>
        <p:txBody>
          <a:bodyPr/>
          <a:lstStyle/>
          <a:p>
            <a:fld id="{10950C97-C505-4F15-B38F-34EDFD781397}" type="slidenum">
              <a:rPr kumimoji="1" lang="ja-JP" altLang="en-US" smtClean="0"/>
              <a:t>‹#›</a:t>
            </a:fld>
            <a:endParaRPr kumimoji="1" lang="ja-JP" altLang="en-US"/>
          </a:p>
        </p:txBody>
      </p:sp>
    </p:spTree>
    <p:extLst>
      <p:ext uri="{BB962C8B-B14F-4D97-AF65-F5344CB8AC3E}">
        <p14:creationId xmlns:p14="http://schemas.microsoft.com/office/powerpoint/2010/main" val="391206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33BF99-1DE4-9084-93D4-1654F018EF0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4C443E9-4F8C-3AB1-D537-A7C5E24CE22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83A95B9-72D4-10CF-2191-1A53B4D79C9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6FD9D0E-5620-A3C5-0F0B-BC0F9E69FCDB}"/>
              </a:ext>
            </a:extLst>
          </p:cNvPr>
          <p:cNvSpPr>
            <a:spLocks noGrp="1"/>
          </p:cNvSpPr>
          <p:nvPr>
            <p:ph type="dt" sz="half" idx="10"/>
          </p:nvPr>
        </p:nvSpPr>
        <p:spPr/>
        <p:txBody>
          <a:bodyPr/>
          <a:lstStyle/>
          <a:p>
            <a:fld id="{B63F4771-8E82-4349-995C-47D8CB1A0AAB}" type="datetimeFigureOut">
              <a:rPr kumimoji="1" lang="ja-JP" altLang="en-US" smtClean="0"/>
              <a:t>2026/3/29</a:t>
            </a:fld>
            <a:endParaRPr kumimoji="1" lang="ja-JP" altLang="en-US"/>
          </a:p>
        </p:txBody>
      </p:sp>
      <p:sp>
        <p:nvSpPr>
          <p:cNvPr id="6" name="フッター プレースホルダー 5">
            <a:extLst>
              <a:ext uri="{FF2B5EF4-FFF2-40B4-BE49-F238E27FC236}">
                <a16:creationId xmlns:a16="http://schemas.microsoft.com/office/drawing/2014/main" id="{EEAD8BDF-4A96-8B0A-3973-8057FEBB91D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61AF2A3-52DA-A16A-A3E5-508BB6BF3229}"/>
              </a:ext>
            </a:extLst>
          </p:cNvPr>
          <p:cNvSpPr>
            <a:spLocks noGrp="1"/>
          </p:cNvSpPr>
          <p:nvPr>
            <p:ph type="sldNum" sz="quarter" idx="12"/>
          </p:nvPr>
        </p:nvSpPr>
        <p:spPr/>
        <p:txBody>
          <a:bodyPr/>
          <a:lstStyle/>
          <a:p>
            <a:fld id="{10950C97-C505-4F15-B38F-34EDFD781397}" type="slidenum">
              <a:rPr kumimoji="1" lang="ja-JP" altLang="en-US" smtClean="0"/>
              <a:t>‹#›</a:t>
            </a:fld>
            <a:endParaRPr kumimoji="1" lang="ja-JP" altLang="en-US"/>
          </a:p>
        </p:txBody>
      </p:sp>
    </p:spTree>
    <p:extLst>
      <p:ext uri="{BB962C8B-B14F-4D97-AF65-F5344CB8AC3E}">
        <p14:creationId xmlns:p14="http://schemas.microsoft.com/office/powerpoint/2010/main" val="3546222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33DB1-17C2-1AE6-174F-CEECFD16834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CC1C3BA-EEBD-76F3-3350-D616DC7C95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C6684B8-5010-313F-7594-50F7EA2F96B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A4CC391-4541-F007-4FFD-128A459C29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4122F1A-DA43-7AF2-23C1-54636E4967B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5F01E14-2A68-76B6-5EB0-5CB214941AA8}"/>
              </a:ext>
            </a:extLst>
          </p:cNvPr>
          <p:cNvSpPr>
            <a:spLocks noGrp="1"/>
          </p:cNvSpPr>
          <p:nvPr>
            <p:ph type="dt" sz="half" idx="10"/>
          </p:nvPr>
        </p:nvSpPr>
        <p:spPr/>
        <p:txBody>
          <a:bodyPr/>
          <a:lstStyle/>
          <a:p>
            <a:fld id="{B63F4771-8E82-4349-995C-47D8CB1A0AAB}" type="datetimeFigureOut">
              <a:rPr kumimoji="1" lang="ja-JP" altLang="en-US" smtClean="0"/>
              <a:t>2026/3/29</a:t>
            </a:fld>
            <a:endParaRPr kumimoji="1" lang="ja-JP" altLang="en-US"/>
          </a:p>
        </p:txBody>
      </p:sp>
      <p:sp>
        <p:nvSpPr>
          <p:cNvPr id="8" name="フッター プレースホルダー 7">
            <a:extLst>
              <a:ext uri="{FF2B5EF4-FFF2-40B4-BE49-F238E27FC236}">
                <a16:creationId xmlns:a16="http://schemas.microsoft.com/office/drawing/2014/main" id="{EE6368EE-8B04-A0B1-D92B-BCB5360D975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E829BC9-D840-F77F-9AEA-426215DF1702}"/>
              </a:ext>
            </a:extLst>
          </p:cNvPr>
          <p:cNvSpPr>
            <a:spLocks noGrp="1"/>
          </p:cNvSpPr>
          <p:nvPr>
            <p:ph type="sldNum" sz="quarter" idx="12"/>
          </p:nvPr>
        </p:nvSpPr>
        <p:spPr/>
        <p:txBody>
          <a:bodyPr/>
          <a:lstStyle/>
          <a:p>
            <a:fld id="{10950C97-C505-4F15-B38F-34EDFD781397}" type="slidenum">
              <a:rPr kumimoji="1" lang="ja-JP" altLang="en-US" smtClean="0"/>
              <a:t>‹#›</a:t>
            </a:fld>
            <a:endParaRPr kumimoji="1" lang="ja-JP" altLang="en-US"/>
          </a:p>
        </p:txBody>
      </p:sp>
    </p:spTree>
    <p:extLst>
      <p:ext uri="{BB962C8B-B14F-4D97-AF65-F5344CB8AC3E}">
        <p14:creationId xmlns:p14="http://schemas.microsoft.com/office/powerpoint/2010/main" val="3232869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CA268B-CE7F-811D-A682-C68C6D3F5E0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E3534C4-BC67-BA0D-3833-BECECD456DD9}"/>
              </a:ext>
            </a:extLst>
          </p:cNvPr>
          <p:cNvSpPr>
            <a:spLocks noGrp="1"/>
          </p:cNvSpPr>
          <p:nvPr>
            <p:ph type="dt" sz="half" idx="10"/>
          </p:nvPr>
        </p:nvSpPr>
        <p:spPr/>
        <p:txBody>
          <a:bodyPr/>
          <a:lstStyle/>
          <a:p>
            <a:fld id="{B63F4771-8E82-4349-995C-47D8CB1A0AAB}" type="datetimeFigureOut">
              <a:rPr kumimoji="1" lang="ja-JP" altLang="en-US" smtClean="0"/>
              <a:t>2026/3/29</a:t>
            </a:fld>
            <a:endParaRPr kumimoji="1" lang="ja-JP" altLang="en-US"/>
          </a:p>
        </p:txBody>
      </p:sp>
      <p:sp>
        <p:nvSpPr>
          <p:cNvPr id="4" name="フッター プレースホルダー 3">
            <a:extLst>
              <a:ext uri="{FF2B5EF4-FFF2-40B4-BE49-F238E27FC236}">
                <a16:creationId xmlns:a16="http://schemas.microsoft.com/office/drawing/2014/main" id="{FEF5A1BF-966F-F8D0-E1ED-89CFBAC2FC9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6551EE3-D685-6923-97EB-74C6AED25C6C}"/>
              </a:ext>
            </a:extLst>
          </p:cNvPr>
          <p:cNvSpPr>
            <a:spLocks noGrp="1"/>
          </p:cNvSpPr>
          <p:nvPr>
            <p:ph type="sldNum" sz="quarter" idx="12"/>
          </p:nvPr>
        </p:nvSpPr>
        <p:spPr/>
        <p:txBody>
          <a:bodyPr/>
          <a:lstStyle/>
          <a:p>
            <a:fld id="{10950C97-C505-4F15-B38F-34EDFD781397}" type="slidenum">
              <a:rPr kumimoji="1" lang="ja-JP" altLang="en-US" smtClean="0"/>
              <a:t>‹#›</a:t>
            </a:fld>
            <a:endParaRPr kumimoji="1" lang="ja-JP" altLang="en-US"/>
          </a:p>
        </p:txBody>
      </p:sp>
    </p:spTree>
    <p:extLst>
      <p:ext uri="{BB962C8B-B14F-4D97-AF65-F5344CB8AC3E}">
        <p14:creationId xmlns:p14="http://schemas.microsoft.com/office/powerpoint/2010/main" val="1973996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6346936-8DD2-7617-769B-1FEEEE6452EA}"/>
              </a:ext>
            </a:extLst>
          </p:cNvPr>
          <p:cNvSpPr>
            <a:spLocks noGrp="1"/>
          </p:cNvSpPr>
          <p:nvPr>
            <p:ph type="dt" sz="half" idx="10"/>
          </p:nvPr>
        </p:nvSpPr>
        <p:spPr/>
        <p:txBody>
          <a:bodyPr/>
          <a:lstStyle/>
          <a:p>
            <a:fld id="{B63F4771-8E82-4349-995C-47D8CB1A0AAB}" type="datetimeFigureOut">
              <a:rPr kumimoji="1" lang="ja-JP" altLang="en-US" smtClean="0"/>
              <a:t>2026/3/29</a:t>
            </a:fld>
            <a:endParaRPr kumimoji="1" lang="ja-JP" altLang="en-US"/>
          </a:p>
        </p:txBody>
      </p:sp>
      <p:sp>
        <p:nvSpPr>
          <p:cNvPr id="3" name="フッター プレースホルダー 2">
            <a:extLst>
              <a:ext uri="{FF2B5EF4-FFF2-40B4-BE49-F238E27FC236}">
                <a16:creationId xmlns:a16="http://schemas.microsoft.com/office/drawing/2014/main" id="{05E4D3C3-A465-D582-7AA0-6D020D86B23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C9EB170-B742-FAE5-E423-5FCDC67BFF98}"/>
              </a:ext>
            </a:extLst>
          </p:cNvPr>
          <p:cNvSpPr>
            <a:spLocks noGrp="1"/>
          </p:cNvSpPr>
          <p:nvPr>
            <p:ph type="sldNum" sz="quarter" idx="12"/>
          </p:nvPr>
        </p:nvSpPr>
        <p:spPr/>
        <p:txBody>
          <a:bodyPr/>
          <a:lstStyle/>
          <a:p>
            <a:fld id="{10950C97-C505-4F15-B38F-34EDFD781397}" type="slidenum">
              <a:rPr kumimoji="1" lang="ja-JP" altLang="en-US" smtClean="0"/>
              <a:t>‹#›</a:t>
            </a:fld>
            <a:endParaRPr kumimoji="1" lang="ja-JP" altLang="en-US"/>
          </a:p>
        </p:txBody>
      </p:sp>
    </p:spTree>
    <p:extLst>
      <p:ext uri="{BB962C8B-B14F-4D97-AF65-F5344CB8AC3E}">
        <p14:creationId xmlns:p14="http://schemas.microsoft.com/office/powerpoint/2010/main" val="14308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6F5922-4F7F-D2EF-6207-BF4F181F386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5C2CC6E-50F6-076B-00C9-CA9FA442D3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575875A-A33E-536E-88F4-F965AE4D6F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C14F4D8-9973-B6C3-81B7-22EDECC08659}"/>
              </a:ext>
            </a:extLst>
          </p:cNvPr>
          <p:cNvSpPr>
            <a:spLocks noGrp="1"/>
          </p:cNvSpPr>
          <p:nvPr>
            <p:ph type="dt" sz="half" idx="10"/>
          </p:nvPr>
        </p:nvSpPr>
        <p:spPr/>
        <p:txBody>
          <a:bodyPr/>
          <a:lstStyle/>
          <a:p>
            <a:fld id="{B63F4771-8E82-4349-995C-47D8CB1A0AAB}" type="datetimeFigureOut">
              <a:rPr kumimoji="1" lang="ja-JP" altLang="en-US" smtClean="0"/>
              <a:t>2026/3/29</a:t>
            </a:fld>
            <a:endParaRPr kumimoji="1" lang="ja-JP" altLang="en-US"/>
          </a:p>
        </p:txBody>
      </p:sp>
      <p:sp>
        <p:nvSpPr>
          <p:cNvPr id="6" name="フッター プレースホルダー 5">
            <a:extLst>
              <a:ext uri="{FF2B5EF4-FFF2-40B4-BE49-F238E27FC236}">
                <a16:creationId xmlns:a16="http://schemas.microsoft.com/office/drawing/2014/main" id="{D126018D-FF31-9194-3543-0FA6904B3B9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0072E2C-595E-B8C9-AA42-C3719C55B412}"/>
              </a:ext>
            </a:extLst>
          </p:cNvPr>
          <p:cNvSpPr>
            <a:spLocks noGrp="1"/>
          </p:cNvSpPr>
          <p:nvPr>
            <p:ph type="sldNum" sz="quarter" idx="12"/>
          </p:nvPr>
        </p:nvSpPr>
        <p:spPr/>
        <p:txBody>
          <a:bodyPr/>
          <a:lstStyle/>
          <a:p>
            <a:fld id="{10950C97-C505-4F15-B38F-34EDFD781397}" type="slidenum">
              <a:rPr kumimoji="1" lang="ja-JP" altLang="en-US" smtClean="0"/>
              <a:t>‹#›</a:t>
            </a:fld>
            <a:endParaRPr kumimoji="1" lang="ja-JP" altLang="en-US"/>
          </a:p>
        </p:txBody>
      </p:sp>
    </p:spTree>
    <p:extLst>
      <p:ext uri="{BB962C8B-B14F-4D97-AF65-F5344CB8AC3E}">
        <p14:creationId xmlns:p14="http://schemas.microsoft.com/office/powerpoint/2010/main" val="3231815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3A331F-7A4D-CD4E-DE64-D08030F70ED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6E2A03B-4585-CF54-050A-4C0AA5F488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DE47D1A-D26B-7CD8-4705-3256B4B910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44FB423-D155-2CF9-F626-1FAA75D1B376}"/>
              </a:ext>
            </a:extLst>
          </p:cNvPr>
          <p:cNvSpPr>
            <a:spLocks noGrp="1"/>
          </p:cNvSpPr>
          <p:nvPr>
            <p:ph type="dt" sz="half" idx="10"/>
          </p:nvPr>
        </p:nvSpPr>
        <p:spPr/>
        <p:txBody>
          <a:bodyPr/>
          <a:lstStyle/>
          <a:p>
            <a:fld id="{B63F4771-8E82-4349-995C-47D8CB1A0AAB}" type="datetimeFigureOut">
              <a:rPr kumimoji="1" lang="ja-JP" altLang="en-US" smtClean="0"/>
              <a:t>2026/3/29</a:t>
            </a:fld>
            <a:endParaRPr kumimoji="1" lang="ja-JP" altLang="en-US"/>
          </a:p>
        </p:txBody>
      </p:sp>
      <p:sp>
        <p:nvSpPr>
          <p:cNvPr id="6" name="フッター プレースホルダー 5">
            <a:extLst>
              <a:ext uri="{FF2B5EF4-FFF2-40B4-BE49-F238E27FC236}">
                <a16:creationId xmlns:a16="http://schemas.microsoft.com/office/drawing/2014/main" id="{BC283577-9AEA-48CC-F641-373973E0115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3FBF0D1-643A-A7D4-936A-13D895A932BF}"/>
              </a:ext>
            </a:extLst>
          </p:cNvPr>
          <p:cNvSpPr>
            <a:spLocks noGrp="1"/>
          </p:cNvSpPr>
          <p:nvPr>
            <p:ph type="sldNum" sz="quarter" idx="12"/>
          </p:nvPr>
        </p:nvSpPr>
        <p:spPr/>
        <p:txBody>
          <a:bodyPr/>
          <a:lstStyle/>
          <a:p>
            <a:fld id="{10950C97-C505-4F15-B38F-34EDFD781397}" type="slidenum">
              <a:rPr kumimoji="1" lang="ja-JP" altLang="en-US" smtClean="0"/>
              <a:t>‹#›</a:t>
            </a:fld>
            <a:endParaRPr kumimoji="1" lang="ja-JP" altLang="en-US"/>
          </a:p>
        </p:txBody>
      </p:sp>
    </p:spTree>
    <p:extLst>
      <p:ext uri="{BB962C8B-B14F-4D97-AF65-F5344CB8AC3E}">
        <p14:creationId xmlns:p14="http://schemas.microsoft.com/office/powerpoint/2010/main" val="3103669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25B118-4D77-8F5D-6BA2-54BDF27F2AD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034C3B9-6DA6-8864-2F91-C2774B74F93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09F224-2FB7-BB29-5755-4C93D09C3E5A}"/>
              </a:ext>
            </a:extLst>
          </p:cNvPr>
          <p:cNvSpPr>
            <a:spLocks noGrp="1"/>
          </p:cNvSpPr>
          <p:nvPr>
            <p:ph type="dt" sz="half" idx="10"/>
          </p:nvPr>
        </p:nvSpPr>
        <p:spPr/>
        <p:txBody>
          <a:bodyPr/>
          <a:lstStyle/>
          <a:p>
            <a:fld id="{B63F4771-8E82-4349-995C-47D8CB1A0AAB}" type="datetimeFigureOut">
              <a:rPr kumimoji="1" lang="ja-JP" altLang="en-US" smtClean="0"/>
              <a:t>2026/3/29</a:t>
            </a:fld>
            <a:endParaRPr kumimoji="1" lang="ja-JP" altLang="en-US"/>
          </a:p>
        </p:txBody>
      </p:sp>
      <p:sp>
        <p:nvSpPr>
          <p:cNvPr id="5" name="フッター プレースホルダー 4">
            <a:extLst>
              <a:ext uri="{FF2B5EF4-FFF2-40B4-BE49-F238E27FC236}">
                <a16:creationId xmlns:a16="http://schemas.microsoft.com/office/drawing/2014/main" id="{E7A3A8DD-8762-4D65-4F5B-B2D9493AF7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27B72AF-CD91-1336-0AB7-222ECF3758C2}"/>
              </a:ext>
            </a:extLst>
          </p:cNvPr>
          <p:cNvSpPr>
            <a:spLocks noGrp="1"/>
          </p:cNvSpPr>
          <p:nvPr>
            <p:ph type="sldNum" sz="quarter" idx="12"/>
          </p:nvPr>
        </p:nvSpPr>
        <p:spPr/>
        <p:txBody>
          <a:bodyPr/>
          <a:lstStyle/>
          <a:p>
            <a:fld id="{10950C97-C505-4F15-B38F-34EDFD781397}" type="slidenum">
              <a:rPr kumimoji="1" lang="ja-JP" altLang="en-US" smtClean="0"/>
              <a:t>‹#›</a:t>
            </a:fld>
            <a:endParaRPr kumimoji="1" lang="ja-JP" altLang="en-US"/>
          </a:p>
        </p:txBody>
      </p:sp>
    </p:spTree>
    <p:extLst>
      <p:ext uri="{BB962C8B-B14F-4D97-AF65-F5344CB8AC3E}">
        <p14:creationId xmlns:p14="http://schemas.microsoft.com/office/powerpoint/2010/main" val="1683388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537459D-D663-97B9-C10B-162ABE64BBC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BF7B949-EAF6-185F-A309-C6C7B9D32A1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8B84114-B3A6-557A-FCE1-726A0BCA6FB7}"/>
              </a:ext>
            </a:extLst>
          </p:cNvPr>
          <p:cNvSpPr>
            <a:spLocks noGrp="1"/>
          </p:cNvSpPr>
          <p:nvPr>
            <p:ph type="dt" sz="half" idx="10"/>
          </p:nvPr>
        </p:nvSpPr>
        <p:spPr/>
        <p:txBody>
          <a:bodyPr/>
          <a:lstStyle/>
          <a:p>
            <a:fld id="{B63F4771-8E82-4349-995C-47D8CB1A0AAB}" type="datetimeFigureOut">
              <a:rPr kumimoji="1" lang="ja-JP" altLang="en-US" smtClean="0"/>
              <a:t>2026/3/29</a:t>
            </a:fld>
            <a:endParaRPr kumimoji="1" lang="ja-JP" altLang="en-US"/>
          </a:p>
        </p:txBody>
      </p:sp>
      <p:sp>
        <p:nvSpPr>
          <p:cNvPr id="5" name="フッター プレースホルダー 4">
            <a:extLst>
              <a:ext uri="{FF2B5EF4-FFF2-40B4-BE49-F238E27FC236}">
                <a16:creationId xmlns:a16="http://schemas.microsoft.com/office/drawing/2014/main" id="{F3264A49-6DC9-AEB9-DEE6-43CB9F70415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E1353FA-FBA9-9C1C-B570-DC7424ACCE21}"/>
              </a:ext>
            </a:extLst>
          </p:cNvPr>
          <p:cNvSpPr>
            <a:spLocks noGrp="1"/>
          </p:cNvSpPr>
          <p:nvPr>
            <p:ph type="sldNum" sz="quarter" idx="12"/>
          </p:nvPr>
        </p:nvSpPr>
        <p:spPr/>
        <p:txBody>
          <a:bodyPr/>
          <a:lstStyle/>
          <a:p>
            <a:fld id="{10950C97-C505-4F15-B38F-34EDFD781397}" type="slidenum">
              <a:rPr kumimoji="1" lang="ja-JP" altLang="en-US" smtClean="0"/>
              <a:t>‹#›</a:t>
            </a:fld>
            <a:endParaRPr kumimoji="1" lang="ja-JP" altLang="en-US"/>
          </a:p>
        </p:txBody>
      </p:sp>
    </p:spTree>
    <p:extLst>
      <p:ext uri="{BB962C8B-B14F-4D97-AF65-F5344CB8AC3E}">
        <p14:creationId xmlns:p14="http://schemas.microsoft.com/office/powerpoint/2010/main" val="1666179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E136F64-CC1C-72E6-98F6-0A59593C39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23D27A3-9B8C-7FAD-E269-CCC6152AA5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9F2C9EB-7ECC-D247-DD21-7BC85A578D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3F4771-8E82-4349-995C-47D8CB1A0AAB}" type="datetimeFigureOut">
              <a:rPr kumimoji="1" lang="ja-JP" altLang="en-US" smtClean="0"/>
              <a:t>2026/3/29</a:t>
            </a:fld>
            <a:endParaRPr kumimoji="1" lang="ja-JP" altLang="en-US"/>
          </a:p>
        </p:txBody>
      </p:sp>
      <p:sp>
        <p:nvSpPr>
          <p:cNvPr id="5" name="フッター プレースホルダー 4">
            <a:extLst>
              <a:ext uri="{FF2B5EF4-FFF2-40B4-BE49-F238E27FC236}">
                <a16:creationId xmlns:a16="http://schemas.microsoft.com/office/drawing/2014/main" id="{1768F788-DB19-D67D-B4F7-5FA630D245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0503AF8-CFD5-FBAF-70F8-E14F627181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950C97-C505-4F15-B38F-34EDFD781397}" type="slidenum">
              <a:rPr kumimoji="1" lang="ja-JP" altLang="en-US" smtClean="0"/>
              <a:t>‹#›</a:t>
            </a:fld>
            <a:endParaRPr kumimoji="1" lang="ja-JP" altLang="en-US"/>
          </a:p>
        </p:txBody>
      </p:sp>
      <p:sp>
        <p:nvSpPr>
          <p:cNvPr id="1001" name="AccentBar"/>
          <p:cNvSpPr/>
          <p:nvPr userDrawn="1"/>
        </p:nvSpPr>
        <p:spPr>
          <a:xfrm>
            <a:off x="0" y="6583680"/>
            <a:ext cx="12192000" cy="274320"/>
          </a:xfrm>
          <a:prstGeom prst="rect">
            <a:avLst/>
          </a:prstGeom>
          <a:gradFill>
            <a:gsLst>
              <a:gs pos="0">
                <a:srgbClr val="1B2A4A"/>
              </a:gs>
              <a:gs pos="50000">
                <a:srgbClr val="2563EB"/>
              </a:gs>
              <a:gs pos="100000">
                <a:srgbClr val="0D9488"/>
              </a:gs>
            </a:gsLst>
            <a:lin ang="0" scaled="1"/>
          </a:gradFill>
          <a:ln w="0">
            <a:noFill/>
          </a:ln>
        </p:spPr>
        <p:txBody>
          <a:bodyPr/>
          <a:lstStyle/>
          <a:p>
            <a:endParaRPr lang="ja-JP"/>
          </a:p>
        </p:txBody>
      </p:sp>
      <p:sp>
        <p:nvSpPr>
          <p:cNvPr id="1002" name="TopLine"/>
          <p:cNvSpPr/>
          <p:nvPr userDrawn="1"/>
        </p:nvSpPr>
        <p:spPr>
          <a:xfrm>
            <a:off x="457200" y="0"/>
            <a:ext cx="11277600" cy="45720"/>
          </a:xfrm>
          <a:prstGeom prst="rect">
            <a:avLst/>
          </a:prstGeom>
          <a:solidFill>
            <a:srgbClr val="2563EB"/>
          </a:solidFill>
          <a:ln w="0">
            <a:noFill/>
          </a:ln>
        </p:spPr>
        <p:txBody>
          <a:bodyPr/>
          <a:lstStyle/>
          <a:p>
            <a:endParaRPr lang="ja-JP"/>
          </a:p>
        </p:txBody>
      </p:sp>
      <p:sp>
        <p:nvSpPr>
          <p:cNvPr id="900" name="AccentBar"/>
          <p:cNvSpPr/>
          <p:nvPr userDrawn="1"/>
        </p:nvSpPr>
        <p:spPr>
          <a:xfrm>
            <a:off x="0" y="6705600"/>
            <a:ext cx="12192000" cy="152400"/>
          </a:xfrm>
          <a:prstGeom prst="rect">
            <a:avLst/>
          </a:prstGeom>
          <a:solidFill>
            <a:srgbClr val="A23B2C"/>
          </a:solidFill>
          <a:ln>
            <a:noFill/>
          </a:ln>
        </p:spPr>
        <p:txBody>
          <a:bodyPr/>
          <a:lstStyle/>
          <a:p>
            <a:endParaRPr lang="ja-JP"/>
          </a:p>
        </p:txBody>
      </p:sp>
      <p:sp>
        <p:nvSpPr>
          <p:cNvPr id="901" name="LeftAccent"/>
          <p:cNvSpPr/>
          <p:nvPr userDrawn="1"/>
        </p:nvSpPr>
        <p:spPr>
          <a:xfrm>
            <a:off x="0" y="0"/>
            <a:ext cx="76200" cy="6858000"/>
          </a:xfrm>
          <a:prstGeom prst="rect">
            <a:avLst/>
          </a:prstGeom>
          <a:solidFill>
            <a:srgbClr val="A23B2C"/>
          </a:solidFill>
          <a:ln>
            <a:noFill/>
          </a:ln>
        </p:spPr>
        <p:txBody>
          <a:bodyPr/>
          <a:lstStyle/>
          <a:p>
            <a:endParaRPr lang="ja-JP"/>
          </a:p>
        </p:txBody>
      </p:sp>
      <p:sp>
        <p:nvSpPr>
          <p:cNvPr id="950" name="Slide Number Placeholder"/>
          <p:cNvSpPr>
            <a:spLocks noGrp="1"/>
          </p:cNvSpPr>
          <p:nvPr userDrawn="1">
            <p:ph type="sldNum" sz="quarter" idx="12"/>
          </p:nvPr>
        </p:nvSpPr>
        <p:spPr>
          <a:xfrm>
            <a:off x="11353800" y="6477000"/>
            <a:ext cx="685800" cy="228600"/>
          </a:xfrm>
          <a:prstGeom prst="rect">
            <a:avLst/>
          </a:prstGeom>
          <a:noFill/>
          <a:ln>
            <a:noFill/>
          </a:ln>
        </p:spPr>
        <p:txBody>
          <a:bodyPr wrap="square" lIns="36000" tIns="0" rIns="72000" bIns="0" anchor="ctr"/>
          <a:lstStyle/>
          <a:p>
            <a:pPr algn="r">
              <a:buNone/>
            </a:pPr>
            <a:fld id="{B6F15528-F159-4107-2D14-111111111111}" type="slidenum">
              <a:rPr lang="en-US" altLang="ja-JP" sz="1000" dirty="0">
                <a:solidFill>
                  <a:srgbClr val="8C8C8C"/>
                </a:solidFill>
                <a:latin typeface="BIZ UDPGothic"/>
                <a:ea typeface="BIZ UDPGothic"/>
              </a:rPr>
              <a:t>‹#›</a:t>
            </a:fld>
            <a:endParaRPr lang="ja-JP" sz="1000" dirty="0">
              <a:solidFill>
                <a:srgbClr val="8C8C8C"/>
              </a:solidFill>
              <a:latin typeface="BIZ UDPGothic"/>
              <a:ea typeface="BIZ UDPGothic"/>
            </a:endParaRPr>
          </a:p>
        </p:txBody>
      </p:sp>
    </p:spTree>
    <p:extLst>
      <p:ext uri="{BB962C8B-B14F-4D97-AF65-F5344CB8AC3E}">
        <p14:creationId xmlns:p14="http://schemas.microsoft.com/office/powerpoint/2010/main" val="13375675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1" sz="4400" kern="1200">
          <a:solidFill>
            <a:srgbClr val="2D2D2D"/>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3D3D3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3D3D3D"/>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3D3D3D"/>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rgbClr val="3D3D3D"/>
          </a:solidFill>
          <a:latin typeface="+mn-lt"/>
          <a:ea typeface="+mn-ea"/>
          <a:cs typeface="+mn-cs"/>
        </a:defRPr>
      </a:lvl1pPr>
      <a:lvl2pPr marL="457200" algn="l" defTabSz="914400" rtl="0" eaLnBrk="1" latinLnBrk="0" hangingPunct="1">
        <a:defRPr kumimoji="1" sz="1800" kern="1200">
          <a:solidFill>
            <a:srgbClr val="3D3D3D"/>
          </a:solidFill>
          <a:latin typeface="+mn-lt"/>
          <a:ea typeface="+mn-ea"/>
          <a:cs typeface="+mn-cs"/>
        </a:defRPr>
      </a:lvl2pPr>
      <a:lvl3pPr marL="914400" algn="l" defTabSz="914400" rtl="0" eaLnBrk="1" latinLnBrk="0" hangingPunct="1">
        <a:defRPr kumimoji="1" sz="1800" kern="1200">
          <a:solidFill>
            <a:srgbClr val="3D3D3D"/>
          </a:solidFill>
          <a:latin typeface="+mn-lt"/>
          <a:ea typeface="+mn-ea"/>
          <a:cs typeface="+mn-cs"/>
        </a:defRPr>
      </a:lvl3pPr>
      <a:lvl4pPr marL="1371600" algn="l" defTabSz="914400" rtl="0" eaLnBrk="1" latinLnBrk="0" hangingPunct="1">
        <a:defRPr kumimoji="1" sz="1800" kern="1200">
          <a:solidFill>
            <a:srgbClr val="3D3D3D"/>
          </a:solidFill>
          <a:latin typeface="+mn-lt"/>
          <a:ea typeface="+mn-ea"/>
          <a:cs typeface="+mn-cs"/>
        </a:defRPr>
      </a:lvl4pPr>
      <a:lvl5pPr marL="1828800" algn="l" defTabSz="914400" rtl="0" eaLnBrk="1" latinLnBrk="0" hangingPunct="1">
        <a:defRPr kumimoji="1" sz="1800" kern="1200">
          <a:solidFill>
            <a:srgbClr val="3D3D3D"/>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43E71-23AF-16FE-4CCA-7798120B8E4A}"/>
              </a:ext>
            </a:extLst>
          </p:cNvPr>
          <p:cNvSpPr>
            <a:spLocks noGrp="1"/>
          </p:cNvSpPr>
          <p:nvPr>
            <p:ph type="ctrTitle"/>
          </p:nvPr>
        </p:nvSpPr>
        <p:spPr/>
        <p:txBody>
          <a:bodyPr>
            <a:normAutofit/>
          </a:bodyPr>
          <a:lstStyle/>
          <a:p>
            <a:r>
              <a:rPr kumimoji="1" lang="ja-JP" altLang="en-US" sz="3600" b="1">
                <a:latin typeface="BIZ UDPGothic"/>
                <a:ea typeface="BIZ UDPGothic"/>
              </a:rPr>
              <a:t>データ分析プロジェクト提案書</a:t>
            </a:r>
          </a:p>
        </p:txBody>
      </p:sp>
      <p:sp>
        <p:nvSpPr>
          <p:cNvPr id="3" name="字幕 2">
            <a:extLst>
              <a:ext uri="{FF2B5EF4-FFF2-40B4-BE49-F238E27FC236}">
                <a16:creationId xmlns:a16="http://schemas.microsoft.com/office/drawing/2014/main" id="{35B5E07A-600F-3F30-6717-3C5E7A2899B4}"/>
              </a:ext>
            </a:extLst>
          </p:cNvPr>
          <p:cNvSpPr>
            <a:spLocks noGrp="1"/>
          </p:cNvSpPr>
          <p:nvPr>
            <p:ph type="subTitle" idx="1"/>
          </p:nvPr>
        </p:nvSpPr>
        <p:spPr/>
        <p:txBody>
          <a:bodyPr>
            <a:normAutofit/>
          </a:bodyPr>
          <a:lstStyle/>
          <a:p>
            <a:r>
              <a:rPr kumimoji="1" lang="ja-JP" altLang="en-US" sz="1600">
                <a:solidFill>
                  <a:srgbClr val="4A4A4A"/>
                </a:solidFill>
                <a:latin typeface="BIZ UDPGothic"/>
                <a:ea typeface="BIZ UDPGothic"/>
              </a:rPr>
              <a:t>収入クラス予測の初期分析と業務示唆の提示
株式会社データアステル データサイエンス部
→ 株式会社東都人材プラットフォーム 人事戦略部 人材データ活用室</a:t>
            </a:r>
          </a:p>
        </p:txBody>
      </p:sp>
      <p:sp>
        <p:nvSpPr>
          <p:cNvPr id="4" name="テキスト ボックス 3">
            <a:extLst>
              <a:ext uri="{FF2B5EF4-FFF2-40B4-BE49-F238E27FC236}">
                <a16:creationId xmlns:a16="http://schemas.microsoft.com/office/drawing/2014/main" id="{18B482E6-768A-4B4C-A368-0212727E71B9}"/>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1</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2584575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549923-CCBA-E638-670F-9A4CF0A411C5}"/>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1. </a:t>
            </a:r>
            <a:r>
              <a:rPr kumimoji="1" lang="ja-JP" altLang="en-US" sz="3200" b="1">
                <a:latin typeface="BIZ UDPGothic"/>
                <a:ea typeface="BIZ UDPGothic"/>
              </a:rPr>
              <a:t>背景</a:t>
            </a:r>
          </a:p>
        </p:txBody>
      </p:sp>
      <p:sp>
        <p:nvSpPr>
          <p:cNvPr id="10" name="ContextBox"/>
          <p:cNvSpPr txBox="1"/>
          <p:nvPr/>
        </p:nvSpPr>
        <p:spPr>
          <a:xfrm>
            <a:off x="609600" y="1143000"/>
            <a:ext cx="10972800" cy="914400"/>
          </a:xfrm>
          <a:prstGeom prst="roundRect">
            <a:avLst>
              <a:gd name="adj" fmla="val 5000"/>
            </a:avLst>
          </a:prstGeom>
          <a:solidFill>
            <a:srgbClr val="F2F0ED"/>
          </a:solidFill>
          <a:ln>
            <a:noFill/>
          </a:ln>
        </p:spPr>
        <p:txBody>
          <a:bodyPr wrap="square" lIns="144000" tIns="108000" rIns="144000" bIns="108000" anchor="ctr"/>
          <a:lstStyle/>
          <a:p>
            <a:pPr>
              <a:buNone/>
            </a:pPr>
            <a:r>
              <a:rPr lang="ja-JP" sz="1400" dirty="0">
                <a:solidFill>
                  <a:srgbClr val="3D3D3D"/>
                </a:solidFill>
                <a:latin typeface="BIZ UDPGothic"/>
                <a:ea typeface="BIZ UDPGothic"/>
              </a:rPr>
              <a:t>株式会社東都人材プラットフォーム 人事戦略部 人材データ活用室では、報酬分析・公平性確認・人材活用支援の高度化に向け、</a:t>
            </a:r>
            <a:r>
              <a:rPr lang="ja-JP" sz="1400" b="1" dirty="0">
                <a:solidFill>
                  <a:srgbClr val="A23B2C"/>
                </a:solidFill>
                <a:latin typeface="BIZ UDPGothic"/>
                <a:ea typeface="BIZ UDPGothic"/>
              </a:rPr>
              <a:t>個人属性と収入クラスの関係を定量的に把握し、業務判断に活用できる分析基盤の整備</a:t>
            </a:r>
            <a:r>
              <a:rPr lang="ja-JP" sz="1400" dirty="0">
                <a:solidFill>
                  <a:srgbClr val="3D3D3D"/>
                </a:solidFill>
                <a:latin typeface="BIZ UDPGothic"/>
                <a:ea typeface="BIZ UDPGothic"/>
              </a:rPr>
              <a:t>が求められている。</a:t>
            </a:r>
          </a:p>
        </p:txBody>
      </p:sp>
      <p:sp>
        <p:nvSpPr>
          <p:cNvPr id="11" name="IssueHeader"/>
          <p:cNvSpPr txBox="1"/>
          <p:nvPr/>
        </p:nvSpPr>
        <p:spPr>
          <a:xfrm>
            <a:off x="609600" y="2209800"/>
            <a:ext cx="10972800" cy="342900"/>
          </a:xfrm>
          <a:prstGeom prst="rect">
            <a:avLst/>
          </a:prstGeom>
          <a:noFill/>
          <a:ln>
            <a:noFill/>
          </a:ln>
        </p:spPr>
        <p:txBody>
          <a:bodyPr wrap="square" lIns="72000" tIns="36000" rIns="72000" bIns="36000" anchor="ctr"/>
          <a:lstStyle/>
          <a:p>
            <a:pPr>
              <a:buNone/>
            </a:pPr>
            <a:r>
              <a:rPr lang="ja-JP" sz="1800" b="1" dirty="0">
                <a:solidFill>
                  <a:srgbClr val="A23B2C"/>
                </a:solidFill>
                <a:latin typeface="BIZ UDPGothic"/>
                <a:ea typeface="BIZ UDPGothic"/>
              </a:rPr>
              <a:t>現状の主な課題</a:t>
            </a:r>
          </a:p>
        </p:txBody>
      </p:sp>
      <p:sp>
        <p:nvSpPr>
          <p:cNvPr id="20" name="Card0"/>
          <p:cNvSpPr txBox="1"/>
          <p:nvPr/>
        </p:nvSpPr>
        <p:spPr>
          <a:xfrm>
            <a:off x="609600" y="2667000"/>
            <a:ext cx="2590800" cy="1828800"/>
          </a:xfrm>
          <a:prstGeom prst="roundRect">
            <a:avLst>
              <a:gd name="adj" fmla="val 5000"/>
            </a:avLst>
          </a:prstGeom>
          <a:solidFill>
            <a:srgbClr val="FAFAFA"/>
          </a:solidFill>
          <a:ln w="12700">
            <a:solidFill>
              <a:srgbClr val="D9D0C7"/>
            </a:solidFill>
          </a:ln>
        </p:spPr>
        <p:txBody>
          <a:bodyPr wrap="square" lIns="108000" tIns="72000" rIns="108000" bIns="72000" anchor="t"/>
          <a:lstStyle/>
          <a:p>
            <a:pPr>
              <a:buNone/>
            </a:pPr>
            <a:r>
              <a:rPr lang="ja-JP" sz="2400" b="1" dirty="0">
                <a:solidFill>
                  <a:srgbClr val="A23B2C"/>
                </a:solidFill>
                <a:latin typeface="BIZ UDPGothic"/>
                <a:ea typeface="BIZ UDPGothic"/>
              </a:rPr>
              <a:t>01</a:t>
            </a:r>
          </a:p>
          <a:p>
            <a:pPr>
              <a:buNone/>
            </a:pPr>
            <a:r>
              <a:rPr lang="ja-JP" sz="1200" dirty="0">
                <a:solidFill>
                  <a:srgbClr val="3D3D3D"/>
                </a:solidFill>
                <a:latin typeface="BIZ UDPGothic"/>
                <a:ea typeface="BIZ UDPGothic"/>
              </a:rPr>
              <a:t>報酬レンジの把握が個別判断に依存しやすく、属性と収入水準の関係を一貫して説明しにくい</a:t>
            </a:r>
          </a:p>
        </p:txBody>
      </p:sp>
      <p:sp>
        <p:nvSpPr>
          <p:cNvPr id="21" name="Card1"/>
          <p:cNvSpPr txBox="1"/>
          <p:nvPr/>
        </p:nvSpPr>
        <p:spPr>
          <a:xfrm>
            <a:off x="3352800" y="2667000"/>
            <a:ext cx="2590800" cy="1828800"/>
          </a:xfrm>
          <a:prstGeom prst="roundRect">
            <a:avLst>
              <a:gd name="adj" fmla="val 5000"/>
            </a:avLst>
          </a:prstGeom>
          <a:solidFill>
            <a:srgbClr val="FAFAFA"/>
          </a:solidFill>
          <a:ln w="12700">
            <a:solidFill>
              <a:srgbClr val="D9D0C7"/>
            </a:solidFill>
          </a:ln>
        </p:spPr>
        <p:txBody>
          <a:bodyPr wrap="square" lIns="108000" tIns="72000" rIns="108000" bIns="72000" anchor="t"/>
          <a:lstStyle/>
          <a:p>
            <a:pPr>
              <a:buNone/>
            </a:pPr>
            <a:r>
              <a:rPr lang="ja-JP" sz="2400" b="1" dirty="0">
                <a:solidFill>
                  <a:srgbClr val="A23B2C"/>
                </a:solidFill>
                <a:latin typeface="BIZ UDPGothic"/>
                <a:ea typeface="BIZ UDPGothic"/>
              </a:rPr>
              <a:t>02</a:t>
            </a:r>
          </a:p>
          <a:p>
            <a:pPr>
              <a:buNone/>
            </a:pPr>
            <a:r>
              <a:rPr lang="ja-JP" sz="1200" dirty="0">
                <a:solidFill>
                  <a:srgbClr val="3D3D3D"/>
                </a:solidFill>
                <a:latin typeface="BIZ UDPGothic"/>
                <a:ea typeface="BIZ UDPGothic"/>
              </a:rPr>
              <a:t>国・学歴・専攻・職種・業種・経験年数等の影響を、再現可能な方法で比較できていない</a:t>
            </a:r>
          </a:p>
        </p:txBody>
      </p:sp>
      <p:sp>
        <p:nvSpPr>
          <p:cNvPr id="22" name="Card2"/>
          <p:cNvSpPr txBox="1"/>
          <p:nvPr/>
        </p:nvSpPr>
        <p:spPr>
          <a:xfrm>
            <a:off x="6096000" y="2667000"/>
            <a:ext cx="2590800" cy="1828800"/>
          </a:xfrm>
          <a:prstGeom prst="roundRect">
            <a:avLst>
              <a:gd name="adj" fmla="val 5000"/>
            </a:avLst>
          </a:prstGeom>
          <a:solidFill>
            <a:srgbClr val="FAFAFA"/>
          </a:solidFill>
          <a:ln w="12700">
            <a:solidFill>
              <a:srgbClr val="D9D0C7"/>
            </a:solidFill>
          </a:ln>
        </p:spPr>
        <p:txBody>
          <a:bodyPr wrap="square" lIns="108000" tIns="72000" rIns="108000" bIns="72000" anchor="t"/>
          <a:lstStyle/>
          <a:p>
            <a:pPr>
              <a:buNone/>
            </a:pPr>
            <a:r>
              <a:rPr lang="ja-JP" sz="2400" b="1" dirty="0">
                <a:solidFill>
                  <a:srgbClr val="A23B2C"/>
                </a:solidFill>
                <a:latin typeface="BIZ UDPGothic"/>
                <a:ea typeface="BIZ UDPGothic"/>
              </a:rPr>
              <a:t>03</a:t>
            </a:r>
          </a:p>
          <a:p>
            <a:pPr>
              <a:buNone/>
            </a:pPr>
            <a:r>
              <a:rPr lang="ja-JP" sz="1200" dirty="0">
                <a:solidFill>
                  <a:srgbClr val="3D3D3D"/>
                </a:solidFill>
                <a:latin typeface="BIZ UDPGothic"/>
                <a:ea typeface="BIZ UDPGothic"/>
              </a:rPr>
              <a:t>採用、配置、報酬競争力確認、離職抑制に向けた議論の材料が不足している</a:t>
            </a:r>
          </a:p>
        </p:txBody>
      </p:sp>
      <p:sp>
        <p:nvSpPr>
          <p:cNvPr id="23" name="Card3"/>
          <p:cNvSpPr txBox="1"/>
          <p:nvPr/>
        </p:nvSpPr>
        <p:spPr>
          <a:xfrm>
            <a:off x="8839200" y="2667000"/>
            <a:ext cx="2590800" cy="1828800"/>
          </a:xfrm>
          <a:prstGeom prst="roundRect">
            <a:avLst>
              <a:gd name="adj" fmla="val 5000"/>
            </a:avLst>
          </a:prstGeom>
          <a:solidFill>
            <a:srgbClr val="FAFAFA"/>
          </a:solidFill>
          <a:ln w="12700">
            <a:solidFill>
              <a:srgbClr val="D9D0C7"/>
            </a:solidFill>
          </a:ln>
        </p:spPr>
        <p:txBody>
          <a:bodyPr wrap="square" lIns="108000" tIns="72000" rIns="108000" bIns="72000" anchor="t"/>
          <a:lstStyle/>
          <a:p>
            <a:pPr>
              <a:buNone/>
            </a:pPr>
            <a:r>
              <a:rPr lang="ja-JP" sz="2400" b="1" dirty="0">
                <a:solidFill>
                  <a:srgbClr val="A23B2C"/>
                </a:solidFill>
                <a:latin typeface="BIZ UDPGothic"/>
                <a:ea typeface="BIZ UDPGothic"/>
              </a:rPr>
              <a:t>04</a:t>
            </a:r>
          </a:p>
          <a:p>
            <a:pPr>
              <a:buNone/>
            </a:pPr>
            <a:r>
              <a:rPr lang="ja-JP" sz="1200" dirty="0">
                <a:solidFill>
                  <a:srgbClr val="3D3D3D"/>
                </a:solidFill>
                <a:latin typeface="BIZ UDPGothic"/>
                <a:ea typeface="BIZ UDPGothic"/>
              </a:rPr>
              <a:t>Gender、Age、Country等のセンシティブ属性の取扱いに慎重さが求められる</a:t>
            </a:r>
          </a:p>
        </p:txBody>
      </p:sp>
      <p:sp>
        <p:nvSpPr>
          <p:cNvPr id="30" name="DataInfo"/>
          <p:cNvSpPr txBox="1"/>
          <p:nvPr/>
        </p:nvSpPr>
        <p:spPr>
          <a:xfrm>
            <a:off x="609600" y="4724400"/>
            <a:ext cx="10972800" cy="762000"/>
          </a:xfrm>
          <a:prstGeom prst="roundRect">
            <a:avLst>
              <a:gd name="adj" fmla="val 5000"/>
            </a:avLst>
          </a:prstGeom>
          <a:solidFill>
            <a:srgbClr val="2D2D2D"/>
          </a:solidFill>
          <a:ln>
            <a:noFill/>
          </a:ln>
        </p:spPr>
        <p:txBody>
          <a:bodyPr wrap="square" lIns="144000" tIns="72000" rIns="144000" bIns="72000" anchor="ctr"/>
          <a:lstStyle/>
          <a:p>
            <a:pPr>
              <a:buNone/>
            </a:pPr>
            <a:r>
              <a:rPr lang="ja-JP" sz="1400" b="1" dirty="0">
                <a:solidFill>
                  <a:srgbClr val="FFFFFF"/>
                </a:solidFill>
                <a:latin typeface="BIZ UDPGothic"/>
                <a:ea typeface="BIZ UDPGothic"/>
              </a:rPr>
              <a:t>分析対象：</a:t>
            </a:r>
            <a:r>
              <a:rPr lang="ja-JP" sz="1400" dirty="0">
                <a:solidFill>
                  <a:srgbClr val="FFFFFF"/>
                </a:solidFill>
                <a:latin typeface="BIZ UDPGothic"/>
                <a:ea typeface="BIZ UDPGothic"/>
              </a:rPr>
              <a:t>train.csv（11,529件の人材属性データ）｜ target を収入クラスとする初期分析</a:t>
            </a:r>
          </a:p>
          <a:p>
            <a:pPr>
              <a:buNone/>
            </a:pPr>
            <a:r>
              <a:rPr lang="ja-JP" sz="1400" b="1" dirty="0">
                <a:solidFill>
                  <a:srgbClr val="FFFFFF"/>
                </a:solidFill>
                <a:latin typeface="BIZ UDPGothic"/>
                <a:ea typeface="BIZ UDPGothic"/>
              </a:rPr>
              <a:t>重視する点：</a:t>
            </a:r>
            <a:r>
              <a:rPr lang="ja-JP" sz="1400" dirty="0">
                <a:solidFill>
                  <a:srgbClr val="FFFFFF"/>
                </a:solidFill>
                <a:latin typeface="BIZ UDPGothic"/>
                <a:ea typeface="BIZ UDPGothic"/>
              </a:rPr>
              <a:t>説明可能性 ・ 公平性配慮 ・ 業務活用可能性</a:t>
            </a:r>
          </a:p>
        </p:txBody>
      </p:sp>
      <p:sp>
        <p:nvSpPr>
          <p:cNvPr id="3" name="テキスト ボックス 2">
            <a:extLst>
              <a:ext uri="{FF2B5EF4-FFF2-40B4-BE49-F238E27FC236}">
                <a16:creationId xmlns:a16="http://schemas.microsoft.com/office/drawing/2014/main" id="{150C30A6-2633-40D5-9547-000FD831300D}"/>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2</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2267889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E2B472-523D-8BFC-B7A2-69AFBD54FA80}"/>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2. </a:t>
            </a:r>
            <a:r>
              <a:rPr kumimoji="1" lang="ja-JP" altLang="en-US" sz="3200" b="1">
                <a:latin typeface="BIZ UDPGothic"/>
                <a:ea typeface="BIZ UDPGothic"/>
              </a:rPr>
              <a:t>目的</a:t>
            </a:r>
          </a:p>
        </p:txBody>
      </p:sp>
      <p:sp>
        <p:nvSpPr>
          <p:cNvPr id="10" name="MainObj"/>
          <p:cNvSpPr txBox="1"/>
          <p:nvPr/>
        </p:nvSpPr>
        <p:spPr>
          <a:xfrm>
            <a:off x="609600" y="1143000"/>
            <a:ext cx="10972800" cy="762000"/>
          </a:xfrm>
          <a:prstGeom prst="roundRect">
            <a:avLst>
              <a:gd name="adj" fmla="val 5000"/>
            </a:avLst>
          </a:prstGeom>
          <a:solidFill>
            <a:srgbClr val="A23B2C"/>
          </a:solidFill>
          <a:ln>
            <a:noFill/>
          </a:ln>
        </p:spPr>
        <p:txBody>
          <a:bodyPr wrap="square" lIns="180000" tIns="108000" rIns="180000" bIns="108000" anchor="ctr"/>
          <a:lstStyle/>
          <a:p>
            <a:pPr algn="ctr">
              <a:buNone/>
            </a:pPr>
            <a:r>
              <a:rPr lang="ja-JP" sz="1600" b="1" dirty="0">
                <a:solidFill>
                  <a:srgbClr val="FFFFFF"/>
                </a:solidFill>
                <a:latin typeface="BIZ UDPGothic"/>
                <a:ea typeface="BIZ UDPGothic"/>
              </a:rPr>
              <a:t>収入クラス（target）の予測可能性と主要因を明らかにし、</a:t>
            </a:r>
          </a:p>
          <a:p>
            <a:pPr algn="ctr">
              <a:buNone/>
            </a:pPr>
            <a:r>
              <a:rPr lang="ja-JP" sz="1600" b="1" dirty="0">
                <a:solidFill>
                  <a:srgbClr val="FFFFFF"/>
                </a:solidFill>
                <a:latin typeface="BIZ UDPGothic"/>
                <a:ea typeface="BIZ UDPGothic"/>
              </a:rPr>
              <a:t>People Analytics における報酬分析基盤の初期版を構築する</a:t>
            </a:r>
          </a:p>
        </p:txBody>
      </p:sp>
      <p:sp>
        <p:nvSpPr>
          <p:cNvPr id="20" name="ObjCard0"/>
          <p:cNvSpPr txBox="1"/>
          <p:nvPr/>
        </p:nvSpPr>
        <p:spPr>
          <a:xfrm>
            <a:off x="609600" y="2133600"/>
            <a:ext cx="2057400" cy="1524000"/>
          </a:xfrm>
          <a:prstGeom prst="roundRect">
            <a:avLst>
              <a:gd name="adj" fmla="val 8000"/>
            </a:avLst>
          </a:prstGeom>
          <a:solidFill>
            <a:srgbClr val="FAFAFA"/>
          </a:solidFill>
          <a:ln w="12700">
            <a:solidFill>
              <a:srgbClr val="D9D0C7"/>
            </a:solidFill>
          </a:ln>
        </p:spPr>
        <p:txBody>
          <a:bodyPr wrap="square" lIns="72000" tIns="72000" rIns="72000" bIns="72000" anchor="ctr"/>
          <a:lstStyle/>
          <a:p>
            <a:pPr algn="ctr">
              <a:buNone/>
            </a:pPr>
            <a:r>
              <a:rPr lang="ja-JP" sz="2800" b="1" dirty="0">
                <a:solidFill>
                  <a:srgbClr val="A23B2C"/>
                </a:solidFill>
                <a:latin typeface="BIZ UDPGothic"/>
                <a:ea typeface="BIZ UDPGothic"/>
              </a:rPr>
              <a:t>01</a:t>
            </a:r>
          </a:p>
          <a:p>
            <a:pPr algn="ctr">
              <a:buNone/>
            </a:pPr>
            <a:r>
              <a:rPr lang="ja-JP" sz="1200" dirty="0">
                <a:solidFill>
                  <a:srgbClr val="3D3D3D"/>
                </a:solidFill>
                <a:latin typeface="BIZ UDPGothic"/>
                <a:ea typeface="BIZ UDPGothic"/>
              </a:rPr>
              <a:t>分析用データセットの</a:t>
            </a:r>
          </a:p>
          <a:p>
            <a:pPr algn="ctr">
              <a:buNone/>
            </a:pPr>
            <a:r>
              <a:rPr lang="ja-JP" sz="1200" dirty="0">
                <a:solidFill>
                  <a:srgbClr val="3D3D3D"/>
                </a:solidFill>
                <a:latin typeface="BIZ UDPGothic"/>
                <a:ea typeface="BIZ UDPGothic"/>
              </a:rPr>
              <a:t>整備方針を確立</a:t>
            </a:r>
          </a:p>
        </p:txBody>
      </p:sp>
      <p:sp>
        <p:nvSpPr>
          <p:cNvPr id="21" name="ObjCard1"/>
          <p:cNvSpPr txBox="1"/>
          <p:nvPr/>
        </p:nvSpPr>
        <p:spPr>
          <a:xfrm>
            <a:off x="2781300" y="2133600"/>
            <a:ext cx="2057400" cy="1524000"/>
          </a:xfrm>
          <a:prstGeom prst="roundRect">
            <a:avLst>
              <a:gd name="adj" fmla="val 8000"/>
            </a:avLst>
          </a:prstGeom>
          <a:solidFill>
            <a:srgbClr val="FAFAFA"/>
          </a:solidFill>
          <a:ln w="12700">
            <a:solidFill>
              <a:srgbClr val="D9D0C7"/>
            </a:solidFill>
          </a:ln>
        </p:spPr>
        <p:txBody>
          <a:bodyPr wrap="square" lIns="72000" tIns="72000" rIns="72000" bIns="72000" anchor="ctr"/>
          <a:lstStyle/>
          <a:p>
            <a:pPr algn="ctr">
              <a:buNone/>
            </a:pPr>
            <a:r>
              <a:rPr lang="ja-JP" sz="2800" b="1" dirty="0">
                <a:solidFill>
                  <a:srgbClr val="A23B2C"/>
                </a:solidFill>
                <a:latin typeface="BIZ UDPGothic"/>
                <a:ea typeface="BIZ UDPGothic"/>
              </a:rPr>
              <a:t>02</a:t>
            </a:r>
          </a:p>
          <a:p>
            <a:pPr algn="ctr">
              <a:buNone/>
            </a:pPr>
            <a:r>
              <a:rPr lang="ja-JP" sz="1200" dirty="0">
                <a:solidFill>
                  <a:srgbClr val="3D3D3D"/>
                </a:solidFill>
                <a:latin typeface="BIZ UDPGothic"/>
                <a:ea typeface="BIZ UDPGothic"/>
              </a:rPr>
              <a:t>主要属性ごとの分布・</a:t>
            </a:r>
          </a:p>
          <a:p>
            <a:pPr algn="ctr">
              <a:buNone/>
            </a:pPr>
            <a:r>
              <a:rPr lang="ja-JP" sz="1200" dirty="0">
                <a:solidFill>
                  <a:srgbClr val="3D3D3D"/>
                </a:solidFill>
                <a:latin typeface="BIZ UDPGothic"/>
                <a:ea typeface="BIZ UDPGothic"/>
              </a:rPr>
              <a:t>欠損・偏り・構成を把握</a:t>
            </a:r>
          </a:p>
        </p:txBody>
      </p:sp>
      <p:sp>
        <p:nvSpPr>
          <p:cNvPr id="22" name="ObjCard2"/>
          <p:cNvSpPr txBox="1"/>
          <p:nvPr/>
        </p:nvSpPr>
        <p:spPr>
          <a:xfrm>
            <a:off x="4953000" y="2133600"/>
            <a:ext cx="2057400" cy="1524000"/>
          </a:xfrm>
          <a:prstGeom prst="roundRect">
            <a:avLst>
              <a:gd name="adj" fmla="val 8000"/>
            </a:avLst>
          </a:prstGeom>
          <a:solidFill>
            <a:srgbClr val="FAFAFA"/>
          </a:solidFill>
          <a:ln w="12700">
            <a:solidFill>
              <a:srgbClr val="D9D0C7"/>
            </a:solidFill>
          </a:ln>
        </p:spPr>
        <p:txBody>
          <a:bodyPr wrap="square" lIns="72000" tIns="72000" rIns="72000" bIns="72000" anchor="ctr"/>
          <a:lstStyle/>
          <a:p>
            <a:pPr algn="ctr">
              <a:buNone/>
            </a:pPr>
            <a:r>
              <a:rPr lang="ja-JP" sz="2800" b="1" dirty="0">
                <a:solidFill>
                  <a:srgbClr val="A23B2C"/>
                </a:solidFill>
                <a:latin typeface="BIZ UDPGothic"/>
                <a:ea typeface="BIZ UDPGothic"/>
              </a:rPr>
              <a:t>03</a:t>
            </a:r>
          </a:p>
          <a:p>
            <a:pPr algn="ctr">
              <a:buNone/>
            </a:pPr>
            <a:r>
              <a:rPr lang="ja-JP" sz="1200" dirty="0">
                <a:solidFill>
                  <a:srgbClr val="3D3D3D"/>
                </a:solidFill>
                <a:latin typeface="BIZ UDPGothic"/>
                <a:ea typeface="BIZ UDPGothic"/>
              </a:rPr>
              <a:t>ベースライン＋解釈可能</a:t>
            </a:r>
          </a:p>
          <a:p>
            <a:pPr algn="ctr">
              <a:buNone/>
            </a:pPr>
            <a:r>
              <a:rPr lang="ja-JP" sz="1200" dirty="0">
                <a:solidFill>
                  <a:srgbClr val="3D3D3D"/>
                </a:solidFill>
                <a:latin typeface="BIZ UDPGothic"/>
                <a:ea typeface="BIZ UDPGothic"/>
              </a:rPr>
              <a:t>モデルの構築・評価</a:t>
            </a:r>
          </a:p>
        </p:txBody>
      </p:sp>
      <p:sp>
        <p:nvSpPr>
          <p:cNvPr id="23" name="ObjCard3"/>
          <p:cNvSpPr txBox="1"/>
          <p:nvPr/>
        </p:nvSpPr>
        <p:spPr>
          <a:xfrm>
            <a:off x="7124700" y="2133600"/>
            <a:ext cx="2057400" cy="1524000"/>
          </a:xfrm>
          <a:prstGeom prst="roundRect">
            <a:avLst>
              <a:gd name="adj" fmla="val 8000"/>
            </a:avLst>
          </a:prstGeom>
          <a:solidFill>
            <a:srgbClr val="FAFAFA"/>
          </a:solidFill>
          <a:ln w="12700">
            <a:solidFill>
              <a:srgbClr val="D9D0C7"/>
            </a:solidFill>
          </a:ln>
        </p:spPr>
        <p:txBody>
          <a:bodyPr wrap="square" lIns="72000" tIns="72000" rIns="72000" bIns="72000" anchor="ctr"/>
          <a:lstStyle/>
          <a:p>
            <a:pPr algn="ctr">
              <a:buNone/>
            </a:pPr>
            <a:r>
              <a:rPr lang="ja-JP" sz="2800" b="1" dirty="0">
                <a:solidFill>
                  <a:srgbClr val="A23B2C"/>
                </a:solidFill>
                <a:latin typeface="BIZ UDPGothic"/>
                <a:ea typeface="BIZ UDPGothic"/>
              </a:rPr>
              <a:t>04</a:t>
            </a:r>
          </a:p>
          <a:p>
            <a:pPr algn="ctr">
              <a:buNone/>
            </a:pPr>
            <a:r>
              <a:rPr lang="ja-JP" sz="1200" dirty="0">
                <a:solidFill>
                  <a:srgbClr val="3D3D3D"/>
                </a:solidFill>
                <a:latin typeface="BIZ UDPGothic"/>
                <a:ea typeface="BIZ UDPGothic"/>
              </a:rPr>
              <a:t>属性別の予測傾向を確認</a:t>
            </a:r>
          </a:p>
          <a:p>
            <a:pPr algn="ctr">
              <a:buNone/>
            </a:pPr>
            <a:r>
              <a:rPr lang="ja-JP" sz="1200" dirty="0">
                <a:solidFill>
                  <a:srgbClr val="3D3D3D"/>
                </a:solidFill>
                <a:latin typeface="BIZ UDPGothic"/>
                <a:ea typeface="BIZ UDPGothic"/>
              </a:rPr>
              <a:t>公平性・運用注意点整理</a:t>
            </a:r>
          </a:p>
        </p:txBody>
      </p:sp>
      <p:sp>
        <p:nvSpPr>
          <p:cNvPr id="24" name="ObjCard4"/>
          <p:cNvSpPr txBox="1"/>
          <p:nvPr/>
        </p:nvSpPr>
        <p:spPr>
          <a:xfrm>
            <a:off x="9296400" y="2133600"/>
            <a:ext cx="2057400" cy="1524000"/>
          </a:xfrm>
          <a:prstGeom prst="roundRect">
            <a:avLst>
              <a:gd name="adj" fmla="val 8000"/>
            </a:avLst>
          </a:prstGeom>
          <a:solidFill>
            <a:srgbClr val="FAFAFA"/>
          </a:solidFill>
          <a:ln w="12700">
            <a:solidFill>
              <a:srgbClr val="D9D0C7"/>
            </a:solidFill>
          </a:ln>
        </p:spPr>
        <p:txBody>
          <a:bodyPr wrap="square" lIns="72000" tIns="72000" rIns="72000" bIns="72000" anchor="ctr"/>
          <a:lstStyle/>
          <a:p>
            <a:pPr algn="ctr">
              <a:buNone/>
            </a:pPr>
            <a:r>
              <a:rPr lang="ja-JP" sz="2800" b="1" dirty="0">
                <a:solidFill>
                  <a:srgbClr val="A23B2C"/>
                </a:solidFill>
                <a:latin typeface="BIZ UDPGothic"/>
                <a:ea typeface="BIZ UDPGothic"/>
              </a:rPr>
              <a:t>05</a:t>
            </a:r>
          </a:p>
          <a:p>
            <a:pPr algn="ctr">
              <a:buNone/>
            </a:pPr>
            <a:r>
              <a:rPr lang="ja-JP" sz="1200" dirty="0">
                <a:solidFill>
                  <a:srgbClr val="3D3D3D"/>
                </a:solidFill>
                <a:latin typeface="BIZ UDPGothic"/>
                <a:ea typeface="BIZ UDPGothic"/>
              </a:rPr>
              <a:t>後続施策検討に活用できる</a:t>
            </a:r>
          </a:p>
          <a:p>
            <a:pPr algn="ctr">
              <a:buNone/>
            </a:pPr>
            <a:r>
              <a:rPr lang="ja-JP" sz="1200" dirty="0">
                <a:solidFill>
                  <a:srgbClr val="3D3D3D"/>
                </a:solidFill>
                <a:latin typeface="BIZ UDPGothic"/>
                <a:ea typeface="BIZ UDPGothic"/>
              </a:rPr>
              <a:t>報告書形式で示唆提供</a:t>
            </a:r>
          </a:p>
        </p:txBody>
      </p:sp>
      <p:sp>
        <p:nvSpPr>
          <p:cNvPr id="30" name="Arrow0"/>
          <p:cNvSpPr/>
          <p:nvPr/>
        </p:nvSpPr>
        <p:spPr>
          <a:xfrm>
            <a:off x="2647950" y="2819400"/>
            <a:ext cx="152400" cy="152400"/>
          </a:xfrm>
          <a:prstGeom prst="rightArrow">
            <a:avLst/>
          </a:prstGeom>
          <a:solidFill>
            <a:srgbClr val="B5A99A"/>
          </a:solidFill>
          <a:ln>
            <a:noFill/>
          </a:ln>
        </p:spPr>
        <p:txBody>
          <a:bodyPr/>
          <a:lstStyle/>
          <a:p>
            <a:endParaRPr lang="ja-JP"/>
          </a:p>
        </p:txBody>
      </p:sp>
      <p:sp>
        <p:nvSpPr>
          <p:cNvPr id="31" name="Arrow1"/>
          <p:cNvSpPr/>
          <p:nvPr/>
        </p:nvSpPr>
        <p:spPr>
          <a:xfrm>
            <a:off x="4819650" y="2819400"/>
            <a:ext cx="152400" cy="152400"/>
          </a:xfrm>
          <a:prstGeom prst="rightArrow">
            <a:avLst/>
          </a:prstGeom>
          <a:solidFill>
            <a:srgbClr val="B5A99A"/>
          </a:solidFill>
          <a:ln>
            <a:noFill/>
          </a:ln>
        </p:spPr>
        <p:txBody>
          <a:bodyPr/>
          <a:lstStyle/>
          <a:p>
            <a:endParaRPr lang="ja-JP"/>
          </a:p>
        </p:txBody>
      </p:sp>
      <p:sp>
        <p:nvSpPr>
          <p:cNvPr id="32" name="Arrow2"/>
          <p:cNvSpPr/>
          <p:nvPr/>
        </p:nvSpPr>
        <p:spPr>
          <a:xfrm>
            <a:off x="6991350" y="2819400"/>
            <a:ext cx="152400" cy="152400"/>
          </a:xfrm>
          <a:prstGeom prst="rightArrow">
            <a:avLst/>
          </a:prstGeom>
          <a:solidFill>
            <a:srgbClr val="B5A99A"/>
          </a:solidFill>
          <a:ln>
            <a:noFill/>
          </a:ln>
        </p:spPr>
        <p:txBody>
          <a:bodyPr/>
          <a:lstStyle/>
          <a:p>
            <a:endParaRPr lang="ja-JP"/>
          </a:p>
        </p:txBody>
      </p:sp>
      <p:sp>
        <p:nvSpPr>
          <p:cNvPr id="33" name="Arrow3"/>
          <p:cNvSpPr/>
          <p:nvPr/>
        </p:nvSpPr>
        <p:spPr>
          <a:xfrm>
            <a:off x="9163050" y="2819400"/>
            <a:ext cx="152400" cy="152400"/>
          </a:xfrm>
          <a:prstGeom prst="rightArrow">
            <a:avLst/>
          </a:prstGeom>
          <a:solidFill>
            <a:srgbClr val="B5A99A"/>
          </a:solidFill>
          <a:ln>
            <a:noFill/>
          </a:ln>
        </p:spPr>
        <p:txBody>
          <a:bodyPr/>
          <a:lstStyle/>
          <a:p>
            <a:endParaRPr lang="ja-JP"/>
          </a:p>
        </p:txBody>
      </p:sp>
      <p:sp>
        <p:nvSpPr>
          <p:cNvPr id="40" name="Note"/>
          <p:cNvSpPr txBox="1"/>
          <p:nvPr/>
        </p:nvSpPr>
        <p:spPr>
          <a:xfrm>
            <a:off x="609600" y="3886200"/>
            <a:ext cx="10972800" cy="609600"/>
          </a:xfrm>
          <a:prstGeom prst="rect">
            <a:avLst/>
          </a:prstGeom>
          <a:solidFill>
            <a:srgbClr val="F2F0ED"/>
          </a:solidFill>
          <a:ln>
            <a:noFill/>
          </a:ln>
        </p:spPr>
        <p:txBody>
          <a:bodyPr wrap="square" lIns="144000" tIns="72000" rIns="144000" bIns="72000" anchor="ctr"/>
          <a:lstStyle/>
          <a:p>
            <a:pPr>
              <a:buNone/>
            </a:pPr>
            <a:r>
              <a:rPr lang="ja-JP" sz="1200" dirty="0">
                <a:solidFill>
                  <a:srgbClr val="4A4A4A"/>
                </a:solidFill>
                <a:latin typeface="BIZ UDPGothic"/>
                <a:ea typeface="BIZ UDPGothic"/>
              </a:rPr>
              <a:t>※ 本フェーズは初期分析案件であり、制度改定や自動意思決定導入ではなく、業務判断のための客観的材料を整備する位置づけである。</a:t>
            </a:r>
          </a:p>
        </p:txBody>
      </p:sp>
      <p:sp>
        <p:nvSpPr>
          <p:cNvPr id="3" name="テキスト ボックス 2">
            <a:extLst>
              <a:ext uri="{FF2B5EF4-FFF2-40B4-BE49-F238E27FC236}">
                <a16:creationId xmlns:a16="http://schemas.microsoft.com/office/drawing/2014/main" id="{8C5B18B1-0A19-4933-B37B-DC48CBBAF05C}"/>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3</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4188678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A66C6A-37B8-30AD-715F-3F88DA999852}"/>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3. </a:t>
            </a:r>
            <a:r>
              <a:rPr kumimoji="1" lang="ja-JP" altLang="en-US" sz="3200" b="1">
                <a:latin typeface="BIZ UDPGothic"/>
                <a:ea typeface="BIZ UDPGothic"/>
              </a:rPr>
              <a:t>スコープ</a:t>
            </a:r>
          </a:p>
        </p:txBody>
      </p:sp>
      <p:sp>
        <p:nvSpPr>
          <p:cNvPr id="10" name="InScope"/>
          <p:cNvSpPr txBox="1"/>
          <p:nvPr/>
        </p:nvSpPr>
        <p:spPr>
          <a:xfrm>
            <a:off x="609600" y="1143000"/>
            <a:ext cx="5334000" cy="4114800"/>
          </a:xfrm>
          <a:prstGeom prst="roundRect">
            <a:avLst>
              <a:gd name="adj" fmla="val 3000"/>
            </a:avLst>
          </a:prstGeom>
          <a:solidFill>
            <a:srgbClr val="3D3D3D"/>
          </a:solidFill>
          <a:ln>
            <a:noFill/>
          </a:ln>
        </p:spPr>
        <p:txBody>
          <a:bodyPr wrap="square" lIns="144000" tIns="108000" rIns="144000" bIns="108000" anchor="t"/>
          <a:lstStyle/>
          <a:p>
            <a:pPr>
              <a:buNone/>
            </a:pPr>
            <a:r>
              <a:rPr lang="ja-JP" sz="1600" b="1" dirty="0">
                <a:solidFill>
                  <a:srgbClr val="FFFFFF"/>
                </a:solidFill>
                <a:latin typeface="BIZ UDPGothic"/>
                <a:ea typeface="BIZ UDPGothic"/>
              </a:rPr>
              <a:t>✓ 実施対象</a:t>
            </a:r>
          </a:p>
          <a:p>
            <a:pPr marL="228600" indent="-228600">
              <a:spcBef>
                <a:spcPts val="200"/>
              </a:spcBef>
              <a:buFont typeface="Arial"/>
              <a:buChar char="●"/>
            </a:pPr>
            <a:r>
              <a:rPr lang="ja-JP" sz="1100" dirty="0">
                <a:solidFill>
                  <a:srgbClr val="FFFFFF"/>
                </a:solidFill>
                <a:latin typeface="BIZ UDPGothic"/>
                <a:ea typeface="BIZ UDPGothic"/>
              </a:rPr>
              <a:t>train.csv およびカラム説明.md の確認</a:t>
            </a:r>
          </a:p>
          <a:p>
            <a:pPr marL="228600" indent="-228600">
              <a:spcBef>
                <a:spcPts val="200"/>
              </a:spcBef>
              <a:buFont typeface="Arial"/>
              <a:buChar char="●"/>
            </a:pPr>
            <a:r>
              <a:rPr lang="ja-JP" sz="1100" dirty="0">
                <a:solidFill>
                  <a:srgbClr val="FFFFFF"/>
                </a:solidFill>
                <a:latin typeface="BIZ UDPGothic"/>
                <a:ea typeface="BIZ UDPGothic"/>
              </a:rPr>
              <a:t>データ理解、品質・欠損・カテゴリ分布確認</a:t>
            </a:r>
          </a:p>
          <a:p>
            <a:pPr marL="228600" indent="-228600">
              <a:spcBef>
                <a:spcPts val="200"/>
              </a:spcBef>
              <a:buFont typeface="Arial"/>
              <a:buChar char="●"/>
            </a:pPr>
            <a:r>
              <a:rPr lang="ja-JP" sz="1100" dirty="0">
                <a:solidFill>
                  <a:srgbClr val="FFFFFF"/>
                </a:solidFill>
                <a:latin typeface="BIZ UDPGothic"/>
                <a:ea typeface="BIZ UDPGothic"/>
              </a:rPr>
              <a:t>多クラス分類としての分析設計</a:t>
            </a:r>
          </a:p>
          <a:p>
            <a:pPr marL="228600" indent="-228600">
              <a:spcBef>
                <a:spcPts val="200"/>
              </a:spcBef>
              <a:buFont typeface="Arial"/>
              <a:buChar char="●"/>
            </a:pPr>
            <a:r>
              <a:rPr lang="ja-JP" sz="1100" dirty="0">
                <a:solidFill>
                  <a:srgbClr val="FFFFFF"/>
                </a:solidFill>
                <a:latin typeface="BIZ UDPGothic"/>
                <a:ea typeface="BIZ UDPGothic"/>
              </a:rPr>
              <a:t>前処理方針の策定と標準実装</a:t>
            </a:r>
          </a:p>
          <a:p>
            <a:pPr marL="228600" indent="-228600">
              <a:spcBef>
                <a:spcPts val="200"/>
              </a:spcBef>
              <a:buFont typeface="Arial"/>
              <a:buChar char="●"/>
            </a:pPr>
            <a:r>
              <a:rPr lang="ja-JP" sz="1100" dirty="0">
                <a:solidFill>
                  <a:srgbClr val="FFFFFF"/>
                </a:solidFill>
                <a:latin typeface="BIZ UDPGothic"/>
                <a:ea typeface="BIZ UDPGothic"/>
              </a:rPr>
              <a:t>ベースライン分析および初期モデル構築</a:t>
            </a:r>
          </a:p>
          <a:p>
            <a:pPr marL="228600" indent="-228600">
              <a:spcBef>
                <a:spcPts val="200"/>
              </a:spcBef>
              <a:buFont typeface="Arial"/>
              <a:buChar char="●"/>
            </a:pPr>
            <a:r>
              <a:rPr lang="ja-JP" sz="1100" dirty="0">
                <a:solidFill>
                  <a:srgbClr val="FFFFFF"/>
                </a:solidFill>
                <a:latin typeface="BIZ UDPGothic"/>
                <a:ea typeface="BIZ UDPGothic"/>
              </a:rPr>
              <a:t>評価指標による性能評価</a:t>
            </a:r>
          </a:p>
          <a:p>
            <a:pPr marL="228600" indent="-228600">
              <a:spcBef>
                <a:spcPts val="200"/>
              </a:spcBef>
              <a:buFont typeface="Arial"/>
              <a:buChar char="●"/>
            </a:pPr>
            <a:r>
              <a:rPr lang="ja-JP" sz="1100" dirty="0">
                <a:solidFill>
                  <a:srgbClr val="FFFFFF"/>
                </a:solidFill>
                <a:latin typeface="BIZ UDPGothic"/>
                <a:ea typeface="BIZ UDPGothic"/>
              </a:rPr>
              <a:t>変数重要度・寄与傾向・カテゴリ影響の可視化</a:t>
            </a:r>
          </a:p>
          <a:p>
            <a:pPr marL="228600" indent="-228600">
              <a:spcBef>
                <a:spcPts val="200"/>
              </a:spcBef>
              <a:buFont typeface="Arial"/>
              <a:buChar char="●"/>
            </a:pPr>
            <a:r>
              <a:rPr lang="ja-JP" sz="1100" dirty="0">
                <a:solidFill>
                  <a:srgbClr val="FFFFFF"/>
                </a:solidFill>
                <a:latin typeface="BIZ UDPGothic"/>
                <a:ea typeface="BIZ UDPGothic"/>
              </a:rPr>
              <a:t>センシティブ属性別の分布差・性能差の初期確認</a:t>
            </a:r>
          </a:p>
          <a:p>
            <a:pPr marL="228600" indent="-228600">
              <a:spcBef>
                <a:spcPts val="200"/>
              </a:spcBef>
              <a:buFont typeface="Arial"/>
              <a:buChar char="●"/>
            </a:pPr>
            <a:r>
              <a:rPr lang="ja-JP" sz="1100" dirty="0">
                <a:solidFill>
                  <a:srgbClr val="FFFFFF"/>
                </a:solidFill>
                <a:latin typeface="BIZ UDPGothic"/>
                <a:ea typeface="BIZ UDPGothic"/>
              </a:rPr>
              <a:t>中間報告および最終報告</a:t>
            </a:r>
          </a:p>
          <a:p>
            <a:pPr marL="228600" indent="-228600">
              <a:spcBef>
                <a:spcPts val="200"/>
              </a:spcBef>
              <a:buFont typeface="Arial"/>
              <a:buChar char="●"/>
            </a:pPr>
            <a:r>
              <a:rPr lang="ja-JP" sz="1100" dirty="0">
                <a:solidFill>
                  <a:srgbClr val="FFFFFF"/>
                </a:solidFill>
                <a:latin typeface="BIZ UDPGothic"/>
                <a:ea typeface="BIZ UDPGothic"/>
              </a:rPr>
              <a:t>次フェーズに向けた改善論点の整理</a:t>
            </a:r>
          </a:p>
        </p:txBody>
      </p:sp>
      <p:sp>
        <p:nvSpPr>
          <p:cNvPr id="11" name="OutScope"/>
          <p:cNvSpPr txBox="1"/>
          <p:nvPr/>
        </p:nvSpPr>
        <p:spPr>
          <a:xfrm>
            <a:off x="6096000" y="1143000"/>
            <a:ext cx="5486400" cy="4114800"/>
          </a:xfrm>
          <a:prstGeom prst="roundRect">
            <a:avLst>
              <a:gd name="adj" fmla="val 3000"/>
            </a:avLst>
          </a:prstGeom>
          <a:solidFill>
            <a:srgbClr val="F2F0ED"/>
          </a:solidFill>
          <a:ln w="12700">
            <a:solidFill>
              <a:srgbClr val="D9D0C7"/>
            </a:solidFill>
          </a:ln>
        </p:spPr>
        <p:txBody>
          <a:bodyPr wrap="square" lIns="144000" tIns="108000" rIns="144000" bIns="108000" anchor="t"/>
          <a:lstStyle/>
          <a:p>
            <a:pPr>
              <a:buNone/>
            </a:pPr>
            <a:r>
              <a:rPr lang="ja-JP" sz="1600" b="1" dirty="0">
                <a:solidFill>
                  <a:srgbClr val="A23B2C"/>
                </a:solidFill>
                <a:latin typeface="BIZ UDPGothic"/>
                <a:ea typeface="BIZ UDPGothic"/>
              </a:rPr>
              <a:t>✗ 実施対象外</a:t>
            </a:r>
          </a:p>
          <a:p>
            <a:pPr marL="228600" indent="-228600">
              <a:spcBef>
                <a:spcPts val="200"/>
              </a:spcBef>
              <a:buFont typeface="Arial"/>
              <a:buChar char="○"/>
            </a:pPr>
            <a:r>
              <a:rPr lang="ja-JP" sz="1100" dirty="0">
                <a:solidFill>
                  <a:srgbClr val="3D3D3D"/>
                </a:solidFill>
                <a:latin typeface="BIZ UDPGothic"/>
                <a:ea typeface="BIZ UDPGothic"/>
              </a:rPr>
              <a:t>本データに含まれない項目の追加収集</a:t>
            </a:r>
          </a:p>
          <a:p>
            <a:pPr marL="228600" indent="-228600">
              <a:spcBef>
                <a:spcPts val="200"/>
              </a:spcBef>
              <a:buFont typeface="Arial"/>
              <a:buChar char="○"/>
            </a:pPr>
            <a:r>
              <a:rPr lang="ja-JP" sz="1100" dirty="0">
                <a:solidFill>
                  <a:srgbClr val="3D3D3D"/>
                </a:solidFill>
                <a:latin typeface="BIZ UDPGothic"/>
                <a:ea typeface="BIZ UDPGothic"/>
              </a:rPr>
              <a:t>本番システム実装、API化、ダッシュボード本番運用</a:t>
            </a:r>
          </a:p>
          <a:p>
            <a:pPr marL="228600" indent="-228600">
              <a:spcBef>
                <a:spcPts val="200"/>
              </a:spcBef>
              <a:buFont typeface="Arial"/>
              <a:buChar char="○"/>
            </a:pPr>
            <a:r>
              <a:rPr lang="ja-JP" sz="1100" dirty="0">
                <a:solidFill>
                  <a:srgbClr val="3D3D3D"/>
                </a:solidFill>
                <a:latin typeface="BIZ UDPGothic"/>
                <a:ea typeface="BIZ UDPGothic"/>
              </a:rPr>
              <a:t>採用・配置・昇給の自動意思決定ロジック導入</a:t>
            </a:r>
          </a:p>
          <a:p>
            <a:pPr marL="228600" indent="-228600">
              <a:spcBef>
                <a:spcPts val="200"/>
              </a:spcBef>
              <a:buFont typeface="Arial"/>
              <a:buChar char="○"/>
            </a:pPr>
            <a:r>
              <a:rPr lang="ja-JP" sz="1100" dirty="0">
                <a:solidFill>
                  <a:srgbClr val="3D3D3D"/>
                </a:solidFill>
                <a:latin typeface="BIZ UDPGothic"/>
                <a:ea typeface="BIZ UDPGothic"/>
              </a:rPr>
              <a:t>離職予測モデルの構築</a:t>
            </a:r>
          </a:p>
          <a:p>
            <a:pPr marL="228600" indent="-228600">
              <a:spcBef>
                <a:spcPts val="200"/>
              </a:spcBef>
              <a:buFont typeface="Arial"/>
              <a:buChar char="○"/>
            </a:pPr>
            <a:r>
              <a:rPr lang="ja-JP" sz="1100" dirty="0">
                <a:solidFill>
                  <a:srgbClr val="3D3D3D"/>
                </a:solidFill>
                <a:latin typeface="BIZ UDPGothic"/>
                <a:ea typeface="BIZ UDPGothic"/>
              </a:rPr>
              <a:t>turnover rate、retention rate等の実測算出</a:t>
            </a:r>
          </a:p>
          <a:p>
            <a:pPr marL="228600" indent="-228600">
              <a:spcBef>
                <a:spcPts val="200"/>
              </a:spcBef>
              <a:buFont typeface="Arial"/>
              <a:buChar char="○"/>
            </a:pPr>
            <a:r>
              <a:rPr lang="ja-JP" sz="1100" dirty="0">
                <a:solidFill>
                  <a:srgbClr val="3D3D3D"/>
                </a:solidFill>
                <a:latin typeface="BIZ UDPGothic"/>
                <a:ea typeface="BIZ UDPGothic"/>
              </a:rPr>
              <a:t>個人別の報酬妥当性を断定する判定</a:t>
            </a:r>
          </a:p>
          <a:p>
            <a:pPr marL="228600" indent="-228600">
              <a:spcBef>
                <a:spcPts val="200"/>
              </a:spcBef>
              <a:buFont typeface="Arial"/>
              <a:buChar char="○"/>
            </a:pPr>
            <a:r>
              <a:rPr lang="ja-JP" sz="1100" dirty="0">
                <a:solidFill>
                  <a:srgbClr val="3D3D3D"/>
                </a:solidFill>
                <a:latin typeface="BIZ UDPGothic"/>
                <a:ea typeface="BIZ UDPGothic"/>
              </a:rPr>
              <a:t>法務判断、人事制度改定そのもの</a:t>
            </a:r>
          </a:p>
          <a:p>
            <a:pPr marL="228600" indent="-228600">
              <a:spcBef>
                <a:spcPts val="200"/>
              </a:spcBef>
              <a:buFont typeface="Arial"/>
              <a:buChar char="○"/>
            </a:pPr>
            <a:r>
              <a:rPr lang="ja-JP" sz="1100" dirty="0">
                <a:solidFill>
                  <a:srgbClr val="3D3D3D"/>
                </a:solidFill>
                <a:latin typeface="BIZ UDPGothic"/>
                <a:ea typeface="BIZ UDPGothic"/>
              </a:rPr>
              <a:t>target定義の再設計</a:t>
            </a:r>
          </a:p>
          <a:p>
            <a:pPr marL="228600" indent="-228600">
              <a:spcBef>
                <a:spcPts val="200"/>
              </a:spcBef>
              <a:buFont typeface="Arial"/>
              <a:buChar char="○"/>
            </a:pPr>
            <a:r>
              <a:rPr lang="ja-JP" sz="1100" dirty="0">
                <a:solidFill>
                  <a:srgbClr val="3D3D3D"/>
                </a:solidFill>
                <a:latin typeface="BIZ UDPGothic"/>
                <a:ea typeface="BIZ UDPGothic"/>
              </a:rPr>
              <a:t>想定工数170時間を超える追加分析</a:t>
            </a:r>
          </a:p>
        </p:txBody>
      </p:sp>
      <p:sp>
        <p:nvSpPr>
          <p:cNvPr id="12" name="Goal"/>
          <p:cNvSpPr txBox="1"/>
          <p:nvPr/>
        </p:nvSpPr>
        <p:spPr>
          <a:xfrm>
            <a:off x="609600" y="5410200"/>
            <a:ext cx="10972800" cy="457200"/>
          </a:xfrm>
          <a:prstGeom prst="rect">
            <a:avLst/>
          </a:prstGeom>
          <a:noFill/>
          <a:ln>
            <a:noFill/>
          </a:ln>
        </p:spPr>
        <p:txBody>
          <a:bodyPr wrap="square" lIns="144000" tIns="36000" rIns="144000" bIns="36000" anchor="ctr"/>
          <a:lstStyle/>
          <a:p>
            <a:pPr algn="ctr">
              <a:buNone/>
            </a:pPr>
            <a:r>
              <a:rPr lang="ja-JP" sz="1400" b="1" dirty="0">
                <a:solidFill>
                  <a:srgbClr val="A23B2C"/>
                </a:solidFill>
                <a:latin typeface="BIZ UDPGothic"/>
                <a:ea typeface="BIZ UDPGothic"/>
              </a:rPr>
              <a:t>到達点：</a:t>
            </a:r>
            <a:r>
              <a:rPr lang="ja-JP" sz="1400" dirty="0">
                <a:solidFill>
                  <a:srgbClr val="3D3D3D"/>
                </a:solidFill>
                <a:latin typeface="BIZ UDPGothic"/>
                <a:ea typeface="BIZ UDPGothic"/>
              </a:rPr>
              <a:t>収入クラス予測の初期分析と業務示唆の提示 ｜ 業務運用への実装・制度反映・高度化は後続フェーズとして切り分け</a:t>
            </a:r>
          </a:p>
        </p:txBody>
      </p:sp>
      <p:sp>
        <p:nvSpPr>
          <p:cNvPr id="3" name="テキスト ボックス 2">
            <a:extLst>
              <a:ext uri="{FF2B5EF4-FFF2-40B4-BE49-F238E27FC236}">
                <a16:creationId xmlns:a16="http://schemas.microsoft.com/office/drawing/2014/main" id="{EF3316EB-6A5B-4FB0-AAF9-8822BCA79F68}"/>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4</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504511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FB6755-8AA1-EC05-DEB1-EDF8E32DB793}"/>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4. </a:t>
            </a:r>
            <a:r>
              <a:rPr kumimoji="1" lang="ja-JP" altLang="en-US" sz="3200" b="1">
                <a:latin typeface="BIZ UDPGothic"/>
                <a:ea typeface="BIZ UDPGothic"/>
              </a:rPr>
              <a:t>分析アプローチ：全体方針</a:t>
            </a:r>
          </a:p>
        </p:txBody>
      </p:sp>
      <p:sp>
        <p:nvSpPr>
          <p:cNvPr id="10" name="Policy0"/>
          <p:cNvSpPr txBox="1"/>
          <p:nvPr/>
        </p:nvSpPr>
        <p:spPr>
          <a:xfrm>
            <a:off x="609600" y="1143000"/>
            <a:ext cx="5334000" cy="1371600"/>
          </a:xfrm>
          <a:prstGeom prst="roundRect">
            <a:avLst>
              <a:gd name="adj" fmla="val 5000"/>
            </a:avLst>
          </a:prstGeom>
          <a:solidFill>
            <a:srgbClr val="FAFAFA"/>
          </a:solidFill>
          <a:ln w="12700">
            <a:solidFill>
              <a:srgbClr val="D9D0C7"/>
            </a:solidFill>
          </a:ln>
        </p:spPr>
        <p:txBody>
          <a:bodyPr wrap="square" lIns="180000" tIns="108000" rIns="180000" bIns="108000" anchor="ctr"/>
          <a:lstStyle/>
          <a:p>
            <a:pPr>
              <a:buNone/>
            </a:pPr>
            <a:r>
              <a:rPr lang="ja-JP" sz="1200" b="1" dirty="0">
                <a:solidFill>
                  <a:srgbClr val="A23B2C"/>
                </a:solidFill>
                <a:latin typeface="BIZ UDPGothic"/>
                <a:ea typeface="BIZ UDPGothic"/>
              </a:rPr>
              <a:t>01</a:t>
            </a:r>
            <a:r>
              <a:rPr lang="ja-JP" sz="1200" dirty="0">
                <a:solidFill>
                  <a:srgbClr val="A23B2C"/>
                </a:solidFill>
                <a:latin typeface="BIZ UDPGothic"/>
                <a:ea typeface="BIZ UDPGothic"/>
              </a:rPr>
              <a:t>  </a:t>
            </a:r>
            <a:r>
              <a:rPr lang="ja-JP" sz="1800" b="1" dirty="0">
                <a:solidFill>
                  <a:srgbClr val="2D2D2D"/>
                </a:solidFill>
                <a:latin typeface="BIZ UDPGothic"/>
                <a:ea typeface="BIZ UDPGothic"/>
              </a:rPr>
              <a:t>データ定義優先</a:t>
            </a:r>
          </a:p>
          <a:p>
            <a:pPr>
              <a:buNone/>
            </a:pPr>
            <a:r>
              <a:rPr lang="ja-JP" sz="1200" dirty="0">
                <a:solidFill>
                  <a:srgbClr val="4A4A4A"/>
                </a:solidFill>
                <a:latin typeface="BIZ UDPGothic"/>
                <a:ea typeface="BIZ UDPGothic"/>
              </a:rPr>
              <a:t>カラム説明.mdの定義を正とし、独自の再定義は行わない。targetの上位クラス定義に重複が見える点は、原定義を維持したうえで解釈上の注意事項として明示する。</a:t>
            </a:r>
          </a:p>
        </p:txBody>
      </p:sp>
      <p:sp>
        <p:nvSpPr>
          <p:cNvPr id="11" name="Policy1"/>
          <p:cNvSpPr txBox="1"/>
          <p:nvPr/>
        </p:nvSpPr>
        <p:spPr>
          <a:xfrm>
            <a:off x="6096000" y="1143000"/>
            <a:ext cx="5334000" cy="1371600"/>
          </a:xfrm>
          <a:prstGeom prst="roundRect">
            <a:avLst>
              <a:gd name="adj" fmla="val 5000"/>
            </a:avLst>
          </a:prstGeom>
          <a:solidFill>
            <a:srgbClr val="FAFAFA"/>
          </a:solidFill>
          <a:ln w="12700">
            <a:solidFill>
              <a:srgbClr val="D9D0C7"/>
            </a:solidFill>
          </a:ln>
        </p:spPr>
        <p:txBody>
          <a:bodyPr wrap="square" lIns="180000" tIns="108000" rIns="180000" bIns="108000" anchor="ctr"/>
          <a:lstStyle/>
          <a:p>
            <a:pPr>
              <a:buNone/>
            </a:pPr>
            <a:r>
              <a:rPr lang="ja-JP" sz="1200" b="1" dirty="0">
                <a:solidFill>
                  <a:srgbClr val="A23B2C"/>
                </a:solidFill>
                <a:latin typeface="BIZ UDPGothic"/>
                <a:ea typeface="BIZ UDPGothic"/>
              </a:rPr>
              <a:t>02</a:t>
            </a:r>
            <a:r>
              <a:rPr lang="ja-JP" sz="1200" dirty="0">
                <a:solidFill>
                  <a:srgbClr val="A23B2C"/>
                </a:solidFill>
                <a:latin typeface="BIZ UDPGothic"/>
                <a:ea typeface="BIZ UDPGothic"/>
              </a:rPr>
              <a:t>  </a:t>
            </a:r>
            <a:r>
              <a:rPr lang="ja-JP" sz="1800" b="1" dirty="0">
                <a:solidFill>
                  <a:srgbClr val="2D2D2D"/>
                </a:solidFill>
                <a:latin typeface="BIZ UDPGothic"/>
                <a:ea typeface="BIZ UDPGothic"/>
              </a:rPr>
              <a:t>説明可能性重視</a:t>
            </a:r>
          </a:p>
          <a:p>
            <a:pPr>
              <a:buNone/>
            </a:pPr>
            <a:r>
              <a:rPr lang="ja-JP" sz="1200" dirty="0">
                <a:solidFill>
                  <a:srgbClr val="4A4A4A"/>
                </a:solidFill>
                <a:latin typeface="BIZ UDPGothic"/>
                <a:ea typeface="BIZ UDPGothic"/>
              </a:rPr>
              <a:t>精度のみを目的とせず、業務説明しやすいモデル・評価軸・可視化を優先する。</a:t>
            </a:r>
          </a:p>
        </p:txBody>
      </p:sp>
      <p:sp>
        <p:nvSpPr>
          <p:cNvPr id="12" name="Policy2"/>
          <p:cNvSpPr txBox="1"/>
          <p:nvPr/>
        </p:nvSpPr>
        <p:spPr>
          <a:xfrm>
            <a:off x="609600" y="2667000"/>
            <a:ext cx="5334000" cy="1371600"/>
          </a:xfrm>
          <a:prstGeom prst="roundRect">
            <a:avLst>
              <a:gd name="adj" fmla="val 5000"/>
            </a:avLst>
          </a:prstGeom>
          <a:solidFill>
            <a:srgbClr val="FAFAFA"/>
          </a:solidFill>
          <a:ln w="12700">
            <a:solidFill>
              <a:srgbClr val="D9D0C7"/>
            </a:solidFill>
          </a:ln>
        </p:spPr>
        <p:txBody>
          <a:bodyPr wrap="square" lIns="180000" tIns="108000" rIns="180000" bIns="108000" anchor="ctr"/>
          <a:lstStyle/>
          <a:p>
            <a:pPr>
              <a:buNone/>
            </a:pPr>
            <a:r>
              <a:rPr lang="ja-JP" sz="1200" b="1" dirty="0">
                <a:solidFill>
                  <a:srgbClr val="A23B2C"/>
                </a:solidFill>
                <a:latin typeface="BIZ UDPGothic"/>
                <a:ea typeface="BIZ UDPGothic"/>
              </a:rPr>
              <a:t>03</a:t>
            </a:r>
            <a:r>
              <a:rPr lang="ja-JP" sz="1200" dirty="0">
                <a:solidFill>
                  <a:srgbClr val="A23B2C"/>
                </a:solidFill>
                <a:latin typeface="BIZ UDPGothic"/>
                <a:ea typeface="BIZ UDPGothic"/>
              </a:rPr>
              <a:t>  </a:t>
            </a:r>
            <a:r>
              <a:rPr lang="ja-JP" sz="1800" b="1" dirty="0">
                <a:solidFill>
                  <a:srgbClr val="2D2D2D"/>
                </a:solidFill>
                <a:latin typeface="BIZ UDPGothic"/>
                <a:ea typeface="BIZ UDPGothic"/>
              </a:rPr>
              <a:t>公平性配慮</a:t>
            </a:r>
          </a:p>
          <a:p>
            <a:pPr>
              <a:buNone/>
            </a:pPr>
            <a:r>
              <a:rPr lang="ja-JP" sz="1200" dirty="0">
                <a:solidFill>
                  <a:srgbClr val="4A4A4A"/>
                </a:solidFill>
                <a:latin typeface="BIZ UDPGothic"/>
                <a:ea typeface="BIZ UDPGothic"/>
              </a:rPr>
              <a:t>センシティブ属性は分析対象に含めるが、差別的解釈を避け、観測データ上の分布差・予測差として記述する。</a:t>
            </a:r>
          </a:p>
        </p:txBody>
      </p:sp>
      <p:sp>
        <p:nvSpPr>
          <p:cNvPr id="13" name="Policy3"/>
          <p:cNvSpPr txBox="1"/>
          <p:nvPr/>
        </p:nvSpPr>
        <p:spPr>
          <a:xfrm>
            <a:off x="6096000" y="2667000"/>
            <a:ext cx="5334000" cy="1371600"/>
          </a:xfrm>
          <a:prstGeom prst="roundRect">
            <a:avLst>
              <a:gd name="adj" fmla="val 5000"/>
            </a:avLst>
          </a:prstGeom>
          <a:solidFill>
            <a:srgbClr val="FAFAFA"/>
          </a:solidFill>
          <a:ln w="12700">
            <a:solidFill>
              <a:srgbClr val="D9D0C7"/>
            </a:solidFill>
          </a:ln>
        </p:spPr>
        <p:txBody>
          <a:bodyPr wrap="square" lIns="180000" tIns="108000" rIns="180000" bIns="108000" anchor="ctr"/>
          <a:lstStyle/>
          <a:p>
            <a:pPr>
              <a:buNone/>
            </a:pPr>
            <a:r>
              <a:rPr lang="ja-JP" sz="1200" b="1" dirty="0">
                <a:solidFill>
                  <a:srgbClr val="A23B2C"/>
                </a:solidFill>
                <a:latin typeface="BIZ UDPGothic"/>
                <a:ea typeface="BIZ UDPGothic"/>
              </a:rPr>
              <a:t>04</a:t>
            </a:r>
            <a:r>
              <a:rPr lang="ja-JP" sz="1200" dirty="0">
                <a:solidFill>
                  <a:srgbClr val="A23B2C"/>
                </a:solidFill>
                <a:latin typeface="BIZ UDPGothic"/>
                <a:ea typeface="BIZ UDPGothic"/>
              </a:rPr>
              <a:t>  </a:t>
            </a:r>
            <a:r>
              <a:rPr lang="ja-JP" sz="1800" b="1" dirty="0">
                <a:solidFill>
                  <a:srgbClr val="2D2D2D"/>
                </a:solidFill>
                <a:latin typeface="BIZ UDPGothic"/>
                <a:ea typeface="BIZ UDPGothic"/>
              </a:rPr>
              <a:t>短期反復型推進</a:t>
            </a:r>
          </a:p>
          <a:p>
            <a:pPr>
              <a:buNone/>
            </a:pPr>
            <a:r>
              <a:rPr lang="ja-JP" sz="1200" dirty="0">
                <a:solidFill>
                  <a:srgbClr val="4A4A4A"/>
                </a:solidFill>
                <a:latin typeface="BIZ UDPGothic"/>
                <a:ea typeface="BIZ UDPGothic"/>
              </a:rPr>
              <a:t>6週間の中で、探索→初期モデル→中間レビュー→最終化のサイクルで進める。</a:t>
            </a:r>
          </a:p>
        </p:txBody>
      </p:sp>
      <p:sp>
        <p:nvSpPr>
          <p:cNvPr id="20" name="Summary"/>
          <p:cNvSpPr txBox="1"/>
          <p:nvPr/>
        </p:nvSpPr>
        <p:spPr>
          <a:xfrm>
            <a:off x="609600" y="4038600"/>
            <a:ext cx="10972800" cy="1524000"/>
          </a:xfrm>
          <a:prstGeom prst="roundRect">
            <a:avLst>
              <a:gd name="adj" fmla="val 3000"/>
            </a:avLst>
          </a:prstGeom>
          <a:solidFill>
            <a:srgbClr val="F2F0ED"/>
          </a:solidFill>
          <a:ln>
            <a:noFill/>
          </a:ln>
        </p:spPr>
        <p:txBody>
          <a:bodyPr wrap="square" lIns="180000" tIns="108000" rIns="180000" bIns="108000" anchor="ctr"/>
          <a:lstStyle/>
          <a:p>
            <a:pPr>
              <a:buNone/>
            </a:pPr>
            <a:r>
              <a:rPr lang="ja-JP" sz="1400" b="1" dirty="0">
                <a:solidFill>
                  <a:srgbClr val="A23B2C"/>
                </a:solidFill>
                <a:latin typeface="BIZ UDPGothic"/>
                <a:ea typeface="BIZ UDPGothic"/>
              </a:rPr>
              <a:t>評価観点</a:t>
            </a:r>
          </a:p>
          <a:p>
            <a:pPr>
              <a:buNone/>
            </a:pPr>
            <a:r>
              <a:rPr lang="ja-JP" sz="1200" dirty="0">
                <a:solidFill>
                  <a:srgbClr val="3D3D3D"/>
                </a:solidFill>
                <a:latin typeface="BIZ UDPGothic"/>
                <a:ea typeface="BIZ UDPGothic"/>
              </a:rPr>
              <a:t>主指標候補：Macro F1  ｜  補助指標候補：Accuracy、Weighted F1、混同行列</a:t>
            </a:r>
          </a:p>
          <a:p>
            <a:pPr>
              <a:buNone/>
            </a:pPr>
            <a:r>
              <a:rPr lang="ja-JP" sz="1100" i="1" dirty="0">
                <a:solidFill>
                  <a:srgbClr val="8C8C8C"/>
                </a:solidFill>
                <a:latin typeface="BIZ UDPGothic"/>
                <a:ea typeface="BIZ UDPGothic"/>
              </a:rPr>
              <a:t>※ 本案件では相関関係や予測上の関連を扱うものであり、制度上の因果を立証するものではない。</a:t>
            </a:r>
          </a:p>
        </p:txBody>
      </p:sp>
      <p:sp>
        <p:nvSpPr>
          <p:cNvPr id="3" name="テキスト ボックス 2">
            <a:extLst>
              <a:ext uri="{FF2B5EF4-FFF2-40B4-BE49-F238E27FC236}">
                <a16:creationId xmlns:a16="http://schemas.microsoft.com/office/drawing/2014/main" id="{941B3832-7A11-4395-B9A4-0020D2E3090D}"/>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5</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2562332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FBD5AB-2317-B964-4363-D3FF9F4CABAD}"/>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4. </a:t>
            </a:r>
            <a:r>
              <a:rPr kumimoji="1" lang="ja-JP" altLang="en-US" sz="3200" b="1">
                <a:latin typeface="BIZ UDPGothic"/>
                <a:ea typeface="BIZ UDPGothic"/>
              </a:rPr>
              <a:t>分析アプローチ：データ処理方針</a:t>
            </a:r>
          </a:p>
        </p:txBody>
      </p:sp>
      <p:sp>
        <p:nvSpPr>
          <p:cNvPr id="10" name="Step0"/>
          <p:cNvSpPr/>
          <p:nvPr/>
        </p:nvSpPr>
        <p:spPr>
          <a:xfrm>
            <a:off x="609600" y="1143000"/>
            <a:ext cx="1905000" cy="1371600"/>
          </a:xfrm>
          <a:prstGeom prst="roundRect">
            <a:avLst>
              <a:gd name="adj" fmla="val 8000"/>
            </a:avLst>
          </a:prstGeom>
          <a:solidFill>
            <a:srgbClr val="A23B2C"/>
          </a:solidFill>
          <a:ln w="12700">
            <a:solidFill>
              <a:srgbClr val="A23B2C"/>
            </a:solidFill>
          </a:ln>
        </p:spPr>
        <p:txBody>
          <a:bodyPr wrap="square" lIns="108000" tIns="72000" rIns="108000" bIns="72000" anchor="ctr"/>
          <a:lstStyle/>
          <a:p>
            <a:pPr algn="ctr">
              <a:buNone/>
            </a:pPr>
            <a:r>
              <a:rPr lang="ja-JP" sz="1000" b="1" dirty="0">
                <a:solidFill>
                  <a:srgbClr val="FFFFFF"/>
                </a:solidFill>
                <a:latin typeface="BIZ UDPGothic"/>
                <a:ea typeface="BIZ UDPGothic"/>
              </a:rPr>
              <a:t>STEP 1</a:t>
            </a:r>
          </a:p>
          <a:p>
            <a:pPr algn="ctr">
              <a:buNone/>
            </a:pPr>
            <a:r>
              <a:rPr lang="ja-JP" sz="1400" b="1" dirty="0">
                <a:solidFill>
                  <a:srgbClr val="FFFFFF"/>
                </a:solidFill>
                <a:latin typeface="BIZ UDPGothic"/>
                <a:ea typeface="BIZ UDPGothic"/>
              </a:rPr>
              <a:t>識別子除外</a:t>
            </a:r>
          </a:p>
          <a:p>
            <a:pPr algn="ctr">
              <a:buNone/>
            </a:pPr>
            <a:r>
              <a:rPr lang="ja-JP" sz="1100" dirty="0">
                <a:solidFill>
                  <a:srgbClr val="FFFFFF"/>
                </a:solidFill>
                <a:latin typeface="BIZ UDPGothic"/>
                <a:ea typeface="BIZ UDPGothic"/>
              </a:rPr>
              <a:t>id等の識別子列はモデリング対象から除外</a:t>
            </a:r>
          </a:p>
        </p:txBody>
      </p:sp>
      <p:sp>
        <p:nvSpPr>
          <p:cNvPr id="20" name="StepArrow0"/>
          <p:cNvSpPr/>
          <p:nvPr/>
        </p:nvSpPr>
        <p:spPr>
          <a:xfrm>
            <a:off x="2514600" y="1752600"/>
            <a:ext cx="152400" cy="152400"/>
          </a:xfrm>
          <a:prstGeom prst="rightArrow">
            <a:avLst/>
          </a:prstGeom>
          <a:solidFill>
            <a:srgbClr val="B5A99A"/>
          </a:solidFill>
          <a:ln>
            <a:noFill/>
          </a:ln>
        </p:spPr>
        <p:txBody>
          <a:bodyPr/>
          <a:lstStyle/>
          <a:p>
            <a:endParaRPr lang="ja-JP"/>
          </a:p>
        </p:txBody>
      </p:sp>
      <p:sp>
        <p:nvSpPr>
          <p:cNvPr id="11" name="Step1"/>
          <p:cNvSpPr/>
          <p:nvPr/>
        </p:nvSpPr>
        <p:spPr>
          <a:xfrm>
            <a:off x="2667000" y="1143000"/>
            <a:ext cx="1905000" cy="1371600"/>
          </a:xfrm>
          <a:prstGeom prst="roundRect">
            <a:avLst>
              <a:gd name="adj" fmla="val 8000"/>
            </a:avLst>
          </a:prstGeom>
          <a:solidFill>
            <a:srgbClr val="FAFAFA"/>
          </a:solidFill>
          <a:ln w="12700">
            <a:solidFill>
              <a:srgbClr val="D9D0C7"/>
            </a:solidFill>
          </a:ln>
        </p:spPr>
        <p:txBody>
          <a:bodyPr wrap="square" lIns="108000" tIns="72000" rIns="108000" bIns="72000" anchor="ctr"/>
          <a:lstStyle/>
          <a:p>
            <a:pPr algn="ctr">
              <a:buNone/>
            </a:pPr>
            <a:r>
              <a:rPr lang="ja-JP" sz="1000" b="1" dirty="0">
                <a:solidFill>
                  <a:srgbClr val="A23B2C"/>
                </a:solidFill>
                <a:latin typeface="BIZ UDPGothic"/>
                <a:ea typeface="BIZ UDPGothic"/>
              </a:rPr>
              <a:t>STEP 2</a:t>
            </a:r>
          </a:p>
          <a:p>
            <a:pPr algn="ctr">
              <a:buNone/>
            </a:pPr>
            <a:r>
              <a:rPr lang="ja-JP" sz="1400" b="1" dirty="0">
                <a:solidFill>
                  <a:srgbClr val="2D2D2D"/>
                </a:solidFill>
                <a:latin typeface="BIZ UDPGothic"/>
                <a:ea typeface="BIZ UDPGothic"/>
              </a:rPr>
              <a:t>数値欠損処理</a:t>
            </a:r>
          </a:p>
          <a:p>
            <a:pPr algn="ctr">
              <a:buNone/>
            </a:pPr>
            <a:r>
              <a:rPr lang="ja-JP" sz="1100" dirty="0">
                <a:solidFill>
                  <a:srgbClr val="4A4A4A"/>
                </a:solidFill>
                <a:latin typeface="BIZ UDPGothic"/>
                <a:ea typeface="BIZ UDPGothic"/>
              </a:rPr>
              <a:t>中央値補完を適用</a:t>
            </a:r>
          </a:p>
        </p:txBody>
      </p:sp>
      <p:sp>
        <p:nvSpPr>
          <p:cNvPr id="21" name="StepArrow1"/>
          <p:cNvSpPr/>
          <p:nvPr/>
        </p:nvSpPr>
        <p:spPr>
          <a:xfrm>
            <a:off x="4572000" y="1752600"/>
            <a:ext cx="152400" cy="152400"/>
          </a:xfrm>
          <a:prstGeom prst="rightArrow">
            <a:avLst/>
          </a:prstGeom>
          <a:solidFill>
            <a:srgbClr val="B5A99A"/>
          </a:solidFill>
          <a:ln>
            <a:noFill/>
          </a:ln>
        </p:spPr>
        <p:txBody>
          <a:bodyPr/>
          <a:lstStyle/>
          <a:p>
            <a:endParaRPr lang="ja-JP"/>
          </a:p>
        </p:txBody>
      </p:sp>
      <p:sp>
        <p:nvSpPr>
          <p:cNvPr id="12" name="Step2"/>
          <p:cNvSpPr/>
          <p:nvPr/>
        </p:nvSpPr>
        <p:spPr>
          <a:xfrm>
            <a:off x="4724400" y="1143000"/>
            <a:ext cx="1905000" cy="1371600"/>
          </a:xfrm>
          <a:prstGeom prst="roundRect">
            <a:avLst>
              <a:gd name="adj" fmla="val 8000"/>
            </a:avLst>
          </a:prstGeom>
          <a:solidFill>
            <a:srgbClr val="FAFAFA"/>
          </a:solidFill>
          <a:ln w="12700">
            <a:solidFill>
              <a:srgbClr val="D9D0C7"/>
            </a:solidFill>
          </a:ln>
        </p:spPr>
        <p:txBody>
          <a:bodyPr wrap="square" lIns="108000" tIns="72000" rIns="108000" bIns="72000" anchor="ctr"/>
          <a:lstStyle/>
          <a:p>
            <a:pPr algn="ctr">
              <a:buNone/>
            </a:pPr>
            <a:r>
              <a:rPr lang="ja-JP" sz="1000" b="1" dirty="0">
                <a:solidFill>
                  <a:srgbClr val="A23B2C"/>
                </a:solidFill>
                <a:latin typeface="BIZ UDPGothic"/>
                <a:ea typeface="BIZ UDPGothic"/>
              </a:rPr>
              <a:t>STEP 3</a:t>
            </a:r>
          </a:p>
          <a:p>
            <a:pPr algn="ctr">
              <a:buNone/>
            </a:pPr>
            <a:r>
              <a:rPr lang="ja-JP" sz="1400" b="1" dirty="0">
                <a:solidFill>
                  <a:srgbClr val="2D2D2D"/>
                </a:solidFill>
                <a:latin typeface="BIZ UDPGothic"/>
                <a:ea typeface="BIZ UDPGothic"/>
              </a:rPr>
              <a:t>カテゴリ欠損処理</a:t>
            </a:r>
          </a:p>
          <a:p>
            <a:pPr algn="ctr">
              <a:buNone/>
            </a:pPr>
            <a:r>
              <a:rPr lang="ja-JP" sz="1100" dirty="0">
                <a:solidFill>
                  <a:srgbClr val="4A4A4A"/>
                </a:solidFill>
                <a:latin typeface="BIZ UDPGothic"/>
                <a:ea typeface="BIZ UDPGothic"/>
              </a:rPr>
              <a:t>最頻値補完を適用</a:t>
            </a:r>
          </a:p>
        </p:txBody>
      </p:sp>
      <p:sp>
        <p:nvSpPr>
          <p:cNvPr id="22" name="StepArrow2"/>
          <p:cNvSpPr/>
          <p:nvPr/>
        </p:nvSpPr>
        <p:spPr>
          <a:xfrm>
            <a:off x="6629400" y="1752600"/>
            <a:ext cx="152400" cy="152400"/>
          </a:xfrm>
          <a:prstGeom prst="rightArrow">
            <a:avLst/>
          </a:prstGeom>
          <a:solidFill>
            <a:srgbClr val="B5A99A"/>
          </a:solidFill>
          <a:ln>
            <a:noFill/>
          </a:ln>
        </p:spPr>
        <p:txBody>
          <a:bodyPr/>
          <a:lstStyle/>
          <a:p>
            <a:endParaRPr lang="ja-JP"/>
          </a:p>
        </p:txBody>
      </p:sp>
      <p:sp>
        <p:nvSpPr>
          <p:cNvPr id="13" name="Step3"/>
          <p:cNvSpPr/>
          <p:nvPr/>
        </p:nvSpPr>
        <p:spPr>
          <a:xfrm>
            <a:off x="6781800" y="1143000"/>
            <a:ext cx="1905000" cy="1371600"/>
          </a:xfrm>
          <a:prstGeom prst="roundRect">
            <a:avLst>
              <a:gd name="adj" fmla="val 8000"/>
            </a:avLst>
          </a:prstGeom>
          <a:solidFill>
            <a:srgbClr val="FAFAFA"/>
          </a:solidFill>
          <a:ln w="12700">
            <a:solidFill>
              <a:srgbClr val="D9D0C7"/>
            </a:solidFill>
          </a:ln>
        </p:spPr>
        <p:txBody>
          <a:bodyPr wrap="square" lIns="108000" tIns="72000" rIns="108000" bIns="72000" anchor="ctr"/>
          <a:lstStyle/>
          <a:p>
            <a:pPr algn="ctr">
              <a:buNone/>
            </a:pPr>
            <a:r>
              <a:rPr lang="ja-JP" sz="1000" b="1" dirty="0">
                <a:solidFill>
                  <a:srgbClr val="A23B2C"/>
                </a:solidFill>
                <a:latin typeface="BIZ UDPGothic"/>
                <a:ea typeface="BIZ UDPGothic"/>
              </a:rPr>
              <a:t>STEP 4</a:t>
            </a:r>
          </a:p>
          <a:p>
            <a:pPr algn="ctr">
              <a:buNone/>
            </a:pPr>
            <a:r>
              <a:rPr lang="ja-JP" sz="1400" b="1" dirty="0">
                <a:solidFill>
                  <a:srgbClr val="2D2D2D"/>
                </a:solidFill>
                <a:latin typeface="BIZ UDPGothic"/>
                <a:ea typeface="BIZ UDPGothic"/>
              </a:rPr>
              <a:t>エンコーディング</a:t>
            </a:r>
          </a:p>
          <a:p>
            <a:pPr algn="ctr">
              <a:buNone/>
            </a:pPr>
            <a:r>
              <a:rPr lang="ja-JP" sz="1100" dirty="0">
                <a:solidFill>
                  <a:srgbClr val="4A4A4A"/>
                </a:solidFill>
                <a:latin typeface="BIZ UDPGothic"/>
                <a:ea typeface="BIZ UDPGothic"/>
              </a:rPr>
              <a:t>カテゴリ数が閾値未満の場合にone-hot encoding適用</a:t>
            </a:r>
          </a:p>
        </p:txBody>
      </p:sp>
      <p:sp>
        <p:nvSpPr>
          <p:cNvPr id="23" name="StepArrow3"/>
          <p:cNvSpPr/>
          <p:nvPr/>
        </p:nvSpPr>
        <p:spPr>
          <a:xfrm>
            <a:off x="8686800" y="1752600"/>
            <a:ext cx="152400" cy="152400"/>
          </a:xfrm>
          <a:prstGeom prst="rightArrow">
            <a:avLst/>
          </a:prstGeom>
          <a:solidFill>
            <a:srgbClr val="B5A99A"/>
          </a:solidFill>
          <a:ln>
            <a:noFill/>
          </a:ln>
        </p:spPr>
        <p:txBody>
          <a:bodyPr/>
          <a:lstStyle/>
          <a:p>
            <a:endParaRPr lang="ja-JP"/>
          </a:p>
        </p:txBody>
      </p:sp>
      <p:sp>
        <p:nvSpPr>
          <p:cNvPr id="14" name="Step4"/>
          <p:cNvSpPr/>
          <p:nvPr/>
        </p:nvSpPr>
        <p:spPr>
          <a:xfrm>
            <a:off x="8839200" y="1143000"/>
            <a:ext cx="1905000" cy="1371600"/>
          </a:xfrm>
          <a:prstGeom prst="roundRect">
            <a:avLst>
              <a:gd name="adj" fmla="val 8000"/>
            </a:avLst>
          </a:prstGeom>
          <a:solidFill>
            <a:srgbClr val="FAFAFA"/>
          </a:solidFill>
          <a:ln w="12700">
            <a:solidFill>
              <a:srgbClr val="D9D0C7"/>
            </a:solidFill>
          </a:ln>
        </p:spPr>
        <p:txBody>
          <a:bodyPr wrap="square" lIns="108000" tIns="72000" rIns="108000" bIns="72000" anchor="ctr"/>
          <a:lstStyle/>
          <a:p>
            <a:pPr algn="ctr">
              <a:buNone/>
            </a:pPr>
            <a:r>
              <a:rPr lang="ja-JP" sz="1000" b="1" dirty="0">
                <a:solidFill>
                  <a:srgbClr val="A23B2C"/>
                </a:solidFill>
                <a:latin typeface="BIZ UDPGothic"/>
                <a:ea typeface="BIZ UDPGothic"/>
              </a:rPr>
              <a:t>STEP 5</a:t>
            </a:r>
          </a:p>
          <a:p>
            <a:pPr algn="ctr">
              <a:buNone/>
            </a:pPr>
            <a:r>
              <a:rPr lang="ja-JP" sz="1400" b="1" dirty="0">
                <a:solidFill>
                  <a:srgbClr val="2D2D2D"/>
                </a:solidFill>
                <a:latin typeface="BIZ UDPGothic"/>
                <a:ea typeface="BIZ UDPGothic"/>
              </a:rPr>
              <a:t>高カーディナリティ除外</a:t>
            </a:r>
          </a:p>
          <a:p>
            <a:pPr algn="ctr">
              <a:buNone/>
            </a:pPr>
            <a:r>
              <a:rPr lang="ja-JP" sz="1100" dirty="0">
                <a:solidFill>
                  <a:srgbClr val="4A4A4A"/>
                </a:solidFill>
                <a:latin typeface="BIZ UDPGothic"/>
                <a:ea typeface="BIZ UDPGothic"/>
              </a:rPr>
              <a:t>高カーディナリティのカテゴリ列はモデリング対象外</a:t>
            </a:r>
          </a:p>
        </p:txBody>
      </p:sp>
      <p:sp>
        <p:nvSpPr>
          <p:cNvPr id="30" name="Notes"/>
          <p:cNvSpPr txBox="1"/>
          <p:nvPr/>
        </p:nvSpPr>
        <p:spPr>
          <a:xfrm>
            <a:off x="609600" y="2743200"/>
            <a:ext cx="10972800" cy="2743200"/>
          </a:xfrm>
          <a:prstGeom prst="roundRect">
            <a:avLst>
              <a:gd name="adj" fmla="val 3000"/>
            </a:avLst>
          </a:prstGeom>
          <a:solidFill>
            <a:srgbClr val="F2F0ED"/>
          </a:solidFill>
          <a:ln>
            <a:noFill/>
          </a:ln>
        </p:spPr>
        <p:txBody>
          <a:bodyPr wrap="square" lIns="180000" tIns="144000" rIns="180000" bIns="108000" anchor="t"/>
          <a:lstStyle/>
          <a:p>
            <a:pPr>
              <a:buNone/>
            </a:pPr>
            <a:r>
              <a:rPr lang="ja-JP" sz="1400" b="1" dirty="0">
                <a:solidFill>
                  <a:srgbClr val="A23B2C"/>
                </a:solidFill>
                <a:latin typeface="BIZ UDPGothic"/>
                <a:ea typeface="BIZ UDPGothic"/>
              </a:rPr>
              <a:t>データ特性に関する留意事項</a:t>
            </a:r>
          </a:p>
          <a:p>
            <a:pPr marL="228600" indent="-228600">
              <a:spcBef>
                <a:spcPts val="400"/>
              </a:spcBef>
              <a:buFont typeface="Arial"/>
              <a:buChar char="●"/>
            </a:pPr>
            <a:r>
              <a:rPr lang="ja-JP" sz="1200" dirty="0">
                <a:solidFill>
                  <a:srgbClr val="3D3D3D"/>
                </a:solidFill>
                <a:latin typeface="BIZ UDPGothic"/>
                <a:ea typeface="BIZ UDPGothic"/>
              </a:rPr>
              <a:t>本データは実質的にカテゴリ中心の構成であるため、カテゴリ分布の偏在や長尾カテゴリの扱いを重視する</a:t>
            </a:r>
          </a:p>
          <a:p>
            <a:pPr marL="228600" indent="-228600">
              <a:spcBef>
                <a:spcPts val="300"/>
              </a:spcBef>
              <a:buFont typeface="Arial"/>
              <a:buChar char="●"/>
            </a:pPr>
            <a:r>
              <a:rPr lang="ja-JP" sz="1200" dirty="0">
                <a:solidFill>
                  <a:srgbClr val="3D3D3D"/>
                </a:solidFill>
                <a:latin typeface="BIZ UDPGothic"/>
                <a:ea typeface="BIZ UDPGothic"/>
              </a:rPr>
              <a:t>Age、Education、Experienceは順序性を持つ可能性があるが、本初期フェーズでは多クラス分類の標準実装をベースとし、解釈面で順序性を補足する</a:t>
            </a:r>
          </a:p>
          <a:p>
            <a:pPr marL="228600" indent="-228600">
              <a:spcBef>
                <a:spcPts val="300"/>
              </a:spcBef>
              <a:buFont typeface="Arial"/>
              <a:buChar char="●"/>
            </a:pPr>
            <a:r>
              <a:rPr lang="ja-JP" sz="1200" dirty="0">
                <a:solidFill>
                  <a:srgbClr val="3D3D3D"/>
                </a:solidFill>
                <a:latin typeface="BIZ UDPGothic"/>
                <a:ea typeface="BIZ UDPGothic"/>
              </a:rPr>
              <a:t>日付列が存在する場合のみ日付由来特徴量を追加するが、本データは時間粒度を持たないため時系列特徴量追加は行わない</a:t>
            </a:r>
          </a:p>
        </p:txBody>
      </p:sp>
      <p:sp>
        <p:nvSpPr>
          <p:cNvPr id="3" name="テキスト ボックス 2">
            <a:extLst>
              <a:ext uri="{FF2B5EF4-FFF2-40B4-BE49-F238E27FC236}">
                <a16:creationId xmlns:a16="http://schemas.microsoft.com/office/drawing/2014/main" id="{BDEB23AF-8BD4-4420-982A-9FD9BE5D904F}"/>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6</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3916761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F444D2-4F51-79C8-E7B5-FC6DA9206A12}"/>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4. </a:t>
            </a:r>
            <a:r>
              <a:rPr kumimoji="1" lang="ja-JP" altLang="en-US" sz="3200" b="1">
                <a:latin typeface="BIZ UDPGothic"/>
                <a:ea typeface="BIZ UDPGothic"/>
              </a:rPr>
              <a:t>分析ステップ</a:t>
            </a:r>
          </a:p>
        </p:txBody>
      </p:sp>
      <p:sp>
        <p:nvSpPr>
          <p:cNvPr id="10" name="Chev0"/>
          <p:cNvSpPr/>
          <p:nvPr/>
        </p:nvSpPr>
        <p:spPr>
          <a:xfrm>
            <a:off x="609600" y="1143000"/>
            <a:ext cx="2057400" cy="609600"/>
          </a:xfrm>
          <a:prstGeom prst="homePlate">
            <a:avLst/>
          </a:prstGeom>
          <a:solidFill>
            <a:srgbClr val="A23B2C"/>
          </a:solidFill>
          <a:ln>
            <a:noFill/>
          </a:ln>
        </p:spPr>
        <p:txBody>
          <a:bodyPr wrap="square" lIns="108000" tIns="36000" rIns="72000" bIns="36000" anchor="ctr"/>
          <a:lstStyle/>
          <a:p>
            <a:pPr algn="ctr">
              <a:buNone/>
            </a:pPr>
            <a:r>
              <a:rPr lang="ja-JP" sz="1400" b="1" dirty="0">
                <a:solidFill>
                  <a:srgbClr val="FFFFFF"/>
                </a:solidFill>
                <a:latin typeface="BIZ UDPGothic"/>
                <a:ea typeface="BIZ UDPGothic"/>
              </a:rPr>
              <a:t>1. データ理解・EDA</a:t>
            </a:r>
          </a:p>
        </p:txBody>
      </p:sp>
      <p:sp>
        <p:nvSpPr>
          <p:cNvPr id="11" name="Chev1"/>
          <p:cNvSpPr/>
          <p:nvPr/>
        </p:nvSpPr>
        <p:spPr>
          <a:xfrm>
            <a:off x="2743200" y="1143000"/>
            <a:ext cx="2057400" cy="609600"/>
          </a:xfrm>
          <a:prstGeom prst="homePlate">
            <a:avLst/>
          </a:prstGeom>
          <a:solidFill>
            <a:srgbClr val="3D3D3D"/>
          </a:solidFill>
          <a:ln>
            <a:noFill/>
          </a:ln>
        </p:spPr>
        <p:txBody>
          <a:bodyPr wrap="square" lIns="108000" tIns="36000" rIns="72000" bIns="36000" anchor="ctr"/>
          <a:lstStyle/>
          <a:p>
            <a:pPr algn="ctr">
              <a:buNone/>
            </a:pPr>
            <a:r>
              <a:rPr lang="ja-JP" sz="1400" b="1" dirty="0">
                <a:solidFill>
                  <a:srgbClr val="FFFFFF"/>
                </a:solidFill>
                <a:latin typeface="BIZ UDPGothic"/>
                <a:ea typeface="BIZ UDPGothic"/>
              </a:rPr>
              <a:t>2. 前処理設計</a:t>
            </a:r>
          </a:p>
        </p:txBody>
      </p:sp>
      <p:sp>
        <p:nvSpPr>
          <p:cNvPr id="12" name="Chev2"/>
          <p:cNvSpPr/>
          <p:nvPr/>
        </p:nvSpPr>
        <p:spPr>
          <a:xfrm>
            <a:off x="4876800" y="1143000"/>
            <a:ext cx="2057400" cy="609600"/>
          </a:xfrm>
          <a:prstGeom prst="homePlate">
            <a:avLst/>
          </a:prstGeom>
          <a:solidFill>
            <a:srgbClr val="3D3D3D"/>
          </a:solidFill>
          <a:ln>
            <a:noFill/>
          </a:ln>
        </p:spPr>
        <p:txBody>
          <a:bodyPr wrap="square" lIns="108000" tIns="36000" rIns="72000" bIns="36000" anchor="ctr"/>
          <a:lstStyle/>
          <a:p>
            <a:pPr algn="ctr">
              <a:buNone/>
            </a:pPr>
            <a:r>
              <a:rPr lang="ja-JP" sz="1400" b="1" dirty="0">
                <a:solidFill>
                  <a:srgbClr val="FFFFFF"/>
                </a:solidFill>
                <a:latin typeface="BIZ UDPGothic"/>
                <a:ea typeface="BIZ UDPGothic"/>
              </a:rPr>
              <a:t>3. モデル構築</a:t>
            </a:r>
          </a:p>
        </p:txBody>
      </p:sp>
      <p:sp>
        <p:nvSpPr>
          <p:cNvPr id="13" name="Chev3"/>
          <p:cNvSpPr/>
          <p:nvPr/>
        </p:nvSpPr>
        <p:spPr>
          <a:xfrm>
            <a:off x="7010400" y="1143000"/>
            <a:ext cx="2057400" cy="609600"/>
          </a:xfrm>
          <a:prstGeom prst="homePlate">
            <a:avLst/>
          </a:prstGeom>
          <a:solidFill>
            <a:srgbClr val="3D3D3D"/>
          </a:solidFill>
          <a:ln>
            <a:noFill/>
          </a:ln>
        </p:spPr>
        <p:txBody>
          <a:bodyPr wrap="square" lIns="108000" tIns="36000" rIns="72000" bIns="36000" anchor="ctr"/>
          <a:lstStyle/>
          <a:p>
            <a:pPr algn="ctr">
              <a:buNone/>
            </a:pPr>
            <a:r>
              <a:rPr lang="ja-JP" sz="1400" b="1" dirty="0">
                <a:solidFill>
                  <a:srgbClr val="FFFFFF"/>
                </a:solidFill>
                <a:latin typeface="BIZ UDPGothic"/>
                <a:ea typeface="BIZ UDPGothic"/>
              </a:rPr>
              <a:t>4. 評価・解釈</a:t>
            </a:r>
          </a:p>
        </p:txBody>
      </p:sp>
      <p:sp>
        <p:nvSpPr>
          <p:cNvPr id="14" name="Chev4"/>
          <p:cNvSpPr/>
          <p:nvPr/>
        </p:nvSpPr>
        <p:spPr>
          <a:xfrm>
            <a:off x="9144000" y="1143000"/>
            <a:ext cx="2057400" cy="609600"/>
          </a:xfrm>
          <a:prstGeom prst="homePlate">
            <a:avLst/>
          </a:prstGeom>
          <a:solidFill>
            <a:srgbClr val="3D3D3D"/>
          </a:solidFill>
          <a:ln>
            <a:noFill/>
          </a:ln>
        </p:spPr>
        <p:txBody>
          <a:bodyPr wrap="square" lIns="108000" tIns="36000" rIns="72000" bIns="36000" anchor="ctr"/>
          <a:lstStyle/>
          <a:p>
            <a:pPr algn="ctr">
              <a:buNone/>
            </a:pPr>
            <a:r>
              <a:rPr lang="ja-JP" sz="1400" b="1" dirty="0">
                <a:solidFill>
                  <a:srgbClr val="FFFFFF"/>
                </a:solidFill>
                <a:latin typeface="BIZ UDPGothic"/>
                <a:ea typeface="BIZ UDPGothic"/>
              </a:rPr>
              <a:t>5. 業務示唆整理</a:t>
            </a:r>
          </a:p>
        </p:txBody>
      </p:sp>
      <p:sp>
        <p:nvSpPr>
          <p:cNvPr id="20" name="Detail0"/>
          <p:cNvSpPr txBox="1"/>
          <p:nvPr/>
        </p:nvSpPr>
        <p:spPr>
          <a:xfrm>
            <a:off x="609600" y="1905000"/>
            <a:ext cx="2057400" cy="2971800"/>
          </a:xfrm>
          <a:prstGeom prst="roundRect">
            <a:avLst>
              <a:gd name="adj" fmla="val 5000"/>
            </a:avLst>
          </a:prstGeom>
          <a:solidFill>
            <a:srgbClr val="FAFAFA"/>
          </a:solidFill>
          <a:ln w="12700">
            <a:solidFill>
              <a:srgbClr val="D9D0C7"/>
            </a:solidFill>
          </a:ln>
        </p:spPr>
        <p:txBody>
          <a:bodyPr wrap="square" lIns="108000" tIns="72000" rIns="108000" bIns="72000" anchor="t"/>
          <a:lstStyle/>
          <a:p>
            <a:pPr marL="228600" indent="-228600">
              <a:spcBef>
                <a:spcPts val="200"/>
              </a:spcBef>
              <a:buFont typeface="Arial"/>
              <a:buChar char="●"/>
            </a:pPr>
            <a:r>
              <a:rPr lang="ja-JP" sz="1100" dirty="0">
                <a:solidFill>
                  <a:srgbClr val="3D3D3D"/>
                </a:solidFill>
                <a:latin typeface="BIZ UDPGothic"/>
                <a:ea typeface="BIZ UDPGothic"/>
              </a:rPr>
              <a:t>レコード件数・欠損・カテゴリ数・分布偏りの確認</a:t>
            </a:r>
          </a:p>
          <a:p>
            <a:pPr marL="228600" indent="-228600">
              <a:spcBef>
                <a:spcPts val="200"/>
              </a:spcBef>
              <a:buFont typeface="Arial"/>
              <a:buChar char="●"/>
            </a:pPr>
            <a:r>
              <a:rPr lang="ja-JP" sz="1100" dirty="0">
                <a:solidFill>
                  <a:srgbClr val="3D3D3D"/>
                </a:solidFill>
                <a:latin typeface="BIZ UDPGothic"/>
                <a:ea typeface="BIZ UDPGothic"/>
              </a:rPr>
              <a:t>targetのクラス分布確認</a:t>
            </a:r>
          </a:p>
          <a:p>
            <a:pPr marL="228600" indent="-228600">
              <a:spcBef>
                <a:spcPts val="200"/>
              </a:spcBef>
              <a:buFont typeface="Arial"/>
              <a:buChar char="●"/>
            </a:pPr>
            <a:r>
              <a:rPr lang="ja-JP" sz="1100" dirty="0">
                <a:solidFill>
                  <a:srgbClr val="3D3D3D"/>
                </a:solidFill>
                <a:latin typeface="BIZ UDPGothic"/>
                <a:ea typeface="BIZ UDPGothic"/>
              </a:rPr>
              <a:t>Country、Profession、Industryの偏在確認</a:t>
            </a:r>
          </a:p>
          <a:p>
            <a:pPr marL="228600" indent="-228600">
              <a:spcBef>
                <a:spcPts val="200"/>
              </a:spcBef>
              <a:buFont typeface="Arial"/>
              <a:buChar char="●"/>
            </a:pPr>
            <a:r>
              <a:rPr lang="ja-JP" sz="1100" dirty="0">
                <a:solidFill>
                  <a:srgbClr val="3D3D3D"/>
                </a:solidFill>
                <a:latin typeface="BIZ UDPGothic"/>
                <a:ea typeface="BIZ UDPGothic"/>
              </a:rPr>
              <a:t>Gender、Age、Countryの属性別分布確認</a:t>
            </a:r>
          </a:p>
        </p:txBody>
      </p:sp>
      <p:sp>
        <p:nvSpPr>
          <p:cNvPr id="21" name="Detail1"/>
          <p:cNvSpPr txBox="1"/>
          <p:nvPr/>
        </p:nvSpPr>
        <p:spPr>
          <a:xfrm>
            <a:off x="2743200" y="1905000"/>
            <a:ext cx="2057400" cy="2971800"/>
          </a:xfrm>
          <a:prstGeom prst="roundRect">
            <a:avLst>
              <a:gd name="adj" fmla="val 5000"/>
            </a:avLst>
          </a:prstGeom>
          <a:solidFill>
            <a:srgbClr val="FAFAFA"/>
          </a:solidFill>
          <a:ln w="12700">
            <a:solidFill>
              <a:srgbClr val="D9D0C7"/>
            </a:solidFill>
          </a:ln>
        </p:spPr>
        <p:txBody>
          <a:bodyPr wrap="square" lIns="108000" tIns="72000" rIns="108000" bIns="72000" anchor="t"/>
          <a:lstStyle/>
          <a:p>
            <a:pPr marL="228600" indent="-228600">
              <a:spcBef>
                <a:spcPts val="200"/>
              </a:spcBef>
              <a:buFont typeface="Arial"/>
              <a:buChar char="●"/>
            </a:pPr>
            <a:r>
              <a:rPr lang="ja-JP" sz="1100" dirty="0">
                <a:solidFill>
                  <a:srgbClr val="3D3D3D"/>
                </a:solidFill>
                <a:latin typeface="BIZ UDPGothic"/>
                <a:ea typeface="BIZ UDPGothic"/>
              </a:rPr>
              <a:t>学習対象列の確定</a:t>
            </a:r>
          </a:p>
          <a:p>
            <a:pPr marL="228600" indent="-228600">
              <a:spcBef>
                <a:spcPts val="200"/>
              </a:spcBef>
              <a:buFont typeface="Arial"/>
              <a:buChar char="●"/>
            </a:pPr>
            <a:r>
              <a:rPr lang="ja-JP" sz="1100" dirty="0">
                <a:solidFill>
                  <a:srgbClr val="3D3D3D"/>
                </a:solidFill>
                <a:latin typeface="BIZ UDPGothic"/>
                <a:ea typeface="BIZ UDPGothic"/>
              </a:rPr>
              <a:t>欠損処理ルールの適用</a:t>
            </a:r>
          </a:p>
          <a:p>
            <a:pPr marL="228600" indent="-228600">
              <a:spcBef>
                <a:spcPts val="200"/>
              </a:spcBef>
              <a:buFont typeface="Arial"/>
              <a:buChar char="●"/>
            </a:pPr>
            <a:r>
              <a:rPr lang="ja-JP" sz="1100" dirty="0">
                <a:solidFill>
                  <a:srgbClr val="3D3D3D"/>
                </a:solidFill>
                <a:latin typeface="BIZ UDPGothic"/>
                <a:ea typeface="BIZ UDPGothic"/>
              </a:rPr>
              <a:t>カテゴリエンコーディング方針の適用</a:t>
            </a:r>
          </a:p>
          <a:p>
            <a:pPr marL="228600" indent="-228600">
              <a:spcBef>
                <a:spcPts val="200"/>
              </a:spcBef>
              <a:buFont typeface="Arial"/>
              <a:buChar char="●"/>
            </a:pPr>
            <a:r>
              <a:rPr lang="ja-JP" sz="1100" dirty="0">
                <a:solidFill>
                  <a:srgbClr val="3D3D3D"/>
                </a:solidFill>
                <a:latin typeface="BIZ UDPGothic"/>
                <a:ea typeface="BIZ UDPGothic"/>
              </a:rPr>
              <a:t>学習・評価用データセットの整備</a:t>
            </a:r>
          </a:p>
        </p:txBody>
      </p:sp>
      <p:sp>
        <p:nvSpPr>
          <p:cNvPr id="22" name="Detail2"/>
          <p:cNvSpPr txBox="1"/>
          <p:nvPr/>
        </p:nvSpPr>
        <p:spPr>
          <a:xfrm>
            <a:off x="4876800" y="1905000"/>
            <a:ext cx="2057400" cy="2971800"/>
          </a:xfrm>
          <a:prstGeom prst="roundRect">
            <a:avLst>
              <a:gd name="adj" fmla="val 5000"/>
            </a:avLst>
          </a:prstGeom>
          <a:solidFill>
            <a:srgbClr val="FAFAFA"/>
          </a:solidFill>
          <a:ln w="12700">
            <a:solidFill>
              <a:srgbClr val="D9D0C7"/>
            </a:solidFill>
          </a:ln>
        </p:spPr>
        <p:txBody>
          <a:bodyPr wrap="square" lIns="108000" tIns="72000" rIns="108000" bIns="72000" anchor="t"/>
          <a:lstStyle/>
          <a:p>
            <a:pPr marL="228600" indent="-228600">
              <a:spcBef>
                <a:spcPts val="200"/>
              </a:spcBef>
              <a:buFont typeface="Arial"/>
              <a:buChar char="●"/>
            </a:pPr>
            <a:r>
              <a:rPr lang="ja-JP" sz="1100" dirty="0">
                <a:solidFill>
                  <a:srgbClr val="3D3D3D"/>
                </a:solidFill>
                <a:latin typeface="BIZ UDPGothic"/>
                <a:ea typeface="BIZ UDPGothic"/>
              </a:rPr>
              <a:t>ベースラインモデルの構築</a:t>
            </a:r>
          </a:p>
          <a:p>
            <a:pPr marL="228600" indent="-228600">
              <a:spcBef>
                <a:spcPts val="200"/>
              </a:spcBef>
              <a:buFont typeface="Arial"/>
              <a:buChar char="●"/>
            </a:pPr>
            <a:r>
              <a:rPr lang="ja-JP" sz="1100" dirty="0">
                <a:solidFill>
                  <a:srgbClr val="3D3D3D"/>
                </a:solidFill>
                <a:latin typeface="BIZ UDPGothic"/>
                <a:ea typeface="BIZ UDPGothic"/>
              </a:rPr>
              <a:t>解釈可能性を重視した初期モデルの構築</a:t>
            </a:r>
          </a:p>
          <a:p>
            <a:pPr marL="228600" indent="-228600">
              <a:spcBef>
                <a:spcPts val="200"/>
              </a:spcBef>
              <a:buFont typeface="Arial"/>
              <a:buChar char="●"/>
            </a:pPr>
            <a:r>
              <a:rPr lang="ja-JP" sz="1100" dirty="0">
                <a:solidFill>
                  <a:srgbClr val="3D3D3D"/>
                </a:solidFill>
                <a:latin typeface="BIZ UDPGothic"/>
                <a:ea typeface="BIZ UDPGothic"/>
              </a:rPr>
              <a:t>必要に応じて比較モデルを追加し性能差を整理</a:t>
            </a:r>
          </a:p>
        </p:txBody>
      </p:sp>
      <p:sp>
        <p:nvSpPr>
          <p:cNvPr id="23" name="Detail3"/>
          <p:cNvSpPr txBox="1"/>
          <p:nvPr/>
        </p:nvSpPr>
        <p:spPr>
          <a:xfrm>
            <a:off x="7010400" y="1905000"/>
            <a:ext cx="2057400" cy="2971800"/>
          </a:xfrm>
          <a:prstGeom prst="roundRect">
            <a:avLst>
              <a:gd name="adj" fmla="val 5000"/>
            </a:avLst>
          </a:prstGeom>
          <a:solidFill>
            <a:srgbClr val="FAFAFA"/>
          </a:solidFill>
          <a:ln w="12700">
            <a:solidFill>
              <a:srgbClr val="D9D0C7"/>
            </a:solidFill>
          </a:ln>
        </p:spPr>
        <p:txBody>
          <a:bodyPr wrap="square" lIns="108000" tIns="72000" rIns="108000" bIns="72000" anchor="t"/>
          <a:lstStyle/>
          <a:p>
            <a:pPr marL="228600" indent="-228600">
              <a:spcBef>
                <a:spcPts val="200"/>
              </a:spcBef>
              <a:buFont typeface="Arial"/>
              <a:buChar char="●"/>
            </a:pPr>
            <a:r>
              <a:rPr lang="ja-JP" sz="1100" dirty="0">
                <a:solidFill>
                  <a:srgbClr val="3D3D3D"/>
                </a:solidFill>
                <a:latin typeface="BIZ UDPGothic"/>
                <a:ea typeface="BIZ UDPGothic"/>
              </a:rPr>
              <a:t>主指標および補助指標による評価</a:t>
            </a:r>
          </a:p>
          <a:p>
            <a:pPr marL="228600" indent="-228600">
              <a:spcBef>
                <a:spcPts val="200"/>
              </a:spcBef>
              <a:buFont typeface="Arial"/>
              <a:buChar char="●"/>
            </a:pPr>
            <a:r>
              <a:rPr lang="ja-JP" sz="1100" dirty="0">
                <a:solidFill>
                  <a:srgbClr val="3D3D3D"/>
                </a:solidFill>
                <a:latin typeface="BIZ UDPGothic"/>
                <a:ea typeface="BIZ UDPGothic"/>
              </a:rPr>
              <a:t>混同行列による近接誤差の確認</a:t>
            </a:r>
          </a:p>
          <a:p>
            <a:pPr marL="228600" indent="-228600">
              <a:spcBef>
                <a:spcPts val="200"/>
              </a:spcBef>
              <a:buFont typeface="Arial"/>
              <a:buChar char="●"/>
            </a:pPr>
            <a:r>
              <a:rPr lang="ja-JP" sz="1100" dirty="0">
                <a:solidFill>
                  <a:srgbClr val="3D3D3D"/>
                </a:solidFill>
                <a:latin typeface="BIZ UDPGothic"/>
                <a:ea typeface="BIZ UDPGothic"/>
              </a:rPr>
              <a:t>変数重要度・予測寄与傾向の整理</a:t>
            </a:r>
          </a:p>
          <a:p>
            <a:pPr marL="228600" indent="-228600">
              <a:spcBef>
                <a:spcPts val="200"/>
              </a:spcBef>
              <a:buFont typeface="Arial"/>
              <a:buChar char="●"/>
            </a:pPr>
            <a:r>
              <a:rPr lang="ja-JP" sz="1100" dirty="0">
                <a:solidFill>
                  <a:srgbClr val="3D3D3D"/>
                </a:solidFill>
                <a:latin typeface="BIZ UDPGothic"/>
                <a:ea typeface="BIZ UDPGothic"/>
              </a:rPr>
              <a:t>属性別の性能差または分布差の確認</a:t>
            </a:r>
          </a:p>
        </p:txBody>
      </p:sp>
      <p:sp>
        <p:nvSpPr>
          <p:cNvPr id="24" name="Detail4"/>
          <p:cNvSpPr txBox="1"/>
          <p:nvPr/>
        </p:nvSpPr>
        <p:spPr>
          <a:xfrm>
            <a:off x="9144000" y="1905000"/>
            <a:ext cx="2057400" cy="2971800"/>
          </a:xfrm>
          <a:prstGeom prst="roundRect">
            <a:avLst>
              <a:gd name="adj" fmla="val 5000"/>
            </a:avLst>
          </a:prstGeom>
          <a:solidFill>
            <a:srgbClr val="FAFAFA"/>
          </a:solidFill>
          <a:ln w="12700">
            <a:solidFill>
              <a:srgbClr val="D9D0C7"/>
            </a:solidFill>
          </a:ln>
        </p:spPr>
        <p:txBody>
          <a:bodyPr wrap="square" lIns="108000" tIns="72000" rIns="108000" bIns="72000" anchor="t"/>
          <a:lstStyle/>
          <a:p>
            <a:pPr marL="228600" indent="-228600">
              <a:spcBef>
                <a:spcPts val="200"/>
              </a:spcBef>
              <a:buFont typeface="Arial"/>
              <a:buChar char="●"/>
            </a:pPr>
            <a:r>
              <a:rPr lang="ja-JP" sz="1100" dirty="0">
                <a:solidFill>
                  <a:srgbClr val="3D3D3D"/>
                </a:solidFill>
                <a:latin typeface="BIZ UDPGothic"/>
                <a:ea typeface="BIZ UDPGothic"/>
              </a:rPr>
              <a:t>報酬分析の標準化に向けた示唆</a:t>
            </a:r>
          </a:p>
          <a:p>
            <a:pPr marL="228600" indent="-228600">
              <a:spcBef>
                <a:spcPts val="200"/>
              </a:spcBef>
              <a:buFont typeface="Arial"/>
              <a:buChar char="●"/>
            </a:pPr>
            <a:r>
              <a:rPr lang="ja-JP" sz="1100" dirty="0">
                <a:solidFill>
                  <a:srgbClr val="3D3D3D"/>
                </a:solidFill>
                <a:latin typeface="BIZ UDPGothic"/>
                <a:ea typeface="BIZ UDPGothic"/>
              </a:rPr>
              <a:t>公平性・センシティブ属性の留意点</a:t>
            </a:r>
          </a:p>
          <a:p>
            <a:pPr marL="228600" indent="-228600">
              <a:spcBef>
                <a:spcPts val="200"/>
              </a:spcBef>
              <a:buFont typeface="Arial"/>
              <a:buChar char="●"/>
            </a:pPr>
            <a:r>
              <a:rPr lang="ja-JP" sz="1100" dirty="0">
                <a:solidFill>
                  <a:srgbClr val="3D3D3D"/>
                </a:solidFill>
                <a:latin typeface="BIZ UDPGothic"/>
                <a:ea typeface="BIZ UDPGothic"/>
              </a:rPr>
              <a:t>次フェーズで追加検討すべき論点の明確化</a:t>
            </a:r>
          </a:p>
        </p:txBody>
      </p:sp>
      <p:sp>
        <p:nvSpPr>
          <p:cNvPr id="3" name="テキスト ボックス 2">
            <a:extLst>
              <a:ext uri="{FF2B5EF4-FFF2-40B4-BE49-F238E27FC236}">
                <a16:creationId xmlns:a16="http://schemas.microsoft.com/office/drawing/2014/main" id="{DDDC2CDE-9028-4462-911C-8BBC2F8130DD}"/>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7</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2041175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D07DF5-50EB-5389-F873-3950EC25A70E}"/>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5. </a:t>
            </a:r>
            <a:r>
              <a:rPr kumimoji="1" lang="ja-JP" altLang="en-US" sz="3200" b="1">
                <a:latin typeface="BIZ UDPGothic"/>
                <a:ea typeface="BIZ UDPGothic"/>
              </a:rPr>
              <a:t>実施体制</a:t>
            </a:r>
          </a:p>
        </p:txBody>
      </p:sp>
      <p:sp>
        <p:nvSpPr>
          <p:cNvPr id="10" name="Client"/>
          <p:cNvSpPr/>
          <p:nvPr/>
        </p:nvSpPr>
        <p:spPr>
          <a:xfrm>
            <a:off x="609600" y="1143000"/>
            <a:ext cx="5181600" cy="609600"/>
          </a:xfrm>
          <a:prstGeom prst="roundRect">
            <a:avLst>
              <a:gd name="adj" fmla="val 8000"/>
            </a:avLst>
          </a:prstGeom>
          <a:solidFill>
            <a:srgbClr val="F2F0ED"/>
          </a:solidFill>
          <a:ln w="12700">
            <a:solidFill>
              <a:srgbClr val="D9D0C7"/>
            </a:solidFill>
          </a:ln>
        </p:spPr>
        <p:txBody>
          <a:bodyPr wrap="square" lIns="144000" tIns="36000" rIns="144000" bIns="36000" anchor="ctr"/>
          <a:lstStyle/>
          <a:p>
            <a:pPr>
              <a:buNone/>
            </a:pPr>
            <a:r>
              <a:rPr lang="ja-JP" sz="1200" b="1" dirty="0">
                <a:solidFill>
                  <a:srgbClr val="A23B2C"/>
                </a:solidFill>
                <a:latin typeface="BIZ UDPGothic"/>
                <a:ea typeface="BIZ UDPGothic"/>
              </a:rPr>
              <a:t>発注者</a:t>
            </a:r>
          </a:p>
          <a:p>
            <a:pPr>
              <a:buNone/>
            </a:pPr>
            <a:r>
              <a:rPr lang="ja-JP" sz="1100" dirty="0">
                <a:solidFill>
                  <a:srgbClr val="3D3D3D"/>
                </a:solidFill>
                <a:latin typeface="BIZ UDPGothic"/>
                <a:ea typeface="BIZ UDPGothic"/>
              </a:rPr>
              <a:t>(株)東都人材プラットフォーム 人事戦略部 ｜ 主担当：石川 直樹（人事戦略部長）</a:t>
            </a:r>
          </a:p>
        </p:txBody>
      </p:sp>
      <p:sp>
        <p:nvSpPr>
          <p:cNvPr id="11" name="Contractor"/>
          <p:cNvSpPr/>
          <p:nvPr/>
        </p:nvSpPr>
        <p:spPr>
          <a:xfrm>
            <a:off x="6400800" y="1143000"/>
            <a:ext cx="5181600" cy="609600"/>
          </a:xfrm>
          <a:prstGeom prst="roundRect">
            <a:avLst>
              <a:gd name="adj" fmla="val 8000"/>
            </a:avLst>
          </a:prstGeom>
          <a:solidFill>
            <a:srgbClr val="A23B2C"/>
          </a:solidFill>
          <a:ln>
            <a:noFill/>
          </a:ln>
        </p:spPr>
        <p:txBody>
          <a:bodyPr wrap="square" lIns="144000" tIns="36000" rIns="144000" bIns="36000" anchor="ctr"/>
          <a:lstStyle/>
          <a:p>
            <a:pPr>
              <a:buNone/>
            </a:pPr>
            <a:r>
              <a:rPr lang="ja-JP" sz="1200" b="1" dirty="0">
                <a:solidFill>
                  <a:srgbClr val="FFFFFF"/>
                </a:solidFill>
                <a:latin typeface="BIZ UDPGothic"/>
                <a:ea typeface="BIZ UDPGothic"/>
              </a:rPr>
              <a:t>受託者</a:t>
            </a:r>
          </a:p>
          <a:p>
            <a:pPr>
              <a:buNone/>
            </a:pPr>
            <a:r>
              <a:rPr lang="ja-JP" sz="1100" dirty="0">
                <a:solidFill>
                  <a:srgbClr val="FFFFFF"/>
                </a:solidFill>
                <a:latin typeface="BIZ UDPGothic"/>
                <a:ea typeface="BIZ UDPGothic"/>
              </a:rPr>
              <a:t>(株)データアステル データサイエンス部</a:t>
            </a:r>
          </a:p>
        </p:txBody>
      </p:sp>
      <p:sp>
        <p:nvSpPr>
          <p:cNvPr id="20" name="Member0"/>
          <p:cNvSpPr/>
          <p:nvPr/>
        </p:nvSpPr>
        <p:spPr>
          <a:xfrm>
            <a:off x="609600" y="1981200"/>
            <a:ext cx="1752600" cy="1828800"/>
          </a:xfrm>
          <a:prstGeom prst="roundRect">
            <a:avLst>
              <a:gd name="adj" fmla="val 8000"/>
            </a:avLst>
          </a:prstGeom>
          <a:solidFill>
            <a:srgbClr val="FAFAFA"/>
          </a:solidFill>
          <a:ln w="12700">
            <a:solidFill>
              <a:srgbClr val="D9D0C7"/>
            </a:solidFill>
          </a:ln>
        </p:spPr>
        <p:txBody>
          <a:bodyPr wrap="square" lIns="72000" tIns="72000" rIns="72000" bIns="72000" anchor="ctr"/>
          <a:lstStyle/>
          <a:p>
            <a:pPr algn="ctr">
              <a:buNone/>
            </a:pPr>
            <a:r>
              <a:rPr lang="ja-JP" sz="900" b="1" dirty="0">
                <a:solidFill>
                  <a:srgbClr val="A23B2C"/>
                </a:solidFill>
                <a:latin typeface="BIZ UDPGothic"/>
                <a:ea typeface="BIZ UDPGothic"/>
              </a:rPr>
              <a:t>エグゼクティブスポンサー</a:t>
            </a:r>
          </a:p>
          <a:p>
            <a:pPr algn="ctr">
              <a:buNone/>
            </a:pPr>
            <a:r>
              <a:rPr lang="ja-JP" sz="1600" b="1" dirty="0">
                <a:solidFill>
                  <a:srgbClr val="2D2D2D"/>
                </a:solidFill>
                <a:latin typeface="BIZ UDPGothic"/>
                <a:ea typeface="BIZ UDPGothic"/>
              </a:rPr>
              <a:t>高橋 亮</a:t>
            </a:r>
          </a:p>
          <a:p>
            <a:pPr algn="ctr">
              <a:buNone/>
            </a:pPr>
            <a:r>
              <a:rPr lang="ja-JP" sz="800" dirty="0">
                <a:solidFill>
                  <a:srgbClr val="8C8C8C"/>
                </a:solidFill>
                <a:latin typeface="BIZ UDPGothic"/>
                <a:ea typeface="BIZ UDPGothic"/>
              </a:rPr>
              <a:t>─────</a:t>
            </a:r>
          </a:p>
          <a:p>
            <a:pPr algn="ctr">
              <a:buNone/>
            </a:pPr>
            <a:r>
              <a:rPr lang="ja-JP" sz="900" dirty="0">
                <a:solidFill>
                  <a:srgbClr val="4A4A4A"/>
                </a:solidFill>
                <a:latin typeface="BIZ UDPGothic"/>
                <a:ea typeface="BIZ UDPGothic"/>
              </a:rPr>
              <a:t>重要論点の最終判断支援</a:t>
            </a:r>
          </a:p>
          <a:p>
            <a:pPr algn="ctr">
              <a:buNone/>
            </a:pPr>
            <a:r>
              <a:rPr lang="ja-JP" sz="900" dirty="0">
                <a:solidFill>
                  <a:srgbClr val="4A4A4A"/>
                </a:solidFill>
                <a:latin typeface="BIZ UDPGothic"/>
                <a:ea typeface="BIZ UDPGothic"/>
              </a:rPr>
              <a:t>エスカレーション対応</a:t>
            </a:r>
          </a:p>
        </p:txBody>
      </p:sp>
      <p:sp>
        <p:nvSpPr>
          <p:cNvPr id="21" name="Member1"/>
          <p:cNvSpPr/>
          <p:nvPr/>
        </p:nvSpPr>
        <p:spPr>
          <a:xfrm>
            <a:off x="2476500" y="1981200"/>
            <a:ext cx="1752600" cy="1828800"/>
          </a:xfrm>
          <a:prstGeom prst="roundRect">
            <a:avLst>
              <a:gd name="adj" fmla="val 8000"/>
            </a:avLst>
          </a:prstGeom>
          <a:solidFill>
            <a:srgbClr val="FAFAFA"/>
          </a:solidFill>
          <a:ln w="12700">
            <a:solidFill>
              <a:srgbClr val="D9D0C7"/>
            </a:solidFill>
          </a:ln>
        </p:spPr>
        <p:txBody>
          <a:bodyPr wrap="square" lIns="72000" tIns="72000" rIns="72000" bIns="72000" anchor="ctr"/>
          <a:lstStyle/>
          <a:p>
            <a:pPr algn="ctr">
              <a:buNone/>
            </a:pPr>
            <a:r>
              <a:rPr lang="ja-JP" sz="900" b="1" dirty="0">
                <a:solidFill>
                  <a:srgbClr val="A23B2C"/>
                </a:solidFill>
                <a:latin typeface="BIZ UDPGothic"/>
                <a:ea typeface="BIZ UDPGothic"/>
              </a:rPr>
              <a:t>プロジェクトマネージャー</a:t>
            </a:r>
          </a:p>
          <a:p>
            <a:pPr algn="ctr">
              <a:buNone/>
            </a:pPr>
            <a:r>
              <a:rPr lang="ja-JP" sz="1600" b="1" dirty="0">
                <a:solidFill>
                  <a:srgbClr val="2D2D2D"/>
                </a:solidFill>
                <a:latin typeface="BIZ UDPGothic"/>
                <a:ea typeface="BIZ UDPGothic"/>
              </a:rPr>
              <a:t>佐藤 健一</a:t>
            </a:r>
          </a:p>
          <a:p>
            <a:pPr algn="ctr">
              <a:buNone/>
            </a:pPr>
            <a:r>
              <a:rPr lang="ja-JP" sz="800" dirty="0">
                <a:solidFill>
                  <a:srgbClr val="8C8C8C"/>
                </a:solidFill>
                <a:latin typeface="BIZ UDPGothic"/>
                <a:ea typeface="BIZ UDPGothic"/>
              </a:rPr>
              <a:t>─────</a:t>
            </a:r>
          </a:p>
          <a:p>
            <a:pPr algn="ctr">
              <a:buNone/>
            </a:pPr>
            <a:r>
              <a:rPr lang="ja-JP" sz="900" dirty="0">
                <a:solidFill>
                  <a:srgbClr val="4A4A4A"/>
                </a:solidFill>
                <a:latin typeface="BIZ UDPGothic"/>
                <a:ea typeface="BIZ UDPGothic"/>
              </a:rPr>
              <a:t>全体進行・課題管理</a:t>
            </a:r>
          </a:p>
          <a:p>
            <a:pPr algn="ctr">
              <a:buNone/>
            </a:pPr>
            <a:r>
              <a:rPr lang="ja-JP" sz="900" dirty="0">
                <a:solidFill>
                  <a:srgbClr val="4A4A4A"/>
                </a:solidFill>
                <a:latin typeface="BIZ UDPGothic"/>
                <a:ea typeface="BIZ UDPGothic"/>
              </a:rPr>
              <a:t>成果物管理・顧客折衝</a:t>
            </a:r>
          </a:p>
        </p:txBody>
      </p:sp>
      <p:sp>
        <p:nvSpPr>
          <p:cNvPr id="22" name="Member2"/>
          <p:cNvSpPr/>
          <p:nvPr/>
        </p:nvSpPr>
        <p:spPr>
          <a:xfrm>
            <a:off x="4343400" y="1981200"/>
            <a:ext cx="1752600" cy="1828800"/>
          </a:xfrm>
          <a:prstGeom prst="roundRect">
            <a:avLst>
              <a:gd name="adj" fmla="val 8000"/>
            </a:avLst>
          </a:prstGeom>
          <a:solidFill>
            <a:srgbClr val="FAFAFA"/>
          </a:solidFill>
          <a:ln w="12700">
            <a:solidFill>
              <a:srgbClr val="D9D0C7"/>
            </a:solidFill>
          </a:ln>
        </p:spPr>
        <p:txBody>
          <a:bodyPr wrap="square" lIns="72000" tIns="72000" rIns="72000" bIns="72000" anchor="ctr"/>
          <a:lstStyle/>
          <a:p>
            <a:pPr algn="ctr">
              <a:buNone/>
            </a:pPr>
            <a:r>
              <a:rPr lang="ja-JP" sz="900" b="1" dirty="0">
                <a:solidFill>
                  <a:srgbClr val="A23B2C"/>
                </a:solidFill>
                <a:latin typeface="BIZ UDPGothic"/>
                <a:ea typeface="BIZ UDPGothic"/>
              </a:rPr>
              <a:t>リードデータサイエンティスト</a:t>
            </a:r>
          </a:p>
          <a:p>
            <a:pPr algn="ctr">
              <a:buNone/>
            </a:pPr>
            <a:r>
              <a:rPr lang="ja-JP" sz="1600" b="1" dirty="0">
                <a:solidFill>
                  <a:srgbClr val="2D2D2D"/>
                </a:solidFill>
                <a:latin typeface="BIZ UDPGothic"/>
                <a:ea typeface="BIZ UDPGothic"/>
              </a:rPr>
              <a:t>渡辺 遥</a:t>
            </a:r>
          </a:p>
          <a:p>
            <a:pPr algn="ctr">
              <a:buNone/>
            </a:pPr>
            <a:r>
              <a:rPr lang="ja-JP" sz="800" dirty="0">
                <a:solidFill>
                  <a:srgbClr val="8C8C8C"/>
                </a:solidFill>
                <a:latin typeface="BIZ UDPGothic"/>
                <a:ea typeface="BIZ UDPGothic"/>
              </a:rPr>
              <a:t>─────</a:t>
            </a:r>
          </a:p>
          <a:p>
            <a:pPr algn="ctr">
              <a:buNone/>
            </a:pPr>
            <a:r>
              <a:rPr lang="ja-JP" sz="900" dirty="0">
                <a:solidFill>
                  <a:srgbClr val="4A4A4A"/>
                </a:solidFill>
                <a:latin typeface="BIZ UDPGothic"/>
                <a:ea typeface="BIZ UDPGothic"/>
              </a:rPr>
              <a:t>分析設計・モデル方針</a:t>
            </a:r>
          </a:p>
          <a:p>
            <a:pPr algn="ctr">
              <a:buNone/>
            </a:pPr>
            <a:r>
              <a:rPr lang="ja-JP" sz="900" dirty="0">
                <a:solidFill>
                  <a:srgbClr val="4A4A4A"/>
                </a:solidFill>
                <a:latin typeface="BIZ UDPGothic"/>
                <a:ea typeface="BIZ UDPGothic"/>
              </a:rPr>
              <a:t>評価設計・示唆整理</a:t>
            </a:r>
          </a:p>
        </p:txBody>
      </p:sp>
      <p:sp>
        <p:nvSpPr>
          <p:cNvPr id="23" name="Member3"/>
          <p:cNvSpPr/>
          <p:nvPr/>
        </p:nvSpPr>
        <p:spPr>
          <a:xfrm>
            <a:off x="6210300" y="1981200"/>
            <a:ext cx="1752600" cy="1828800"/>
          </a:xfrm>
          <a:prstGeom prst="roundRect">
            <a:avLst>
              <a:gd name="adj" fmla="val 8000"/>
            </a:avLst>
          </a:prstGeom>
          <a:solidFill>
            <a:srgbClr val="FAFAFA"/>
          </a:solidFill>
          <a:ln w="12700">
            <a:solidFill>
              <a:srgbClr val="D9D0C7"/>
            </a:solidFill>
          </a:ln>
        </p:spPr>
        <p:txBody>
          <a:bodyPr wrap="square" lIns="72000" tIns="72000" rIns="72000" bIns="72000" anchor="ctr"/>
          <a:lstStyle/>
          <a:p>
            <a:pPr algn="ctr">
              <a:buNone/>
            </a:pPr>
            <a:r>
              <a:rPr lang="ja-JP" sz="900" b="1" dirty="0">
                <a:solidFill>
                  <a:srgbClr val="A23B2C"/>
                </a:solidFill>
                <a:latin typeface="BIZ UDPGothic"/>
                <a:ea typeface="BIZ UDPGothic"/>
              </a:rPr>
              <a:t>データエンジニア</a:t>
            </a:r>
          </a:p>
          <a:p>
            <a:pPr algn="ctr">
              <a:buNone/>
            </a:pPr>
            <a:r>
              <a:rPr lang="ja-JP" sz="1600" b="1" dirty="0">
                <a:solidFill>
                  <a:srgbClr val="2D2D2D"/>
                </a:solidFill>
                <a:latin typeface="BIZ UDPGothic"/>
                <a:ea typeface="BIZ UDPGothic"/>
              </a:rPr>
              <a:t>斎藤 悠斗</a:t>
            </a:r>
          </a:p>
          <a:p>
            <a:pPr algn="ctr">
              <a:buNone/>
            </a:pPr>
            <a:r>
              <a:rPr lang="ja-JP" sz="800" dirty="0">
                <a:solidFill>
                  <a:srgbClr val="8C8C8C"/>
                </a:solidFill>
                <a:latin typeface="BIZ UDPGothic"/>
                <a:ea typeface="BIZ UDPGothic"/>
              </a:rPr>
              <a:t>─────</a:t>
            </a:r>
          </a:p>
          <a:p>
            <a:pPr algn="ctr">
              <a:buNone/>
            </a:pPr>
            <a:r>
              <a:rPr lang="ja-JP" sz="900" dirty="0">
                <a:solidFill>
                  <a:srgbClr val="4A4A4A"/>
                </a:solidFill>
                <a:latin typeface="BIZ UDPGothic"/>
                <a:ea typeface="BIZ UDPGothic"/>
              </a:rPr>
              <a:t>データ読込・前処理</a:t>
            </a:r>
          </a:p>
          <a:p>
            <a:pPr algn="ctr">
              <a:buNone/>
            </a:pPr>
            <a:r>
              <a:rPr lang="ja-JP" sz="900" dirty="0">
                <a:solidFill>
                  <a:srgbClr val="4A4A4A"/>
                </a:solidFill>
                <a:latin typeface="BIZ UDPGothic"/>
                <a:ea typeface="BIZ UDPGothic"/>
              </a:rPr>
              <a:t>再現性確保・環境整備</a:t>
            </a:r>
          </a:p>
        </p:txBody>
      </p:sp>
      <p:sp>
        <p:nvSpPr>
          <p:cNvPr id="24" name="Member4"/>
          <p:cNvSpPr/>
          <p:nvPr/>
        </p:nvSpPr>
        <p:spPr>
          <a:xfrm>
            <a:off x="8077200" y="1981200"/>
            <a:ext cx="1752600" cy="1828800"/>
          </a:xfrm>
          <a:prstGeom prst="roundRect">
            <a:avLst>
              <a:gd name="adj" fmla="val 8000"/>
            </a:avLst>
          </a:prstGeom>
          <a:solidFill>
            <a:srgbClr val="FAFAFA"/>
          </a:solidFill>
          <a:ln w="12700">
            <a:solidFill>
              <a:srgbClr val="D9D0C7"/>
            </a:solidFill>
          </a:ln>
        </p:spPr>
        <p:txBody>
          <a:bodyPr wrap="square" lIns="72000" tIns="72000" rIns="72000" bIns="72000" anchor="ctr"/>
          <a:lstStyle/>
          <a:p>
            <a:pPr algn="ctr">
              <a:buNone/>
            </a:pPr>
            <a:r>
              <a:rPr lang="ja-JP" sz="900" b="1" dirty="0">
                <a:solidFill>
                  <a:srgbClr val="A23B2C"/>
                </a:solidFill>
                <a:latin typeface="BIZ UDPGothic"/>
                <a:ea typeface="BIZ UDPGothic"/>
              </a:rPr>
              <a:t>ビジネスアナリスト</a:t>
            </a:r>
          </a:p>
          <a:p>
            <a:pPr algn="ctr">
              <a:buNone/>
            </a:pPr>
            <a:r>
              <a:rPr lang="ja-JP" sz="1600" b="1" dirty="0">
                <a:solidFill>
                  <a:srgbClr val="2D2D2D"/>
                </a:solidFill>
                <a:latin typeface="BIZ UDPGothic"/>
                <a:ea typeface="BIZ UDPGothic"/>
              </a:rPr>
              <a:t>藤田 彩</a:t>
            </a:r>
          </a:p>
          <a:p>
            <a:pPr algn="ctr">
              <a:buNone/>
            </a:pPr>
            <a:r>
              <a:rPr lang="ja-JP" sz="800" dirty="0">
                <a:solidFill>
                  <a:srgbClr val="8C8C8C"/>
                </a:solidFill>
                <a:latin typeface="BIZ UDPGothic"/>
                <a:ea typeface="BIZ UDPGothic"/>
              </a:rPr>
              <a:t>─────</a:t>
            </a:r>
          </a:p>
          <a:p>
            <a:pPr algn="ctr">
              <a:buNone/>
            </a:pPr>
            <a:r>
              <a:rPr lang="ja-JP" sz="900" dirty="0">
                <a:solidFill>
                  <a:srgbClr val="4A4A4A"/>
                </a:solidFill>
                <a:latin typeface="BIZ UDPGothic"/>
                <a:ea typeface="BIZ UDPGothic"/>
              </a:rPr>
              <a:t>業務要件整理・資料化</a:t>
            </a:r>
          </a:p>
          <a:p>
            <a:pPr algn="ctr">
              <a:buNone/>
            </a:pPr>
            <a:r>
              <a:rPr lang="ja-JP" sz="900" dirty="0">
                <a:solidFill>
                  <a:srgbClr val="4A4A4A"/>
                </a:solidFill>
                <a:latin typeface="BIZ UDPGothic"/>
                <a:ea typeface="BIZ UDPGothic"/>
              </a:rPr>
              <a:t>論点整理・会議運営支援</a:t>
            </a:r>
          </a:p>
        </p:txBody>
      </p:sp>
      <p:sp>
        <p:nvSpPr>
          <p:cNvPr id="25" name="Member5"/>
          <p:cNvSpPr/>
          <p:nvPr/>
        </p:nvSpPr>
        <p:spPr>
          <a:xfrm>
            <a:off x="9944100" y="1981200"/>
            <a:ext cx="1752600" cy="1828800"/>
          </a:xfrm>
          <a:prstGeom prst="roundRect">
            <a:avLst>
              <a:gd name="adj" fmla="val 8000"/>
            </a:avLst>
          </a:prstGeom>
          <a:solidFill>
            <a:srgbClr val="FAFAFA"/>
          </a:solidFill>
          <a:ln w="12700">
            <a:solidFill>
              <a:srgbClr val="D9D0C7"/>
            </a:solidFill>
          </a:ln>
        </p:spPr>
        <p:txBody>
          <a:bodyPr wrap="square" lIns="72000" tIns="72000" rIns="72000" bIns="72000" anchor="ctr"/>
          <a:lstStyle/>
          <a:p>
            <a:pPr algn="ctr">
              <a:buNone/>
            </a:pPr>
            <a:r>
              <a:rPr lang="ja-JP" sz="900" b="1" dirty="0">
                <a:solidFill>
                  <a:srgbClr val="A23B2C"/>
                </a:solidFill>
                <a:latin typeface="BIZ UDPGothic"/>
                <a:ea typeface="BIZ UDPGothic"/>
              </a:rPr>
              <a:t>QAレビュー担当</a:t>
            </a:r>
          </a:p>
          <a:p>
            <a:pPr algn="ctr">
              <a:buNone/>
            </a:pPr>
            <a:r>
              <a:rPr lang="ja-JP" sz="1600" b="1" dirty="0">
                <a:solidFill>
                  <a:srgbClr val="2D2D2D"/>
                </a:solidFill>
                <a:latin typeface="BIZ UDPGothic"/>
                <a:ea typeface="BIZ UDPGothic"/>
              </a:rPr>
              <a:t>清水 麻衣</a:t>
            </a:r>
          </a:p>
          <a:p>
            <a:pPr algn="ctr">
              <a:buNone/>
            </a:pPr>
            <a:r>
              <a:rPr lang="ja-JP" sz="800" dirty="0">
                <a:solidFill>
                  <a:srgbClr val="8C8C8C"/>
                </a:solidFill>
                <a:latin typeface="BIZ UDPGothic"/>
                <a:ea typeface="BIZ UDPGothic"/>
              </a:rPr>
              <a:t>─────</a:t>
            </a:r>
          </a:p>
          <a:p>
            <a:pPr algn="ctr">
              <a:buNone/>
            </a:pPr>
            <a:r>
              <a:rPr lang="ja-JP" sz="900" dirty="0">
                <a:solidFill>
                  <a:srgbClr val="4A4A4A"/>
                </a:solidFill>
                <a:latin typeface="BIZ UDPGothic"/>
                <a:ea typeface="BIZ UDPGothic"/>
              </a:rPr>
              <a:t>成果物レビュー</a:t>
            </a:r>
          </a:p>
          <a:p>
            <a:pPr algn="ctr">
              <a:buNone/>
            </a:pPr>
            <a:r>
              <a:rPr lang="ja-JP" sz="900" dirty="0">
                <a:solidFill>
                  <a:srgbClr val="4A4A4A"/>
                </a:solidFill>
                <a:latin typeface="BIZ UDPGothic"/>
                <a:ea typeface="BIZ UDPGothic"/>
              </a:rPr>
              <a:t>整合性確認・品質保証</a:t>
            </a:r>
          </a:p>
        </p:txBody>
      </p:sp>
      <p:sp>
        <p:nvSpPr>
          <p:cNvPr id="30" name="ProgressNote"/>
          <p:cNvSpPr txBox="1"/>
          <p:nvPr/>
        </p:nvSpPr>
        <p:spPr>
          <a:xfrm>
            <a:off x="609600" y="4038600"/>
            <a:ext cx="10972800" cy="1524000"/>
          </a:xfrm>
          <a:prstGeom prst="roundRect">
            <a:avLst>
              <a:gd name="adj" fmla="val 3000"/>
            </a:avLst>
          </a:prstGeom>
          <a:solidFill>
            <a:srgbClr val="F2F0ED"/>
          </a:solidFill>
          <a:ln>
            <a:noFill/>
          </a:ln>
        </p:spPr>
        <p:txBody>
          <a:bodyPr wrap="square" lIns="180000" tIns="108000" rIns="180000" bIns="108000" anchor="ctr"/>
          <a:lstStyle/>
          <a:p>
            <a:pPr>
              <a:buNone/>
            </a:pPr>
            <a:r>
              <a:rPr lang="ja-JP" sz="1400" b="1" dirty="0">
                <a:solidFill>
                  <a:srgbClr val="A23B2C"/>
                </a:solidFill>
                <a:latin typeface="BIZ UDPGothic"/>
                <a:ea typeface="BIZ UDPGothic"/>
              </a:rPr>
              <a:t>進行方法</a:t>
            </a:r>
          </a:p>
          <a:p>
            <a:pPr marL="228600" indent="-228600">
              <a:spcBef>
                <a:spcPts val="300"/>
              </a:spcBef>
              <a:buFont typeface="Arial"/>
              <a:buChar char="●"/>
            </a:pPr>
            <a:r>
              <a:rPr lang="ja-JP" sz="1200" dirty="0">
                <a:solidFill>
                  <a:srgbClr val="3D3D3D"/>
                </a:solidFill>
                <a:latin typeface="BIZ UDPGothic"/>
                <a:ea typeface="BIZ UDPGothic"/>
              </a:rPr>
              <a:t>定例レビューおよび中間報告を通じて論点を早期に共有する</a:t>
            </a:r>
          </a:p>
          <a:p>
            <a:pPr marL="228600" indent="-228600">
              <a:spcBef>
                <a:spcPts val="200"/>
              </a:spcBef>
              <a:buFont typeface="Arial"/>
              <a:buChar char="●"/>
            </a:pPr>
            <a:r>
              <a:rPr lang="ja-JP" sz="1200" dirty="0">
                <a:solidFill>
                  <a:srgbClr val="3D3D3D"/>
                </a:solidFill>
                <a:latin typeface="BIZ UDPGothic"/>
                <a:ea typeface="BIZ UDPGothic"/>
              </a:rPr>
              <a:t>成果物中心で進行し、後続文書に再利用可能な粒度で記録する</a:t>
            </a:r>
          </a:p>
          <a:p>
            <a:pPr marL="228600" indent="-228600">
              <a:spcBef>
                <a:spcPts val="200"/>
              </a:spcBef>
              <a:buFont typeface="Arial"/>
              <a:buChar char="●"/>
            </a:pPr>
            <a:r>
              <a:rPr lang="ja-JP" sz="1200" dirty="0">
                <a:solidFill>
                  <a:srgbClr val="3D3D3D"/>
                </a:solidFill>
                <a:latin typeface="BIZ UDPGothic"/>
                <a:ea typeface="BIZ UDPGothic"/>
              </a:rPr>
              <a:t>発注者レビュー結果を反映しながら、最終成果物を取りまとめる</a:t>
            </a:r>
          </a:p>
        </p:txBody>
      </p:sp>
      <p:sp>
        <p:nvSpPr>
          <p:cNvPr id="3" name="テキスト ボックス 2">
            <a:extLst>
              <a:ext uri="{FF2B5EF4-FFF2-40B4-BE49-F238E27FC236}">
                <a16:creationId xmlns:a16="http://schemas.microsoft.com/office/drawing/2014/main" id="{2E9CC206-6A30-44AF-849F-391B4DDE1299}"/>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8</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3286746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A0E493-F170-AEDA-90F0-B49A996DEBB0}"/>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6. </a:t>
            </a:r>
            <a:r>
              <a:rPr kumimoji="1" lang="ja-JP" altLang="en-US" sz="3200" b="1">
                <a:latin typeface="BIZ UDPGothic"/>
                <a:ea typeface="BIZ UDPGothic"/>
              </a:rPr>
              <a:t>スケジュール案</a:t>
            </a:r>
          </a:p>
        </p:txBody>
      </p:sp>
      <p:graphicFrame>
        <p:nvGraphicFramePr>
          <p:cNvPr id="4" name="表 3">
            <a:extLst>
              <a:ext uri="{FF2B5EF4-FFF2-40B4-BE49-F238E27FC236}">
                <a16:creationId xmlns:a16="http://schemas.microsoft.com/office/drawing/2014/main" id="{8DC5C155-3F72-4721-BD03-EC62826D66CF}"/>
              </a:ext>
            </a:extLst>
          </p:cNvPr>
          <p:cNvGraphicFramePr>
            <a:graphicFrameLocks noGrp="1"/>
          </p:cNvGraphicFramePr>
          <p:nvPr>
            <p:extLst>
              <p:ext uri="{D42A27DB-BD31-4B8C-83A1-F6EECF244321}">
                <p14:modId xmlns:p14="http://schemas.microsoft.com/office/powerpoint/2010/main" val="3647276834"/>
              </p:ext>
            </p:extLst>
          </p:nvPr>
        </p:nvGraphicFramePr>
        <p:xfrm>
          <a:off x="609600" y="1930400"/>
          <a:ext cx="11049000" cy="4317999"/>
        </p:xfrm>
        <a:graphic>
          <a:graphicData uri="http://schemas.openxmlformats.org/drawingml/2006/table">
            <a:tbl>
              <a:tblPr firstRow="1" bandRow="1">
                <a:tableStyleId>{5C22544A-7EE6-4342-B048-85BDC9FD1C3A}</a:tableStyleId>
              </a:tblPr>
              <a:tblGrid>
                <a:gridCol w="889000">
                  <a:extLst>
                    <a:ext uri="{9D8B030D-6E8A-4147-A177-3AD203B41FA5}">
                      <a16:colId xmlns:a16="http://schemas.microsoft.com/office/drawing/2014/main" val="2365422511"/>
                    </a:ext>
                  </a:extLst>
                </a:gridCol>
                <a:gridCol w="1778000">
                  <a:extLst>
                    <a:ext uri="{9D8B030D-6E8A-4147-A177-3AD203B41FA5}">
                      <a16:colId xmlns:a16="http://schemas.microsoft.com/office/drawing/2014/main" val="1673282218"/>
                    </a:ext>
                  </a:extLst>
                </a:gridCol>
                <a:gridCol w="4699000">
                  <a:extLst>
                    <a:ext uri="{9D8B030D-6E8A-4147-A177-3AD203B41FA5}">
                      <a16:colId xmlns:a16="http://schemas.microsoft.com/office/drawing/2014/main" val="3875584806"/>
                    </a:ext>
                  </a:extLst>
                </a:gridCol>
                <a:gridCol w="3683000">
                  <a:extLst>
                    <a:ext uri="{9D8B030D-6E8A-4147-A177-3AD203B41FA5}">
                      <a16:colId xmlns:a16="http://schemas.microsoft.com/office/drawing/2014/main" val="1870933985"/>
                    </a:ext>
                  </a:extLst>
                </a:gridCol>
              </a:tblGrid>
              <a:tr h="616857">
                <a:tc>
                  <a:txBody>
                    <a:bodyPr/>
                    <a:lstStyle/>
                    <a:p>
                      <a:pPr algn="ctr"/>
                      <a:r>
                        <a:rPr lang="ja-JP" altLang="en-US" sz="1400" b="1">
                          <a:solidFill>
                            <a:srgbClr val="FFFFFF"/>
                          </a:solidFill>
                          <a:latin typeface="BIZ UDPGothic"/>
                          <a:ea typeface="BIZ UDPGothic"/>
                        </a:rPr>
                        <a:t>週</a:t>
                      </a:r>
                    </a:p>
                  </a:txBody>
                  <a:tcPr anchor="ctr">
                    <a:solidFill>
                      <a:srgbClr val="A23B2C"/>
                    </a:solidFill>
                  </a:tcPr>
                </a:tc>
                <a:tc>
                  <a:txBody>
                    <a:bodyPr/>
                    <a:lstStyle/>
                    <a:p>
                      <a:pPr algn="ctr"/>
                      <a:r>
                        <a:rPr lang="ja-JP" altLang="en-US" sz="1400" b="1">
                          <a:solidFill>
                            <a:srgbClr val="FFFFFF"/>
                          </a:solidFill>
                          <a:latin typeface="BIZ UDPGothic"/>
                          <a:ea typeface="BIZ UDPGothic"/>
                        </a:rPr>
                        <a:t>期間</a:t>
                      </a:r>
                    </a:p>
                  </a:txBody>
                  <a:tcPr anchor="ctr">
                    <a:solidFill>
                      <a:srgbClr val="A23B2C"/>
                    </a:solidFill>
                  </a:tcPr>
                </a:tc>
                <a:tc>
                  <a:txBody>
                    <a:bodyPr/>
                    <a:lstStyle/>
                    <a:p>
                      <a:pPr algn="ctr"/>
                      <a:r>
                        <a:rPr lang="ja-JP" altLang="en-US" sz="1400" b="1">
                          <a:solidFill>
                            <a:srgbClr val="FFFFFF"/>
                          </a:solidFill>
                          <a:latin typeface="BIZ UDPGothic"/>
                          <a:ea typeface="BIZ UDPGothic"/>
                        </a:rPr>
                        <a:t>実施内容</a:t>
                      </a:r>
                    </a:p>
                  </a:txBody>
                  <a:tcPr anchor="ctr">
                    <a:solidFill>
                      <a:srgbClr val="A23B2C"/>
                    </a:solidFill>
                  </a:tcPr>
                </a:tc>
                <a:tc>
                  <a:txBody>
                    <a:bodyPr/>
                    <a:lstStyle/>
                    <a:p>
                      <a:pPr algn="ctr"/>
                      <a:r>
                        <a:rPr lang="ja-JP" altLang="en-US" sz="1400" b="1">
                          <a:solidFill>
                            <a:srgbClr val="FFFFFF"/>
                          </a:solidFill>
                          <a:latin typeface="BIZ UDPGothic"/>
                          <a:ea typeface="BIZ UDPGothic"/>
                        </a:rPr>
                        <a:t>主なアウトプット</a:t>
                      </a:r>
                    </a:p>
                  </a:txBody>
                  <a:tcPr anchor="ctr">
                    <a:solidFill>
                      <a:srgbClr val="A23B2C"/>
                    </a:solidFill>
                  </a:tcPr>
                </a:tc>
                <a:extLst>
                  <a:ext uri="{0D108BD9-81ED-4DB2-BD59-A6C34878D82A}">
                    <a16:rowId xmlns:a16="http://schemas.microsoft.com/office/drawing/2014/main" val="4106099470"/>
                  </a:ext>
                </a:extLst>
              </a:tr>
              <a:tr h="616857">
                <a:tc>
                  <a:txBody>
                    <a:bodyPr/>
                    <a:lstStyle/>
                    <a:p>
                      <a:pPr algn="ctr"/>
                      <a:r>
                        <a:rPr lang="ja-JP" altLang="en-US" sz="1100" b="1">
                          <a:solidFill>
                            <a:srgbClr val="A23B2C"/>
                          </a:solidFill>
                          <a:latin typeface="BIZ UDPGothic"/>
                          <a:ea typeface="BIZ UDPGothic"/>
                        </a:rPr>
                        <a:t>第1週</a:t>
                      </a:r>
                    </a:p>
                  </a:txBody>
                  <a:tcPr anchor="ctr">
                    <a:solidFill>
                      <a:srgbClr val="FFFFFF"/>
                    </a:solidFill>
                  </a:tcPr>
                </a:tc>
                <a:tc>
                  <a:txBody>
                    <a:bodyPr/>
                    <a:lstStyle/>
                    <a:p>
                      <a:pPr algn="ctr"/>
                      <a:r>
                        <a:rPr lang="ja-JP" altLang="en-US" sz="1100">
                          <a:solidFill>
                            <a:srgbClr val="3D3D3D"/>
                          </a:solidFill>
                          <a:latin typeface="BIZ UDPGothic"/>
                          <a:ea typeface="BIZ UDPGothic"/>
                        </a:rPr>
                        <a:t>2025-08-18週</a:t>
                      </a:r>
                    </a:p>
                  </a:txBody>
                  <a:tcPr anchor="ctr">
                    <a:solidFill>
                      <a:srgbClr val="FFFFFF"/>
                    </a:solidFill>
                  </a:tcPr>
                </a:tc>
                <a:tc>
                  <a:txBody>
                    <a:bodyPr/>
                    <a:lstStyle/>
                    <a:p>
                      <a:r>
                        <a:rPr lang="ja-JP" altLang="en-US" sz="1100">
                          <a:solidFill>
                            <a:srgbClr val="3D3D3D"/>
                          </a:solidFill>
                          <a:latin typeface="BIZ UDPGothic"/>
                          <a:ea typeface="BIZ UDPGothic"/>
                        </a:rPr>
                        <a:t>キックオフ、要件確認、データ受領確認、カラム定義確認、分析環境準備</a:t>
                      </a:r>
                    </a:p>
                  </a:txBody>
                  <a:tcPr anchor="ctr">
                    <a:solidFill>
                      <a:srgbClr val="FFFFFF"/>
                    </a:solidFill>
                  </a:tcPr>
                </a:tc>
                <a:tc>
                  <a:txBody>
                    <a:bodyPr/>
                    <a:lstStyle/>
                    <a:p>
                      <a:r>
                        <a:rPr lang="ja-JP" altLang="en-US" sz="1100">
                          <a:solidFill>
                            <a:srgbClr val="3D3D3D"/>
                          </a:solidFill>
                          <a:latin typeface="BIZ UDPGothic"/>
                          <a:ea typeface="BIZ UDPGothic"/>
                        </a:rPr>
                        <a:t>キックオフ議事録、作業計画初版</a:t>
                      </a:r>
                    </a:p>
                  </a:txBody>
                  <a:tcPr anchor="ctr">
                    <a:solidFill>
                      <a:srgbClr val="FFFFFF"/>
                    </a:solidFill>
                  </a:tcPr>
                </a:tc>
                <a:extLst>
                  <a:ext uri="{0D108BD9-81ED-4DB2-BD59-A6C34878D82A}">
                    <a16:rowId xmlns:a16="http://schemas.microsoft.com/office/drawing/2014/main" val="3162598049"/>
                  </a:ext>
                </a:extLst>
              </a:tr>
              <a:tr h="616857">
                <a:tc>
                  <a:txBody>
                    <a:bodyPr/>
                    <a:lstStyle/>
                    <a:p>
                      <a:pPr algn="ctr"/>
                      <a:r>
                        <a:rPr lang="ja-JP" altLang="en-US" sz="1100" b="1">
                          <a:solidFill>
                            <a:srgbClr val="A23B2C"/>
                          </a:solidFill>
                          <a:latin typeface="BIZ UDPGothic"/>
                          <a:ea typeface="BIZ UDPGothic"/>
                        </a:rPr>
                        <a:t>第2週</a:t>
                      </a:r>
                    </a:p>
                  </a:txBody>
                  <a:tcPr anchor="ctr">
                    <a:solidFill>
                      <a:srgbClr val="F2F0ED"/>
                    </a:solidFill>
                  </a:tcPr>
                </a:tc>
                <a:tc>
                  <a:txBody>
                    <a:bodyPr/>
                    <a:lstStyle/>
                    <a:p>
                      <a:pPr algn="ctr"/>
                      <a:r>
                        <a:rPr lang="ja-JP" altLang="en-US" sz="1100">
                          <a:solidFill>
                            <a:srgbClr val="3D3D3D"/>
                          </a:solidFill>
                          <a:latin typeface="BIZ UDPGothic"/>
                          <a:ea typeface="BIZ UDPGothic"/>
                        </a:rPr>
                        <a:t>開始2週目</a:t>
                      </a:r>
                    </a:p>
                  </a:txBody>
                  <a:tcPr anchor="ctr">
                    <a:solidFill>
                      <a:srgbClr val="F2F0ED"/>
                    </a:solidFill>
                  </a:tcPr>
                </a:tc>
                <a:tc>
                  <a:txBody>
                    <a:bodyPr/>
                    <a:lstStyle/>
                    <a:p>
                      <a:r>
                        <a:rPr lang="ja-JP" altLang="en-US" sz="1100">
                          <a:solidFill>
                            <a:srgbClr val="3D3D3D"/>
                          </a:solidFill>
                          <a:latin typeface="BIZ UDPGothic"/>
                          <a:ea typeface="BIZ UDPGothic"/>
                        </a:rPr>
                        <a:t>データ棚卸し、欠損確認、カテゴリ分布確認、EDA実施</a:t>
                      </a:r>
                    </a:p>
                  </a:txBody>
                  <a:tcPr anchor="ctr">
                    <a:solidFill>
                      <a:srgbClr val="F2F0ED"/>
                    </a:solidFill>
                  </a:tcPr>
                </a:tc>
                <a:tc>
                  <a:txBody>
                    <a:bodyPr/>
                    <a:lstStyle/>
                    <a:p>
                      <a:r>
                        <a:rPr lang="ja-JP" altLang="en-US" sz="1100">
                          <a:solidFill>
                            <a:srgbClr val="3D3D3D"/>
                          </a:solidFill>
                          <a:latin typeface="BIZ UDPGothic"/>
                          <a:ea typeface="BIZ UDPGothic"/>
                        </a:rPr>
                        <a:t>データ理解メモ、EDA初版</a:t>
                      </a:r>
                    </a:p>
                  </a:txBody>
                  <a:tcPr anchor="ctr">
                    <a:solidFill>
                      <a:srgbClr val="F2F0ED"/>
                    </a:solidFill>
                  </a:tcPr>
                </a:tc>
                <a:extLst>
                  <a:ext uri="{0D108BD9-81ED-4DB2-BD59-A6C34878D82A}">
                    <a16:rowId xmlns:a16="http://schemas.microsoft.com/office/drawing/2014/main" val="1752527337"/>
                  </a:ext>
                </a:extLst>
              </a:tr>
              <a:tr h="616857">
                <a:tc>
                  <a:txBody>
                    <a:bodyPr/>
                    <a:lstStyle/>
                    <a:p>
                      <a:pPr algn="ctr"/>
                      <a:r>
                        <a:rPr lang="ja-JP" altLang="en-US" sz="1100" b="1">
                          <a:solidFill>
                            <a:srgbClr val="A23B2C"/>
                          </a:solidFill>
                          <a:latin typeface="BIZ UDPGothic"/>
                          <a:ea typeface="BIZ UDPGothic"/>
                        </a:rPr>
                        <a:t>第3週</a:t>
                      </a:r>
                    </a:p>
                  </a:txBody>
                  <a:tcPr anchor="ctr">
                    <a:solidFill>
                      <a:srgbClr val="FFFFFF"/>
                    </a:solidFill>
                  </a:tcPr>
                </a:tc>
                <a:tc>
                  <a:txBody>
                    <a:bodyPr/>
                    <a:lstStyle/>
                    <a:p>
                      <a:pPr algn="ctr"/>
                      <a:r>
                        <a:rPr lang="ja-JP" altLang="en-US" sz="1100">
                          <a:solidFill>
                            <a:srgbClr val="3D3D3D"/>
                          </a:solidFill>
                          <a:latin typeface="BIZ UDPGothic"/>
                          <a:ea typeface="BIZ UDPGothic"/>
                        </a:rPr>
                        <a:t>開始3週目</a:t>
                      </a:r>
                    </a:p>
                  </a:txBody>
                  <a:tcPr anchor="ctr">
                    <a:solidFill>
                      <a:srgbClr val="FFFFFF"/>
                    </a:solidFill>
                  </a:tcPr>
                </a:tc>
                <a:tc>
                  <a:txBody>
                    <a:bodyPr/>
                    <a:lstStyle/>
                    <a:p>
                      <a:r>
                        <a:rPr lang="ja-JP" altLang="en-US" sz="1100">
                          <a:solidFill>
                            <a:srgbClr val="3D3D3D"/>
                          </a:solidFill>
                          <a:latin typeface="BIZ UDPGothic"/>
                          <a:ea typeface="BIZ UDPGothic"/>
                        </a:rPr>
                        <a:t>前処理設計、カテゴリ取扱い整理、ベースラインモデル構築</a:t>
                      </a:r>
                    </a:p>
                  </a:txBody>
                  <a:tcPr anchor="ctr">
                    <a:solidFill>
                      <a:srgbClr val="FFFFFF"/>
                    </a:solidFill>
                  </a:tcPr>
                </a:tc>
                <a:tc>
                  <a:txBody>
                    <a:bodyPr/>
                    <a:lstStyle/>
                    <a:p>
                      <a:r>
                        <a:rPr lang="ja-JP" altLang="en-US" sz="1100">
                          <a:solidFill>
                            <a:srgbClr val="3D3D3D"/>
                          </a:solidFill>
                          <a:latin typeface="BIZ UDPGothic"/>
                          <a:ea typeface="BIZ UDPGothic"/>
                        </a:rPr>
                        <a:t>前処理方針、初期評価結果</a:t>
                      </a:r>
                    </a:p>
                  </a:txBody>
                  <a:tcPr anchor="ctr">
                    <a:solidFill>
                      <a:srgbClr val="FFFFFF"/>
                    </a:solidFill>
                  </a:tcPr>
                </a:tc>
                <a:extLst>
                  <a:ext uri="{0D108BD9-81ED-4DB2-BD59-A6C34878D82A}">
                    <a16:rowId xmlns:a16="http://schemas.microsoft.com/office/drawing/2014/main" val="3405930548"/>
                  </a:ext>
                </a:extLst>
              </a:tr>
              <a:tr h="616857">
                <a:tc>
                  <a:txBody>
                    <a:bodyPr/>
                    <a:lstStyle/>
                    <a:p>
                      <a:pPr algn="ctr"/>
                      <a:r>
                        <a:rPr lang="ja-JP" altLang="en-US" sz="1100" b="1">
                          <a:solidFill>
                            <a:srgbClr val="A23B2C"/>
                          </a:solidFill>
                          <a:latin typeface="BIZ UDPGothic"/>
                          <a:ea typeface="BIZ UDPGothic"/>
                        </a:rPr>
                        <a:t>第4週</a:t>
                      </a:r>
                    </a:p>
                  </a:txBody>
                  <a:tcPr anchor="ctr">
                    <a:solidFill>
                      <a:srgbClr val="F2F0ED"/>
                    </a:solidFill>
                  </a:tcPr>
                </a:tc>
                <a:tc>
                  <a:txBody>
                    <a:bodyPr/>
                    <a:lstStyle/>
                    <a:p>
                      <a:pPr algn="ctr"/>
                      <a:r>
                        <a:rPr lang="ja-JP" altLang="en-US" sz="1100">
                          <a:solidFill>
                            <a:srgbClr val="3D3D3D"/>
                          </a:solidFill>
                          <a:latin typeface="BIZ UDPGothic"/>
                          <a:ea typeface="BIZ UDPGothic"/>
                        </a:rPr>
                        <a:t>開始4週目</a:t>
                      </a:r>
                    </a:p>
                  </a:txBody>
                  <a:tcPr anchor="ctr">
                    <a:solidFill>
                      <a:srgbClr val="F2F0ED"/>
                    </a:solidFill>
                  </a:tcPr>
                </a:tc>
                <a:tc>
                  <a:txBody>
                    <a:bodyPr/>
                    <a:lstStyle/>
                    <a:p>
                      <a:r>
                        <a:rPr lang="ja-JP" altLang="en-US" sz="1100">
                          <a:solidFill>
                            <a:srgbClr val="3D3D3D"/>
                          </a:solidFill>
                          <a:latin typeface="BIZ UDPGothic"/>
                          <a:ea typeface="BIZ UDPGothic"/>
                        </a:rPr>
                        <a:t>モデル改善、重要変数分析、公平性観点確認</a:t>
                      </a:r>
                    </a:p>
                  </a:txBody>
                  <a:tcPr anchor="ctr">
                    <a:solidFill>
                      <a:srgbClr val="F2F0ED"/>
                    </a:solidFill>
                  </a:tcPr>
                </a:tc>
                <a:tc>
                  <a:txBody>
                    <a:bodyPr/>
                    <a:lstStyle/>
                    <a:p>
                      <a:r>
                        <a:rPr lang="ja-JP" altLang="en-US" sz="1100">
                          <a:solidFill>
                            <a:srgbClr val="3D3D3D"/>
                          </a:solidFill>
                          <a:latin typeface="BIZ UDPGothic"/>
                          <a:ea typeface="BIZ UDPGothic"/>
                        </a:rPr>
                        <a:t>中間報告書</a:t>
                      </a:r>
                    </a:p>
                  </a:txBody>
                  <a:tcPr anchor="ctr">
                    <a:solidFill>
                      <a:srgbClr val="F2F0ED"/>
                    </a:solidFill>
                  </a:tcPr>
                </a:tc>
                <a:extLst>
                  <a:ext uri="{0D108BD9-81ED-4DB2-BD59-A6C34878D82A}">
                    <a16:rowId xmlns:a16="http://schemas.microsoft.com/office/drawing/2014/main" val="1496865760"/>
                  </a:ext>
                </a:extLst>
              </a:tr>
              <a:tr h="616857">
                <a:tc>
                  <a:txBody>
                    <a:bodyPr/>
                    <a:lstStyle/>
                    <a:p>
                      <a:pPr algn="ctr"/>
                      <a:r>
                        <a:rPr lang="ja-JP" altLang="en-US" sz="1100" b="1">
                          <a:solidFill>
                            <a:srgbClr val="A23B2C"/>
                          </a:solidFill>
                          <a:latin typeface="BIZ UDPGothic"/>
                          <a:ea typeface="BIZ UDPGothic"/>
                        </a:rPr>
                        <a:t>第5週</a:t>
                      </a:r>
                    </a:p>
                  </a:txBody>
                  <a:tcPr anchor="ctr">
                    <a:solidFill>
                      <a:srgbClr val="FFFFFF"/>
                    </a:solidFill>
                  </a:tcPr>
                </a:tc>
                <a:tc>
                  <a:txBody>
                    <a:bodyPr/>
                    <a:lstStyle/>
                    <a:p>
                      <a:pPr algn="ctr"/>
                      <a:r>
                        <a:rPr lang="ja-JP" altLang="en-US" sz="1100">
                          <a:solidFill>
                            <a:srgbClr val="3D3D3D"/>
                          </a:solidFill>
                          <a:latin typeface="BIZ UDPGothic"/>
                          <a:ea typeface="BIZ UDPGothic"/>
                        </a:rPr>
                        <a:t>開始5週目</a:t>
                      </a:r>
                    </a:p>
                  </a:txBody>
                  <a:tcPr anchor="ctr">
                    <a:solidFill>
                      <a:srgbClr val="FFFFFF"/>
                    </a:solidFill>
                  </a:tcPr>
                </a:tc>
                <a:tc>
                  <a:txBody>
                    <a:bodyPr/>
                    <a:lstStyle/>
                    <a:p>
                      <a:r>
                        <a:rPr lang="ja-JP" altLang="en-US" sz="1100">
                          <a:solidFill>
                            <a:srgbClr val="3D3D3D"/>
                          </a:solidFill>
                          <a:latin typeface="BIZ UDPGothic"/>
                          <a:ea typeface="BIZ UDPGothic"/>
                        </a:rPr>
                        <a:t>示唆整理、業務活用観点整理、最終報告書作成</a:t>
                      </a:r>
                    </a:p>
                  </a:txBody>
                  <a:tcPr anchor="ctr">
                    <a:solidFill>
                      <a:srgbClr val="FFFFFF"/>
                    </a:solidFill>
                  </a:tcPr>
                </a:tc>
                <a:tc>
                  <a:txBody>
                    <a:bodyPr/>
                    <a:lstStyle/>
                    <a:p>
                      <a:r>
                        <a:rPr lang="ja-JP" altLang="en-US" sz="1100">
                          <a:solidFill>
                            <a:srgbClr val="3D3D3D"/>
                          </a:solidFill>
                          <a:latin typeface="BIZ UDPGothic"/>
                          <a:ea typeface="BIZ UDPGothic"/>
                        </a:rPr>
                        <a:t>最終報告書ドラフト</a:t>
                      </a:r>
                    </a:p>
                  </a:txBody>
                  <a:tcPr anchor="ctr">
                    <a:solidFill>
                      <a:srgbClr val="FFFFFF"/>
                    </a:solidFill>
                  </a:tcPr>
                </a:tc>
                <a:extLst>
                  <a:ext uri="{0D108BD9-81ED-4DB2-BD59-A6C34878D82A}">
                    <a16:rowId xmlns:a16="http://schemas.microsoft.com/office/drawing/2014/main" val="2617303927"/>
                  </a:ext>
                </a:extLst>
              </a:tr>
              <a:tr h="616857">
                <a:tc>
                  <a:txBody>
                    <a:bodyPr/>
                    <a:lstStyle/>
                    <a:p>
                      <a:pPr algn="ctr"/>
                      <a:r>
                        <a:rPr lang="ja-JP" altLang="en-US" sz="1100" b="1">
                          <a:solidFill>
                            <a:srgbClr val="A23B2C"/>
                          </a:solidFill>
                          <a:latin typeface="BIZ UDPGothic"/>
                          <a:ea typeface="BIZ UDPGothic"/>
                        </a:rPr>
                        <a:t>第6週</a:t>
                      </a:r>
                    </a:p>
                  </a:txBody>
                  <a:tcPr anchor="ctr">
                    <a:solidFill>
                      <a:srgbClr val="F2F0ED"/>
                    </a:solidFill>
                  </a:tcPr>
                </a:tc>
                <a:tc>
                  <a:txBody>
                    <a:bodyPr/>
                    <a:lstStyle/>
                    <a:p>
                      <a:pPr algn="ctr"/>
                      <a:r>
                        <a:rPr lang="ja-JP" altLang="en-US" sz="1100">
                          <a:solidFill>
                            <a:srgbClr val="3D3D3D"/>
                          </a:solidFill>
                          <a:latin typeface="BIZ UDPGothic"/>
                          <a:ea typeface="BIZ UDPGothic"/>
                        </a:rPr>
                        <a:t>開始6週目</a:t>
                      </a:r>
                    </a:p>
                  </a:txBody>
                  <a:tcPr anchor="ctr">
                    <a:solidFill>
                      <a:srgbClr val="F2F0ED"/>
                    </a:solidFill>
                  </a:tcPr>
                </a:tc>
                <a:tc>
                  <a:txBody>
                    <a:bodyPr/>
                    <a:lstStyle/>
                    <a:p>
                      <a:r>
                        <a:rPr lang="ja-JP" altLang="en-US" sz="1100">
                          <a:solidFill>
                            <a:srgbClr val="3D3D3D"/>
                          </a:solidFill>
                          <a:latin typeface="BIZ UDPGothic"/>
                          <a:ea typeface="BIZ UDPGothic"/>
                        </a:rPr>
                        <a:t>最終レビュー、納品、検収対応</a:t>
                      </a:r>
                    </a:p>
                  </a:txBody>
                  <a:tcPr anchor="ctr">
                    <a:solidFill>
                      <a:srgbClr val="F2F0ED"/>
                    </a:solidFill>
                  </a:tcPr>
                </a:tc>
                <a:tc>
                  <a:txBody>
                    <a:bodyPr/>
                    <a:lstStyle/>
                    <a:p>
                      <a:r>
                        <a:rPr lang="ja-JP" altLang="en-US" sz="1100">
                          <a:solidFill>
                            <a:srgbClr val="3D3D3D"/>
                          </a:solidFill>
                          <a:latin typeface="BIZ UDPGothic"/>
                          <a:ea typeface="BIZ UDPGothic"/>
                        </a:rPr>
                        <a:t>最終報告書、成果物一式</a:t>
                      </a:r>
                    </a:p>
                  </a:txBody>
                  <a:tcPr anchor="ctr">
                    <a:solidFill>
                      <a:srgbClr val="F2F0ED"/>
                    </a:solidFill>
                  </a:tcPr>
                </a:tc>
                <a:extLst>
                  <a:ext uri="{0D108BD9-81ED-4DB2-BD59-A6C34878D82A}">
                    <a16:rowId xmlns:a16="http://schemas.microsoft.com/office/drawing/2014/main" val="3527604346"/>
                  </a:ext>
                </a:extLst>
              </a:tr>
            </a:tbl>
          </a:graphicData>
        </a:graphic>
      </p:graphicFrame>
      <p:sp>
        <p:nvSpPr>
          <p:cNvPr id="5" name="テキスト ボックス 4">
            <a:extLst>
              <a:ext uri="{FF2B5EF4-FFF2-40B4-BE49-F238E27FC236}">
                <a16:creationId xmlns:a16="http://schemas.microsoft.com/office/drawing/2014/main" id="{A2749F74-83D6-41E7-ACF3-50C48B3C9EA5}"/>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9</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4201458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7207A2-4C76-60BB-D9D1-8C2876E2BDD5}"/>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6. </a:t>
            </a:r>
            <a:r>
              <a:rPr kumimoji="1" lang="ja-JP" altLang="en-US" sz="3200" b="1">
                <a:latin typeface="BIZ UDPGothic"/>
                <a:ea typeface="BIZ UDPGothic"/>
              </a:rPr>
              <a:t>マイルストーン</a:t>
            </a:r>
          </a:p>
        </p:txBody>
      </p:sp>
      <p:sp>
        <p:nvSpPr>
          <p:cNvPr id="10" name="TimelineBar"/>
          <p:cNvSpPr/>
          <p:nvPr/>
        </p:nvSpPr>
        <p:spPr>
          <a:xfrm>
            <a:off x="609600" y="2438400"/>
            <a:ext cx="10972800" cy="76200"/>
          </a:xfrm>
          <a:prstGeom prst="roundRect">
            <a:avLst>
              <a:gd name="adj" fmla="val 50000"/>
            </a:avLst>
          </a:prstGeom>
          <a:solidFill>
            <a:srgbClr val="D9D0C7"/>
          </a:solidFill>
          <a:ln>
            <a:noFill/>
          </a:ln>
        </p:spPr>
        <p:txBody>
          <a:bodyPr/>
          <a:lstStyle/>
          <a:p>
            <a:endParaRPr lang="ja-JP"/>
          </a:p>
        </p:txBody>
      </p:sp>
      <p:sp>
        <p:nvSpPr>
          <p:cNvPr id="20" name="Marker0"/>
          <p:cNvSpPr/>
          <p:nvPr/>
        </p:nvSpPr>
        <p:spPr>
          <a:xfrm>
            <a:off x="1409700" y="2381250"/>
            <a:ext cx="228600" cy="228600"/>
          </a:xfrm>
          <a:prstGeom prst="diamond">
            <a:avLst/>
          </a:prstGeom>
          <a:solidFill>
            <a:srgbClr val="A23B2C"/>
          </a:solidFill>
          <a:ln>
            <a:noFill/>
          </a:ln>
        </p:spPr>
        <p:txBody>
          <a:bodyPr/>
          <a:lstStyle/>
          <a:p>
            <a:endParaRPr lang="ja-JP"/>
          </a:p>
        </p:txBody>
      </p:sp>
      <p:sp>
        <p:nvSpPr>
          <p:cNvPr id="30" name="Week0"/>
          <p:cNvSpPr txBox="1"/>
          <p:nvPr/>
        </p:nvSpPr>
        <p:spPr>
          <a:xfrm>
            <a:off x="1066800" y="1828800"/>
            <a:ext cx="914400" cy="381000"/>
          </a:xfrm>
          <a:prstGeom prst="rect">
            <a:avLst/>
          </a:prstGeom>
          <a:noFill/>
          <a:ln>
            <a:noFill/>
          </a:ln>
        </p:spPr>
        <p:txBody>
          <a:bodyPr wrap="square" anchor="b"/>
          <a:lstStyle/>
          <a:p>
            <a:pPr algn="ctr">
              <a:buNone/>
            </a:pPr>
            <a:r>
              <a:rPr lang="ja-JP" sz="1100" b="1" dirty="0">
                <a:solidFill>
                  <a:srgbClr val="A23B2C"/>
                </a:solidFill>
                <a:latin typeface="BIZ UDPGothic"/>
                <a:ea typeface="BIZ UDPGothic"/>
              </a:rPr>
              <a:t>第1週</a:t>
            </a:r>
          </a:p>
        </p:txBody>
      </p:sp>
      <p:sp>
        <p:nvSpPr>
          <p:cNvPr id="40" name="Detail0"/>
          <p:cNvSpPr txBox="1"/>
          <p:nvPr/>
        </p:nvSpPr>
        <p:spPr>
          <a:xfrm>
            <a:off x="609600" y="2743200"/>
            <a:ext cx="1828800" cy="1524000"/>
          </a:xfrm>
          <a:prstGeom prst="roundRect">
            <a:avLst>
              <a:gd name="adj" fmla="val 8000"/>
            </a:avLst>
          </a:prstGeom>
          <a:solidFill>
            <a:srgbClr val="FAFAFA"/>
          </a:solidFill>
          <a:ln w="12700">
            <a:solidFill>
              <a:srgbClr val="D9D0C7"/>
            </a:solidFill>
          </a:ln>
        </p:spPr>
        <p:txBody>
          <a:bodyPr wrap="square" lIns="108000" tIns="72000" rIns="108000" bIns="72000" anchor="t"/>
          <a:lstStyle/>
          <a:p>
            <a:pPr algn="ctr">
              <a:buNone/>
            </a:pPr>
            <a:r>
              <a:rPr lang="ja-JP" sz="1200" b="1" dirty="0">
                <a:solidFill>
                  <a:srgbClr val="2D2D2D"/>
                </a:solidFill>
                <a:latin typeface="BIZ UDPGothic"/>
                <a:ea typeface="BIZ UDPGothic"/>
              </a:rPr>
              <a:t>キックオフ完了</a:t>
            </a:r>
          </a:p>
          <a:p>
            <a:pPr algn="ctr">
              <a:buNone/>
            </a:pPr>
            <a:r>
              <a:rPr lang="ja-JP" sz="1000" dirty="0">
                <a:solidFill>
                  <a:srgbClr val="4A4A4A"/>
                </a:solidFill>
                <a:latin typeface="BIZ UDPGothic"/>
                <a:ea typeface="BIZ UDPGothic"/>
              </a:rPr>
              <a:t>目的・スコープ・連絡系統の合意</a:t>
            </a:r>
          </a:p>
        </p:txBody>
      </p:sp>
      <p:sp>
        <p:nvSpPr>
          <p:cNvPr id="21" name="Marker1"/>
          <p:cNvSpPr/>
          <p:nvPr/>
        </p:nvSpPr>
        <p:spPr>
          <a:xfrm>
            <a:off x="3238500" y="2381250"/>
            <a:ext cx="228600" cy="228600"/>
          </a:xfrm>
          <a:prstGeom prst="diamond">
            <a:avLst/>
          </a:prstGeom>
          <a:solidFill>
            <a:srgbClr val="A23B2C"/>
          </a:solidFill>
          <a:ln>
            <a:noFill/>
          </a:ln>
        </p:spPr>
        <p:txBody>
          <a:bodyPr/>
          <a:lstStyle/>
          <a:p>
            <a:endParaRPr lang="ja-JP"/>
          </a:p>
        </p:txBody>
      </p:sp>
      <p:sp>
        <p:nvSpPr>
          <p:cNvPr id="31" name="Week1"/>
          <p:cNvSpPr txBox="1"/>
          <p:nvPr/>
        </p:nvSpPr>
        <p:spPr>
          <a:xfrm>
            <a:off x="2895600" y="1828800"/>
            <a:ext cx="914400" cy="381000"/>
          </a:xfrm>
          <a:prstGeom prst="rect">
            <a:avLst/>
          </a:prstGeom>
          <a:noFill/>
          <a:ln>
            <a:noFill/>
          </a:ln>
        </p:spPr>
        <p:txBody>
          <a:bodyPr wrap="square" anchor="b"/>
          <a:lstStyle/>
          <a:p>
            <a:pPr algn="ctr">
              <a:buNone/>
            </a:pPr>
            <a:r>
              <a:rPr lang="ja-JP" sz="1100" b="1" dirty="0">
                <a:solidFill>
                  <a:srgbClr val="A23B2C"/>
                </a:solidFill>
                <a:latin typeface="BIZ UDPGothic"/>
                <a:ea typeface="BIZ UDPGothic"/>
              </a:rPr>
              <a:t>第2週</a:t>
            </a:r>
          </a:p>
        </p:txBody>
      </p:sp>
      <p:sp>
        <p:nvSpPr>
          <p:cNvPr id="41" name="Detail1"/>
          <p:cNvSpPr txBox="1"/>
          <p:nvPr/>
        </p:nvSpPr>
        <p:spPr>
          <a:xfrm>
            <a:off x="2438400" y="2743200"/>
            <a:ext cx="1828800" cy="1524000"/>
          </a:xfrm>
          <a:prstGeom prst="roundRect">
            <a:avLst>
              <a:gd name="adj" fmla="val 8000"/>
            </a:avLst>
          </a:prstGeom>
          <a:solidFill>
            <a:srgbClr val="FAFAFA"/>
          </a:solidFill>
          <a:ln w="12700">
            <a:solidFill>
              <a:srgbClr val="D9D0C7"/>
            </a:solidFill>
          </a:ln>
        </p:spPr>
        <p:txBody>
          <a:bodyPr wrap="square" lIns="108000" tIns="72000" rIns="108000" bIns="72000" anchor="t"/>
          <a:lstStyle/>
          <a:p>
            <a:pPr algn="ctr">
              <a:buNone/>
            </a:pPr>
            <a:r>
              <a:rPr lang="ja-JP" sz="1200" b="1" dirty="0">
                <a:solidFill>
                  <a:srgbClr val="2D2D2D"/>
                </a:solidFill>
                <a:latin typeface="BIZ UDPGothic"/>
                <a:ea typeface="BIZ UDPGothic"/>
              </a:rPr>
              <a:t>データ理解完了</a:t>
            </a:r>
          </a:p>
          <a:p>
            <a:pPr algn="ctr">
              <a:buNone/>
            </a:pPr>
            <a:r>
              <a:rPr lang="ja-JP" sz="1000" dirty="0">
                <a:solidFill>
                  <a:srgbClr val="4A4A4A"/>
                </a:solidFill>
                <a:latin typeface="BIZ UDPGothic"/>
                <a:ea typeface="BIZ UDPGothic"/>
              </a:rPr>
              <a:t>欠損・分布・主要論点の整理完了</a:t>
            </a:r>
          </a:p>
        </p:txBody>
      </p:sp>
      <p:sp>
        <p:nvSpPr>
          <p:cNvPr id="22" name="Marker2"/>
          <p:cNvSpPr/>
          <p:nvPr/>
        </p:nvSpPr>
        <p:spPr>
          <a:xfrm>
            <a:off x="5067300" y="2381250"/>
            <a:ext cx="228600" cy="228600"/>
          </a:xfrm>
          <a:prstGeom prst="diamond">
            <a:avLst/>
          </a:prstGeom>
          <a:solidFill>
            <a:srgbClr val="A23B2C"/>
          </a:solidFill>
          <a:ln>
            <a:noFill/>
          </a:ln>
        </p:spPr>
        <p:txBody>
          <a:bodyPr/>
          <a:lstStyle/>
          <a:p>
            <a:endParaRPr lang="ja-JP"/>
          </a:p>
        </p:txBody>
      </p:sp>
      <p:sp>
        <p:nvSpPr>
          <p:cNvPr id="32" name="Week2"/>
          <p:cNvSpPr txBox="1"/>
          <p:nvPr/>
        </p:nvSpPr>
        <p:spPr>
          <a:xfrm>
            <a:off x="4724400" y="1828800"/>
            <a:ext cx="914400" cy="381000"/>
          </a:xfrm>
          <a:prstGeom prst="rect">
            <a:avLst/>
          </a:prstGeom>
          <a:noFill/>
          <a:ln>
            <a:noFill/>
          </a:ln>
        </p:spPr>
        <p:txBody>
          <a:bodyPr wrap="square" anchor="b"/>
          <a:lstStyle/>
          <a:p>
            <a:pPr algn="ctr">
              <a:buNone/>
            </a:pPr>
            <a:r>
              <a:rPr lang="ja-JP" sz="1100" b="1" dirty="0">
                <a:solidFill>
                  <a:srgbClr val="A23B2C"/>
                </a:solidFill>
                <a:latin typeface="BIZ UDPGothic"/>
                <a:ea typeface="BIZ UDPGothic"/>
              </a:rPr>
              <a:t>第4週</a:t>
            </a:r>
          </a:p>
        </p:txBody>
      </p:sp>
      <p:sp>
        <p:nvSpPr>
          <p:cNvPr id="42" name="Detail2"/>
          <p:cNvSpPr txBox="1"/>
          <p:nvPr/>
        </p:nvSpPr>
        <p:spPr>
          <a:xfrm>
            <a:off x="4267200" y="2743200"/>
            <a:ext cx="1828800" cy="1524000"/>
          </a:xfrm>
          <a:prstGeom prst="roundRect">
            <a:avLst>
              <a:gd name="adj" fmla="val 8000"/>
            </a:avLst>
          </a:prstGeom>
          <a:solidFill>
            <a:srgbClr val="FAFAFA"/>
          </a:solidFill>
          <a:ln w="12700">
            <a:solidFill>
              <a:srgbClr val="D9D0C7"/>
            </a:solidFill>
          </a:ln>
        </p:spPr>
        <p:txBody>
          <a:bodyPr wrap="square" lIns="108000" tIns="72000" rIns="108000" bIns="72000" anchor="t"/>
          <a:lstStyle/>
          <a:p>
            <a:pPr algn="ctr">
              <a:buNone/>
            </a:pPr>
            <a:r>
              <a:rPr lang="ja-JP" sz="1200" b="1" dirty="0">
                <a:solidFill>
                  <a:srgbClr val="2D2D2D"/>
                </a:solidFill>
                <a:latin typeface="BIZ UDPGothic"/>
                <a:ea typeface="BIZ UDPGothic"/>
              </a:rPr>
              <a:t>中間報告完了</a:t>
            </a:r>
          </a:p>
          <a:p>
            <a:pPr algn="ctr">
              <a:buNone/>
            </a:pPr>
            <a:r>
              <a:rPr lang="ja-JP" sz="1000" dirty="0">
                <a:solidFill>
                  <a:srgbClr val="4A4A4A"/>
                </a:solidFill>
                <a:latin typeface="BIZ UDPGothic"/>
                <a:ea typeface="BIZ UDPGothic"/>
              </a:rPr>
              <a:t>初期モデル結果と論点レビュー完了</a:t>
            </a:r>
          </a:p>
        </p:txBody>
      </p:sp>
      <p:sp>
        <p:nvSpPr>
          <p:cNvPr id="23" name="Marker3"/>
          <p:cNvSpPr/>
          <p:nvPr/>
        </p:nvSpPr>
        <p:spPr>
          <a:xfrm>
            <a:off x="6896100" y="2381250"/>
            <a:ext cx="228600" cy="228600"/>
          </a:xfrm>
          <a:prstGeom prst="diamond">
            <a:avLst/>
          </a:prstGeom>
          <a:solidFill>
            <a:srgbClr val="A23B2C"/>
          </a:solidFill>
          <a:ln>
            <a:noFill/>
          </a:ln>
        </p:spPr>
        <p:txBody>
          <a:bodyPr/>
          <a:lstStyle/>
          <a:p>
            <a:endParaRPr lang="ja-JP"/>
          </a:p>
        </p:txBody>
      </p:sp>
      <p:sp>
        <p:nvSpPr>
          <p:cNvPr id="33" name="Week3"/>
          <p:cNvSpPr txBox="1"/>
          <p:nvPr/>
        </p:nvSpPr>
        <p:spPr>
          <a:xfrm>
            <a:off x="6553200" y="1828800"/>
            <a:ext cx="914400" cy="381000"/>
          </a:xfrm>
          <a:prstGeom prst="rect">
            <a:avLst/>
          </a:prstGeom>
          <a:noFill/>
          <a:ln>
            <a:noFill/>
          </a:ln>
        </p:spPr>
        <p:txBody>
          <a:bodyPr wrap="square" anchor="b"/>
          <a:lstStyle/>
          <a:p>
            <a:pPr algn="ctr">
              <a:buNone/>
            </a:pPr>
            <a:r>
              <a:rPr lang="ja-JP" sz="1100" b="1" dirty="0">
                <a:solidFill>
                  <a:srgbClr val="A23B2C"/>
                </a:solidFill>
                <a:latin typeface="BIZ UDPGothic"/>
                <a:ea typeface="BIZ UDPGothic"/>
              </a:rPr>
              <a:t>第6週</a:t>
            </a:r>
          </a:p>
        </p:txBody>
      </p:sp>
      <p:sp>
        <p:nvSpPr>
          <p:cNvPr id="43" name="Detail3"/>
          <p:cNvSpPr txBox="1"/>
          <p:nvPr/>
        </p:nvSpPr>
        <p:spPr>
          <a:xfrm>
            <a:off x="6096000" y="2743200"/>
            <a:ext cx="1828800" cy="1524000"/>
          </a:xfrm>
          <a:prstGeom prst="roundRect">
            <a:avLst>
              <a:gd name="adj" fmla="val 8000"/>
            </a:avLst>
          </a:prstGeom>
          <a:solidFill>
            <a:srgbClr val="FAFAFA"/>
          </a:solidFill>
          <a:ln w="12700">
            <a:solidFill>
              <a:srgbClr val="D9D0C7"/>
            </a:solidFill>
          </a:ln>
        </p:spPr>
        <p:txBody>
          <a:bodyPr wrap="square" lIns="108000" tIns="72000" rIns="108000" bIns="72000" anchor="t"/>
          <a:lstStyle/>
          <a:p>
            <a:pPr algn="ctr">
              <a:buNone/>
            </a:pPr>
            <a:r>
              <a:rPr lang="ja-JP" sz="1200" b="1" dirty="0">
                <a:solidFill>
                  <a:srgbClr val="2D2D2D"/>
                </a:solidFill>
                <a:latin typeface="BIZ UDPGothic"/>
                <a:ea typeface="BIZ UDPGothic"/>
              </a:rPr>
              <a:t>最終成果物提出</a:t>
            </a:r>
          </a:p>
          <a:p>
            <a:pPr algn="ctr">
              <a:buNone/>
            </a:pPr>
            <a:r>
              <a:rPr lang="ja-JP" sz="1000" dirty="0">
                <a:solidFill>
                  <a:srgbClr val="4A4A4A"/>
                </a:solidFill>
                <a:latin typeface="BIZ UDPGothic"/>
                <a:ea typeface="BIZ UDPGothic"/>
              </a:rPr>
              <a:t>報告書・分析成果物の提出完了</a:t>
            </a:r>
          </a:p>
        </p:txBody>
      </p:sp>
      <p:sp>
        <p:nvSpPr>
          <p:cNvPr id="24" name="Marker4"/>
          <p:cNvSpPr/>
          <p:nvPr/>
        </p:nvSpPr>
        <p:spPr>
          <a:xfrm>
            <a:off x="8724900" y="2381250"/>
            <a:ext cx="228600" cy="228600"/>
          </a:xfrm>
          <a:prstGeom prst="diamond">
            <a:avLst/>
          </a:prstGeom>
          <a:solidFill>
            <a:srgbClr val="A23B2C"/>
          </a:solidFill>
          <a:ln>
            <a:noFill/>
          </a:ln>
        </p:spPr>
        <p:txBody>
          <a:bodyPr/>
          <a:lstStyle/>
          <a:p>
            <a:endParaRPr lang="ja-JP"/>
          </a:p>
        </p:txBody>
      </p:sp>
      <p:sp>
        <p:nvSpPr>
          <p:cNvPr id="34" name="Week4"/>
          <p:cNvSpPr txBox="1"/>
          <p:nvPr/>
        </p:nvSpPr>
        <p:spPr>
          <a:xfrm>
            <a:off x="8382000" y="1828800"/>
            <a:ext cx="914400" cy="381000"/>
          </a:xfrm>
          <a:prstGeom prst="rect">
            <a:avLst/>
          </a:prstGeom>
          <a:noFill/>
          <a:ln>
            <a:noFill/>
          </a:ln>
        </p:spPr>
        <p:txBody>
          <a:bodyPr wrap="square" anchor="b"/>
          <a:lstStyle/>
          <a:p>
            <a:pPr algn="ctr">
              <a:buNone/>
            </a:pPr>
            <a:r>
              <a:rPr lang="ja-JP" sz="1100" b="1" dirty="0">
                <a:solidFill>
                  <a:srgbClr val="A23B2C"/>
                </a:solidFill>
                <a:latin typeface="BIZ UDPGothic"/>
                <a:ea typeface="BIZ UDPGothic"/>
              </a:rPr>
              <a:t>最終提出後</a:t>
            </a:r>
          </a:p>
        </p:txBody>
      </p:sp>
      <p:sp>
        <p:nvSpPr>
          <p:cNvPr id="44" name="Detail4"/>
          <p:cNvSpPr txBox="1"/>
          <p:nvPr/>
        </p:nvSpPr>
        <p:spPr>
          <a:xfrm>
            <a:off x="7924800" y="2743200"/>
            <a:ext cx="1828800" cy="1524000"/>
          </a:xfrm>
          <a:prstGeom prst="roundRect">
            <a:avLst>
              <a:gd name="adj" fmla="val 8000"/>
            </a:avLst>
          </a:prstGeom>
          <a:solidFill>
            <a:srgbClr val="FAFAFA"/>
          </a:solidFill>
          <a:ln w="12700">
            <a:solidFill>
              <a:srgbClr val="D9D0C7"/>
            </a:solidFill>
          </a:ln>
        </p:spPr>
        <p:txBody>
          <a:bodyPr wrap="square" lIns="108000" tIns="72000" rIns="108000" bIns="72000" anchor="t"/>
          <a:lstStyle/>
          <a:p>
            <a:pPr algn="ctr">
              <a:buNone/>
            </a:pPr>
            <a:r>
              <a:rPr lang="ja-JP" sz="1200" b="1" dirty="0">
                <a:solidFill>
                  <a:srgbClr val="2D2D2D"/>
                </a:solidFill>
                <a:latin typeface="BIZ UDPGothic"/>
                <a:ea typeface="BIZ UDPGothic"/>
              </a:rPr>
              <a:t>検収完了</a:t>
            </a:r>
          </a:p>
          <a:p>
            <a:pPr algn="ctr">
              <a:buNone/>
            </a:pPr>
            <a:r>
              <a:rPr lang="ja-JP" sz="1000" dirty="0">
                <a:solidFill>
                  <a:srgbClr val="4A4A4A"/>
                </a:solidFill>
                <a:latin typeface="BIZ UDPGothic"/>
                <a:ea typeface="BIZ UDPGothic"/>
              </a:rPr>
              <a:t>発注者確認完了</a:t>
            </a:r>
          </a:p>
        </p:txBody>
      </p:sp>
      <p:sp>
        <p:nvSpPr>
          <p:cNvPr id="50" name="ContractInfo"/>
          <p:cNvSpPr txBox="1"/>
          <p:nvPr/>
        </p:nvSpPr>
        <p:spPr>
          <a:xfrm>
            <a:off x="609600" y="1143000"/>
            <a:ext cx="10972800" cy="457200"/>
          </a:xfrm>
          <a:prstGeom prst="roundRect">
            <a:avLst>
              <a:gd name="adj" fmla="val 8000"/>
            </a:avLst>
          </a:prstGeom>
          <a:solidFill>
            <a:srgbClr val="2D2D2D"/>
          </a:solidFill>
          <a:ln>
            <a:noFill/>
          </a:ln>
        </p:spPr>
        <p:txBody>
          <a:bodyPr wrap="square" lIns="180000" tIns="36000" rIns="180000" bIns="36000" anchor="ctr"/>
          <a:lstStyle/>
          <a:p>
            <a:pPr algn="ctr">
              <a:buNone/>
            </a:pPr>
            <a:r>
              <a:rPr lang="ja-JP" sz="1400" b="1" dirty="0">
                <a:solidFill>
                  <a:srgbClr val="FFFFFF"/>
                </a:solidFill>
                <a:latin typeface="BIZ UDPGothic"/>
                <a:ea typeface="BIZ UDPGothic"/>
              </a:rPr>
              <a:t>契約開始日：2025-08-18  ｜  契約期間：6週間</a:t>
            </a:r>
          </a:p>
        </p:txBody>
      </p:sp>
      <p:sp>
        <p:nvSpPr>
          <p:cNvPr id="3" name="テキスト ボックス 2">
            <a:extLst>
              <a:ext uri="{FF2B5EF4-FFF2-40B4-BE49-F238E27FC236}">
                <a16:creationId xmlns:a16="http://schemas.microsoft.com/office/drawing/2014/main" id="{50EA13FB-945D-4AFE-9D35-649262B5EC17}"/>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10</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1933582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250243-981C-1D10-ADF1-039CBBF85522}"/>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7. </a:t>
            </a:r>
            <a:r>
              <a:rPr kumimoji="1" lang="ja-JP" altLang="en-US" sz="3200" b="1">
                <a:latin typeface="BIZ UDPGothic"/>
                <a:ea typeface="BIZ UDPGothic"/>
              </a:rPr>
              <a:t>成果物定義</a:t>
            </a:r>
          </a:p>
        </p:txBody>
      </p:sp>
      <p:sp>
        <p:nvSpPr>
          <p:cNvPr id="10" name="Deliv0"/>
          <p:cNvSpPr txBox="1"/>
          <p:nvPr/>
        </p:nvSpPr>
        <p:spPr>
          <a:xfrm>
            <a:off x="609600" y="1143000"/>
            <a:ext cx="2590800" cy="1600200"/>
          </a:xfrm>
          <a:prstGeom prst="roundRect">
            <a:avLst>
              <a:gd name="adj" fmla="val 5000"/>
            </a:avLst>
          </a:prstGeom>
          <a:solidFill>
            <a:srgbClr val="FAFAFA"/>
          </a:solidFill>
          <a:ln w="12700">
            <a:solidFill>
              <a:srgbClr val="D9D0C7"/>
            </a:solidFill>
          </a:ln>
        </p:spPr>
        <p:txBody>
          <a:bodyPr wrap="square" lIns="144000" tIns="72000" rIns="144000" bIns="72000" anchor="ctr"/>
          <a:lstStyle/>
          <a:p>
            <a:pPr>
              <a:buNone/>
            </a:pPr>
            <a:r>
              <a:rPr lang="ja-JP" sz="2400" b="1" dirty="0">
                <a:solidFill>
                  <a:srgbClr val="A23B2C"/>
                </a:solidFill>
                <a:latin typeface="BIZ UDPGothic"/>
                <a:ea typeface="BIZ UDPGothic"/>
              </a:rPr>
              <a:t>1</a:t>
            </a:r>
            <a:r>
              <a:rPr lang="ja-JP" sz="1000" dirty="0">
                <a:solidFill>
                  <a:srgbClr val="2D2D2D"/>
                </a:solidFill>
                <a:latin typeface="BIZ UDPGothic"/>
                <a:ea typeface="BIZ UDPGothic"/>
              </a:rPr>
              <a:t>  </a:t>
            </a:r>
            <a:r>
              <a:rPr lang="ja-JP" sz="1400" b="1" dirty="0">
                <a:solidFill>
                  <a:srgbClr val="2D2D2D"/>
                </a:solidFill>
                <a:latin typeface="BIZ UDPGothic"/>
                <a:ea typeface="BIZ UDPGothic"/>
              </a:rPr>
              <a:t>プロジェクト概要書</a:t>
            </a:r>
          </a:p>
          <a:p>
            <a:pPr>
              <a:buNone/>
            </a:pPr>
            <a:r>
              <a:rPr lang="ja-JP" sz="1100" dirty="0">
                <a:solidFill>
                  <a:srgbClr val="4A4A4A"/>
                </a:solidFill>
                <a:latin typeface="BIZ UDPGothic"/>
                <a:ea typeface="BIZ UDPGothic"/>
              </a:rPr>
              <a:t>前提、目的、制約、成果物定義を整理した正本文書</a:t>
            </a:r>
          </a:p>
        </p:txBody>
      </p:sp>
      <p:sp>
        <p:nvSpPr>
          <p:cNvPr id="11" name="Deliv1"/>
          <p:cNvSpPr txBox="1"/>
          <p:nvPr/>
        </p:nvSpPr>
        <p:spPr>
          <a:xfrm>
            <a:off x="3352800" y="1143000"/>
            <a:ext cx="2590800" cy="1600200"/>
          </a:xfrm>
          <a:prstGeom prst="roundRect">
            <a:avLst>
              <a:gd name="adj" fmla="val 5000"/>
            </a:avLst>
          </a:prstGeom>
          <a:solidFill>
            <a:srgbClr val="FAFAFA"/>
          </a:solidFill>
          <a:ln w="12700">
            <a:solidFill>
              <a:srgbClr val="D9D0C7"/>
            </a:solidFill>
          </a:ln>
        </p:spPr>
        <p:txBody>
          <a:bodyPr wrap="square" lIns="144000" tIns="72000" rIns="144000" bIns="72000" anchor="ctr"/>
          <a:lstStyle/>
          <a:p>
            <a:pPr>
              <a:buNone/>
            </a:pPr>
            <a:r>
              <a:rPr lang="ja-JP" sz="2400" b="1" dirty="0">
                <a:solidFill>
                  <a:srgbClr val="A23B2C"/>
                </a:solidFill>
                <a:latin typeface="BIZ UDPGothic"/>
                <a:ea typeface="BIZ UDPGothic"/>
              </a:rPr>
              <a:t>2</a:t>
            </a:r>
            <a:r>
              <a:rPr lang="ja-JP" sz="1000" dirty="0">
                <a:solidFill>
                  <a:srgbClr val="2D2D2D"/>
                </a:solidFill>
                <a:latin typeface="BIZ UDPGothic"/>
                <a:ea typeface="BIZ UDPGothic"/>
              </a:rPr>
              <a:t>  </a:t>
            </a:r>
            <a:r>
              <a:rPr lang="ja-JP" sz="1400" b="1" dirty="0">
                <a:solidFill>
                  <a:srgbClr val="2D2D2D"/>
                </a:solidFill>
                <a:latin typeface="BIZ UDPGothic"/>
                <a:ea typeface="BIZ UDPGothic"/>
              </a:rPr>
              <a:t>分析計画書</a:t>
            </a:r>
          </a:p>
          <a:p>
            <a:pPr>
              <a:buNone/>
            </a:pPr>
            <a:r>
              <a:rPr lang="ja-JP" sz="1100" dirty="0">
                <a:solidFill>
                  <a:srgbClr val="4A4A4A"/>
                </a:solidFill>
                <a:latin typeface="BIZ UDPGothic"/>
                <a:ea typeface="BIZ UDPGothic"/>
              </a:rPr>
              <a:t>評価指標、前処理方針、モデル候補、レビュー観点を整理した文書</a:t>
            </a:r>
          </a:p>
        </p:txBody>
      </p:sp>
      <p:sp>
        <p:nvSpPr>
          <p:cNvPr id="12" name="Deliv2"/>
          <p:cNvSpPr txBox="1"/>
          <p:nvPr/>
        </p:nvSpPr>
        <p:spPr>
          <a:xfrm>
            <a:off x="6096000" y="1143000"/>
            <a:ext cx="2590800" cy="1600200"/>
          </a:xfrm>
          <a:prstGeom prst="roundRect">
            <a:avLst>
              <a:gd name="adj" fmla="val 5000"/>
            </a:avLst>
          </a:prstGeom>
          <a:solidFill>
            <a:srgbClr val="FAFAFA"/>
          </a:solidFill>
          <a:ln w="12700">
            <a:solidFill>
              <a:srgbClr val="D9D0C7"/>
            </a:solidFill>
          </a:ln>
        </p:spPr>
        <p:txBody>
          <a:bodyPr wrap="square" lIns="144000" tIns="72000" rIns="144000" bIns="72000" anchor="ctr"/>
          <a:lstStyle/>
          <a:p>
            <a:pPr>
              <a:buNone/>
            </a:pPr>
            <a:r>
              <a:rPr lang="ja-JP" sz="2400" b="1" dirty="0">
                <a:solidFill>
                  <a:srgbClr val="A23B2C"/>
                </a:solidFill>
                <a:latin typeface="BIZ UDPGothic"/>
                <a:ea typeface="BIZ UDPGothic"/>
              </a:rPr>
              <a:t>3</a:t>
            </a:r>
            <a:r>
              <a:rPr lang="ja-JP" sz="1000" dirty="0">
                <a:solidFill>
                  <a:srgbClr val="2D2D2D"/>
                </a:solidFill>
                <a:latin typeface="BIZ UDPGothic"/>
                <a:ea typeface="BIZ UDPGothic"/>
              </a:rPr>
              <a:t>  </a:t>
            </a:r>
            <a:r>
              <a:rPr lang="ja-JP" sz="1400" b="1" dirty="0">
                <a:solidFill>
                  <a:srgbClr val="2D2D2D"/>
                </a:solidFill>
                <a:latin typeface="BIZ UDPGothic"/>
                <a:ea typeface="BIZ UDPGothic"/>
              </a:rPr>
              <a:t>スケジュール表</a:t>
            </a:r>
          </a:p>
          <a:p>
            <a:pPr>
              <a:buNone/>
            </a:pPr>
            <a:r>
              <a:rPr lang="ja-JP" sz="1100" dirty="0">
                <a:solidFill>
                  <a:srgbClr val="4A4A4A"/>
                </a:solidFill>
                <a:latin typeface="BIZ UDPGothic"/>
                <a:ea typeface="BIZ UDPGothic"/>
              </a:rPr>
              <a:t>6週間の作業計画、会議、レビュー、納品タイミングを記載した資料</a:t>
            </a:r>
          </a:p>
        </p:txBody>
      </p:sp>
      <p:sp>
        <p:nvSpPr>
          <p:cNvPr id="13" name="Deliv3"/>
          <p:cNvSpPr txBox="1"/>
          <p:nvPr/>
        </p:nvSpPr>
        <p:spPr>
          <a:xfrm>
            <a:off x="8839200" y="1143000"/>
            <a:ext cx="2590800" cy="1600200"/>
          </a:xfrm>
          <a:prstGeom prst="roundRect">
            <a:avLst>
              <a:gd name="adj" fmla="val 5000"/>
            </a:avLst>
          </a:prstGeom>
          <a:solidFill>
            <a:srgbClr val="FAFAFA"/>
          </a:solidFill>
          <a:ln w="12700">
            <a:solidFill>
              <a:srgbClr val="D9D0C7"/>
            </a:solidFill>
          </a:ln>
        </p:spPr>
        <p:txBody>
          <a:bodyPr wrap="square" lIns="144000" tIns="72000" rIns="144000" bIns="72000" anchor="ctr"/>
          <a:lstStyle/>
          <a:p>
            <a:pPr>
              <a:buNone/>
            </a:pPr>
            <a:r>
              <a:rPr lang="ja-JP" sz="2400" b="1" dirty="0">
                <a:solidFill>
                  <a:srgbClr val="A23B2C"/>
                </a:solidFill>
                <a:latin typeface="BIZ UDPGothic"/>
                <a:ea typeface="BIZ UDPGothic"/>
              </a:rPr>
              <a:t>4</a:t>
            </a:r>
            <a:r>
              <a:rPr lang="ja-JP" sz="1000" dirty="0">
                <a:solidFill>
                  <a:srgbClr val="2D2D2D"/>
                </a:solidFill>
                <a:latin typeface="BIZ UDPGothic"/>
                <a:ea typeface="BIZ UDPGothic"/>
              </a:rPr>
              <a:t>  </a:t>
            </a:r>
            <a:r>
              <a:rPr lang="ja-JP" sz="1400" b="1" dirty="0">
                <a:solidFill>
                  <a:srgbClr val="2D2D2D"/>
                </a:solidFill>
                <a:latin typeface="BIZ UDPGothic"/>
                <a:ea typeface="BIZ UDPGothic"/>
              </a:rPr>
              <a:t>議事録一式</a:t>
            </a:r>
          </a:p>
          <a:p>
            <a:pPr>
              <a:buNone/>
            </a:pPr>
            <a:r>
              <a:rPr lang="ja-JP" sz="1100" dirty="0">
                <a:solidFill>
                  <a:srgbClr val="4A4A4A"/>
                </a:solidFill>
                <a:latin typeface="BIZ UDPGothic"/>
                <a:ea typeface="BIZ UDPGothic"/>
              </a:rPr>
              <a:t>キックオフ、中間報告、最終報告等の決定事項・課題・宿題の記録</a:t>
            </a:r>
          </a:p>
        </p:txBody>
      </p:sp>
      <p:sp>
        <p:nvSpPr>
          <p:cNvPr id="14" name="Deliv4"/>
          <p:cNvSpPr txBox="1"/>
          <p:nvPr/>
        </p:nvSpPr>
        <p:spPr>
          <a:xfrm>
            <a:off x="609600" y="2895600"/>
            <a:ext cx="2590800" cy="1600200"/>
          </a:xfrm>
          <a:prstGeom prst="roundRect">
            <a:avLst>
              <a:gd name="adj" fmla="val 5000"/>
            </a:avLst>
          </a:prstGeom>
          <a:solidFill>
            <a:srgbClr val="FAFAFA"/>
          </a:solidFill>
          <a:ln w="12700">
            <a:solidFill>
              <a:srgbClr val="D9D0C7"/>
            </a:solidFill>
          </a:ln>
        </p:spPr>
        <p:txBody>
          <a:bodyPr wrap="square" lIns="144000" tIns="72000" rIns="144000" bIns="72000" anchor="ctr"/>
          <a:lstStyle/>
          <a:p>
            <a:pPr>
              <a:buNone/>
            </a:pPr>
            <a:r>
              <a:rPr lang="ja-JP" sz="2400" b="1" dirty="0">
                <a:solidFill>
                  <a:srgbClr val="A23B2C"/>
                </a:solidFill>
                <a:latin typeface="BIZ UDPGothic"/>
                <a:ea typeface="BIZ UDPGothic"/>
              </a:rPr>
              <a:t>5</a:t>
            </a:r>
            <a:r>
              <a:rPr lang="ja-JP" sz="1000" dirty="0">
                <a:solidFill>
                  <a:srgbClr val="2D2D2D"/>
                </a:solidFill>
                <a:latin typeface="BIZ UDPGothic"/>
                <a:ea typeface="BIZ UDPGothic"/>
              </a:rPr>
              <a:t>  </a:t>
            </a:r>
            <a:r>
              <a:rPr lang="ja-JP" sz="1400" b="1" dirty="0">
                <a:solidFill>
                  <a:srgbClr val="2D2D2D"/>
                </a:solidFill>
                <a:latin typeface="BIZ UDPGothic"/>
                <a:ea typeface="BIZ UDPGothic"/>
              </a:rPr>
              <a:t>中間報告書</a:t>
            </a:r>
          </a:p>
          <a:p>
            <a:pPr>
              <a:buNone/>
            </a:pPr>
            <a:r>
              <a:rPr lang="ja-JP" sz="1100" dirty="0">
                <a:solidFill>
                  <a:srgbClr val="4A4A4A"/>
                </a:solidFill>
                <a:latin typeface="BIZ UDPGothic"/>
                <a:ea typeface="BIZ UDPGothic"/>
              </a:rPr>
              <a:t>データ理解、EDA結果、前処理方針、初期モデル結果、主要論点</a:t>
            </a:r>
          </a:p>
        </p:txBody>
      </p:sp>
      <p:sp>
        <p:nvSpPr>
          <p:cNvPr id="15" name="Deliv5"/>
          <p:cNvSpPr txBox="1"/>
          <p:nvPr/>
        </p:nvSpPr>
        <p:spPr>
          <a:xfrm>
            <a:off x="3352800" y="2895600"/>
            <a:ext cx="2590800" cy="1600200"/>
          </a:xfrm>
          <a:prstGeom prst="roundRect">
            <a:avLst>
              <a:gd name="adj" fmla="val 5000"/>
            </a:avLst>
          </a:prstGeom>
          <a:solidFill>
            <a:srgbClr val="FAFAFA"/>
          </a:solidFill>
          <a:ln w="12700">
            <a:solidFill>
              <a:srgbClr val="D9D0C7"/>
            </a:solidFill>
          </a:ln>
        </p:spPr>
        <p:txBody>
          <a:bodyPr wrap="square" lIns="144000" tIns="72000" rIns="144000" bIns="72000" anchor="ctr"/>
          <a:lstStyle/>
          <a:p>
            <a:pPr>
              <a:buNone/>
            </a:pPr>
            <a:r>
              <a:rPr lang="ja-JP" sz="2400" b="1" dirty="0">
                <a:solidFill>
                  <a:srgbClr val="A23B2C"/>
                </a:solidFill>
                <a:latin typeface="BIZ UDPGothic"/>
                <a:ea typeface="BIZ UDPGothic"/>
              </a:rPr>
              <a:t>6</a:t>
            </a:r>
            <a:r>
              <a:rPr lang="ja-JP" sz="1000" dirty="0">
                <a:solidFill>
                  <a:srgbClr val="2D2D2D"/>
                </a:solidFill>
                <a:latin typeface="BIZ UDPGothic"/>
                <a:ea typeface="BIZ UDPGothic"/>
              </a:rPr>
              <a:t>  </a:t>
            </a:r>
            <a:r>
              <a:rPr lang="ja-JP" sz="1400" b="1" dirty="0">
                <a:solidFill>
                  <a:srgbClr val="2D2D2D"/>
                </a:solidFill>
                <a:latin typeface="BIZ UDPGothic"/>
                <a:ea typeface="BIZ UDPGothic"/>
              </a:rPr>
              <a:t>最終報告書</a:t>
            </a:r>
          </a:p>
          <a:p>
            <a:pPr>
              <a:buNone/>
            </a:pPr>
            <a:r>
              <a:rPr lang="ja-JP" sz="1100" dirty="0">
                <a:solidFill>
                  <a:srgbClr val="4A4A4A"/>
                </a:solidFill>
                <a:latin typeface="BIZ UDPGothic"/>
                <a:ea typeface="BIZ UDPGothic"/>
              </a:rPr>
              <a:t>分析結果、性能評価、公平性観点、業務示唆、次フェーズ提案</a:t>
            </a:r>
          </a:p>
        </p:txBody>
      </p:sp>
      <p:sp>
        <p:nvSpPr>
          <p:cNvPr id="16" name="Deliv6"/>
          <p:cNvSpPr txBox="1"/>
          <p:nvPr/>
        </p:nvSpPr>
        <p:spPr>
          <a:xfrm>
            <a:off x="6096000" y="2895600"/>
            <a:ext cx="2590800" cy="1600200"/>
          </a:xfrm>
          <a:prstGeom prst="roundRect">
            <a:avLst>
              <a:gd name="adj" fmla="val 5000"/>
            </a:avLst>
          </a:prstGeom>
          <a:solidFill>
            <a:srgbClr val="FAFAFA"/>
          </a:solidFill>
          <a:ln w="12700">
            <a:solidFill>
              <a:srgbClr val="D9D0C7"/>
            </a:solidFill>
          </a:ln>
        </p:spPr>
        <p:txBody>
          <a:bodyPr wrap="square" lIns="144000" tIns="72000" rIns="144000" bIns="72000" anchor="ctr"/>
          <a:lstStyle/>
          <a:p>
            <a:pPr>
              <a:buNone/>
            </a:pPr>
            <a:r>
              <a:rPr lang="ja-JP" sz="2400" b="1" dirty="0">
                <a:solidFill>
                  <a:srgbClr val="A23B2C"/>
                </a:solidFill>
                <a:latin typeface="BIZ UDPGothic"/>
                <a:ea typeface="BIZ UDPGothic"/>
              </a:rPr>
              <a:t>7</a:t>
            </a:r>
            <a:r>
              <a:rPr lang="ja-JP" sz="1000" dirty="0">
                <a:solidFill>
                  <a:srgbClr val="2D2D2D"/>
                </a:solidFill>
                <a:latin typeface="BIZ UDPGothic"/>
                <a:ea typeface="BIZ UDPGothic"/>
              </a:rPr>
              <a:t>  </a:t>
            </a:r>
            <a:r>
              <a:rPr lang="ja-JP" sz="1400" b="1" dirty="0">
                <a:solidFill>
                  <a:srgbClr val="2D2D2D"/>
                </a:solidFill>
                <a:latin typeface="BIZ UDPGothic"/>
                <a:ea typeface="BIZ UDPGothic"/>
              </a:rPr>
              <a:t>分析成果物一式</a:t>
            </a:r>
          </a:p>
          <a:p>
            <a:pPr>
              <a:buNone/>
            </a:pPr>
            <a:r>
              <a:rPr lang="ja-JP" sz="1100" dirty="0">
                <a:solidFill>
                  <a:srgbClr val="4A4A4A"/>
                </a:solidFill>
                <a:latin typeface="BIZ UDPGothic"/>
                <a:ea typeface="BIZ UDPGothic"/>
              </a:rPr>
              <a:t>前処理仕様 / 評価結果表 / 可視化図表 / 分析スクリプト / 変数影響の要約</a:t>
            </a:r>
          </a:p>
        </p:txBody>
      </p:sp>
      <p:sp>
        <p:nvSpPr>
          <p:cNvPr id="3" name="テキスト ボックス 2">
            <a:extLst>
              <a:ext uri="{FF2B5EF4-FFF2-40B4-BE49-F238E27FC236}">
                <a16:creationId xmlns:a16="http://schemas.microsoft.com/office/drawing/2014/main" id="{A5C07BBD-539D-4D3A-9DF9-BC27AF988A68}"/>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11</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1651672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9227A9-9E5C-A2AE-7ED7-98AB35D104A9}"/>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8. </a:t>
            </a:r>
            <a:r>
              <a:rPr kumimoji="1" lang="ja-JP" altLang="en-US" sz="3200" b="1">
                <a:latin typeface="BIZ UDPGothic"/>
                <a:ea typeface="BIZ UDPGothic"/>
              </a:rPr>
              <a:t>費用見積</a:t>
            </a:r>
          </a:p>
        </p:txBody>
      </p:sp>
      <p:sp>
        <p:nvSpPr>
          <p:cNvPr id="10" name="ContractType"/>
          <p:cNvSpPr txBox="1"/>
          <p:nvPr/>
        </p:nvSpPr>
        <p:spPr>
          <a:xfrm>
            <a:off x="609600" y="1143000"/>
            <a:ext cx="10972800" cy="457200"/>
          </a:xfrm>
          <a:prstGeom prst="roundRect">
            <a:avLst>
              <a:gd name="adj" fmla="val 8000"/>
            </a:avLst>
          </a:prstGeom>
          <a:solidFill>
            <a:srgbClr val="2D2D2D"/>
          </a:solidFill>
          <a:ln>
            <a:noFill/>
          </a:ln>
        </p:spPr>
        <p:txBody>
          <a:bodyPr wrap="square" lIns="180000" tIns="36000" rIns="180000" bIns="36000" anchor="ctr"/>
          <a:lstStyle/>
          <a:p>
            <a:pPr algn="ctr">
              <a:buNone/>
            </a:pPr>
            <a:r>
              <a:rPr lang="ja-JP" sz="1600" b="1" dirty="0">
                <a:solidFill>
                  <a:srgbClr val="FFFFFF"/>
                </a:solidFill>
                <a:latin typeface="BIZ UDPGothic"/>
                <a:ea typeface="BIZ UDPGothic"/>
              </a:rPr>
              <a:t>契約形態：タイム&amp;マテリアル（実績工数精算）  ｜  通貨：JPY  ｜  請求単位：時間</a:t>
            </a:r>
          </a:p>
        </p:txBody>
      </p:sp>
      <p:sp>
        <p:nvSpPr>
          <p:cNvPr id="20" name="Fig0"/>
          <p:cNvSpPr txBox="1"/>
          <p:nvPr/>
        </p:nvSpPr>
        <p:spPr>
          <a:xfrm>
            <a:off x="609600" y="1752600"/>
            <a:ext cx="3505200" cy="1524000"/>
          </a:xfrm>
          <a:prstGeom prst="roundRect">
            <a:avLst>
              <a:gd name="adj" fmla="val 5000"/>
            </a:avLst>
          </a:prstGeom>
          <a:solidFill>
            <a:srgbClr val="FAFAFA"/>
          </a:solidFill>
          <a:ln w="12700">
            <a:solidFill>
              <a:srgbClr val="D9D0C7"/>
            </a:solidFill>
          </a:ln>
        </p:spPr>
        <p:txBody>
          <a:bodyPr wrap="square" lIns="108000" tIns="72000" rIns="108000" bIns="72000" anchor="ctr"/>
          <a:lstStyle/>
          <a:p>
            <a:pPr algn="ctr">
              <a:buNone/>
            </a:pPr>
            <a:r>
              <a:rPr lang="ja-JP" sz="1200" dirty="0">
                <a:solidFill>
                  <a:srgbClr val="8C8C8C"/>
                </a:solidFill>
                <a:latin typeface="BIZ UDPGothic"/>
                <a:ea typeface="BIZ UDPGothic"/>
              </a:rPr>
              <a:t>時間単価</a:t>
            </a:r>
          </a:p>
          <a:p>
            <a:pPr algn="ctr">
              <a:buNone/>
            </a:pPr>
            <a:r>
              <a:rPr lang="ja-JP" sz="2800" b="1" dirty="0">
                <a:solidFill>
                  <a:srgbClr val="2D2D2D"/>
                </a:solidFill>
                <a:latin typeface="BIZ UDPGothic"/>
                <a:ea typeface="BIZ UDPGothic"/>
              </a:rPr>
              <a:t>25,000円</a:t>
            </a:r>
          </a:p>
          <a:p>
            <a:pPr algn="ctr">
              <a:buNone/>
            </a:pPr>
            <a:r>
              <a:rPr lang="ja-JP" sz="1100" dirty="0">
                <a:solidFill>
                  <a:srgbClr val="8C8C8C"/>
                </a:solidFill>
                <a:latin typeface="BIZ UDPGothic"/>
                <a:ea typeface="BIZ UDPGothic"/>
              </a:rPr>
              <a:t>/時間</a:t>
            </a:r>
          </a:p>
        </p:txBody>
      </p:sp>
      <p:sp>
        <p:nvSpPr>
          <p:cNvPr id="21" name="Fig1"/>
          <p:cNvSpPr txBox="1"/>
          <p:nvPr/>
        </p:nvSpPr>
        <p:spPr>
          <a:xfrm>
            <a:off x="4267200" y="1752600"/>
            <a:ext cx="3505200" cy="1524000"/>
          </a:xfrm>
          <a:prstGeom prst="roundRect">
            <a:avLst>
              <a:gd name="adj" fmla="val 5000"/>
            </a:avLst>
          </a:prstGeom>
          <a:solidFill>
            <a:srgbClr val="FAFAFA"/>
          </a:solidFill>
          <a:ln w="12700">
            <a:solidFill>
              <a:srgbClr val="D9D0C7"/>
            </a:solidFill>
          </a:ln>
        </p:spPr>
        <p:txBody>
          <a:bodyPr wrap="square" lIns="108000" tIns="72000" rIns="108000" bIns="72000" anchor="ctr"/>
          <a:lstStyle/>
          <a:p>
            <a:pPr algn="ctr">
              <a:buNone/>
            </a:pPr>
            <a:r>
              <a:rPr lang="ja-JP" sz="1200" dirty="0">
                <a:solidFill>
                  <a:srgbClr val="8C8C8C"/>
                </a:solidFill>
                <a:latin typeface="BIZ UDPGothic"/>
                <a:ea typeface="BIZ UDPGothic"/>
              </a:rPr>
              <a:t>見込工数</a:t>
            </a:r>
          </a:p>
          <a:p>
            <a:pPr algn="ctr">
              <a:buNone/>
            </a:pPr>
            <a:r>
              <a:rPr lang="ja-JP" sz="2800" b="1" dirty="0">
                <a:solidFill>
                  <a:srgbClr val="2D2D2D"/>
                </a:solidFill>
                <a:latin typeface="BIZ UDPGothic"/>
                <a:ea typeface="BIZ UDPGothic"/>
              </a:rPr>
              <a:t>170時間</a:t>
            </a:r>
          </a:p>
        </p:txBody>
      </p:sp>
      <p:sp>
        <p:nvSpPr>
          <p:cNvPr id="22" name="Fig2"/>
          <p:cNvSpPr txBox="1"/>
          <p:nvPr/>
        </p:nvSpPr>
        <p:spPr>
          <a:xfrm>
            <a:off x="7924800" y="1752600"/>
            <a:ext cx="3505200" cy="1524000"/>
          </a:xfrm>
          <a:prstGeom prst="roundRect">
            <a:avLst>
              <a:gd name="adj" fmla="val 5000"/>
            </a:avLst>
          </a:prstGeom>
          <a:solidFill>
            <a:srgbClr val="A23B2C"/>
          </a:solidFill>
          <a:ln w="12700">
            <a:solidFill>
              <a:srgbClr val="A23B2C"/>
            </a:solidFill>
          </a:ln>
        </p:spPr>
        <p:txBody>
          <a:bodyPr wrap="square" lIns="108000" tIns="72000" rIns="108000" bIns="72000" anchor="ctr"/>
          <a:lstStyle/>
          <a:p>
            <a:pPr algn="ctr">
              <a:buNone/>
            </a:pPr>
            <a:r>
              <a:rPr lang="ja-JP" sz="1200" dirty="0">
                <a:solidFill>
                  <a:srgbClr val="FFFFFF"/>
                </a:solidFill>
                <a:latin typeface="BIZ UDPGothic"/>
                <a:ea typeface="BIZ UDPGothic"/>
              </a:rPr>
              <a:t>見込金額（税込）</a:t>
            </a:r>
          </a:p>
          <a:p>
            <a:pPr algn="ctr">
              <a:buNone/>
            </a:pPr>
            <a:r>
              <a:rPr lang="ja-JP" sz="2800" b="1" dirty="0">
                <a:solidFill>
                  <a:srgbClr val="FFFFFF"/>
                </a:solidFill>
                <a:latin typeface="BIZ UDPGothic"/>
                <a:ea typeface="BIZ UDPGothic"/>
              </a:rPr>
              <a:t>4,675,000円</a:t>
            </a:r>
          </a:p>
          <a:p>
            <a:pPr algn="ctr">
              <a:buNone/>
            </a:pPr>
            <a:r>
              <a:rPr lang="ja-JP" sz="1100" dirty="0">
                <a:solidFill>
                  <a:srgbClr val="FFFFFF"/>
                </a:solidFill>
                <a:latin typeface="BIZ UDPGothic"/>
                <a:ea typeface="BIZ UDPGothic"/>
              </a:rPr>
              <a:t>税抜: 4,250,000円</a:t>
            </a:r>
          </a:p>
        </p:txBody>
      </p:sp>
      <p:sp>
        <p:nvSpPr>
          <p:cNvPr id="30" name="Settlement"/>
          <p:cNvSpPr txBox="1"/>
          <p:nvPr/>
        </p:nvSpPr>
        <p:spPr>
          <a:xfrm>
            <a:off x="609600" y="3505200"/>
            <a:ext cx="5334000" cy="1981200"/>
          </a:xfrm>
          <a:prstGeom prst="roundRect">
            <a:avLst>
              <a:gd name="adj" fmla="val 3000"/>
            </a:avLst>
          </a:prstGeom>
          <a:solidFill>
            <a:srgbClr val="F2F0ED"/>
          </a:solidFill>
          <a:ln>
            <a:noFill/>
          </a:ln>
        </p:spPr>
        <p:txBody>
          <a:bodyPr wrap="square" lIns="180000" tIns="108000" rIns="180000" bIns="108000" anchor="t"/>
          <a:lstStyle/>
          <a:p>
            <a:pPr>
              <a:buNone/>
            </a:pPr>
            <a:r>
              <a:rPr lang="ja-JP" sz="1400" b="1" dirty="0">
                <a:solidFill>
                  <a:srgbClr val="A23B2C"/>
                </a:solidFill>
                <a:latin typeface="BIZ UDPGothic"/>
                <a:ea typeface="BIZ UDPGothic"/>
              </a:rPr>
              <a:t>精算ルール</a:t>
            </a:r>
          </a:p>
          <a:p>
            <a:pPr marL="228600" indent="-228600">
              <a:spcBef>
                <a:spcPts val="400"/>
              </a:spcBef>
              <a:buFont typeface="Arial"/>
              <a:buChar char="●"/>
            </a:pPr>
            <a:r>
              <a:rPr lang="ja-JP" sz="1200" dirty="0">
                <a:solidFill>
                  <a:srgbClr val="3D3D3D"/>
                </a:solidFill>
                <a:latin typeface="BIZ UDPGothic"/>
                <a:ea typeface="BIZ UDPGothic"/>
              </a:rPr>
              <a:t>実績工数に基づき、案件完了後に最終成果物の検収を経て一括精算する</a:t>
            </a:r>
          </a:p>
          <a:p>
            <a:pPr marL="228600" indent="-228600">
              <a:spcBef>
                <a:spcPts val="300"/>
              </a:spcBef>
              <a:buFont typeface="Arial"/>
              <a:buChar char="●"/>
            </a:pPr>
            <a:r>
              <a:rPr lang="ja-JP" sz="1200" dirty="0">
                <a:solidFill>
                  <a:srgbClr val="3D3D3D"/>
                </a:solidFill>
                <a:latin typeface="BIZ UDPGothic"/>
                <a:ea typeface="BIZ UDPGothic"/>
              </a:rPr>
              <a:t>工数丸め単位：30分</a:t>
            </a:r>
          </a:p>
          <a:p>
            <a:pPr marL="228600" indent="-228600">
              <a:spcBef>
                <a:spcPts val="300"/>
              </a:spcBef>
              <a:buFont typeface="Arial"/>
              <a:buChar char="●"/>
            </a:pPr>
            <a:r>
              <a:rPr lang="ja-JP" sz="1200" dirty="0">
                <a:solidFill>
                  <a:srgbClr val="3D3D3D"/>
                </a:solidFill>
                <a:latin typeface="BIZ UDPGothic"/>
                <a:ea typeface="BIZ UDPGothic"/>
              </a:rPr>
              <a:t>上記金額は見込金額であり、最終金額は実績工数に基づく</a:t>
            </a:r>
          </a:p>
        </p:txBody>
      </p:sp>
      <p:sp>
        <p:nvSpPr>
          <p:cNvPr id="31" name="Payment"/>
          <p:cNvSpPr txBox="1"/>
          <p:nvPr/>
        </p:nvSpPr>
        <p:spPr>
          <a:xfrm>
            <a:off x="6096000" y="3505200"/>
            <a:ext cx="5486400" cy="1981200"/>
          </a:xfrm>
          <a:prstGeom prst="roundRect">
            <a:avLst>
              <a:gd name="adj" fmla="val 3000"/>
            </a:avLst>
          </a:prstGeom>
          <a:solidFill>
            <a:srgbClr val="F2F0ED"/>
          </a:solidFill>
          <a:ln>
            <a:noFill/>
          </a:ln>
        </p:spPr>
        <p:txBody>
          <a:bodyPr wrap="square" lIns="180000" tIns="108000" rIns="180000" bIns="108000" anchor="t"/>
          <a:lstStyle/>
          <a:p>
            <a:pPr>
              <a:buNone/>
            </a:pPr>
            <a:r>
              <a:rPr lang="ja-JP" sz="1400" b="1" dirty="0">
                <a:solidFill>
                  <a:srgbClr val="A23B2C"/>
                </a:solidFill>
                <a:latin typeface="BIZ UDPGothic"/>
                <a:ea typeface="BIZ UDPGothic"/>
              </a:rPr>
              <a:t>支払条件</a:t>
            </a:r>
          </a:p>
          <a:p>
            <a:pPr marL="228600" indent="-228600">
              <a:spcBef>
                <a:spcPts val="400"/>
              </a:spcBef>
              <a:buFont typeface="Arial"/>
              <a:buChar char="●"/>
            </a:pPr>
            <a:r>
              <a:rPr lang="ja-JP" sz="1200" dirty="0">
                <a:solidFill>
                  <a:srgbClr val="3D3D3D"/>
                </a:solidFill>
                <a:latin typeface="BIZ UDPGothic"/>
                <a:ea typeface="BIZ UDPGothic"/>
              </a:rPr>
              <a:t>支払回数：1回（100%）</a:t>
            </a:r>
          </a:p>
          <a:p>
            <a:pPr marL="228600" indent="-228600">
              <a:spcBef>
                <a:spcPts val="300"/>
              </a:spcBef>
              <a:buFont typeface="Arial"/>
              <a:buChar char="●"/>
            </a:pPr>
            <a:r>
              <a:rPr lang="ja-JP" sz="1200" dirty="0">
                <a:solidFill>
                  <a:srgbClr val="3D3D3D"/>
                </a:solidFill>
                <a:latin typeface="BIZ UDPGothic"/>
                <a:ea typeface="BIZ UDPGothic"/>
              </a:rPr>
              <a:t>条件：最終成果物の検収完了後5営業日以内</a:t>
            </a:r>
          </a:p>
          <a:p>
            <a:pPr marL="228600" indent="-228600">
              <a:spcBef>
                <a:spcPts val="300"/>
              </a:spcBef>
              <a:buFont typeface="Arial"/>
              <a:buChar char="●"/>
            </a:pPr>
            <a:r>
              <a:rPr lang="ja-JP" sz="1200" dirty="0">
                <a:solidFill>
                  <a:srgbClr val="3D3D3D"/>
                </a:solidFill>
                <a:latin typeface="BIZ UDPGothic"/>
                <a:ea typeface="BIZ UDPGothic"/>
              </a:rPr>
              <a:t>金額（税抜）：4,250,000円</a:t>
            </a:r>
          </a:p>
          <a:p>
            <a:pPr marL="228600" indent="-228600">
              <a:spcBef>
                <a:spcPts val="300"/>
              </a:spcBef>
              <a:buFont typeface="Arial"/>
              <a:buChar char="●"/>
            </a:pPr>
            <a:r>
              <a:rPr lang="ja-JP" sz="1200" dirty="0">
                <a:solidFill>
                  <a:srgbClr val="3D3D3D"/>
                </a:solidFill>
                <a:latin typeface="BIZ UDPGothic"/>
                <a:ea typeface="BIZ UDPGothic"/>
              </a:rPr>
              <a:t>消費税額：425,000円  ｜  金額（税込）：4,675,000円</a:t>
            </a:r>
          </a:p>
        </p:txBody>
      </p:sp>
      <p:sp>
        <p:nvSpPr>
          <p:cNvPr id="3" name="テキスト ボックス 2">
            <a:extLst>
              <a:ext uri="{FF2B5EF4-FFF2-40B4-BE49-F238E27FC236}">
                <a16:creationId xmlns:a16="http://schemas.microsoft.com/office/drawing/2014/main" id="{AB9EB419-B12C-4C10-AA35-57CC2CDE06B3}"/>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12</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3867855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70A965-8CFA-83E6-6253-EF7DC05D40F6}"/>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9. </a:t>
            </a:r>
            <a:r>
              <a:rPr kumimoji="1" lang="ja-JP" altLang="en-US" sz="3200" b="1">
                <a:latin typeface="BIZ UDPGothic"/>
                <a:ea typeface="BIZ UDPGothic"/>
              </a:rPr>
              <a:t>リスクと対応策</a:t>
            </a:r>
          </a:p>
        </p:txBody>
      </p:sp>
      <p:graphicFrame>
        <p:nvGraphicFramePr>
          <p:cNvPr id="4" name="表 3">
            <a:extLst>
              <a:ext uri="{FF2B5EF4-FFF2-40B4-BE49-F238E27FC236}">
                <a16:creationId xmlns:a16="http://schemas.microsoft.com/office/drawing/2014/main" id="{3B4597E0-BCBA-48F6-8F72-76F49130786A}"/>
              </a:ext>
            </a:extLst>
          </p:cNvPr>
          <p:cNvGraphicFramePr>
            <a:graphicFrameLocks noGrp="1"/>
          </p:cNvGraphicFramePr>
          <p:nvPr>
            <p:extLst>
              <p:ext uri="{D42A27DB-BD31-4B8C-83A1-F6EECF244321}">
                <p14:modId xmlns:p14="http://schemas.microsoft.com/office/powerpoint/2010/main" val="3059295504"/>
              </p:ext>
            </p:extLst>
          </p:nvPr>
        </p:nvGraphicFramePr>
        <p:xfrm>
          <a:off x="609600" y="1803400"/>
          <a:ext cx="11049000" cy="4826000"/>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2240129774"/>
                    </a:ext>
                  </a:extLst>
                </a:gridCol>
                <a:gridCol w="4445000">
                  <a:extLst>
                    <a:ext uri="{9D8B030D-6E8A-4147-A177-3AD203B41FA5}">
                      <a16:colId xmlns:a16="http://schemas.microsoft.com/office/drawing/2014/main" val="662857847"/>
                    </a:ext>
                  </a:extLst>
                </a:gridCol>
                <a:gridCol w="4826000">
                  <a:extLst>
                    <a:ext uri="{9D8B030D-6E8A-4147-A177-3AD203B41FA5}">
                      <a16:colId xmlns:a16="http://schemas.microsoft.com/office/drawing/2014/main" val="401733232"/>
                    </a:ext>
                  </a:extLst>
                </a:gridCol>
              </a:tblGrid>
              <a:tr h="603250">
                <a:tc>
                  <a:txBody>
                    <a:bodyPr/>
                    <a:lstStyle/>
                    <a:p>
                      <a:pPr algn="ctr"/>
                      <a:r>
                        <a:rPr lang="ja-JP" altLang="en-US" sz="1400" b="1">
                          <a:solidFill>
                            <a:srgbClr val="FFFFFF"/>
                          </a:solidFill>
                          <a:latin typeface="BIZ UDPGothic"/>
                          <a:ea typeface="BIZ UDPGothic"/>
                        </a:rPr>
                        <a:t>リスク</a:t>
                      </a:r>
                    </a:p>
                  </a:txBody>
                  <a:tcPr anchor="ctr">
                    <a:solidFill>
                      <a:srgbClr val="A23B2C"/>
                    </a:solidFill>
                  </a:tcPr>
                </a:tc>
                <a:tc>
                  <a:txBody>
                    <a:bodyPr/>
                    <a:lstStyle/>
                    <a:p>
                      <a:pPr algn="ctr"/>
                      <a:r>
                        <a:rPr lang="ja-JP" altLang="en-US" sz="1400" b="1">
                          <a:solidFill>
                            <a:srgbClr val="FFFFFF"/>
                          </a:solidFill>
                          <a:latin typeface="BIZ UDPGothic"/>
                          <a:ea typeface="BIZ UDPGothic"/>
                        </a:rPr>
                        <a:t>内容</a:t>
                      </a:r>
                    </a:p>
                  </a:txBody>
                  <a:tcPr anchor="ctr">
                    <a:solidFill>
                      <a:srgbClr val="A23B2C"/>
                    </a:solidFill>
                  </a:tcPr>
                </a:tc>
                <a:tc>
                  <a:txBody>
                    <a:bodyPr/>
                    <a:lstStyle/>
                    <a:p>
                      <a:pPr algn="ctr"/>
                      <a:r>
                        <a:rPr lang="ja-JP" altLang="en-US" sz="1400" b="1">
                          <a:solidFill>
                            <a:srgbClr val="FFFFFF"/>
                          </a:solidFill>
                          <a:latin typeface="BIZ UDPGothic"/>
                          <a:ea typeface="BIZ UDPGothic"/>
                        </a:rPr>
                        <a:t>対応策</a:t>
                      </a:r>
                    </a:p>
                  </a:txBody>
                  <a:tcPr anchor="ctr">
                    <a:solidFill>
                      <a:srgbClr val="A23B2C"/>
                    </a:solidFill>
                  </a:tcPr>
                </a:tc>
                <a:extLst>
                  <a:ext uri="{0D108BD9-81ED-4DB2-BD59-A6C34878D82A}">
                    <a16:rowId xmlns:a16="http://schemas.microsoft.com/office/drawing/2014/main" val="689047674"/>
                  </a:ext>
                </a:extLst>
              </a:tr>
              <a:tr h="603250">
                <a:tc>
                  <a:txBody>
                    <a:bodyPr/>
                    <a:lstStyle/>
                    <a:p>
                      <a:r>
                        <a:rPr lang="ja-JP" altLang="en-US" sz="1100" b="1">
                          <a:solidFill>
                            <a:srgbClr val="2D2D2D"/>
                          </a:solidFill>
                          <a:latin typeface="BIZ UDPGothic"/>
                          <a:ea typeface="BIZ UDPGothic"/>
                        </a:rPr>
                        <a:t>公平性・バイアス</a:t>
                      </a:r>
                    </a:p>
                  </a:txBody>
                  <a:tcPr anchor="ctr">
                    <a:solidFill>
                      <a:srgbClr val="FFFFFF"/>
                    </a:solidFill>
                  </a:tcPr>
                </a:tc>
                <a:tc>
                  <a:txBody>
                    <a:bodyPr/>
                    <a:lstStyle/>
                    <a:p>
                      <a:r>
                        <a:rPr lang="ja-JP" altLang="en-US" sz="1100">
                          <a:solidFill>
                            <a:srgbClr val="3D3D3D"/>
                          </a:solidFill>
                          <a:latin typeface="BIZ UDPGothic"/>
                          <a:ea typeface="BIZ UDPGothic"/>
                        </a:rPr>
                        <a:t>Gender、Age、Country を含む分析が差別的解釈につながる可能性</a:t>
                      </a:r>
                    </a:p>
                  </a:txBody>
                  <a:tcPr anchor="ctr">
                    <a:solidFill>
                      <a:srgbClr val="FFFFFF"/>
                    </a:solidFill>
                  </a:tcPr>
                </a:tc>
                <a:tc>
                  <a:txBody>
                    <a:bodyPr/>
                    <a:lstStyle/>
                    <a:p>
                      <a:r>
                        <a:rPr lang="ja-JP" altLang="en-US" sz="1100">
                          <a:solidFill>
                            <a:srgbClr val="3D3D3D"/>
                          </a:solidFill>
                          <a:latin typeface="BIZ UDPGothic"/>
                          <a:ea typeface="BIZ UDPGothic"/>
                        </a:rPr>
                        <a:t>属性利用の目的を限定し、分布差・性能差として記述。業務適用時の注意事項を明記</a:t>
                      </a:r>
                    </a:p>
                  </a:txBody>
                  <a:tcPr anchor="ctr">
                    <a:solidFill>
                      <a:srgbClr val="FFFFFF"/>
                    </a:solidFill>
                  </a:tcPr>
                </a:tc>
                <a:extLst>
                  <a:ext uri="{0D108BD9-81ED-4DB2-BD59-A6C34878D82A}">
                    <a16:rowId xmlns:a16="http://schemas.microsoft.com/office/drawing/2014/main" val="2114852726"/>
                  </a:ext>
                </a:extLst>
              </a:tr>
              <a:tr h="603250">
                <a:tc>
                  <a:txBody>
                    <a:bodyPr/>
                    <a:lstStyle/>
                    <a:p>
                      <a:r>
                        <a:rPr lang="ja-JP" altLang="en-US" sz="1100" b="1">
                          <a:solidFill>
                            <a:srgbClr val="2D2D2D"/>
                          </a:solidFill>
                          <a:latin typeface="BIZ UDPGothic"/>
                          <a:ea typeface="BIZ UDPGothic"/>
                        </a:rPr>
                        <a:t>定義解釈不整合</a:t>
                      </a:r>
                    </a:p>
                  </a:txBody>
                  <a:tcPr anchor="ctr">
                    <a:solidFill>
                      <a:srgbClr val="F2F0ED"/>
                    </a:solidFill>
                  </a:tcPr>
                </a:tc>
                <a:tc>
                  <a:txBody>
                    <a:bodyPr/>
                    <a:lstStyle/>
                    <a:p>
                      <a:r>
                        <a:rPr lang="ja-JP" altLang="en-US" sz="1100">
                          <a:solidFill>
                            <a:srgbClr val="3D3D3D"/>
                          </a:solidFill>
                          <a:latin typeface="BIZ UDPGothic"/>
                          <a:ea typeface="BIZ UDPGothic"/>
                        </a:rPr>
                        <a:t>targetの上位クラス定義に重複が見える</a:t>
                      </a:r>
                    </a:p>
                  </a:txBody>
                  <a:tcPr anchor="ctr">
                    <a:solidFill>
                      <a:srgbClr val="F2F0ED"/>
                    </a:solidFill>
                  </a:tcPr>
                </a:tc>
                <a:tc>
                  <a:txBody>
                    <a:bodyPr/>
                    <a:lstStyle/>
                    <a:p>
                      <a:r>
                        <a:rPr lang="ja-JP" altLang="en-US" sz="1100">
                          <a:solidFill>
                            <a:srgbClr val="3D3D3D"/>
                          </a:solidFill>
                          <a:latin typeface="BIZ UDPGothic"/>
                          <a:ea typeface="BIZ UDPGothic"/>
                        </a:rPr>
                        <a:t>原データ定義をそのまま使用し、解釈上の注意を報告書に明記</a:t>
                      </a:r>
                    </a:p>
                  </a:txBody>
                  <a:tcPr anchor="ctr">
                    <a:solidFill>
                      <a:srgbClr val="F2F0ED"/>
                    </a:solidFill>
                  </a:tcPr>
                </a:tc>
                <a:extLst>
                  <a:ext uri="{0D108BD9-81ED-4DB2-BD59-A6C34878D82A}">
                    <a16:rowId xmlns:a16="http://schemas.microsoft.com/office/drawing/2014/main" val="3141990469"/>
                  </a:ext>
                </a:extLst>
              </a:tr>
              <a:tr h="603250">
                <a:tc>
                  <a:txBody>
                    <a:bodyPr/>
                    <a:lstStyle/>
                    <a:p>
                      <a:r>
                        <a:rPr lang="ja-JP" altLang="en-US" sz="1100" b="1">
                          <a:solidFill>
                            <a:srgbClr val="2D2D2D"/>
                          </a:solidFill>
                          <a:latin typeface="BIZ UDPGothic"/>
                          <a:ea typeface="BIZ UDPGothic"/>
                        </a:rPr>
                        <a:t>カテゴリ偏在</a:t>
                      </a:r>
                    </a:p>
                  </a:txBody>
                  <a:tcPr anchor="ctr">
                    <a:solidFill>
                      <a:srgbClr val="FFFFFF"/>
                    </a:solidFill>
                  </a:tcPr>
                </a:tc>
                <a:tc>
                  <a:txBody>
                    <a:bodyPr/>
                    <a:lstStyle/>
                    <a:p>
                      <a:r>
                        <a:rPr lang="ja-JP" altLang="en-US" sz="1100">
                          <a:solidFill>
                            <a:srgbClr val="3D3D3D"/>
                          </a:solidFill>
                          <a:latin typeface="BIZ UDPGothic"/>
                          <a:ea typeface="BIZ UDPGothic"/>
                        </a:rPr>
                        <a:t>Country、Profession、Industryで少数カテゴリが偏在する可能性</a:t>
                      </a:r>
                    </a:p>
                  </a:txBody>
                  <a:tcPr anchor="ctr">
                    <a:solidFill>
                      <a:srgbClr val="FFFFFF"/>
                    </a:solidFill>
                  </a:tcPr>
                </a:tc>
                <a:tc>
                  <a:txBody>
                    <a:bodyPr/>
                    <a:lstStyle/>
                    <a:p>
                      <a:r>
                        <a:rPr lang="ja-JP" altLang="en-US" sz="1100">
                          <a:solidFill>
                            <a:srgbClr val="3D3D3D"/>
                          </a:solidFill>
                          <a:latin typeface="BIZ UDPGothic"/>
                          <a:ea typeface="BIZ UDPGothic"/>
                        </a:rPr>
                        <a:t>頻度分布を確認し、標準実装の範囲でエンコーディング可否や除外判断を実施</a:t>
                      </a:r>
                    </a:p>
                  </a:txBody>
                  <a:tcPr anchor="ctr">
                    <a:solidFill>
                      <a:srgbClr val="FFFFFF"/>
                    </a:solidFill>
                  </a:tcPr>
                </a:tc>
                <a:extLst>
                  <a:ext uri="{0D108BD9-81ED-4DB2-BD59-A6C34878D82A}">
                    <a16:rowId xmlns:a16="http://schemas.microsoft.com/office/drawing/2014/main" val="1443663051"/>
                  </a:ext>
                </a:extLst>
              </a:tr>
              <a:tr h="603250">
                <a:tc>
                  <a:txBody>
                    <a:bodyPr/>
                    <a:lstStyle/>
                    <a:p>
                      <a:r>
                        <a:rPr lang="ja-JP" altLang="en-US" sz="1100" b="1">
                          <a:solidFill>
                            <a:srgbClr val="2D2D2D"/>
                          </a:solidFill>
                          <a:latin typeface="BIZ UDPGothic"/>
                          <a:ea typeface="BIZ UDPGothic"/>
                        </a:rPr>
                        <a:t>業務解釈の飛躍</a:t>
                      </a:r>
                    </a:p>
                  </a:txBody>
                  <a:tcPr anchor="ctr">
                    <a:solidFill>
                      <a:srgbClr val="F2F0ED"/>
                    </a:solidFill>
                  </a:tcPr>
                </a:tc>
                <a:tc>
                  <a:txBody>
                    <a:bodyPr/>
                    <a:lstStyle/>
                    <a:p>
                      <a:r>
                        <a:rPr lang="ja-JP" altLang="en-US" sz="1100">
                          <a:solidFill>
                            <a:srgbClr val="3D3D3D"/>
                          </a:solidFill>
                          <a:latin typeface="BIZ UDPGothic"/>
                          <a:ea typeface="BIZ UDPGothic"/>
                        </a:rPr>
                        <a:t>予測結果を因果や制度判断と誤認する可能性</a:t>
                      </a:r>
                    </a:p>
                  </a:txBody>
                  <a:tcPr anchor="ctr">
                    <a:solidFill>
                      <a:srgbClr val="F2F0ED"/>
                    </a:solidFill>
                  </a:tcPr>
                </a:tc>
                <a:tc>
                  <a:txBody>
                    <a:bodyPr/>
                    <a:lstStyle/>
                    <a:p>
                      <a:r>
                        <a:rPr lang="ja-JP" altLang="en-US" sz="1100">
                          <a:solidFill>
                            <a:srgbClr val="3D3D3D"/>
                          </a:solidFill>
                          <a:latin typeface="BIZ UDPGothic"/>
                          <a:ea typeface="BIZ UDPGothic"/>
                        </a:rPr>
                        <a:t>「予測上の関連」と「制度上の因果」を明確に区別して記載</a:t>
                      </a:r>
                    </a:p>
                  </a:txBody>
                  <a:tcPr anchor="ctr">
                    <a:solidFill>
                      <a:srgbClr val="F2F0ED"/>
                    </a:solidFill>
                  </a:tcPr>
                </a:tc>
                <a:extLst>
                  <a:ext uri="{0D108BD9-81ED-4DB2-BD59-A6C34878D82A}">
                    <a16:rowId xmlns:a16="http://schemas.microsoft.com/office/drawing/2014/main" val="1643737458"/>
                  </a:ext>
                </a:extLst>
              </a:tr>
              <a:tr h="603250">
                <a:tc>
                  <a:txBody>
                    <a:bodyPr/>
                    <a:lstStyle/>
                    <a:p>
                      <a:r>
                        <a:rPr lang="ja-JP" altLang="en-US" sz="1100" b="1">
                          <a:solidFill>
                            <a:srgbClr val="2D2D2D"/>
                          </a:solidFill>
                          <a:latin typeface="BIZ UDPGothic"/>
                          <a:ea typeface="BIZ UDPGothic"/>
                        </a:rPr>
                        <a:t>外部妥当性不足</a:t>
                      </a:r>
                    </a:p>
                  </a:txBody>
                  <a:tcPr anchor="ctr">
                    <a:solidFill>
                      <a:srgbClr val="FFFFFF"/>
                    </a:solidFill>
                  </a:tcPr>
                </a:tc>
                <a:tc>
                  <a:txBody>
                    <a:bodyPr/>
                    <a:lstStyle/>
                    <a:p>
                      <a:r>
                        <a:rPr lang="ja-JP" altLang="en-US" sz="1100">
                          <a:solidFill>
                            <a:srgbClr val="3D3D3D"/>
                          </a:solidFill>
                          <a:latin typeface="BIZ UDPGothic"/>
                          <a:ea typeface="BIZ UDPGothic"/>
                        </a:rPr>
                        <a:t>学習データが特定母集団に偏っている可能性</a:t>
                      </a:r>
                    </a:p>
                  </a:txBody>
                  <a:tcPr anchor="ctr">
                    <a:solidFill>
                      <a:srgbClr val="FFFFFF"/>
                    </a:solidFill>
                  </a:tcPr>
                </a:tc>
                <a:tc>
                  <a:txBody>
                    <a:bodyPr/>
                    <a:lstStyle/>
                    <a:p>
                      <a:r>
                        <a:rPr lang="ja-JP" altLang="en-US" sz="1100">
                          <a:solidFill>
                            <a:srgbClr val="3D3D3D"/>
                          </a:solidFill>
                          <a:latin typeface="BIZ UDPGothic"/>
                          <a:ea typeface="BIZ UDPGothic"/>
                        </a:rPr>
                        <a:t>適用範囲を明記し、全社一般化や個人判定への直接利用を避ける</a:t>
                      </a:r>
                    </a:p>
                  </a:txBody>
                  <a:tcPr anchor="ctr">
                    <a:solidFill>
                      <a:srgbClr val="FFFFFF"/>
                    </a:solidFill>
                  </a:tcPr>
                </a:tc>
                <a:extLst>
                  <a:ext uri="{0D108BD9-81ED-4DB2-BD59-A6C34878D82A}">
                    <a16:rowId xmlns:a16="http://schemas.microsoft.com/office/drawing/2014/main" val="3532431335"/>
                  </a:ext>
                </a:extLst>
              </a:tr>
              <a:tr h="603250">
                <a:tc>
                  <a:txBody>
                    <a:bodyPr/>
                    <a:lstStyle/>
                    <a:p>
                      <a:r>
                        <a:rPr lang="ja-JP" altLang="en-US" sz="1100" b="1">
                          <a:solidFill>
                            <a:srgbClr val="2D2D2D"/>
                          </a:solidFill>
                          <a:latin typeface="BIZ UDPGothic"/>
                          <a:ea typeface="BIZ UDPGothic"/>
                        </a:rPr>
                        <a:t>データ制約</a:t>
                      </a:r>
                    </a:p>
                  </a:txBody>
                  <a:tcPr anchor="ctr">
                    <a:solidFill>
                      <a:srgbClr val="F2F0ED"/>
                    </a:solidFill>
                  </a:tcPr>
                </a:tc>
                <a:tc>
                  <a:txBody>
                    <a:bodyPr/>
                    <a:lstStyle/>
                    <a:p>
                      <a:r>
                        <a:rPr lang="ja-JP" altLang="en-US" sz="1100">
                          <a:solidFill>
                            <a:srgbClr val="3D3D3D"/>
                          </a:solidFill>
                          <a:latin typeface="BIZ UDPGothic"/>
                          <a:ea typeface="BIZ UDPGothic"/>
                        </a:rPr>
                        <a:t>時系列データや追加実績データが存在しない</a:t>
                      </a:r>
                    </a:p>
                  </a:txBody>
                  <a:tcPr anchor="ctr">
                    <a:solidFill>
                      <a:srgbClr val="F2F0ED"/>
                    </a:solidFill>
                  </a:tcPr>
                </a:tc>
                <a:tc>
                  <a:txBody>
                    <a:bodyPr/>
                    <a:lstStyle/>
                    <a:p>
                      <a:r>
                        <a:rPr lang="ja-JP" altLang="en-US" sz="1100">
                          <a:solidFill>
                            <a:srgbClr val="3D3D3D"/>
                          </a:solidFill>
                          <a:latin typeface="BIZ UDPGothic"/>
                          <a:ea typeface="BIZ UDPGothic"/>
                        </a:rPr>
                        <a:t>初期分析に限定し、追加データが必要な論点は次フェーズ提案として整理</a:t>
                      </a:r>
                    </a:p>
                  </a:txBody>
                  <a:tcPr anchor="ctr">
                    <a:solidFill>
                      <a:srgbClr val="F2F0ED"/>
                    </a:solidFill>
                  </a:tcPr>
                </a:tc>
                <a:extLst>
                  <a:ext uri="{0D108BD9-81ED-4DB2-BD59-A6C34878D82A}">
                    <a16:rowId xmlns:a16="http://schemas.microsoft.com/office/drawing/2014/main" val="3549737532"/>
                  </a:ext>
                </a:extLst>
              </a:tr>
              <a:tr h="603250">
                <a:tc>
                  <a:txBody>
                    <a:bodyPr/>
                    <a:lstStyle/>
                    <a:p>
                      <a:r>
                        <a:rPr lang="ja-JP" altLang="en-US" sz="1100" b="1">
                          <a:solidFill>
                            <a:srgbClr val="2D2D2D"/>
                          </a:solidFill>
                          <a:latin typeface="BIZ UDPGothic"/>
                          <a:ea typeface="BIZ UDPGothic"/>
                        </a:rPr>
                        <a:t>スケジュール超過</a:t>
                      </a:r>
                    </a:p>
                  </a:txBody>
                  <a:tcPr anchor="ctr">
                    <a:solidFill>
                      <a:srgbClr val="FFFFFF"/>
                    </a:solidFill>
                  </a:tcPr>
                </a:tc>
                <a:tc>
                  <a:txBody>
                    <a:bodyPr/>
                    <a:lstStyle/>
                    <a:p>
                      <a:r>
                        <a:rPr lang="ja-JP" altLang="en-US" sz="1100">
                          <a:solidFill>
                            <a:srgbClr val="3D3D3D"/>
                          </a:solidFill>
                          <a:latin typeface="BIZ UDPGothic"/>
                          <a:ea typeface="BIZ UDPGothic"/>
                        </a:rPr>
                        <a:t>追加分析要求により6週間・170時間を超過する可能性</a:t>
                      </a:r>
                    </a:p>
                  </a:txBody>
                  <a:tcPr anchor="ctr">
                    <a:solidFill>
                      <a:srgbClr val="FFFFFF"/>
                    </a:solidFill>
                  </a:tcPr>
                </a:tc>
                <a:tc>
                  <a:txBody>
                    <a:bodyPr/>
                    <a:lstStyle/>
                    <a:p>
                      <a:r>
                        <a:rPr lang="ja-JP" altLang="en-US" sz="1100">
                          <a:solidFill>
                            <a:srgbClr val="3D3D3D"/>
                          </a:solidFill>
                          <a:latin typeface="BIZ UDPGothic"/>
                          <a:ea typeface="BIZ UDPGothic"/>
                        </a:rPr>
                        <a:t>優先順位を管理し、追加対応は別途手続きで管理</a:t>
                      </a:r>
                    </a:p>
                  </a:txBody>
                  <a:tcPr anchor="ctr">
                    <a:solidFill>
                      <a:srgbClr val="FFFFFF"/>
                    </a:solidFill>
                  </a:tcPr>
                </a:tc>
                <a:extLst>
                  <a:ext uri="{0D108BD9-81ED-4DB2-BD59-A6C34878D82A}">
                    <a16:rowId xmlns:a16="http://schemas.microsoft.com/office/drawing/2014/main" val="3680344085"/>
                  </a:ext>
                </a:extLst>
              </a:tr>
            </a:tbl>
          </a:graphicData>
        </a:graphic>
      </p:graphicFrame>
      <p:sp>
        <p:nvSpPr>
          <p:cNvPr id="5" name="テキスト ボックス 4">
            <a:extLst>
              <a:ext uri="{FF2B5EF4-FFF2-40B4-BE49-F238E27FC236}">
                <a16:creationId xmlns:a16="http://schemas.microsoft.com/office/drawing/2014/main" id="{AFC1A0F2-B3B9-49C6-BC5C-009C9C394F44}"/>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13</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4207380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915D58-6D21-E45D-0466-EA4A149CE0AE}"/>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10. </a:t>
            </a:r>
            <a:r>
              <a:rPr kumimoji="1" lang="ja-JP" altLang="en-US" sz="3200" b="1">
                <a:latin typeface="BIZ UDPGothic"/>
                <a:ea typeface="BIZ UDPGothic"/>
              </a:rPr>
              <a:t>前提条件と除外事項</a:t>
            </a:r>
          </a:p>
        </p:txBody>
      </p:sp>
      <p:sp>
        <p:nvSpPr>
          <p:cNvPr id="10" name="Assumptions"/>
          <p:cNvSpPr txBox="1"/>
          <p:nvPr/>
        </p:nvSpPr>
        <p:spPr>
          <a:xfrm>
            <a:off x="609600" y="1143000"/>
            <a:ext cx="5334000" cy="3276600"/>
          </a:xfrm>
          <a:prstGeom prst="roundRect">
            <a:avLst>
              <a:gd name="adj" fmla="val 3000"/>
            </a:avLst>
          </a:prstGeom>
          <a:solidFill>
            <a:srgbClr val="3D3D3D"/>
          </a:solidFill>
          <a:ln>
            <a:noFill/>
          </a:ln>
        </p:spPr>
        <p:txBody>
          <a:bodyPr wrap="square" lIns="144000" tIns="108000" rIns="144000" bIns="108000" anchor="t"/>
          <a:lstStyle/>
          <a:p>
            <a:pPr>
              <a:buNone/>
            </a:pPr>
            <a:r>
              <a:rPr lang="ja-JP" sz="1600" b="1" dirty="0">
                <a:solidFill>
                  <a:srgbClr val="FFFFFF"/>
                </a:solidFill>
                <a:latin typeface="BIZ UDPGothic"/>
                <a:ea typeface="BIZ UDPGothic"/>
              </a:rPr>
              <a:t>前提条件</a:t>
            </a:r>
          </a:p>
          <a:p>
            <a:pPr marL="228600" indent="-228600">
              <a:spcBef>
                <a:spcPts val="150"/>
              </a:spcBef>
              <a:buFont typeface="Arial"/>
              <a:buChar char="●"/>
            </a:pPr>
            <a:r>
              <a:rPr lang="ja-JP" sz="1000" dirty="0">
                <a:solidFill>
                  <a:srgbClr val="FFFFFF"/>
                </a:solidFill>
                <a:latin typeface="BIZ UDPGothic"/>
                <a:ea typeface="BIZ UDPGothic"/>
              </a:rPr>
              <a:t>分析対象データはtrain.csvおよびカラム説明.mdに限定する</a:t>
            </a:r>
          </a:p>
          <a:p>
            <a:pPr marL="228600" indent="-228600">
              <a:spcBef>
                <a:spcPts val="150"/>
              </a:spcBef>
              <a:buFont typeface="Arial"/>
              <a:buChar char="●"/>
            </a:pPr>
            <a:r>
              <a:rPr lang="ja-JP" sz="1000" dirty="0">
                <a:solidFill>
                  <a:srgbClr val="FFFFFF"/>
                </a:solidFill>
                <a:latin typeface="BIZ UDPGothic"/>
                <a:ea typeface="BIZ UDPGothic"/>
              </a:rPr>
              <a:t>targetは収入クラスとして利用可能な正解ラベルである前提とする</a:t>
            </a:r>
          </a:p>
          <a:p>
            <a:pPr marL="228600" indent="-228600">
              <a:spcBef>
                <a:spcPts val="150"/>
              </a:spcBef>
              <a:buFont typeface="Arial"/>
              <a:buChar char="●"/>
            </a:pPr>
            <a:r>
              <a:rPr lang="ja-JP" sz="1000" dirty="0">
                <a:solidFill>
                  <a:srgbClr val="FFFFFF"/>
                </a:solidFill>
                <a:latin typeface="BIZ UDPGothic"/>
                <a:ea typeface="BIZ UDPGothic"/>
              </a:rPr>
              <a:t>idは識別子であり、説明変数には原則使用しない</a:t>
            </a:r>
          </a:p>
          <a:p>
            <a:pPr marL="228600" indent="-228600">
              <a:spcBef>
                <a:spcPts val="150"/>
              </a:spcBef>
              <a:buFont typeface="Arial"/>
              <a:buChar char="●"/>
            </a:pPr>
            <a:r>
              <a:rPr lang="ja-JP" sz="1000" dirty="0">
                <a:solidFill>
                  <a:srgbClr val="FFFFFF"/>
                </a:solidFill>
                <a:latin typeface="BIZ UDPGothic"/>
                <a:ea typeface="BIZ UDPGothic"/>
              </a:rPr>
              <a:t>各行は独立した個人単位の観測として扱う</a:t>
            </a:r>
          </a:p>
          <a:p>
            <a:pPr marL="228600" indent="-228600">
              <a:spcBef>
                <a:spcPts val="150"/>
              </a:spcBef>
              <a:buFont typeface="Arial"/>
              <a:buChar char="●"/>
            </a:pPr>
            <a:r>
              <a:rPr lang="ja-JP" sz="1000" dirty="0">
                <a:solidFill>
                  <a:srgbClr val="FFFFFF"/>
                </a:solidFill>
                <a:latin typeface="BIZ UDPGothic"/>
                <a:ea typeface="BIZ UDPGothic"/>
              </a:rPr>
              <a:t>利用許諾および社内承認は発注者側で取得済みまたは取得責任を負う</a:t>
            </a:r>
          </a:p>
          <a:p>
            <a:pPr marL="228600" indent="-228600">
              <a:spcBef>
                <a:spcPts val="150"/>
              </a:spcBef>
              <a:buFont typeface="Arial"/>
              <a:buChar char="●"/>
            </a:pPr>
            <a:r>
              <a:rPr lang="ja-JP" sz="1000" dirty="0">
                <a:solidFill>
                  <a:srgbClr val="FFFFFF"/>
                </a:solidFill>
                <a:latin typeface="BIZ UDPGothic"/>
                <a:ea typeface="BIZ UDPGothic"/>
              </a:rPr>
              <a:t>個人情報・報酬関連データへのアクセス権は必要最小限に制限される</a:t>
            </a:r>
          </a:p>
          <a:p>
            <a:pPr marL="228600" indent="-228600">
              <a:spcBef>
                <a:spcPts val="150"/>
              </a:spcBef>
              <a:buFont typeface="Arial"/>
              <a:buChar char="●"/>
            </a:pPr>
            <a:r>
              <a:rPr lang="ja-JP" sz="1000" dirty="0">
                <a:solidFill>
                  <a:srgbClr val="FFFFFF"/>
                </a:solidFill>
                <a:latin typeface="BIZ UDPGothic"/>
                <a:ea typeface="BIZ UDPGothic"/>
              </a:rPr>
              <a:t>差別的判断や不利益取扱いへの直接利用を目的としない</a:t>
            </a:r>
          </a:p>
        </p:txBody>
      </p:sp>
      <p:sp>
        <p:nvSpPr>
          <p:cNvPr id="11" name="Exclusions"/>
          <p:cNvSpPr txBox="1"/>
          <p:nvPr/>
        </p:nvSpPr>
        <p:spPr>
          <a:xfrm>
            <a:off x="6096000" y="1143000"/>
            <a:ext cx="5486400" cy="3276600"/>
          </a:xfrm>
          <a:prstGeom prst="roundRect">
            <a:avLst>
              <a:gd name="adj" fmla="val 3000"/>
            </a:avLst>
          </a:prstGeom>
          <a:solidFill>
            <a:srgbClr val="F2F0ED"/>
          </a:solidFill>
          <a:ln w="12700">
            <a:solidFill>
              <a:srgbClr val="D9D0C7"/>
            </a:solidFill>
          </a:ln>
        </p:spPr>
        <p:txBody>
          <a:bodyPr wrap="square" lIns="144000" tIns="108000" rIns="144000" bIns="108000" anchor="t"/>
          <a:lstStyle/>
          <a:p>
            <a:pPr>
              <a:buNone/>
            </a:pPr>
            <a:r>
              <a:rPr lang="ja-JP" sz="1600" b="1" dirty="0">
                <a:solidFill>
                  <a:srgbClr val="A23B2C"/>
                </a:solidFill>
                <a:latin typeface="BIZ UDPGothic"/>
                <a:ea typeface="BIZ UDPGothic"/>
              </a:rPr>
              <a:t>除外事項</a:t>
            </a:r>
          </a:p>
          <a:p>
            <a:pPr marL="228600" indent="-228600">
              <a:spcBef>
                <a:spcPts val="200"/>
              </a:spcBef>
              <a:buFont typeface="Arial"/>
              <a:buChar char="○"/>
            </a:pPr>
            <a:r>
              <a:rPr lang="ja-JP" sz="1100" dirty="0">
                <a:solidFill>
                  <a:srgbClr val="3D3D3D"/>
                </a:solidFill>
                <a:latin typeface="BIZ UDPGothic"/>
                <a:ea typeface="BIZ UDPGothic"/>
              </a:rPr>
              <a:t>本番システム実装、運用設計、監視設計</a:t>
            </a:r>
          </a:p>
          <a:p>
            <a:pPr marL="228600" indent="-228600">
              <a:spcBef>
                <a:spcPts val="200"/>
              </a:spcBef>
              <a:buFont typeface="Arial"/>
              <a:buChar char="○"/>
            </a:pPr>
            <a:r>
              <a:rPr lang="ja-JP" sz="1100" dirty="0">
                <a:solidFill>
                  <a:srgbClr val="3D3D3D"/>
                </a:solidFill>
                <a:latin typeface="BIZ UDPGothic"/>
                <a:ea typeface="BIZ UDPGothic"/>
              </a:rPr>
              <a:t>新規データ取得、外部データ連携</a:t>
            </a:r>
          </a:p>
          <a:p>
            <a:pPr marL="228600" indent="-228600">
              <a:spcBef>
                <a:spcPts val="200"/>
              </a:spcBef>
              <a:buFont typeface="Arial"/>
              <a:buChar char="○"/>
            </a:pPr>
            <a:r>
              <a:rPr lang="ja-JP" sz="1100" dirty="0">
                <a:solidFill>
                  <a:srgbClr val="3D3D3D"/>
                </a:solidFill>
                <a:latin typeface="BIZ UDPGothic"/>
                <a:ea typeface="BIZ UDPGothic"/>
              </a:rPr>
              <a:t>法務・労務・人事制度に関する最終判断</a:t>
            </a:r>
          </a:p>
          <a:p>
            <a:pPr marL="228600" indent="-228600">
              <a:spcBef>
                <a:spcPts val="200"/>
              </a:spcBef>
              <a:buFont typeface="Arial"/>
              <a:buChar char="○"/>
            </a:pPr>
            <a:r>
              <a:rPr lang="ja-JP" sz="1100" dirty="0">
                <a:solidFill>
                  <a:srgbClr val="3D3D3D"/>
                </a:solidFill>
                <a:latin typeface="BIZ UDPGothic"/>
                <a:ea typeface="BIZ UDPGothic"/>
              </a:rPr>
              <a:t>個人別報酬の妥当性判定</a:t>
            </a:r>
          </a:p>
          <a:p>
            <a:pPr marL="228600" indent="-228600">
              <a:spcBef>
                <a:spcPts val="200"/>
              </a:spcBef>
              <a:buFont typeface="Arial"/>
              <a:buChar char="○"/>
            </a:pPr>
            <a:r>
              <a:rPr lang="ja-JP" sz="1100" dirty="0">
                <a:solidFill>
                  <a:srgbClr val="3D3D3D"/>
                </a:solidFill>
                <a:latin typeface="BIZ UDPGothic"/>
                <a:ea typeface="BIZ UDPGothic"/>
              </a:rPr>
              <a:t>離職率、time to fill等の本データ単体では算出不能なKPIの実測</a:t>
            </a:r>
          </a:p>
          <a:p>
            <a:pPr marL="228600" indent="-228600">
              <a:spcBef>
                <a:spcPts val="200"/>
              </a:spcBef>
              <a:buFont typeface="Arial"/>
              <a:buChar char="○"/>
            </a:pPr>
            <a:r>
              <a:rPr lang="ja-JP" sz="1100" dirty="0">
                <a:solidFill>
                  <a:srgbClr val="3D3D3D"/>
                </a:solidFill>
                <a:latin typeface="BIZ UDPGothic"/>
                <a:ea typeface="BIZ UDPGothic"/>
              </a:rPr>
              <a:t>targetラベル定義そのものの見直し</a:t>
            </a:r>
          </a:p>
        </p:txBody>
      </p:sp>
      <p:sp>
        <p:nvSpPr>
          <p:cNvPr id="12" name="Change"/>
          <p:cNvSpPr txBox="1"/>
          <p:nvPr/>
        </p:nvSpPr>
        <p:spPr>
          <a:xfrm>
            <a:off x="609600" y="4572000"/>
            <a:ext cx="10972800" cy="914400"/>
          </a:xfrm>
          <a:prstGeom prst="roundRect">
            <a:avLst>
              <a:gd name="adj" fmla="val 5000"/>
            </a:avLst>
          </a:prstGeom>
          <a:solidFill>
            <a:srgbClr val="FAFAFA"/>
          </a:solidFill>
          <a:ln w="19050">
            <a:solidFill>
              <a:srgbClr val="A23B2C"/>
            </a:solidFill>
          </a:ln>
        </p:spPr>
        <p:txBody>
          <a:bodyPr wrap="square" lIns="180000" tIns="72000" rIns="180000" bIns="72000" anchor="ctr"/>
          <a:lstStyle/>
          <a:p>
            <a:pPr>
              <a:buNone/>
            </a:pPr>
            <a:r>
              <a:rPr lang="ja-JP" sz="1400" b="1" dirty="0">
                <a:solidFill>
                  <a:srgbClr val="A23B2C"/>
                </a:solidFill>
                <a:latin typeface="BIZ UDPGothic"/>
                <a:ea typeface="BIZ UDPGothic"/>
              </a:rPr>
              <a:t>変更対応方針</a:t>
            </a:r>
          </a:p>
          <a:p>
            <a:pPr>
              <a:buNone/>
            </a:pPr>
            <a:r>
              <a:rPr lang="ja-JP" sz="1200" dirty="0">
                <a:solidFill>
                  <a:srgbClr val="3D3D3D"/>
                </a:solidFill>
                <a:latin typeface="BIZ UDPGothic"/>
                <a:ea typeface="BIZ UDPGothic"/>
              </a:rPr>
              <a:t>追加対応は時間単価ベースで別途見積または追加発注として扱う。追加対応が発生しない前提は置かない。スコープ外の分析追加、成果物追加等が発生した場合は、T&amp;M契約の条件に基づき別途協議のうえ対応する。</a:t>
            </a:r>
          </a:p>
        </p:txBody>
      </p:sp>
      <p:sp>
        <p:nvSpPr>
          <p:cNvPr id="3" name="テキスト ボックス 2">
            <a:extLst>
              <a:ext uri="{FF2B5EF4-FFF2-40B4-BE49-F238E27FC236}">
                <a16:creationId xmlns:a16="http://schemas.microsoft.com/office/drawing/2014/main" id="{41FC317E-5229-4337-AC26-10DFB257B95F}"/>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14</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258502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799C4D-16B7-17C6-4219-566C6E6F8271}"/>
              </a:ext>
            </a:extLst>
          </p:cNvPr>
          <p:cNvSpPr>
            <a:spLocks noGrp="1"/>
          </p:cNvSpPr>
          <p:nvPr>
            <p:ph type="title"/>
          </p:nvPr>
        </p:nvSpPr>
        <p:spPr>
          <a:xfrm>
            <a:off x="838200" y="177800"/>
            <a:ext cx="10515600" cy="736600"/>
          </a:xfrm>
        </p:spPr>
        <p:txBody>
          <a:bodyPr>
            <a:normAutofit/>
          </a:bodyPr>
          <a:lstStyle/>
          <a:p>
            <a:r>
              <a:rPr kumimoji="1" lang="en-US" altLang="ja-JP" sz="3200" b="1">
                <a:latin typeface="BIZ UDPGothic"/>
                <a:ea typeface="BIZ UDPGothic"/>
              </a:rPr>
              <a:t>11. </a:t>
            </a:r>
            <a:r>
              <a:rPr kumimoji="1" lang="ja-JP" altLang="en-US" sz="3200" b="1">
                <a:latin typeface="BIZ UDPGothic"/>
                <a:ea typeface="BIZ UDPGothic"/>
              </a:rPr>
              <a:t>次アクション</a:t>
            </a:r>
          </a:p>
        </p:txBody>
      </p:sp>
      <p:sp>
        <p:nvSpPr>
          <p:cNvPr id="10" name="Circle0"/>
          <p:cNvSpPr/>
          <p:nvPr/>
        </p:nvSpPr>
        <p:spPr>
          <a:xfrm>
            <a:off x="609600" y="1181100"/>
            <a:ext cx="457200" cy="457200"/>
          </a:xfrm>
          <a:prstGeom prst="ellipse">
            <a:avLst/>
          </a:prstGeom>
          <a:solidFill>
            <a:srgbClr val="3D3D3D"/>
          </a:solidFill>
          <a:ln>
            <a:noFill/>
          </a:ln>
        </p:spPr>
        <p:txBody>
          <a:bodyPr wrap="square" lIns="0" tIns="0" rIns="0" bIns="0" anchor="ctr"/>
          <a:lstStyle/>
          <a:p>
            <a:pPr algn="ctr">
              <a:buNone/>
            </a:pPr>
            <a:r>
              <a:rPr lang="ja-JP" sz="1800" b="1" dirty="0">
                <a:solidFill>
                  <a:srgbClr val="FFFFFF"/>
                </a:solidFill>
                <a:latin typeface="BIZ UDPGothic"/>
                <a:ea typeface="BIZ UDPGothic"/>
              </a:rPr>
              <a:t>1</a:t>
            </a:r>
          </a:p>
        </p:txBody>
      </p:sp>
      <p:sp>
        <p:nvSpPr>
          <p:cNvPr id="11" name="ActionBar0"/>
          <p:cNvSpPr txBox="1"/>
          <p:nvPr/>
        </p:nvSpPr>
        <p:spPr>
          <a:xfrm>
            <a:off x="1143000" y="1143000"/>
            <a:ext cx="9525000" cy="533400"/>
          </a:xfrm>
          <a:prstGeom prst="roundRect">
            <a:avLst>
              <a:gd name="adj" fmla="val 12000"/>
            </a:avLst>
          </a:prstGeom>
          <a:solidFill>
            <a:srgbClr val="F2F0ED"/>
          </a:solidFill>
          <a:ln>
            <a:noFill/>
          </a:ln>
        </p:spPr>
        <p:txBody>
          <a:bodyPr wrap="square" lIns="144000" tIns="36000" rIns="144000" bIns="36000" anchor="ctr"/>
          <a:lstStyle/>
          <a:p>
            <a:pPr>
              <a:buNone/>
            </a:pPr>
            <a:r>
              <a:rPr lang="ja-JP" sz="1600" dirty="0">
                <a:solidFill>
                  <a:srgbClr val="2D2D2D"/>
                </a:solidFill>
                <a:latin typeface="BIZ UDPGothic"/>
                <a:ea typeface="BIZ UDPGothic"/>
              </a:rPr>
              <a:t>本提案書の内容確認</a:t>
            </a:r>
          </a:p>
        </p:txBody>
      </p:sp>
      <p:sp>
        <p:nvSpPr>
          <p:cNvPr id="30" name="DownArrow0"/>
          <p:cNvSpPr/>
          <p:nvPr/>
        </p:nvSpPr>
        <p:spPr>
          <a:xfrm>
            <a:off x="781050" y="1676400"/>
            <a:ext cx="114300" cy="76200"/>
          </a:xfrm>
          <a:prstGeom prst="downArrow">
            <a:avLst/>
          </a:prstGeom>
          <a:solidFill>
            <a:srgbClr val="B5A99A"/>
          </a:solidFill>
          <a:ln>
            <a:noFill/>
          </a:ln>
        </p:spPr>
        <p:txBody>
          <a:bodyPr/>
          <a:lstStyle/>
          <a:p>
            <a:endParaRPr lang="ja-JP"/>
          </a:p>
        </p:txBody>
      </p:sp>
      <p:sp>
        <p:nvSpPr>
          <p:cNvPr id="12" name="Circle1"/>
          <p:cNvSpPr/>
          <p:nvPr/>
        </p:nvSpPr>
        <p:spPr>
          <a:xfrm>
            <a:off x="609600" y="1790700"/>
            <a:ext cx="457200" cy="457200"/>
          </a:xfrm>
          <a:prstGeom prst="ellipse">
            <a:avLst/>
          </a:prstGeom>
          <a:solidFill>
            <a:srgbClr val="3D3D3D"/>
          </a:solidFill>
          <a:ln>
            <a:noFill/>
          </a:ln>
        </p:spPr>
        <p:txBody>
          <a:bodyPr wrap="square" lIns="0" tIns="0" rIns="0" bIns="0" anchor="ctr"/>
          <a:lstStyle/>
          <a:p>
            <a:pPr algn="ctr">
              <a:buNone/>
            </a:pPr>
            <a:r>
              <a:rPr lang="ja-JP" sz="1800" b="1" dirty="0">
                <a:solidFill>
                  <a:srgbClr val="FFFFFF"/>
                </a:solidFill>
                <a:latin typeface="BIZ UDPGothic"/>
                <a:ea typeface="BIZ UDPGothic"/>
              </a:rPr>
              <a:t>2</a:t>
            </a:r>
          </a:p>
        </p:txBody>
      </p:sp>
      <p:sp>
        <p:nvSpPr>
          <p:cNvPr id="13" name="ActionBar1"/>
          <p:cNvSpPr txBox="1"/>
          <p:nvPr/>
        </p:nvSpPr>
        <p:spPr>
          <a:xfrm>
            <a:off x="1143000" y="1752600"/>
            <a:ext cx="9525000" cy="533400"/>
          </a:xfrm>
          <a:prstGeom prst="roundRect">
            <a:avLst>
              <a:gd name="adj" fmla="val 12000"/>
            </a:avLst>
          </a:prstGeom>
          <a:solidFill>
            <a:srgbClr val="F2F0ED"/>
          </a:solidFill>
          <a:ln>
            <a:noFill/>
          </a:ln>
        </p:spPr>
        <p:txBody>
          <a:bodyPr wrap="square" lIns="144000" tIns="36000" rIns="144000" bIns="36000" anchor="ctr"/>
          <a:lstStyle/>
          <a:p>
            <a:pPr>
              <a:buNone/>
            </a:pPr>
            <a:r>
              <a:rPr lang="ja-JP" sz="1600" dirty="0">
                <a:solidFill>
                  <a:srgbClr val="2D2D2D"/>
                </a:solidFill>
                <a:latin typeface="BIZ UDPGothic"/>
                <a:ea typeface="BIZ UDPGothic"/>
              </a:rPr>
              <a:t>スコープ・成果物・進行方法・精算条件の合意</a:t>
            </a:r>
          </a:p>
        </p:txBody>
      </p:sp>
      <p:sp>
        <p:nvSpPr>
          <p:cNvPr id="31" name="DownArrow1"/>
          <p:cNvSpPr/>
          <p:nvPr/>
        </p:nvSpPr>
        <p:spPr>
          <a:xfrm>
            <a:off x="781050" y="2286000"/>
            <a:ext cx="114300" cy="76200"/>
          </a:xfrm>
          <a:prstGeom prst="downArrow">
            <a:avLst/>
          </a:prstGeom>
          <a:solidFill>
            <a:srgbClr val="B5A99A"/>
          </a:solidFill>
          <a:ln>
            <a:noFill/>
          </a:ln>
        </p:spPr>
        <p:txBody>
          <a:bodyPr/>
          <a:lstStyle/>
          <a:p>
            <a:endParaRPr lang="ja-JP"/>
          </a:p>
        </p:txBody>
      </p:sp>
      <p:sp>
        <p:nvSpPr>
          <p:cNvPr id="14" name="Circle2"/>
          <p:cNvSpPr/>
          <p:nvPr/>
        </p:nvSpPr>
        <p:spPr>
          <a:xfrm>
            <a:off x="609600" y="2400300"/>
            <a:ext cx="457200" cy="457200"/>
          </a:xfrm>
          <a:prstGeom prst="ellipse">
            <a:avLst/>
          </a:prstGeom>
          <a:solidFill>
            <a:srgbClr val="3D3D3D"/>
          </a:solidFill>
          <a:ln>
            <a:noFill/>
          </a:ln>
        </p:spPr>
        <p:txBody>
          <a:bodyPr wrap="square" lIns="0" tIns="0" rIns="0" bIns="0" anchor="ctr"/>
          <a:lstStyle/>
          <a:p>
            <a:pPr algn="ctr">
              <a:buNone/>
            </a:pPr>
            <a:r>
              <a:rPr lang="ja-JP" sz="1800" b="1" dirty="0">
                <a:solidFill>
                  <a:srgbClr val="FFFFFF"/>
                </a:solidFill>
                <a:latin typeface="BIZ UDPGothic"/>
                <a:ea typeface="BIZ UDPGothic"/>
              </a:rPr>
              <a:t>3</a:t>
            </a:r>
          </a:p>
        </p:txBody>
      </p:sp>
      <p:sp>
        <p:nvSpPr>
          <p:cNvPr id="15" name="ActionBar2"/>
          <p:cNvSpPr txBox="1"/>
          <p:nvPr/>
        </p:nvSpPr>
        <p:spPr>
          <a:xfrm>
            <a:off x="1143000" y="2362200"/>
            <a:ext cx="9525000" cy="533400"/>
          </a:xfrm>
          <a:prstGeom prst="roundRect">
            <a:avLst>
              <a:gd name="adj" fmla="val 12000"/>
            </a:avLst>
          </a:prstGeom>
          <a:solidFill>
            <a:srgbClr val="F2F0ED"/>
          </a:solidFill>
          <a:ln>
            <a:noFill/>
          </a:ln>
        </p:spPr>
        <p:txBody>
          <a:bodyPr wrap="square" lIns="144000" tIns="36000" rIns="144000" bIns="36000" anchor="ctr"/>
          <a:lstStyle/>
          <a:p>
            <a:pPr>
              <a:buNone/>
            </a:pPr>
            <a:r>
              <a:rPr lang="ja-JP" sz="1600" dirty="0">
                <a:solidFill>
                  <a:srgbClr val="2D2D2D"/>
                </a:solidFill>
                <a:latin typeface="BIZ UDPGothic"/>
                <a:ea typeface="BIZ UDPGothic"/>
              </a:rPr>
              <a:t>契約手続き実施</a:t>
            </a:r>
          </a:p>
        </p:txBody>
      </p:sp>
      <p:sp>
        <p:nvSpPr>
          <p:cNvPr id="32" name="DownArrow2"/>
          <p:cNvSpPr/>
          <p:nvPr/>
        </p:nvSpPr>
        <p:spPr>
          <a:xfrm>
            <a:off x="781050" y="2895600"/>
            <a:ext cx="114300" cy="76200"/>
          </a:xfrm>
          <a:prstGeom prst="downArrow">
            <a:avLst/>
          </a:prstGeom>
          <a:solidFill>
            <a:srgbClr val="B5A99A"/>
          </a:solidFill>
          <a:ln>
            <a:noFill/>
          </a:ln>
        </p:spPr>
        <p:txBody>
          <a:bodyPr/>
          <a:lstStyle/>
          <a:p>
            <a:endParaRPr lang="ja-JP"/>
          </a:p>
        </p:txBody>
      </p:sp>
      <p:sp>
        <p:nvSpPr>
          <p:cNvPr id="16" name="Circle3"/>
          <p:cNvSpPr/>
          <p:nvPr/>
        </p:nvSpPr>
        <p:spPr>
          <a:xfrm>
            <a:off x="609600" y="3009900"/>
            <a:ext cx="457200" cy="457200"/>
          </a:xfrm>
          <a:prstGeom prst="ellipse">
            <a:avLst/>
          </a:prstGeom>
          <a:solidFill>
            <a:srgbClr val="3D3D3D"/>
          </a:solidFill>
          <a:ln>
            <a:noFill/>
          </a:ln>
        </p:spPr>
        <p:txBody>
          <a:bodyPr wrap="square" lIns="0" tIns="0" rIns="0" bIns="0" anchor="ctr"/>
          <a:lstStyle/>
          <a:p>
            <a:pPr algn="ctr">
              <a:buNone/>
            </a:pPr>
            <a:r>
              <a:rPr lang="ja-JP" sz="1800" b="1" dirty="0">
                <a:solidFill>
                  <a:srgbClr val="FFFFFF"/>
                </a:solidFill>
                <a:latin typeface="BIZ UDPGothic"/>
                <a:ea typeface="BIZ UDPGothic"/>
              </a:rPr>
              <a:t>4</a:t>
            </a:r>
          </a:p>
        </p:txBody>
      </p:sp>
      <p:sp>
        <p:nvSpPr>
          <p:cNvPr id="17" name="ActionBar3"/>
          <p:cNvSpPr txBox="1"/>
          <p:nvPr/>
        </p:nvSpPr>
        <p:spPr>
          <a:xfrm>
            <a:off x="1143000" y="2971800"/>
            <a:ext cx="9525000" cy="533400"/>
          </a:xfrm>
          <a:prstGeom prst="roundRect">
            <a:avLst>
              <a:gd name="adj" fmla="val 12000"/>
            </a:avLst>
          </a:prstGeom>
          <a:solidFill>
            <a:srgbClr val="F2F0ED"/>
          </a:solidFill>
          <a:ln>
            <a:noFill/>
          </a:ln>
        </p:spPr>
        <p:txBody>
          <a:bodyPr wrap="square" lIns="144000" tIns="36000" rIns="144000" bIns="36000" anchor="ctr"/>
          <a:lstStyle/>
          <a:p>
            <a:pPr>
              <a:buNone/>
            </a:pPr>
            <a:r>
              <a:rPr lang="ja-JP" sz="1600" dirty="0">
                <a:solidFill>
                  <a:srgbClr val="2D2D2D"/>
                </a:solidFill>
                <a:latin typeface="BIZ UDPGothic"/>
                <a:ea typeface="BIZ UDPGothic"/>
              </a:rPr>
              <a:t>2025-08-18 を開始日とするキックオフ日程確定</a:t>
            </a:r>
          </a:p>
        </p:txBody>
      </p:sp>
      <p:sp>
        <p:nvSpPr>
          <p:cNvPr id="33" name="DownArrow3"/>
          <p:cNvSpPr/>
          <p:nvPr/>
        </p:nvSpPr>
        <p:spPr>
          <a:xfrm>
            <a:off x="781050" y="3505200"/>
            <a:ext cx="114300" cy="76200"/>
          </a:xfrm>
          <a:prstGeom prst="downArrow">
            <a:avLst/>
          </a:prstGeom>
          <a:solidFill>
            <a:srgbClr val="B5A99A"/>
          </a:solidFill>
          <a:ln>
            <a:noFill/>
          </a:ln>
        </p:spPr>
        <p:txBody>
          <a:bodyPr/>
          <a:lstStyle/>
          <a:p>
            <a:endParaRPr lang="ja-JP"/>
          </a:p>
        </p:txBody>
      </p:sp>
      <p:sp>
        <p:nvSpPr>
          <p:cNvPr id="18" name="Circle4"/>
          <p:cNvSpPr/>
          <p:nvPr/>
        </p:nvSpPr>
        <p:spPr>
          <a:xfrm>
            <a:off x="609600" y="3619500"/>
            <a:ext cx="457200" cy="457200"/>
          </a:xfrm>
          <a:prstGeom prst="ellipse">
            <a:avLst/>
          </a:prstGeom>
          <a:solidFill>
            <a:srgbClr val="3D3D3D"/>
          </a:solidFill>
          <a:ln>
            <a:noFill/>
          </a:ln>
        </p:spPr>
        <p:txBody>
          <a:bodyPr wrap="square" lIns="0" tIns="0" rIns="0" bIns="0" anchor="ctr"/>
          <a:lstStyle/>
          <a:p>
            <a:pPr algn="ctr">
              <a:buNone/>
            </a:pPr>
            <a:r>
              <a:rPr lang="ja-JP" sz="1800" b="1" dirty="0">
                <a:solidFill>
                  <a:srgbClr val="FFFFFF"/>
                </a:solidFill>
                <a:latin typeface="BIZ UDPGothic"/>
                <a:ea typeface="BIZ UDPGothic"/>
              </a:rPr>
              <a:t>5</a:t>
            </a:r>
          </a:p>
        </p:txBody>
      </p:sp>
      <p:sp>
        <p:nvSpPr>
          <p:cNvPr id="19" name="ActionBar4"/>
          <p:cNvSpPr txBox="1"/>
          <p:nvPr/>
        </p:nvSpPr>
        <p:spPr>
          <a:xfrm>
            <a:off x="1143000" y="3581400"/>
            <a:ext cx="9525000" cy="533400"/>
          </a:xfrm>
          <a:prstGeom prst="roundRect">
            <a:avLst>
              <a:gd name="adj" fmla="val 12000"/>
            </a:avLst>
          </a:prstGeom>
          <a:solidFill>
            <a:srgbClr val="F2F0ED"/>
          </a:solidFill>
          <a:ln>
            <a:noFill/>
          </a:ln>
        </p:spPr>
        <p:txBody>
          <a:bodyPr wrap="square" lIns="144000" tIns="36000" rIns="144000" bIns="36000" anchor="ctr"/>
          <a:lstStyle/>
          <a:p>
            <a:pPr>
              <a:buNone/>
            </a:pPr>
            <a:r>
              <a:rPr lang="ja-JP" sz="1600" dirty="0">
                <a:solidFill>
                  <a:srgbClr val="2D2D2D"/>
                </a:solidFill>
                <a:latin typeface="BIZ UDPGothic"/>
                <a:ea typeface="BIZ UDPGothic"/>
              </a:rPr>
              <a:t>分析対象データおよび関連資料の正式受領</a:t>
            </a:r>
          </a:p>
        </p:txBody>
      </p:sp>
      <p:sp>
        <p:nvSpPr>
          <p:cNvPr id="34" name="DownArrow4"/>
          <p:cNvSpPr/>
          <p:nvPr/>
        </p:nvSpPr>
        <p:spPr>
          <a:xfrm>
            <a:off x="781050" y="4114800"/>
            <a:ext cx="114300" cy="76200"/>
          </a:xfrm>
          <a:prstGeom prst="downArrow">
            <a:avLst/>
          </a:prstGeom>
          <a:solidFill>
            <a:srgbClr val="B5A99A"/>
          </a:solidFill>
          <a:ln>
            <a:noFill/>
          </a:ln>
        </p:spPr>
        <p:txBody>
          <a:bodyPr/>
          <a:lstStyle/>
          <a:p>
            <a:endParaRPr lang="ja-JP"/>
          </a:p>
        </p:txBody>
      </p:sp>
      <p:sp>
        <p:nvSpPr>
          <p:cNvPr id="20" name="Circle5"/>
          <p:cNvSpPr/>
          <p:nvPr/>
        </p:nvSpPr>
        <p:spPr>
          <a:xfrm>
            <a:off x="609600" y="4229100"/>
            <a:ext cx="457200" cy="457200"/>
          </a:xfrm>
          <a:prstGeom prst="ellipse">
            <a:avLst/>
          </a:prstGeom>
          <a:solidFill>
            <a:srgbClr val="A23B2C"/>
          </a:solidFill>
          <a:ln>
            <a:noFill/>
          </a:ln>
        </p:spPr>
        <p:txBody>
          <a:bodyPr wrap="square" lIns="0" tIns="0" rIns="0" bIns="0" anchor="ctr"/>
          <a:lstStyle/>
          <a:p>
            <a:pPr algn="ctr">
              <a:buNone/>
            </a:pPr>
            <a:r>
              <a:rPr lang="ja-JP" sz="1800" b="1" dirty="0">
                <a:solidFill>
                  <a:srgbClr val="FFFFFF"/>
                </a:solidFill>
                <a:latin typeface="BIZ UDPGothic"/>
                <a:ea typeface="BIZ UDPGothic"/>
              </a:rPr>
              <a:t>6</a:t>
            </a:r>
          </a:p>
        </p:txBody>
      </p:sp>
      <p:sp>
        <p:nvSpPr>
          <p:cNvPr id="21" name="ActionBar5"/>
          <p:cNvSpPr txBox="1"/>
          <p:nvPr/>
        </p:nvSpPr>
        <p:spPr>
          <a:xfrm>
            <a:off x="1143000" y="4191000"/>
            <a:ext cx="9525000" cy="533400"/>
          </a:xfrm>
          <a:prstGeom prst="roundRect">
            <a:avLst>
              <a:gd name="adj" fmla="val 12000"/>
            </a:avLst>
          </a:prstGeom>
          <a:solidFill>
            <a:srgbClr val="A23B2C"/>
          </a:solidFill>
          <a:ln>
            <a:noFill/>
          </a:ln>
        </p:spPr>
        <p:txBody>
          <a:bodyPr wrap="square" lIns="144000" tIns="36000" rIns="144000" bIns="36000" anchor="ctr"/>
          <a:lstStyle/>
          <a:p>
            <a:pPr>
              <a:buNone/>
            </a:pPr>
            <a:r>
              <a:rPr lang="ja-JP" sz="1600" b="1" dirty="0">
                <a:solidFill>
                  <a:srgbClr val="FFFFFF"/>
                </a:solidFill>
                <a:latin typeface="BIZ UDPGothic"/>
                <a:ea typeface="BIZ UDPGothic"/>
              </a:rPr>
              <a:t>キックオフ後、第1週より分析着手</a:t>
            </a:r>
          </a:p>
        </p:txBody>
      </p:sp>
      <p:sp>
        <p:nvSpPr>
          <p:cNvPr id="3" name="テキスト ボックス 2">
            <a:extLst>
              <a:ext uri="{FF2B5EF4-FFF2-40B4-BE49-F238E27FC236}">
                <a16:creationId xmlns:a16="http://schemas.microsoft.com/office/drawing/2014/main" id="{F2FF59A7-776B-48E9-99A7-398BF2CCEA73}"/>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15</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4252398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losingMain"/>
          <p:cNvSpPr txBox="1"/>
          <p:nvPr/>
        </p:nvSpPr>
        <p:spPr>
          <a:xfrm>
            <a:off x="914400" y="990600"/>
            <a:ext cx="10363200" cy="1524000"/>
          </a:xfrm>
          <a:prstGeom prst="rect">
            <a:avLst/>
          </a:prstGeom>
          <a:noFill/>
          <a:ln>
            <a:noFill/>
          </a:ln>
        </p:spPr>
        <p:txBody>
          <a:bodyPr wrap="square" lIns="0" tIns="0" rIns="0" bIns="0" anchor="ctr"/>
          <a:lstStyle/>
          <a:p>
            <a:pPr algn="ctr">
              <a:buNone/>
            </a:pPr>
            <a:r>
              <a:rPr lang="ja-JP" sz="3200" b="1" dirty="0">
                <a:solidFill>
                  <a:srgbClr val="2D2D2D"/>
                </a:solidFill>
                <a:latin typeface="BIZ UDPGothic"/>
                <a:ea typeface="BIZ UDPGothic"/>
              </a:rPr>
              <a:t>データ分析プロジェクト提案書</a:t>
            </a:r>
          </a:p>
        </p:txBody>
      </p:sp>
      <p:sp>
        <p:nvSpPr>
          <p:cNvPr id="11" name="Divider"/>
          <p:cNvSpPr/>
          <p:nvPr/>
        </p:nvSpPr>
        <p:spPr>
          <a:xfrm>
            <a:off x="4114800" y="2590600"/>
            <a:ext cx="3962400" cy="38100"/>
          </a:xfrm>
          <a:prstGeom prst="rect">
            <a:avLst/>
          </a:prstGeom>
          <a:solidFill>
            <a:srgbClr val="A23B2C"/>
          </a:solidFill>
          <a:ln>
            <a:noFill/>
          </a:ln>
        </p:spPr>
        <p:txBody>
          <a:bodyPr/>
          <a:lstStyle/>
          <a:p>
            <a:endParaRPr lang="ja-JP"/>
          </a:p>
        </p:txBody>
      </p:sp>
      <p:sp>
        <p:nvSpPr>
          <p:cNvPr id="12" name="ClosingMsg"/>
          <p:cNvSpPr txBox="1"/>
          <p:nvPr/>
        </p:nvSpPr>
        <p:spPr>
          <a:xfrm>
            <a:off x="914400" y="2819400"/>
            <a:ext cx="10363200" cy="1371600"/>
          </a:xfrm>
          <a:prstGeom prst="rect">
            <a:avLst/>
          </a:prstGeom>
          <a:noFill/>
          <a:ln>
            <a:noFill/>
          </a:ln>
        </p:spPr>
        <p:txBody>
          <a:bodyPr wrap="square" lIns="72000" tIns="72000" rIns="72000" bIns="72000" anchor="t"/>
          <a:lstStyle/>
          <a:p>
            <a:pPr algn="ctr">
              <a:buNone/>
            </a:pPr>
            <a:r>
              <a:rPr lang="ja-JP" sz="1400" dirty="0">
                <a:solidFill>
                  <a:srgbClr val="4A4A4A"/>
                </a:solidFill>
                <a:latin typeface="BIZ UDPGothic"/>
                <a:ea typeface="BIZ UDPGothic"/>
              </a:rPr>
              <a:t>株式会社データアステル データサイエンス部は、</a:t>
            </a:r>
          </a:p>
          <a:p>
            <a:pPr algn="ctr">
              <a:buNone/>
            </a:pPr>
            <a:r>
              <a:rPr lang="ja-JP" sz="1400" dirty="0">
                <a:solidFill>
                  <a:srgbClr val="4A4A4A"/>
                </a:solidFill>
                <a:latin typeface="BIZ UDPGothic"/>
                <a:ea typeface="BIZ UDPGothic"/>
              </a:rPr>
              <a:t>株式会社東都人材プラットフォーム 人事戦略部 人材データ活用室の</a:t>
            </a:r>
          </a:p>
          <a:p>
            <a:pPr algn="ctr">
              <a:buNone/>
            </a:pPr>
            <a:r>
              <a:rPr lang="ja-JP" sz="1400" dirty="0">
                <a:solidFill>
                  <a:srgbClr val="4A4A4A"/>
                </a:solidFill>
                <a:latin typeface="BIZ UDPGothic"/>
                <a:ea typeface="BIZ UDPGothic"/>
              </a:rPr>
              <a:t>People Analytics 推進に向け、短期間で再現性と説明可能性を備えた初期分析を提供する。</a:t>
            </a:r>
          </a:p>
          <a:p>
            <a:pPr algn="ctr">
              <a:buNone/>
            </a:pPr>
            <a:r>
              <a:rPr lang="ja-JP" sz="1600" b="1" dirty="0">
                <a:solidFill>
                  <a:srgbClr val="A23B2C"/>
                </a:solidFill>
                <a:latin typeface="BIZ UDPGothic"/>
                <a:ea typeface="BIZ UDPGothic"/>
              </a:rPr>
              <a:t>本提案内容に基づき、契約締結後速やかに着手可能である。</a:t>
            </a:r>
          </a:p>
        </p:txBody>
      </p:sp>
      <p:sp>
        <p:nvSpPr>
          <p:cNvPr id="13" name="CompanyInfo"/>
          <p:cNvSpPr txBox="1"/>
          <p:nvPr/>
        </p:nvSpPr>
        <p:spPr>
          <a:xfrm>
            <a:off x="914400" y="4419600"/>
            <a:ext cx="10363200" cy="609600"/>
          </a:xfrm>
          <a:prstGeom prst="roundRect">
            <a:avLst>
              <a:gd name="adj" fmla="val 8000"/>
            </a:avLst>
          </a:prstGeom>
          <a:solidFill>
            <a:srgbClr val="F2F0ED"/>
          </a:solidFill>
          <a:ln>
            <a:noFill/>
          </a:ln>
        </p:spPr>
        <p:txBody>
          <a:bodyPr wrap="square" lIns="180000" tIns="36000" rIns="180000" bIns="36000" anchor="ctr"/>
          <a:lstStyle/>
          <a:p>
            <a:pPr algn="ctr">
              <a:buNone/>
            </a:pPr>
            <a:r>
              <a:rPr lang="ja-JP" sz="1200" b="1" dirty="0">
                <a:solidFill>
                  <a:srgbClr val="3D3D3D"/>
                </a:solidFill>
                <a:latin typeface="BIZ UDPGothic"/>
                <a:ea typeface="BIZ UDPGothic"/>
              </a:rPr>
              <a:t>株式会社データアステル  データサイエンス部</a:t>
            </a:r>
          </a:p>
          <a:p>
            <a:pPr algn="ctr">
              <a:buNone/>
            </a:pPr>
            <a:r>
              <a:rPr lang="ja-JP" sz="1100" dirty="0">
                <a:solidFill>
                  <a:srgbClr val="8C8C8C"/>
                </a:solidFill>
                <a:latin typeface="BIZ UDPGothic"/>
                <a:ea typeface="BIZ UDPGothic"/>
              </a:rPr>
              <a:t>契約開始予定日：2025-08-18  ｜  契約期間：6週間  ｜  見込金額：4,675,000円（税込）</a:t>
            </a:r>
          </a:p>
        </p:txBody>
      </p:sp>
      <p:sp>
        <p:nvSpPr>
          <p:cNvPr id="3" name="テキスト ボックス 2">
            <a:extLst>
              <a:ext uri="{FF2B5EF4-FFF2-40B4-BE49-F238E27FC236}">
                <a16:creationId xmlns:a16="http://schemas.microsoft.com/office/drawing/2014/main" id="{BD4E75DB-B613-463F-A547-C1644C1146D3}"/>
              </a:ext>
            </a:extLst>
          </p:cNvPr>
          <p:cNvSpPr txBox="1"/>
          <p:nvPr/>
        </p:nvSpPr>
        <p:spPr>
          <a:xfrm>
            <a:off x="11303000" y="6350000"/>
            <a:ext cx="635000" cy="304800"/>
          </a:xfrm>
          <a:prstGeom prst="rect">
            <a:avLst/>
          </a:prstGeom>
          <a:noFill/>
        </p:spPr>
        <p:txBody>
          <a:bodyPr vertOverflow="overflow" vert="horz" wrap="square" rtlCol="0" anchor="t">
            <a:noAutofit/>
          </a:bodyPr>
          <a:lstStyle/>
          <a:p>
            <a:pPr algn="l"/>
            <a:r>
              <a:rPr lang="en-US" altLang="ja-JP" sz="1000">
                <a:solidFill>
                  <a:srgbClr val="8C8C8C"/>
                </a:solidFill>
                <a:latin typeface="BIZ UDPGothic"/>
                <a:ea typeface="BIZ UDPGothic"/>
              </a:rPr>
              <a:t>16</a:t>
            </a:r>
            <a:endParaRPr lang="ja-JP" altLang="en-US" sz="1000">
              <a:solidFill>
                <a:srgbClr val="8C8C8C"/>
              </a:solidFill>
              <a:latin typeface="BIZ UDPGothic"/>
              <a:ea typeface="BIZ UDPGothic"/>
            </a:endParaRPr>
          </a:p>
        </p:txBody>
      </p:sp>
    </p:spTree>
    <p:extLst>
      <p:ext uri="{BB962C8B-B14F-4D97-AF65-F5344CB8AC3E}">
        <p14:creationId xmlns:p14="http://schemas.microsoft.com/office/powerpoint/2010/main" val="3083523060"/>
      </p:ext>
    </p:extLst>
  </p:cSld>
  <p:clrMapOvr>
    <a:masterClrMapping/>
  </p:clrMapOvr>
</p:sld>
</file>

<file path=ppt/theme/theme1.xml><?xml version="1.0" encoding="utf-8"?>
<a:theme xmlns:a="http://schemas.openxmlformats.org/drawingml/2006/main" name="Office テーマ [1774755642290]">
  <a:themeElements>
    <a:clrScheme name="Proposal Mono">
      <a:dk1>
        <a:srgbClr val="2D2D2D"/>
      </a:dk1>
      <a:lt1>
        <a:srgbClr val="FFFFFF"/>
      </a:lt1>
      <a:dk2>
        <a:srgbClr val="4A4A4A"/>
      </a:dk2>
      <a:lt2>
        <a:srgbClr val="F2F0ED"/>
      </a:lt2>
      <a:accent1>
        <a:srgbClr val="A23B2C"/>
      </a:accent1>
      <a:accent2>
        <a:srgbClr val="3D3D3D"/>
      </a:accent2>
      <a:accent3>
        <a:srgbClr val="8C8C8C"/>
      </a:accent3>
      <a:accent4>
        <a:srgbClr val="B5A99A"/>
      </a:accent4>
      <a:accent5>
        <a:srgbClr val="D9D0C7"/>
      </a:accent5>
      <a:accent6>
        <a:srgbClr val="6B3A2A"/>
      </a:accent6>
      <a:hlink>
        <a:srgbClr val="A23B2C"/>
      </a:hlink>
      <a:folHlink>
        <a:srgbClr val="6B3A2A"/>
      </a:folHlink>
    </a:clrScheme>
    <a:fontScheme name="BIZ UDP Gothic">
      <a:majorFont>
        <a:latin typeface="BIZ UDPGothic" panose="02110004020202020204"/>
        <a:ea typeface="BIZ UDP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panose="02110004020202020204"/>
        <a:ea typeface="BIZ UDP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E8C610C-86DC-4B67-9DBC-032B4730A44D}">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1596</TotalTime>
  <Words>2220</Words>
  <Application>Microsoft Office PowerPoint</Application>
  <PresentationFormat>ワイド画面</PresentationFormat>
  <Paragraphs>311</Paragraphs>
  <Slides>16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16</vt:i4>
      </vt:variant>
    </vt:vector>
  </HeadingPairs>
  <TitlesOfParts>
    <vt:vector size="20" baseType="lpstr">
      <vt:lpstr>BIZ UDPGothic</vt:lpstr>
      <vt:lpstr>游ゴシック</vt:lpstr>
      <vt:lpstr>Arial</vt:lpstr>
      <vt:lpstr>Office テーマ [1774755642290]</vt:lpstr>
      <vt:lpstr>データ分析プロジェクト提案書</vt:lpstr>
      <vt:lpstr>1. 背景</vt:lpstr>
      <vt:lpstr>2. 目的</vt:lpstr>
      <vt:lpstr>3. スコープ</vt:lpstr>
      <vt:lpstr>4. 分析アプローチ：全体方針</vt:lpstr>
      <vt:lpstr>4. 分析アプローチ：データ処理方針</vt:lpstr>
      <vt:lpstr>4. 分析ステップ</vt:lpstr>
      <vt:lpstr>5. 実施体制</vt:lpstr>
      <vt:lpstr>6. スケジュール案</vt:lpstr>
      <vt:lpstr>6. マイルストーン</vt:lpstr>
      <vt:lpstr>7. 成果物定義</vt:lpstr>
      <vt:lpstr>8. 費用見積</vt:lpstr>
      <vt:lpstr>9. リスクと対応策</vt:lpstr>
      <vt:lpstr>10. 前提条件と除外事項</vt:lpstr>
      <vt:lpstr>11. 次アクション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8</cp:revision>
  <dcterms:created xsi:type="dcterms:W3CDTF">2026-03-27T04:01:00Z</dcterms:created>
  <dcterms:modified xsi:type="dcterms:W3CDTF">2026-03-30T00:36:02Z</dcterms:modified>
</cp:coreProperties>
</file>