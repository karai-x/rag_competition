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1" r:id="rId4"/>
    <p:sldId id="263" r:id="rId5"/>
    <p:sldId id="265" r:id="rId6"/>
    <p:sldId id="267" r:id="rId7"/>
    <p:sldId id="269" r:id="rId8"/>
    <p:sldId id="271" r:id="rId9"/>
    <p:sldId id="273" r:id="rId10"/>
    <p:sldId id="275" r:id="rId11"/>
    <p:sldId id="277" r:id="rId12"/>
    <p:sldId id="279" r:id="rId13"/>
    <p:sldId id="281" r:id="rId14"/>
    <p:sldId id="283" r:id="rId15"/>
    <p:sldId id="285" r:id="rId16"/>
    <p:sldId id="287"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pPr>
              <a:defRPr sz="1400" b="1">
                <a:solidFill>
                  <a:srgbClr val="1A1A1A"/>
                </a:solidFill>
                <a:latin typeface="BIZ UDPゴシック"/>
                <a:ea typeface="BIZ UDPゴシック"/>
              </a:defRPr>
            </a:pPr>
            <a:r>
              <a:rPr lang="ja-JP" sz="1400" b="1" dirty="0">
                <a:solidFill>
                  <a:srgbClr val="1A1A1A"/>
                </a:solidFill>
                <a:latin typeface="BIZ UDPゴシック"/>
                <a:ea typeface="BIZ UDPゴシック"/>
              </a:rPr>
              <a:t>モデル別性能比較</a:t>
            </a:r>
          </a:p>
        </c:rich>
      </c:tx>
      <c:overlay val="0"/>
    </c:title>
    <c:autoTitleDeleted val="0"/>
    <c:plotArea>
      <c:layout/>
      <c:barChart>
        <c:barDir val="bar"/>
        <c:grouping val="clustered"/>
        <c:varyColors val="1"/>
        <c:ser>
          <c:idx val="0"/>
          <c:order val="0"/>
          <c:tx>
            <c:v>Macro F1</c:v>
          </c:tx>
          <c:spPr>
            <a:solidFill>
              <a:srgbClr val="8B2500"/>
            </a:solidFill>
          </c:spPr>
          <c:invertIfNegative val="1"/>
          <c:dLbls>
            <c:numFmt formatCode="0.000" sourceLinked="0"/>
            <c:spPr>
              <a:noFill/>
              <a:ln>
                <a:noFill/>
              </a:ln>
            </c:spPr>
            <c:txPr>
              <a:bodyPr/>
              <a:lstStyle/>
              <a:p>
                <a:pPr>
                  <a:defRPr sz="1000">
                    <a:solidFill>
                      <a:srgbClr val="3D3D3D"/>
                    </a:solidFill>
                    <a:latin typeface="BIZ UDPゴシック"/>
                    <a:ea typeface="BIZ UDPゴシック"/>
                  </a:defRPr>
                </a:pPr>
                <a:endParaRPr lang="ja-JP"/>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6"/>
              <c:pt idx="0">
                <c:v>HGB #1</c:v>
              </c:pt>
              <c:pt idx="1">
                <c:v>HGB #2</c:v>
              </c:pt>
              <c:pt idx="2">
                <c:v>RF</c:v>
              </c:pt>
              <c:pt idx="3">
                <c:v>HGB #3</c:v>
              </c:pt>
              <c:pt idx="4">
                <c:v>Linear #1</c:v>
              </c:pt>
              <c:pt idx="5">
                <c:v>Linear #2</c:v>
              </c:pt>
            </c:strLit>
          </c:cat>
          <c:val>
            <c:numLit>
              <c:formatCode>General</c:formatCode>
              <c:ptCount val="6"/>
              <c:pt idx="0">
                <c:v>0.47360000000000002</c:v>
              </c:pt>
              <c:pt idx="1">
                <c:v>0.47310000000000002</c:v>
              </c:pt>
              <c:pt idx="2">
                <c:v>0.46479999999999999</c:v>
              </c:pt>
              <c:pt idx="3">
                <c:v>0.4607</c:v>
              </c:pt>
              <c:pt idx="4">
                <c:v>0.44929999999999998</c:v>
              </c:pt>
              <c:pt idx="5">
                <c:v>0.44879999999999998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F66-4A20-94A5-9E6CA33B67CB}"/>
            </c:ext>
          </c:extLst>
        </c:ser>
        <c:ser>
          <c:idx val="1"/>
          <c:order val="1"/>
          <c:tx>
            <c:v>Accuracy</c:v>
          </c:tx>
          <c:spPr>
            <a:solidFill>
              <a:srgbClr val="A0A0A0"/>
            </a:solidFill>
          </c:spPr>
          <c:invertIfNegative val="1"/>
          <c:dLbls>
            <c:numFmt formatCode="0.000" sourceLinked="0"/>
            <c:spPr>
              <a:noFill/>
              <a:ln>
                <a:noFill/>
              </a:ln>
            </c:spPr>
            <c:txPr>
              <a:bodyPr/>
              <a:lstStyle/>
              <a:p>
                <a:pPr>
                  <a:defRPr sz="1000">
                    <a:solidFill>
                      <a:srgbClr val="3D3D3D"/>
                    </a:solidFill>
                    <a:latin typeface="BIZ UDPゴシック"/>
                    <a:ea typeface="BIZ UDPゴシック"/>
                  </a:defRPr>
                </a:pPr>
                <a:endParaRPr lang="ja-JP"/>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6"/>
              <c:pt idx="0">
                <c:v>HGB #1</c:v>
              </c:pt>
              <c:pt idx="1">
                <c:v>HGB #2</c:v>
              </c:pt>
              <c:pt idx="2">
                <c:v>RF</c:v>
              </c:pt>
              <c:pt idx="3">
                <c:v>HGB #3</c:v>
              </c:pt>
              <c:pt idx="4">
                <c:v>Linear #1</c:v>
              </c:pt>
              <c:pt idx="5">
                <c:v>Linear #2</c:v>
              </c:pt>
            </c:strLit>
          </c:cat>
          <c:val>
            <c:numLit>
              <c:formatCode>General</c:formatCode>
              <c:ptCount val="6"/>
              <c:pt idx="0">
                <c:v>0.51039999999999996</c:v>
              </c:pt>
              <c:pt idx="1">
                <c:v>0.50819999999999999</c:v>
              </c:pt>
              <c:pt idx="2">
                <c:v>0.4879</c:v>
              </c:pt>
              <c:pt idx="3">
                <c:v>0.49959999999999999</c:v>
              </c:pt>
              <c:pt idx="4">
                <c:v>0.47310000000000002</c:v>
              </c:pt>
              <c:pt idx="5">
                <c:v>0.47220000000000001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F66-4A20-94A5-9E6CA33B67CB}"/>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none"/>
        <c:minorTickMark val="none"/>
        <c:tickLblPos val="nextTo"/>
        <c:txPr>
          <a:bodyPr/>
          <a:lstStyle/>
          <a:p>
            <a:pPr>
              <a:defRPr sz="1100">
                <a:latin typeface="BIZ UDPゴシック"/>
                <a:ea typeface="BIZ UDPゴシック"/>
              </a:defRPr>
            </a:pPr>
            <a:endParaRPr lang="ja-JP"/>
          </a:p>
        </c:txPr>
        <c:crossAx val="2"/>
        <c:crosses val="autoZero"/>
        <c:auto val="1"/>
        <c:lblAlgn val="ctr"/>
        <c:lblOffset val="100"/>
        <c:noMultiLvlLbl val="1"/>
      </c:catAx>
      <c:valAx>
        <c:axId val="2"/>
        <c:scaling>
          <c:orientation val="minMax"/>
          <c:max val="0.55000000000000004"/>
          <c:min val="0.4"/>
        </c:scaling>
        <c:delete val="0"/>
        <c:axPos val="b"/>
        <c:numFmt formatCode="0.00" sourceLinked="0"/>
        <c:majorTickMark val="out"/>
        <c:minorTickMark val="none"/>
        <c:tickLblPos val="nextTo"/>
        <c:txPr>
          <a:bodyPr/>
          <a:lstStyle/>
          <a:p>
            <a:pPr>
              <a:defRPr sz="1100">
                <a:latin typeface="BIZ UDPゴシック"/>
                <a:ea typeface="BIZ UDPゴシック"/>
              </a:defRPr>
            </a:pPr>
            <a:endParaRPr lang="ja-JP"/>
          </a:p>
        </c:txPr>
        <c:crossAx val="1"/>
        <c:crosses val="autoZero"/>
        <c:crossBetween val="between"/>
      </c:valAx>
    </c:plotArea>
    <c:legend>
      <c:legendPos val="t"/>
      <c:overlay val="0"/>
      <c:txPr>
        <a:bodyPr/>
        <a:lstStyle/>
        <a:p>
          <a:pPr>
            <a:defRPr sz="1100">
              <a:latin typeface="BIZ UDPゴシック"/>
              <a:ea typeface="BIZ UDPゴシック"/>
            </a:defRPr>
          </a:pPr>
          <a:endParaRPr lang="ja-JP"/>
        </a:p>
      </c:txPr>
    </c:legend>
    <c:plotVisOnly val="1"/>
    <c:dispBlanksAs val="zero"/>
    <c:showDLblsOverMax val="1"/>
  </c:chart>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D84F5E-733B-BF11-AC1D-48E9B6FAD0C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1785808-3ABC-8669-D342-0583E6F27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DF0CC87-8B15-CA7B-4466-3DDC2F16099A}"/>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A3CAE20A-63AE-7AF8-7FD3-25C3B43A6C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248EC4-5217-8D37-6767-AE78C151E27F}"/>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2018844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8177E8-5286-C98F-9CD3-549FBAE88AB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87FCC5-DE81-F94D-5BD4-D180FC12E36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9B2E40-AF28-21BA-1E25-BD0842BCFE92}"/>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65A1106D-A1AD-903C-1DB4-A37C088AF4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798F5C-BD36-CA15-B177-AB2626697230}"/>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1991274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05D0F2-9C9E-6BB9-81A5-81C4FC28F00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57062B7-2EFB-ECCF-AD0D-D4752995D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BD9CB98-083D-42B2-8BBD-771305B0E72F}"/>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E972D5CA-5E4A-A973-E99A-6E99D75D41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EFCC94A-91E0-AF91-CA7A-B6A419E88754}"/>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3585180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DB75C-74CD-EB18-23EE-521A38DE949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FB0A6AC-16F2-9547-BAA3-19D6951739B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A7C6D2C-A122-49F7-2E35-5BA92E1614B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0A4F0FB-4097-B41E-BF1D-2829B2F8B5CC}"/>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A7D3E5BF-5FD1-8906-7FB4-8B03857E153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A5482E1-0BC7-44C1-01C7-72F5DF769DD3}"/>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3197876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46E988-7149-28CF-EEAC-24FA0E6949B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45D3483-8FED-A3A3-FEF9-A12A89131B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E259936-3CA8-C91D-1DA2-25ED9F68C74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52BDC82-BC18-D9FB-74CF-C7AE52FEB8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37607B7-C7DC-9211-557B-AB60C8C8232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90B647A-40B1-A6C7-7F27-075FD9E7EE52}"/>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8" name="フッター プレースホルダー 7">
            <a:extLst>
              <a:ext uri="{FF2B5EF4-FFF2-40B4-BE49-F238E27FC236}">
                <a16:creationId xmlns:a16="http://schemas.microsoft.com/office/drawing/2014/main" id="{D5CC376D-CED5-9D6C-A62B-D28CCB6CAFB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D148845-4E72-556B-9E54-6F7B309AFDA9}"/>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958556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373228-15FD-FA87-DE17-14528FEFE46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D47BCA4-23AD-CCDA-7921-23A4CF6A790D}"/>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4" name="フッター プレースホルダー 3">
            <a:extLst>
              <a:ext uri="{FF2B5EF4-FFF2-40B4-BE49-F238E27FC236}">
                <a16:creationId xmlns:a16="http://schemas.microsoft.com/office/drawing/2014/main" id="{09C6158D-E703-5B9C-08A8-DE923A0B8A1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FDA98C9-20D9-221F-CBBC-CB25F2CC10C7}"/>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4171309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A08E8A4-B49A-4DCF-A2AA-D25A398F98C8}"/>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3" name="フッター プレースホルダー 2">
            <a:extLst>
              <a:ext uri="{FF2B5EF4-FFF2-40B4-BE49-F238E27FC236}">
                <a16:creationId xmlns:a16="http://schemas.microsoft.com/office/drawing/2014/main" id="{468D3772-E901-F56D-7B1A-33570BF6A2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2AC1F98-CF27-DE7B-8566-19381E57CA5C}"/>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103272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68F8E7-F873-4373-C550-24E86BBD151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8A30C23-78F3-27A0-F279-2221D2BF1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704570C-49A4-572D-FE95-461397B65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CE4683F-8CA7-5F80-7BB9-72F6BC0358CF}"/>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E474B4C2-DE73-2EBF-3634-6D85317368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1B75FC2-F96D-9225-3D18-A97CADA211DB}"/>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111282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5C3C2-5B33-CA57-CC9E-130CBF20771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4B6061D-7F82-68E3-09BB-453CC8564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A5165B3-D9E4-DBCC-BDA8-668B8D5C8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DD14052-6D86-88B4-B531-00F99FAF1F7E}"/>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BA2F918A-3317-5937-EC54-6D0B589359B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D23101-9F0A-28DD-C86C-9947760C7047}"/>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298782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84F315-2021-A719-65E7-42FB1B782D8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8C122D-D56F-07F7-B555-095A7257D8F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E55D4C-8C77-30CC-9020-D71A432AACB7}"/>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4E6EDEB7-D12B-A785-17C4-EF392252FE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2E3DAE-3FEE-7A08-6B0F-F0F35D497EA6}"/>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23991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4034A7F-9F3F-3329-6A48-B3334AED03D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D7A3C04-0F5B-C71F-495A-9C35BD11395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7486AA-E9C5-2691-803D-78B9B5A856A9}"/>
              </a:ext>
            </a:extLst>
          </p:cNvPr>
          <p:cNvSpPr>
            <a:spLocks noGrp="1"/>
          </p:cNvSpPr>
          <p:nvPr>
            <p:ph type="dt" sz="half" idx="10"/>
          </p:nvPr>
        </p:nvSpPr>
        <p:spPr/>
        <p:txBody>
          <a:body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A1103723-B355-5C1F-F02D-DE2BCE5F67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4C8245-E1D3-EADE-DDBF-C555766E39D5}"/>
              </a:ext>
            </a:extLst>
          </p:cNvPr>
          <p:cNvSpPr>
            <a:spLocks noGrp="1"/>
          </p:cNvSpPr>
          <p:nvPr>
            <p:ph type="sldNum" sz="quarter" idx="12"/>
          </p:nvPr>
        </p:nvSpPr>
        <p:spPr/>
        <p:txBody>
          <a:bodyPr/>
          <a:lstStyle/>
          <a:p>
            <a:fld id="{72607EA7-5B20-4AF9-ADAD-2A4396068DDA}" type="slidenum">
              <a:rPr kumimoji="1" lang="ja-JP" altLang="en-US" smtClean="0"/>
              <a:t>‹#›</a:t>
            </a:fld>
            <a:endParaRPr kumimoji="1" lang="ja-JP" altLang="en-US"/>
          </a:p>
        </p:txBody>
      </p:sp>
    </p:spTree>
    <p:extLst>
      <p:ext uri="{BB962C8B-B14F-4D97-AF65-F5344CB8AC3E}">
        <p14:creationId xmlns:p14="http://schemas.microsoft.com/office/powerpoint/2010/main" val="215943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F8CA9E2-AC7B-AAA8-E585-3860059664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40B7F0C-BFA0-39EA-F30F-9D8DC4BB6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E5ABD44-1D01-718E-EEE6-3B85E0C6F9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7AA643-FF8A-448B-836E-AE506E622D63}"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0052796F-7D7C-B4C1-1CF3-A55DF58E8F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09FAB9B-FD68-492C-B844-5FFDE6D33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607EA7-5B20-4AF9-ADAD-2A4396068DDA}" type="slidenum">
              <a:rPr kumimoji="1" lang="ja-JP" altLang="en-US" smtClean="0"/>
              <a:t>‹#›</a:t>
            </a:fld>
            <a:endParaRPr kumimoji="1" lang="ja-JP" altLang="en-US"/>
          </a:p>
        </p:txBody>
      </p:sp>
      <p:sp>
        <p:nvSpPr>
          <p:cNvPr id="900" name="BottomAccent"/>
          <p:cNvSpPr/>
          <p:nvPr/>
        </p:nvSpPr>
        <p:spPr>
          <a:xfrm>
            <a:off x="0" y="6705600"/>
            <a:ext cx="12192000" cy="152400"/>
          </a:xfrm>
          <a:prstGeom prst="rect">
            <a:avLst/>
          </a:prstGeom>
          <a:solidFill>
            <a:srgbClr val="8B2500"/>
          </a:solidFill>
          <a:ln>
            <a:noFill/>
          </a:ln>
        </p:spPr>
        <p:txBody>
          <a:bodyPr/>
          <a:lstStyle/>
          <a:p>
            <a:endParaRPr lang="ja-JP"/>
          </a:p>
        </p:txBody>
      </p:sp>
      <p:sp>
        <p:nvSpPr>
          <p:cNvPr id="901" name="LeftAccent"/>
          <p:cNvSpPr/>
          <p:nvPr/>
        </p:nvSpPr>
        <p:spPr>
          <a:xfrm>
            <a:off x="0" y="0"/>
            <a:ext cx="76200" cy="6858000"/>
          </a:xfrm>
          <a:prstGeom prst="rect">
            <a:avLst/>
          </a:prstGeom>
          <a:solidFill>
            <a:srgbClr val="4A4A4A"/>
          </a:solidFill>
          <a:ln>
            <a:noFill/>
          </a:ln>
        </p:spPr>
        <p:txBody>
          <a:bodyPr/>
          <a:lstStyle/>
          <a:p>
            <a:endParaRPr lang="ja-JP"/>
          </a:p>
        </p:txBody>
      </p:sp>
    </p:spTree>
    <p:extLst>
      <p:ext uri="{BB962C8B-B14F-4D97-AF65-F5344CB8AC3E}">
        <p14:creationId xmlns:p14="http://schemas.microsoft.com/office/powerpoint/2010/main" val="19712367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D3D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D3D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D3D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rgbClr val="3D3D3D"/>
          </a:solidFill>
          <a:latin typeface="+mn-lt"/>
          <a:ea typeface="+mn-ea"/>
          <a:cs typeface="+mn-cs"/>
        </a:defRPr>
      </a:lvl1pPr>
      <a:lvl2pPr marL="457200" algn="l" defTabSz="914400" rtl="0" eaLnBrk="1" latinLnBrk="0" hangingPunct="1">
        <a:defRPr kumimoji="1" sz="1800" kern="1200">
          <a:solidFill>
            <a:srgbClr val="3D3D3D"/>
          </a:solidFill>
          <a:latin typeface="+mn-lt"/>
          <a:ea typeface="+mn-ea"/>
          <a:cs typeface="+mn-cs"/>
        </a:defRPr>
      </a:lvl2pPr>
      <a:lvl3pPr marL="914400" algn="l" defTabSz="914400" rtl="0" eaLnBrk="1" latinLnBrk="0" hangingPunct="1">
        <a:defRPr kumimoji="1" sz="1800" kern="1200">
          <a:solidFill>
            <a:srgbClr val="3D3D3D"/>
          </a:solidFill>
          <a:latin typeface="+mn-lt"/>
          <a:ea typeface="+mn-ea"/>
          <a:cs typeface="+mn-cs"/>
        </a:defRPr>
      </a:lvl3pPr>
      <a:lvl4pPr marL="1371600" algn="l" defTabSz="914400" rtl="0" eaLnBrk="1" latinLnBrk="0" hangingPunct="1">
        <a:defRPr kumimoji="1" sz="1800" kern="1200">
          <a:solidFill>
            <a:srgbClr val="3D3D3D"/>
          </a:solidFill>
          <a:latin typeface="+mn-lt"/>
          <a:ea typeface="+mn-ea"/>
          <a:cs typeface="+mn-cs"/>
        </a:defRPr>
      </a:lvl4pPr>
      <a:lvl5pPr marL="1828800" algn="l" defTabSz="914400" rtl="0" eaLnBrk="1" latinLnBrk="0" hangingPunct="1">
        <a:defRPr kumimoji="1" sz="1800" kern="1200">
          <a:solidFill>
            <a:srgbClr val="3D3D3D"/>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79E3FB-0F3E-430A-0F2F-F6E2C6DE0428}"/>
              </a:ext>
            </a:extLst>
          </p:cNvPr>
          <p:cNvSpPr>
            <a:spLocks noGrp="1"/>
          </p:cNvSpPr>
          <p:nvPr>
            <p:ph type="ctrTitle"/>
          </p:nvPr>
        </p:nvSpPr>
        <p:spPr>
          <a:xfrm>
            <a:off x="1524000" y="1122363"/>
            <a:ext cx="9144000" cy="1899443"/>
          </a:xfrm>
        </p:spPr>
        <p:txBody>
          <a:bodyPr>
            <a:normAutofit/>
          </a:bodyPr>
          <a:lstStyle/>
          <a:p>
            <a:r>
              <a:rPr kumimoji="1" lang="zh-TW" altLang="en-US" sz="3600" b="1" dirty="0">
                <a:latin typeface="BIZ UDPゴシック"/>
                <a:ea typeface="BIZ UDPゴシック"/>
              </a:rPr>
              <a:t>最終分析報告書</a:t>
            </a:r>
            <a:endParaRPr kumimoji="1" lang="ja-JP" altLang="en-US" sz="3600" b="1" dirty="0">
              <a:latin typeface="BIZ UDPゴシック"/>
              <a:ea typeface="BIZ UDPゴシック"/>
            </a:endParaRPr>
          </a:p>
        </p:txBody>
      </p:sp>
      <p:sp>
        <p:nvSpPr>
          <p:cNvPr id="3" name="字幕 2">
            <a:extLst>
              <a:ext uri="{FF2B5EF4-FFF2-40B4-BE49-F238E27FC236}">
                <a16:creationId xmlns:a16="http://schemas.microsoft.com/office/drawing/2014/main" id="{388EE69C-EB65-57E7-67F7-B51C0D97D6C8}"/>
              </a:ext>
            </a:extLst>
          </p:cNvPr>
          <p:cNvSpPr>
            <a:spLocks noGrp="1"/>
          </p:cNvSpPr>
          <p:nvPr>
            <p:ph type="subTitle" idx="1"/>
          </p:nvPr>
        </p:nvSpPr>
        <p:spPr/>
        <p:txBody>
          <a:bodyPr>
            <a:noAutofit/>
          </a:bodyPr>
          <a:lstStyle/>
          <a:p>
            <a:r>
              <a:rPr kumimoji="1" lang="ja-JP" altLang="en-US" sz="1600">
                <a:solidFill>
                  <a:srgbClr val="4A4A4A"/>
                </a:solidFill>
                <a:latin typeface="BIZ UDPゴシック"/>
                <a:ea typeface="BIZ UDPゴシック"/>
              </a:rPr>
              <a:t>株式会社東都人材プラットフォーム
収入クラス予測モデル 企画・分析設計・初期検証
受託者：株式会社データアステル
契約期間：</a:t>
            </a:r>
            <a:r>
              <a:rPr kumimoji="1" lang="en-US" altLang="ja-JP" sz="1600">
                <a:solidFill>
                  <a:srgbClr val="4A4A4A"/>
                </a:solidFill>
                <a:latin typeface="BIZ UDPゴシック"/>
                <a:ea typeface="BIZ UDPゴシック"/>
              </a:rPr>
              <a:t>2025</a:t>
            </a:r>
            <a:r>
              <a:rPr kumimoji="1" lang="ja-JP" altLang="en-US" sz="1600">
                <a:solidFill>
                  <a:srgbClr val="4A4A4A"/>
                </a:solidFill>
                <a:latin typeface="BIZ UDPゴシック"/>
                <a:ea typeface="BIZ UDPゴシック"/>
              </a:rPr>
              <a:t>年</a:t>
            </a:r>
            <a:r>
              <a:rPr kumimoji="1" lang="en-US" altLang="ja-JP" sz="1600">
                <a:solidFill>
                  <a:srgbClr val="4A4A4A"/>
                </a:solidFill>
                <a:latin typeface="BIZ UDPゴシック"/>
                <a:ea typeface="BIZ UDPゴシック"/>
              </a:rPr>
              <a:t>8</a:t>
            </a:r>
            <a:r>
              <a:rPr kumimoji="1" lang="ja-JP" altLang="en-US" sz="1600">
                <a:solidFill>
                  <a:srgbClr val="4A4A4A"/>
                </a:solidFill>
                <a:latin typeface="BIZ UDPゴシック"/>
                <a:ea typeface="BIZ UDPゴシック"/>
              </a:rPr>
              <a:t>月</a:t>
            </a:r>
            <a:r>
              <a:rPr kumimoji="1" lang="en-US" altLang="ja-JP" sz="1600">
                <a:solidFill>
                  <a:srgbClr val="4A4A4A"/>
                </a:solidFill>
                <a:latin typeface="BIZ UDPゴシック"/>
                <a:ea typeface="BIZ UDPゴシック"/>
              </a:rPr>
              <a:t>18</a:t>
            </a:r>
            <a:r>
              <a:rPr kumimoji="1" lang="ja-JP" altLang="en-US" sz="1600">
                <a:solidFill>
                  <a:srgbClr val="4A4A4A"/>
                </a:solidFill>
                <a:latin typeface="BIZ UDPゴシック"/>
                <a:ea typeface="BIZ UDPゴシック"/>
              </a:rPr>
              <a:t>日 ～ </a:t>
            </a:r>
            <a:r>
              <a:rPr kumimoji="1" lang="en-US" altLang="ja-JP" sz="1600">
                <a:solidFill>
                  <a:srgbClr val="4A4A4A"/>
                </a:solidFill>
                <a:latin typeface="BIZ UDPゴシック"/>
                <a:ea typeface="BIZ UDPゴシック"/>
              </a:rPr>
              <a:t>2025</a:t>
            </a:r>
            <a:r>
              <a:rPr kumimoji="1" lang="ja-JP" altLang="en-US" sz="1600">
                <a:solidFill>
                  <a:srgbClr val="4A4A4A"/>
                </a:solidFill>
                <a:latin typeface="BIZ UDPゴシック"/>
                <a:ea typeface="BIZ UDPゴシック"/>
              </a:rPr>
              <a:t>年</a:t>
            </a:r>
            <a:r>
              <a:rPr kumimoji="1" lang="en-US" altLang="ja-JP" sz="1600">
                <a:solidFill>
                  <a:srgbClr val="4A4A4A"/>
                </a:solidFill>
                <a:latin typeface="BIZ UDPゴシック"/>
                <a:ea typeface="BIZ UDPゴシック"/>
              </a:rPr>
              <a:t>9</a:t>
            </a:r>
            <a:r>
              <a:rPr kumimoji="1" lang="ja-JP" altLang="en-US" sz="1600">
                <a:solidFill>
                  <a:srgbClr val="4A4A4A"/>
                </a:solidFill>
                <a:latin typeface="BIZ UDPゴシック"/>
                <a:ea typeface="BIZ UDPゴシック"/>
              </a:rPr>
              <a:t>月</a:t>
            </a:r>
            <a:r>
              <a:rPr kumimoji="1" lang="en-US" altLang="ja-JP" sz="1600">
                <a:solidFill>
                  <a:srgbClr val="4A4A4A"/>
                </a:solidFill>
                <a:latin typeface="BIZ UDPゴシック"/>
                <a:ea typeface="BIZ UDPゴシック"/>
              </a:rPr>
              <a:t>29</a:t>
            </a:r>
            <a:r>
              <a:rPr kumimoji="1" lang="ja-JP" altLang="en-US" sz="1600">
                <a:solidFill>
                  <a:srgbClr val="4A4A4A"/>
                </a:solidFill>
                <a:latin typeface="BIZ UDPゴシック"/>
                <a:ea typeface="BIZ UDPゴシック"/>
              </a:rPr>
              <a:t>日</a:t>
            </a:r>
          </a:p>
        </p:txBody>
      </p:sp>
      <p:sp>
        <p:nvSpPr>
          <p:cNvPr id="100" name="AccentLine"/>
          <p:cNvSpPr/>
          <p:nvPr/>
        </p:nvSpPr>
        <p:spPr>
          <a:xfrm>
            <a:off x="3048000" y="3200400"/>
            <a:ext cx="6096000" cy="0"/>
          </a:xfrm>
          <a:prstGeom prst="line">
            <a:avLst/>
          </a:prstGeom>
          <a:ln w="28575">
            <a:solidFill>
              <a:srgbClr val="8B2500"/>
            </a:solidFill>
          </a:ln>
        </p:spPr>
        <p:txBody>
          <a:bodyPr/>
          <a:lstStyle/>
          <a:p>
            <a:endParaRPr lang="ja-JP"/>
          </a:p>
        </p:txBody>
      </p:sp>
      <p:sp>
        <p:nvSpPr>
          <p:cNvPr id="101" name="ConfLabel"/>
          <p:cNvSpPr/>
          <p:nvPr/>
        </p:nvSpPr>
        <p:spPr>
          <a:xfrm>
            <a:off x="9144000" y="6248400"/>
            <a:ext cx="2743200" cy="304800"/>
          </a:xfrm>
          <a:prstGeom prst="rect">
            <a:avLst/>
          </a:prstGeom>
          <a:noFill/>
          <a:ln>
            <a:noFill/>
          </a:ln>
        </p:spPr>
        <p:txBody>
          <a:bodyPr wrap="square" anchor="ctr"/>
          <a:lstStyle/>
          <a:p>
            <a:pPr algn="r"/>
            <a:r>
              <a:rPr lang="ja-JP" sz="1000" dirty="0">
                <a:solidFill>
                  <a:srgbClr val="A0A0A0"/>
                </a:solidFill>
                <a:latin typeface="BIZ UDPゴシック"/>
                <a:ea typeface="BIZ UDPゴシック"/>
              </a:rPr>
              <a:t>CONFIDENTIAL</a:t>
            </a:r>
          </a:p>
        </p:txBody>
      </p:sp>
    </p:spTree>
    <p:extLst>
      <p:ext uri="{BB962C8B-B14F-4D97-AF65-F5344CB8AC3E}">
        <p14:creationId xmlns:p14="http://schemas.microsoft.com/office/powerpoint/2010/main" val="4138925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152400" y="152400"/>
            <a:ext cx="11887200" cy="533400"/>
          </a:xfrm>
          <a:prstGeom prst="rect">
            <a:avLst/>
          </a:prstGeom>
          <a:solidFill>
            <a:srgbClr val="1A1A1A"/>
          </a:solidFill>
          <a:ln>
            <a:noFill/>
          </a:ln>
        </p:spPr>
        <p:txBody>
          <a:bodyPr wrap="square" lIns="182880" rIns="91440" anchor="ctr"/>
          <a:lstStyle/>
          <a:p>
            <a:pPr algn="l"/>
            <a:r>
              <a:rPr lang="ja-JP" sz="2400" b="1" dirty="0">
                <a:solidFill>
                  <a:srgbClr val="FFFFFF"/>
                </a:solidFill>
                <a:latin typeface="BIZ UDPゴシック"/>
                <a:ea typeface="BIZ UDPゴシック"/>
              </a:rPr>
              <a:t>1. エグゼクティブサマリ</a:t>
            </a:r>
          </a:p>
        </p:txBody>
      </p:sp>
      <p:sp>
        <p:nvSpPr>
          <p:cNvPr id="11" name="OverviewBox"/>
          <p:cNvSpPr/>
          <p:nvPr/>
        </p:nvSpPr>
        <p:spPr>
          <a:xfrm>
            <a:off x="152400" y="838200"/>
            <a:ext cx="7620000" cy="1828800"/>
          </a:xfrm>
          <a:prstGeom prst="rect">
            <a:avLst/>
          </a:prstGeom>
          <a:solidFill>
            <a:srgbClr val="F5F5F5"/>
          </a:solidFill>
          <a:ln w="12700">
            <a:solidFill>
              <a:srgbClr val="D0D0D0"/>
            </a:solidFill>
          </a:ln>
        </p:spPr>
        <p:txBody>
          <a:bodyPr wrap="square" lIns="137160" tIns="91440" rIns="137160" bIns="45720" anchor="t"/>
          <a:lstStyle/>
          <a:p>
            <a:pPr>
              <a:spcAft>
                <a:spcPts val="400"/>
              </a:spcAft>
              <a:buNone/>
            </a:pPr>
            <a:r>
              <a:rPr lang="ja-JP" sz="1400" b="1" dirty="0">
                <a:solidFill>
                  <a:srgbClr val="8B2500"/>
                </a:solidFill>
                <a:latin typeface="BIZ UDPゴシック"/>
                <a:ea typeface="BIZ UDPゴシック"/>
              </a:rPr>
              <a:t>プロジェクト概要</a:t>
            </a:r>
          </a:p>
          <a:p>
            <a:pPr>
              <a:lnSpc>
                <a:spcPts val="1600"/>
              </a:lnSpc>
              <a:buNone/>
            </a:pPr>
            <a:r>
              <a:rPr lang="ja-JP" sz="1100" dirty="0">
                <a:solidFill>
                  <a:srgbClr val="3D3D3D"/>
                </a:solidFill>
                <a:latin typeface="BIZ UDPゴシック"/>
                <a:ea typeface="BIZ UDPゴシック"/>
              </a:rPr>
              <a:t>株式会社東都人材プラットフォーム（発注者）と株式会社データアステル（受託者）により、</a:t>
            </a:r>
          </a:p>
          <a:p>
            <a:pPr>
              <a:lnSpc>
                <a:spcPts val="1600"/>
              </a:lnSpc>
              <a:buNone/>
            </a:pPr>
            <a:r>
              <a:rPr lang="ja-JP" sz="1100" dirty="0">
                <a:solidFill>
                  <a:srgbClr val="3D3D3D"/>
                </a:solidFill>
                <a:latin typeface="BIZ UDPゴシック"/>
                <a:ea typeface="BIZ UDPゴシック"/>
              </a:rPr>
              <a:t>人材属性データを用いた「収入クラス（target）予測モデル」の企画・分析設計・初期検証を行った6週間の案件である。</a:t>
            </a:r>
          </a:p>
          <a:p>
            <a:pPr>
              <a:lnSpc>
                <a:spcPts val="1600"/>
              </a:lnSpc>
              <a:buNone/>
            </a:pPr>
            <a:r>
              <a:rPr lang="ja-JP" sz="1100" dirty="0">
                <a:solidFill>
                  <a:srgbClr val="3D3D3D"/>
                </a:solidFill>
                <a:latin typeface="BIZ UDPゴシック"/>
                <a:ea typeface="BIZ UDPゴシック"/>
              </a:rPr>
              <a:t>主目的は収入クラスの予測可能性と主要因の抽出、People Analyticsにおける報酬分析基盤の初期版提供である。</a:t>
            </a:r>
          </a:p>
        </p:txBody>
      </p:sp>
      <p:sp>
        <p:nvSpPr>
          <p:cNvPr id="12" name="AccCard"/>
          <p:cNvSpPr/>
          <p:nvPr/>
        </p:nvSpPr>
        <p:spPr>
          <a:xfrm>
            <a:off x="7924800" y="838200"/>
            <a:ext cx="2057400" cy="838200"/>
          </a:xfrm>
          <a:prstGeom prst="roundRect">
            <a:avLst>
              <a:gd name="adj" fmla="val 8000"/>
            </a:avLst>
          </a:prstGeom>
          <a:solidFill>
            <a:srgbClr val="8B2500"/>
          </a:solidFill>
          <a:ln>
            <a:noFill/>
          </a:ln>
        </p:spPr>
        <p:txBody>
          <a:bodyPr wrap="square" lIns="91440" rIns="91440" anchor="ctr"/>
          <a:lstStyle/>
          <a:p>
            <a:pPr algn="ctr">
              <a:buNone/>
            </a:pPr>
            <a:r>
              <a:rPr lang="en-US" sz="1000" dirty="0">
                <a:solidFill>
                  <a:srgbClr val="FFFFFF"/>
                </a:solidFill>
                <a:latin typeface="BIZ UDPゴシック"/>
                <a:ea typeface="BIZ UDPゴシック"/>
              </a:rPr>
              <a:t>Accuracy</a:t>
            </a:r>
          </a:p>
          <a:p>
            <a:pPr algn="ctr">
              <a:buNone/>
            </a:pPr>
            <a:r>
              <a:rPr lang="en-US" sz="2800" b="1" dirty="0">
                <a:solidFill>
                  <a:srgbClr val="FFFFFF"/>
                </a:solidFill>
                <a:latin typeface="BIZ UDPゴシック"/>
                <a:ea typeface="BIZ UDPゴシック"/>
              </a:rPr>
              <a:t>0.510</a:t>
            </a:r>
          </a:p>
        </p:txBody>
      </p:sp>
      <p:sp>
        <p:nvSpPr>
          <p:cNvPr id="13" name="F1Card"/>
          <p:cNvSpPr/>
          <p:nvPr/>
        </p:nvSpPr>
        <p:spPr>
          <a:xfrm>
            <a:off x="10058400" y="838200"/>
            <a:ext cx="1981200" cy="838200"/>
          </a:xfrm>
          <a:prstGeom prst="roundRect">
            <a:avLst>
              <a:gd name="adj" fmla="val 8000"/>
            </a:avLst>
          </a:prstGeom>
          <a:solidFill>
            <a:srgbClr val="4A4A4A"/>
          </a:solidFill>
          <a:ln>
            <a:noFill/>
          </a:ln>
        </p:spPr>
        <p:txBody>
          <a:bodyPr wrap="square" lIns="91440" rIns="91440" anchor="ctr"/>
          <a:lstStyle/>
          <a:p>
            <a:pPr algn="ctr">
              <a:buNone/>
            </a:pPr>
            <a:r>
              <a:rPr lang="en-US" sz="1000" dirty="0">
                <a:solidFill>
                  <a:srgbClr val="FFFFFF"/>
                </a:solidFill>
                <a:latin typeface="BIZ UDPゴシック"/>
                <a:ea typeface="BIZ UDPゴシック"/>
              </a:rPr>
              <a:t>Macro F1</a:t>
            </a:r>
          </a:p>
          <a:p>
            <a:pPr algn="ctr">
              <a:buNone/>
            </a:pPr>
            <a:r>
              <a:rPr lang="en-US" sz="2800" b="1" dirty="0">
                <a:solidFill>
                  <a:srgbClr val="FFFFFF"/>
                </a:solidFill>
                <a:latin typeface="BIZ UDPゴシック"/>
                <a:ea typeface="BIZ UDPゴシック"/>
              </a:rPr>
              <a:t>0.474</a:t>
            </a:r>
          </a:p>
        </p:txBody>
      </p:sp>
      <p:sp>
        <p:nvSpPr>
          <p:cNvPr id="14" name="ModelCard"/>
          <p:cNvSpPr/>
          <p:nvPr/>
        </p:nvSpPr>
        <p:spPr>
          <a:xfrm>
            <a:off x="7924800" y="1752600"/>
            <a:ext cx="4114800" cy="914400"/>
          </a:xfrm>
          <a:prstGeom prst="roundRect">
            <a:avLst>
              <a:gd name="adj" fmla="val 6000"/>
            </a:avLst>
          </a:prstGeom>
          <a:solidFill>
            <a:srgbClr val="F5F5F5"/>
          </a:solidFill>
          <a:ln w="12700">
            <a:solidFill>
              <a:srgbClr val="D0D0D0"/>
            </a:solidFill>
          </a:ln>
        </p:spPr>
        <p:txBody>
          <a:bodyPr wrap="square" lIns="137160" tIns="68580" rIns="137160" anchor="t"/>
          <a:lstStyle/>
          <a:p>
            <a:pPr>
              <a:spcAft>
                <a:spcPts val="200"/>
              </a:spcAft>
              <a:buNone/>
            </a:pPr>
            <a:r>
              <a:rPr lang="ja-JP" sz="1100" b="1" dirty="0">
                <a:solidFill>
                  <a:srgbClr val="8B2500"/>
                </a:solidFill>
                <a:latin typeface="BIZ UDPゴシック"/>
                <a:ea typeface="BIZ UDPゴシック"/>
              </a:rPr>
              <a:t>最終実行設定</a:t>
            </a:r>
          </a:p>
          <a:p>
            <a:pPr>
              <a:lnSpc>
                <a:spcPts val="1400"/>
              </a:lnSpc>
              <a:buFont typeface="Arial"/>
              <a:buChar char="▸"/>
            </a:pPr>
            <a:r>
              <a:rPr lang="ja-JP" sz="1000" dirty="0">
                <a:solidFill>
                  <a:srgbClr val="3D3D3D"/>
                </a:solidFill>
                <a:latin typeface="BIZ UDPゴシック"/>
                <a:ea typeface="BIZ UDPゴシック"/>
              </a:rPr>
              <a:t>モデル: hist_gradient_boosting</a:t>
            </a:r>
          </a:p>
          <a:p>
            <a:pPr>
              <a:lnSpc>
                <a:spcPts val="1400"/>
              </a:lnSpc>
              <a:buFont typeface="Arial"/>
              <a:buChar char="▸"/>
            </a:pPr>
            <a:r>
              <a:rPr lang="ja-JP" sz="1000" dirty="0">
                <a:solidFill>
                  <a:srgbClr val="3D3D3D"/>
                </a:solidFill>
                <a:latin typeface="BIZ UDPゴシック"/>
                <a:ea typeface="BIZ UDPゴシック"/>
              </a:rPr>
              <a:t>行数: 11,529 / 特徴量: 14</a:t>
            </a:r>
          </a:p>
          <a:p>
            <a:pPr>
              <a:lnSpc>
                <a:spcPts val="1400"/>
              </a:lnSpc>
              <a:buFont typeface="Arial"/>
              <a:buChar char="▸"/>
            </a:pPr>
            <a:r>
              <a:rPr lang="ja-JP" sz="1000" dirty="0">
                <a:solidFill>
                  <a:srgbClr val="3D3D3D"/>
                </a:solidFill>
                <a:latin typeface="BIZ UDPゴシック"/>
                <a:ea typeface="BIZ UDPゴシック"/>
              </a:rPr>
              <a:t>検証分割: random_holdout (val=0.1)</a:t>
            </a:r>
          </a:p>
        </p:txBody>
      </p:sp>
      <p:sp>
        <p:nvSpPr>
          <p:cNvPr id="15" name="Deliverables"/>
          <p:cNvSpPr/>
          <p:nvPr/>
        </p:nvSpPr>
        <p:spPr>
          <a:xfrm>
            <a:off x="152400" y="2819400"/>
            <a:ext cx="11887200" cy="1371600"/>
          </a:xfrm>
          <a:prstGeom prst="rect">
            <a:avLst/>
          </a:prstGeom>
          <a:noFill/>
          <a:ln>
            <a:noFill/>
          </a:ln>
        </p:spPr>
        <p:txBody>
          <a:bodyPr wrap="square" lIns="137160" tIns="91440" rIns="137160" anchor="t"/>
          <a:lstStyle/>
          <a:p>
            <a:pPr>
              <a:spcAft>
                <a:spcPts val="400"/>
              </a:spcAft>
              <a:buNone/>
            </a:pPr>
            <a:r>
              <a:rPr lang="ja-JP" sz="1400" b="1" dirty="0">
                <a:solidFill>
                  <a:srgbClr val="8B2500"/>
                </a:solidFill>
                <a:latin typeface="BIZ UDPゴシック"/>
                <a:ea typeface="BIZ UDPゴシック"/>
              </a:rPr>
              <a:t>本フェーズの成果物</a:t>
            </a:r>
          </a:p>
          <a:p>
            <a:pPr>
              <a:lnSpc>
                <a:spcPts val="1500"/>
              </a:lnSpc>
              <a:buNone/>
            </a:pPr>
            <a:r>
              <a:rPr lang="ja-JP" sz="1100" dirty="0">
                <a:solidFill>
                  <a:srgbClr val="3D3D3D"/>
                </a:solidFill>
                <a:latin typeface="BIZ UDPゴシック"/>
                <a:ea typeface="BIZ UDPゴシック"/>
              </a:rPr>
              <a:t>再現可能な前処理仕様 ／ 評価結果表 ／ 可視化図表 ／ 再現可能な分析スクリプト・ノートブック ／ 中間報告 ／ 最終報告</a:t>
            </a:r>
          </a:p>
          <a:p>
            <a:pPr>
              <a:lnSpc>
                <a:spcPts val="1500"/>
              </a:lnSpc>
              <a:buNone/>
            </a:pPr>
            <a:r>
              <a:rPr lang="ja-JP" sz="1100" dirty="0">
                <a:solidFill>
                  <a:srgbClr val="3D3D3D"/>
                </a:solidFill>
                <a:latin typeface="BIZ UDPゴシック"/>
                <a:ea typeface="BIZ UDPゴシック"/>
              </a:rPr>
              <a:t>→ 業務判断に必要な初期示唆と運用化に向けた明確な次工程を提示している。</a:t>
            </a:r>
          </a:p>
        </p:txBody>
      </p:sp>
      <p:sp>
        <p:nvSpPr>
          <p:cNvPr id="20" name="Chev0"/>
          <p:cNvSpPr/>
          <p:nvPr/>
        </p:nvSpPr>
        <p:spPr>
          <a:xfrm>
            <a:off x="457200" y="4343400"/>
            <a:ext cx="2057400" cy="381000"/>
          </a:xfrm>
          <a:prstGeom prst="homePlate">
            <a:avLst/>
          </a:prstGeom>
          <a:solidFill>
            <a:srgbClr val="4A4A4A"/>
          </a:solidFill>
          <a:ln>
            <a:noFill/>
          </a:ln>
        </p:spPr>
        <p:txBody>
          <a:bodyPr wrap="square" lIns="91440" rIns="91440" anchor="ctr"/>
          <a:lstStyle/>
          <a:p>
            <a:pPr algn="ctr">
              <a:buNone/>
            </a:pPr>
            <a:r>
              <a:rPr lang="ja-JP" sz="1100" b="1" dirty="0">
                <a:solidFill>
                  <a:srgbClr val="FFFFFF"/>
                </a:solidFill>
                <a:latin typeface="BIZ UDPゴシック"/>
                <a:ea typeface="BIZ UDPゴシック"/>
              </a:rPr>
              <a:t>提案書</a:t>
            </a:r>
          </a:p>
        </p:txBody>
      </p:sp>
      <p:sp>
        <p:nvSpPr>
          <p:cNvPr id="21" name="Chev1"/>
          <p:cNvSpPr/>
          <p:nvPr/>
        </p:nvSpPr>
        <p:spPr>
          <a:xfrm>
            <a:off x="2667000" y="4343400"/>
            <a:ext cx="2057400" cy="381000"/>
          </a:xfrm>
          <a:prstGeom prst="homePlate">
            <a:avLst/>
          </a:prstGeom>
          <a:solidFill>
            <a:srgbClr val="707070"/>
          </a:solidFill>
          <a:ln>
            <a:noFill/>
          </a:ln>
        </p:spPr>
        <p:txBody>
          <a:bodyPr wrap="square" lIns="91440" rIns="91440" anchor="ctr"/>
          <a:lstStyle/>
          <a:p>
            <a:pPr algn="ctr">
              <a:buNone/>
            </a:pPr>
            <a:r>
              <a:rPr lang="ja-JP" sz="1100" b="1" dirty="0">
                <a:solidFill>
                  <a:srgbClr val="FFFFFF"/>
                </a:solidFill>
                <a:latin typeface="BIZ UDPゴシック"/>
                <a:ea typeface="BIZ UDPゴシック"/>
              </a:rPr>
              <a:t>契約書</a:t>
            </a:r>
          </a:p>
        </p:txBody>
      </p:sp>
      <p:sp>
        <p:nvSpPr>
          <p:cNvPr id="22" name="Chev2"/>
          <p:cNvSpPr/>
          <p:nvPr/>
        </p:nvSpPr>
        <p:spPr>
          <a:xfrm>
            <a:off x="4876800" y="4343400"/>
            <a:ext cx="2057400" cy="381000"/>
          </a:xfrm>
          <a:prstGeom prst="homePlate">
            <a:avLst/>
          </a:prstGeom>
          <a:solidFill>
            <a:srgbClr val="4A4A4A"/>
          </a:solidFill>
          <a:ln>
            <a:noFill/>
          </a:ln>
        </p:spPr>
        <p:txBody>
          <a:bodyPr wrap="square" lIns="91440" rIns="91440" anchor="ctr"/>
          <a:lstStyle/>
          <a:p>
            <a:pPr algn="ctr">
              <a:buNone/>
            </a:pPr>
            <a:r>
              <a:rPr lang="ja-JP" sz="1100" b="1" dirty="0">
                <a:solidFill>
                  <a:srgbClr val="FFFFFF"/>
                </a:solidFill>
                <a:latin typeface="BIZ UDPゴシック"/>
                <a:ea typeface="BIZ UDPゴシック"/>
              </a:rPr>
              <a:t>M01/M02</a:t>
            </a:r>
          </a:p>
        </p:txBody>
      </p:sp>
      <p:sp>
        <p:nvSpPr>
          <p:cNvPr id="23" name="Chev3"/>
          <p:cNvSpPr/>
          <p:nvPr/>
        </p:nvSpPr>
        <p:spPr>
          <a:xfrm>
            <a:off x="7086600" y="4343400"/>
            <a:ext cx="2057400" cy="381000"/>
          </a:xfrm>
          <a:prstGeom prst="homePlate">
            <a:avLst/>
          </a:prstGeom>
          <a:solidFill>
            <a:srgbClr val="707070"/>
          </a:solidFill>
          <a:ln>
            <a:noFill/>
          </a:ln>
        </p:spPr>
        <p:txBody>
          <a:bodyPr wrap="square" lIns="91440" rIns="91440" anchor="ctr"/>
          <a:lstStyle/>
          <a:p>
            <a:pPr algn="ctr">
              <a:buNone/>
            </a:pPr>
            <a:r>
              <a:rPr lang="ja-JP" sz="1100" b="1" dirty="0">
                <a:solidFill>
                  <a:srgbClr val="FFFFFF"/>
                </a:solidFill>
                <a:latin typeface="BIZ UDPゴシック"/>
                <a:ea typeface="BIZ UDPゴシック"/>
              </a:rPr>
              <a:t>中間報告</a:t>
            </a:r>
          </a:p>
        </p:txBody>
      </p:sp>
      <p:sp>
        <p:nvSpPr>
          <p:cNvPr id="24" name="Chev4"/>
          <p:cNvSpPr/>
          <p:nvPr/>
        </p:nvSpPr>
        <p:spPr>
          <a:xfrm>
            <a:off x="9296400" y="4343400"/>
            <a:ext cx="2057400" cy="381000"/>
          </a:xfrm>
          <a:prstGeom prst="homePlate">
            <a:avLst/>
          </a:prstGeom>
          <a:solidFill>
            <a:srgbClr val="8B2500"/>
          </a:solidFill>
          <a:ln>
            <a:noFill/>
          </a:ln>
        </p:spPr>
        <p:txBody>
          <a:bodyPr wrap="square" lIns="91440" rIns="91440" anchor="ctr"/>
          <a:lstStyle/>
          <a:p>
            <a:pPr algn="ctr">
              <a:buNone/>
            </a:pPr>
            <a:r>
              <a:rPr lang="ja-JP" sz="1100" b="1" dirty="0">
                <a:solidFill>
                  <a:srgbClr val="FFFFFF"/>
                </a:solidFill>
                <a:latin typeface="BIZ UDPゴシック"/>
                <a:ea typeface="BIZ UDPゴシック"/>
              </a:rPr>
              <a:t>最終報告</a:t>
            </a:r>
          </a:p>
        </p:txBody>
      </p:sp>
      <p:sp>
        <p:nvSpPr>
          <p:cNvPr id="30" name="FlowLabel"/>
          <p:cNvSpPr/>
          <p:nvPr/>
        </p:nvSpPr>
        <p:spPr>
          <a:xfrm>
            <a:off x="152400" y="4114800"/>
            <a:ext cx="4114800" cy="304800"/>
          </a:xfrm>
          <a:prstGeom prst="rect">
            <a:avLst/>
          </a:prstGeom>
          <a:noFill/>
          <a:ln>
            <a:noFill/>
          </a:ln>
        </p:spPr>
        <p:txBody>
          <a:bodyPr wrap="square" lIns="137160" anchor="ctr"/>
          <a:lstStyle/>
          <a:p>
            <a:pPr>
              <a:buNone/>
            </a:pPr>
            <a:r>
              <a:rPr lang="ja-JP" sz="1200" b="1" dirty="0">
                <a:solidFill>
                  <a:srgbClr val="1A1A1A"/>
                </a:solidFill>
                <a:latin typeface="BIZ UDPゴシック"/>
                <a:ea typeface="BIZ UDPゴシック"/>
              </a:rPr>
              <a:t>会議・成果トレース</a:t>
            </a:r>
          </a:p>
        </p:txBody>
      </p:sp>
      <p:sp>
        <p:nvSpPr>
          <p:cNvPr id="2" name="テキスト ボックス 1">
            <a:extLst>
              <a:ext uri="{FF2B5EF4-FFF2-40B4-BE49-F238E27FC236}">
                <a16:creationId xmlns:a16="http://schemas.microsoft.com/office/drawing/2014/main" id="{52B464D7-0780-4E16-B141-8D276E844746}"/>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6833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2. プロジェクト目的とスコープ</a:t>
            </a:r>
          </a:p>
        </p:txBody>
      </p:sp>
      <p:sp>
        <p:nvSpPr>
          <p:cNvPr id="11" name="PurposeHeader"/>
          <p:cNvSpPr/>
          <p:nvPr/>
        </p:nvSpPr>
        <p:spPr>
          <a:xfrm>
            <a:off x="152400" y="838200"/>
            <a:ext cx="5791200" cy="381000"/>
          </a:xfrm>
          <a:prstGeom prst="rect">
            <a:avLst/>
          </a:prstGeom>
          <a:solidFill>
            <a:srgbClr val="8B2500"/>
          </a:solidFill>
          <a:ln>
            <a:noFill/>
          </a:ln>
        </p:spPr>
        <p:txBody>
          <a:bodyPr wrap="square" lIns="137160" anchor="ctr"/>
          <a:lstStyle/>
          <a:p>
            <a:pPr>
              <a:buNone/>
            </a:pPr>
            <a:r>
              <a:rPr lang="ja-JP" sz="1400" b="1" dirty="0">
                <a:solidFill>
                  <a:srgbClr val="FFFFFF"/>
                </a:solidFill>
                <a:latin typeface="BIZ UDPゴシック"/>
                <a:ea typeface="BIZ UDPゴシック"/>
              </a:rPr>
              <a:t>目的</a:t>
            </a:r>
          </a:p>
        </p:txBody>
      </p:sp>
      <p:sp>
        <p:nvSpPr>
          <p:cNvPr id="12" name="PurposeBody"/>
          <p:cNvSpPr/>
          <p:nvPr/>
        </p:nvSpPr>
        <p:spPr>
          <a:xfrm>
            <a:off x="152400" y="1219200"/>
            <a:ext cx="5791200" cy="1752600"/>
          </a:xfrm>
          <a:prstGeom prst="rect">
            <a:avLst/>
          </a:prstGeom>
          <a:solidFill>
            <a:srgbClr val="F5F5F5"/>
          </a:solidFill>
          <a:ln w="12700">
            <a:solidFill>
              <a:srgbClr val="D0D0D0"/>
            </a:solidFill>
          </a:ln>
        </p:spPr>
        <p:txBody>
          <a:bodyPr wrap="square" lIns="137160" tIns="91440" rIns="137160" anchor="t"/>
          <a:lstStyle/>
          <a:p>
            <a:pPr>
              <a:lnSpc>
                <a:spcPts val="1500"/>
              </a:lnSpc>
              <a:spcAft>
                <a:spcPts val="400"/>
              </a:spcAft>
              <a:buFont typeface="Arial"/>
              <a:buChar char="●"/>
            </a:pPr>
            <a:r>
              <a:rPr lang="ja-JP" sz="1100" dirty="0">
                <a:solidFill>
                  <a:srgbClr val="3D3D3D"/>
                </a:solidFill>
                <a:latin typeface="BIZ UDPゴシック"/>
                <a:ea typeface="BIZ UDPゴシック"/>
              </a:rPr>
              <a:t>提供データ（data\train.csv）を用い、収入クラス（target: 0〜5の6クラス）を多クラス分類として予測可能かを評価し、主要因と業務示唆を整理する</a:t>
            </a:r>
          </a:p>
          <a:p>
            <a:pPr>
              <a:lnSpc>
                <a:spcPts val="1500"/>
              </a:lnSpc>
              <a:spcAft>
                <a:spcPts val="400"/>
              </a:spcAft>
              <a:buNone/>
            </a:pPr>
            <a:r>
              <a:rPr lang="ja-JP" sz="1200" b="1" dirty="0">
                <a:solidFill>
                  <a:srgbClr val="8B2500"/>
                </a:solidFill>
                <a:latin typeface="BIZ UDPゴシック"/>
                <a:ea typeface="BIZ UDPゴシック"/>
              </a:rPr>
              <a:t>主要アウトプット</a:t>
            </a:r>
          </a:p>
          <a:p>
            <a:pPr>
              <a:lnSpc>
                <a:spcPts val="1500"/>
              </a:lnSpc>
              <a:buFont typeface="Arial"/>
              <a:buChar char="▸"/>
            </a:pPr>
            <a:r>
              <a:rPr lang="ja-JP" sz="1050" dirty="0">
                <a:solidFill>
                  <a:srgbClr val="3D3D3D"/>
                </a:solidFill>
                <a:latin typeface="BIZ UDPゴシック"/>
                <a:ea typeface="BIZ UDPゴシック"/>
              </a:rPr>
              <a:t>前処理仕様</a:t>
            </a:r>
          </a:p>
          <a:p>
            <a:pPr>
              <a:lnSpc>
                <a:spcPts val="1500"/>
              </a:lnSpc>
              <a:buFont typeface="Arial"/>
              <a:buChar char="▸"/>
            </a:pPr>
            <a:r>
              <a:rPr lang="ja-JP" sz="1050" dirty="0">
                <a:solidFill>
                  <a:srgbClr val="3D3D3D"/>
                </a:solidFill>
                <a:latin typeface="BIZ UDPゴシック"/>
                <a:ea typeface="BIZ UDPゴシック"/>
              </a:rPr>
              <a:t>モデル評価結果</a:t>
            </a:r>
          </a:p>
          <a:p>
            <a:pPr>
              <a:lnSpc>
                <a:spcPts val="1500"/>
              </a:lnSpc>
              <a:buFont typeface="Arial"/>
              <a:buChar char="▸"/>
            </a:pPr>
            <a:r>
              <a:rPr lang="ja-JP" sz="1050" dirty="0">
                <a:solidFill>
                  <a:srgbClr val="3D3D3D"/>
                </a:solidFill>
                <a:latin typeface="BIZ UDPゴシック"/>
                <a:ea typeface="BIZ UDPゴシック"/>
              </a:rPr>
              <a:t>属性別傾向と公平性観点の留意点</a:t>
            </a:r>
          </a:p>
          <a:p>
            <a:pPr>
              <a:lnSpc>
                <a:spcPts val="1500"/>
              </a:lnSpc>
              <a:buFont typeface="Arial"/>
              <a:buChar char="▸"/>
            </a:pPr>
            <a:r>
              <a:rPr lang="ja-JP" sz="1050" dirty="0">
                <a:solidFill>
                  <a:srgbClr val="3D3D3D"/>
                </a:solidFill>
                <a:latin typeface="BIZ UDPゴシック"/>
                <a:ea typeface="BIZ UDPゴシック"/>
              </a:rPr>
              <a:t>次フェーズ提案</a:t>
            </a:r>
          </a:p>
        </p:txBody>
      </p:sp>
      <p:sp>
        <p:nvSpPr>
          <p:cNvPr id="13" name="ScopeHeader"/>
          <p:cNvSpPr/>
          <p:nvPr/>
        </p:nvSpPr>
        <p:spPr>
          <a:xfrm>
            <a:off x="6096000" y="838200"/>
            <a:ext cx="5943600" cy="381000"/>
          </a:xfrm>
          <a:prstGeom prst="rect">
            <a:avLst/>
          </a:prstGeom>
          <a:solidFill>
            <a:srgbClr val="4A4A4A"/>
          </a:solidFill>
          <a:ln>
            <a:noFill/>
          </a:ln>
        </p:spPr>
        <p:txBody>
          <a:bodyPr wrap="square" lIns="137160" anchor="ctr"/>
          <a:lstStyle/>
          <a:p>
            <a:pPr>
              <a:buNone/>
            </a:pPr>
            <a:r>
              <a:rPr lang="ja-JP" sz="1400" b="1" dirty="0">
                <a:solidFill>
                  <a:srgbClr val="FFFFFF"/>
                </a:solidFill>
                <a:latin typeface="BIZ UDPゴシック"/>
                <a:ea typeface="BIZ UDPゴシック"/>
              </a:rPr>
              <a:t>スコープ（実施範囲）</a:t>
            </a:r>
          </a:p>
        </p:txBody>
      </p:sp>
      <p:sp>
        <p:nvSpPr>
          <p:cNvPr id="14" name="ScopeBody"/>
          <p:cNvSpPr/>
          <p:nvPr/>
        </p:nvSpPr>
        <p:spPr>
          <a:xfrm>
            <a:off x="6096000" y="1219200"/>
            <a:ext cx="5943600" cy="1752600"/>
          </a:xfrm>
          <a:prstGeom prst="rect">
            <a:avLst/>
          </a:prstGeom>
          <a:solidFill>
            <a:srgbClr val="F5F5F5"/>
          </a:solidFill>
          <a:ln w="12700">
            <a:solidFill>
              <a:srgbClr val="D0D0D0"/>
            </a:solidFill>
          </a:ln>
        </p:spPr>
        <p:txBody>
          <a:bodyPr wrap="square" lIns="137160" tIns="91440" rIns="137160" anchor="t"/>
          <a:lstStyle/>
          <a:p>
            <a:pPr>
              <a:lnSpc>
                <a:spcPts val="1500"/>
              </a:lnSpc>
              <a:spcAft>
                <a:spcPts val="300"/>
              </a:spcAft>
              <a:buFont typeface="Arial"/>
              <a:buChar char="●"/>
            </a:pPr>
            <a:r>
              <a:rPr lang="ja-JP" sz="1100" dirty="0">
                <a:solidFill>
                  <a:srgbClr val="3D3D3D"/>
                </a:solidFill>
                <a:latin typeface="BIZ UDPゴシック"/>
                <a:ea typeface="BIZ UDPゴシック"/>
              </a:rPr>
              <a:t>対象: data\train.csv、カラム説明.mdに限定</a:t>
            </a:r>
          </a:p>
          <a:p>
            <a:pPr>
              <a:lnSpc>
                <a:spcPts val="1500"/>
              </a:lnSpc>
              <a:spcAft>
                <a:spcPts val="300"/>
              </a:spcAft>
              <a:buFont typeface="Arial"/>
              <a:buChar char="●"/>
            </a:pPr>
            <a:r>
              <a:rPr lang="ja-JP" sz="1100" dirty="0">
                <a:solidFill>
                  <a:srgbClr val="3D3D3D"/>
                </a:solidFill>
                <a:latin typeface="BIZ UDPゴシック"/>
                <a:ea typeface="BIZ UDPゴシック"/>
              </a:rPr>
              <a:t>データ理解（EDA）→ 前処理方針策定</a:t>
            </a:r>
          </a:p>
          <a:p>
            <a:pPr>
              <a:lnSpc>
                <a:spcPts val="1500"/>
              </a:lnSpc>
              <a:spcAft>
                <a:spcPts val="300"/>
              </a:spcAft>
              <a:buFont typeface="Arial"/>
              <a:buChar char="●"/>
            </a:pPr>
            <a:r>
              <a:rPr lang="ja-JP" sz="1100" dirty="0">
                <a:solidFill>
                  <a:srgbClr val="3D3D3D"/>
                </a:solidFill>
                <a:latin typeface="BIZ UDPゴシック"/>
                <a:ea typeface="BIZ UDPゴシック"/>
              </a:rPr>
              <a:t>ベースライン＋初期モデル構築・評価</a:t>
            </a:r>
          </a:p>
          <a:p>
            <a:pPr>
              <a:lnSpc>
                <a:spcPts val="1500"/>
              </a:lnSpc>
              <a:spcAft>
                <a:spcPts val="300"/>
              </a:spcAft>
              <a:buFont typeface="Arial"/>
              <a:buChar char="●"/>
            </a:pPr>
            <a:r>
              <a:rPr lang="ja-JP" sz="1100" dirty="0">
                <a:solidFill>
                  <a:srgbClr val="3D3D3D"/>
                </a:solidFill>
                <a:latin typeface="BIZ UDPゴシック"/>
                <a:ea typeface="BIZ UDPゴシック"/>
              </a:rPr>
              <a:t>公平性初期チェック</a:t>
            </a:r>
          </a:p>
          <a:p>
            <a:pPr>
              <a:lnSpc>
                <a:spcPts val="1500"/>
              </a:lnSpc>
              <a:buFont typeface="Arial"/>
              <a:buChar char="●"/>
            </a:pPr>
            <a:r>
              <a:rPr lang="ja-JP" sz="1100" dirty="0">
                <a:solidFill>
                  <a:srgbClr val="3D3D3D"/>
                </a:solidFill>
                <a:latin typeface="BIZ UDPゴシック"/>
                <a:ea typeface="BIZ UDPゴシック"/>
              </a:rPr>
              <a:t>中間報告・最終報告の提出</a:t>
            </a:r>
          </a:p>
        </p:txBody>
      </p:sp>
      <p:sp>
        <p:nvSpPr>
          <p:cNvPr id="15" name="OutOfScope"/>
          <p:cNvSpPr/>
          <p:nvPr/>
        </p:nvSpPr>
        <p:spPr>
          <a:xfrm>
            <a:off x="152400" y="3124200"/>
            <a:ext cx="5791200" cy="1143000"/>
          </a:xfrm>
          <a:prstGeom prst="roundRect">
            <a:avLst>
              <a:gd name="adj" fmla="val 6000"/>
            </a:avLst>
          </a:prstGeom>
          <a:noFill/>
          <a:ln w="19050">
            <a:solidFill>
              <a:srgbClr val="8B2500"/>
            </a:solidFill>
          </a:ln>
        </p:spPr>
        <p:txBody>
          <a:bodyPr wrap="square" lIns="137160" tIns="91440" rIns="137160" anchor="t"/>
          <a:lstStyle/>
          <a:p>
            <a:pPr>
              <a:spcAft>
                <a:spcPts val="300"/>
              </a:spcAft>
              <a:buNone/>
            </a:pPr>
            <a:r>
              <a:rPr lang="ja-JP" sz="1200" b="1" dirty="0">
                <a:solidFill>
                  <a:srgbClr val="8B2500"/>
                </a:solidFill>
                <a:latin typeface="BIZ UDPゴシック"/>
                <a:ea typeface="BIZ UDPゴシック"/>
              </a:rPr>
              <a:t>対象外</a:t>
            </a:r>
          </a:p>
          <a:p>
            <a:pPr>
              <a:lnSpc>
                <a:spcPts val="1400"/>
              </a:lnSpc>
              <a:buFont typeface="Arial"/>
              <a:buChar char="✗"/>
            </a:pPr>
            <a:r>
              <a:rPr lang="ja-JP" sz="1050" dirty="0">
                <a:solidFill>
                  <a:srgbClr val="3D3D3D"/>
                </a:solidFill>
                <a:latin typeface="BIZ UDPゴシック"/>
                <a:ea typeface="BIZ UDPゴシック"/>
              </a:rPr>
              <a:t>本番システム実装</a:t>
            </a:r>
          </a:p>
          <a:p>
            <a:pPr>
              <a:lnSpc>
                <a:spcPts val="1400"/>
              </a:lnSpc>
              <a:buFont typeface="Arial"/>
              <a:buChar char="✗"/>
            </a:pPr>
            <a:r>
              <a:rPr lang="ja-JP" sz="1050" dirty="0">
                <a:solidFill>
                  <a:srgbClr val="3D3D3D"/>
                </a:solidFill>
                <a:latin typeface="BIZ UDPゴシック"/>
                <a:ea typeface="BIZ UDPゴシック"/>
              </a:rPr>
              <a:t>外部データ収集</a:t>
            </a:r>
          </a:p>
          <a:p>
            <a:pPr>
              <a:lnSpc>
                <a:spcPts val="1400"/>
              </a:lnSpc>
              <a:buFont typeface="Arial"/>
              <a:buChar char="✗"/>
            </a:pPr>
            <a:r>
              <a:rPr lang="ja-JP" sz="1050" dirty="0">
                <a:solidFill>
                  <a:srgbClr val="3D3D3D"/>
                </a:solidFill>
                <a:latin typeface="BIZ UDPゴシック"/>
                <a:ea typeface="BIZ UDPゴシック"/>
              </a:rPr>
              <a:t>採用・昇給等制度決定 ／ 離職予測</a:t>
            </a:r>
          </a:p>
        </p:txBody>
      </p:sp>
      <p:sp>
        <p:nvSpPr>
          <p:cNvPr id="16" name="ContractBox"/>
          <p:cNvSpPr/>
          <p:nvPr/>
        </p:nvSpPr>
        <p:spPr>
          <a:xfrm>
            <a:off x="6096000" y="3124200"/>
            <a:ext cx="5943600" cy="1143000"/>
          </a:xfrm>
          <a:prstGeom prst="roundRect">
            <a:avLst>
              <a:gd name="adj" fmla="val 6000"/>
            </a:avLst>
          </a:prstGeom>
          <a:solidFill>
            <a:srgbClr val="F5F5F5"/>
          </a:solidFill>
          <a:ln w="12700">
            <a:solidFill>
              <a:srgbClr val="D0D0D0"/>
            </a:solidFill>
          </a:ln>
        </p:spPr>
        <p:txBody>
          <a:bodyPr wrap="square" lIns="137160" tIns="91440" rIns="137160" anchor="t"/>
          <a:lstStyle/>
          <a:p>
            <a:pPr>
              <a:spcAft>
                <a:spcPts val="300"/>
              </a:spcAft>
              <a:buNone/>
            </a:pPr>
            <a:r>
              <a:rPr lang="ja-JP" sz="1200" b="1" dirty="0">
                <a:solidFill>
                  <a:srgbClr val="8B2500"/>
                </a:solidFill>
                <a:latin typeface="BIZ UDPゴシック"/>
                <a:ea typeface="BIZ UDPゴシック"/>
              </a:rPr>
              <a:t>契約パラメータ</a:t>
            </a:r>
          </a:p>
          <a:p>
            <a:pPr>
              <a:lnSpc>
                <a:spcPts val="1500"/>
              </a:lnSpc>
              <a:buFont typeface="Arial"/>
              <a:buChar char="▸"/>
            </a:pPr>
            <a:r>
              <a:rPr lang="ja-JP" sz="1100" dirty="0">
                <a:solidFill>
                  <a:srgbClr val="3D3D3D"/>
                </a:solidFill>
                <a:latin typeface="BIZ UDPゴシック"/>
                <a:ea typeface="BIZ UDPゴシック"/>
              </a:rPr>
              <a:t>契約形態: 準委任型時間課金（T&amp;M）</a:t>
            </a:r>
          </a:p>
          <a:p>
            <a:pPr>
              <a:lnSpc>
                <a:spcPts val="1500"/>
              </a:lnSpc>
              <a:buFont typeface="Arial"/>
              <a:buChar char="▸"/>
            </a:pPr>
            <a:r>
              <a:rPr lang="ja-JP" sz="1100" dirty="0">
                <a:solidFill>
                  <a:srgbClr val="3D3D3D"/>
                </a:solidFill>
                <a:latin typeface="BIZ UDPゴシック"/>
                <a:ea typeface="BIZ UDPゴシック"/>
              </a:rPr>
              <a:t>想定総工数: 170時間</a:t>
            </a:r>
          </a:p>
          <a:p>
            <a:pPr>
              <a:lnSpc>
                <a:spcPts val="1500"/>
              </a:lnSpc>
              <a:buFont typeface="Arial"/>
              <a:buChar char="▸"/>
            </a:pPr>
            <a:r>
              <a:rPr lang="ja-JP" sz="1100" dirty="0">
                <a:solidFill>
                  <a:srgbClr val="3D3D3D"/>
                </a:solidFill>
                <a:latin typeface="BIZ UDPゴシック"/>
                <a:ea typeface="BIZ UDPゴシック"/>
              </a:rPr>
              <a:t>時間単価: 25,000 JPY/時間</a:t>
            </a:r>
          </a:p>
          <a:p>
            <a:pPr>
              <a:lnSpc>
                <a:spcPts val="1500"/>
              </a:lnSpc>
              <a:buFont typeface="Arial"/>
              <a:buChar char="▸"/>
            </a:pPr>
            <a:r>
              <a:rPr lang="ja-JP" sz="1100" dirty="0">
                <a:solidFill>
                  <a:srgbClr val="3D3D3D"/>
                </a:solidFill>
                <a:latin typeface="BIZ UDPゴシック"/>
                <a:ea typeface="BIZ UDPゴシック"/>
              </a:rPr>
              <a:t>消費税率: 10%</a:t>
            </a:r>
          </a:p>
        </p:txBody>
      </p:sp>
      <p:sp>
        <p:nvSpPr>
          <p:cNvPr id="2" name="テキスト ボックス 1">
            <a:extLst>
              <a:ext uri="{FF2B5EF4-FFF2-40B4-BE49-F238E27FC236}">
                <a16:creationId xmlns:a16="http://schemas.microsoft.com/office/drawing/2014/main" id="{48C8FC5D-9DCD-48C7-8B97-E2AAD92B6088}"/>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2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165041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3. 実施方法</a:t>
            </a:r>
          </a:p>
        </p:txBody>
      </p:sp>
      <p:sp>
        <p:nvSpPr>
          <p:cNvPr id="20" name="Phase0"/>
          <p:cNvSpPr/>
          <p:nvPr/>
        </p:nvSpPr>
        <p:spPr>
          <a:xfrm>
            <a:off x="228600" y="914400"/>
            <a:ext cx="1371600" cy="685800"/>
          </a:xfrm>
          <a:prstGeom prst="roundRect">
            <a:avLst>
              <a:gd name="adj" fmla="val 8000"/>
            </a:avLst>
          </a:prstGeom>
          <a:solidFill>
            <a:srgbClr val="8B2500"/>
          </a:solidFill>
          <a:ln>
            <a:noFill/>
          </a:ln>
        </p:spPr>
        <p:txBody>
          <a:bodyPr wrap="square" lIns="45720" rIns="45720" anchor="ctr"/>
          <a:lstStyle/>
          <a:p>
            <a:pPr algn="ctr">
              <a:buNone/>
            </a:pPr>
            <a:r>
              <a:rPr lang="ja-JP" sz="1000" b="1" dirty="0">
                <a:solidFill>
                  <a:srgbClr val="FFFFFF"/>
                </a:solidFill>
                <a:latin typeface="BIZ UDPゴシック"/>
                <a:ea typeface="BIZ UDPゴシック"/>
              </a:rPr>
              <a:t>立上げ
(M01 KO)</a:t>
            </a:r>
          </a:p>
          <a:p>
            <a:pPr algn="ctr">
              <a:buNone/>
            </a:pPr>
            <a:r>
              <a:rPr lang="ja-JP" sz="800" dirty="0">
                <a:solidFill>
                  <a:srgbClr val="E0E0E0"/>
                </a:solidFill>
                <a:latin typeface="BIZ UDPゴシック"/>
                <a:ea typeface="BIZ UDPゴシック"/>
              </a:rPr>
              <a:t>8/18</a:t>
            </a:r>
          </a:p>
        </p:txBody>
      </p:sp>
      <p:sp>
        <p:nvSpPr>
          <p:cNvPr id="30" name="Arrow0"/>
          <p:cNvSpPr/>
          <p:nvPr/>
        </p:nvSpPr>
        <p:spPr>
          <a:xfrm>
            <a:off x="1600200" y="1181100"/>
            <a:ext cx="228600" cy="152400"/>
          </a:xfrm>
          <a:prstGeom prst="rightArrow">
            <a:avLst/>
          </a:prstGeom>
          <a:solidFill>
            <a:srgbClr val="C8C8C8"/>
          </a:solidFill>
          <a:ln>
            <a:noFill/>
          </a:ln>
        </p:spPr>
        <p:txBody>
          <a:bodyPr wrap="square" anchor="ctr"/>
          <a:lstStyle/>
          <a:p>
            <a:endParaRPr lang="ja-JP"/>
          </a:p>
        </p:txBody>
      </p:sp>
      <p:sp>
        <p:nvSpPr>
          <p:cNvPr id="21" name="Phase1"/>
          <p:cNvSpPr/>
          <p:nvPr/>
        </p:nvSpPr>
        <p:spPr>
          <a:xfrm>
            <a:off x="1828800" y="914400"/>
            <a:ext cx="1371600" cy="685800"/>
          </a:xfrm>
          <a:prstGeom prst="roundRect">
            <a:avLst>
              <a:gd name="adj" fmla="val 8000"/>
            </a:avLst>
          </a:prstGeom>
          <a:solidFill>
            <a:srgbClr val="4A4A4A"/>
          </a:solidFill>
          <a:ln>
            <a:noFill/>
          </a:ln>
        </p:spPr>
        <p:txBody>
          <a:bodyPr wrap="square" lIns="45720" rIns="45720" anchor="ctr"/>
          <a:lstStyle/>
          <a:p>
            <a:pPr algn="ctr">
              <a:buNone/>
            </a:pPr>
            <a:r>
              <a:rPr lang="ja-JP" sz="1000" b="1" dirty="0">
                <a:solidFill>
                  <a:srgbClr val="FFFFFF"/>
                </a:solidFill>
                <a:latin typeface="BIZ UDPゴシック"/>
                <a:ea typeface="BIZ UDPゴシック"/>
              </a:rPr>
              <a:t>データ棚卸し
EDA</a:t>
            </a:r>
          </a:p>
          <a:p>
            <a:pPr algn="ctr">
              <a:buNone/>
            </a:pPr>
            <a:r>
              <a:rPr lang="ja-JP" sz="800" dirty="0">
                <a:solidFill>
                  <a:srgbClr val="E0E0E0"/>
                </a:solidFill>
                <a:latin typeface="BIZ UDPゴシック"/>
                <a:ea typeface="BIZ UDPゴシック"/>
              </a:rPr>
              <a:t>8月下旬</a:t>
            </a:r>
          </a:p>
        </p:txBody>
      </p:sp>
      <p:sp>
        <p:nvSpPr>
          <p:cNvPr id="31" name="Arrow1"/>
          <p:cNvSpPr/>
          <p:nvPr/>
        </p:nvSpPr>
        <p:spPr>
          <a:xfrm>
            <a:off x="3200400" y="1181100"/>
            <a:ext cx="228600" cy="152400"/>
          </a:xfrm>
          <a:prstGeom prst="rightArrow">
            <a:avLst/>
          </a:prstGeom>
          <a:solidFill>
            <a:srgbClr val="C8C8C8"/>
          </a:solidFill>
          <a:ln>
            <a:noFill/>
          </a:ln>
        </p:spPr>
        <p:txBody>
          <a:bodyPr wrap="square" anchor="ctr"/>
          <a:lstStyle/>
          <a:p>
            <a:endParaRPr lang="ja-JP"/>
          </a:p>
        </p:txBody>
      </p:sp>
      <p:sp>
        <p:nvSpPr>
          <p:cNvPr id="22" name="Phase2"/>
          <p:cNvSpPr/>
          <p:nvPr/>
        </p:nvSpPr>
        <p:spPr>
          <a:xfrm>
            <a:off x="3429000" y="914400"/>
            <a:ext cx="1371600" cy="685800"/>
          </a:xfrm>
          <a:prstGeom prst="roundRect">
            <a:avLst>
              <a:gd name="adj" fmla="val 8000"/>
            </a:avLst>
          </a:prstGeom>
          <a:solidFill>
            <a:srgbClr val="4A4A4A"/>
          </a:solidFill>
          <a:ln>
            <a:noFill/>
          </a:ln>
        </p:spPr>
        <p:txBody>
          <a:bodyPr wrap="square" lIns="45720" rIns="45720" anchor="ctr"/>
          <a:lstStyle/>
          <a:p>
            <a:pPr algn="ctr">
              <a:buNone/>
            </a:pPr>
            <a:r>
              <a:rPr lang="ja-JP" sz="1000" b="1" dirty="0">
                <a:solidFill>
                  <a:srgbClr val="FFFFFF"/>
                </a:solidFill>
                <a:latin typeface="BIZ UDPゴシック"/>
                <a:ea typeface="BIZ UDPゴシック"/>
              </a:rPr>
              <a:t>前処理
ベースライン</a:t>
            </a:r>
          </a:p>
          <a:p>
            <a:pPr algn="ctr">
              <a:buNone/>
            </a:pPr>
            <a:r>
              <a:rPr lang="ja-JP" sz="800" dirty="0">
                <a:solidFill>
                  <a:srgbClr val="E0E0E0"/>
                </a:solidFill>
                <a:latin typeface="BIZ UDPゴシック"/>
                <a:ea typeface="BIZ UDPゴシック"/>
              </a:rPr>
              <a:t>9月上旬</a:t>
            </a:r>
          </a:p>
        </p:txBody>
      </p:sp>
      <p:sp>
        <p:nvSpPr>
          <p:cNvPr id="32" name="Arrow2"/>
          <p:cNvSpPr/>
          <p:nvPr/>
        </p:nvSpPr>
        <p:spPr>
          <a:xfrm>
            <a:off x="4800600" y="1181100"/>
            <a:ext cx="228600" cy="152400"/>
          </a:xfrm>
          <a:prstGeom prst="rightArrow">
            <a:avLst/>
          </a:prstGeom>
          <a:solidFill>
            <a:srgbClr val="C8C8C8"/>
          </a:solidFill>
          <a:ln>
            <a:noFill/>
          </a:ln>
        </p:spPr>
        <p:txBody>
          <a:bodyPr wrap="square" anchor="ctr"/>
          <a:lstStyle/>
          <a:p>
            <a:endParaRPr lang="ja-JP"/>
          </a:p>
        </p:txBody>
      </p:sp>
      <p:sp>
        <p:nvSpPr>
          <p:cNvPr id="23" name="Phase3"/>
          <p:cNvSpPr/>
          <p:nvPr/>
        </p:nvSpPr>
        <p:spPr>
          <a:xfrm>
            <a:off x="5029200" y="914400"/>
            <a:ext cx="1371600" cy="685800"/>
          </a:xfrm>
          <a:prstGeom prst="roundRect">
            <a:avLst>
              <a:gd name="adj" fmla="val 8000"/>
            </a:avLst>
          </a:prstGeom>
          <a:solidFill>
            <a:srgbClr val="8B2500"/>
          </a:solidFill>
          <a:ln>
            <a:noFill/>
          </a:ln>
        </p:spPr>
        <p:txBody>
          <a:bodyPr wrap="square" lIns="45720" rIns="45720" anchor="ctr"/>
          <a:lstStyle/>
          <a:p>
            <a:pPr algn="ctr">
              <a:buNone/>
            </a:pPr>
            <a:r>
              <a:rPr lang="ja-JP" sz="1000" b="1" dirty="0">
                <a:solidFill>
                  <a:srgbClr val="FFFFFF"/>
                </a:solidFill>
                <a:latin typeface="BIZ UDPゴシック"/>
                <a:ea typeface="BIZ UDPゴシック"/>
              </a:rPr>
              <a:t>中間報告
(M02)</a:t>
            </a:r>
          </a:p>
          <a:p>
            <a:pPr algn="ctr">
              <a:buNone/>
            </a:pPr>
            <a:r>
              <a:rPr lang="ja-JP" sz="800" dirty="0">
                <a:solidFill>
                  <a:srgbClr val="E0E0E0"/>
                </a:solidFill>
                <a:latin typeface="BIZ UDPゴシック"/>
                <a:ea typeface="BIZ UDPゴシック"/>
              </a:rPr>
              <a:t>9/8</a:t>
            </a:r>
          </a:p>
        </p:txBody>
      </p:sp>
      <p:sp>
        <p:nvSpPr>
          <p:cNvPr id="33" name="Arrow3"/>
          <p:cNvSpPr/>
          <p:nvPr/>
        </p:nvSpPr>
        <p:spPr>
          <a:xfrm>
            <a:off x="6400800" y="1181100"/>
            <a:ext cx="228600" cy="152400"/>
          </a:xfrm>
          <a:prstGeom prst="rightArrow">
            <a:avLst/>
          </a:prstGeom>
          <a:solidFill>
            <a:srgbClr val="C8C8C8"/>
          </a:solidFill>
          <a:ln>
            <a:noFill/>
          </a:ln>
        </p:spPr>
        <p:txBody>
          <a:bodyPr wrap="square" anchor="ctr"/>
          <a:lstStyle/>
          <a:p>
            <a:endParaRPr lang="ja-JP"/>
          </a:p>
        </p:txBody>
      </p:sp>
      <p:sp>
        <p:nvSpPr>
          <p:cNvPr id="24" name="Phase4"/>
          <p:cNvSpPr/>
          <p:nvPr/>
        </p:nvSpPr>
        <p:spPr>
          <a:xfrm>
            <a:off x="6629400" y="914400"/>
            <a:ext cx="1371600" cy="685800"/>
          </a:xfrm>
          <a:prstGeom prst="roundRect">
            <a:avLst>
              <a:gd name="adj" fmla="val 8000"/>
            </a:avLst>
          </a:prstGeom>
          <a:solidFill>
            <a:srgbClr val="4A4A4A"/>
          </a:solidFill>
          <a:ln>
            <a:noFill/>
          </a:ln>
        </p:spPr>
        <p:txBody>
          <a:bodyPr wrap="square" lIns="45720" rIns="45720" anchor="ctr"/>
          <a:lstStyle/>
          <a:p>
            <a:pPr algn="ctr">
              <a:buNone/>
            </a:pPr>
            <a:r>
              <a:rPr lang="ja-JP" sz="1000" b="1" dirty="0">
                <a:solidFill>
                  <a:srgbClr val="FFFFFF"/>
                </a:solidFill>
                <a:latin typeface="BIZ UDPゴシック"/>
                <a:ea typeface="BIZ UDPゴシック"/>
              </a:rPr>
              <a:t>変更管理
モデル改善</a:t>
            </a:r>
          </a:p>
          <a:p>
            <a:pPr algn="ctr">
              <a:buNone/>
            </a:pPr>
            <a:r>
              <a:rPr lang="ja-JP" sz="800" dirty="0">
                <a:solidFill>
                  <a:srgbClr val="E0E0E0"/>
                </a:solidFill>
                <a:latin typeface="BIZ UDPゴシック"/>
                <a:ea typeface="BIZ UDPゴシック"/>
              </a:rPr>
              <a:t>9月中旬</a:t>
            </a:r>
          </a:p>
        </p:txBody>
      </p:sp>
      <p:sp>
        <p:nvSpPr>
          <p:cNvPr id="34" name="Arrow4"/>
          <p:cNvSpPr/>
          <p:nvPr/>
        </p:nvSpPr>
        <p:spPr>
          <a:xfrm>
            <a:off x="8001000" y="1181100"/>
            <a:ext cx="228600" cy="152400"/>
          </a:xfrm>
          <a:prstGeom prst="rightArrow">
            <a:avLst/>
          </a:prstGeom>
          <a:solidFill>
            <a:srgbClr val="C8C8C8"/>
          </a:solidFill>
          <a:ln>
            <a:noFill/>
          </a:ln>
        </p:spPr>
        <p:txBody>
          <a:bodyPr wrap="square" anchor="ctr"/>
          <a:lstStyle/>
          <a:p>
            <a:endParaRPr lang="ja-JP"/>
          </a:p>
        </p:txBody>
      </p:sp>
      <p:sp>
        <p:nvSpPr>
          <p:cNvPr id="25" name="Phase5"/>
          <p:cNvSpPr/>
          <p:nvPr/>
        </p:nvSpPr>
        <p:spPr>
          <a:xfrm>
            <a:off x="8229600" y="914400"/>
            <a:ext cx="1371600" cy="685800"/>
          </a:xfrm>
          <a:prstGeom prst="roundRect">
            <a:avLst>
              <a:gd name="adj" fmla="val 8000"/>
            </a:avLst>
          </a:prstGeom>
          <a:solidFill>
            <a:srgbClr val="8B2500"/>
          </a:solidFill>
          <a:ln>
            <a:noFill/>
          </a:ln>
        </p:spPr>
        <p:txBody>
          <a:bodyPr wrap="square" lIns="45720" rIns="45720" anchor="ctr"/>
          <a:lstStyle/>
          <a:p>
            <a:pPr algn="ctr">
              <a:buNone/>
            </a:pPr>
            <a:r>
              <a:rPr lang="ja-JP" sz="1000" b="1" dirty="0">
                <a:solidFill>
                  <a:srgbClr val="FFFFFF"/>
                </a:solidFill>
                <a:latin typeface="BIZ UDPゴシック"/>
                <a:ea typeface="BIZ UDPゴシック"/>
              </a:rPr>
              <a:t>最終報告
(M03)</a:t>
            </a:r>
          </a:p>
          <a:p>
            <a:pPr algn="ctr">
              <a:buNone/>
            </a:pPr>
            <a:r>
              <a:rPr lang="ja-JP" sz="800" dirty="0">
                <a:solidFill>
                  <a:srgbClr val="E0E0E0"/>
                </a:solidFill>
                <a:latin typeface="BIZ UDPゴシック"/>
                <a:ea typeface="BIZ UDPゴシック"/>
              </a:rPr>
              <a:t>9/26</a:t>
            </a:r>
          </a:p>
        </p:txBody>
      </p:sp>
      <p:sp>
        <p:nvSpPr>
          <p:cNvPr id="35" name="Arrow5"/>
          <p:cNvSpPr/>
          <p:nvPr/>
        </p:nvSpPr>
        <p:spPr>
          <a:xfrm>
            <a:off x="9601200" y="1181100"/>
            <a:ext cx="228600" cy="152400"/>
          </a:xfrm>
          <a:prstGeom prst="rightArrow">
            <a:avLst/>
          </a:prstGeom>
          <a:solidFill>
            <a:srgbClr val="C8C8C8"/>
          </a:solidFill>
          <a:ln>
            <a:noFill/>
          </a:ln>
        </p:spPr>
        <p:txBody>
          <a:bodyPr wrap="square" anchor="ctr"/>
          <a:lstStyle/>
          <a:p>
            <a:endParaRPr lang="ja-JP"/>
          </a:p>
        </p:txBody>
      </p:sp>
      <p:sp>
        <p:nvSpPr>
          <p:cNvPr id="26" name="Phase6"/>
          <p:cNvSpPr/>
          <p:nvPr/>
        </p:nvSpPr>
        <p:spPr>
          <a:xfrm>
            <a:off x="9829800" y="914400"/>
            <a:ext cx="1371600" cy="685800"/>
          </a:xfrm>
          <a:prstGeom prst="roundRect">
            <a:avLst>
              <a:gd name="adj" fmla="val 8000"/>
            </a:avLst>
          </a:prstGeom>
          <a:solidFill>
            <a:srgbClr val="707070"/>
          </a:solidFill>
          <a:ln>
            <a:noFill/>
          </a:ln>
        </p:spPr>
        <p:txBody>
          <a:bodyPr wrap="square" lIns="45720" rIns="45720" anchor="ctr"/>
          <a:lstStyle/>
          <a:p>
            <a:pPr algn="ctr">
              <a:buNone/>
            </a:pPr>
            <a:r>
              <a:rPr lang="ja-JP" sz="1000" b="1" dirty="0">
                <a:solidFill>
                  <a:srgbClr val="FFFFFF"/>
                </a:solidFill>
                <a:latin typeface="BIZ UDPゴシック"/>
                <a:ea typeface="BIZ UDPゴシック"/>
              </a:rPr>
              <a:t>検収準備
納品</a:t>
            </a:r>
          </a:p>
          <a:p>
            <a:pPr algn="ctr">
              <a:buNone/>
            </a:pPr>
            <a:r>
              <a:rPr lang="ja-JP" sz="800" dirty="0">
                <a:solidFill>
                  <a:srgbClr val="E0E0E0"/>
                </a:solidFill>
                <a:latin typeface="BIZ UDPゴシック"/>
                <a:ea typeface="BIZ UDPゴシック"/>
              </a:rPr>
              <a:t>9/29</a:t>
            </a:r>
          </a:p>
        </p:txBody>
      </p:sp>
      <p:sp>
        <p:nvSpPr>
          <p:cNvPr id="40" name="SettingsHeader"/>
          <p:cNvSpPr/>
          <p:nvPr/>
        </p:nvSpPr>
        <p:spPr>
          <a:xfrm>
            <a:off x="152400" y="1905000"/>
            <a:ext cx="11887200" cy="381000"/>
          </a:xfrm>
          <a:prstGeom prst="rect">
            <a:avLst/>
          </a:prstGeom>
          <a:solidFill>
            <a:srgbClr val="F5F5F5"/>
          </a:solidFill>
          <a:ln>
            <a:noFill/>
          </a:ln>
        </p:spPr>
        <p:txBody>
          <a:bodyPr wrap="square" lIns="182880" anchor="ctr"/>
          <a:lstStyle/>
          <a:p>
            <a:pPr>
              <a:buNone/>
            </a:pPr>
            <a:r>
              <a:rPr lang="ja-JP" sz="1600" b="1" dirty="0">
                <a:solidFill>
                  <a:srgbClr val="8B2500"/>
                </a:solidFill>
                <a:latin typeface="BIZ UDPゴシック"/>
                <a:ea typeface="BIZ UDPゴシック"/>
              </a:rPr>
              <a:t>分析実行設定（確定事実）</a:t>
            </a:r>
          </a:p>
        </p:txBody>
      </p:sp>
      <p:sp>
        <p:nvSpPr>
          <p:cNvPr id="41" name="Col1"/>
          <p:cNvSpPr/>
          <p:nvPr/>
        </p:nvSpPr>
        <p:spPr>
          <a:xfrm>
            <a:off x="152400" y="2438400"/>
            <a:ext cx="3810000" cy="2133600"/>
          </a:xfrm>
          <a:prstGeom prst="rect">
            <a:avLst/>
          </a:prstGeom>
          <a:noFill/>
          <a:ln w="12700">
            <a:solidFill>
              <a:srgbClr val="D0D0D0"/>
            </a:solidFill>
          </a:ln>
        </p:spPr>
        <p:txBody>
          <a:bodyPr wrap="square" lIns="137160" tIns="91440" rIns="91440" anchor="t"/>
          <a:lstStyle/>
          <a:p>
            <a:pPr>
              <a:spcAft>
                <a:spcPts val="400"/>
              </a:spcAft>
              <a:buNone/>
            </a:pPr>
            <a:r>
              <a:rPr lang="ja-JP" sz="1200" b="1" dirty="0">
                <a:solidFill>
                  <a:srgbClr val="1A1A1A"/>
                </a:solidFill>
                <a:latin typeface="BIZ UDPゴシック"/>
                <a:ea typeface="BIZ UDPゴシック"/>
              </a:rPr>
              <a:t>モデル設定</a:t>
            </a:r>
          </a:p>
          <a:p>
            <a:pPr>
              <a:lnSpc>
                <a:spcPts val="1400"/>
              </a:lnSpc>
              <a:buFont typeface="Arial"/>
              <a:buChar char="▸"/>
            </a:pPr>
            <a:r>
              <a:rPr lang="ja-JP" sz="1000" dirty="0">
                <a:solidFill>
                  <a:srgbClr val="3D3D3D"/>
                </a:solidFill>
                <a:latin typeface="BIZ UDPゴシック"/>
                <a:ea typeface="BIZ UDPゴシック"/>
              </a:rPr>
              <a:t>タイプ: hist_gradient_boosting</a:t>
            </a:r>
          </a:p>
          <a:p>
            <a:pPr>
              <a:lnSpc>
                <a:spcPts val="1400"/>
              </a:lnSpc>
              <a:buFont typeface="Arial"/>
              <a:buChar char="▸"/>
            </a:pPr>
            <a:r>
              <a:rPr lang="ja-JP" sz="1000" dirty="0">
                <a:solidFill>
                  <a:srgbClr val="3D3D3D"/>
                </a:solidFill>
                <a:latin typeface="BIZ UDPゴシック"/>
                <a:ea typeface="BIZ UDPゴシック"/>
              </a:rPr>
              <a:t>learning_rate = 0.03</a:t>
            </a:r>
          </a:p>
          <a:p>
            <a:pPr>
              <a:lnSpc>
                <a:spcPts val="1400"/>
              </a:lnSpc>
              <a:buFont typeface="Arial"/>
              <a:buChar char="▸"/>
            </a:pPr>
            <a:r>
              <a:rPr lang="ja-JP" sz="1000" dirty="0">
                <a:solidFill>
                  <a:srgbClr val="3D3D3D"/>
                </a:solidFill>
                <a:latin typeface="BIZ UDPゴシック"/>
                <a:ea typeface="BIZ UDPゴシック"/>
              </a:rPr>
              <a:t>max_depth = 4, max_iter = 232</a:t>
            </a:r>
          </a:p>
          <a:p>
            <a:pPr>
              <a:lnSpc>
                <a:spcPts val="1400"/>
              </a:lnSpc>
              <a:buFont typeface="Arial"/>
              <a:buChar char="▸"/>
            </a:pPr>
            <a:r>
              <a:rPr lang="ja-JP" sz="1000" dirty="0">
                <a:solidFill>
                  <a:srgbClr val="3D3D3D"/>
                </a:solidFill>
                <a:latin typeface="BIZ UDPゴシック"/>
                <a:ea typeface="BIZ UDPゴシック"/>
              </a:rPr>
              <a:t>min_samples_leaf = 15</a:t>
            </a:r>
          </a:p>
          <a:p>
            <a:pPr>
              <a:lnSpc>
                <a:spcPts val="1400"/>
              </a:lnSpc>
              <a:buFont typeface="Arial"/>
              <a:buChar char="▸"/>
            </a:pPr>
            <a:r>
              <a:rPr lang="ja-JP" sz="1000" dirty="0">
                <a:solidFill>
                  <a:srgbClr val="3D3D3D"/>
                </a:solidFill>
                <a:latin typeface="BIZ UDPゴシック"/>
                <a:ea typeface="BIZ UDPゴシック"/>
              </a:rPr>
              <a:t>l2_regularization = 3.0</a:t>
            </a:r>
          </a:p>
        </p:txBody>
      </p:sp>
      <p:sp>
        <p:nvSpPr>
          <p:cNvPr id="42" name="Col2"/>
          <p:cNvSpPr/>
          <p:nvPr/>
        </p:nvSpPr>
        <p:spPr>
          <a:xfrm>
            <a:off x="4114800" y="2438400"/>
            <a:ext cx="3810000" cy="2133600"/>
          </a:xfrm>
          <a:prstGeom prst="rect">
            <a:avLst/>
          </a:prstGeom>
          <a:noFill/>
          <a:ln w="12700">
            <a:solidFill>
              <a:srgbClr val="D0D0D0"/>
            </a:solidFill>
          </a:ln>
        </p:spPr>
        <p:txBody>
          <a:bodyPr wrap="square" lIns="137160" tIns="91440" rIns="91440" anchor="t"/>
          <a:lstStyle/>
          <a:p>
            <a:pPr>
              <a:spcAft>
                <a:spcPts val="400"/>
              </a:spcAft>
              <a:buNone/>
            </a:pPr>
            <a:r>
              <a:rPr lang="ja-JP" sz="1200" b="1" dirty="0">
                <a:solidFill>
                  <a:srgbClr val="1A1A1A"/>
                </a:solidFill>
                <a:latin typeface="BIZ UDPゴシック"/>
                <a:ea typeface="BIZ UDPゴシック"/>
              </a:rPr>
              <a:t>前処理方針</a:t>
            </a:r>
          </a:p>
          <a:p>
            <a:pPr>
              <a:lnSpc>
                <a:spcPts val="1400"/>
              </a:lnSpc>
              <a:buFont typeface="Arial"/>
              <a:buChar char="▸"/>
            </a:pPr>
            <a:r>
              <a:rPr lang="ja-JP" sz="1000" dirty="0">
                <a:solidFill>
                  <a:srgbClr val="3D3D3D"/>
                </a:solidFill>
                <a:latin typeface="BIZ UDPゴシック"/>
                <a:ea typeface="BIZ UDPゴシック"/>
              </a:rPr>
              <a:t>全説明変数は主にカテゴリ型</a:t>
            </a:r>
          </a:p>
          <a:p>
            <a:pPr>
              <a:lnSpc>
                <a:spcPts val="1400"/>
              </a:lnSpc>
              <a:buFont typeface="Arial"/>
              <a:buChar char="▸"/>
            </a:pPr>
            <a:r>
              <a:rPr lang="ja-JP" sz="1000" dirty="0">
                <a:solidFill>
                  <a:srgbClr val="3D3D3D"/>
                </a:solidFill>
                <a:latin typeface="BIZ UDPゴシック"/>
                <a:ea typeface="BIZ UDPゴシック"/>
              </a:rPr>
              <a:t>順序カテゴリ特徴（Age_ord等）を利用</a:t>
            </a:r>
          </a:p>
          <a:p>
            <a:pPr>
              <a:lnSpc>
                <a:spcPts val="1400"/>
              </a:lnSpc>
              <a:buFont typeface="Arial"/>
              <a:buChar char="▸"/>
            </a:pPr>
            <a:r>
              <a:rPr lang="ja-JP" sz="1000" dirty="0">
                <a:solidFill>
                  <a:srgbClr val="3D3D3D"/>
                </a:solidFill>
                <a:latin typeface="BIZ UDPゴシック"/>
                <a:ea typeface="BIZ UDPゴシック"/>
              </a:rPr>
              <a:t>class target encodingを複数カラムに実施</a:t>
            </a:r>
          </a:p>
          <a:p>
            <a:pPr>
              <a:lnSpc>
                <a:spcPts val="1400"/>
              </a:lnSpc>
              <a:buFont typeface="Arial"/>
              <a:buChar char="▸"/>
            </a:pPr>
            <a:r>
              <a:rPr lang="ja-JP" sz="1000" dirty="0">
                <a:solidFill>
                  <a:srgbClr val="3D3D3D"/>
                </a:solidFill>
                <a:latin typeface="BIZ UDPゴシック"/>
                <a:ea typeface="BIZ UDPゴシック"/>
              </a:rPr>
              <a:t>長尾カテゴリ集約 (min_count=20)</a:t>
            </a:r>
          </a:p>
          <a:p>
            <a:pPr>
              <a:lnSpc>
                <a:spcPts val="1400"/>
              </a:lnSpc>
              <a:buFont typeface="Arial"/>
              <a:buChar char="▸"/>
            </a:pPr>
            <a:r>
              <a:rPr lang="ja-JP" sz="1000" dirty="0">
                <a:solidFill>
                  <a:srgbClr val="3D3D3D"/>
                </a:solidFill>
                <a:latin typeface="BIZ UDPゴシック"/>
                <a:ea typeface="BIZ UDPゴシック"/>
              </a:rPr>
              <a:t>id列は除外（identifier_like_name）</a:t>
            </a:r>
          </a:p>
        </p:txBody>
      </p:sp>
      <p:sp>
        <p:nvSpPr>
          <p:cNvPr id="43" name="Col3"/>
          <p:cNvSpPr/>
          <p:nvPr/>
        </p:nvSpPr>
        <p:spPr>
          <a:xfrm>
            <a:off x="8077200" y="2438400"/>
            <a:ext cx="3810000" cy="2133600"/>
          </a:xfrm>
          <a:prstGeom prst="rect">
            <a:avLst/>
          </a:prstGeom>
          <a:noFill/>
          <a:ln w="12700">
            <a:solidFill>
              <a:srgbClr val="D0D0D0"/>
            </a:solidFill>
          </a:ln>
        </p:spPr>
        <p:txBody>
          <a:bodyPr wrap="square" lIns="137160" tIns="91440" rIns="91440" anchor="t"/>
          <a:lstStyle/>
          <a:p>
            <a:pPr>
              <a:spcAft>
                <a:spcPts val="400"/>
              </a:spcAft>
              <a:buNone/>
            </a:pPr>
            <a:r>
              <a:rPr lang="ja-JP" sz="1200" b="1" dirty="0">
                <a:solidFill>
                  <a:srgbClr val="1A1A1A"/>
                </a:solidFill>
                <a:latin typeface="BIZ UDPゴシック"/>
                <a:ea typeface="BIZ UDPゴシック"/>
              </a:rPr>
              <a:t>データ分割・再現性</a:t>
            </a:r>
          </a:p>
          <a:p>
            <a:pPr>
              <a:lnSpc>
                <a:spcPts val="1400"/>
              </a:lnSpc>
              <a:buFont typeface="Arial"/>
              <a:buChar char="▸"/>
            </a:pPr>
            <a:r>
              <a:rPr lang="ja-JP" sz="1000" dirty="0">
                <a:solidFill>
                  <a:srgbClr val="3D3D3D"/>
                </a:solidFill>
                <a:latin typeface="BIZ UDPゴシック"/>
                <a:ea typeface="BIZ UDPゴシック"/>
              </a:rPr>
              <a:t>分割手法: random_holdout</a:t>
            </a:r>
          </a:p>
          <a:p>
            <a:pPr>
              <a:lnSpc>
                <a:spcPts val="1400"/>
              </a:lnSpc>
              <a:buFont typeface="Arial"/>
              <a:buChar char="▸"/>
            </a:pPr>
            <a:r>
              <a:rPr lang="ja-JP" sz="1000" dirty="0">
                <a:solidFill>
                  <a:srgbClr val="3D3D3D"/>
                </a:solidFill>
                <a:latin typeface="BIZ UDPゴシック"/>
                <a:ea typeface="BIZ UDPゴシック"/>
              </a:rPr>
              <a:t>validation_size = 0.1</a:t>
            </a:r>
          </a:p>
          <a:p>
            <a:pPr>
              <a:lnSpc>
                <a:spcPts val="1400"/>
              </a:lnSpc>
              <a:buFont typeface="Arial"/>
              <a:buChar char="▸"/>
            </a:pPr>
            <a:r>
              <a:rPr lang="ja-JP" sz="1000" dirty="0">
                <a:solidFill>
                  <a:srgbClr val="3D3D3D"/>
                </a:solidFill>
                <a:latin typeface="BIZ UDPゴシック"/>
                <a:ea typeface="BIZ UDPゴシック"/>
              </a:rPr>
              <a:t>test_size ≒ 0.2</a:t>
            </a:r>
          </a:p>
          <a:p>
            <a:pPr>
              <a:lnSpc>
                <a:spcPts val="1500"/>
              </a:lnSpc>
              <a:spcBef>
                <a:spcPts val="600"/>
              </a:spcBef>
              <a:buNone/>
            </a:pPr>
            <a:r>
              <a:rPr lang="ja-JP" sz="1000" dirty="0">
                <a:solidFill>
                  <a:srgbClr val="707070"/>
                </a:solidFill>
                <a:latin typeface="BIZ UDPゴシック"/>
                <a:ea typeface="BIZ UDPゴシック"/>
              </a:rPr>
              <a:t>出力: artifacts/analysis_outputs/</a:t>
            </a:r>
          </a:p>
          <a:p>
            <a:pPr>
              <a:lnSpc>
                <a:spcPts val="1400"/>
              </a:lnSpc>
              <a:buNone/>
            </a:pPr>
            <a:r>
              <a:rPr lang="ja-JP" sz="1000" dirty="0">
                <a:solidFill>
                  <a:srgbClr val="707070"/>
                </a:solidFill>
                <a:latin typeface="BIZ UDPゴシック"/>
                <a:ea typeface="BIZ UDPゴシック"/>
              </a:rPr>
              <a:t>run_summary.json等を保存（再現可能）</a:t>
            </a:r>
          </a:p>
        </p:txBody>
      </p:sp>
      <p:sp>
        <p:nvSpPr>
          <p:cNvPr id="2" name="テキスト ボックス 1">
            <a:extLst>
              <a:ext uri="{FF2B5EF4-FFF2-40B4-BE49-F238E27FC236}">
                <a16:creationId xmlns:a16="http://schemas.microsoft.com/office/drawing/2014/main" id="{806E7F91-0942-4AF5-BB4D-C66E1E0CF6D0}"/>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3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957256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4. 主要な分析結果 — データ品質・特徴選択</a:t>
            </a:r>
          </a:p>
        </p:txBody>
      </p:sp>
      <p:sp>
        <p:nvSpPr>
          <p:cNvPr id="20" name="S20"/>
          <p:cNvSpPr/>
          <p:nvPr/>
        </p:nvSpPr>
        <p:spPr>
          <a:xfrm>
            <a:off x="152400" y="838200"/>
            <a:ext cx="3657600" cy="685800"/>
          </a:xfrm>
          <a:prstGeom prst="roundRect">
            <a:avLst>
              <a:gd name="adj" fmla="val 6000"/>
            </a:avLst>
          </a:prstGeom>
          <a:solidFill>
            <a:srgbClr val="8B2500"/>
          </a:solidFill>
          <a:ln>
            <a:noFill/>
          </a:ln>
        </p:spPr>
        <p:txBody>
          <a:bodyPr wrap="square" lIns="137160" rIns="91440" anchor="ctr"/>
          <a:lstStyle/>
          <a:p>
            <a:pPr>
              <a:buNone/>
            </a:pPr>
            <a:r>
              <a:rPr lang="ja-JP" sz="1100" dirty="0">
                <a:solidFill>
                  <a:srgbClr val="E0E0E0"/>
                </a:solidFill>
                <a:latin typeface="BIZ UDPゴシック"/>
                <a:ea typeface="BIZ UDPゴシック"/>
              </a:rPr>
              <a:t>総レコード数</a:t>
            </a:r>
          </a:p>
          <a:p>
            <a:pPr>
              <a:buNone/>
            </a:pPr>
            <a:r>
              <a:rPr lang="en-US" sz="2800" b="1" dirty="0">
                <a:solidFill>
                  <a:srgbClr val="FFFFFF"/>
                </a:solidFill>
                <a:latin typeface="BIZ UDPゴシック"/>
                <a:ea typeface="BIZ UDPゴシック"/>
              </a:rPr>
              <a:t>11,529</a:t>
            </a:r>
            <a:r>
              <a:rPr lang="ja-JP" sz="1000" dirty="0">
                <a:solidFill>
                  <a:srgbClr val="C8C8C8"/>
                </a:solidFill>
                <a:latin typeface="BIZ UDPゴシック"/>
                <a:ea typeface="BIZ UDPゴシック"/>
              </a:rPr>
              <a:t>  eda_summary.row_count</a:t>
            </a:r>
          </a:p>
        </p:txBody>
      </p:sp>
      <p:sp>
        <p:nvSpPr>
          <p:cNvPr id="21" name="S21"/>
          <p:cNvSpPr/>
          <p:nvPr/>
        </p:nvSpPr>
        <p:spPr>
          <a:xfrm>
            <a:off x="3962400" y="838200"/>
            <a:ext cx="3657600" cy="685800"/>
          </a:xfrm>
          <a:prstGeom prst="roundRect">
            <a:avLst>
              <a:gd name="adj" fmla="val 6000"/>
            </a:avLst>
          </a:prstGeom>
          <a:solidFill>
            <a:srgbClr val="4A4A4A"/>
          </a:solidFill>
          <a:ln>
            <a:noFill/>
          </a:ln>
        </p:spPr>
        <p:txBody>
          <a:bodyPr wrap="square" lIns="137160" rIns="91440" anchor="ctr"/>
          <a:lstStyle/>
          <a:p>
            <a:pPr>
              <a:buNone/>
            </a:pPr>
            <a:r>
              <a:rPr lang="ja-JP" sz="1100" dirty="0">
                <a:solidFill>
                  <a:srgbClr val="E0E0E0"/>
                </a:solidFill>
                <a:latin typeface="BIZ UDPゴシック"/>
                <a:ea typeface="BIZ UDPゴシック"/>
              </a:rPr>
              <a:t>Targetクラス数</a:t>
            </a:r>
          </a:p>
          <a:p>
            <a:pPr>
              <a:buNone/>
            </a:pPr>
            <a:r>
              <a:rPr lang="en-US" sz="2800" b="1" dirty="0">
                <a:solidFill>
                  <a:srgbClr val="FFFFFF"/>
                </a:solidFill>
                <a:latin typeface="BIZ UDPゴシック"/>
                <a:ea typeface="BIZ UDPゴシック"/>
              </a:rPr>
              <a:t>6</a:t>
            </a:r>
            <a:r>
              <a:rPr lang="ja-JP" sz="1000" dirty="0">
                <a:solidFill>
                  <a:srgbClr val="C8C8C8"/>
                </a:solidFill>
                <a:latin typeface="BIZ UDPゴシック"/>
                <a:ea typeface="BIZ UDPゴシック"/>
              </a:rPr>
              <a:t>  クラス 0〜5</a:t>
            </a:r>
          </a:p>
        </p:txBody>
      </p:sp>
      <p:sp>
        <p:nvSpPr>
          <p:cNvPr id="22" name="S22"/>
          <p:cNvSpPr/>
          <p:nvPr/>
        </p:nvSpPr>
        <p:spPr>
          <a:xfrm>
            <a:off x="7772400" y="838200"/>
            <a:ext cx="3657600" cy="685800"/>
          </a:xfrm>
          <a:prstGeom prst="roundRect">
            <a:avLst>
              <a:gd name="adj" fmla="val 6000"/>
            </a:avLst>
          </a:prstGeom>
          <a:solidFill>
            <a:srgbClr val="707070"/>
          </a:solidFill>
          <a:ln>
            <a:noFill/>
          </a:ln>
        </p:spPr>
        <p:txBody>
          <a:bodyPr wrap="square" lIns="137160" rIns="91440" anchor="ctr"/>
          <a:lstStyle/>
          <a:p>
            <a:pPr>
              <a:buNone/>
            </a:pPr>
            <a:r>
              <a:rPr lang="ja-JP" sz="1100" dirty="0">
                <a:solidFill>
                  <a:srgbClr val="E0E0E0"/>
                </a:solidFill>
                <a:latin typeface="BIZ UDPゴシック"/>
                <a:ea typeface="BIZ UDPゴシック"/>
              </a:rPr>
              <a:t>選択特徴量数</a:t>
            </a:r>
          </a:p>
          <a:p>
            <a:pPr>
              <a:buNone/>
            </a:pPr>
            <a:r>
              <a:rPr lang="en-US" sz="2800" b="1" dirty="0">
                <a:solidFill>
                  <a:srgbClr val="FFFFFF"/>
                </a:solidFill>
                <a:latin typeface="BIZ UDPゴシック"/>
                <a:ea typeface="BIZ UDPゴシック"/>
              </a:rPr>
              <a:t>14</a:t>
            </a:r>
            <a:r>
              <a:rPr lang="ja-JP" sz="1000" dirty="0">
                <a:solidFill>
                  <a:srgbClr val="C8C8C8"/>
                </a:solidFill>
                <a:latin typeface="BIZ UDPゴシック"/>
                <a:ea typeface="BIZ UDPゴシック"/>
              </a:rPr>
              <a:t>  feature_selection</a:t>
            </a:r>
          </a:p>
        </p:txBody>
      </p:sp>
      <p:sp>
        <p:nvSpPr>
          <p:cNvPr id="30" name="S30"/>
          <p:cNvSpPr/>
          <p:nvPr/>
        </p:nvSpPr>
        <p:spPr>
          <a:xfrm>
            <a:off x="152400" y="1676400"/>
            <a:ext cx="5486400" cy="381000"/>
          </a:xfrm>
          <a:prstGeom prst="rect">
            <a:avLst/>
          </a:prstGeom>
          <a:solidFill>
            <a:srgbClr val="F5F5F5"/>
          </a:solidFill>
          <a:ln>
            <a:noFill/>
          </a:ln>
        </p:spPr>
        <p:txBody>
          <a:bodyPr wrap="square" lIns="137160" anchor="ctr"/>
          <a:lstStyle/>
          <a:p>
            <a:pPr>
              <a:buNone/>
            </a:pPr>
            <a:r>
              <a:rPr lang="ja-JP" sz="1400" b="1" dirty="0">
                <a:solidFill>
                  <a:srgbClr val="8B2500"/>
                </a:solidFill>
                <a:latin typeface="BIZ UDPゴシック"/>
                <a:ea typeface="BIZ UDPゴシック"/>
              </a:rPr>
              <a:t>欠損データ</a:t>
            </a:r>
          </a:p>
        </p:txBody>
      </p:sp>
      <p:sp>
        <p:nvSpPr>
          <p:cNvPr id="31" name="S31"/>
          <p:cNvSpPr/>
          <p:nvPr/>
        </p:nvSpPr>
        <p:spPr>
          <a:xfrm>
            <a:off x="152400" y="2057400"/>
            <a:ext cx="5486400" cy="685800"/>
          </a:xfrm>
          <a:prstGeom prst="rect">
            <a:avLst/>
          </a:prstGeom>
          <a:noFill/>
          <a:ln w="12700">
            <a:solidFill>
              <a:srgbClr val="D0D0D0"/>
            </a:solidFill>
          </a:ln>
        </p:spPr>
        <p:txBody>
          <a:bodyPr wrap="square" lIns="137160" tIns="91440" anchor="t"/>
          <a:lstStyle/>
          <a:p>
            <a:pPr>
              <a:lnSpc>
                <a:spcPts val="1600"/>
              </a:lnSpc>
              <a:buFont typeface="Arial"/>
              <a:buChar char="▸"/>
            </a:pPr>
            <a:r>
              <a:rPr lang="ja-JP" sz="1200" dirty="0">
                <a:solidFill>
                  <a:srgbClr val="3D3D3D"/>
                </a:solidFill>
                <a:latin typeface="BIZ UDPゴシック"/>
                <a:ea typeface="BIZ UDPゴシック"/>
              </a:rPr>
              <a:t>Major: 112件（欠損率 ≒ 0.971%）</a:t>
            </a:r>
          </a:p>
          <a:p>
            <a:pPr>
              <a:lnSpc>
                <a:spcPts val="1600"/>
              </a:lnSpc>
              <a:buFont typeface="Arial"/>
              <a:buChar char="▸"/>
            </a:pPr>
            <a:r>
              <a:rPr lang="ja-JP" sz="1200" dirty="0">
                <a:solidFill>
                  <a:srgbClr val="3D3D3D"/>
                </a:solidFill>
                <a:latin typeface="BIZ UDPゴシック"/>
                <a:ea typeface="BIZ UDPゴシック"/>
              </a:rPr>
              <a:t>Experience: 55件（欠損率 ≒ 0.477%）</a:t>
            </a:r>
          </a:p>
          <a:p>
            <a:pPr>
              <a:lnSpc>
                <a:spcPts val="1600"/>
              </a:lnSpc>
              <a:buNone/>
            </a:pPr>
            <a:r>
              <a:rPr lang="ja-JP" sz="1100" dirty="0">
                <a:solidFill>
                  <a:srgbClr val="707070"/>
                </a:solidFill>
                <a:latin typeface="BIZ UDPゴシック"/>
                <a:ea typeface="BIZ UDPゴシック"/>
              </a:rPr>
              <a:t>→ カテゴリ化等で対応済</a:t>
            </a:r>
          </a:p>
        </p:txBody>
      </p:sp>
      <p:sp>
        <p:nvSpPr>
          <p:cNvPr id="40" name="S40"/>
          <p:cNvSpPr/>
          <p:nvPr/>
        </p:nvSpPr>
        <p:spPr>
          <a:xfrm>
            <a:off x="5943600" y="1676400"/>
            <a:ext cx="6096000" cy="381000"/>
          </a:xfrm>
          <a:prstGeom prst="rect">
            <a:avLst/>
          </a:prstGeom>
          <a:solidFill>
            <a:srgbClr val="F5F5F5"/>
          </a:solidFill>
          <a:ln>
            <a:noFill/>
          </a:ln>
        </p:spPr>
        <p:txBody>
          <a:bodyPr wrap="square" lIns="137160" anchor="ctr"/>
          <a:lstStyle/>
          <a:p>
            <a:pPr>
              <a:buNone/>
            </a:pPr>
            <a:r>
              <a:rPr lang="ja-JP" sz="1400" b="1" dirty="0">
                <a:solidFill>
                  <a:srgbClr val="8B2500"/>
                </a:solidFill>
                <a:latin typeface="BIZ UDPゴシック"/>
                <a:ea typeface="BIZ UDPゴシック"/>
              </a:rPr>
              <a:t>選択特徴量（14変数）</a:t>
            </a:r>
          </a:p>
        </p:txBody>
      </p:sp>
      <p:sp>
        <p:nvSpPr>
          <p:cNvPr id="50" name="S50"/>
          <p:cNvSpPr/>
          <p:nvPr/>
        </p:nvSpPr>
        <p:spPr>
          <a:xfrm>
            <a:off x="5943600" y="212598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Gender</a:t>
            </a:r>
          </a:p>
        </p:txBody>
      </p:sp>
      <p:sp>
        <p:nvSpPr>
          <p:cNvPr id="51" name="S51"/>
          <p:cNvSpPr/>
          <p:nvPr/>
        </p:nvSpPr>
        <p:spPr>
          <a:xfrm>
            <a:off x="7391400" y="213360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Age</a:t>
            </a:r>
          </a:p>
        </p:txBody>
      </p:sp>
      <p:sp>
        <p:nvSpPr>
          <p:cNvPr id="52" name="S52"/>
          <p:cNvSpPr/>
          <p:nvPr/>
        </p:nvSpPr>
        <p:spPr>
          <a:xfrm>
            <a:off x="8839200" y="213360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Country</a:t>
            </a:r>
          </a:p>
        </p:txBody>
      </p:sp>
      <p:sp>
        <p:nvSpPr>
          <p:cNvPr id="53" name="S53"/>
          <p:cNvSpPr/>
          <p:nvPr/>
        </p:nvSpPr>
        <p:spPr>
          <a:xfrm>
            <a:off x="5943600" y="248412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Education</a:t>
            </a:r>
          </a:p>
        </p:txBody>
      </p:sp>
      <p:sp>
        <p:nvSpPr>
          <p:cNvPr id="54" name="S54"/>
          <p:cNvSpPr/>
          <p:nvPr/>
        </p:nvSpPr>
        <p:spPr>
          <a:xfrm>
            <a:off x="7391400" y="248412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Major</a:t>
            </a:r>
          </a:p>
        </p:txBody>
      </p:sp>
      <p:sp>
        <p:nvSpPr>
          <p:cNvPr id="55" name="S55"/>
          <p:cNvSpPr/>
          <p:nvPr/>
        </p:nvSpPr>
        <p:spPr>
          <a:xfrm>
            <a:off x="8839200" y="248412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Profession</a:t>
            </a:r>
          </a:p>
        </p:txBody>
      </p:sp>
      <p:sp>
        <p:nvSpPr>
          <p:cNvPr id="56" name="S56"/>
          <p:cNvSpPr/>
          <p:nvPr/>
        </p:nvSpPr>
        <p:spPr>
          <a:xfrm>
            <a:off x="5943600" y="283464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Industry</a:t>
            </a:r>
          </a:p>
        </p:txBody>
      </p:sp>
      <p:sp>
        <p:nvSpPr>
          <p:cNvPr id="57" name="S57"/>
          <p:cNvSpPr/>
          <p:nvPr/>
        </p:nvSpPr>
        <p:spPr>
          <a:xfrm>
            <a:off x="7391400" y="2834640"/>
            <a:ext cx="1371600" cy="274320"/>
          </a:xfrm>
          <a:prstGeom prst="roundRect">
            <a:avLst>
              <a:gd name="adj" fmla="val 6000"/>
            </a:avLst>
          </a:prstGeom>
          <a:solidFill>
            <a:srgbClr val="4A4A4A"/>
          </a:solidFill>
          <a:ln>
            <a:noFill/>
          </a:ln>
        </p:spPr>
        <p:txBody>
          <a:bodyPr wrap="square" lIns="45720" rIns="45720" anchor="ctr"/>
          <a:lstStyle/>
          <a:p>
            <a:pPr algn="ctr">
              <a:buNone/>
            </a:pPr>
            <a:r>
              <a:rPr lang="en-US" sz="900" b="1" dirty="0">
                <a:solidFill>
                  <a:srgbClr val="FFFFFF"/>
                </a:solidFill>
                <a:latin typeface="BIZ UDPゴシック"/>
                <a:ea typeface="BIZ UDPゴシック"/>
              </a:rPr>
              <a:t>Experience</a:t>
            </a:r>
          </a:p>
        </p:txBody>
      </p:sp>
      <p:sp>
        <p:nvSpPr>
          <p:cNvPr id="58" name="S58"/>
          <p:cNvSpPr/>
          <p:nvPr/>
        </p:nvSpPr>
        <p:spPr>
          <a:xfrm>
            <a:off x="8839200" y="283464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Age_ord</a:t>
            </a:r>
          </a:p>
        </p:txBody>
      </p:sp>
      <p:sp>
        <p:nvSpPr>
          <p:cNvPr id="59" name="S59"/>
          <p:cNvSpPr/>
          <p:nvPr/>
        </p:nvSpPr>
        <p:spPr>
          <a:xfrm>
            <a:off x="5943600" y="318516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Exp_ord</a:t>
            </a:r>
          </a:p>
        </p:txBody>
      </p:sp>
      <p:sp>
        <p:nvSpPr>
          <p:cNvPr id="60" name="S60"/>
          <p:cNvSpPr/>
          <p:nvPr/>
        </p:nvSpPr>
        <p:spPr>
          <a:xfrm>
            <a:off x="7391400" y="318516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Edu_ord</a:t>
            </a:r>
          </a:p>
        </p:txBody>
      </p:sp>
      <p:sp>
        <p:nvSpPr>
          <p:cNvPr id="61" name="S61"/>
          <p:cNvSpPr/>
          <p:nvPr/>
        </p:nvSpPr>
        <p:spPr>
          <a:xfrm>
            <a:off x="8839200" y="318516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Age×Exp</a:t>
            </a:r>
          </a:p>
        </p:txBody>
      </p:sp>
      <p:sp>
        <p:nvSpPr>
          <p:cNvPr id="62" name="S62"/>
          <p:cNvSpPr/>
          <p:nvPr/>
        </p:nvSpPr>
        <p:spPr>
          <a:xfrm>
            <a:off x="5943600" y="353568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Age-Exp</a:t>
            </a:r>
          </a:p>
        </p:txBody>
      </p:sp>
      <p:sp>
        <p:nvSpPr>
          <p:cNvPr id="63" name="S63"/>
          <p:cNvSpPr/>
          <p:nvPr/>
        </p:nvSpPr>
        <p:spPr>
          <a:xfrm>
            <a:off x="7391400" y="3535680"/>
            <a:ext cx="1371600" cy="274320"/>
          </a:xfrm>
          <a:prstGeom prst="roundRect">
            <a:avLst>
              <a:gd name="adj" fmla="val 6000"/>
            </a:avLst>
          </a:prstGeom>
          <a:solidFill>
            <a:srgbClr val="8B2500"/>
          </a:solidFill>
          <a:ln>
            <a:noFill/>
          </a:ln>
        </p:spPr>
        <p:txBody>
          <a:bodyPr wrap="square" lIns="45720" rIns="45720" anchor="ctr"/>
          <a:lstStyle/>
          <a:p>
            <a:pPr algn="ctr">
              <a:buNone/>
            </a:pPr>
            <a:r>
              <a:rPr lang="en-US" sz="900" b="1" dirty="0">
                <a:solidFill>
                  <a:srgbClr val="FFFFFF"/>
                </a:solidFill>
                <a:latin typeface="BIZ UDPゴシック"/>
                <a:ea typeface="BIZ UDPゴシック"/>
              </a:rPr>
              <a:t>Edu×Exp</a:t>
            </a:r>
          </a:p>
        </p:txBody>
      </p:sp>
      <p:sp>
        <p:nvSpPr>
          <p:cNvPr id="70" name="S70"/>
          <p:cNvSpPr/>
          <p:nvPr/>
        </p:nvSpPr>
        <p:spPr>
          <a:xfrm>
            <a:off x="5943600" y="3886200"/>
            <a:ext cx="6096000" cy="304800"/>
          </a:xfrm>
          <a:prstGeom prst="rect">
            <a:avLst/>
          </a:prstGeom>
          <a:noFill/>
          <a:ln>
            <a:noFill/>
          </a:ln>
        </p:spPr>
        <p:txBody>
          <a:bodyPr wrap="square" lIns="137160" anchor="ctr"/>
          <a:lstStyle/>
          <a:p>
            <a:pPr>
              <a:buNone/>
            </a:pPr>
            <a:r>
              <a:rPr lang="ja-JP" sz="900" dirty="0">
                <a:solidFill>
                  <a:srgbClr val="4A4A4A"/>
                </a:solidFill>
                <a:latin typeface="BIZ UDPゴシック"/>
                <a:ea typeface="BIZ UDPゴシック"/>
              </a:rPr>
              <a:t>■ 原特徴量</a:t>
            </a:r>
            <a:r>
              <a:rPr lang="ja-JP" sz="900" dirty="0">
                <a:solidFill>
                  <a:srgbClr val="3D3D3D"/>
                </a:solidFill>
                <a:latin typeface="BIZ UDPゴシック"/>
                <a:ea typeface="BIZ UDPゴシック"/>
              </a:rPr>
              <a:t>    </a:t>
            </a:r>
            <a:r>
              <a:rPr lang="ja-JP" sz="900" dirty="0">
                <a:solidFill>
                  <a:srgbClr val="8B2500"/>
                </a:solidFill>
                <a:latin typeface="BIZ UDPゴシック"/>
                <a:ea typeface="BIZ UDPゴシック"/>
              </a:rPr>
              <a:t>■ エンジニアリング特徴量</a:t>
            </a:r>
          </a:p>
        </p:txBody>
      </p:sp>
      <p:sp>
        <p:nvSpPr>
          <p:cNvPr id="71" name="S71"/>
          <p:cNvSpPr/>
          <p:nvPr/>
        </p:nvSpPr>
        <p:spPr>
          <a:xfrm>
            <a:off x="152400" y="2895600"/>
            <a:ext cx="5486400" cy="381000"/>
          </a:xfrm>
          <a:prstGeom prst="rect">
            <a:avLst/>
          </a:prstGeom>
          <a:noFill/>
          <a:ln>
            <a:noFill/>
          </a:ln>
        </p:spPr>
        <p:txBody>
          <a:bodyPr wrap="square" lIns="137160" anchor="ctr"/>
          <a:lstStyle/>
          <a:p>
            <a:pPr>
              <a:buNone/>
            </a:pPr>
            <a:r>
              <a:rPr lang="ja-JP" sz="1100" dirty="0">
                <a:solidFill>
                  <a:srgbClr val="707070"/>
                </a:solidFill>
                <a:latin typeface="BIZ UDPゴシック"/>
                <a:ea typeface="BIZ UDPゴシック"/>
              </a:rPr>
              <a:t>除外列: id（identifier_like_name）</a:t>
            </a:r>
          </a:p>
        </p:txBody>
      </p:sp>
      <p:sp>
        <p:nvSpPr>
          <p:cNvPr id="2" name="テキスト ボックス 1">
            <a:extLst>
              <a:ext uri="{FF2B5EF4-FFF2-40B4-BE49-F238E27FC236}">
                <a16:creationId xmlns:a16="http://schemas.microsoft.com/office/drawing/2014/main" id="{251511ED-D5CD-413C-83A4-FE996DF5CED2}"/>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4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659991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DE1B666-361B-4BAB-A825-D2F2D7BEA923}"/>
              </a:ext>
            </a:extLst>
          </p:cNvPr>
          <p:cNvSpPr/>
          <p:nvPr/>
        </p:nvSpPr>
        <p:spPr>
          <a:xfrm>
            <a:off x="152400" y="152400"/>
            <a:ext cx="11887200" cy="53340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altLang="ja-JP" sz="2400" b="1">
                <a:solidFill>
                  <a:srgbClr val="FFFFFF"/>
                </a:solidFill>
                <a:latin typeface="BIZ UDPゴシック"/>
                <a:ea typeface="BIZ UDPゴシック"/>
              </a:rPr>
              <a:t>4. </a:t>
            </a:r>
            <a:r>
              <a:rPr lang="ja-JP" altLang="en-US" sz="2400" b="1">
                <a:solidFill>
                  <a:srgbClr val="FFFFFF"/>
                </a:solidFill>
                <a:latin typeface="BIZ UDPゴシック"/>
                <a:ea typeface="BIZ UDPゴシック"/>
              </a:rPr>
              <a:t>主要な分析結果 </a:t>
            </a:r>
            <a:r>
              <a:rPr lang="en-US" altLang="ja-JP" sz="2400" b="1">
                <a:solidFill>
                  <a:srgbClr val="FFFFFF"/>
                </a:solidFill>
                <a:latin typeface="BIZ UDPゴシック"/>
                <a:ea typeface="BIZ UDPゴシック"/>
              </a:rPr>
              <a:t>— </a:t>
            </a:r>
            <a:r>
              <a:rPr lang="ja-JP" altLang="en-US" sz="2400" b="1">
                <a:solidFill>
                  <a:srgbClr val="FFFFFF"/>
                </a:solidFill>
                <a:latin typeface="BIZ UDPゴシック"/>
                <a:ea typeface="BIZ UDPゴシック"/>
              </a:rPr>
              <a:t>モデル性能比較</a:t>
            </a:r>
          </a:p>
        </p:txBody>
      </p:sp>
      <p:graphicFrame>
        <p:nvGraphicFramePr>
          <p:cNvPr id="4" name="表 3">
            <a:extLst>
              <a:ext uri="{FF2B5EF4-FFF2-40B4-BE49-F238E27FC236}">
                <a16:creationId xmlns:a16="http://schemas.microsoft.com/office/drawing/2014/main" id="{13A9308F-2656-4061-97CA-43AC60D2856C}"/>
              </a:ext>
            </a:extLst>
          </p:cNvPr>
          <p:cNvGraphicFramePr>
            <a:graphicFrameLocks noGrp="1"/>
          </p:cNvGraphicFramePr>
          <p:nvPr>
            <p:extLst>
              <p:ext uri="{D42A27DB-BD31-4B8C-83A1-F6EECF244321}">
                <p14:modId xmlns:p14="http://schemas.microsoft.com/office/powerpoint/2010/main" val="4246511044"/>
              </p:ext>
            </p:extLst>
          </p:nvPr>
        </p:nvGraphicFramePr>
        <p:xfrm>
          <a:off x="152400" y="889000"/>
          <a:ext cx="6731000" cy="3441336"/>
        </p:xfrm>
        <a:graphic>
          <a:graphicData uri="http://schemas.openxmlformats.org/drawingml/2006/table">
            <a:tbl>
              <a:tblPr firstRow="1" bandRow="1">
                <a:tableStyleId>{5C22544A-7EE6-4342-B048-85BDC9FD1C3A}</a:tableStyleId>
              </a:tblPr>
              <a:tblGrid>
                <a:gridCol w="1682750">
                  <a:extLst>
                    <a:ext uri="{9D8B030D-6E8A-4147-A177-3AD203B41FA5}">
                      <a16:colId xmlns:a16="http://schemas.microsoft.com/office/drawing/2014/main" val="1415955460"/>
                    </a:ext>
                  </a:extLst>
                </a:gridCol>
                <a:gridCol w="1682750">
                  <a:extLst>
                    <a:ext uri="{9D8B030D-6E8A-4147-A177-3AD203B41FA5}">
                      <a16:colId xmlns:a16="http://schemas.microsoft.com/office/drawing/2014/main" val="3256707432"/>
                    </a:ext>
                  </a:extLst>
                </a:gridCol>
                <a:gridCol w="1682750">
                  <a:extLst>
                    <a:ext uri="{9D8B030D-6E8A-4147-A177-3AD203B41FA5}">
                      <a16:colId xmlns:a16="http://schemas.microsoft.com/office/drawing/2014/main" val="1796764804"/>
                    </a:ext>
                  </a:extLst>
                </a:gridCol>
                <a:gridCol w="1682750">
                  <a:extLst>
                    <a:ext uri="{9D8B030D-6E8A-4147-A177-3AD203B41FA5}">
                      <a16:colId xmlns:a16="http://schemas.microsoft.com/office/drawing/2014/main" val="2227743405"/>
                    </a:ext>
                  </a:extLst>
                </a:gridCol>
              </a:tblGrid>
              <a:tr h="471714">
                <a:tc>
                  <a:txBody>
                    <a:bodyPr/>
                    <a:lstStyle/>
                    <a:p>
                      <a:pPr algn="ctr"/>
                      <a:r>
                        <a:rPr lang="ja-JP" altLang="en-US" sz="1400" b="1">
                          <a:solidFill>
                            <a:srgbClr val="FFFFFF"/>
                          </a:solidFill>
                          <a:latin typeface="BIZ UDPゴシック"/>
                          <a:ea typeface="BIZ UDPゴシック"/>
                        </a:rPr>
                        <a:t>順位</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モデルタイプ</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Macro F1</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Accuracy</a:t>
                      </a:r>
                    </a:p>
                  </a:txBody>
                  <a:tcPr anchor="ctr">
                    <a:solidFill>
                      <a:srgbClr val="8B2500"/>
                    </a:solidFill>
                  </a:tcPr>
                </a:tc>
                <a:extLst>
                  <a:ext uri="{0D108BD9-81ED-4DB2-BD59-A6C34878D82A}">
                    <a16:rowId xmlns:a16="http://schemas.microsoft.com/office/drawing/2014/main" val="2450154649"/>
                  </a:ext>
                </a:extLst>
              </a:tr>
              <a:tr h="471714">
                <a:tc>
                  <a:txBody>
                    <a:bodyPr/>
                    <a:lstStyle/>
                    <a:p>
                      <a:pPr algn="ctr"/>
                      <a:r>
                        <a:rPr lang="ja-JP" altLang="en-US" sz="1400" b="1">
                          <a:latin typeface="BIZ UDPゴシック"/>
                          <a:ea typeface="BIZ UDPゴシック"/>
                        </a:rPr>
                        <a:t>1</a:t>
                      </a:r>
                    </a:p>
                  </a:txBody>
                  <a:tcPr anchor="ctr">
                    <a:solidFill>
                      <a:srgbClr val="FFF5F0"/>
                    </a:solidFill>
                  </a:tcPr>
                </a:tc>
                <a:tc>
                  <a:txBody>
                    <a:bodyPr/>
                    <a:lstStyle/>
                    <a:p>
                      <a:pPr algn="l"/>
                      <a:r>
                        <a:rPr lang="ja-JP" altLang="en-US" sz="1400" b="1">
                          <a:latin typeface="BIZ UDPゴシック"/>
                          <a:ea typeface="BIZ UDPゴシック"/>
                        </a:rPr>
                        <a:t>hist_gradient_boosting</a:t>
                      </a:r>
                    </a:p>
                  </a:txBody>
                  <a:tcPr anchor="ctr">
                    <a:solidFill>
                      <a:srgbClr val="FFF5F0"/>
                    </a:solidFill>
                  </a:tcPr>
                </a:tc>
                <a:tc>
                  <a:txBody>
                    <a:bodyPr/>
                    <a:lstStyle/>
                    <a:p>
                      <a:pPr algn="ctr"/>
                      <a:r>
                        <a:rPr lang="ja-JP" altLang="en-US" sz="1400" b="1">
                          <a:latin typeface="BIZ UDPゴシック"/>
                          <a:ea typeface="BIZ UDPゴシック"/>
                        </a:rPr>
                        <a:t>0.4736</a:t>
                      </a:r>
                    </a:p>
                  </a:txBody>
                  <a:tcPr anchor="ctr">
                    <a:solidFill>
                      <a:srgbClr val="FFF5F0"/>
                    </a:solidFill>
                  </a:tcPr>
                </a:tc>
                <a:tc>
                  <a:txBody>
                    <a:bodyPr/>
                    <a:lstStyle/>
                    <a:p>
                      <a:pPr algn="ctr"/>
                      <a:r>
                        <a:rPr lang="ja-JP" altLang="en-US" sz="1400" b="1">
                          <a:latin typeface="BIZ UDPゴシック"/>
                          <a:ea typeface="BIZ UDPゴシック"/>
                        </a:rPr>
                        <a:t>0.5104</a:t>
                      </a:r>
                    </a:p>
                  </a:txBody>
                  <a:tcPr anchor="ctr">
                    <a:solidFill>
                      <a:srgbClr val="FFF5F0"/>
                    </a:solidFill>
                  </a:tcPr>
                </a:tc>
                <a:extLst>
                  <a:ext uri="{0D108BD9-81ED-4DB2-BD59-A6C34878D82A}">
                    <a16:rowId xmlns:a16="http://schemas.microsoft.com/office/drawing/2014/main" val="638347591"/>
                  </a:ext>
                </a:extLst>
              </a:tr>
              <a:tr h="471714">
                <a:tc>
                  <a:txBody>
                    <a:bodyPr/>
                    <a:lstStyle/>
                    <a:p>
                      <a:pPr algn="ctr"/>
                      <a:r>
                        <a:rPr lang="ja-JP" altLang="en-US" sz="1400">
                          <a:latin typeface="BIZ UDPゴシック"/>
                          <a:ea typeface="BIZ UDPゴシック"/>
                        </a:rPr>
                        <a:t>2</a:t>
                      </a:r>
                    </a:p>
                  </a:txBody>
                  <a:tcPr anchor="ctr">
                    <a:solidFill>
                      <a:srgbClr val="F8F8F8"/>
                    </a:solidFill>
                  </a:tcPr>
                </a:tc>
                <a:tc>
                  <a:txBody>
                    <a:bodyPr/>
                    <a:lstStyle/>
                    <a:p>
                      <a:pPr algn="l"/>
                      <a:r>
                        <a:rPr lang="ja-JP" altLang="en-US" sz="1400">
                          <a:latin typeface="BIZ UDPゴシック"/>
                          <a:ea typeface="BIZ UDPゴシック"/>
                        </a:rPr>
                        <a:t>hist_gradient_boosting</a:t>
                      </a:r>
                    </a:p>
                  </a:txBody>
                  <a:tcPr anchor="ctr">
                    <a:solidFill>
                      <a:srgbClr val="F8F8F8"/>
                    </a:solidFill>
                  </a:tcPr>
                </a:tc>
                <a:tc>
                  <a:txBody>
                    <a:bodyPr/>
                    <a:lstStyle/>
                    <a:p>
                      <a:pPr algn="ctr"/>
                      <a:r>
                        <a:rPr lang="ja-JP" altLang="en-US" sz="1400">
                          <a:latin typeface="BIZ UDPゴシック"/>
                          <a:ea typeface="BIZ UDPゴシック"/>
                        </a:rPr>
                        <a:t>0.4731</a:t>
                      </a:r>
                    </a:p>
                  </a:txBody>
                  <a:tcPr anchor="ctr">
                    <a:solidFill>
                      <a:srgbClr val="F8F8F8"/>
                    </a:solidFill>
                  </a:tcPr>
                </a:tc>
                <a:tc>
                  <a:txBody>
                    <a:bodyPr/>
                    <a:lstStyle/>
                    <a:p>
                      <a:pPr algn="ctr"/>
                      <a:r>
                        <a:rPr lang="ja-JP" altLang="en-US" sz="1400">
                          <a:latin typeface="BIZ UDPゴシック"/>
                          <a:ea typeface="BIZ UDPゴシック"/>
                        </a:rPr>
                        <a:t>0.5082</a:t>
                      </a:r>
                    </a:p>
                  </a:txBody>
                  <a:tcPr anchor="ctr">
                    <a:solidFill>
                      <a:srgbClr val="F8F8F8"/>
                    </a:solidFill>
                  </a:tcPr>
                </a:tc>
                <a:extLst>
                  <a:ext uri="{0D108BD9-81ED-4DB2-BD59-A6C34878D82A}">
                    <a16:rowId xmlns:a16="http://schemas.microsoft.com/office/drawing/2014/main" val="289979615"/>
                  </a:ext>
                </a:extLst>
              </a:tr>
              <a:tr h="471714">
                <a:tc>
                  <a:txBody>
                    <a:bodyPr/>
                    <a:lstStyle/>
                    <a:p>
                      <a:pPr algn="ctr"/>
                      <a:r>
                        <a:rPr lang="ja-JP" altLang="en-US" sz="1400">
                          <a:latin typeface="BIZ UDPゴシック"/>
                          <a:ea typeface="BIZ UDPゴシック"/>
                        </a:rPr>
                        <a:t>3</a:t>
                      </a:r>
                    </a:p>
                  </a:txBody>
                  <a:tcPr anchor="ctr">
                    <a:solidFill>
                      <a:srgbClr val="FFFFFF"/>
                    </a:solidFill>
                  </a:tcPr>
                </a:tc>
                <a:tc>
                  <a:txBody>
                    <a:bodyPr/>
                    <a:lstStyle/>
                    <a:p>
                      <a:pPr algn="l"/>
                      <a:r>
                        <a:rPr lang="ja-JP" altLang="en-US" sz="1400">
                          <a:latin typeface="BIZ UDPゴシック"/>
                          <a:ea typeface="BIZ UDPゴシック"/>
                        </a:rPr>
                        <a:t>random_forest</a:t>
                      </a:r>
                    </a:p>
                  </a:txBody>
                  <a:tcPr anchor="ctr">
                    <a:solidFill>
                      <a:srgbClr val="FFFFFF"/>
                    </a:solidFill>
                  </a:tcPr>
                </a:tc>
                <a:tc>
                  <a:txBody>
                    <a:bodyPr/>
                    <a:lstStyle/>
                    <a:p>
                      <a:pPr algn="ctr"/>
                      <a:r>
                        <a:rPr lang="ja-JP" altLang="en-US" sz="1400">
                          <a:latin typeface="BIZ UDPゴシック"/>
                          <a:ea typeface="BIZ UDPゴシック"/>
                        </a:rPr>
                        <a:t>0.4648</a:t>
                      </a:r>
                    </a:p>
                  </a:txBody>
                  <a:tcPr anchor="ctr">
                    <a:solidFill>
                      <a:srgbClr val="FFFFFF"/>
                    </a:solidFill>
                  </a:tcPr>
                </a:tc>
                <a:tc>
                  <a:txBody>
                    <a:bodyPr/>
                    <a:lstStyle/>
                    <a:p>
                      <a:pPr algn="ctr"/>
                      <a:r>
                        <a:rPr lang="ja-JP" altLang="en-US" sz="1400">
                          <a:latin typeface="BIZ UDPゴシック"/>
                          <a:ea typeface="BIZ UDPゴシック"/>
                        </a:rPr>
                        <a:t>0.4879</a:t>
                      </a:r>
                    </a:p>
                  </a:txBody>
                  <a:tcPr anchor="ctr">
                    <a:solidFill>
                      <a:srgbClr val="FFFFFF"/>
                    </a:solidFill>
                  </a:tcPr>
                </a:tc>
                <a:extLst>
                  <a:ext uri="{0D108BD9-81ED-4DB2-BD59-A6C34878D82A}">
                    <a16:rowId xmlns:a16="http://schemas.microsoft.com/office/drawing/2014/main" val="878022871"/>
                  </a:ext>
                </a:extLst>
              </a:tr>
              <a:tr h="471714">
                <a:tc>
                  <a:txBody>
                    <a:bodyPr/>
                    <a:lstStyle/>
                    <a:p>
                      <a:pPr algn="ctr"/>
                      <a:r>
                        <a:rPr lang="ja-JP" altLang="en-US" sz="1400">
                          <a:latin typeface="BIZ UDPゴシック"/>
                          <a:ea typeface="BIZ UDPゴシック"/>
                        </a:rPr>
                        <a:t>4</a:t>
                      </a:r>
                    </a:p>
                  </a:txBody>
                  <a:tcPr anchor="ctr">
                    <a:solidFill>
                      <a:srgbClr val="F8F8F8"/>
                    </a:solidFill>
                  </a:tcPr>
                </a:tc>
                <a:tc>
                  <a:txBody>
                    <a:bodyPr/>
                    <a:lstStyle/>
                    <a:p>
                      <a:pPr algn="l"/>
                      <a:r>
                        <a:rPr lang="ja-JP" altLang="en-US" sz="1400">
                          <a:latin typeface="BIZ UDPゴシック"/>
                          <a:ea typeface="BIZ UDPゴシック"/>
                        </a:rPr>
                        <a:t>hist_gradient_boosting</a:t>
                      </a:r>
                    </a:p>
                  </a:txBody>
                  <a:tcPr anchor="ctr">
                    <a:solidFill>
                      <a:srgbClr val="F8F8F8"/>
                    </a:solidFill>
                  </a:tcPr>
                </a:tc>
                <a:tc>
                  <a:txBody>
                    <a:bodyPr/>
                    <a:lstStyle/>
                    <a:p>
                      <a:pPr algn="ctr"/>
                      <a:r>
                        <a:rPr lang="ja-JP" altLang="en-US" sz="1400">
                          <a:latin typeface="BIZ UDPゴシック"/>
                          <a:ea typeface="BIZ UDPゴシック"/>
                        </a:rPr>
                        <a:t>0.4607</a:t>
                      </a:r>
                    </a:p>
                  </a:txBody>
                  <a:tcPr anchor="ctr">
                    <a:solidFill>
                      <a:srgbClr val="F8F8F8"/>
                    </a:solidFill>
                  </a:tcPr>
                </a:tc>
                <a:tc>
                  <a:txBody>
                    <a:bodyPr/>
                    <a:lstStyle/>
                    <a:p>
                      <a:pPr algn="ctr"/>
                      <a:r>
                        <a:rPr lang="ja-JP" altLang="en-US" sz="1400">
                          <a:latin typeface="BIZ UDPゴシック"/>
                          <a:ea typeface="BIZ UDPゴシック"/>
                        </a:rPr>
                        <a:t>0.4996</a:t>
                      </a:r>
                    </a:p>
                  </a:txBody>
                  <a:tcPr anchor="ctr">
                    <a:solidFill>
                      <a:srgbClr val="F8F8F8"/>
                    </a:solidFill>
                  </a:tcPr>
                </a:tc>
                <a:extLst>
                  <a:ext uri="{0D108BD9-81ED-4DB2-BD59-A6C34878D82A}">
                    <a16:rowId xmlns:a16="http://schemas.microsoft.com/office/drawing/2014/main" val="2894053074"/>
                  </a:ext>
                </a:extLst>
              </a:tr>
              <a:tr h="471714">
                <a:tc>
                  <a:txBody>
                    <a:bodyPr/>
                    <a:lstStyle/>
                    <a:p>
                      <a:pPr algn="ctr"/>
                      <a:r>
                        <a:rPr lang="ja-JP" altLang="en-US" sz="1400">
                          <a:latin typeface="BIZ UDPゴシック"/>
                          <a:ea typeface="BIZ UDPゴシック"/>
                        </a:rPr>
                        <a:t>5</a:t>
                      </a:r>
                    </a:p>
                  </a:txBody>
                  <a:tcPr anchor="ctr">
                    <a:solidFill>
                      <a:srgbClr val="FFFFFF"/>
                    </a:solidFill>
                  </a:tcPr>
                </a:tc>
                <a:tc>
                  <a:txBody>
                    <a:bodyPr/>
                    <a:lstStyle/>
                    <a:p>
                      <a:pPr algn="l"/>
                      <a:r>
                        <a:rPr lang="ja-JP" altLang="en-US" sz="1400">
                          <a:latin typeface="BIZ UDPゴシック"/>
                          <a:ea typeface="BIZ UDPゴシック"/>
                        </a:rPr>
                        <a:t>linear_baseline</a:t>
                      </a:r>
                    </a:p>
                  </a:txBody>
                  <a:tcPr anchor="ctr">
                    <a:solidFill>
                      <a:srgbClr val="FFFFFF"/>
                    </a:solidFill>
                  </a:tcPr>
                </a:tc>
                <a:tc>
                  <a:txBody>
                    <a:bodyPr/>
                    <a:lstStyle/>
                    <a:p>
                      <a:pPr algn="ctr"/>
                      <a:r>
                        <a:rPr lang="ja-JP" altLang="en-US" sz="1400">
                          <a:latin typeface="BIZ UDPゴシック"/>
                          <a:ea typeface="BIZ UDPゴシック"/>
                        </a:rPr>
                        <a:t>0.4493</a:t>
                      </a:r>
                    </a:p>
                  </a:txBody>
                  <a:tcPr anchor="ctr">
                    <a:solidFill>
                      <a:srgbClr val="FFFFFF"/>
                    </a:solidFill>
                  </a:tcPr>
                </a:tc>
                <a:tc>
                  <a:txBody>
                    <a:bodyPr/>
                    <a:lstStyle/>
                    <a:p>
                      <a:pPr algn="ctr"/>
                      <a:r>
                        <a:rPr lang="ja-JP" altLang="en-US" sz="1400">
                          <a:latin typeface="BIZ UDPゴシック"/>
                          <a:ea typeface="BIZ UDPゴシック"/>
                        </a:rPr>
                        <a:t>0.4731</a:t>
                      </a:r>
                    </a:p>
                  </a:txBody>
                  <a:tcPr anchor="ctr">
                    <a:solidFill>
                      <a:srgbClr val="FFFFFF"/>
                    </a:solidFill>
                  </a:tcPr>
                </a:tc>
                <a:extLst>
                  <a:ext uri="{0D108BD9-81ED-4DB2-BD59-A6C34878D82A}">
                    <a16:rowId xmlns:a16="http://schemas.microsoft.com/office/drawing/2014/main" val="767050155"/>
                  </a:ext>
                </a:extLst>
              </a:tr>
              <a:tr h="471714">
                <a:tc>
                  <a:txBody>
                    <a:bodyPr/>
                    <a:lstStyle/>
                    <a:p>
                      <a:pPr algn="ctr"/>
                      <a:r>
                        <a:rPr lang="ja-JP" altLang="en-US" sz="1400">
                          <a:latin typeface="BIZ UDPゴシック"/>
                          <a:ea typeface="BIZ UDPゴシック"/>
                        </a:rPr>
                        <a:t>6</a:t>
                      </a:r>
                    </a:p>
                  </a:txBody>
                  <a:tcPr anchor="ctr">
                    <a:solidFill>
                      <a:srgbClr val="F8F8F8"/>
                    </a:solidFill>
                  </a:tcPr>
                </a:tc>
                <a:tc>
                  <a:txBody>
                    <a:bodyPr/>
                    <a:lstStyle/>
                    <a:p>
                      <a:pPr algn="l"/>
                      <a:r>
                        <a:rPr lang="ja-JP" altLang="en-US" sz="1400">
                          <a:latin typeface="BIZ UDPゴシック"/>
                          <a:ea typeface="BIZ UDPゴシック"/>
                        </a:rPr>
                        <a:t>linear_baseline</a:t>
                      </a:r>
                    </a:p>
                  </a:txBody>
                  <a:tcPr anchor="ctr">
                    <a:solidFill>
                      <a:srgbClr val="F8F8F8"/>
                    </a:solidFill>
                  </a:tcPr>
                </a:tc>
                <a:tc>
                  <a:txBody>
                    <a:bodyPr/>
                    <a:lstStyle/>
                    <a:p>
                      <a:pPr algn="ctr"/>
                      <a:r>
                        <a:rPr lang="ja-JP" altLang="en-US" sz="1400">
                          <a:latin typeface="BIZ UDPゴシック"/>
                          <a:ea typeface="BIZ UDPゴシック"/>
                        </a:rPr>
                        <a:t>0.4488</a:t>
                      </a:r>
                    </a:p>
                  </a:txBody>
                  <a:tcPr anchor="ctr">
                    <a:solidFill>
                      <a:srgbClr val="F8F8F8"/>
                    </a:solidFill>
                  </a:tcPr>
                </a:tc>
                <a:tc>
                  <a:txBody>
                    <a:bodyPr/>
                    <a:lstStyle/>
                    <a:p>
                      <a:pPr algn="ctr"/>
                      <a:r>
                        <a:rPr lang="ja-JP" altLang="en-US" sz="1400">
                          <a:latin typeface="BIZ UDPゴシック"/>
                          <a:ea typeface="BIZ UDPゴシック"/>
                        </a:rPr>
                        <a:t>0.4722</a:t>
                      </a:r>
                    </a:p>
                  </a:txBody>
                  <a:tcPr anchor="ctr">
                    <a:solidFill>
                      <a:srgbClr val="F8F8F8"/>
                    </a:solidFill>
                  </a:tcPr>
                </a:tc>
                <a:extLst>
                  <a:ext uri="{0D108BD9-81ED-4DB2-BD59-A6C34878D82A}">
                    <a16:rowId xmlns:a16="http://schemas.microsoft.com/office/drawing/2014/main" val="3439791090"/>
                  </a:ext>
                </a:extLst>
              </a:tr>
            </a:tbl>
          </a:graphicData>
        </a:graphic>
      </p:graphicFrame>
      <p:sp>
        <p:nvSpPr>
          <p:cNvPr id="200" name="Note"/>
          <p:cNvSpPr/>
          <p:nvPr/>
        </p:nvSpPr>
        <p:spPr>
          <a:xfrm>
            <a:off x="457200" y="4343400"/>
            <a:ext cx="11277600" cy="762000"/>
          </a:xfrm>
          <a:prstGeom prst="roundRect">
            <a:avLst>
              <a:gd name="adj" fmla="val 6000"/>
            </a:avLst>
          </a:prstGeom>
          <a:solidFill>
            <a:srgbClr val="F5F5F5"/>
          </a:solidFill>
          <a:ln w="12700">
            <a:solidFill>
              <a:srgbClr val="D0D0D0"/>
            </a:solidFill>
          </a:ln>
        </p:spPr>
        <p:txBody>
          <a:bodyPr wrap="square" lIns="137160" rIns="137160" anchor="ctr"/>
          <a:lstStyle/>
          <a:p>
            <a:pPr>
              <a:lnSpc>
                <a:spcPts val="1500"/>
              </a:lnSpc>
              <a:buNone/>
            </a:pPr>
            <a:r>
              <a:rPr lang="ja-JP" sz="1100" b="1" dirty="0">
                <a:solidFill>
                  <a:srgbClr val="8B2500"/>
                </a:solidFill>
                <a:latin typeface="BIZ UDPゴシック"/>
                <a:ea typeface="BIZ UDPゴシック"/>
              </a:rPr>
              <a:t>中間試行の推移: </a:t>
            </a:r>
            <a:r>
              <a:rPr lang="ja-JP" sz="1100" dirty="0">
                <a:solidFill>
                  <a:srgbClr val="3D3D3D"/>
                </a:solidFill>
                <a:latin typeface="BIZ UDPゴシック"/>
                <a:ea typeface="BIZ UDPゴシック"/>
              </a:rPr>
              <a:t>線形ベースライン(T01: F1=0.309) → 順序情報導入(T03: F1=0.449) → 非線形モデル(最終: F1=0.474)</a:t>
            </a:r>
          </a:p>
          <a:p>
            <a:pPr>
              <a:lnSpc>
                <a:spcPts val="1500"/>
              </a:lnSpc>
              <a:buNone/>
            </a:pPr>
            <a:r>
              <a:rPr lang="ja-JP" sz="1100" b="1" dirty="0">
                <a:solidFill>
                  <a:srgbClr val="8B2500"/>
                </a:solidFill>
                <a:latin typeface="BIZ UDPゴシック"/>
                <a:ea typeface="BIZ UDPゴシック"/>
              </a:rPr>
              <a:t>過学習の状況: </a:t>
            </a:r>
            <a:r>
              <a:rPr lang="ja-JP" sz="1100" dirty="0">
                <a:solidFill>
                  <a:srgbClr val="3D3D3D"/>
                </a:solidFill>
                <a:latin typeface="BIZ UDPゴシック"/>
                <a:ea typeface="BIZ UDPゴシック"/>
              </a:rPr>
              <a:t>Train F1≈0.645 vs Val F1≈0.620 — テストでの低下は限定的だが過学習リスクに注意</a:t>
            </a:r>
          </a:p>
        </p:txBody>
      </p:sp>
      <p:graphicFrame>
        <p:nvGraphicFramePr>
          <p:cNvPr id="101" name="Chart 1"/>
          <p:cNvGraphicFramePr/>
          <p:nvPr>
            <p:extLst>
              <p:ext uri="{D42A27DB-BD31-4B8C-83A1-F6EECF244321}">
                <p14:modId xmlns:p14="http://schemas.microsoft.com/office/powerpoint/2010/main" val="3214586054"/>
              </p:ext>
            </p:extLst>
          </p:nvPr>
        </p:nvGraphicFramePr>
        <p:xfrm>
          <a:off x="6908800" y="762000"/>
          <a:ext cx="513080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3" name="テキスト ボックス 2">
            <a:extLst>
              <a:ext uri="{FF2B5EF4-FFF2-40B4-BE49-F238E27FC236}">
                <a16:creationId xmlns:a16="http://schemas.microsoft.com/office/drawing/2014/main" id="{9FAE190B-CE95-4443-8EB5-F061AEA66611}"/>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5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43192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4. 主要な分析結果 — 解釈・公平性・制約</a:t>
            </a:r>
          </a:p>
        </p:txBody>
      </p:sp>
      <p:sp>
        <p:nvSpPr>
          <p:cNvPr id="20" name="S20"/>
          <p:cNvSpPr/>
          <p:nvPr/>
        </p:nvSpPr>
        <p:spPr>
          <a:xfrm>
            <a:off x="152400" y="838200"/>
            <a:ext cx="3810000" cy="381000"/>
          </a:xfrm>
          <a:prstGeom prst="rect">
            <a:avLst/>
          </a:prstGeom>
          <a:solidFill>
            <a:srgbClr val="8B2500"/>
          </a:solidFill>
          <a:ln>
            <a:noFill/>
          </a:ln>
        </p:spPr>
        <p:txBody>
          <a:bodyPr wrap="square" lIns="137160" anchor="ctr"/>
          <a:lstStyle/>
          <a:p>
            <a:pPr>
              <a:buNone/>
            </a:pPr>
            <a:r>
              <a:rPr lang="ja-JP" sz="1400" b="1" dirty="0">
                <a:solidFill>
                  <a:srgbClr val="FFFFFF"/>
                </a:solidFill>
                <a:latin typeface="BIZ UDPゴシック"/>
                <a:ea typeface="BIZ UDPゴシック"/>
              </a:rPr>
              <a:t>分析的所見</a:t>
            </a:r>
          </a:p>
        </p:txBody>
      </p:sp>
      <p:sp>
        <p:nvSpPr>
          <p:cNvPr id="21" name="S21"/>
          <p:cNvSpPr/>
          <p:nvPr/>
        </p:nvSpPr>
        <p:spPr>
          <a:xfrm>
            <a:off x="152400" y="1219200"/>
            <a:ext cx="3810000" cy="2895600"/>
          </a:xfrm>
          <a:prstGeom prst="rect">
            <a:avLst/>
          </a:prstGeom>
          <a:solidFill>
            <a:srgbClr val="F5F5F5"/>
          </a:solidFill>
          <a:ln w="12700">
            <a:solidFill>
              <a:srgbClr val="D0D0D0"/>
            </a:solidFill>
          </a:ln>
        </p:spPr>
        <p:txBody>
          <a:bodyPr wrap="square" lIns="137160" tIns="91440" rIns="91440" anchor="t"/>
          <a:lstStyle/>
          <a:p>
            <a:pPr>
              <a:lnSpc>
                <a:spcPts val="1400"/>
              </a:lnSpc>
              <a:spcAft>
                <a:spcPts val="400"/>
              </a:spcAft>
              <a:buFont typeface="Arial"/>
              <a:buChar char="●"/>
            </a:pPr>
            <a:r>
              <a:rPr lang="ja-JP" sz="1050" dirty="0">
                <a:solidFill>
                  <a:srgbClr val="3D3D3D"/>
                </a:solidFill>
                <a:latin typeface="BIZ UDPゴシック"/>
                <a:ea typeface="BIZ UDPゴシック"/>
              </a:rPr>
              <a:t>年齢・経験・学歴（順序性特徴）はtargetの予測に有用である傾向があり、ordered featuresの利用が性能向上に寄与している</a:t>
            </a:r>
          </a:p>
          <a:p>
            <a:pPr>
              <a:lnSpc>
                <a:spcPts val="1400"/>
              </a:lnSpc>
              <a:spcAft>
                <a:spcPts val="400"/>
              </a:spcAft>
              <a:buFont typeface="Arial"/>
              <a:buChar char="●"/>
            </a:pPr>
            <a:r>
              <a:rPr lang="ja-JP" sz="1050" dirty="0">
                <a:solidFill>
                  <a:srgbClr val="3D3D3D"/>
                </a:solidFill>
                <a:latin typeface="BIZ UDPゴシック"/>
                <a:ea typeface="BIZ UDPゴシック"/>
              </a:rPr>
              <a:t>Country、Profession、Industry等のカテゴリは長尾分布があり、長尾カテゴリの集約ルール（min_count=20）が実運用上の安定化に寄与</a:t>
            </a:r>
          </a:p>
          <a:p>
            <a:pPr>
              <a:lnSpc>
                <a:spcPts val="1400"/>
              </a:lnSpc>
              <a:spcAft>
                <a:spcPts val="400"/>
              </a:spcAft>
              <a:buFont typeface="Arial"/>
              <a:buChar char="●"/>
            </a:pPr>
            <a:r>
              <a:rPr lang="ja-JP" sz="1050" dirty="0">
                <a:solidFill>
                  <a:srgbClr val="3D3D3D"/>
                </a:solidFill>
                <a:latin typeface="BIZ UDPゴシック"/>
                <a:ea typeface="BIZ UDPゴシック"/>
              </a:rPr>
              <a:t>Gender等センシティブ属性を含めた場合、説明可能性と公平性リスクを同時に管理する必要がある（差別的利用を防ぐためのガバナンス必須）</a:t>
            </a:r>
          </a:p>
        </p:txBody>
      </p:sp>
      <p:sp>
        <p:nvSpPr>
          <p:cNvPr id="30" name="S30"/>
          <p:cNvSpPr/>
          <p:nvPr/>
        </p:nvSpPr>
        <p:spPr>
          <a:xfrm>
            <a:off x="4114800" y="838200"/>
            <a:ext cx="3810000" cy="381000"/>
          </a:xfrm>
          <a:prstGeom prst="rect">
            <a:avLst/>
          </a:prstGeom>
          <a:solidFill>
            <a:srgbClr val="4A4A4A"/>
          </a:solidFill>
          <a:ln>
            <a:noFill/>
          </a:ln>
        </p:spPr>
        <p:txBody>
          <a:bodyPr wrap="square" lIns="137160" anchor="ctr"/>
          <a:lstStyle/>
          <a:p>
            <a:pPr>
              <a:buNone/>
            </a:pPr>
            <a:r>
              <a:rPr lang="ja-JP" sz="1400" b="1" dirty="0">
                <a:solidFill>
                  <a:srgbClr val="FFFFFF"/>
                </a:solidFill>
                <a:latin typeface="BIZ UDPゴシック"/>
                <a:ea typeface="BIZ UDPゴシック"/>
              </a:rPr>
              <a:t>公平性観点</a:t>
            </a:r>
          </a:p>
        </p:txBody>
      </p:sp>
      <p:sp>
        <p:nvSpPr>
          <p:cNvPr id="31" name="S31"/>
          <p:cNvSpPr/>
          <p:nvPr/>
        </p:nvSpPr>
        <p:spPr>
          <a:xfrm>
            <a:off x="4114800" y="1219200"/>
            <a:ext cx="3810000" cy="2895600"/>
          </a:xfrm>
          <a:prstGeom prst="rect">
            <a:avLst/>
          </a:prstGeom>
          <a:solidFill>
            <a:srgbClr val="F5F5F5"/>
          </a:solidFill>
          <a:ln w="12700">
            <a:solidFill>
              <a:srgbClr val="D0D0D0"/>
            </a:solidFill>
          </a:ln>
        </p:spPr>
        <p:txBody>
          <a:bodyPr wrap="square" lIns="137160" tIns="91440" rIns="91440" anchor="t"/>
          <a:lstStyle/>
          <a:p>
            <a:pPr>
              <a:lnSpc>
                <a:spcPts val="1400"/>
              </a:lnSpc>
              <a:spcAft>
                <a:spcPts val="400"/>
              </a:spcAft>
              <a:buNone/>
            </a:pPr>
            <a:r>
              <a:rPr lang="ja-JP" sz="1200" b="1" dirty="0">
                <a:solidFill>
                  <a:srgbClr val="1A1A1A"/>
                </a:solidFill>
                <a:latin typeface="BIZ UDPゴシック"/>
                <a:ea typeface="BIZ UDPゴシック"/>
              </a:rPr>
              <a:t>実施済</a:t>
            </a:r>
          </a:p>
          <a:p>
            <a:pPr>
              <a:lnSpc>
                <a:spcPts val="1400"/>
              </a:lnSpc>
              <a:spcAft>
                <a:spcPts val="300"/>
              </a:spcAft>
              <a:buFont typeface="Arial"/>
              <a:buChar char="✓"/>
            </a:pPr>
            <a:r>
              <a:rPr lang="ja-JP" sz="1050" dirty="0">
                <a:solidFill>
                  <a:srgbClr val="3D3D3D"/>
                </a:solidFill>
                <a:latin typeface="BIZ UDPゴシック"/>
                <a:ea typeface="BIZ UDPゴシック"/>
              </a:rPr>
              <a:t>属性別性能差の「初期確認」は実施済（中間報告に記録）</a:t>
            </a:r>
          </a:p>
          <a:p>
            <a:pPr>
              <a:lnSpc>
                <a:spcPts val="1400"/>
              </a:lnSpc>
              <a:spcAft>
                <a:spcPts val="600"/>
              </a:spcAft>
              <a:buNone/>
            </a:pPr>
            <a:r>
              <a:rPr lang="ja-JP" sz="1200" b="1" dirty="0">
                <a:solidFill>
                  <a:srgbClr val="8B2500"/>
                </a:solidFill>
                <a:latin typeface="BIZ UDPゴシック"/>
                <a:ea typeface="BIZ UDPゴシック"/>
              </a:rPr>
              <a:t>未実施（後続フェーズで推奨）</a:t>
            </a:r>
          </a:p>
          <a:p>
            <a:pPr>
              <a:lnSpc>
                <a:spcPts val="1400"/>
              </a:lnSpc>
              <a:spcAft>
                <a:spcPts val="300"/>
              </a:spcAft>
              <a:buFont typeface="Arial"/>
              <a:buChar char="▸"/>
            </a:pPr>
            <a:r>
              <a:rPr lang="ja-JP" sz="1050" dirty="0">
                <a:solidFill>
                  <a:srgbClr val="3D3D3D"/>
                </a:solidFill>
                <a:latin typeface="BIZ UDPゴシック"/>
                <a:ea typeface="BIZ UDPゴシック"/>
              </a:rPr>
              <a:t>グループ別 Macro F1 比較</a:t>
            </a:r>
          </a:p>
          <a:p>
            <a:pPr>
              <a:lnSpc>
                <a:spcPts val="1400"/>
              </a:lnSpc>
              <a:spcAft>
                <a:spcPts val="300"/>
              </a:spcAft>
              <a:buFont typeface="Arial"/>
              <a:buChar char="▸"/>
            </a:pPr>
            <a:r>
              <a:rPr lang="ja-JP" sz="1050" dirty="0">
                <a:solidFill>
                  <a:srgbClr val="3D3D3D"/>
                </a:solidFill>
                <a:latin typeface="BIZ UDPゴシック"/>
                <a:ea typeface="BIZ UDPゴシック"/>
              </a:rPr>
              <a:t>差分の統計的検定</a:t>
            </a:r>
          </a:p>
          <a:p>
            <a:pPr>
              <a:lnSpc>
                <a:spcPts val="1400"/>
              </a:lnSpc>
              <a:buFont typeface="Arial"/>
              <a:buChar char="▸"/>
            </a:pPr>
            <a:r>
              <a:rPr lang="ja-JP" sz="1050" dirty="0">
                <a:solidFill>
                  <a:srgbClr val="3D3D3D"/>
                </a:solidFill>
                <a:latin typeface="BIZ UDPゴシック"/>
                <a:ea typeface="BIZ UDPゴシック"/>
              </a:rPr>
              <a:t>差別リスク指標の算出</a:t>
            </a:r>
          </a:p>
        </p:txBody>
      </p:sp>
      <p:sp>
        <p:nvSpPr>
          <p:cNvPr id="40" name="S40"/>
          <p:cNvSpPr/>
          <p:nvPr/>
        </p:nvSpPr>
        <p:spPr>
          <a:xfrm>
            <a:off x="8077200" y="838200"/>
            <a:ext cx="3962400" cy="381000"/>
          </a:xfrm>
          <a:prstGeom prst="rect">
            <a:avLst/>
          </a:prstGeom>
          <a:solidFill>
            <a:srgbClr val="707070"/>
          </a:solidFill>
          <a:ln>
            <a:noFill/>
          </a:ln>
        </p:spPr>
        <p:txBody>
          <a:bodyPr wrap="square" lIns="137160" anchor="ctr"/>
          <a:lstStyle/>
          <a:p>
            <a:pPr>
              <a:buNone/>
            </a:pPr>
            <a:r>
              <a:rPr lang="ja-JP" sz="1400" b="1" dirty="0">
                <a:solidFill>
                  <a:srgbClr val="FFFFFF"/>
                </a:solidFill>
                <a:latin typeface="BIZ UDPゴシック"/>
                <a:ea typeface="BIZ UDPゴシック"/>
              </a:rPr>
              <a:t>制約に伴う注意</a:t>
            </a:r>
          </a:p>
        </p:txBody>
      </p:sp>
      <p:sp>
        <p:nvSpPr>
          <p:cNvPr id="41" name="S41"/>
          <p:cNvSpPr/>
          <p:nvPr/>
        </p:nvSpPr>
        <p:spPr>
          <a:xfrm>
            <a:off x="8077200" y="1219200"/>
            <a:ext cx="3962400" cy="2895600"/>
          </a:xfrm>
          <a:prstGeom prst="roundRect">
            <a:avLst>
              <a:gd name="adj" fmla="val 6000"/>
            </a:avLst>
          </a:prstGeom>
          <a:noFill/>
          <a:ln w="12700">
            <a:solidFill>
              <a:srgbClr val="8B2500"/>
            </a:solidFill>
          </a:ln>
        </p:spPr>
        <p:txBody>
          <a:bodyPr wrap="square" lIns="137160" tIns="91440" rIns="91440" anchor="t"/>
          <a:lstStyle/>
          <a:p>
            <a:pPr>
              <a:lnSpc>
                <a:spcPts val="1400"/>
              </a:lnSpc>
              <a:spcAft>
                <a:spcPts val="600"/>
              </a:spcAft>
              <a:buNone/>
            </a:pPr>
            <a:r>
              <a:rPr lang="ja-JP" sz="1200" b="1" dirty="0">
                <a:solidFill>
                  <a:srgbClr val="8B2500"/>
                </a:solidFill>
                <a:latin typeface="BIZ UDPゴシック"/>
                <a:ea typeface="BIZ UDPゴシック"/>
              </a:rPr>
              <a:t>⚠ Targetクラス定義の重複</a:t>
            </a:r>
          </a:p>
          <a:p>
            <a:pPr>
              <a:lnSpc>
                <a:spcPts val="1400"/>
              </a:lnSpc>
              <a:spcAft>
                <a:spcPts val="400"/>
              </a:spcAft>
              <a:buFont typeface="Arial"/>
              <a:buChar char="▸"/>
            </a:pPr>
            <a:r>
              <a:rPr lang="ja-JP" sz="1050" dirty="0">
                <a:solidFill>
                  <a:srgbClr val="3D3D3D"/>
                </a:solidFill>
                <a:latin typeface="BIZ UDPゴシック"/>
                <a:ea typeface="BIZ UDPゴシック"/>
              </a:rPr>
              <a:t>クラス4: 80k〜125k</a:t>
            </a:r>
          </a:p>
          <a:p>
            <a:pPr>
              <a:lnSpc>
                <a:spcPts val="1400"/>
              </a:lnSpc>
              <a:spcAft>
                <a:spcPts val="400"/>
              </a:spcAft>
              <a:buFont typeface="Arial"/>
              <a:buChar char="▸"/>
            </a:pPr>
            <a:r>
              <a:rPr lang="ja-JP" sz="1050" dirty="0">
                <a:solidFill>
                  <a:srgbClr val="3D3D3D"/>
                </a:solidFill>
                <a:latin typeface="BIZ UDPゴシック"/>
                <a:ea typeface="BIZ UDPゴシック"/>
              </a:rPr>
              <a:t>クラス5: &gt;100k</a:t>
            </a:r>
          </a:p>
          <a:p>
            <a:pPr>
              <a:lnSpc>
                <a:spcPts val="1500"/>
              </a:lnSpc>
              <a:spcAft>
                <a:spcPts val="400"/>
              </a:spcAft>
              <a:buNone/>
            </a:pPr>
            <a:r>
              <a:rPr lang="ja-JP" sz="1050" dirty="0">
                <a:solidFill>
                  <a:srgbClr val="3D3D3D"/>
                </a:solidFill>
                <a:latin typeface="BIZ UDPゴシック"/>
                <a:ea typeface="BIZ UDPゴシック"/>
              </a:rPr>
              <a:t>→ 100k〜125kの区間で重複が発生</a:t>
            </a:r>
          </a:p>
          <a:p>
            <a:pPr>
              <a:lnSpc>
                <a:spcPts val="1500"/>
              </a:lnSpc>
              <a:buNone/>
            </a:pPr>
            <a:r>
              <a:rPr lang="ja-JP" sz="1050" dirty="0">
                <a:solidFill>
                  <a:srgbClr val="707070"/>
                </a:solidFill>
                <a:latin typeface="BIZ UDPゴシック"/>
                <a:ea typeface="BIZ UDPゴシック"/>
              </a:rPr>
              <a:t>原定義のまま分析実施。解釈時には境界クラスの近接誤差を必ず考慮すること。</a:t>
            </a:r>
          </a:p>
        </p:txBody>
      </p:sp>
      <p:sp>
        <p:nvSpPr>
          <p:cNvPr id="2" name="テキスト ボックス 1">
            <a:extLst>
              <a:ext uri="{FF2B5EF4-FFF2-40B4-BE49-F238E27FC236}">
                <a16:creationId xmlns:a16="http://schemas.microsoft.com/office/drawing/2014/main" id="{38F912DB-9D69-4CC0-B317-BB4D082B9087}"/>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6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2980018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5. 業務提言 — 優先度：高</a:t>
            </a:r>
          </a:p>
        </p:txBody>
      </p:sp>
      <p:sp>
        <p:nvSpPr>
          <p:cNvPr id="20" name="S20"/>
          <p:cNvSpPr/>
          <p:nvPr/>
        </p:nvSpPr>
        <p:spPr>
          <a:xfrm>
            <a:off x="152400" y="838200"/>
            <a:ext cx="3810000" cy="457200"/>
          </a:xfrm>
          <a:prstGeom prst="roundRect">
            <a:avLst>
              <a:gd name="adj" fmla="val 6000"/>
            </a:avLst>
          </a:prstGeom>
          <a:solidFill>
            <a:srgbClr val="8B2500"/>
          </a:solidFill>
          <a:ln>
            <a:noFill/>
          </a:ln>
        </p:spPr>
        <p:txBody>
          <a:bodyPr wrap="square" lIns="137160" anchor="ctr"/>
          <a:lstStyle/>
          <a:p>
            <a:pPr>
              <a:buNone/>
            </a:pPr>
            <a:r>
              <a:rPr lang="ja-JP" sz="1000" dirty="0">
                <a:solidFill>
                  <a:srgbClr val="FFFFFF"/>
                </a:solidFill>
                <a:latin typeface="BIZ UDPゴシック"/>
                <a:ea typeface="BIZ UDPゴシック"/>
              </a:rPr>
              <a:t>提言 1</a:t>
            </a:r>
            <a:r>
              <a:rPr lang="ja-JP" sz="1400" b="1" dirty="0">
                <a:solidFill>
                  <a:srgbClr val="FFFFFF"/>
                </a:solidFill>
                <a:latin typeface="BIZ UDPゴシック"/>
                <a:ea typeface="BIZ UDPゴシック"/>
              </a:rPr>
              <a:t>  運用導入前のガバナンス整備</a:t>
            </a:r>
          </a:p>
        </p:txBody>
      </p:sp>
      <p:sp>
        <p:nvSpPr>
          <p:cNvPr id="21" name="S21"/>
          <p:cNvSpPr/>
          <p:nvPr/>
        </p:nvSpPr>
        <p:spPr>
          <a:xfrm>
            <a:off x="152400" y="1295400"/>
            <a:ext cx="3810000" cy="29718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400"/>
              </a:spcAft>
              <a:buFont typeface="Arial"/>
              <a:buChar char="●"/>
            </a:pPr>
            <a:r>
              <a:rPr lang="ja-JP" sz="1050" dirty="0">
                <a:solidFill>
                  <a:srgbClr val="3D3D3D"/>
                </a:solidFill>
                <a:latin typeface="BIZ UDPゴシック"/>
                <a:ea typeface="BIZ UDPゴシック"/>
              </a:rPr>
              <a:t>モデル結果を「制度改定の単独根拠」とせず、意思決定の参考情報として運用するルールを明文化</a:t>
            </a:r>
          </a:p>
          <a:p>
            <a:pPr>
              <a:lnSpc>
                <a:spcPts val="1500"/>
              </a:lnSpc>
              <a:spcAft>
                <a:spcPts val="400"/>
              </a:spcAft>
              <a:buFont typeface="Arial"/>
              <a:buChar char="●"/>
            </a:pPr>
            <a:r>
              <a:rPr lang="ja-JP" sz="1050" dirty="0">
                <a:solidFill>
                  <a:srgbClr val="3D3D3D"/>
                </a:solidFill>
                <a:latin typeface="BIZ UDPゴシック"/>
                <a:ea typeface="BIZ UDPゴシック"/>
              </a:rPr>
              <a:t>センシティブ属性（Gender/Age/Country）の結果開示・利用基準を設定（閲覧権限、出力形式の制約）</a:t>
            </a:r>
          </a:p>
          <a:p>
            <a:pPr>
              <a:lnSpc>
                <a:spcPts val="1500"/>
              </a:lnSpc>
              <a:spcAft>
                <a:spcPts val="400"/>
              </a:spcAft>
              <a:buFont typeface="Arial"/>
              <a:buChar char="●"/>
            </a:pPr>
            <a:r>
              <a:rPr lang="ja-JP" sz="1050" dirty="0">
                <a:solidFill>
                  <a:srgbClr val="3D3D3D"/>
                </a:solidFill>
                <a:latin typeface="BIZ UDPゴシック"/>
                <a:ea typeface="BIZ UDPゴシック"/>
              </a:rPr>
              <a:t>成果物に「解釈上の注意書き」と「想定適用範囲」を必ず添付</a:t>
            </a:r>
          </a:p>
          <a:p>
            <a:pPr>
              <a:lnSpc>
                <a:spcPts val="1500"/>
              </a:lnSpc>
              <a:buNone/>
            </a:pPr>
            <a:r>
              <a:rPr lang="ja-JP" sz="1000" dirty="0">
                <a:solidFill>
                  <a:srgbClr val="707070"/>
                </a:solidFill>
                <a:latin typeface="BIZ UDPゴシック"/>
                <a:ea typeface="BIZ UDPゴシック"/>
              </a:rPr>
              <a:t>責任者: 石川 直樹</a:t>
            </a:r>
          </a:p>
        </p:txBody>
      </p:sp>
      <p:sp>
        <p:nvSpPr>
          <p:cNvPr id="30" name="S30"/>
          <p:cNvSpPr/>
          <p:nvPr/>
        </p:nvSpPr>
        <p:spPr>
          <a:xfrm>
            <a:off x="4114800" y="838200"/>
            <a:ext cx="3810000" cy="457200"/>
          </a:xfrm>
          <a:prstGeom prst="roundRect">
            <a:avLst>
              <a:gd name="adj" fmla="val 6000"/>
            </a:avLst>
          </a:prstGeom>
          <a:solidFill>
            <a:srgbClr val="4A4A4A"/>
          </a:solidFill>
          <a:ln>
            <a:noFill/>
          </a:ln>
        </p:spPr>
        <p:txBody>
          <a:bodyPr wrap="square" lIns="137160" anchor="ctr"/>
          <a:lstStyle/>
          <a:p>
            <a:pPr>
              <a:buNone/>
            </a:pPr>
            <a:r>
              <a:rPr lang="ja-JP" sz="1000" dirty="0">
                <a:solidFill>
                  <a:srgbClr val="FFFFFF"/>
                </a:solidFill>
                <a:latin typeface="BIZ UDPゴシック"/>
                <a:ea typeface="BIZ UDPゴシック"/>
              </a:rPr>
              <a:t>提言 2</a:t>
            </a:r>
            <a:r>
              <a:rPr lang="ja-JP" sz="1400" b="1" dirty="0">
                <a:solidFill>
                  <a:srgbClr val="FFFFFF"/>
                </a:solidFill>
                <a:latin typeface="BIZ UDPゴシック"/>
                <a:ea typeface="BIZ UDPゴシック"/>
              </a:rPr>
              <a:t>  本番化技術要件</a:t>
            </a:r>
          </a:p>
        </p:txBody>
      </p:sp>
      <p:sp>
        <p:nvSpPr>
          <p:cNvPr id="31" name="S31"/>
          <p:cNvSpPr/>
          <p:nvPr/>
        </p:nvSpPr>
        <p:spPr>
          <a:xfrm>
            <a:off x="4114800" y="1295400"/>
            <a:ext cx="3810000" cy="29718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400"/>
              </a:spcAft>
              <a:buFont typeface="Arial"/>
              <a:buChar char="●"/>
            </a:pPr>
            <a:r>
              <a:rPr lang="ja-JP" sz="1050" dirty="0">
                <a:solidFill>
                  <a:srgbClr val="3D3D3D"/>
                </a:solidFill>
                <a:latin typeface="BIZ UDPゴシック"/>
                <a:ea typeface="BIZ UDPゴシック"/>
              </a:rPr>
              <a:t>データパイプライン: 原データ受領→前処理→推論までのETLを再現可能にするスクリプト/バッチ化</a:t>
            </a:r>
          </a:p>
          <a:p>
            <a:pPr>
              <a:lnSpc>
                <a:spcPts val="1500"/>
              </a:lnSpc>
              <a:spcAft>
                <a:spcPts val="400"/>
              </a:spcAft>
              <a:buFont typeface="Arial"/>
              <a:buChar char="●"/>
            </a:pPr>
            <a:r>
              <a:rPr lang="ja-JP" sz="1050" dirty="0">
                <a:solidFill>
                  <a:srgbClr val="3D3D3D"/>
                </a:solidFill>
                <a:latin typeface="BIZ UDPゴシック"/>
                <a:ea typeface="BIZ UDPゴシック"/>
              </a:rPr>
              <a:t>入出力仕様・API: 業務システム連携を想定し、次フェーズでAPI仕様と認証設計を作成</a:t>
            </a:r>
          </a:p>
          <a:p>
            <a:pPr>
              <a:lnSpc>
                <a:spcPts val="1500"/>
              </a:lnSpc>
              <a:buNone/>
            </a:pPr>
            <a:r>
              <a:rPr lang="ja-JP" sz="1000" dirty="0">
                <a:solidFill>
                  <a:srgbClr val="707070"/>
                </a:solidFill>
                <a:latin typeface="BIZ UDPゴシック"/>
                <a:ea typeface="BIZ UDPゴシック"/>
              </a:rPr>
              <a:t>責任者: 斎藤 悠斗（DE）</a:t>
            </a:r>
          </a:p>
        </p:txBody>
      </p:sp>
      <p:sp>
        <p:nvSpPr>
          <p:cNvPr id="40" name="S40"/>
          <p:cNvSpPr/>
          <p:nvPr/>
        </p:nvSpPr>
        <p:spPr>
          <a:xfrm>
            <a:off x="8077200" y="838200"/>
            <a:ext cx="3810000" cy="457200"/>
          </a:xfrm>
          <a:prstGeom prst="roundRect">
            <a:avLst>
              <a:gd name="adj" fmla="val 6000"/>
            </a:avLst>
          </a:prstGeom>
          <a:solidFill>
            <a:srgbClr val="707070"/>
          </a:solidFill>
          <a:ln>
            <a:noFill/>
          </a:ln>
        </p:spPr>
        <p:txBody>
          <a:bodyPr wrap="square" lIns="137160" anchor="ctr"/>
          <a:lstStyle/>
          <a:p>
            <a:pPr>
              <a:buNone/>
            </a:pPr>
            <a:r>
              <a:rPr lang="ja-JP" sz="1000" dirty="0">
                <a:solidFill>
                  <a:srgbClr val="FFFFFF"/>
                </a:solidFill>
                <a:latin typeface="BIZ UDPゴシック"/>
                <a:ea typeface="BIZ UDPゴシック"/>
              </a:rPr>
              <a:t>提言 3</a:t>
            </a:r>
            <a:r>
              <a:rPr lang="ja-JP" sz="1400" b="1" dirty="0">
                <a:solidFill>
                  <a:srgbClr val="FFFFFF"/>
                </a:solidFill>
                <a:latin typeface="BIZ UDPゴシック"/>
                <a:ea typeface="BIZ UDPゴシック"/>
              </a:rPr>
              <a:t>  モデル監視・再学習</a:t>
            </a:r>
          </a:p>
        </p:txBody>
      </p:sp>
      <p:sp>
        <p:nvSpPr>
          <p:cNvPr id="41" name="S41"/>
          <p:cNvSpPr/>
          <p:nvPr/>
        </p:nvSpPr>
        <p:spPr>
          <a:xfrm>
            <a:off x="8077200" y="1295400"/>
            <a:ext cx="3810000" cy="29718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
            </a:pPr>
            <a:r>
              <a:rPr lang="ja-JP" sz="1050" dirty="0">
                <a:solidFill>
                  <a:srgbClr val="3D3D3D"/>
                </a:solidFill>
                <a:latin typeface="BIZ UDPゴシック"/>
                <a:ea typeface="BIZ UDPゴシック"/>
              </a:rPr>
              <a:t>監視指標: Macro F1、Accuracy、混同行列、属性別Macro F1</a:t>
            </a:r>
          </a:p>
          <a:p>
            <a:pPr>
              <a:lnSpc>
                <a:spcPts val="1500"/>
              </a:lnSpc>
              <a:spcAft>
                <a:spcPts val="300"/>
              </a:spcAft>
              <a:buFont typeface="Arial"/>
              <a:buChar char="●"/>
            </a:pPr>
            <a:r>
              <a:rPr lang="ja-JP" sz="1050" dirty="0">
                <a:solidFill>
                  <a:srgbClr val="3D3D3D"/>
                </a:solidFill>
                <a:latin typeface="BIZ UDPゴシック"/>
                <a:ea typeface="BIZ UDPゴシック"/>
              </a:rPr>
              <a:t>データドリフト検出: Country/Profession等の特徴分布変化を監視</a:t>
            </a:r>
          </a:p>
          <a:p>
            <a:pPr>
              <a:lnSpc>
                <a:spcPts val="1500"/>
              </a:lnSpc>
              <a:spcAft>
                <a:spcPts val="300"/>
              </a:spcAft>
              <a:buFont typeface="Arial"/>
              <a:buChar char="●"/>
            </a:pPr>
            <a:r>
              <a:rPr lang="ja-JP" sz="1050" dirty="0">
                <a:solidFill>
                  <a:srgbClr val="3D3D3D"/>
                </a:solidFill>
                <a:latin typeface="BIZ UDPゴシック"/>
                <a:ea typeface="BIZ UDPゴシック"/>
              </a:rPr>
              <a:t>再学習: 初期は四半期毎、重大ドリフト検知時に随時実施</a:t>
            </a:r>
          </a:p>
          <a:p>
            <a:pPr>
              <a:lnSpc>
                <a:spcPts val="1500"/>
              </a:lnSpc>
              <a:spcAft>
                <a:spcPts val="300"/>
              </a:spcAft>
              <a:buFont typeface="Arial"/>
              <a:buChar char="●"/>
            </a:pPr>
            <a:r>
              <a:rPr lang="ja-JP" sz="1050" b="1" dirty="0">
                <a:solidFill>
                  <a:srgbClr val="8B2500"/>
                </a:solidFill>
                <a:latin typeface="BIZ UDPゴシック"/>
                <a:ea typeface="BIZ UDPゴシック"/>
              </a:rPr>
              <a:t>アラート: F1がbaseline(0.47)から±5%超でレビュー</a:t>
            </a:r>
          </a:p>
          <a:p>
            <a:pPr>
              <a:lnSpc>
                <a:spcPts val="1500"/>
              </a:lnSpc>
              <a:buNone/>
            </a:pPr>
            <a:r>
              <a:rPr lang="ja-JP" sz="1000" dirty="0">
                <a:solidFill>
                  <a:srgbClr val="707070"/>
                </a:solidFill>
                <a:latin typeface="BIZ UDPゴシック"/>
                <a:ea typeface="BIZ UDPゴシック"/>
              </a:rPr>
              <a:t>責任者: 渡辺 遥（LDS）</a:t>
            </a:r>
          </a:p>
        </p:txBody>
      </p:sp>
      <p:sp>
        <p:nvSpPr>
          <p:cNvPr id="2" name="テキスト ボックス 1">
            <a:extLst>
              <a:ext uri="{FF2B5EF4-FFF2-40B4-BE49-F238E27FC236}">
                <a16:creationId xmlns:a16="http://schemas.microsoft.com/office/drawing/2014/main" id="{9EA94107-7F8D-4008-8560-DD876552F463}"/>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7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43105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5. 業務提言 — 優先度：中〜低</a:t>
            </a:r>
          </a:p>
        </p:txBody>
      </p:sp>
      <p:sp>
        <p:nvSpPr>
          <p:cNvPr id="20" name="S20"/>
          <p:cNvSpPr/>
          <p:nvPr/>
        </p:nvSpPr>
        <p:spPr>
          <a:xfrm>
            <a:off x="152400" y="838200"/>
            <a:ext cx="3810000" cy="381000"/>
          </a:xfrm>
          <a:prstGeom prst="roundRect">
            <a:avLst>
              <a:gd name="adj" fmla="val 6000"/>
            </a:avLst>
          </a:prstGeom>
          <a:solidFill>
            <a:srgbClr val="8B2500"/>
          </a:solidFill>
          <a:ln>
            <a:noFill/>
          </a:ln>
        </p:spPr>
        <p:txBody>
          <a:bodyPr wrap="square" lIns="137160" anchor="ctr"/>
          <a:lstStyle/>
          <a:p>
            <a:pPr>
              <a:buNone/>
            </a:pPr>
            <a:r>
              <a:rPr lang="ja-JP" sz="1000" dirty="0">
                <a:solidFill>
                  <a:srgbClr val="FFFFFF"/>
                </a:solidFill>
                <a:latin typeface="BIZ UDPゴシック"/>
                <a:ea typeface="BIZ UDPゴシック"/>
              </a:rPr>
              <a:t>提言 4 [中]</a:t>
            </a:r>
            <a:r>
              <a:rPr lang="ja-JP" sz="1300" b="1" dirty="0">
                <a:solidFill>
                  <a:srgbClr val="FFFFFF"/>
                </a:solidFill>
                <a:latin typeface="BIZ UDPゴシック"/>
                <a:ea typeface="BIZ UDPゴシック"/>
              </a:rPr>
              <a:t>  公平性・説明可能性対応</a:t>
            </a:r>
          </a:p>
        </p:txBody>
      </p:sp>
      <p:sp>
        <p:nvSpPr>
          <p:cNvPr id="21" name="S21"/>
          <p:cNvSpPr/>
          <p:nvPr/>
        </p:nvSpPr>
        <p:spPr>
          <a:xfrm>
            <a:off x="152400" y="1219200"/>
            <a:ext cx="3810000" cy="19812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
            </a:pPr>
            <a:r>
              <a:rPr lang="ja-JP" sz="1050" dirty="0">
                <a:solidFill>
                  <a:srgbClr val="3D3D3D"/>
                </a:solidFill>
                <a:latin typeface="BIZ UDPゴシック"/>
                <a:ea typeface="BIZ UDPゴシック"/>
              </a:rPr>
              <a:t>グループ別公平性指標: Group F1差、FN/FPの偏りを検査</a:t>
            </a:r>
          </a:p>
          <a:p>
            <a:pPr>
              <a:lnSpc>
                <a:spcPts val="1500"/>
              </a:lnSpc>
              <a:spcAft>
                <a:spcPts val="300"/>
              </a:spcAft>
              <a:buFont typeface="Arial"/>
              <a:buChar char="●"/>
            </a:pPr>
            <a:r>
              <a:rPr lang="ja-JP" sz="1050" dirty="0">
                <a:solidFill>
                  <a:srgbClr val="3D3D3D"/>
                </a:solidFill>
                <a:latin typeface="BIZ UDPゴシック"/>
                <a:ea typeface="BIZ UDPゴシック"/>
              </a:rPr>
              <a:t>説明可能性: SHAP等によるカテゴリ別貢献度の可視化で人事判断材料として提示</a:t>
            </a:r>
          </a:p>
          <a:p>
            <a:pPr>
              <a:lnSpc>
                <a:spcPts val="1500"/>
              </a:lnSpc>
              <a:buFont typeface="Arial"/>
              <a:buChar char="●"/>
            </a:pPr>
            <a:r>
              <a:rPr lang="ja-JP" sz="1050" dirty="0">
                <a:solidFill>
                  <a:srgbClr val="3D3D3D"/>
                </a:solidFill>
                <a:latin typeface="BIZ UDPゴシック"/>
                <a:ea typeface="BIZ UDPゴシック"/>
              </a:rPr>
              <a:t>人事制度へ適用する前に法務レビューを必須化</a:t>
            </a:r>
          </a:p>
        </p:txBody>
      </p:sp>
      <p:sp>
        <p:nvSpPr>
          <p:cNvPr id="30" name="S30"/>
          <p:cNvSpPr/>
          <p:nvPr/>
        </p:nvSpPr>
        <p:spPr>
          <a:xfrm>
            <a:off x="4114800" y="838200"/>
            <a:ext cx="3810000" cy="381000"/>
          </a:xfrm>
          <a:prstGeom prst="roundRect">
            <a:avLst>
              <a:gd name="adj" fmla="val 6000"/>
            </a:avLst>
          </a:prstGeom>
          <a:solidFill>
            <a:srgbClr val="4A4A4A"/>
          </a:solidFill>
          <a:ln>
            <a:noFill/>
          </a:ln>
        </p:spPr>
        <p:txBody>
          <a:bodyPr wrap="square" lIns="137160" anchor="ctr"/>
          <a:lstStyle/>
          <a:p>
            <a:pPr>
              <a:buNone/>
            </a:pPr>
            <a:r>
              <a:rPr lang="ja-JP" sz="1000" dirty="0">
                <a:solidFill>
                  <a:srgbClr val="FFFFFF"/>
                </a:solidFill>
                <a:latin typeface="BIZ UDPゴシック"/>
                <a:ea typeface="BIZ UDPゴシック"/>
              </a:rPr>
              <a:t>提言 5 [中]</a:t>
            </a:r>
            <a:r>
              <a:rPr lang="ja-JP" sz="1300" b="1" dirty="0">
                <a:solidFill>
                  <a:srgbClr val="FFFFFF"/>
                </a:solidFill>
                <a:latin typeface="BIZ UDPゴシック"/>
                <a:ea typeface="BIZ UDPゴシック"/>
              </a:rPr>
              <a:t>  運用上のプロセス整備</a:t>
            </a:r>
          </a:p>
        </p:txBody>
      </p:sp>
      <p:sp>
        <p:nvSpPr>
          <p:cNvPr id="31" name="S31"/>
          <p:cNvSpPr/>
          <p:nvPr/>
        </p:nvSpPr>
        <p:spPr>
          <a:xfrm>
            <a:off x="4114800" y="1219200"/>
            <a:ext cx="3810000" cy="19812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
            </a:pPr>
            <a:r>
              <a:rPr lang="ja-JP" sz="1050" dirty="0">
                <a:solidFill>
                  <a:srgbClr val="3D3D3D"/>
                </a:solidFill>
                <a:latin typeface="BIZ UDPゴシック"/>
                <a:ea typeface="BIZ UDPゴシック"/>
              </a:rPr>
              <a:t>変更管理: モデル・前処理・出力仕様の変更はチケット管理を経て承認</a:t>
            </a:r>
          </a:p>
          <a:p>
            <a:pPr>
              <a:lnSpc>
                <a:spcPts val="1500"/>
              </a:lnSpc>
              <a:buFont typeface="Arial"/>
              <a:buChar char="●"/>
            </a:pPr>
            <a:r>
              <a:rPr lang="ja-JP" sz="1050" dirty="0">
                <a:solidFill>
                  <a:srgbClr val="3D3D3D"/>
                </a:solidFill>
                <a:latin typeface="BIZ UDPゴシック"/>
                <a:ea typeface="BIZ UDPゴシック"/>
              </a:rPr>
              <a:t>リリース手順: ステージング→UAT（業務担当確認）→本番の段階的リリース</a:t>
            </a:r>
          </a:p>
        </p:txBody>
      </p:sp>
      <p:sp>
        <p:nvSpPr>
          <p:cNvPr id="40" name="S40"/>
          <p:cNvSpPr/>
          <p:nvPr/>
        </p:nvSpPr>
        <p:spPr>
          <a:xfrm>
            <a:off x="8077200" y="838200"/>
            <a:ext cx="3810000" cy="381000"/>
          </a:xfrm>
          <a:prstGeom prst="roundRect">
            <a:avLst>
              <a:gd name="adj" fmla="val 6000"/>
            </a:avLst>
          </a:prstGeom>
          <a:solidFill>
            <a:srgbClr val="707070"/>
          </a:solidFill>
          <a:ln>
            <a:noFill/>
          </a:ln>
        </p:spPr>
        <p:txBody>
          <a:bodyPr wrap="square" lIns="137160" anchor="ctr"/>
          <a:lstStyle/>
          <a:p>
            <a:pPr>
              <a:buNone/>
            </a:pPr>
            <a:r>
              <a:rPr lang="ja-JP" sz="1000" dirty="0">
                <a:solidFill>
                  <a:srgbClr val="FFFFFF"/>
                </a:solidFill>
                <a:latin typeface="BIZ UDPゴシック"/>
                <a:ea typeface="BIZ UDPゴシック"/>
              </a:rPr>
              <a:t>提言 6 [中〜低]</a:t>
            </a:r>
            <a:r>
              <a:rPr lang="ja-JP" sz="1300" b="1" dirty="0">
                <a:solidFill>
                  <a:srgbClr val="FFFFFF"/>
                </a:solidFill>
                <a:latin typeface="BIZ UDPゴシック"/>
                <a:ea typeface="BIZ UDPゴシック"/>
              </a:rPr>
              <a:t>  データ拡充・精度向上</a:t>
            </a:r>
          </a:p>
        </p:txBody>
      </p:sp>
      <p:sp>
        <p:nvSpPr>
          <p:cNvPr id="41" name="S41"/>
          <p:cNvSpPr/>
          <p:nvPr/>
        </p:nvSpPr>
        <p:spPr>
          <a:xfrm>
            <a:off x="8077200" y="1219200"/>
            <a:ext cx="3810000" cy="19812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
            </a:pPr>
            <a:r>
              <a:rPr lang="ja-JP" sz="1050" dirty="0">
                <a:solidFill>
                  <a:srgbClr val="3D3D3D"/>
                </a:solidFill>
                <a:latin typeface="BIZ UDPゴシック"/>
                <a:ea typeface="BIZ UDPゴシック"/>
              </a:rPr>
              <a:t>追加データ: 実績報酬の数値データ、市場給与データ、職務記述の詳細等を統合し予測精度と外部妥当性を向上</a:t>
            </a:r>
          </a:p>
          <a:p>
            <a:pPr>
              <a:lnSpc>
                <a:spcPts val="1500"/>
              </a:lnSpc>
              <a:buFont typeface="Arial"/>
              <a:buChar char="●"/>
            </a:pPr>
            <a:r>
              <a:rPr lang="ja-JP" sz="1050" dirty="0">
                <a:solidFill>
                  <a:srgbClr val="3D3D3D"/>
                </a:solidFill>
                <a:latin typeface="BIZ UDPゴシック"/>
                <a:ea typeface="BIZ UDPゴシック"/>
              </a:rPr>
              <a:t>モデル検討: 非線形モデルの詳細ハイパーチューニング、対照として線形解釈モデルを並行運用</a:t>
            </a:r>
          </a:p>
        </p:txBody>
      </p:sp>
      <p:sp>
        <p:nvSpPr>
          <p:cNvPr id="50" name="S50"/>
          <p:cNvSpPr/>
          <p:nvPr/>
        </p:nvSpPr>
        <p:spPr>
          <a:xfrm>
            <a:off x="152400" y="3505200"/>
            <a:ext cx="11887200" cy="457200"/>
          </a:xfrm>
          <a:prstGeom prst="rect">
            <a:avLst/>
          </a:prstGeom>
          <a:noFill/>
          <a:ln>
            <a:noFill/>
          </a:ln>
        </p:spPr>
        <p:txBody>
          <a:bodyPr wrap="square" lIns="182880" anchor="ctr"/>
          <a:lstStyle/>
          <a:p>
            <a:pPr>
              <a:buNone/>
            </a:pPr>
            <a:r>
              <a:rPr lang="ja-JP" sz="1200" b="1" dirty="0">
                <a:solidFill>
                  <a:srgbClr val="8B2500"/>
                </a:solidFill>
                <a:latin typeface="BIZ UDPゴシック"/>
                <a:ea typeface="BIZ UDPゴシック"/>
              </a:rPr>
              <a:t>優先度マトリクス: </a:t>
            </a:r>
            <a:r>
              <a:rPr lang="ja-JP" sz="1100" dirty="0">
                <a:solidFill>
                  <a:srgbClr val="3D3D3D"/>
                </a:solidFill>
                <a:latin typeface="BIZ UDPゴシック"/>
                <a:ea typeface="BIZ UDPゴシック"/>
              </a:rPr>
              <a:t>提言1〜3（高）→ 提言4〜5（中）→ 提言6（中〜低）の順で段階的に着手を推奨</a:t>
            </a:r>
          </a:p>
        </p:txBody>
      </p:sp>
      <p:sp>
        <p:nvSpPr>
          <p:cNvPr id="60" name="S60"/>
          <p:cNvSpPr/>
          <p:nvPr/>
        </p:nvSpPr>
        <p:spPr>
          <a:xfrm>
            <a:off x="304800" y="3962400"/>
            <a:ext cx="1752600" cy="304800"/>
          </a:xfrm>
          <a:prstGeom prst="homePlate">
            <a:avLst/>
          </a:prstGeom>
          <a:solidFill>
            <a:srgbClr val="8B2500"/>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1</a:t>
            </a:r>
          </a:p>
        </p:txBody>
      </p:sp>
      <p:sp>
        <p:nvSpPr>
          <p:cNvPr id="61" name="S61"/>
          <p:cNvSpPr/>
          <p:nvPr/>
        </p:nvSpPr>
        <p:spPr>
          <a:xfrm>
            <a:off x="2133600" y="3962400"/>
            <a:ext cx="1752600" cy="304800"/>
          </a:xfrm>
          <a:prstGeom prst="homePlate">
            <a:avLst/>
          </a:prstGeom>
          <a:solidFill>
            <a:srgbClr val="8B2500"/>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2</a:t>
            </a:r>
          </a:p>
        </p:txBody>
      </p:sp>
      <p:sp>
        <p:nvSpPr>
          <p:cNvPr id="62" name="S62"/>
          <p:cNvSpPr/>
          <p:nvPr/>
        </p:nvSpPr>
        <p:spPr>
          <a:xfrm>
            <a:off x="3962400" y="3962400"/>
            <a:ext cx="1752600" cy="304800"/>
          </a:xfrm>
          <a:prstGeom prst="homePlate">
            <a:avLst/>
          </a:prstGeom>
          <a:solidFill>
            <a:srgbClr val="8B2500"/>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3</a:t>
            </a:r>
          </a:p>
        </p:txBody>
      </p:sp>
      <p:sp>
        <p:nvSpPr>
          <p:cNvPr id="63" name="S63"/>
          <p:cNvSpPr/>
          <p:nvPr/>
        </p:nvSpPr>
        <p:spPr>
          <a:xfrm>
            <a:off x="5791200" y="3962400"/>
            <a:ext cx="1752600" cy="304800"/>
          </a:xfrm>
          <a:prstGeom prst="homePlate">
            <a:avLst/>
          </a:prstGeom>
          <a:solidFill>
            <a:srgbClr val="B8442C"/>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4</a:t>
            </a:r>
          </a:p>
        </p:txBody>
      </p:sp>
      <p:sp>
        <p:nvSpPr>
          <p:cNvPr id="64" name="S64"/>
          <p:cNvSpPr/>
          <p:nvPr/>
        </p:nvSpPr>
        <p:spPr>
          <a:xfrm>
            <a:off x="7620000" y="3962400"/>
            <a:ext cx="1752600" cy="304800"/>
          </a:xfrm>
          <a:prstGeom prst="homePlate">
            <a:avLst/>
          </a:prstGeom>
          <a:solidFill>
            <a:srgbClr val="B8442C"/>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5</a:t>
            </a:r>
          </a:p>
        </p:txBody>
      </p:sp>
      <p:sp>
        <p:nvSpPr>
          <p:cNvPr id="65" name="S65"/>
          <p:cNvSpPr/>
          <p:nvPr/>
        </p:nvSpPr>
        <p:spPr>
          <a:xfrm>
            <a:off x="9448800" y="3962400"/>
            <a:ext cx="1752600" cy="304800"/>
          </a:xfrm>
          <a:prstGeom prst="homePlate">
            <a:avLst/>
          </a:prstGeom>
          <a:solidFill>
            <a:srgbClr val="A0A0A0"/>
          </a:solidFill>
          <a:ln>
            <a:noFill/>
          </a:ln>
        </p:spPr>
        <p:txBody>
          <a:bodyPr wrap="square" lIns="45720" rIns="91440" anchor="ctr"/>
          <a:lstStyle/>
          <a:p>
            <a:pPr algn="ctr">
              <a:buNone/>
            </a:pPr>
            <a:r>
              <a:rPr lang="ja-JP" sz="1000" b="1" dirty="0">
                <a:solidFill>
                  <a:srgbClr val="FFFFFF"/>
                </a:solidFill>
                <a:latin typeface="BIZ UDPゴシック"/>
                <a:ea typeface="BIZ UDPゴシック"/>
              </a:rPr>
              <a:t>提言 6</a:t>
            </a:r>
          </a:p>
        </p:txBody>
      </p:sp>
      <p:sp>
        <p:nvSpPr>
          <p:cNvPr id="2" name="テキスト ボックス 1">
            <a:extLst>
              <a:ext uri="{FF2B5EF4-FFF2-40B4-BE49-F238E27FC236}">
                <a16:creationId xmlns:a16="http://schemas.microsoft.com/office/drawing/2014/main" id="{875AF38D-2E02-4F7E-86F0-D54FCC64311E}"/>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8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673354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6. 実装・運用計画</a:t>
            </a:r>
          </a:p>
        </p:txBody>
      </p:sp>
      <p:sp>
        <p:nvSpPr>
          <p:cNvPr id="20" name="S20"/>
          <p:cNvSpPr/>
          <p:nvPr/>
        </p:nvSpPr>
        <p:spPr>
          <a:xfrm>
            <a:off x="152400" y="838200"/>
            <a:ext cx="3810000" cy="381000"/>
          </a:xfrm>
          <a:prstGeom prst="rect">
            <a:avLst/>
          </a:prstGeom>
          <a:solidFill>
            <a:srgbClr val="8B2500"/>
          </a:solidFill>
          <a:ln>
            <a:noFill/>
          </a:ln>
        </p:spPr>
        <p:txBody>
          <a:bodyPr wrap="square" lIns="137160" anchor="ctr"/>
          <a:lstStyle/>
          <a:p>
            <a:pPr>
              <a:buNone/>
            </a:pPr>
            <a:r>
              <a:rPr lang="ja-JP" sz="1400" b="1" dirty="0">
                <a:solidFill>
                  <a:srgbClr val="FFFFFF"/>
                </a:solidFill>
                <a:latin typeface="BIZ UDPゴシック"/>
                <a:ea typeface="BIZ UDPゴシック"/>
              </a:rPr>
              <a:t>短期（0〜3ヶ月）</a:t>
            </a:r>
          </a:p>
        </p:txBody>
      </p:sp>
      <p:sp>
        <p:nvSpPr>
          <p:cNvPr id="30" name="S30"/>
          <p:cNvSpPr/>
          <p:nvPr/>
        </p:nvSpPr>
        <p:spPr>
          <a:xfrm>
            <a:off x="4114800" y="838200"/>
            <a:ext cx="3810000" cy="381000"/>
          </a:xfrm>
          <a:prstGeom prst="rect">
            <a:avLst/>
          </a:prstGeom>
          <a:solidFill>
            <a:srgbClr val="4A4A4A"/>
          </a:solidFill>
          <a:ln>
            <a:noFill/>
          </a:ln>
        </p:spPr>
        <p:txBody>
          <a:bodyPr wrap="square" lIns="137160" anchor="ctr"/>
          <a:lstStyle/>
          <a:p>
            <a:pPr>
              <a:buNone/>
            </a:pPr>
            <a:r>
              <a:rPr lang="ja-JP" sz="1400" b="1" dirty="0">
                <a:solidFill>
                  <a:srgbClr val="FFFFFF"/>
                </a:solidFill>
                <a:latin typeface="BIZ UDPゴシック"/>
                <a:ea typeface="BIZ UDPゴシック"/>
              </a:rPr>
              <a:t>中期（3〜9ヶ月）</a:t>
            </a:r>
          </a:p>
        </p:txBody>
      </p:sp>
      <p:sp>
        <p:nvSpPr>
          <p:cNvPr id="40" name="S40"/>
          <p:cNvSpPr/>
          <p:nvPr/>
        </p:nvSpPr>
        <p:spPr>
          <a:xfrm>
            <a:off x="8077200" y="838200"/>
            <a:ext cx="3810000" cy="381000"/>
          </a:xfrm>
          <a:prstGeom prst="rect">
            <a:avLst/>
          </a:prstGeom>
          <a:solidFill>
            <a:srgbClr val="707070"/>
          </a:solidFill>
          <a:ln>
            <a:noFill/>
          </a:ln>
        </p:spPr>
        <p:txBody>
          <a:bodyPr wrap="square" lIns="137160" anchor="ctr"/>
          <a:lstStyle/>
          <a:p>
            <a:pPr>
              <a:buNone/>
            </a:pPr>
            <a:r>
              <a:rPr lang="ja-JP" sz="1400" b="1" dirty="0">
                <a:solidFill>
                  <a:srgbClr val="FFFFFF"/>
                </a:solidFill>
                <a:latin typeface="BIZ UDPゴシック"/>
                <a:ea typeface="BIZ UDPゴシック"/>
              </a:rPr>
              <a:t>長期（9〜18ヶ月）</a:t>
            </a:r>
          </a:p>
        </p:txBody>
      </p:sp>
      <p:sp>
        <p:nvSpPr>
          <p:cNvPr id="21" name="S21"/>
          <p:cNvSpPr/>
          <p:nvPr/>
        </p:nvSpPr>
        <p:spPr>
          <a:xfrm>
            <a:off x="152400" y="1219200"/>
            <a:ext cx="3810000" cy="30480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400"/>
              </a:spcAft>
              <a:buFont typeface="Arial"/>
              <a:buChar char="●"/>
            </a:pPr>
            <a:r>
              <a:rPr lang="ja-JP" sz="1050" dirty="0">
                <a:solidFill>
                  <a:srgbClr val="3D3D3D"/>
                </a:solidFill>
                <a:latin typeface="BIZ UDPゴシック"/>
                <a:ea typeface="BIZ UDPゴシック"/>
              </a:rPr>
              <a:t>再現可能な前処理パイプと学習ジョブ整備</a:t>
            </a:r>
          </a:p>
          <a:p>
            <a:pPr>
              <a:lnSpc>
                <a:spcPts val="1300"/>
              </a:lnSpc>
              <a:spcAft>
                <a:spcPts val="400"/>
              </a:spcAft>
              <a:buNone/>
            </a:pPr>
            <a:r>
              <a:rPr lang="ja-JP" sz="900" dirty="0">
                <a:solidFill>
                  <a:srgbClr val="707070"/>
                </a:solidFill>
                <a:latin typeface="BIZ UDPゴシック"/>
                <a:ea typeface="BIZ UDPゴシック"/>
              </a:rPr>
              <a:t>担当: 斎藤(DE)、渡辺(LDS) / 30営業日以内</a:t>
            </a:r>
          </a:p>
          <a:p>
            <a:pPr>
              <a:lnSpc>
                <a:spcPts val="1500"/>
              </a:lnSpc>
              <a:spcAft>
                <a:spcPts val="400"/>
              </a:spcAft>
              <a:buFont typeface="Arial"/>
              <a:buChar char="●"/>
            </a:pPr>
            <a:r>
              <a:rPr lang="ja-JP" sz="1050" dirty="0">
                <a:solidFill>
                  <a:srgbClr val="3D3D3D"/>
                </a:solidFill>
                <a:latin typeface="BIZ UDPゴシック"/>
                <a:ea typeface="BIZ UDPゴシック"/>
              </a:rPr>
              <a:t>モデルのステージング導入（非公開ダッシュボードで業務評価）</a:t>
            </a:r>
          </a:p>
          <a:p>
            <a:pPr>
              <a:lnSpc>
                <a:spcPts val="1300"/>
              </a:lnSpc>
              <a:spcAft>
                <a:spcPts val="400"/>
              </a:spcAft>
              <a:buNone/>
            </a:pPr>
            <a:r>
              <a:rPr lang="ja-JP" sz="900" dirty="0">
                <a:solidFill>
                  <a:srgbClr val="707070"/>
                </a:solidFill>
                <a:latin typeface="BIZ UDPゴシック"/>
                <a:ea typeface="BIZ UDPゴシック"/>
              </a:rPr>
              <a:t>担当: 佐藤(PM) + 藤田(BA)</a:t>
            </a:r>
          </a:p>
          <a:p>
            <a:pPr>
              <a:lnSpc>
                <a:spcPts val="1500"/>
              </a:lnSpc>
              <a:buFont typeface="Arial"/>
              <a:buChar char="●"/>
            </a:pPr>
            <a:r>
              <a:rPr lang="ja-JP" sz="1050" dirty="0">
                <a:solidFill>
                  <a:srgbClr val="3D3D3D"/>
                </a:solidFill>
                <a:latin typeface="BIZ UDPゴシック"/>
                <a:ea typeface="BIZ UDPゴシック"/>
              </a:rPr>
              <a:t>モニタリングPoC: データドリフトと性能ドリフトのダッシュボード作成</a:t>
            </a:r>
          </a:p>
        </p:txBody>
      </p:sp>
      <p:sp>
        <p:nvSpPr>
          <p:cNvPr id="31" name="S31"/>
          <p:cNvSpPr/>
          <p:nvPr/>
        </p:nvSpPr>
        <p:spPr>
          <a:xfrm>
            <a:off x="4114800" y="1219200"/>
            <a:ext cx="3810000" cy="30480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400"/>
              </a:spcAft>
              <a:buFont typeface="Arial"/>
              <a:buChar char="●"/>
            </a:pPr>
            <a:r>
              <a:rPr lang="ja-JP" sz="1050" dirty="0">
                <a:solidFill>
                  <a:srgbClr val="3D3D3D"/>
                </a:solidFill>
                <a:latin typeface="BIZ UDPゴシック"/>
                <a:ea typeface="BIZ UDPゴシック"/>
              </a:rPr>
              <a:t>公平性監査の実装: グループ別メトリクス、差分検定、定期レポートの自動化</a:t>
            </a:r>
          </a:p>
          <a:p>
            <a:pPr>
              <a:lnSpc>
                <a:spcPts val="1500"/>
              </a:lnSpc>
              <a:spcAft>
                <a:spcPts val="400"/>
              </a:spcAft>
              <a:buFont typeface="Arial"/>
              <a:buChar char="●"/>
            </a:pPr>
            <a:r>
              <a:rPr lang="ja-JP" sz="1050" dirty="0">
                <a:solidFill>
                  <a:srgbClr val="3D3D3D"/>
                </a:solidFill>
                <a:latin typeface="BIZ UDPゴシック"/>
                <a:ea typeface="BIZ UDPゴシック"/>
              </a:rPr>
              <a:t>データ連携: 市場給与データ等の外部データ検討と取り込み計画</a:t>
            </a:r>
          </a:p>
          <a:p>
            <a:pPr>
              <a:lnSpc>
                <a:spcPts val="1500"/>
              </a:lnSpc>
              <a:buFont typeface="Arial"/>
              <a:buChar char="●"/>
            </a:pPr>
            <a:r>
              <a:rPr lang="ja-JP" sz="1050" dirty="0">
                <a:solidFill>
                  <a:srgbClr val="3D3D3D"/>
                </a:solidFill>
                <a:latin typeface="BIZ UDPゴシック"/>
                <a:ea typeface="BIZ UDPゴシック"/>
              </a:rPr>
              <a:t>運用手順書、SOP（標準作業手順）の整備、利用者向けガイドライン作成</a:t>
            </a:r>
          </a:p>
        </p:txBody>
      </p:sp>
      <p:sp>
        <p:nvSpPr>
          <p:cNvPr id="41" name="S41"/>
          <p:cNvSpPr/>
          <p:nvPr/>
        </p:nvSpPr>
        <p:spPr>
          <a:xfrm>
            <a:off x="8077200" y="1219200"/>
            <a:ext cx="3810000" cy="30480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400"/>
              </a:spcAft>
              <a:buFont typeface="Arial"/>
              <a:buChar char="●"/>
            </a:pPr>
            <a:r>
              <a:rPr lang="ja-JP" sz="1050" dirty="0">
                <a:solidFill>
                  <a:srgbClr val="3D3D3D"/>
                </a:solidFill>
                <a:latin typeface="BIZ UDPゴシック"/>
                <a:ea typeface="BIZ UDPゴシック"/>
              </a:rPr>
              <a:t>カスタム可視化ダッシュボード（人事向け）作成とユーザートレーニング</a:t>
            </a:r>
          </a:p>
          <a:p>
            <a:pPr>
              <a:lnSpc>
                <a:spcPts val="1500"/>
              </a:lnSpc>
              <a:spcAft>
                <a:spcPts val="400"/>
              </a:spcAft>
              <a:buFont typeface="Arial"/>
              <a:buChar char="●"/>
            </a:pPr>
            <a:r>
              <a:rPr lang="ja-JP" sz="1050" dirty="0">
                <a:solidFill>
                  <a:srgbClr val="3D3D3D"/>
                </a:solidFill>
                <a:latin typeface="BIZ UDPゴシック"/>
                <a:ea typeface="BIZ UDPゴシック"/>
              </a:rPr>
              <a:t>モデルの統合運用（CI/CDによる自動再学習、検証、リリース）</a:t>
            </a:r>
          </a:p>
          <a:p>
            <a:pPr>
              <a:lnSpc>
                <a:spcPts val="1500"/>
              </a:lnSpc>
              <a:buFont typeface="Arial"/>
              <a:buChar char="●"/>
            </a:pPr>
            <a:r>
              <a:rPr lang="ja-JP" sz="1050" dirty="0">
                <a:solidFill>
                  <a:srgbClr val="3D3D3D"/>
                </a:solidFill>
                <a:latin typeface="BIZ UDPゴシック"/>
                <a:ea typeface="BIZ UDPゴシック"/>
              </a:rPr>
              <a:t>制度改定支援への横展開（法務・労務レビューは別プロセス）</a:t>
            </a:r>
          </a:p>
        </p:txBody>
      </p:sp>
      <p:sp>
        <p:nvSpPr>
          <p:cNvPr id="2" name="テキスト ボックス 1">
            <a:extLst>
              <a:ext uri="{FF2B5EF4-FFF2-40B4-BE49-F238E27FC236}">
                <a16:creationId xmlns:a16="http://schemas.microsoft.com/office/drawing/2014/main" id="{69276B9F-ED45-41ED-8C65-24FC9E5A55A3}"/>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9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892038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7. 制約事項と残余リスク</a:t>
            </a:r>
          </a:p>
        </p:txBody>
      </p:sp>
      <p:sp>
        <p:nvSpPr>
          <p:cNvPr id="20" name="S20"/>
          <p:cNvSpPr/>
          <p:nvPr/>
        </p:nvSpPr>
        <p:spPr>
          <a:xfrm>
            <a:off x="152400" y="838200"/>
            <a:ext cx="5791200" cy="381000"/>
          </a:xfrm>
          <a:prstGeom prst="rect">
            <a:avLst/>
          </a:prstGeom>
          <a:solidFill>
            <a:srgbClr val="4A4A4A"/>
          </a:solidFill>
          <a:ln>
            <a:noFill/>
          </a:ln>
        </p:spPr>
        <p:txBody>
          <a:bodyPr wrap="square" lIns="137160" anchor="ctr"/>
          <a:lstStyle/>
          <a:p>
            <a:pPr>
              <a:buNone/>
            </a:pPr>
            <a:r>
              <a:rPr lang="ja-JP" sz="1400" b="1" dirty="0">
                <a:solidFill>
                  <a:srgbClr val="FFFFFF"/>
                </a:solidFill>
                <a:latin typeface="BIZ UDPゴシック"/>
                <a:ea typeface="BIZ UDPゴシック"/>
              </a:rPr>
              <a:t>確認済み事実・前提</a:t>
            </a:r>
          </a:p>
        </p:txBody>
      </p:sp>
      <p:sp>
        <p:nvSpPr>
          <p:cNvPr id="21" name="S21"/>
          <p:cNvSpPr/>
          <p:nvPr/>
        </p:nvSpPr>
        <p:spPr>
          <a:xfrm>
            <a:off x="152400" y="1219200"/>
            <a:ext cx="5791200" cy="20574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400"/>
              </a:lnSpc>
              <a:spcAft>
                <a:spcPts val="300"/>
              </a:spcAft>
              <a:buNone/>
            </a:pPr>
            <a:r>
              <a:rPr lang="ja-JP" sz="1100" b="1" dirty="0">
                <a:solidFill>
                  <a:srgbClr val="1A1A1A"/>
                </a:solidFill>
                <a:latin typeface="BIZ UDPゴシック"/>
                <a:ea typeface="BIZ UDPゴシック"/>
              </a:rPr>
              <a:t>確認済み事実</a:t>
            </a:r>
          </a:p>
          <a:p>
            <a:pPr>
              <a:lnSpc>
                <a:spcPts val="1400"/>
              </a:lnSpc>
              <a:spcAft>
                <a:spcPts val="200"/>
              </a:spcAft>
              <a:buFont typeface="Arial"/>
              <a:buChar char="▸"/>
            </a:pPr>
            <a:r>
              <a:rPr lang="ja-JP" sz="1000" dirty="0">
                <a:solidFill>
                  <a:srgbClr val="3D3D3D"/>
                </a:solidFill>
                <a:latin typeface="BIZ UDPゴシック"/>
                <a:ea typeface="BIZ UDPゴシック"/>
              </a:rPr>
              <a:t>データ: train.csv（11,529行）＋カラム説明.md</a:t>
            </a:r>
          </a:p>
          <a:p>
            <a:pPr>
              <a:lnSpc>
                <a:spcPts val="1400"/>
              </a:lnSpc>
              <a:spcAft>
                <a:spcPts val="200"/>
              </a:spcAft>
              <a:buFont typeface="Arial"/>
              <a:buChar char="▸"/>
            </a:pPr>
            <a:r>
              <a:rPr lang="ja-JP" sz="1000" dirty="0">
                <a:solidFill>
                  <a:srgbClr val="3D3D3D"/>
                </a:solidFill>
                <a:latin typeface="BIZ UDPゴシック"/>
                <a:ea typeface="BIZ UDPゴシック"/>
              </a:rPr>
              <a:t>欠損: Major 112件、Experience 55件</a:t>
            </a:r>
          </a:p>
          <a:p>
            <a:pPr>
              <a:lnSpc>
                <a:spcPts val="1400"/>
              </a:lnSpc>
              <a:spcAft>
                <a:spcPts val="200"/>
              </a:spcAft>
              <a:buFont typeface="Arial"/>
              <a:buChar char="▸"/>
            </a:pPr>
            <a:r>
              <a:rPr lang="ja-JP" sz="1000" dirty="0">
                <a:solidFill>
                  <a:srgbClr val="3D3D3D"/>
                </a:solidFill>
                <a:latin typeface="BIZ UDPゴシック"/>
                <a:ea typeface="BIZ UDPゴシック"/>
              </a:rPr>
              <a:t>契約: T&amp;M、25,000JPY/h、170時間、税率10%</a:t>
            </a:r>
          </a:p>
          <a:p>
            <a:pPr>
              <a:lnSpc>
                <a:spcPts val="1400"/>
              </a:lnSpc>
              <a:spcAft>
                <a:spcPts val="500"/>
              </a:spcAft>
              <a:buFont typeface="Arial"/>
              <a:buChar char="▸"/>
            </a:pPr>
            <a:r>
              <a:rPr lang="ja-JP" sz="1000" dirty="0">
                <a:solidFill>
                  <a:srgbClr val="3D3D3D"/>
                </a:solidFill>
                <a:latin typeface="BIZ UDPゴシック"/>
                <a:ea typeface="BIZ UDPゴシック"/>
              </a:rPr>
              <a:t>Targetクラス定義の重複は原定義を維持</a:t>
            </a:r>
          </a:p>
          <a:p>
            <a:pPr>
              <a:lnSpc>
                <a:spcPts val="1400"/>
              </a:lnSpc>
              <a:spcAft>
                <a:spcPts val="300"/>
              </a:spcAft>
              <a:buNone/>
            </a:pPr>
            <a:r>
              <a:rPr lang="ja-JP" sz="1100" b="1" dirty="0">
                <a:solidFill>
                  <a:srgbClr val="1A1A1A"/>
                </a:solidFill>
                <a:latin typeface="BIZ UDPゴシック"/>
                <a:ea typeface="BIZ UDPゴシック"/>
              </a:rPr>
              <a:t>前提・仮定</a:t>
            </a:r>
          </a:p>
          <a:p>
            <a:pPr>
              <a:lnSpc>
                <a:spcPts val="1400"/>
              </a:lnSpc>
              <a:spcAft>
                <a:spcPts val="200"/>
              </a:spcAft>
              <a:buFont typeface="Arial"/>
              <a:buChar char="▸"/>
            </a:pPr>
            <a:r>
              <a:rPr lang="ja-JP" sz="1000" dirty="0">
                <a:solidFill>
                  <a:srgbClr val="3D3D3D"/>
                </a:solidFill>
                <a:latin typeface="BIZ UDPゴシック"/>
                <a:ea typeface="BIZ UDPゴシック"/>
              </a:rPr>
              <a:t>提供データの代表性が前提（全社横展開の保証なし）</a:t>
            </a:r>
          </a:p>
          <a:p>
            <a:pPr>
              <a:lnSpc>
                <a:spcPts val="1400"/>
              </a:lnSpc>
              <a:buFont typeface="Arial"/>
              <a:buChar char="▸"/>
            </a:pPr>
            <a:r>
              <a:rPr lang="ja-JP" sz="1000" dirty="0">
                <a:solidFill>
                  <a:srgbClr val="3D3D3D"/>
                </a:solidFill>
                <a:latin typeface="BIZ UDPゴシック"/>
                <a:ea typeface="BIZ UDPゴシック"/>
              </a:rPr>
              <a:t>追加データにより性能が変動する可能性あり</a:t>
            </a:r>
          </a:p>
        </p:txBody>
      </p:sp>
      <p:sp>
        <p:nvSpPr>
          <p:cNvPr id="30" name="S30"/>
          <p:cNvSpPr/>
          <p:nvPr/>
        </p:nvSpPr>
        <p:spPr>
          <a:xfrm>
            <a:off x="6096000" y="838200"/>
            <a:ext cx="5943600" cy="381000"/>
          </a:xfrm>
          <a:prstGeom prst="rect">
            <a:avLst/>
          </a:prstGeom>
          <a:solidFill>
            <a:srgbClr val="8B2500"/>
          </a:solidFill>
          <a:ln>
            <a:noFill/>
          </a:ln>
        </p:spPr>
        <p:txBody>
          <a:bodyPr wrap="square" lIns="137160" anchor="ctr"/>
          <a:lstStyle/>
          <a:p>
            <a:pPr>
              <a:buNone/>
            </a:pPr>
            <a:r>
              <a:rPr lang="ja-JP" sz="1400" b="1" dirty="0">
                <a:solidFill>
                  <a:srgbClr val="FFFFFF"/>
                </a:solidFill>
                <a:latin typeface="BIZ UDPゴシック"/>
                <a:ea typeface="BIZ UDPゴシック"/>
              </a:rPr>
              <a:t>残余リスクと対策</a:t>
            </a:r>
          </a:p>
        </p:txBody>
      </p:sp>
      <p:sp>
        <p:nvSpPr>
          <p:cNvPr id="40" name="S40"/>
          <p:cNvSpPr/>
          <p:nvPr/>
        </p:nvSpPr>
        <p:spPr>
          <a:xfrm>
            <a:off x="6096000" y="1295400"/>
            <a:ext cx="685800" cy="457200"/>
          </a:xfrm>
          <a:prstGeom prst="roundRect">
            <a:avLst>
              <a:gd name="adj" fmla="val 6000"/>
            </a:avLst>
          </a:prstGeom>
          <a:solidFill>
            <a:srgbClr val="8B2500"/>
          </a:solidFill>
          <a:ln>
            <a:noFill/>
          </a:ln>
        </p:spPr>
        <p:txBody>
          <a:bodyPr wrap="square" lIns="45720" rIns="45720" anchor="ctr"/>
          <a:lstStyle/>
          <a:p>
            <a:pPr algn="ctr">
              <a:buNone/>
            </a:pPr>
            <a:r>
              <a:rPr lang="ja-JP" sz="900" dirty="0">
                <a:solidFill>
                  <a:srgbClr val="FFFFFF"/>
                </a:solidFill>
                <a:latin typeface="BIZ UDPゴシック"/>
                <a:ea typeface="BIZ UDPゴシック"/>
              </a:rPr>
              <a:t>高</a:t>
            </a:r>
          </a:p>
          <a:p>
            <a:pPr algn="ctr">
              <a:buNone/>
            </a:pPr>
            <a:r>
              <a:rPr lang="ja-JP" sz="800" dirty="0">
                <a:solidFill>
                  <a:srgbClr val="FFFFFF"/>
                </a:solidFill>
                <a:latin typeface="BIZ UDPゴシック"/>
                <a:ea typeface="BIZ UDPゴシック"/>
              </a:rPr>
              <a:t>公平性・バイアスリスク</a:t>
            </a:r>
          </a:p>
        </p:txBody>
      </p:sp>
      <p:sp>
        <p:nvSpPr>
          <p:cNvPr id="41" name="S41"/>
          <p:cNvSpPr/>
          <p:nvPr/>
        </p:nvSpPr>
        <p:spPr>
          <a:xfrm>
            <a:off x="6858000" y="1295400"/>
            <a:ext cx="5181600" cy="457200"/>
          </a:xfrm>
          <a:prstGeom prst="roundRect">
            <a:avLst>
              <a:gd name="adj" fmla="val 6000"/>
            </a:avLst>
          </a:prstGeom>
          <a:solidFill>
            <a:srgbClr val="F5F5F5"/>
          </a:solidFill>
          <a:ln w="12700">
            <a:solidFill>
              <a:srgbClr val="D0D0D0"/>
            </a:solidFill>
          </a:ln>
        </p:spPr>
        <p:txBody>
          <a:bodyPr wrap="square" lIns="137160" rIns="91440" anchor="ctr"/>
          <a:lstStyle/>
          <a:p>
            <a:pPr>
              <a:buNone/>
            </a:pPr>
            <a:r>
              <a:rPr lang="ja-JP" sz="1000" dirty="0">
                <a:solidFill>
                  <a:srgbClr val="707070"/>
                </a:solidFill>
                <a:latin typeface="BIZ UDPゴシック"/>
                <a:ea typeface="BIZ UDPゴシック"/>
              </a:rPr>
              <a:t>対策: </a:t>
            </a:r>
            <a:r>
              <a:rPr lang="ja-JP" sz="1000" dirty="0">
                <a:solidFill>
                  <a:srgbClr val="3D3D3D"/>
                </a:solidFill>
                <a:latin typeface="BIZ UDPゴシック"/>
                <a:ea typeface="BIZ UDPゴシック"/>
              </a:rPr>
              <a:t>グループ別評価・説明資料の付与・運用ガイドラインの徹底</a:t>
            </a:r>
          </a:p>
        </p:txBody>
      </p:sp>
      <p:sp>
        <p:nvSpPr>
          <p:cNvPr id="42" name="S42"/>
          <p:cNvSpPr/>
          <p:nvPr/>
        </p:nvSpPr>
        <p:spPr>
          <a:xfrm>
            <a:off x="6096000" y="1828800"/>
            <a:ext cx="685800" cy="457200"/>
          </a:xfrm>
          <a:prstGeom prst="roundRect">
            <a:avLst>
              <a:gd name="adj" fmla="val 6000"/>
            </a:avLst>
          </a:prstGeom>
          <a:solidFill>
            <a:srgbClr val="B8442C"/>
          </a:solidFill>
          <a:ln>
            <a:noFill/>
          </a:ln>
        </p:spPr>
        <p:txBody>
          <a:bodyPr wrap="square" lIns="45720" rIns="45720" anchor="ctr"/>
          <a:lstStyle/>
          <a:p>
            <a:pPr algn="ctr">
              <a:buNone/>
            </a:pPr>
            <a:r>
              <a:rPr lang="ja-JP" sz="900" dirty="0">
                <a:solidFill>
                  <a:srgbClr val="FFFFFF"/>
                </a:solidFill>
                <a:latin typeface="BIZ UDPゴシック"/>
                <a:ea typeface="BIZ UDPゴシック"/>
              </a:rPr>
              <a:t>中</a:t>
            </a:r>
          </a:p>
          <a:p>
            <a:pPr algn="ctr">
              <a:buNone/>
            </a:pPr>
            <a:r>
              <a:rPr lang="ja-JP" sz="800" dirty="0">
                <a:solidFill>
                  <a:srgbClr val="FFFFFF"/>
                </a:solidFill>
                <a:latin typeface="BIZ UDPゴシック"/>
                <a:ea typeface="BIZ UDPゴシック"/>
              </a:rPr>
              <a:t>データ偏在</a:t>
            </a:r>
          </a:p>
        </p:txBody>
      </p:sp>
      <p:sp>
        <p:nvSpPr>
          <p:cNvPr id="43" name="S43"/>
          <p:cNvSpPr/>
          <p:nvPr/>
        </p:nvSpPr>
        <p:spPr>
          <a:xfrm>
            <a:off x="6858000" y="1828800"/>
            <a:ext cx="5181600" cy="457200"/>
          </a:xfrm>
          <a:prstGeom prst="roundRect">
            <a:avLst>
              <a:gd name="adj" fmla="val 6000"/>
            </a:avLst>
          </a:prstGeom>
          <a:solidFill>
            <a:srgbClr val="F5F5F5"/>
          </a:solidFill>
          <a:ln w="12700">
            <a:solidFill>
              <a:srgbClr val="D0D0D0"/>
            </a:solidFill>
          </a:ln>
        </p:spPr>
        <p:txBody>
          <a:bodyPr wrap="square" lIns="137160" rIns="91440" anchor="ctr"/>
          <a:lstStyle/>
          <a:p>
            <a:pPr>
              <a:buNone/>
            </a:pPr>
            <a:r>
              <a:rPr lang="ja-JP" sz="1000" dirty="0">
                <a:solidFill>
                  <a:srgbClr val="707070"/>
                </a:solidFill>
                <a:latin typeface="BIZ UDPゴシック"/>
                <a:ea typeface="BIZ UDPゴシック"/>
              </a:rPr>
              <a:t>対策: </a:t>
            </a:r>
            <a:r>
              <a:rPr lang="ja-JP" sz="1000" dirty="0">
                <a:solidFill>
                  <a:srgbClr val="3D3D3D"/>
                </a:solidFill>
                <a:latin typeface="BIZ UDPゴシック"/>
                <a:ea typeface="BIZ UDPゴシック"/>
              </a:rPr>
              <a:t>長尾カテゴリ集約ルールの適用と感度分析</a:t>
            </a:r>
          </a:p>
        </p:txBody>
      </p:sp>
      <p:sp>
        <p:nvSpPr>
          <p:cNvPr id="44" name="S44"/>
          <p:cNvSpPr/>
          <p:nvPr/>
        </p:nvSpPr>
        <p:spPr>
          <a:xfrm>
            <a:off x="6096000" y="2362200"/>
            <a:ext cx="685800" cy="457200"/>
          </a:xfrm>
          <a:prstGeom prst="roundRect">
            <a:avLst>
              <a:gd name="adj" fmla="val 6000"/>
            </a:avLst>
          </a:prstGeom>
          <a:solidFill>
            <a:srgbClr val="B8442C"/>
          </a:solidFill>
          <a:ln>
            <a:noFill/>
          </a:ln>
        </p:spPr>
        <p:txBody>
          <a:bodyPr wrap="square" lIns="45720" rIns="45720" anchor="ctr"/>
          <a:lstStyle/>
          <a:p>
            <a:pPr algn="ctr">
              <a:buNone/>
            </a:pPr>
            <a:r>
              <a:rPr lang="ja-JP" sz="900" dirty="0">
                <a:solidFill>
                  <a:srgbClr val="FFFFFF"/>
                </a:solidFill>
                <a:latin typeface="BIZ UDPゴシック"/>
                <a:ea typeface="BIZ UDPゴシック"/>
              </a:rPr>
              <a:t>中</a:t>
            </a:r>
          </a:p>
          <a:p>
            <a:pPr algn="ctr">
              <a:buNone/>
            </a:pPr>
            <a:r>
              <a:rPr lang="ja-JP" sz="800" dirty="0">
                <a:solidFill>
                  <a:srgbClr val="FFFFFF"/>
                </a:solidFill>
                <a:latin typeface="BIZ UDPゴシック"/>
                <a:ea typeface="BIZ UDPゴシック"/>
              </a:rPr>
              <a:t>スコープ超過</a:t>
            </a:r>
          </a:p>
        </p:txBody>
      </p:sp>
      <p:sp>
        <p:nvSpPr>
          <p:cNvPr id="45" name="S45"/>
          <p:cNvSpPr/>
          <p:nvPr/>
        </p:nvSpPr>
        <p:spPr>
          <a:xfrm>
            <a:off x="6858000" y="2362200"/>
            <a:ext cx="5181600" cy="457200"/>
          </a:xfrm>
          <a:prstGeom prst="roundRect">
            <a:avLst>
              <a:gd name="adj" fmla="val 6000"/>
            </a:avLst>
          </a:prstGeom>
          <a:solidFill>
            <a:srgbClr val="F5F5F5"/>
          </a:solidFill>
          <a:ln w="12700">
            <a:solidFill>
              <a:srgbClr val="D0D0D0"/>
            </a:solidFill>
          </a:ln>
        </p:spPr>
        <p:txBody>
          <a:bodyPr wrap="square" lIns="137160" rIns="91440" anchor="ctr"/>
          <a:lstStyle/>
          <a:p>
            <a:pPr>
              <a:buNone/>
            </a:pPr>
            <a:r>
              <a:rPr lang="ja-JP" sz="1000" dirty="0">
                <a:solidFill>
                  <a:srgbClr val="707070"/>
                </a:solidFill>
                <a:latin typeface="BIZ UDPゴシック"/>
                <a:ea typeface="BIZ UDPゴシック"/>
              </a:rPr>
              <a:t>対策: </a:t>
            </a:r>
            <a:r>
              <a:rPr lang="ja-JP" sz="1000" dirty="0">
                <a:solidFill>
                  <a:srgbClr val="3D3D3D"/>
                </a:solidFill>
                <a:latin typeface="BIZ UDPゴシック"/>
                <a:ea typeface="BIZ UDPゴシック"/>
              </a:rPr>
              <a:t>変更管理ゲート（MS5）で追加要求を時間単価ベースで精査</a:t>
            </a:r>
          </a:p>
        </p:txBody>
      </p:sp>
      <p:sp>
        <p:nvSpPr>
          <p:cNvPr id="46" name="S46"/>
          <p:cNvSpPr/>
          <p:nvPr/>
        </p:nvSpPr>
        <p:spPr>
          <a:xfrm>
            <a:off x="6096000" y="2895600"/>
            <a:ext cx="685800" cy="457200"/>
          </a:xfrm>
          <a:prstGeom prst="roundRect">
            <a:avLst>
              <a:gd name="adj" fmla="val 6000"/>
            </a:avLst>
          </a:prstGeom>
          <a:solidFill>
            <a:srgbClr val="B8442C"/>
          </a:solidFill>
          <a:ln>
            <a:noFill/>
          </a:ln>
        </p:spPr>
        <p:txBody>
          <a:bodyPr wrap="square" lIns="45720" rIns="45720" anchor="ctr"/>
          <a:lstStyle/>
          <a:p>
            <a:pPr algn="ctr">
              <a:buNone/>
            </a:pPr>
            <a:r>
              <a:rPr lang="ja-JP" sz="900" dirty="0">
                <a:solidFill>
                  <a:srgbClr val="FFFFFF"/>
                </a:solidFill>
                <a:latin typeface="BIZ UDPゴシック"/>
                <a:ea typeface="BIZ UDPゴシック"/>
              </a:rPr>
              <a:t>中</a:t>
            </a:r>
          </a:p>
          <a:p>
            <a:pPr algn="ctr">
              <a:buNone/>
            </a:pPr>
            <a:r>
              <a:rPr lang="ja-JP" sz="800" dirty="0">
                <a:solidFill>
                  <a:srgbClr val="FFFFFF"/>
                </a:solidFill>
                <a:latin typeface="BIZ UDPゴシック"/>
                <a:ea typeface="BIZ UDPゴシック"/>
              </a:rPr>
              <a:t>運用段階でのドリフト</a:t>
            </a:r>
          </a:p>
        </p:txBody>
      </p:sp>
      <p:sp>
        <p:nvSpPr>
          <p:cNvPr id="47" name="S47"/>
          <p:cNvSpPr/>
          <p:nvPr/>
        </p:nvSpPr>
        <p:spPr>
          <a:xfrm>
            <a:off x="6858000" y="2895600"/>
            <a:ext cx="5181600" cy="457200"/>
          </a:xfrm>
          <a:prstGeom prst="roundRect">
            <a:avLst>
              <a:gd name="adj" fmla="val 6000"/>
            </a:avLst>
          </a:prstGeom>
          <a:solidFill>
            <a:srgbClr val="F5F5F5"/>
          </a:solidFill>
          <a:ln w="12700">
            <a:solidFill>
              <a:srgbClr val="D0D0D0"/>
            </a:solidFill>
          </a:ln>
        </p:spPr>
        <p:txBody>
          <a:bodyPr wrap="square" lIns="137160" rIns="91440" anchor="ctr"/>
          <a:lstStyle/>
          <a:p>
            <a:pPr>
              <a:buNone/>
            </a:pPr>
            <a:r>
              <a:rPr lang="ja-JP" sz="1000" dirty="0">
                <a:solidFill>
                  <a:srgbClr val="707070"/>
                </a:solidFill>
                <a:latin typeface="BIZ UDPゴシック"/>
                <a:ea typeface="BIZ UDPゴシック"/>
              </a:rPr>
              <a:t>対策: </a:t>
            </a:r>
            <a:r>
              <a:rPr lang="ja-JP" sz="1000" dirty="0">
                <a:solidFill>
                  <a:srgbClr val="3D3D3D"/>
                </a:solidFill>
                <a:latin typeface="BIZ UDPゴシック"/>
                <a:ea typeface="BIZ UDPゴシック"/>
              </a:rPr>
              <a:t>監視・再学習体制の早期構築</a:t>
            </a:r>
          </a:p>
        </p:txBody>
      </p:sp>
      <p:sp>
        <p:nvSpPr>
          <p:cNvPr id="2" name="テキスト ボックス 1">
            <a:extLst>
              <a:ext uri="{FF2B5EF4-FFF2-40B4-BE49-F238E27FC236}">
                <a16:creationId xmlns:a16="http://schemas.microsoft.com/office/drawing/2014/main" id="{150BA12F-BD5B-4B47-99BF-0AE1B131101C}"/>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10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471905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8. 今後の拡張ロードマップ</a:t>
            </a:r>
          </a:p>
        </p:txBody>
      </p:sp>
      <p:sp>
        <p:nvSpPr>
          <p:cNvPr id="20" name="S20"/>
          <p:cNvSpPr/>
          <p:nvPr/>
        </p:nvSpPr>
        <p:spPr>
          <a:xfrm>
            <a:off x="152400" y="838200"/>
            <a:ext cx="3810000" cy="457200"/>
          </a:xfrm>
          <a:prstGeom prst="roundRect">
            <a:avLst>
              <a:gd name="adj" fmla="val 6000"/>
            </a:avLst>
          </a:prstGeom>
          <a:solidFill>
            <a:srgbClr val="8B2500"/>
          </a:solidFill>
          <a:ln>
            <a:noFill/>
          </a:ln>
        </p:spPr>
        <p:txBody>
          <a:bodyPr wrap="square" lIns="137160" anchor="ctr"/>
          <a:lstStyle/>
          <a:p>
            <a:pPr>
              <a:buNone/>
            </a:pPr>
            <a:r>
              <a:rPr lang="ja-JP" sz="1400" b="1" dirty="0">
                <a:solidFill>
                  <a:srgbClr val="FFFFFF"/>
                </a:solidFill>
                <a:latin typeface="BIZ UDPゴシック"/>
                <a:ea typeface="BIZ UDPゴシック"/>
              </a:rPr>
              <a:t>フェーズA: 運用準備（0〜3ヶ月）</a:t>
            </a:r>
          </a:p>
        </p:txBody>
      </p:sp>
      <p:sp>
        <p:nvSpPr>
          <p:cNvPr id="21" name="S21"/>
          <p:cNvSpPr/>
          <p:nvPr/>
        </p:nvSpPr>
        <p:spPr>
          <a:xfrm>
            <a:off x="152400" y="1295400"/>
            <a:ext cx="3810000" cy="21336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1)"/>
            </a:pPr>
            <a:r>
              <a:rPr lang="ja-JP" sz="1050" dirty="0">
                <a:solidFill>
                  <a:srgbClr val="3D3D3D"/>
                </a:solidFill>
                <a:latin typeface="BIZ UDPゴシック"/>
                <a:ea typeface="BIZ UDPゴシック"/>
              </a:rPr>
              <a:t> 前処理パイプライン自動化（斎藤）</a:t>
            </a:r>
          </a:p>
          <a:p>
            <a:pPr>
              <a:lnSpc>
                <a:spcPts val="1500"/>
              </a:lnSpc>
              <a:spcAft>
                <a:spcPts val="300"/>
              </a:spcAft>
              <a:buFont typeface="Arial"/>
              <a:buChar char="2)"/>
            </a:pPr>
            <a:r>
              <a:rPr lang="ja-JP" sz="1050" dirty="0">
                <a:solidFill>
                  <a:srgbClr val="3D3D3D"/>
                </a:solidFill>
                <a:latin typeface="BIZ UDPゴシック"/>
                <a:ea typeface="BIZ UDPゴシック"/>
              </a:rPr>
              <a:t> ステージング環境でのUAT（藤田/石川）</a:t>
            </a:r>
          </a:p>
          <a:p>
            <a:pPr>
              <a:lnSpc>
                <a:spcPts val="1500"/>
              </a:lnSpc>
              <a:spcAft>
                <a:spcPts val="600"/>
              </a:spcAft>
              <a:buFont typeface="Arial"/>
              <a:buChar char="3)"/>
            </a:pPr>
            <a:r>
              <a:rPr lang="ja-JP" sz="1050" dirty="0">
                <a:solidFill>
                  <a:srgbClr val="3D3D3D"/>
                </a:solidFill>
                <a:latin typeface="BIZ UDPゴシック"/>
                <a:ea typeface="BIZ UDPゴシック"/>
              </a:rPr>
              <a:t> 基本モニタリング（性能/データ分布）とアラート設定（渡辺）</a:t>
            </a:r>
          </a:p>
          <a:p>
            <a:pPr>
              <a:buNone/>
            </a:pPr>
            <a:r>
              <a:rPr lang="ja-JP" sz="1000" b="1" dirty="0">
                <a:solidFill>
                  <a:srgbClr val="8B2500"/>
                </a:solidFill>
                <a:latin typeface="BIZ UDPゴシック"/>
                <a:ea typeface="BIZ UDPゴシック"/>
              </a:rPr>
              <a:t>概算: 30〜60時間</a:t>
            </a:r>
          </a:p>
        </p:txBody>
      </p:sp>
      <p:sp>
        <p:nvSpPr>
          <p:cNvPr id="30" name="S30"/>
          <p:cNvSpPr/>
          <p:nvPr/>
        </p:nvSpPr>
        <p:spPr>
          <a:xfrm>
            <a:off x="4114800" y="838200"/>
            <a:ext cx="3810000" cy="457200"/>
          </a:xfrm>
          <a:prstGeom prst="roundRect">
            <a:avLst>
              <a:gd name="adj" fmla="val 6000"/>
            </a:avLst>
          </a:prstGeom>
          <a:solidFill>
            <a:srgbClr val="4A4A4A"/>
          </a:solidFill>
          <a:ln>
            <a:noFill/>
          </a:ln>
        </p:spPr>
        <p:txBody>
          <a:bodyPr wrap="square" lIns="137160" anchor="ctr"/>
          <a:lstStyle/>
          <a:p>
            <a:pPr>
              <a:buNone/>
            </a:pPr>
            <a:r>
              <a:rPr lang="ja-JP" sz="1400" b="1" dirty="0">
                <a:solidFill>
                  <a:srgbClr val="FFFFFF"/>
                </a:solidFill>
                <a:latin typeface="BIZ UDPゴシック"/>
                <a:ea typeface="BIZ UDPゴシック"/>
              </a:rPr>
              <a:t>フェーズB: 性能・公平性強化（3〜9ヶ月）</a:t>
            </a:r>
          </a:p>
        </p:txBody>
      </p:sp>
      <p:sp>
        <p:nvSpPr>
          <p:cNvPr id="31" name="S31"/>
          <p:cNvSpPr/>
          <p:nvPr/>
        </p:nvSpPr>
        <p:spPr>
          <a:xfrm>
            <a:off x="4114800" y="1295400"/>
            <a:ext cx="3810000" cy="21336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1)"/>
            </a:pPr>
            <a:r>
              <a:rPr lang="ja-JP" sz="1050" dirty="0">
                <a:solidFill>
                  <a:srgbClr val="3D3D3D"/>
                </a:solidFill>
                <a:latin typeface="BIZ UDPゴシック"/>
                <a:ea typeface="BIZ UDPゴシック"/>
              </a:rPr>
              <a:t> グループ別公平性監査の定着（定期レポート化）</a:t>
            </a:r>
          </a:p>
          <a:p>
            <a:pPr>
              <a:lnSpc>
                <a:spcPts val="1500"/>
              </a:lnSpc>
              <a:spcAft>
                <a:spcPts val="300"/>
              </a:spcAft>
              <a:buFont typeface="Arial"/>
              <a:buChar char="2)"/>
            </a:pPr>
            <a:r>
              <a:rPr lang="ja-JP" sz="1050" dirty="0">
                <a:solidFill>
                  <a:srgbClr val="3D3D3D"/>
                </a:solidFill>
                <a:latin typeface="BIZ UDPゴシック"/>
                <a:ea typeface="BIZ UDPゴシック"/>
              </a:rPr>
              <a:t> 外部給与データ取り込み検討とABテストによる外部妥当性評価</a:t>
            </a:r>
          </a:p>
          <a:p>
            <a:pPr>
              <a:lnSpc>
                <a:spcPts val="1500"/>
              </a:lnSpc>
              <a:spcAft>
                <a:spcPts val="600"/>
              </a:spcAft>
              <a:buFont typeface="Arial"/>
              <a:buChar char="3)"/>
            </a:pPr>
            <a:r>
              <a:rPr lang="ja-JP" sz="1050" dirty="0">
                <a:solidFill>
                  <a:srgbClr val="3D3D3D"/>
                </a:solidFill>
                <a:latin typeface="BIZ UDPゴシック"/>
                <a:ea typeface="BIZ UDPゴシック"/>
              </a:rPr>
              <a:t> 非線形モデル最適化と説明可能性の両立（モデルバンク化）</a:t>
            </a:r>
          </a:p>
          <a:p>
            <a:pPr>
              <a:buNone/>
            </a:pPr>
            <a:r>
              <a:rPr lang="ja-JP" sz="1000" b="1" dirty="0">
                <a:solidFill>
                  <a:srgbClr val="4A4A4A"/>
                </a:solidFill>
                <a:latin typeface="BIZ UDPゴシック"/>
                <a:ea typeface="BIZ UDPゴシック"/>
              </a:rPr>
              <a:t>概算: 80〜160時間</a:t>
            </a:r>
          </a:p>
        </p:txBody>
      </p:sp>
      <p:sp>
        <p:nvSpPr>
          <p:cNvPr id="40" name="S40"/>
          <p:cNvSpPr/>
          <p:nvPr/>
        </p:nvSpPr>
        <p:spPr>
          <a:xfrm>
            <a:off x="8077200" y="838200"/>
            <a:ext cx="3962400" cy="457200"/>
          </a:xfrm>
          <a:prstGeom prst="roundRect">
            <a:avLst>
              <a:gd name="adj" fmla="val 6000"/>
            </a:avLst>
          </a:prstGeom>
          <a:solidFill>
            <a:srgbClr val="707070"/>
          </a:solidFill>
          <a:ln>
            <a:noFill/>
          </a:ln>
        </p:spPr>
        <p:txBody>
          <a:bodyPr wrap="square" lIns="137160" anchor="ctr"/>
          <a:lstStyle/>
          <a:p>
            <a:pPr>
              <a:buNone/>
            </a:pPr>
            <a:r>
              <a:rPr lang="ja-JP" sz="1400" b="1" dirty="0">
                <a:solidFill>
                  <a:srgbClr val="FFFFFF"/>
                </a:solidFill>
                <a:latin typeface="BIZ UDPゴシック"/>
                <a:ea typeface="BIZ UDPゴシック"/>
              </a:rPr>
              <a:t>フェーズC: 業務統合・拡張（9〜18ヶ月）</a:t>
            </a:r>
          </a:p>
        </p:txBody>
      </p:sp>
      <p:sp>
        <p:nvSpPr>
          <p:cNvPr id="41" name="S41"/>
          <p:cNvSpPr/>
          <p:nvPr/>
        </p:nvSpPr>
        <p:spPr>
          <a:xfrm>
            <a:off x="8077200" y="1295400"/>
            <a:ext cx="3962400" cy="2133600"/>
          </a:xfrm>
          <a:prstGeom prst="roundRect">
            <a:avLst>
              <a:gd name="adj" fmla="val 6000"/>
            </a:avLst>
          </a:prstGeom>
          <a:solidFill>
            <a:srgbClr val="F5F5F5"/>
          </a:solidFill>
          <a:ln w="12700">
            <a:solidFill>
              <a:srgbClr val="D0D0D0"/>
            </a:solidFill>
          </a:ln>
        </p:spPr>
        <p:txBody>
          <a:bodyPr wrap="square" lIns="137160" tIns="91440" rIns="91440" anchor="t"/>
          <a:lstStyle/>
          <a:p>
            <a:pPr>
              <a:lnSpc>
                <a:spcPts val="1500"/>
              </a:lnSpc>
              <a:spcAft>
                <a:spcPts val="300"/>
              </a:spcAft>
              <a:buFont typeface="Arial"/>
              <a:buChar char="1)"/>
            </a:pPr>
            <a:r>
              <a:rPr lang="ja-JP" sz="1050" dirty="0">
                <a:solidFill>
                  <a:srgbClr val="3D3D3D"/>
                </a:solidFill>
                <a:latin typeface="BIZ UDPゴシック"/>
                <a:ea typeface="BIZ UDPゴシック"/>
              </a:rPr>
              <a:t> ダッシュボードの業務配布、ユーザートレーニング、CI/CDの実装</a:t>
            </a:r>
          </a:p>
          <a:p>
            <a:pPr>
              <a:lnSpc>
                <a:spcPts val="1500"/>
              </a:lnSpc>
              <a:spcAft>
                <a:spcPts val="300"/>
              </a:spcAft>
              <a:buFont typeface="Arial"/>
              <a:buChar char="2)"/>
            </a:pPr>
            <a:r>
              <a:rPr lang="ja-JP" sz="1050" dirty="0">
                <a:solidFill>
                  <a:srgbClr val="3D3D3D"/>
                </a:solidFill>
                <a:latin typeface="BIZ UDPゴシック"/>
                <a:ea typeface="BIZ UDPゴシック"/>
              </a:rPr>
              <a:t> 人事制度改定支援レポーティングテンプレートの策定（法務確認必須）</a:t>
            </a:r>
          </a:p>
          <a:p>
            <a:pPr>
              <a:lnSpc>
                <a:spcPts val="1500"/>
              </a:lnSpc>
              <a:spcAft>
                <a:spcPts val="600"/>
              </a:spcAft>
              <a:buFont typeface="Arial"/>
              <a:buChar char="3)"/>
            </a:pPr>
            <a:r>
              <a:rPr lang="ja-JP" sz="1050" dirty="0">
                <a:solidFill>
                  <a:srgbClr val="3D3D3D"/>
                </a:solidFill>
                <a:latin typeface="BIZ UDPゴシック"/>
                <a:ea typeface="BIZ UDPゴシック"/>
              </a:rPr>
              <a:t> ガバナンス手順（説明責任者、監査ログ保管）整備</a:t>
            </a:r>
          </a:p>
          <a:p>
            <a:pPr>
              <a:buNone/>
            </a:pPr>
            <a:r>
              <a:rPr lang="ja-JP" sz="1000" b="1" dirty="0">
                <a:solidFill>
                  <a:srgbClr val="707070"/>
                </a:solidFill>
                <a:latin typeface="BIZ UDPゴシック"/>
                <a:ea typeface="BIZ UDPゴシック"/>
              </a:rPr>
              <a:t>※ 別途見積・合意の上で着手</a:t>
            </a:r>
          </a:p>
        </p:txBody>
      </p:sp>
      <p:sp>
        <p:nvSpPr>
          <p:cNvPr id="50" name="S50"/>
          <p:cNvSpPr/>
          <p:nvPr/>
        </p:nvSpPr>
        <p:spPr>
          <a:xfrm>
            <a:off x="304800" y="3657600"/>
            <a:ext cx="11582400" cy="381000"/>
          </a:xfrm>
          <a:prstGeom prst="rect">
            <a:avLst/>
          </a:prstGeom>
          <a:noFill/>
          <a:ln>
            <a:noFill/>
          </a:ln>
        </p:spPr>
        <p:txBody>
          <a:bodyPr wrap="square" lIns="0" anchor="ctr"/>
          <a:lstStyle/>
          <a:p>
            <a:endParaRPr lang="ja-JP"/>
          </a:p>
        </p:txBody>
      </p:sp>
      <p:sp>
        <p:nvSpPr>
          <p:cNvPr id="60" name="S60"/>
          <p:cNvSpPr/>
          <p:nvPr/>
        </p:nvSpPr>
        <p:spPr>
          <a:xfrm>
            <a:off x="-76200" y="4038600"/>
            <a:ext cx="762000" cy="228600"/>
          </a:xfrm>
          <a:prstGeom prst="rect">
            <a:avLst/>
          </a:prstGeom>
          <a:noFill/>
          <a:ln>
            <a:noFill/>
          </a:ln>
        </p:spPr>
        <p:txBody>
          <a:bodyPr wrap="square" anchor="t"/>
          <a:lstStyle/>
          <a:p>
            <a:pPr algn="ctr">
              <a:buNone/>
            </a:pPr>
            <a:r>
              <a:rPr lang="ja-JP" sz="900" dirty="0">
                <a:solidFill>
                  <a:srgbClr val="707070"/>
                </a:solidFill>
                <a:latin typeface="BIZ UDPゴシック"/>
                <a:ea typeface="BIZ UDPゴシック"/>
              </a:rPr>
              <a:t>0ヶ月</a:t>
            </a:r>
          </a:p>
        </p:txBody>
      </p:sp>
      <p:sp>
        <p:nvSpPr>
          <p:cNvPr id="61" name="S61"/>
          <p:cNvSpPr/>
          <p:nvPr/>
        </p:nvSpPr>
        <p:spPr>
          <a:xfrm>
            <a:off x="3733800" y="4038600"/>
            <a:ext cx="762000" cy="228600"/>
          </a:xfrm>
          <a:prstGeom prst="rect">
            <a:avLst/>
          </a:prstGeom>
          <a:noFill/>
          <a:ln>
            <a:noFill/>
          </a:ln>
        </p:spPr>
        <p:txBody>
          <a:bodyPr wrap="square" anchor="t"/>
          <a:lstStyle/>
          <a:p>
            <a:pPr algn="ctr">
              <a:buNone/>
            </a:pPr>
            <a:r>
              <a:rPr lang="ja-JP" sz="900" dirty="0">
                <a:solidFill>
                  <a:srgbClr val="707070"/>
                </a:solidFill>
                <a:latin typeface="BIZ UDPゴシック"/>
                <a:ea typeface="BIZ UDPゴシック"/>
              </a:rPr>
              <a:t>3ヶ月</a:t>
            </a:r>
          </a:p>
        </p:txBody>
      </p:sp>
      <p:sp>
        <p:nvSpPr>
          <p:cNvPr id="62" name="S62"/>
          <p:cNvSpPr/>
          <p:nvPr/>
        </p:nvSpPr>
        <p:spPr>
          <a:xfrm>
            <a:off x="7696200" y="4038600"/>
            <a:ext cx="762000" cy="228600"/>
          </a:xfrm>
          <a:prstGeom prst="rect">
            <a:avLst/>
          </a:prstGeom>
          <a:noFill/>
          <a:ln>
            <a:noFill/>
          </a:ln>
        </p:spPr>
        <p:txBody>
          <a:bodyPr wrap="square" anchor="t"/>
          <a:lstStyle/>
          <a:p>
            <a:pPr algn="ctr">
              <a:buNone/>
            </a:pPr>
            <a:r>
              <a:rPr lang="ja-JP" sz="900" dirty="0">
                <a:solidFill>
                  <a:srgbClr val="707070"/>
                </a:solidFill>
                <a:latin typeface="BIZ UDPゴシック"/>
                <a:ea typeface="BIZ UDPゴシック"/>
              </a:rPr>
              <a:t>9ヶ月</a:t>
            </a:r>
          </a:p>
        </p:txBody>
      </p:sp>
      <p:sp>
        <p:nvSpPr>
          <p:cNvPr id="63" name="S63"/>
          <p:cNvSpPr/>
          <p:nvPr/>
        </p:nvSpPr>
        <p:spPr>
          <a:xfrm>
            <a:off x="11201400" y="4038600"/>
            <a:ext cx="762000" cy="228600"/>
          </a:xfrm>
          <a:prstGeom prst="rect">
            <a:avLst/>
          </a:prstGeom>
          <a:noFill/>
          <a:ln>
            <a:noFill/>
          </a:ln>
        </p:spPr>
        <p:txBody>
          <a:bodyPr wrap="square" anchor="t"/>
          <a:lstStyle/>
          <a:p>
            <a:pPr algn="ctr">
              <a:buNone/>
            </a:pPr>
            <a:r>
              <a:rPr lang="ja-JP" sz="900" dirty="0">
                <a:solidFill>
                  <a:srgbClr val="707070"/>
                </a:solidFill>
                <a:latin typeface="BIZ UDPゴシック"/>
                <a:ea typeface="BIZ UDPゴシック"/>
              </a:rPr>
              <a:t>18ヶ月</a:t>
            </a:r>
          </a:p>
        </p:txBody>
      </p:sp>
      <p:sp>
        <p:nvSpPr>
          <p:cNvPr id="70" name="S70"/>
          <p:cNvSpPr/>
          <p:nvPr/>
        </p:nvSpPr>
        <p:spPr>
          <a:xfrm>
            <a:off x="304800" y="3810000"/>
            <a:ext cx="11582400" cy="0"/>
          </a:xfrm>
          <a:prstGeom prst="line">
            <a:avLst/>
          </a:prstGeom>
          <a:noFill/>
          <a:ln w="12700">
            <a:solidFill>
              <a:srgbClr val="4A4A4A"/>
            </a:solidFill>
          </a:ln>
        </p:spPr>
        <p:txBody>
          <a:bodyPr wrap="square"/>
          <a:lstStyle/>
          <a:p>
            <a:endParaRPr lang="ja-JP"/>
          </a:p>
        </p:txBody>
      </p:sp>
      <p:sp>
        <p:nvSpPr>
          <p:cNvPr id="2" name="テキスト ボックス 1">
            <a:extLst>
              <a:ext uri="{FF2B5EF4-FFF2-40B4-BE49-F238E27FC236}">
                <a16:creationId xmlns:a16="http://schemas.microsoft.com/office/drawing/2014/main" id="{7C856145-969D-4F19-8D11-B58B80DF4E05}"/>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11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2808145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9. 成果物サマリ</a:t>
            </a:r>
          </a:p>
        </p:txBody>
      </p:sp>
      <p:sp>
        <p:nvSpPr>
          <p:cNvPr id="20" name="S20"/>
          <p:cNvSpPr/>
          <p:nvPr/>
        </p:nvSpPr>
        <p:spPr>
          <a:xfrm>
            <a:off x="228600" y="8382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1</a:t>
            </a:r>
          </a:p>
        </p:txBody>
      </p:sp>
      <p:sp>
        <p:nvSpPr>
          <p:cNvPr id="21" name="S21"/>
          <p:cNvSpPr/>
          <p:nvPr/>
        </p:nvSpPr>
        <p:spPr>
          <a:xfrm>
            <a:off x="685800" y="8382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プロジェクト概要書</a:t>
            </a:r>
          </a:p>
          <a:p>
            <a:pPr>
              <a:buNone/>
            </a:pPr>
            <a:r>
              <a:rPr lang="ja-JP" sz="950" dirty="0">
                <a:solidFill>
                  <a:srgbClr val="707070"/>
                </a:solidFill>
                <a:latin typeface="BIZ UDPゴシック"/>
                <a:ea typeface="BIZ UDPゴシック"/>
              </a:rPr>
              <a:t>本ドキュメントの正本</a:t>
            </a:r>
          </a:p>
        </p:txBody>
      </p:sp>
      <p:sp>
        <p:nvSpPr>
          <p:cNvPr id="22" name="S22"/>
          <p:cNvSpPr/>
          <p:nvPr/>
        </p:nvSpPr>
        <p:spPr>
          <a:xfrm>
            <a:off x="3124200" y="8382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2</a:t>
            </a:r>
          </a:p>
        </p:txBody>
      </p:sp>
      <p:sp>
        <p:nvSpPr>
          <p:cNvPr id="23" name="S23"/>
          <p:cNvSpPr/>
          <p:nvPr/>
        </p:nvSpPr>
        <p:spPr>
          <a:xfrm>
            <a:off x="3581400" y="8382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分析計画書</a:t>
            </a:r>
          </a:p>
          <a:p>
            <a:pPr>
              <a:buNone/>
            </a:pPr>
            <a:r>
              <a:rPr lang="ja-JP" sz="950" dirty="0">
                <a:solidFill>
                  <a:srgbClr val="707070"/>
                </a:solidFill>
                <a:latin typeface="BIZ UDPゴシック"/>
                <a:ea typeface="BIZ UDPゴシック"/>
              </a:rPr>
              <a:t>初版・最終版</a:t>
            </a:r>
          </a:p>
        </p:txBody>
      </p:sp>
      <p:sp>
        <p:nvSpPr>
          <p:cNvPr id="24" name="S24"/>
          <p:cNvSpPr/>
          <p:nvPr/>
        </p:nvSpPr>
        <p:spPr>
          <a:xfrm>
            <a:off x="6019800" y="8382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3</a:t>
            </a:r>
          </a:p>
        </p:txBody>
      </p:sp>
      <p:sp>
        <p:nvSpPr>
          <p:cNvPr id="25" name="S25"/>
          <p:cNvSpPr/>
          <p:nvPr/>
        </p:nvSpPr>
        <p:spPr>
          <a:xfrm>
            <a:off x="6477000" y="8382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スケジュール表</a:t>
            </a:r>
          </a:p>
          <a:p>
            <a:pPr>
              <a:buNone/>
            </a:pPr>
            <a:r>
              <a:rPr lang="ja-JP" sz="950" dirty="0">
                <a:solidFill>
                  <a:srgbClr val="707070"/>
                </a:solidFill>
                <a:latin typeface="BIZ UDPゴシック"/>
                <a:ea typeface="BIZ UDPゴシック"/>
              </a:rPr>
              <a:t>WBS含む</a:t>
            </a:r>
          </a:p>
        </p:txBody>
      </p:sp>
      <p:sp>
        <p:nvSpPr>
          <p:cNvPr id="26" name="S26"/>
          <p:cNvSpPr/>
          <p:nvPr/>
        </p:nvSpPr>
        <p:spPr>
          <a:xfrm>
            <a:off x="8915400" y="8382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4</a:t>
            </a:r>
          </a:p>
        </p:txBody>
      </p:sp>
      <p:sp>
        <p:nvSpPr>
          <p:cNvPr id="27" name="S27"/>
          <p:cNvSpPr/>
          <p:nvPr/>
        </p:nvSpPr>
        <p:spPr>
          <a:xfrm>
            <a:off x="9372600" y="8382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議事録一式</a:t>
            </a:r>
          </a:p>
          <a:p>
            <a:pPr>
              <a:buNone/>
            </a:pPr>
            <a:r>
              <a:rPr lang="ja-JP" sz="950" dirty="0">
                <a:solidFill>
                  <a:srgbClr val="707070"/>
                </a:solidFill>
                <a:latin typeface="BIZ UDPゴシック"/>
                <a:ea typeface="BIZ UDPゴシック"/>
              </a:rPr>
              <a:t>M01(8/18) + M02(9/8)</a:t>
            </a:r>
          </a:p>
        </p:txBody>
      </p:sp>
      <p:sp>
        <p:nvSpPr>
          <p:cNvPr id="28" name="S28"/>
          <p:cNvSpPr/>
          <p:nvPr/>
        </p:nvSpPr>
        <p:spPr>
          <a:xfrm>
            <a:off x="228600" y="21336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5</a:t>
            </a:r>
          </a:p>
        </p:txBody>
      </p:sp>
      <p:sp>
        <p:nvSpPr>
          <p:cNvPr id="29" name="S29"/>
          <p:cNvSpPr/>
          <p:nvPr/>
        </p:nvSpPr>
        <p:spPr>
          <a:xfrm>
            <a:off x="685800" y="21336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中間報告書</a:t>
            </a:r>
          </a:p>
          <a:p>
            <a:pPr>
              <a:buNone/>
            </a:pPr>
            <a:r>
              <a:rPr lang="ja-JP" sz="950" dirty="0">
                <a:solidFill>
                  <a:srgbClr val="707070"/>
                </a:solidFill>
                <a:latin typeface="BIZ UDPゴシック"/>
                <a:ea typeface="BIZ UDPゴシック"/>
              </a:rPr>
              <a:t>報告資料_2025-09-08.md</a:t>
            </a:r>
          </a:p>
        </p:txBody>
      </p:sp>
      <p:sp>
        <p:nvSpPr>
          <p:cNvPr id="30" name="S30"/>
          <p:cNvSpPr/>
          <p:nvPr/>
        </p:nvSpPr>
        <p:spPr>
          <a:xfrm>
            <a:off x="3124200" y="21336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6</a:t>
            </a:r>
          </a:p>
        </p:txBody>
      </p:sp>
      <p:sp>
        <p:nvSpPr>
          <p:cNvPr id="31" name="S31"/>
          <p:cNvSpPr/>
          <p:nvPr/>
        </p:nvSpPr>
        <p:spPr>
          <a:xfrm>
            <a:off x="3581400" y="21336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最終報告書</a:t>
            </a:r>
          </a:p>
          <a:p>
            <a:pPr>
              <a:buNone/>
            </a:pPr>
            <a:r>
              <a:rPr lang="ja-JP" sz="950" dirty="0">
                <a:solidFill>
                  <a:srgbClr val="707070"/>
                </a:solidFill>
                <a:latin typeface="BIZ UDPゴシック"/>
                <a:ea typeface="BIZ UDPゴシック"/>
              </a:rPr>
              <a:t>本書</a:t>
            </a:r>
          </a:p>
        </p:txBody>
      </p:sp>
      <p:sp>
        <p:nvSpPr>
          <p:cNvPr id="32" name="S32"/>
          <p:cNvSpPr/>
          <p:nvPr/>
        </p:nvSpPr>
        <p:spPr>
          <a:xfrm>
            <a:off x="6019800" y="2133600"/>
            <a:ext cx="381000" cy="3810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ゴシック"/>
                <a:ea typeface="BIZ UDPゴシック"/>
              </a:rPr>
              <a:t>7</a:t>
            </a:r>
          </a:p>
        </p:txBody>
      </p:sp>
      <p:sp>
        <p:nvSpPr>
          <p:cNvPr id="33" name="S33"/>
          <p:cNvSpPr/>
          <p:nvPr/>
        </p:nvSpPr>
        <p:spPr>
          <a:xfrm>
            <a:off x="6477000" y="2133600"/>
            <a:ext cx="2286000" cy="1143000"/>
          </a:xfrm>
          <a:prstGeom prst="roundRect">
            <a:avLst>
              <a:gd name="adj" fmla="val 6000"/>
            </a:avLst>
          </a:prstGeom>
          <a:solidFill>
            <a:srgbClr val="F5F5F5"/>
          </a:solidFill>
          <a:ln w="12700">
            <a:solidFill>
              <a:srgbClr val="D0D0D0"/>
            </a:solidFill>
          </a:ln>
        </p:spPr>
        <p:txBody>
          <a:bodyPr wrap="square" lIns="137160" tIns="68580" rIns="91440" anchor="t"/>
          <a:lstStyle/>
          <a:p>
            <a:pPr>
              <a:spcAft>
                <a:spcPts val="200"/>
              </a:spcAft>
              <a:buNone/>
            </a:pPr>
            <a:r>
              <a:rPr lang="ja-JP" sz="1200" b="1" dirty="0">
                <a:solidFill>
                  <a:srgbClr val="1A1A1A"/>
                </a:solidFill>
                <a:latin typeface="BIZ UDPゴシック"/>
                <a:ea typeface="BIZ UDPゴシック"/>
              </a:rPr>
              <a:t>分析成果物一式</a:t>
            </a:r>
          </a:p>
          <a:p>
            <a:pPr>
              <a:buNone/>
            </a:pPr>
            <a:r>
              <a:rPr lang="ja-JP" sz="950" dirty="0">
                <a:solidFill>
                  <a:srgbClr val="707070"/>
                </a:solidFill>
                <a:latin typeface="BIZ UDPゴシック"/>
                <a:ea typeface="BIZ UDPゴシック"/>
              </a:rPr>
              <a:t>前処理仕様、評価結果表、可視化図表、スクリプト等</a:t>
            </a:r>
          </a:p>
        </p:txBody>
      </p:sp>
      <p:sp>
        <p:nvSpPr>
          <p:cNvPr id="50" name="S50"/>
          <p:cNvSpPr/>
          <p:nvPr/>
        </p:nvSpPr>
        <p:spPr>
          <a:xfrm>
            <a:off x="152400" y="3352800"/>
            <a:ext cx="11887200" cy="685800"/>
          </a:xfrm>
          <a:prstGeom prst="roundRect">
            <a:avLst>
              <a:gd name="adj" fmla="val 6000"/>
            </a:avLst>
          </a:prstGeom>
          <a:solidFill>
            <a:srgbClr val="F5F5F5"/>
          </a:solidFill>
          <a:ln w="12700">
            <a:solidFill>
              <a:srgbClr val="D0D0D0"/>
            </a:solidFill>
          </a:ln>
        </p:spPr>
        <p:txBody>
          <a:bodyPr wrap="square" lIns="182880" rIns="137160" anchor="ctr"/>
          <a:lstStyle/>
          <a:p>
            <a:pPr>
              <a:spcAft>
                <a:spcPts val="200"/>
              </a:spcAft>
              <a:buNone/>
            </a:pPr>
            <a:r>
              <a:rPr lang="ja-JP" sz="1200" b="1" dirty="0">
                <a:solidFill>
                  <a:srgbClr val="8B2500"/>
                </a:solidFill>
                <a:latin typeface="BIZ UDPゴシック"/>
                <a:ea typeface="BIZ UDPゴシック"/>
              </a:rPr>
              <a:t>引き渡し方法</a:t>
            </a:r>
          </a:p>
          <a:p>
            <a:pPr>
              <a:buNone/>
            </a:pPr>
            <a:r>
              <a:rPr lang="ja-JP" sz="1100" dirty="0">
                <a:solidFill>
                  <a:srgbClr val="3D3D3D"/>
                </a:solidFill>
                <a:latin typeface="BIZ UDPゴシック"/>
                <a:ea typeface="BIZ UDPゴシック"/>
              </a:rPr>
              <a:t>電子納品（アーカイブ）および会議での説明。検収後、最終成果物の全著作権移転（契約に準拠）。</a:t>
            </a:r>
          </a:p>
        </p:txBody>
      </p:sp>
      <p:sp>
        <p:nvSpPr>
          <p:cNvPr id="2" name="テキスト ボックス 1">
            <a:extLst>
              <a:ext uri="{FF2B5EF4-FFF2-40B4-BE49-F238E27FC236}">
                <a16:creationId xmlns:a16="http://schemas.microsoft.com/office/drawing/2014/main" id="{12AC1F48-FD7D-40E5-93BF-D42B6E9A6A75}"/>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12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18397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10. 提案・契約との差分管理</a:t>
            </a:r>
          </a:p>
        </p:txBody>
      </p:sp>
      <p:sp>
        <p:nvSpPr>
          <p:cNvPr id="20" name="S20"/>
          <p:cNvSpPr/>
          <p:nvPr/>
        </p:nvSpPr>
        <p:spPr>
          <a:xfrm>
            <a:off x="152400" y="838200"/>
            <a:ext cx="19050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成果物</a:t>
            </a:r>
          </a:p>
        </p:txBody>
      </p:sp>
      <p:sp>
        <p:nvSpPr>
          <p:cNvPr id="21" name="S21"/>
          <p:cNvSpPr/>
          <p:nvPr/>
        </p:nvSpPr>
        <p:spPr>
          <a:xfrm>
            <a:off x="2133600" y="838200"/>
            <a:ext cx="1524000" cy="685800"/>
          </a:xfrm>
          <a:prstGeom prst="roundRect">
            <a:avLst>
              <a:gd name="adj" fmla="val 6000"/>
            </a:avLst>
          </a:prstGeom>
          <a:solidFill>
            <a:srgbClr val="2E7D32"/>
          </a:solidFill>
          <a:ln>
            <a:noFill/>
          </a:ln>
        </p:spPr>
        <p:txBody>
          <a:bodyPr wrap="square" lIns="91440" rIns="91440" anchor="ctr"/>
          <a:lstStyle/>
          <a:p>
            <a:pPr algn="ctr">
              <a:buNone/>
            </a:pPr>
            <a:r>
              <a:rPr lang="ja-JP" sz="1200" b="1" dirty="0">
                <a:solidFill>
                  <a:srgbClr val="FFFFFF"/>
                </a:solidFill>
                <a:latin typeface="BIZ UDPゴシック"/>
                <a:ea typeface="BIZ UDPゴシック"/>
              </a:rPr>
              <a:t>差分なし</a:t>
            </a:r>
          </a:p>
        </p:txBody>
      </p:sp>
      <p:sp>
        <p:nvSpPr>
          <p:cNvPr id="22" name="S22"/>
          <p:cNvSpPr/>
          <p:nvPr/>
        </p:nvSpPr>
        <p:spPr>
          <a:xfrm>
            <a:off x="3733800" y="838200"/>
            <a:ext cx="8305800" cy="685800"/>
          </a:xfrm>
          <a:prstGeom prst="roundRect">
            <a:avLst>
              <a:gd name="adj" fmla="val 6000"/>
            </a:avLst>
          </a:prstGeom>
          <a:solidFill>
            <a:srgbClr val="F5F5F5"/>
          </a:solidFill>
          <a:ln w="12700">
            <a:solidFill>
              <a:srgbClr val="D0D0D0"/>
            </a:solidFill>
          </a:ln>
        </p:spPr>
        <p:txBody>
          <a:bodyPr wrap="square" lIns="137160" rIns="137160" anchor="ctr"/>
          <a:lstStyle/>
          <a:p>
            <a:pPr>
              <a:buNone/>
            </a:pPr>
            <a:r>
              <a:rPr lang="ja-JP" sz="1050" dirty="0">
                <a:solidFill>
                  <a:srgbClr val="3D3D3D"/>
                </a:solidFill>
                <a:latin typeface="BIZ UDPゴシック"/>
                <a:ea typeface="BIZ UDPゴシック"/>
              </a:rPr>
              <a:t>提案書／契約書記載の成果物一覧は本フェーズで全て納品済</a:t>
            </a:r>
          </a:p>
        </p:txBody>
      </p:sp>
      <p:sp>
        <p:nvSpPr>
          <p:cNvPr id="23" name="S23"/>
          <p:cNvSpPr/>
          <p:nvPr/>
        </p:nvSpPr>
        <p:spPr>
          <a:xfrm>
            <a:off x="152400" y="1600200"/>
            <a:ext cx="19050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スコープ</a:t>
            </a:r>
          </a:p>
        </p:txBody>
      </p:sp>
      <p:sp>
        <p:nvSpPr>
          <p:cNvPr id="24" name="S24"/>
          <p:cNvSpPr/>
          <p:nvPr/>
        </p:nvSpPr>
        <p:spPr>
          <a:xfrm>
            <a:off x="2133600" y="1600200"/>
            <a:ext cx="1524000" cy="685800"/>
          </a:xfrm>
          <a:prstGeom prst="roundRect">
            <a:avLst>
              <a:gd name="adj" fmla="val 6000"/>
            </a:avLst>
          </a:prstGeom>
          <a:solidFill>
            <a:srgbClr val="2E7D32"/>
          </a:solidFill>
          <a:ln>
            <a:noFill/>
          </a:ln>
        </p:spPr>
        <p:txBody>
          <a:bodyPr wrap="square" lIns="91440" rIns="91440" anchor="ctr"/>
          <a:lstStyle/>
          <a:p>
            <a:pPr algn="ctr">
              <a:buNone/>
            </a:pPr>
            <a:r>
              <a:rPr lang="ja-JP" sz="1200" b="1" dirty="0">
                <a:solidFill>
                  <a:srgbClr val="FFFFFF"/>
                </a:solidFill>
                <a:latin typeface="BIZ UDPゴシック"/>
                <a:ea typeface="BIZ UDPゴシック"/>
              </a:rPr>
              <a:t>差分なし</a:t>
            </a:r>
          </a:p>
        </p:txBody>
      </p:sp>
      <p:sp>
        <p:nvSpPr>
          <p:cNvPr id="25" name="S25"/>
          <p:cNvSpPr/>
          <p:nvPr/>
        </p:nvSpPr>
        <p:spPr>
          <a:xfrm>
            <a:off x="3733800" y="1600200"/>
            <a:ext cx="8305800" cy="685800"/>
          </a:xfrm>
          <a:prstGeom prst="roundRect">
            <a:avLst>
              <a:gd name="adj" fmla="val 6000"/>
            </a:avLst>
          </a:prstGeom>
          <a:solidFill>
            <a:srgbClr val="F5F5F5"/>
          </a:solidFill>
          <a:ln w="12700">
            <a:solidFill>
              <a:srgbClr val="D0D0D0"/>
            </a:solidFill>
          </a:ln>
        </p:spPr>
        <p:txBody>
          <a:bodyPr wrap="square" lIns="137160" rIns="137160" anchor="ctr"/>
          <a:lstStyle/>
          <a:p>
            <a:pPr>
              <a:buNone/>
            </a:pPr>
            <a:r>
              <a:rPr lang="ja-JP" sz="1050" dirty="0">
                <a:solidFill>
                  <a:srgbClr val="3D3D3D"/>
                </a:solidFill>
                <a:latin typeface="BIZ UDPゴシック"/>
                <a:ea typeface="BIZ UDPゴシック"/>
              </a:rPr>
              <a:t>対象外事項（本番実装・外部データ収集・制度決定等）を遵守。追加要求はMS5で変更管理</a:t>
            </a:r>
          </a:p>
        </p:txBody>
      </p:sp>
      <p:sp>
        <p:nvSpPr>
          <p:cNvPr id="26" name="S26"/>
          <p:cNvSpPr/>
          <p:nvPr/>
        </p:nvSpPr>
        <p:spPr>
          <a:xfrm>
            <a:off x="152400" y="2362200"/>
            <a:ext cx="19050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KPI/受入基準</a:t>
            </a:r>
          </a:p>
        </p:txBody>
      </p:sp>
      <p:sp>
        <p:nvSpPr>
          <p:cNvPr id="27" name="S27"/>
          <p:cNvSpPr/>
          <p:nvPr/>
        </p:nvSpPr>
        <p:spPr>
          <a:xfrm>
            <a:off x="2133600" y="2362200"/>
            <a:ext cx="1524000" cy="685800"/>
          </a:xfrm>
          <a:prstGeom prst="roundRect">
            <a:avLst>
              <a:gd name="adj" fmla="val 6000"/>
            </a:avLst>
          </a:prstGeom>
          <a:solidFill>
            <a:srgbClr val="2E7D32"/>
          </a:solidFill>
          <a:ln>
            <a:noFill/>
          </a:ln>
        </p:spPr>
        <p:txBody>
          <a:bodyPr wrap="square" lIns="91440" rIns="91440" anchor="ctr"/>
          <a:lstStyle/>
          <a:p>
            <a:pPr algn="ctr">
              <a:buNone/>
            </a:pPr>
            <a:r>
              <a:rPr lang="ja-JP" sz="1200" b="1" dirty="0">
                <a:solidFill>
                  <a:srgbClr val="FFFFFF"/>
                </a:solidFill>
                <a:latin typeface="BIZ UDPゴシック"/>
                <a:ea typeface="BIZ UDPゴシック"/>
              </a:rPr>
              <a:t>主指標変更なし</a:t>
            </a:r>
          </a:p>
        </p:txBody>
      </p:sp>
      <p:sp>
        <p:nvSpPr>
          <p:cNvPr id="28" name="S28"/>
          <p:cNvSpPr/>
          <p:nvPr/>
        </p:nvSpPr>
        <p:spPr>
          <a:xfrm>
            <a:off x="3733800" y="2362200"/>
            <a:ext cx="8305800" cy="685800"/>
          </a:xfrm>
          <a:prstGeom prst="roundRect">
            <a:avLst>
              <a:gd name="adj" fmla="val 6000"/>
            </a:avLst>
          </a:prstGeom>
          <a:solidFill>
            <a:srgbClr val="F5F5F5"/>
          </a:solidFill>
          <a:ln w="12700">
            <a:solidFill>
              <a:srgbClr val="D0D0D0"/>
            </a:solidFill>
          </a:ln>
        </p:spPr>
        <p:txBody>
          <a:bodyPr wrap="square" lIns="137160" rIns="137160" anchor="ctr"/>
          <a:lstStyle/>
          <a:p>
            <a:pPr>
              <a:buNone/>
            </a:pPr>
            <a:r>
              <a:rPr lang="ja-JP" sz="1050" dirty="0">
                <a:solidFill>
                  <a:srgbClr val="3D3D3D"/>
                </a:solidFill>
                <a:latin typeface="BIZ UDPゴシック"/>
                <a:ea typeface="BIZ UDPゴシック"/>
              </a:rPr>
              <a:t>Macro F1を主指標として報告。受入基準は「成果物の存在および合意した前提での実施整合」</a:t>
            </a:r>
          </a:p>
        </p:txBody>
      </p:sp>
      <p:sp>
        <p:nvSpPr>
          <p:cNvPr id="29" name="S29"/>
          <p:cNvSpPr/>
          <p:nvPr/>
        </p:nvSpPr>
        <p:spPr>
          <a:xfrm>
            <a:off x="152400" y="3124200"/>
            <a:ext cx="19050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契約形態・支払条件</a:t>
            </a:r>
          </a:p>
        </p:txBody>
      </p:sp>
      <p:sp>
        <p:nvSpPr>
          <p:cNvPr id="30" name="S30"/>
          <p:cNvSpPr/>
          <p:nvPr/>
        </p:nvSpPr>
        <p:spPr>
          <a:xfrm>
            <a:off x="2133600" y="3124200"/>
            <a:ext cx="1524000" cy="685800"/>
          </a:xfrm>
          <a:prstGeom prst="roundRect">
            <a:avLst>
              <a:gd name="adj" fmla="val 6000"/>
            </a:avLst>
          </a:prstGeom>
          <a:solidFill>
            <a:srgbClr val="2E7D32"/>
          </a:solidFill>
          <a:ln>
            <a:noFill/>
          </a:ln>
        </p:spPr>
        <p:txBody>
          <a:bodyPr wrap="square" lIns="91440" rIns="91440" anchor="ctr"/>
          <a:lstStyle/>
          <a:p>
            <a:pPr algn="ctr">
              <a:buNone/>
            </a:pPr>
            <a:r>
              <a:rPr lang="ja-JP" sz="1200" b="1" dirty="0">
                <a:solidFill>
                  <a:srgbClr val="FFFFFF"/>
                </a:solidFill>
                <a:latin typeface="BIZ UDPゴシック"/>
                <a:ea typeface="BIZ UDPゴシック"/>
              </a:rPr>
              <a:t>変更なし</a:t>
            </a:r>
          </a:p>
        </p:txBody>
      </p:sp>
      <p:sp>
        <p:nvSpPr>
          <p:cNvPr id="31" name="S31"/>
          <p:cNvSpPr/>
          <p:nvPr/>
        </p:nvSpPr>
        <p:spPr>
          <a:xfrm>
            <a:off x="3733800" y="3124200"/>
            <a:ext cx="8305800" cy="685800"/>
          </a:xfrm>
          <a:prstGeom prst="roundRect">
            <a:avLst>
              <a:gd name="adj" fmla="val 6000"/>
            </a:avLst>
          </a:prstGeom>
          <a:solidFill>
            <a:srgbClr val="F5F5F5"/>
          </a:solidFill>
          <a:ln w="12700">
            <a:solidFill>
              <a:srgbClr val="D0D0D0"/>
            </a:solidFill>
          </a:ln>
        </p:spPr>
        <p:txBody>
          <a:bodyPr wrap="square" lIns="137160" rIns="137160" anchor="ctr"/>
          <a:lstStyle/>
          <a:p>
            <a:pPr>
              <a:buNone/>
            </a:pPr>
            <a:r>
              <a:rPr lang="ja-JP" sz="1050" dirty="0">
                <a:solidFill>
                  <a:srgbClr val="3D3D3D"/>
                </a:solidFill>
                <a:latin typeface="BIZ UDPゴシック"/>
                <a:ea typeface="BIZ UDPゴシック"/>
              </a:rPr>
              <a:t>T&amp;M、25,000JPY/h、170時間、税率10%。Schedule上の運用目安（10/3）は契約の検収条項に基づく補足</a:t>
            </a:r>
          </a:p>
        </p:txBody>
      </p:sp>
      <p:sp>
        <p:nvSpPr>
          <p:cNvPr id="50" name="S50"/>
          <p:cNvSpPr/>
          <p:nvPr/>
        </p:nvSpPr>
        <p:spPr>
          <a:xfrm>
            <a:off x="152400" y="3886200"/>
            <a:ext cx="11887200" cy="381000"/>
          </a:xfrm>
          <a:prstGeom prst="roundRect">
            <a:avLst>
              <a:gd name="adj" fmla="val 6000"/>
            </a:avLst>
          </a:prstGeom>
          <a:solidFill>
            <a:srgbClr val="1A1A1A"/>
          </a:solidFill>
          <a:ln>
            <a:noFill/>
          </a:ln>
        </p:spPr>
        <p:txBody>
          <a:bodyPr wrap="square" lIns="182880" anchor="ctr"/>
          <a:lstStyle/>
          <a:p>
            <a:pPr>
              <a:buNone/>
            </a:pPr>
            <a:r>
              <a:rPr lang="ja-JP" sz="1200" b="1" dirty="0">
                <a:solidFill>
                  <a:srgbClr val="FFFFFF"/>
                </a:solidFill>
                <a:latin typeface="BIZ UDPゴシック"/>
                <a:ea typeface="BIZ UDPゴシック"/>
              </a:rPr>
              <a:t>結論: 契約上の主要項目に「変更」は発生していない。追加作業はT&amp;Mベースで両当事者合意済。</a:t>
            </a:r>
          </a:p>
        </p:txBody>
      </p:sp>
      <p:sp>
        <p:nvSpPr>
          <p:cNvPr id="2" name="テキスト ボックス 1">
            <a:extLst>
              <a:ext uri="{FF2B5EF4-FFF2-40B4-BE49-F238E27FC236}">
                <a16:creationId xmlns:a16="http://schemas.microsoft.com/office/drawing/2014/main" id="{46B5B79D-3D88-47C5-8053-F3593C58BAF3}"/>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13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494689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78855B-F3FE-4168-BFCA-0AE3505F8733}"/>
              </a:ext>
            </a:extLst>
          </p:cNvPr>
          <p:cNvSpPr/>
          <p:nvPr/>
        </p:nvSpPr>
        <p:spPr>
          <a:xfrm>
            <a:off x="152400" y="152400"/>
            <a:ext cx="11887200" cy="53340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zh-TW" altLang="en-US" sz="2400" b="1">
                <a:solidFill>
                  <a:srgbClr val="FFFFFF"/>
                </a:solidFill>
                <a:latin typeface="BIZ UDPゴシック"/>
                <a:ea typeface="BIZ UDPゴシック"/>
              </a:rPr>
              <a:t>付録</a:t>
            </a:r>
            <a:r>
              <a:rPr lang="en-US" altLang="zh-TW" sz="2400" b="1">
                <a:solidFill>
                  <a:srgbClr val="FFFFFF"/>
                </a:solidFill>
                <a:latin typeface="BIZ UDPゴシック"/>
                <a:ea typeface="BIZ UDPゴシック"/>
              </a:rPr>
              <a:t>: </a:t>
            </a:r>
            <a:r>
              <a:rPr lang="zh-TW" altLang="en-US" sz="2400" b="1">
                <a:solidFill>
                  <a:srgbClr val="FFFFFF"/>
                </a:solidFill>
                <a:latin typeface="BIZ UDPゴシック"/>
                <a:ea typeface="BIZ UDPゴシック"/>
              </a:rPr>
              <a:t>請求明細</a:t>
            </a:r>
            <a:endParaRPr lang="ja-JP" altLang="en-US" sz="2400" b="1">
              <a:solidFill>
                <a:srgbClr val="FFFFFF"/>
              </a:solidFill>
              <a:latin typeface="BIZ UDPゴシック"/>
              <a:ea typeface="BIZ UDPゴシック"/>
            </a:endParaRPr>
          </a:p>
        </p:txBody>
      </p:sp>
      <p:graphicFrame>
        <p:nvGraphicFramePr>
          <p:cNvPr id="4" name="表 3">
            <a:extLst>
              <a:ext uri="{FF2B5EF4-FFF2-40B4-BE49-F238E27FC236}">
                <a16:creationId xmlns:a16="http://schemas.microsoft.com/office/drawing/2014/main" id="{000413AF-E0DD-4053-92A2-E144C36D9DC6}"/>
              </a:ext>
            </a:extLst>
          </p:cNvPr>
          <p:cNvGraphicFramePr>
            <a:graphicFrameLocks noGrp="1"/>
          </p:cNvGraphicFramePr>
          <p:nvPr/>
        </p:nvGraphicFramePr>
        <p:xfrm>
          <a:off x="2286000" y="1143000"/>
          <a:ext cx="7620000" cy="3301998"/>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386101244"/>
                    </a:ext>
                  </a:extLst>
                </a:gridCol>
                <a:gridCol w="3810000">
                  <a:extLst>
                    <a:ext uri="{9D8B030D-6E8A-4147-A177-3AD203B41FA5}">
                      <a16:colId xmlns:a16="http://schemas.microsoft.com/office/drawing/2014/main" val="1338846608"/>
                    </a:ext>
                  </a:extLst>
                </a:gridCol>
              </a:tblGrid>
              <a:tr h="550333">
                <a:tc>
                  <a:txBody>
                    <a:bodyPr/>
                    <a:lstStyle/>
                    <a:p>
                      <a:pPr algn="ctr"/>
                      <a:r>
                        <a:rPr lang="ja-JP" altLang="en-US" sz="1600" b="1">
                          <a:solidFill>
                            <a:srgbClr val="FFFFFF"/>
                          </a:solidFill>
                          <a:latin typeface="BIZ UDPゴシック"/>
                          <a:ea typeface="BIZ UDPゴシック"/>
                        </a:rPr>
                        <a:t>項目</a:t>
                      </a:r>
                    </a:p>
                  </a:txBody>
                  <a:tcPr anchor="ctr">
                    <a:solidFill>
                      <a:srgbClr val="8B2500"/>
                    </a:solidFill>
                  </a:tcPr>
                </a:tc>
                <a:tc>
                  <a:txBody>
                    <a:bodyPr/>
                    <a:lstStyle/>
                    <a:p>
                      <a:pPr algn="ctr"/>
                      <a:r>
                        <a:rPr lang="ja-JP" altLang="en-US" sz="1600" b="1">
                          <a:solidFill>
                            <a:srgbClr val="FFFFFF"/>
                          </a:solidFill>
                          <a:latin typeface="BIZ UDPゴシック"/>
                          <a:ea typeface="BIZ UDPゴシック"/>
                        </a:rPr>
                        <a:t>金額 / 数値</a:t>
                      </a:r>
                    </a:p>
                  </a:txBody>
                  <a:tcPr anchor="ctr">
                    <a:solidFill>
                      <a:srgbClr val="8B2500"/>
                    </a:solidFill>
                  </a:tcPr>
                </a:tc>
                <a:extLst>
                  <a:ext uri="{0D108BD9-81ED-4DB2-BD59-A6C34878D82A}">
                    <a16:rowId xmlns:a16="http://schemas.microsoft.com/office/drawing/2014/main" val="194781554"/>
                  </a:ext>
                </a:extLst>
              </a:tr>
              <a:tr h="550333">
                <a:tc>
                  <a:txBody>
                    <a:bodyPr/>
                    <a:lstStyle/>
                    <a:p>
                      <a:pPr algn="l"/>
                      <a:r>
                        <a:rPr lang="ja-JP" altLang="en-US" sz="1600">
                          <a:latin typeface="BIZ UDPゴシック"/>
                          <a:ea typeface="BIZ UDPゴシック"/>
                        </a:rPr>
                        <a:t>実績工数</a:t>
                      </a:r>
                    </a:p>
                  </a:txBody>
                  <a:tcPr anchor="ctr">
                    <a:solidFill>
                      <a:srgbClr val="FFFFFF"/>
                    </a:solidFill>
                  </a:tcPr>
                </a:tc>
                <a:tc>
                  <a:txBody>
                    <a:bodyPr/>
                    <a:lstStyle/>
                    <a:p>
                      <a:pPr algn="r"/>
                      <a:r>
                        <a:rPr lang="ja-JP" altLang="en-US" sz="1600">
                          <a:latin typeface="BIZ UDPゴシック"/>
                          <a:ea typeface="BIZ UDPゴシック"/>
                        </a:rPr>
                        <a:t>170 時間</a:t>
                      </a:r>
                    </a:p>
                  </a:txBody>
                  <a:tcPr anchor="ctr">
                    <a:solidFill>
                      <a:srgbClr val="FFFFFF"/>
                    </a:solidFill>
                  </a:tcPr>
                </a:tc>
                <a:extLst>
                  <a:ext uri="{0D108BD9-81ED-4DB2-BD59-A6C34878D82A}">
                    <a16:rowId xmlns:a16="http://schemas.microsoft.com/office/drawing/2014/main" val="1738176823"/>
                  </a:ext>
                </a:extLst>
              </a:tr>
              <a:tr h="550333">
                <a:tc>
                  <a:txBody>
                    <a:bodyPr/>
                    <a:lstStyle/>
                    <a:p>
                      <a:pPr algn="l"/>
                      <a:r>
                        <a:rPr lang="ja-JP" altLang="en-US" sz="1600">
                          <a:latin typeface="BIZ UDPゴシック"/>
                          <a:ea typeface="BIZ UDPゴシック"/>
                        </a:rPr>
                        <a:t>契約時時間単価</a:t>
                      </a:r>
                    </a:p>
                  </a:txBody>
                  <a:tcPr anchor="ctr">
                    <a:solidFill>
                      <a:srgbClr val="F8F8F8"/>
                    </a:solidFill>
                  </a:tcPr>
                </a:tc>
                <a:tc>
                  <a:txBody>
                    <a:bodyPr/>
                    <a:lstStyle/>
                    <a:p>
                      <a:pPr algn="r"/>
                      <a:r>
                        <a:rPr lang="ja-JP" altLang="en-US" sz="1600">
                          <a:latin typeface="BIZ UDPゴシック"/>
                          <a:ea typeface="BIZ UDPゴシック"/>
                        </a:rPr>
                        <a:t>25,000 JPY/時間</a:t>
                      </a:r>
                    </a:p>
                  </a:txBody>
                  <a:tcPr anchor="ctr">
                    <a:solidFill>
                      <a:srgbClr val="F8F8F8"/>
                    </a:solidFill>
                  </a:tcPr>
                </a:tc>
                <a:extLst>
                  <a:ext uri="{0D108BD9-81ED-4DB2-BD59-A6C34878D82A}">
                    <a16:rowId xmlns:a16="http://schemas.microsoft.com/office/drawing/2014/main" val="284372363"/>
                  </a:ext>
                </a:extLst>
              </a:tr>
              <a:tr h="550333">
                <a:tc>
                  <a:txBody>
                    <a:bodyPr/>
                    <a:lstStyle/>
                    <a:p>
                      <a:pPr algn="l"/>
                      <a:r>
                        <a:rPr lang="ja-JP" altLang="en-US" sz="1600">
                          <a:latin typeface="BIZ UDPゴシック"/>
                          <a:ea typeface="BIZ UDPゴシック"/>
                        </a:rPr>
                        <a:t>最終請求金額（税抜）</a:t>
                      </a:r>
                    </a:p>
                  </a:txBody>
                  <a:tcPr anchor="ctr">
                    <a:solidFill>
                      <a:srgbClr val="FFFFFF"/>
                    </a:solidFill>
                  </a:tcPr>
                </a:tc>
                <a:tc>
                  <a:txBody>
                    <a:bodyPr/>
                    <a:lstStyle/>
                    <a:p>
                      <a:pPr algn="r"/>
                      <a:r>
                        <a:rPr lang="ja-JP" altLang="en-US" sz="1600">
                          <a:latin typeface="BIZ UDPゴシック"/>
                          <a:ea typeface="BIZ UDPゴシック"/>
                        </a:rPr>
                        <a:t>4,250,000 JPY</a:t>
                      </a:r>
                    </a:p>
                  </a:txBody>
                  <a:tcPr anchor="ctr">
                    <a:solidFill>
                      <a:srgbClr val="FFFFFF"/>
                    </a:solidFill>
                  </a:tcPr>
                </a:tc>
                <a:extLst>
                  <a:ext uri="{0D108BD9-81ED-4DB2-BD59-A6C34878D82A}">
                    <a16:rowId xmlns:a16="http://schemas.microsoft.com/office/drawing/2014/main" val="3156319002"/>
                  </a:ext>
                </a:extLst>
              </a:tr>
              <a:tr h="550333">
                <a:tc>
                  <a:txBody>
                    <a:bodyPr/>
                    <a:lstStyle/>
                    <a:p>
                      <a:pPr algn="l"/>
                      <a:r>
                        <a:rPr lang="ja-JP" altLang="en-US" sz="1600">
                          <a:latin typeface="BIZ UDPゴシック"/>
                          <a:ea typeface="BIZ UDPゴシック"/>
                        </a:rPr>
                        <a:t>消費税額（10%）</a:t>
                      </a:r>
                    </a:p>
                  </a:txBody>
                  <a:tcPr anchor="ctr">
                    <a:solidFill>
                      <a:srgbClr val="F8F8F8"/>
                    </a:solidFill>
                  </a:tcPr>
                </a:tc>
                <a:tc>
                  <a:txBody>
                    <a:bodyPr/>
                    <a:lstStyle/>
                    <a:p>
                      <a:pPr algn="r"/>
                      <a:r>
                        <a:rPr lang="ja-JP" altLang="en-US" sz="1600">
                          <a:latin typeface="BIZ UDPゴシック"/>
                          <a:ea typeface="BIZ UDPゴシック"/>
                        </a:rPr>
                        <a:t>425,000 JPY</a:t>
                      </a:r>
                    </a:p>
                  </a:txBody>
                  <a:tcPr anchor="ctr">
                    <a:solidFill>
                      <a:srgbClr val="F8F8F8"/>
                    </a:solidFill>
                  </a:tcPr>
                </a:tc>
                <a:extLst>
                  <a:ext uri="{0D108BD9-81ED-4DB2-BD59-A6C34878D82A}">
                    <a16:rowId xmlns:a16="http://schemas.microsoft.com/office/drawing/2014/main" val="3481209014"/>
                  </a:ext>
                </a:extLst>
              </a:tr>
              <a:tr h="550333">
                <a:tc>
                  <a:txBody>
                    <a:bodyPr/>
                    <a:lstStyle/>
                    <a:p>
                      <a:pPr algn="l"/>
                      <a:r>
                        <a:rPr lang="ja-JP" altLang="en-US" sz="1800" b="1">
                          <a:latin typeface="BIZ UDPゴシック"/>
                          <a:ea typeface="BIZ UDPゴシック"/>
                        </a:rPr>
                        <a:t>最終請求金額（税込）</a:t>
                      </a:r>
                    </a:p>
                  </a:txBody>
                  <a:tcPr anchor="ctr">
                    <a:solidFill>
                      <a:srgbClr val="FFF5F0"/>
                    </a:solidFill>
                  </a:tcPr>
                </a:tc>
                <a:tc>
                  <a:txBody>
                    <a:bodyPr/>
                    <a:lstStyle/>
                    <a:p>
                      <a:pPr algn="r"/>
                      <a:r>
                        <a:rPr lang="ja-JP" altLang="en-US" sz="1800" b="1">
                          <a:latin typeface="BIZ UDPゴシック"/>
                          <a:ea typeface="BIZ UDPゴシック"/>
                        </a:rPr>
                        <a:t>4,675,000 JPY</a:t>
                      </a:r>
                    </a:p>
                  </a:txBody>
                  <a:tcPr anchor="ctr">
                    <a:solidFill>
                      <a:srgbClr val="FFF5F0"/>
                    </a:solidFill>
                  </a:tcPr>
                </a:tc>
                <a:extLst>
                  <a:ext uri="{0D108BD9-81ED-4DB2-BD59-A6C34878D82A}">
                    <a16:rowId xmlns:a16="http://schemas.microsoft.com/office/drawing/2014/main" val="3157114127"/>
                  </a:ext>
                </a:extLst>
              </a:tr>
            </a:tbl>
          </a:graphicData>
        </a:graphic>
      </p:graphicFrame>
      <p:sp>
        <p:nvSpPr>
          <p:cNvPr id="100" name="FormulaNote"/>
          <p:cNvSpPr/>
          <p:nvPr/>
        </p:nvSpPr>
        <p:spPr>
          <a:xfrm>
            <a:off x="2286000" y="4724400"/>
            <a:ext cx="7620000" cy="762000"/>
          </a:xfrm>
          <a:prstGeom prst="roundRect">
            <a:avLst>
              <a:gd name="adj" fmla="val 6000"/>
            </a:avLst>
          </a:prstGeom>
          <a:solidFill>
            <a:srgbClr val="F5F5F5"/>
          </a:solidFill>
          <a:ln w="12700">
            <a:solidFill>
              <a:srgbClr val="D0D0D0"/>
            </a:solidFill>
          </a:ln>
        </p:spPr>
        <p:txBody>
          <a:bodyPr wrap="square" lIns="137160" rIns="137160" anchor="ctr"/>
          <a:lstStyle/>
          <a:p>
            <a:pPr>
              <a:spcAft>
                <a:spcPts val="200"/>
              </a:spcAft>
              <a:buNone/>
            </a:pPr>
            <a:r>
              <a:rPr lang="ja-JP" sz="1100" b="1" dirty="0">
                <a:solidFill>
                  <a:srgbClr val="8B2500"/>
                </a:solidFill>
                <a:latin typeface="BIZ UDPゴシック"/>
                <a:ea typeface="BIZ UDPゴシック"/>
              </a:rPr>
              <a:t>計算式: </a:t>
            </a:r>
            <a:r>
              <a:rPr lang="ja-JP" sz="1100" dirty="0">
                <a:solidFill>
                  <a:srgbClr val="3D3D3D"/>
                </a:solidFill>
                <a:latin typeface="BIZ UDPゴシック"/>
                <a:ea typeface="BIZ UDPゴシック"/>
              </a:rPr>
              <a:t>170時間 × 25,000 JPY = 4,250,000 JPY（税抜）</a:t>
            </a:r>
          </a:p>
          <a:p>
            <a:pPr>
              <a:buNone/>
            </a:pPr>
            <a:r>
              <a:rPr lang="ja-JP" sz="1000" dirty="0">
                <a:solidFill>
                  <a:srgbClr val="707070"/>
                </a:solidFill>
                <a:latin typeface="BIZ UDPゴシック"/>
                <a:ea typeface="BIZ UDPゴシック"/>
              </a:rPr>
              <a:t>（注）上記は実績工数170時間での例示。実際の請求書は工数記録に基づいて発行される。</a:t>
            </a:r>
          </a:p>
        </p:txBody>
      </p:sp>
      <p:sp>
        <p:nvSpPr>
          <p:cNvPr id="3" name="テキスト ボックス 2">
            <a:extLst>
              <a:ext uri="{FF2B5EF4-FFF2-40B4-BE49-F238E27FC236}">
                <a16:creationId xmlns:a16="http://schemas.microsoft.com/office/drawing/2014/main" id="{2BD714F6-0DE9-4C98-9A27-F500D04C3A85}"/>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14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3543909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52400" y="152400"/>
            <a:ext cx="11887200" cy="533400"/>
          </a:xfrm>
          <a:prstGeom prst="rect">
            <a:avLst/>
          </a:prstGeom>
          <a:solidFill>
            <a:srgbClr val="1A1A1A"/>
          </a:solidFill>
          <a:ln>
            <a:noFill/>
          </a:ln>
        </p:spPr>
        <p:txBody>
          <a:bodyPr wrap="square" lIns="182880" anchor="ctr"/>
          <a:lstStyle/>
          <a:p>
            <a:pPr algn="l">
              <a:buNone/>
            </a:pPr>
            <a:r>
              <a:rPr lang="ja-JP" sz="2400" b="1" dirty="0">
                <a:solidFill>
                  <a:srgbClr val="FFFFFF"/>
                </a:solidFill>
                <a:latin typeface="BIZ UDPゴシック"/>
                <a:ea typeface="BIZ UDPゴシック"/>
              </a:rPr>
              <a:t>11. 総括</a:t>
            </a:r>
          </a:p>
        </p:txBody>
      </p:sp>
      <p:sp>
        <p:nvSpPr>
          <p:cNvPr id="20" name="S20"/>
          <p:cNvSpPr/>
          <p:nvPr/>
        </p:nvSpPr>
        <p:spPr>
          <a:xfrm>
            <a:off x="152400" y="838200"/>
            <a:ext cx="11887200" cy="1371600"/>
          </a:xfrm>
          <a:prstGeom prst="roundRect">
            <a:avLst>
              <a:gd name="adj" fmla="val 6000"/>
            </a:avLst>
          </a:prstGeom>
          <a:solidFill>
            <a:srgbClr val="F5F5F5"/>
          </a:solidFill>
          <a:ln w="12700">
            <a:solidFill>
              <a:srgbClr val="D0D0D0"/>
            </a:solidFill>
          </a:ln>
        </p:spPr>
        <p:txBody>
          <a:bodyPr wrap="square" lIns="228600" tIns="91440" rIns="228600" anchor="ctr"/>
          <a:lstStyle/>
          <a:p>
            <a:pPr>
              <a:lnSpc>
                <a:spcPts val="1800"/>
              </a:lnSpc>
              <a:spcAft>
                <a:spcPts val="400"/>
              </a:spcAft>
              <a:buNone/>
            </a:pPr>
            <a:r>
              <a:rPr lang="ja-JP" sz="1400" dirty="0">
                <a:solidFill>
                  <a:srgbClr val="3D3D3D"/>
                </a:solidFill>
                <a:latin typeface="BIZ UDPゴシック"/>
                <a:ea typeface="BIZ UDPゴシック"/>
              </a:rPr>
              <a:t>本プロジェクトは6週間の短期フェーズとして想定された範囲内で「収入クラス予測の初期分析と業務示唆」を実現した。</a:t>
            </a:r>
          </a:p>
          <a:p>
            <a:pPr>
              <a:lnSpc>
                <a:spcPts val="1800"/>
              </a:lnSpc>
              <a:buNone/>
            </a:pPr>
            <a:r>
              <a:rPr lang="ja-JP" sz="1400" dirty="0">
                <a:solidFill>
                  <a:srgbClr val="3D3D3D"/>
                </a:solidFill>
                <a:latin typeface="BIZ UDPゴシック"/>
                <a:ea typeface="BIZ UDPゴシック"/>
              </a:rPr>
              <a:t>最終モデルにより得られた </a:t>
            </a:r>
            <a:r>
              <a:rPr lang="ja-JP" sz="1600" b="1" dirty="0">
                <a:solidFill>
                  <a:srgbClr val="8B2500"/>
                </a:solidFill>
                <a:latin typeface="BIZ UDPゴシック"/>
                <a:ea typeface="BIZ UDPゴシック"/>
              </a:rPr>
              <a:t>Macro F1 ≈ 0.474、Accuracy ≈ 0.510 </a:t>
            </a:r>
            <a:r>
              <a:rPr lang="ja-JP" sz="1400" dirty="0">
                <a:solidFill>
                  <a:srgbClr val="3D3D3D"/>
                </a:solidFill>
                <a:latin typeface="BIZ UDPゴシック"/>
                <a:ea typeface="BIZ UDPゴシック"/>
              </a:rPr>
              <a:t>はカテゴリ中心のデータ構成を考慮した初期成果として実務的価値があると判断される。</a:t>
            </a:r>
          </a:p>
        </p:txBody>
      </p:sp>
      <p:sp>
        <p:nvSpPr>
          <p:cNvPr id="30" name="S30"/>
          <p:cNvSpPr/>
          <p:nvPr/>
        </p:nvSpPr>
        <p:spPr>
          <a:xfrm>
            <a:off x="152400" y="2362200"/>
            <a:ext cx="11887200" cy="762000"/>
          </a:xfrm>
          <a:prstGeom prst="roundRect">
            <a:avLst>
              <a:gd name="adj" fmla="val 6000"/>
            </a:avLst>
          </a:prstGeom>
          <a:noFill/>
          <a:ln w="12700">
            <a:solidFill>
              <a:srgbClr val="8B2500"/>
            </a:solidFill>
          </a:ln>
        </p:spPr>
        <p:txBody>
          <a:bodyPr wrap="square" lIns="228600" rIns="228600" anchor="ctr"/>
          <a:lstStyle/>
          <a:p>
            <a:pPr>
              <a:buNone/>
            </a:pPr>
            <a:r>
              <a:rPr lang="ja-JP" sz="1400" b="1" dirty="0">
                <a:solidFill>
                  <a:srgbClr val="8B2500"/>
                </a:solidFill>
                <a:latin typeface="BIZ UDPゴシック"/>
                <a:ea typeface="BIZ UDPゴシック"/>
              </a:rPr>
              <a:t>⚠ 重要: </a:t>
            </a:r>
            <a:r>
              <a:rPr lang="ja-JP" sz="1300" dirty="0">
                <a:solidFill>
                  <a:srgbClr val="3D3D3D"/>
                </a:solidFill>
                <a:latin typeface="BIZ UDPゴシック"/>
                <a:ea typeface="BIZ UDPゴシック"/>
              </a:rPr>
              <a:t>本成果は「参考情報」であり、制度判断や個別処遇の直接決定には法務・労務レビューや更なる検証が必要である。</a:t>
            </a:r>
          </a:p>
        </p:txBody>
      </p:sp>
      <p:sp>
        <p:nvSpPr>
          <p:cNvPr id="35" name="S35"/>
          <p:cNvSpPr/>
          <p:nvPr/>
        </p:nvSpPr>
        <p:spPr>
          <a:xfrm>
            <a:off x="152400" y="3276600"/>
            <a:ext cx="11887200" cy="381000"/>
          </a:xfrm>
          <a:prstGeom prst="rect">
            <a:avLst/>
          </a:prstGeom>
          <a:noFill/>
          <a:ln>
            <a:noFill/>
          </a:ln>
        </p:spPr>
        <p:txBody>
          <a:bodyPr wrap="square" lIns="182880" anchor="ctr"/>
          <a:lstStyle/>
          <a:p>
            <a:pPr>
              <a:buNone/>
            </a:pPr>
            <a:r>
              <a:rPr lang="ja-JP" sz="1600" b="1" dirty="0">
                <a:solidFill>
                  <a:srgbClr val="1A1A1A"/>
                </a:solidFill>
                <a:latin typeface="BIZ UDPゴシック"/>
                <a:ea typeface="BIZ UDPゴシック"/>
              </a:rPr>
              <a:t>次フェーズでの推奨事項</a:t>
            </a:r>
          </a:p>
        </p:txBody>
      </p:sp>
      <p:sp>
        <p:nvSpPr>
          <p:cNvPr id="40" name="S40"/>
          <p:cNvSpPr/>
          <p:nvPr/>
        </p:nvSpPr>
        <p:spPr>
          <a:xfrm>
            <a:off x="228600" y="3733800"/>
            <a:ext cx="36576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運用基盤の整備</a:t>
            </a:r>
          </a:p>
        </p:txBody>
      </p:sp>
      <p:sp>
        <p:nvSpPr>
          <p:cNvPr id="41" name="S41"/>
          <p:cNvSpPr/>
          <p:nvPr/>
        </p:nvSpPr>
        <p:spPr>
          <a:xfrm>
            <a:off x="4114800" y="3733800"/>
            <a:ext cx="36576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公平性監査の深化</a:t>
            </a:r>
          </a:p>
        </p:txBody>
      </p:sp>
      <p:sp>
        <p:nvSpPr>
          <p:cNvPr id="42" name="S42"/>
          <p:cNvSpPr/>
          <p:nvPr/>
        </p:nvSpPr>
        <p:spPr>
          <a:xfrm>
            <a:off x="8001000" y="3733800"/>
            <a:ext cx="3657600" cy="685800"/>
          </a:xfrm>
          <a:prstGeom prst="roundRect">
            <a:avLst>
              <a:gd name="adj" fmla="val 6000"/>
            </a:avLst>
          </a:prstGeom>
          <a:solidFill>
            <a:srgbClr val="4A4A4A"/>
          </a:solidFill>
          <a:ln>
            <a:noFill/>
          </a:ln>
        </p:spPr>
        <p:txBody>
          <a:bodyPr wrap="square" lIns="137160" rIns="91440" anchor="ctr"/>
          <a:lstStyle/>
          <a:p>
            <a:pPr algn="ctr">
              <a:buNone/>
            </a:pPr>
            <a:r>
              <a:rPr lang="ja-JP" sz="1400" b="1" dirty="0">
                <a:solidFill>
                  <a:srgbClr val="FFFFFF"/>
                </a:solidFill>
                <a:latin typeface="BIZ UDPゴシック"/>
                <a:ea typeface="BIZ UDPゴシック"/>
              </a:rPr>
              <a:t>外部データ統合による
外部妥当性検証</a:t>
            </a:r>
          </a:p>
        </p:txBody>
      </p:sp>
      <p:sp>
        <p:nvSpPr>
          <p:cNvPr id="2" name="テキスト ボックス 1">
            <a:extLst>
              <a:ext uri="{FF2B5EF4-FFF2-40B4-BE49-F238E27FC236}">
                <a16:creationId xmlns:a16="http://schemas.microsoft.com/office/drawing/2014/main" id="{08462781-5E25-4116-B7A4-118ACD90BECF}"/>
              </a:ext>
            </a:extLst>
          </p:cNvPr>
          <p:cNvSpPr txBox="1"/>
          <p:nvPr/>
        </p:nvSpPr>
        <p:spPr>
          <a:xfrm>
            <a:off x="11176000" y="6477000"/>
            <a:ext cx="863600" cy="304800"/>
          </a:xfrm>
          <a:prstGeom prst="rect">
            <a:avLst/>
          </a:prstGeom>
          <a:noFill/>
          <a:ln>
            <a:noFill/>
          </a:ln>
        </p:spPr>
        <p:txBody>
          <a:bodyPr vertOverflow="overflow" vert="horz" wrap="none" rtlCol="0" anchor="ctr" anchorCtr="0">
            <a:noAutofit/>
          </a:bodyPr>
          <a:lstStyle/>
          <a:p>
            <a:pPr algn="l"/>
            <a:r>
              <a:rPr lang="en-US" altLang="ja-JP" sz="1000">
                <a:solidFill>
                  <a:srgbClr val="A0A0A0"/>
                </a:solidFill>
                <a:latin typeface="BIZ UDPゴシック"/>
                <a:ea typeface="BIZ UDPゴシック"/>
              </a:rPr>
              <a:t>15 / 15</a:t>
            </a:r>
            <a:endParaRPr lang="ja-JP" altLang="en-US" sz="1000">
              <a:solidFill>
                <a:srgbClr val="A0A0A0"/>
              </a:solidFill>
              <a:latin typeface="BIZ UDPゴシック"/>
              <a:ea typeface="BIZ UDPゴシック"/>
            </a:endParaRPr>
          </a:p>
        </p:txBody>
      </p:sp>
    </p:spTree>
    <p:extLst>
      <p:ext uri="{BB962C8B-B14F-4D97-AF65-F5344CB8AC3E}">
        <p14:creationId xmlns:p14="http://schemas.microsoft.com/office/powerpoint/2010/main" val="4067876765"/>
      </p:ext>
    </p:extLst>
  </p:cSld>
  <p:clrMapOvr>
    <a:masterClrMapping/>
  </p:clrMapOvr>
</p:sld>
</file>

<file path=ppt/theme/theme1.xml><?xml version="1.0" encoding="utf-8"?>
<a:theme xmlns:a="http://schemas.openxmlformats.org/drawingml/2006/main" name="Office テーマ [1774831973347]">
  <a:themeElements>
    <a:clrScheme name="Toto Monochrome">
      <a:dk1>
        <a:srgbClr val="1A1A1A"/>
      </a:dk1>
      <a:lt1>
        <a:srgbClr val="FFFFFF"/>
      </a:lt1>
      <a:dk2>
        <a:srgbClr val="3D3D3D"/>
      </a:dk2>
      <a:lt2>
        <a:srgbClr val="F2F2F2"/>
      </a:lt2>
      <a:accent1>
        <a:srgbClr val="8B2500"/>
      </a:accent1>
      <a:accent2>
        <a:srgbClr val="4A4A4A"/>
      </a:accent2>
      <a:accent3>
        <a:srgbClr val="707070"/>
      </a:accent3>
      <a:accent4>
        <a:srgbClr val="A0A0A0"/>
      </a:accent4>
      <a:accent5>
        <a:srgbClr val="C8C8C8"/>
      </a:accent5>
      <a:accent6>
        <a:srgbClr val="B8442C"/>
      </a:accent6>
      <a:hlink>
        <a:srgbClr val="8B2500"/>
      </a:hlink>
      <a:folHlink>
        <a:srgbClr val="4A4A4A"/>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C41161-462A-4EAD-9CF3-4E09DD9A90D8}">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78</TotalTime>
  <Words>2320</Words>
  <Application>Microsoft Office PowerPoint</Application>
  <PresentationFormat>ワイド画面</PresentationFormat>
  <Paragraphs>328</Paragraphs>
  <Slides>16</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16</vt:i4>
      </vt:variant>
    </vt:vector>
  </HeadingPairs>
  <TitlesOfParts>
    <vt:vector size="19" baseType="lpstr">
      <vt:lpstr>BIZ UDPゴシック</vt:lpstr>
      <vt:lpstr>Arial</vt:lpstr>
      <vt:lpstr>Office テーマ [1774831973347]</vt:lpstr>
      <vt:lpstr>最終分析報告書</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4</cp:revision>
  <dcterms:created xsi:type="dcterms:W3CDTF">2026-03-30T00:50:36Z</dcterms:created>
  <dcterms:modified xsi:type="dcterms:W3CDTF">2026-03-30T09:05:36Z</dcterms:modified>
</cp:coreProperties>
</file>