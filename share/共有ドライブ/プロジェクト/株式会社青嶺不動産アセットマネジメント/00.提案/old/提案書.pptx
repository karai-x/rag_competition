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0" r:id="rId3"/>
    <p:sldId id="263" r:id="rId4"/>
    <p:sldId id="266" r:id="rId5"/>
    <p:sldId id="269" r:id="rId6"/>
    <p:sldId id="272" r:id="rId7"/>
    <p:sldId id="275" r:id="rId8"/>
    <p:sldId id="277" r:id="rId9"/>
    <p:sldId id="280" r:id="rId10"/>
    <p:sldId id="282" r:id="rId11"/>
    <p:sldId id="284" r:id="rId12"/>
    <p:sldId id="287" r:id="rId13"/>
    <p:sldId id="289" r:id="rId14"/>
    <p:sldId id="292" r:id="rId15"/>
    <p:sldId id="295"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561"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D986A0-B5FC-079E-910D-4CA539829F0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20D7E48-ECD1-7A67-A9FF-3D3045A74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3D08BB1-BF0E-49EA-001B-3A0297476BB7}"/>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2073F2F7-E139-ED5B-E0DC-BE2E809662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B5A421-9FD0-8C25-AB02-104C30B3B1CB}"/>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42365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FACA8C-ADA5-9F1C-D6B3-4288F9A28CE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A7C04B-3440-DFF0-CBB2-40E115A9FC6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B85E71-777D-3BD8-428E-78D07A0139D4}"/>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8E177C85-C3AB-BC11-CC87-345E34C392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0B5C13-67D8-ED2E-87DD-46FD7EE83C45}"/>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30830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EA4719-EFA7-DDD9-4B70-2BD7398048C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EAEC0F9-C394-1850-454E-312852AF43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533A359-FAE2-015E-0EF0-F125F1C14FEE}"/>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6F96B1FF-4F8E-D7BE-1092-4D41550ECC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4CE27D9-F4DB-4AE4-67CE-51BC0B1A20D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413365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B917CE-8529-1D6B-E9D6-0CD552FE7B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4A6FF2-FD7F-99E7-F4A1-9ACB72B4335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0A4790C-0C3E-C58E-5E71-E886093F046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9337C1C-52A8-0FEF-8F06-DDC0EEA2F30F}"/>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2AD9343A-34BC-EA24-292A-E5BA2C89D70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60FF255-0369-F4CD-B54A-0CB03387F9EA}"/>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0446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BED04A-D39A-406D-7B12-EDC0A44FE0C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AECD3FF-5EC4-B22E-348B-EE9DA9819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1A2DA2D-1411-886B-3DD0-188DC58D52B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BF15C15-669B-A518-3463-77A7E0AFB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CBEC33E-F6C1-5B0D-8D86-098249C7575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6F15BCE-C1E7-4B89-E907-E9D266863C2C}"/>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8" name="フッター プレースホルダー 7">
            <a:extLst>
              <a:ext uri="{FF2B5EF4-FFF2-40B4-BE49-F238E27FC236}">
                <a16:creationId xmlns:a16="http://schemas.microsoft.com/office/drawing/2014/main" id="{8DF1EFCF-52BA-024A-A693-A84B3202631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83D1638-7892-3B8B-EF59-844D3A03307F}"/>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118012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ECCA8-8B8F-3429-FD26-E6B27D01610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3F3616A-E59B-FABF-F089-80E3E916D7D0}"/>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4" name="フッター プレースホルダー 3">
            <a:extLst>
              <a:ext uri="{FF2B5EF4-FFF2-40B4-BE49-F238E27FC236}">
                <a16:creationId xmlns:a16="http://schemas.microsoft.com/office/drawing/2014/main" id="{4E5D5645-852B-ACD6-A26F-84C760F6AE6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567A73-962D-2EB3-18B3-ECA38863B05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04186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432AD-B108-F761-248F-579DBC67F615}"/>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3" name="フッター プレースホルダー 2">
            <a:extLst>
              <a:ext uri="{FF2B5EF4-FFF2-40B4-BE49-F238E27FC236}">
                <a16:creationId xmlns:a16="http://schemas.microsoft.com/office/drawing/2014/main" id="{8B29D64E-3C6C-9665-F50C-8416FE0093B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D0D2C37-B77C-4ACF-FAF2-134877D7570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672662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8799BE-E5E5-4E4C-94AF-DDF027AF59D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B56AFF-BBAB-A80A-A260-44F99495E5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B55A0CA-C990-6AC9-9CB3-B92EED5F1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FB1F431-C15B-1EEE-0CB6-A5946D553A88}"/>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8238C5E3-CB45-EA93-B2BE-648C306DBF4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A577D1-C923-312B-635B-445DD4869FC1}"/>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676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880FCE-CDC1-39E7-1D44-0CC4B35AB5E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E0D233-CD2F-C83F-D164-98AE8EE94C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938168-3D88-437D-6B6A-E8FB6CBEA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9680B4B-12AC-A7F2-5207-6117303A2665}"/>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05CA2270-B299-8702-E2CC-31D857F5F1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1A4759-E068-2055-7D4C-BCA815C0F65A}"/>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462833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EBB512-8CBF-04CC-BF65-87572C653EB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AC4E567-D383-7F13-582B-9EC686B9BE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E609097-36EA-E87D-92E6-8020C5C031A8}"/>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4C04C270-5CC8-638D-1317-3D9103C7BF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148EB7-CAEB-24E3-BBDB-329E120A238E}"/>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4116609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5F28CD0-1256-76A3-8BFA-44BDEB43F4C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BA3851-76D1-F7C8-6C1C-47F06539E5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A0215F-278F-3B5C-FD58-C57E889F84F7}"/>
              </a:ext>
            </a:extLst>
          </p:cNvPr>
          <p:cNvSpPr>
            <a:spLocks noGrp="1"/>
          </p:cNvSpPr>
          <p:nvPr>
            <p:ph type="dt" sz="half" idx="10"/>
          </p:nvPr>
        </p:nvSpPr>
        <p:spPr/>
        <p:txBody>
          <a:body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8E6D800F-5775-F8B5-729A-182734A86D6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1217EC-4BBE-DEC1-0CE6-AAC5B7C40FDB}"/>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790967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AC17444-DC01-110D-1E53-4E263E4D0E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5DB41E-6F75-7F50-4CC3-072AF6C750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0F8B58-EBD9-C684-3DF6-E394FD4A6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52F764-0164-4635-88F4-3EA253F46E51}"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784B06FC-2211-2B88-0AB3-F53BB06A4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88D7424-F432-7B06-C272-7E483BE5F8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C698AB-5AA4-4707-A794-E16C8748436E}" type="slidenum">
              <a:rPr kumimoji="1" lang="ja-JP" altLang="en-US" smtClean="0"/>
              <a:t>‹#›</a:t>
            </a:fld>
            <a:endParaRPr kumimoji="1" lang="ja-JP" altLang="en-US"/>
          </a:p>
        </p:txBody>
      </p:sp>
      <p:sp>
        <p:nvSpPr>
          <p:cNvPr id="900" name="BottomAccent"/>
          <p:cNvSpPr/>
          <p:nvPr userDrawn="1"/>
        </p:nvSpPr>
        <p:spPr>
          <a:xfrm>
            <a:off x="0" y="6629400"/>
            <a:ext cx="12192000" cy="228600"/>
          </a:xfrm>
          <a:prstGeom prst="rect">
            <a:avLst/>
          </a:prstGeom>
          <a:solidFill>
            <a:srgbClr val="A63D2F"/>
          </a:solidFill>
          <a:ln w="0">
            <a:noFill/>
          </a:ln>
        </p:spPr>
        <p:txBody>
          <a:bodyPr/>
          <a:lstStyle/>
          <a:p>
            <a:endParaRPr lang="ja-JP"/>
          </a:p>
        </p:txBody>
      </p:sp>
      <p:sp>
        <p:nvSpPr>
          <p:cNvPr id="901" name="LeftAccent"/>
          <p:cNvSpPr/>
          <p:nvPr userDrawn="1"/>
        </p:nvSpPr>
        <p:spPr>
          <a:xfrm>
            <a:off x="0" y="0"/>
            <a:ext cx="91440" cy="6858000"/>
          </a:xfrm>
          <a:prstGeom prst="rect">
            <a:avLst/>
          </a:prstGeom>
          <a:solidFill>
            <a:srgbClr val="2B2B2B"/>
          </a:solidFill>
          <a:ln w="0">
            <a:noFill/>
          </a:ln>
        </p:spPr>
        <p:txBody>
          <a:bodyPr/>
          <a:lstStyle/>
          <a:p>
            <a:endParaRPr lang="ja-JP"/>
          </a:p>
        </p:txBody>
      </p:sp>
    </p:spTree>
    <p:extLst>
      <p:ext uri="{BB962C8B-B14F-4D97-AF65-F5344CB8AC3E}">
        <p14:creationId xmlns:p14="http://schemas.microsoft.com/office/powerpoint/2010/main" val="1654917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2B2B2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4A4A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4A4A4A"/>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4A4A4A"/>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6E118-C1E9-6102-C7D6-AF333248EB98}"/>
              </a:ext>
            </a:extLst>
          </p:cNvPr>
          <p:cNvSpPr>
            <a:spLocks noGrp="1"/>
          </p:cNvSpPr>
          <p:nvPr>
            <p:ph type="ctrTitle"/>
          </p:nvPr>
        </p:nvSpPr>
        <p:spPr>
          <a:xfrm>
            <a:off x="1524000" y="1074738"/>
            <a:ext cx="9144000" cy="2387600"/>
          </a:xfrm>
        </p:spPr>
        <p:txBody>
          <a:bodyPr/>
          <a:lstStyle/>
          <a:p>
            <a:pPr algn="ctr"/>
            <a:r>
              <a:rPr lang="ja-JP" altLang="en-US" sz="3200" b="1" dirty="0">
                <a:solidFill>
                  <a:srgbClr val="2B2B2B"/>
                </a:solidFill>
                <a:latin typeface="BIZ UDPGothic"/>
                <a:ea typeface="BIZ UDPGothic"/>
              </a:rPr>
              <a:t>データ分析プロジェクト提案書</a:t>
            </a:r>
          </a:p>
        </p:txBody>
      </p:sp>
      <p:sp>
        <p:nvSpPr>
          <p:cNvPr id="3" name="字幕 2">
            <a:extLst>
              <a:ext uri="{FF2B5EF4-FFF2-40B4-BE49-F238E27FC236}">
                <a16:creationId xmlns:a16="http://schemas.microsoft.com/office/drawing/2014/main" id="{03D43492-A7F4-52D5-8C9D-BFB2A309087C}"/>
              </a:ext>
            </a:extLst>
          </p:cNvPr>
          <p:cNvSpPr>
            <a:spLocks noGrp="1"/>
          </p:cNvSpPr>
          <p:nvPr>
            <p:ph type="subTitle" idx="1"/>
          </p:nvPr>
        </p:nvSpPr>
        <p:spPr>
          <a:xfrm>
            <a:off x="1524000" y="4127500"/>
            <a:ext cx="9144000" cy="1655762"/>
          </a:xfrm>
        </p:spPr>
        <p:txBody>
          <a:bodyPr/>
          <a:lstStyle/>
          <a:p>
            <a:pPr algn="ctr"/>
            <a:r>
              <a:rPr lang="ja-JP" altLang="en-US" sz="1600" dirty="0">
                <a:solidFill>
                  <a:srgbClr val="6B6B6B"/>
                </a:solidFill>
                <a:latin typeface="BIZ UDPGothic"/>
                <a:ea typeface="BIZ UDPGothic"/>
              </a:rPr>
              <a:t>株式会社青嶺不動産アセットマネジメント 様</a:t>
            </a:r>
          </a:p>
          <a:p>
            <a:pPr algn="ctr">
              <a:spcBef>
                <a:spcPts val="600"/>
              </a:spcBef>
            </a:pPr>
            <a:r>
              <a:rPr lang="ja-JP" altLang="en-US" sz="1400" dirty="0">
                <a:solidFill>
                  <a:srgbClr val="6B6B6B"/>
                </a:solidFill>
                <a:latin typeface="BIZ UDPGothic"/>
                <a:ea typeface="BIZ UDPGothic"/>
              </a:rPr>
              <a:t>ニューヨーク市不動産売買データに基づく価格形成要因分析</a:t>
            </a:r>
          </a:p>
          <a:p>
            <a:pPr algn="ctr">
              <a:spcBef>
                <a:spcPts val="1200"/>
              </a:spcBef>
            </a:pPr>
            <a:r>
              <a:rPr lang="ja-JP" altLang="en-US" sz="1400" dirty="0">
                <a:solidFill>
                  <a:srgbClr val="4A4A4A"/>
                </a:solidFill>
                <a:latin typeface="BIZ UDPGothic"/>
                <a:ea typeface="BIZ UDPGothic"/>
              </a:rPr>
              <a:t>株式会社データアステル　データサイエンス部</a:t>
            </a:r>
          </a:p>
        </p:txBody>
      </p:sp>
      <p:sp>
        <p:nvSpPr>
          <p:cNvPr id="10" name="AccentLine"/>
          <p:cNvSpPr/>
          <p:nvPr/>
        </p:nvSpPr>
        <p:spPr>
          <a:xfrm>
            <a:off x="3048000" y="3749713"/>
            <a:ext cx="6096000" cy="36576"/>
          </a:xfrm>
          <a:prstGeom prst="rect">
            <a:avLst/>
          </a:prstGeom>
          <a:solidFill>
            <a:srgbClr val="A63D2F"/>
          </a:solidFill>
          <a:ln w="0">
            <a:noFill/>
          </a:ln>
        </p:spPr>
        <p:txBody>
          <a:bodyPr/>
          <a:lstStyle/>
          <a:p>
            <a:endParaRPr lang="ja-JP" altLang="en-US"/>
          </a:p>
        </p:txBody>
      </p:sp>
    </p:spTree>
    <p:extLst>
      <p:ext uri="{BB962C8B-B14F-4D97-AF65-F5344CB8AC3E}">
        <p14:creationId xmlns:p14="http://schemas.microsoft.com/office/powerpoint/2010/main" val="351190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2E93BB-1369-69E5-89AB-7EBA04FB5F1B}"/>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 背景</a:t>
            </a:r>
          </a:p>
        </p:txBody>
      </p:sp>
      <p:sp>
        <p:nvSpPr>
          <p:cNvPr id="10" name="ClientBox"/>
          <p:cNvSpPr/>
          <p:nvPr/>
        </p:nvSpPr>
        <p:spPr>
          <a:xfrm>
            <a:off x="457200" y="1841500"/>
            <a:ext cx="4800600" cy="1143000"/>
          </a:xfrm>
          <a:prstGeom prst="roundRect">
            <a:avLst>
              <a:gd name="adj" fmla="val 8000"/>
            </a:avLst>
          </a:prstGeom>
          <a:solidFill>
            <a:srgbClr val="F5F5F3"/>
          </a:solidFill>
          <a:ln w="12700">
            <a:solidFill>
              <a:srgbClr val="A63D2F"/>
            </a:solidFill>
          </a:ln>
        </p:spPr>
        <p:txBody>
          <a:bodyPr lIns="108000" tIns="72000" rIns="108000" bIns="72000" anchor="ctr"/>
          <a:lstStyle/>
          <a:p>
            <a:pPr algn="l">
              <a:spcAft>
                <a:spcPts val="200"/>
              </a:spcAft>
            </a:pPr>
            <a:r>
              <a:rPr lang="ja-JP" sz="1400" b="1" dirty="0">
                <a:solidFill>
                  <a:srgbClr val="A63D2F"/>
                </a:solidFill>
                <a:latin typeface="BIZ UDPGothic"/>
                <a:ea typeface="BIZ UDPGothic"/>
              </a:rPr>
              <a:t>クライアントの課題</a:t>
            </a:r>
          </a:p>
          <a:p>
            <a:pPr algn="l"/>
            <a:r>
              <a:rPr lang="ja-JP" sz="1200" dirty="0">
                <a:solidFill>
                  <a:srgbClr val="2B2B2B"/>
                </a:solidFill>
                <a:latin typeface="BIZ UDPGothic"/>
                <a:ea typeface="BIZ UDPGothic"/>
              </a:rPr>
              <a:t>青嶺不動産AM様 資産運用本部 レジデンシャル戦略部において、</a:t>
            </a:r>
          </a:p>
          <a:p>
            <a:pPr algn="l"/>
            <a:r>
              <a:rPr lang="ja-JP" sz="1200" dirty="0">
                <a:solidFill>
                  <a:srgbClr val="2B2B2B"/>
                </a:solidFill>
                <a:latin typeface="BIZ UDPGothic"/>
                <a:ea typeface="BIZ UDPGothic"/>
              </a:rPr>
              <a:t>売買価格の構造を定量的に把握する分析基盤の整備が重要課題である</a:t>
            </a:r>
          </a:p>
        </p:txBody>
      </p:sp>
      <p:sp>
        <p:nvSpPr>
          <p:cNvPr id="11" name="Arrow1"/>
          <p:cNvSpPr/>
          <p:nvPr/>
        </p:nvSpPr>
        <p:spPr>
          <a:xfrm>
            <a:off x="2628900" y="3111500"/>
            <a:ext cx="457200" cy="228600"/>
          </a:xfrm>
          <a:prstGeom prst="downArrow">
            <a:avLst/>
          </a:prstGeom>
          <a:solidFill>
            <a:srgbClr val="A63D2F"/>
          </a:solidFill>
          <a:ln w="0">
            <a:noFill/>
          </a:ln>
        </p:spPr>
        <p:txBody>
          <a:bodyPr/>
          <a:lstStyle/>
          <a:p>
            <a:endParaRPr lang="ja-JP"/>
          </a:p>
        </p:txBody>
      </p:sp>
      <p:sp>
        <p:nvSpPr>
          <p:cNvPr id="12" name="ProjectBox"/>
          <p:cNvSpPr/>
          <p:nvPr/>
        </p:nvSpPr>
        <p:spPr>
          <a:xfrm>
            <a:off x="457200" y="3429000"/>
            <a:ext cx="4800600" cy="1651000"/>
          </a:xfrm>
          <a:prstGeom prst="roundRect">
            <a:avLst>
              <a:gd name="adj" fmla="val 8000"/>
            </a:avLst>
          </a:prstGeom>
          <a:solidFill>
            <a:srgbClr val="F5F5F3"/>
          </a:solidFill>
          <a:ln w="12700">
            <a:solidFill>
              <a:srgbClr val="3D3D3D"/>
            </a:solidFill>
          </a:ln>
        </p:spPr>
        <p:txBody>
          <a:bodyPr lIns="108000" tIns="72000" rIns="108000" bIns="72000" anchor="t"/>
          <a:lstStyle/>
          <a:p>
            <a:pPr algn="l">
              <a:spcAft>
                <a:spcPts val="200"/>
              </a:spcAft>
            </a:pPr>
            <a:r>
              <a:rPr lang="ja-JP" sz="1400" b="1" dirty="0">
                <a:solidFill>
                  <a:srgbClr val="3D3D3D"/>
                </a:solidFill>
                <a:latin typeface="BIZ UDPGothic"/>
                <a:ea typeface="BIZ UDPGothic"/>
              </a:rPr>
              <a:t>本プロジェクトの概要</a:t>
            </a:r>
          </a:p>
          <a:p>
            <a:pPr algn="l">
              <a:spcAft>
                <a:spcPts val="100"/>
              </a:spcAft>
            </a:pPr>
            <a:r>
              <a:rPr lang="ja-JP" sz="1100" dirty="0">
                <a:solidFill>
                  <a:srgbClr val="2B2B2B"/>
                </a:solidFill>
                <a:latin typeface="BIZ UDPGothic"/>
                <a:ea typeface="BIZ UDPGothic"/>
              </a:rPr>
              <a:t>NYC不動産売買データ（37,751件・18項目）を対象に、SALE PRICEを</a:t>
            </a:r>
          </a:p>
          <a:p>
            <a:pPr algn="l">
              <a:spcAft>
                <a:spcPts val="100"/>
              </a:spcAft>
            </a:pPr>
            <a:r>
              <a:rPr lang="ja-JP" sz="1100" dirty="0">
                <a:solidFill>
                  <a:srgbClr val="2B2B2B"/>
                </a:solidFill>
                <a:latin typeface="BIZ UDPGothic"/>
                <a:ea typeface="BIZ UDPGothic"/>
              </a:rPr>
              <a:t>中心に、立地・建物属性・用途構成・規模・築年等の影響を整理する</a:t>
            </a:r>
          </a:p>
          <a:p>
            <a:pPr algn="l">
              <a:spcBef>
                <a:spcPts val="200"/>
              </a:spcBef>
              <a:spcAft>
                <a:spcPts val="100"/>
              </a:spcAft>
            </a:pPr>
            <a:r>
              <a:rPr lang="ja-JP" sz="1100" dirty="0">
                <a:solidFill>
                  <a:srgbClr val="2B2B2B"/>
                </a:solidFill>
                <a:latin typeface="BIZ UDPGothic"/>
                <a:ea typeface="BIZ UDPGothic"/>
              </a:rPr>
              <a:t>データ品質課題（欠損・ゼロ値・異常値・識別キー）の明確化、</a:t>
            </a:r>
          </a:p>
          <a:p>
            <a:pPr algn="l"/>
            <a:r>
              <a:rPr lang="ja-JP" sz="1100" dirty="0">
                <a:solidFill>
                  <a:srgbClr val="2B2B2B"/>
                </a:solidFill>
                <a:latin typeface="BIZ UDPGothic"/>
                <a:ea typeface="BIZ UDPGothic"/>
              </a:rPr>
              <a:t>短期間で再現可能な分析手順と初期モデル検証結果を整備する</a:t>
            </a:r>
          </a:p>
        </p:txBody>
      </p:sp>
      <p:sp>
        <p:nvSpPr>
          <p:cNvPr id="13" name="PositionBox"/>
          <p:cNvSpPr/>
          <p:nvPr/>
        </p:nvSpPr>
        <p:spPr>
          <a:xfrm>
            <a:off x="5715000" y="1841500"/>
            <a:ext cx="5715000" cy="3238500"/>
          </a:xfrm>
          <a:prstGeom prst="roundRect">
            <a:avLst>
              <a:gd name="adj" fmla="val 8000"/>
            </a:avLst>
          </a:prstGeom>
          <a:solidFill>
            <a:srgbClr val="2B2B2B"/>
          </a:solidFill>
          <a:ln w="0">
            <a:noFill/>
          </a:ln>
        </p:spPr>
        <p:txBody>
          <a:bodyPr lIns="144000" tIns="108000" rIns="144000" bIns="108000" anchor="t"/>
          <a:lstStyle/>
          <a:p>
            <a:pPr algn="l">
              <a:spcAft>
                <a:spcPts val="400"/>
              </a:spcAft>
            </a:pPr>
            <a:r>
              <a:rPr lang="ja-JP" sz="1400" b="1" dirty="0">
                <a:solidFill>
                  <a:srgbClr val="A63D2F"/>
                </a:solidFill>
                <a:latin typeface="BIZ UDPGothic"/>
                <a:ea typeface="BIZ UDPGothic"/>
              </a:rPr>
              <a:t>本提案書の位置づけ</a:t>
            </a:r>
          </a:p>
          <a:p>
            <a:pPr algn="l">
              <a:spcAft>
                <a:spcPts val="300"/>
              </a:spcAft>
            </a:pPr>
            <a:r>
              <a:rPr lang="ja-JP" sz="1100" dirty="0">
                <a:solidFill>
                  <a:srgbClr val="FFFFFF"/>
                </a:solidFill>
                <a:latin typeface="BIZ UDPGothic"/>
                <a:ea typeface="BIZ UDPGothic"/>
              </a:rPr>
              <a:t>以降の分析計画、中間報告、最終報告等に</a:t>
            </a:r>
          </a:p>
          <a:p>
            <a:pPr algn="l">
              <a:spcAft>
                <a:spcPts val="400"/>
              </a:spcAft>
            </a:pPr>
            <a:r>
              <a:rPr lang="ja-JP" sz="1100" dirty="0">
                <a:solidFill>
                  <a:srgbClr val="FFFFFF"/>
                </a:solidFill>
                <a:latin typeface="BIZ UDPGothic"/>
                <a:ea typeface="BIZ UDPGothic"/>
              </a:rPr>
              <a:t>一貫して適用する正本として位置づける</a:t>
            </a:r>
          </a:p>
          <a:p>
            <a:pPr algn="l">
              <a:spcBef>
                <a:spcPts val="200"/>
              </a:spcBef>
              <a:buFont typeface="BIZ UDPGothic"/>
              <a:buChar char="■"/>
            </a:pPr>
            <a:r>
              <a:rPr lang="ja-JP" sz="1100" dirty="0">
                <a:solidFill>
                  <a:srgbClr val="D4C5B0"/>
                </a:solidFill>
                <a:latin typeface="BIZ UDPGothic"/>
                <a:ea typeface="BIZ UDPGothic"/>
              </a:rPr>
              <a:t> 目的変数の定義</a:t>
            </a:r>
          </a:p>
          <a:p>
            <a:pPr algn="l">
              <a:spcBef>
                <a:spcPts val="100"/>
              </a:spcBef>
              <a:buFont typeface="BIZ UDPGothic"/>
              <a:buChar char="■"/>
            </a:pPr>
            <a:r>
              <a:rPr lang="ja-JP" sz="1100" dirty="0">
                <a:solidFill>
                  <a:srgbClr val="D4C5B0"/>
                </a:solidFill>
                <a:latin typeface="BIZ UDPGothic"/>
                <a:ea typeface="BIZ UDPGothic"/>
              </a:rPr>
              <a:t> 対象範囲・前処理方針</a:t>
            </a:r>
          </a:p>
          <a:p>
            <a:pPr algn="l">
              <a:spcBef>
                <a:spcPts val="100"/>
              </a:spcBef>
              <a:buFont typeface="BIZ UDPGothic"/>
              <a:buChar char="■"/>
            </a:pPr>
            <a:r>
              <a:rPr lang="ja-JP" sz="1100" dirty="0">
                <a:solidFill>
                  <a:srgbClr val="D4C5B0"/>
                </a:solidFill>
                <a:latin typeface="BIZ UDPGothic"/>
                <a:ea typeface="BIZ UDPGothic"/>
              </a:rPr>
              <a:t> 役割分担・成果物定義</a:t>
            </a:r>
          </a:p>
          <a:p>
            <a:pPr algn="l">
              <a:spcBef>
                <a:spcPts val="100"/>
              </a:spcBef>
              <a:buFont typeface="BIZ UDPGothic"/>
              <a:buChar char="■"/>
            </a:pPr>
            <a:r>
              <a:rPr lang="ja-JP" sz="1100" dirty="0">
                <a:solidFill>
                  <a:srgbClr val="D4C5B0"/>
                </a:solidFill>
                <a:latin typeface="BIZ UDPGothic"/>
                <a:ea typeface="BIZ UDPGothic"/>
              </a:rPr>
              <a:t> 不整合の防止</a:t>
            </a:r>
          </a:p>
        </p:txBody>
      </p:sp>
      <p:sp>
        <p:nvSpPr>
          <p:cNvPr id="14" name="DataSpec"/>
          <p:cNvSpPr/>
          <p:nvPr/>
        </p:nvSpPr>
        <p:spPr>
          <a:xfrm>
            <a:off x="457200" y="5461000"/>
            <a:ext cx="10972800" cy="457200"/>
          </a:xfrm>
          <a:prstGeom prst="rect">
            <a:avLst/>
          </a:prstGeom>
          <a:solidFill>
            <a:srgbClr val="F5F5F3"/>
          </a:solidFill>
          <a:ln w="6350">
            <a:solidFill>
              <a:srgbClr val="D4C5B0"/>
            </a:solidFill>
          </a:ln>
        </p:spPr>
        <p:txBody>
          <a:bodyPr lIns="108000" tIns="54000" rIns="108000" bIns="54000" anchor="ctr"/>
          <a:lstStyle/>
          <a:p>
            <a:pPr algn="l"/>
            <a:r>
              <a:rPr lang="ja-JP" sz="1200" b="1" dirty="0">
                <a:solidFill>
                  <a:srgbClr val="A63D2F"/>
                </a:solidFill>
                <a:latin typeface="BIZ UDPGothic"/>
                <a:ea typeface="BIZ UDPGothic"/>
              </a:rPr>
              <a:t>対象データ：</a:t>
            </a:r>
            <a:r>
              <a:rPr lang="en-US" sz="1200" dirty="0">
                <a:solidFill>
                  <a:srgbClr val="2B2B2B"/>
                </a:solidFill>
                <a:latin typeface="BIZ UDPGothic"/>
                <a:ea typeface="BIZ UDPGothic"/>
              </a:rPr>
              <a:t>data	rain.csv</a:t>
            </a:r>
            <a:r>
              <a:rPr lang="ja-JP" sz="1200" dirty="0">
                <a:solidFill>
                  <a:srgbClr val="6B6B6B"/>
                </a:solidFill>
                <a:latin typeface="BIZ UDPGothic"/>
                <a:ea typeface="BIZ UDPGothic"/>
              </a:rPr>
              <a:t>　｜　37,751件　｜　18項目　｜　目的変数：SALE PRICE</a:t>
            </a:r>
          </a:p>
        </p:txBody>
      </p:sp>
    </p:spTree>
    <p:extLst>
      <p:ext uri="{BB962C8B-B14F-4D97-AF65-F5344CB8AC3E}">
        <p14:creationId xmlns:p14="http://schemas.microsoft.com/office/powerpoint/2010/main" val="208135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F2490D-1F99-1DA3-B41A-4C82037AA83F}"/>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2. 目的</a:t>
            </a:r>
          </a:p>
        </p:txBody>
      </p:sp>
      <p:sp>
        <p:nvSpPr>
          <p:cNvPr id="20" name="Card0"/>
          <p:cNvSpPr/>
          <p:nvPr/>
        </p:nvSpPr>
        <p:spPr>
          <a:xfrm>
            <a:off x="4572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01</a:t>
            </a:r>
          </a:p>
          <a:p>
            <a:pPr algn="ctr">
              <a:spcAft>
                <a:spcPts val="300"/>
              </a:spcAft>
            </a:pPr>
            <a:r>
              <a:rPr lang="ja-JP" sz="1200" b="1" dirty="0">
                <a:solidFill>
                  <a:srgbClr val="2B2B2B"/>
                </a:solidFill>
                <a:latin typeface="BIZ UDPGothic"/>
                <a:ea typeface="BIZ UDPGothic"/>
              </a:rPr>
              <a:t>価格形成要因の可視化</a:t>
            </a:r>
          </a:p>
          <a:p>
            <a:pPr algn="ctr"/>
            <a:r>
              <a:rPr lang="ja-JP" sz="1100" dirty="0">
                <a:solidFill>
                  <a:srgbClr val="6B6B6B"/>
                </a:solidFill>
                <a:latin typeface="BIZ UDPGothic"/>
                <a:ea typeface="BIZ UDPGothic"/>
              </a:rPr>
              <a:t>売買価格に影響する
主要因を定量把握</a:t>
            </a:r>
          </a:p>
        </p:txBody>
      </p:sp>
      <p:sp>
        <p:nvSpPr>
          <p:cNvPr id="23" name="Card1"/>
          <p:cNvSpPr/>
          <p:nvPr/>
        </p:nvSpPr>
        <p:spPr>
          <a:xfrm>
            <a:off x="26670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02</a:t>
            </a:r>
          </a:p>
          <a:p>
            <a:pPr algn="ctr">
              <a:spcAft>
                <a:spcPts val="300"/>
              </a:spcAft>
            </a:pPr>
            <a:r>
              <a:rPr lang="ja-JP" sz="1200" b="1" dirty="0">
                <a:solidFill>
                  <a:srgbClr val="2B2B2B"/>
                </a:solidFill>
                <a:latin typeface="BIZ UDPGothic"/>
                <a:ea typeface="BIZ UDPGothic"/>
              </a:rPr>
              <a:t>データ品質課題の明確化</a:t>
            </a:r>
          </a:p>
          <a:p>
            <a:pPr algn="ctr"/>
            <a:r>
              <a:rPr lang="ja-JP" sz="1100" dirty="0">
                <a:solidFill>
                  <a:srgbClr val="6B6B6B"/>
                </a:solidFill>
                <a:latin typeface="BIZ UDPGothic"/>
                <a:ea typeface="BIZ UDPGothic"/>
              </a:rPr>
              <a:t>分析利用にあたっての
欠損・異常値等を整理</a:t>
            </a:r>
          </a:p>
        </p:txBody>
      </p:sp>
      <p:sp>
        <p:nvSpPr>
          <p:cNvPr id="26" name="Card2"/>
          <p:cNvSpPr/>
          <p:nvPr/>
        </p:nvSpPr>
        <p:spPr>
          <a:xfrm>
            <a:off x="48768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03</a:t>
            </a:r>
          </a:p>
          <a:p>
            <a:pPr algn="ctr">
              <a:spcAft>
                <a:spcPts val="300"/>
              </a:spcAft>
            </a:pPr>
            <a:r>
              <a:rPr lang="ja-JP" sz="1200" b="1" dirty="0">
                <a:solidFill>
                  <a:srgbClr val="2B2B2B"/>
                </a:solidFill>
                <a:latin typeface="BIZ UDPGothic"/>
                <a:ea typeface="BIZ UDPGothic"/>
              </a:rPr>
              <a:t>予測可能性の検証</a:t>
            </a:r>
          </a:p>
          <a:p>
            <a:pPr algn="ctr"/>
            <a:r>
              <a:rPr lang="ja-JP" sz="1100" dirty="0">
                <a:solidFill>
                  <a:srgbClr val="6B6B6B"/>
                </a:solidFill>
                <a:latin typeface="BIZ UDPGothic"/>
                <a:ea typeface="BIZ UDPGothic"/>
              </a:rPr>
              <a:t>初期予測モデルによる
予測精度を検証</a:t>
            </a:r>
          </a:p>
        </p:txBody>
      </p:sp>
      <p:sp>
        <p:nvSpPr>
          <p:cNvPr id="29" name="Card3"/>
          <p:cNvSpPr/>
          <p:nvPr/>
        </p:nvSpPr>
        <p:spPr>
          <a:xfrm>
            <a:off x="70866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04</a:t>
            </a:r>
          </a:p>
          <a:p>
            <a:pPr algn="ctr">
              <a:spcAft>
                <a:spcPts val="300"/>
              </a:spcAft>
            </a:pPr>
            <a:r>
              <a:rPr lang="ja-JP" sz="1200" b="1" dirty="0">
                <a:solidFill>
                  <a:srgbClr val="2B2B2B"/>
                </a:solidFill>
                <a:latin typeface="BIZ UDPGothic"/>
                <a:ea typeface="BIZ UDPGothic"/>
              </a:rPr>
              <a:t>業務示唆の整理</a:t>
            </a:r>
          </a:p>
          <a:p>
            <a:pPr algn="ctr"/>
            <a:r>
              <a:rPr lang="ja-JP" sz="1100" dirty="0">
                <a:solidFill>
                  <a:srgbClr val="6B6B6B"/>
                </a:solidFill>
                <a:latin typeface="BIZ UDPGothic"/>
                <a:ea typeface="BIZ UDPGothic"/>
              </a:rPr>
              <a:t>比較評価・取引判断
支援に資する示唆</a:t>
            </a:r>
          </a:p>
        </p:txBody>
      </p:sp>
      <p:sp>
        <p:nvSpPr>
          <p:cNvPr id="32" name="Card4"/>
          <p:cNvSpPr/>
          <p:nvPr/>
        </p:nvSpPr>
        <p:spPr>
          <a:xfrm>
            <a:off x="92964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05</a:t>
            </a:r>
          </a:p>
          <a:p>
            <a:pPr algn="ctr">
              <a:spcAft>
                <a:spcPts val="300"/>
              </a:spcAft>
            </a:pPr>
            <a:r>
              <a:rPr lang="ja-JP" sz="1200" b="1" dirty="0">
                <a:solidFill>
                  <a:srgbClr val="2B2B2B"/>
                </a:solidFill>
                <a:latin typeface="BIZ UDPGothic"/>
                <a:ea typeface="BIZ UDPGothic"/>
              </a:rPr>
              <a:t>標準手順の確立</a:t>
            </a:r>
          </a:p>
          <a:p>
            <a:pPr algn="ctr"/>
            <a:r>
              <a:rPr lang="ja-JP" sz="1100" dirty="0">
                <a:solidFill>
                  <a:srgbClr val="6B6B6B"/>
                </a:solidFill>
                <a:latin typeface="BIZ UDPGothic"/>
                <a:ea typeface="BIZ UDPGothic"/>
              </a:rPr>
              <a:t>後続資料で再利用可能な
分析前提・手順の確立</a:t>
            </a:r>
          </a:p>
        </p:txBody>
      </p:sp>
      <p:sp>
        <p:nvSpPr>
          <p:cNvPr id="40" name="GoalBox"/>
          <p:cNvSpPr/>
          <p:nvPr/>
        </p:nvSpPr>
        <p:spPr>
          <a:xfrm>
            <a:off x="457200" y="4381500"/>
            <a:ext cx="10972800" cy="1524000"/>
          </a:xfrm>
          <a:prstGeom prst="roundRect">
            <a:avLst>
              <a:gd name="adj" fmla="val 6000"/>
            </a:avLst>
          </a:prstGeom>
          <a:solidFill>
            <a:srgbClr val="2B2B2B"/>
          </a:solidFill>
          <a:ln w="0">
            <a:noFill/>
          </a:ln>
        </p:spPr>
        <p:txBody>
          <a:bodyPr lIns="144000" tIns="72000" rIns="144000" bIns="72000" anchor="ctr"/>
          <a:lstStyle/>
          <a:p>
            <a:pPr algn="l">
              <a:spcAft>
                <a:spcPts val="300"/>
              </a:spcAft>
            </a:pPr>
            <a:r>
              <a:rPr lang="ja-JP" sz="1400" b="1" dirty="0">
                <a:solidFill>
                  <a:srgbClr val="A63D2F"/>
                </a:solidFill>
                <a:latin typeface="BIZ UDPGothic"/>
                <a:ea typeface="BIZ UDPGothic"/>
              </a:rPr>
              <a:t>6週間の目標</a:t>
            </a:r>
          </a:p>
          <a:p>
            <a:pPr algn="l"/>
            <a:r>
              <a:rPr lang="ja-JP" sz="1100" dirty="0">
                <a:solidFill>
                  <a:srgbClr val="FFFFFF"/>
                </a:solidFill>
                <a:latin typeface="BIZ UDPGothic"/>
                <a:ea typeface="BIZ UDPGothic"/>
              </a:rPr>
              <a:t>全18カラムの利用方針整理 → 欠損・ゼロ値・異常値の論点整理 → モデリング用データセット作成 → 価格影響上位要因の抽出 → 初期モデル評価の完了</a:t>
            </a:r>
          </a:p>
        </p:txBody>
      </p:sp>
    </p:spTree>
    <p:extLst>
      <p:ext uri="{BB962C8B-B14F-4D97-AF65-F5344CB8AC3E}">
        <p14:creationId xmlns:p14="http://schemas.microsoft.com/office/powerpoint/2010/main" val="222716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E6EEA0-4695-4C9F-B5F2-662B619AD250}"/>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3. スコープ</a:t>
            </a:r>
          </a:p>
        </p:txBody>
      </p:sp>
      <p:sp>
        <p:nvSpPr>
          <p:cNvPr id="10" name="InScope"/>
          <p:cNvSpPr/>
          <p:nvPr/>
        </p:nvSpPr>
        <p:spPr>
          <a:xfrm>
            <a:off x="457200" y="1841500"/>
            <a:ext cx="5334000" cy="4318000"/>
          </a:xfrm>
          <a:prstGeom prst="roundRect">
            <a:avLst>
              <a:gd name="adj" fmla="val 4000"/>
            </a:avLst>
          </a:prstGeom>
          <a:solidFill>
            <a:srgbClr val="F5F5F3"/>
          </a:solidFill>
          <a:ln w="19050">
            <a:solidFill>
              <a:srgbClr val="A63D2F"/>
            </a:solidFill>
          </a:ln>
        </p:spPr>
        <p:txBody>
          <a:bodyPr lIns="144000" tIns="108000" rIns="144000" bIns="72000" anchor="t"/>
          <a:lstStyle/>
          <a:p>
            <a:pPr algn="l">
              <a:spcAft>
                <a:spcPts val="400"/>
              </a:spcAft>
            </a:pPr>
            <a:r>
              <a:rPr lang="ja-JP" sz="1600" b="1" dirty="0">
                <a:solidFill>
                  <a:srgbClr val="A63D2F"/>
                </a:solidFill>
                <a:latin typeface="BIZ UDPGothic"/>
                <a:ea typeface="BIZ UDPGothic"/>
              </a:rPr>
              <a:t>対象範囲（IN SCOPE）</a:t>
            </a:r>
          </a:p>
          <a:p>
            <a:pPr marL="228600" indent="-228600" algn="l">
              <a:spcAft>
                <a:spcPts val="150"/>
              </a:spcAft>
              <a:buFont typeface="BIZ UDPGothic"/>
              <a:buAutoNum type="arabicPeriod"/>
            </a:pPr>
            <a:r>
              <a:rPr lang="ja-JP" sz="1050" dirty="0">
                <a:solidFill>
                  <a:srgbClr val="2B2B2B"/>
                </a:solidFill>
                <a:latin typeface="BIZ UDPGothic"/>
                <a:ea typeface="BIZ UDPGothic"/>
              </a:rPr>
              <a:t>data\train.csv の読込およびデータ内容確認</a:t>
            </a:r>
          </a:p>
          <a:p>
            <a:pPr marL="228600" indent="-228600" algn="l">
              <a:spcAft>
                <a:spcPts val="150"/>
              </a:spcAft>
              <a:buFont typeface="BIZ UDPGothic"/>
              <a:buAutoNum type="arabicPeriod"/>
            </a:pPr>
            <a:r>
              <a:rPr lang="ja-JP" sz="1050" dirty="0">
                <a:solidFill>
                  <a:srgbClr val="2B2B2B"/>
                </a:solidFill>
                <a:latin typeface="BIZ UDPGothic"/>
                <a:ea typeface="BIZ UDPGothic"/>
              </a:rPr>
              <a:t>カラム定義と実データの整合確認</a:t>
            </a:r>
          </a:p>
          <a:p>
            <a:pPr marL="228600" indent="-228600" algn="l">
              <a:spcAft>
                <a:spcPts val="150"/>
              </a:spcAft>
              <a:buFont typeface="BIZ UDPGothic"/>
              <a:buAutoNum type="arabicPeriod"/>
            </a:pPr>
            <a:r>
              <a:rPr lang="ja-JP" sz="1050" dirty="0">
                <a:solidFill>
                  <a:srgbClr val="2B2B2B"/>
                </a:solidFill>
                <a:latin typeface="BIZ UDPGothic"/>
                <a:ea typeface="BIZ UDPGothic"/>
              </a:rPr>
              <a:t>欠損、ゼロ値、異常値、重複の初期点検</a:t>
            </a:r>
          </a:p>
          <a:p>
            <a:pPr marL="228600" indent="-228600" algn="l">
              <a:spcAft>
                <a:spcPts val="150"/>
              </a:spcAft>
              <a:buFont typeface="BIZ UDPGothic"/>
              <a:buAutoNum type="arabicPeriod"/>
            </a:pPr>
            <a:r>
              <a:rPr lang="ja-JP" sz="1050" dirty="0">
                <a:solidFill>
                  <a:srgbClr val="2B2B2B"/>
                </a:solidFill>
                <a:latin typeface="BIZ UDPGothic"/>
                <a:ea typeface="BIZ UDPGothic"/>
              </a:rPr>
              <a:t>SALE PRICE を目的変数とした探索的データ分析</a:t>
            </a:r>
          </a:p>
          <a:p>
            <a:pPr marL="228600" indent="-228600" algn="l">
              <a:spcAft>
                <a:spcPts val="150"/>
              </a:spcAft>
              <a:buFont typeface="BIZ UDPGothic"/>
              <a:buAutoNum type="arabicPeriod"/>
            </a:pPr>
            <a:r>
              <a:rPr lang="ja-JP" sz="1050" dirty="0">
                <a:solidFill>
                  <a:srgbClr val="2B2B2B"/>
                </a:solidFill>
                <a:latin typeface="BIZ UDPGothic"/>
                <a:ea typeface="BIZ UDPGothic"/>
              </a:rPr>
              <a:t>標準的な前処理および初期的な特徴量設計</a:t>
            </a:r>
          </a:p>
          <a:p>
            <a:pPr marL="228600" indent="-228600" algn="l">
              <a:spcAft>
                <a:spcPts val="150"/>
              </a:spcAft>
              <a:buFont typeface="BIZ UDPGothic"/>
              <a:buAutoNum type="arabicPeriod"/>
            </a:pPr>
            <a:r>
              <a:rPr lang="ja-JP" sz="1050" dirty="0">
                <a:solidFill>
                  <a:srgbClr val="2B2B2B"/>
                </a:solidFill>
                <a:latin typeface="BIZ UDPGothic"/>
                <a:ea typeface="BIZ UDPGothic"/>
              </a:rPr>
              <a:t>初期予測モデルの構築と評価</a:t>
            </a:r>
          </a:p>
          <a:p>
            <a:pPr marL="228600" indent="-228600" algn="l">
              <a:spcAft>
                <a:spcPts val="150"/>
              </a:spcAft>
              <a:buFont typeface="BIZ UDPGothic"/>
              <a:buAutoNum type="arabicPeriod"/>
            </a:pPr>
            <a:r>
              <a:rPr lang="ja-JP" sz="1050" dirty="0">
                <a:solidFill>
                  <a:srgbClr val="2B2B2B"/>
                </a:solidFill>
                <a:latin typeface="BIZ UDPGothic"/>
                <a:ea typeface="BIZ UDPGothic"/>
              </a:rPr>
              <a:t>分析結果の可視化、解釈、業務示唆の整理</a:t>
            </a:r>
          </a:p>
          <a:p>
            <a:pPr marL="228600" indent="-228600" algn="l">
              <a:spcAft>
                <a:spcPts val="150"/>
              </a:spcAft>
              <a:buFont typeface="BIZ UDPGothic"/>
              <a:buAutoNum type="arabicPeriod"/>
            </a:pPr>
            <a:r>
              <a:rPr lang="ja-JP" sz="1050" dirty="0">
                <a:solidFill>
                  <a:srgbClr val="2B2B2B"/>
                </a:solidFill>
                <a:latin typeface="BIZ UDPGothic"/>
                <a:ea typeface="BIZ UDPGothic"/>
              </a:rPr>
              <a:t>前提条件、用語、スコープ定義の固定化</a:t>
            </a:r>
          </a:p>
        </p:txBody>
      </p:sp>
      <p:sp>
        <p:nvSpPr>
          <p:cNvPr id="11" name="OutScope"/>
          <p:cNvSpPr/>
          <p:nvPr/>
        </p:nvSpPr>
        <p:spPr>
          <a:xfrm>
            <a:off x="6096000" y="1841500"/>
            <a:ext cx="5334000" cy="4318000"/>
          </a:xfrm>
          <a:prstGeom prst="roundRect">
            <a:avLst>
              <a:gd name="adj" fmla="val 4000"/>
            </a:avLst>
          </a:prstGeom>
          <a:solidFill>
            <a:srgbClr val="FFFFFF"/>
          </a:solidFill>
          <a:ln w="12700">
            <a:solidFill>
              <a:srgbClr val="6B6B6B"/>
            </a:solidFill>
            <a:prstDash val="dash"/>
          </a:ln>
        </p:spPr>
        <p:txBody>
          <a:bodyPr lIns="144000" tIns="108000" rIns="144000" bIns="72000" anchor="t"/>
          <a:lstStyle/>
          <a:p>
            <a:pPr algn="l">
              <a:spcAft>
                <a:spcPts val="400"/>
              </a:spcAft>
            </a:pPr>
            <a:r>
              <a:rPr lang="ja-JP" sz="1600" b="1" dirty="0">
                <a:solidFill>
                  <a:srgbClr val="6B6B6B"/>
                </a:solidFill>
                <a:latin typeface="BIZ UDPGothic"/>
                <a:ea typeface="BIZ UDPGothic"/>
              </a:rPr>
              <a:t>対象外（OUT OF SCOPE）</a:t>
            </a:r>
          </a:p>
          <a:p>
            <a:pPr marL="228600" indent="-228600" algn="l">
              <a:spcAft>
                <a:spcPts val="150"/>
              </a:spcAft>
              <a:buFont typeface="BIZ UDPGothic"/>
              <a:buAutoNum type="arabicPeriod"/>
            </a:pPr>
            <a:r>
              <a:rPr lang="ja-JP" sz="1050" dirty="0">
                <a:solidFill>
                  <a:srgbClr val="6B6B6B"/>
                </a:solidFill>
                <a:latin typeface="BIZ UDPGothic"/>
                <a:ea typeface="BIZ UDPGothic"/>
              </a:rPr>
              <a:t>本番システム実装および運用環境構築</a:t>
            </a:r>
          </a:p>
          <a:p>
            <a:pPr marL="228600" indent="-228600" algn="l">
              <a:spcAft>
                <a:spcPts val="150"/>
              </a:spcAft>
              <a:buFont typeface="BIZ UDPGothic"/>
              <a:buAutoNum type="arabicPeriod"/>
            </a:pPr>
            <a:r>
              <a:rPr lang="ja-JP" sz="1050" dirty="0">
                <a:solidFill>
                  <a:srgbClr val="6B6B6B"/>
                </a:solidFill>
                <a:latin typeface="BIZ UDPGothic"/>
                <a:ea typeface="BIZ UDPGothic"/>
              </a:rPr>
              <a:t>外部市況データの恒常連携</a:t>
            </a:r>
          </a:p>
          <a:p>
            <a:pPr marL="228600" indent="-228600" algn="l">
              <a:spcAft>
                <a:spcPts val="150"/>
              </a:spcAft>
              <a:buFont typeface="BIZ UDPGothic"/>
              <a:buAutoNum type="arabicPeriod"/>
            </a:pPr>
            <a:r>
              <a:rPr lang="ja-JP" sz="1050" dirty="0">
                <a:solidFill>
                  <a:srgbClr val="6B6B6B"/>
                </a:solidFill>
                <a:latin typeface="BIZ UDPGothic"/>
                <a:ea typeface="BIZ UDPGothic"/>
              </a:rPr>
              <a:t>賃料、NOI、稼働率等の算出</a:t>
            </a:r>
          </a:p>
          <a:p>
            <a:pPr marL="228600" indent="-228600" algn="l">
              <a:spcAft>
                <a:spcPts val="150"/>
              </a:spcAft>
              <a:buFont typeface="BIZ UDPGothic"/>
              <a:buAutoNum type="arabicPeriod"/>
            </a:pPr>
            <a:r>
              <a:rPr lang="ja-JP" sz="1050" dirty="0">
                <a:solidFill>
                  <a:srgbClr val="6B6B6B"/>
                </a:solidFill>
                <a:latin typeface="BIZ UDPGothic"/>
                <a:ea typeface="BIZ UDPGothic"/>
              </a:rPr>
              <a:t>鑑定評価書の作成</a:t>
            </a:r>
          </a:p>
          <a:p>
            <a:pPr marL="228600" indent="-228600" algn="l">
              <a:spcAft>
                <a:spcPts val="150"/>
              </a:spcAft>
              <a:buFont typeface="BIZ UDPGothic"/>
              <a:buAutoNum type="arabicPeriod"/>
            </a:pPr>
            <a:r>
              <a:rPr lang="ja-JP" sz="1050" dirty="0">
                <a:solidFill>
                  <a:srgbClr val="6B6B6B"/>
                </a:solidFill>
                <a:latin typeface="BIZ UDPGothic"/>
                <a:ea typeface="BIZ UDPGothic"/>
              </a:rPr>
              <a:t>個別案件の投資意思決定代行</a:t>
            </a:r>
          </a:p>
          <a:p>
            <a:pPr marL="228600" indent="-228600" algn="l">
              <a:spcAft>
                <a:spcPts val="150"/>
              </a:spcAft>
              <a:buFont typeface="BIZ UDPGothic"/>
              <a:buAutoNum type="arabicPeriod"/>
            </a:pPr>
            <a:r>
              <a:rPr lang="ja-JP" sz="1050" dirty="0">
                <a:solidFill>
                  <a:srgbClr val="6B6B6B"/>
                </a:solidFill>
                <a:latin typeface="BIZ UDPGothic"/>
                <a:ea typeface="BIZ UDPGothic"/>
              </a:rPr>
              <a:t>機微情報統合（契約・テナントデータ等）</a:t>
            </a:r>
          </a:p>
          <a:p>
            <a:pPr marL="228600" indent="-228600" algn="l">
              <a:spcAft>
                <a:spcPts val="150"/>
              </a:spcAft>
              <a:buFont typeface="BIZ UDPGothic"/>
              <a:buAutoNum type="arabicPeriod"/>
            </a:pPr>
            <a:r>
              <a:rPr lang="ja-JP" sz="1050" dirty="0">
                <a:solidFill>
                  <a:srgbClr val="6B6B6B"/>
                </a:solidFill>
                <a:latin typeface="BIZ UDPGothic"/>
                <a:ea typeface="BIZ UDPGothic"/>
              </a:rPr>
              <a:t>6週間内での継続運用体制構築</a:t>
            </a:r>
          </a:p>
          <a:p>
            <a:pPr marL="228600" indent="-228600" algn="l">
              <a:spcAft>
                <a:spcPts val="150"/>
              </a:spcAft>
              <a:buFont typeface="BIZ UDPGothic"/>
              <a:buAutoNum type="arabicPeriod"/>
            </a:pPr>
            <a:r>
              <a:rPr lang="ja-JP" sz="1050" dirty="0">
                <a:solidFill>
                  <a:srgbClr val="6B6B6B"/>
                </a:solidFill>
                <a:latin typeface="BIZ UDPGothic"/>
                <a:ea typeface="BIZ UDPGothic"/>
              </a:rPr>
              <a:t>追加データ取得前提の大規模再設計</a:t>
            </a:r>
          </a:p>
        </p:txBody>
      </p:sp>
    </p:spTree>
    <p:extLst>
      <p:ext uri="{BB962C8B-B14F-4D97-AF65-F5344CB8AC3E}">
        <p14:creationId xmlns:p14="http://schemas.microsoft.com/office/powerpoint/2010/main" val="3577875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6DE783-B0E7-515A-0C1C-867177E04D39}"/>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全体フロー</a:t>
            </a:r>
          </a:p>
        </p:txBody>
      </p:sp>
      <p:sp>
        <p:nvSpPr>
          <p:cNvPr id="50" name="Intro"/>
          <p:cNvSpPr/>
          <p:nvPr/>
        </p:nvSpPr>
        <p:spPr>
          <a:xfrm>
            <a:off x="457200" y="1778000"/>
            <a:ext cx="10972800" cy="300000"/>
          </a:xfrm>
          <a:prstGeom prst="rect">
            <a:avLst/>
          </a:prstGeom>
          <a:noFill/>
          <a:ln w="0">
            <a:noFill/>
          </a:ln>
        </p:spPr>
        <p:txBody>
          <a:bodyPr lIns="0" tIns="0" rIns="0" bIns="0" anchor="t"/>
          <a:lstStyle/>
          <a:p>
            <a:pPr algn="l"/>
            <a:r>
              <a:rPr lang="ja-JP" sz="1200" dirty="0">
                <a:solidFill>
                  <a:srgbClr val="6B6B6B"/>
                </a:solidFill>
                <a:latin typeface="BIZ UDPGothic"/>
                <a:ea typeface="BIZ UDPGothic"/>
              </a:rPr>
              <a:t>再現性重視のアプローチ：データ事実の確認 → 品質課題の可視化 → 標準実装による前処理 → 初期モデル検証 → 業務解釈の順に進める</a:t>
            </a:r>
          </a:p>
        </p:txBody>
      </p:sp>
      <p:sp>
        <p:nvSpPr>
          <p:cNvPr id="60" name="Phase0"/>
          <p:cNvSpPr/>
          <p:nvPr/>
        </p:nvSpPr>
        <p:spPr>
          <a:xfrm>
            <a:off x="457200" y="2095500"/>
            <a:ext cx="2057400" cy="1651000"/>
          </a:xfrm>
          <a:prstGeom prst="homePlate">
            <a:avLst>
              <a:gd name="adj" fmla="val 25000"/>
            </a:avLst>
          </a:prstGeom>
          <a:solidFill>
            <a:srgbClr val="A63D2F"/>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1</a:t>
            </a:r>
          </a:p>
          <a:p>
            <a:pPr algn="ctr"/>
            <a:r>
              <a:rPr lang="ja-JP" sz="1400" b="1" dirty="0">
                <a:solidFill>
                  <a:srgbClr val="FFFFFF"/>
                </a:solidFill>
                <a:latin typeface="BIZ UDPGothic"/>
                <a:ea typeface="BIZ UDPGothic"/>
              </a:rPr>
              <a:t>データ理解
品質評価</a:t>
            </a:r>
          </a:p>
        </p:txBody>
      </p:sp>
      <p:sp>
        <p:nvSpPr>
          <p:cNvPr id="61" name="Phase1"/>
          <p:cNvSpPr/>
          <p:nvPr/>
        </p:nvSpPr>
        <p:spPr>
          <a:xfrm>
            <a:off x="2667000" y="2095500"/>
            <a:ext cx="2057400" cy="1651000"/>
          </a:xfrm>
          <a:prstGeom prst="homePlate">
            <a:avLst>
              <a:gd name="adj" fmla="val 25000"/>
            </a:avLst>
          </a:prstGeom>
          <a:solidFill>
            <a:srgbClr val="8B7355"/>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2</a:t>
            </a:r>
          </a:p>
          <a:p>
            <a:pPr algn="ctr"/>
            <a:r>
              <a:rPr lang="ja-JP" sz="1400" b="1" dirty="0">
                <a:solidFill>
                  <a:srgbClr val="FFFFFF"/>
                </a:solidFill>
                <a:latin typeface="BIZ UDPGothic"/>
                <a:ea typeface="BIZ UDPGothic"/>
              </a:rPr>
              <a:t>前処理
方針策定</a:t>
            </a:r>
          </a:p>
        </p:txBody>
      </p:sp>
      <p:sp>
        <p:nvSpPr>
          <p:cNvPr id="62" name="Phase2"/>
          <p:cNvSpPr/>
          <p:nvPr/>
        </p:nvSpPr>
        <p:spPr>
          <a:xfrm>
            <a:off x="4876800" y="2095500"/>
            <a:ext cx="2057400" cy="1651000"/>
          </a:xfrm>
          <a:prstGeom prst="homePlate">
            <a:avLst>
              <a:gd name="adj" fmla="val 25000"/>
            </a:avLst>
          </a:prstGeom>
          <a:solidFill>
            <a:srgbClr val="6B6B6B"/>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3</a:t>
            </a:r>
          </a:p>
          <a:p>
            <a:pPr algn="ctr"/>
            <a:r>
              <a:rPr lang="ja-JP" sz="1400" b="1" dirty="0">
                <a:solidFill>
                  <a:srgbClr val="FFFFFF"/>
                </a:solidFill>
                <a:latin typeface="BIZ UDPGothic"/>
                <a:ea typeface="BIZ UDPGothic"/>
              </a:rPr>
              <a:t>探索的
分析</a:t>
            </a:r>
          </a:p>
        </p:txBody>
      </p:sp>
      <p:sp>
        <p:nvSpPr>
          <p:cNvPr id="63" name="Phase3"/>
          <p:cNvSpPr/>
          <p:nvPr/>
        </p:nvSpPr>
        <p:spPr>
          <a:xfrm>
            <a:off x="7086600" y="2095500"/>
            <a:ext cx="2057400" cy="1651000"/>
          </a:xfrm>
          <a:prstGeom prst="homePlate">
            <a:avLst>
              <a:gd name="adj" fmla="val 25000"/>
            </a:avLst>
          </a:prstGeom>
          <a:solidFill>
            <a:srgbClr val="3D3D3D"/>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4</a:t>
            </a:r>
          </a:p>
          <a:p>
            <a:pPr algn="ctr"/>
            <a:r>
              <a:rPr lang="ja-JP" sz="1400" b="1" dirty="0">
                <a:solidFill>
                  <a:srgbClr val="FFFFFF"/>
                </a:solidFill>
                <a:latin typeface="BIZ UDPGothic"/>
                <a:ea typeface="BIZ UDPGothic"/>
              </a:rPr>
              <a:t>初期
モデリング</a:t>
            </a:r>
          </a:p>
        </p:txBody>
      </p:sp>
      <p:sp>
        <p:nvSpPr>
          <p:cNvPr id="64" name="Phase4"/>
          <p:cNvSpPr/>
          <p:nvPr/>
        </p:nvSpPr>
        <p:spPr>
          <a:xfrm>
            <a:off x="9296400" y="2095500"/>
            <a:ext cx="2057400" cy="1651000"/>
          </a:xfrm>
          <a:prstGeom prst="homePlate">
            <a:avLst>
              <a:gd name="adj" fmla="val 25000"/>
            </a:avLst>
          </a:prstGeom>
          <a:solidFill>
            <a:srgbClr val="2B2B2B"/>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5</a:t>
            </a:r>
          </a:p>
          <a:p>
            <a:pPr algn="ctr"/>
            <a:r>
              <a:rPr lang="ja-JP" sz="1400" b="1" dirty="0">
                <a:solidFill>
                  <a:srgbClr val="FFFFFF"/>
                </a:solidFill>
                <a:latin typeface="BIZ UDPGothic"/>
                <a:ea typeface="BIZ UDPGothic"/>
              </a:rPr>
              <a:t>解釈
報告</a:t>
            </a:r>
          </a:p>
        </p:txBody>
      </p:sp>
      <p:sp>
        <p:nvSpPr>
          <p:cNvPr id="70" name="Detail0"/>
          <p:cNvSpPr/>
          <p:nvPr/>
        </p:nvSpPr>
        <p:spPr>
          <a:xfrm>
            <a:off x="4572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カラム定義・型・分布
欠損・ゼロ値確認
BBL重複確認</a:t>
            </a:r>
          </a:p>
        </p:txBody>
      </p:sp>
      <p:sp>
        <p:nvSpPr>
          <p:cNvPr id="71" name="Detail1"/>
          <p:cNvSpPr/>
          <p:nvPr/>
        </p:nvSpPr>
        <p:spPr>
          <a:xfrm>
            <a:off x="26670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識別子列の除外
欠損値補完
エンコーディング</a:t>
            </a:r>
          </a:p>
        </p:txBody>
      </p:sp>
      <p:sp>
        <p:nvSpPr>
          <p:cNvPr id="72" name="Detail2"/>
          <p:cNvSpPr/>
          <p:nvPr/>
        </p:nvSpPr>
        <p:spPr>
          <a:xfrm>
            <a:off x="48768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立地別・クラス別
価格分布比較
偏り分析</a:t>
            </a:r>
          </a:p>
        </p:txBody>
      </p:sp>
      <p:sp>
        <p:nvSpPr>
          <p:cNvPr id="73" name="Detail3"/>
          <p:cNvSpPr/>
          <p:nvPr/>
        </p:nvSpPr>
        <p:spPr>
          <a:xfrm>
            <a:off x="70866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ベースラインモデル
過学習防止
重要特徴量整理</a:t>
            </a:r>
          </a:p>
        </p:txBody>
      </p:sp>
      <p:sp>
        <p:nvSpPr>
          <p:cNvPr id="74" name="Detail4"/>
          <p:cNvSpPr/>
          <p:nvPr/>
        </p:nvSpPr>
        <p:spPr>
          <a:xfrm>
            <a:off x="92964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上位要因の整理
制約・限界の明示
業務示唆の提示</a:t>
            </a:r>
          </a:p>
        </p:txBody>
      </p:sp>
    </p:spTree>
    <p:extLst>
      <p:ext uri="{BB962C8B-B14F-4D97-AF65-F5344CB8AC3E}">
        <p14:creationId xmlns:p14="http://schemas.microsoft.com/office/powerpoint/2010/main" val="13146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019B7B-E723-C6FC-8886-46C1FEB73367}"/>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データ理解・前処理</a:t>
            </a:r>
          </a:p>
        </p:txBody>
      </p:sp>
      <p:sp>
        <p:nvSpPr>
          <p:cNvPr id="10" name="Phase1Header"/>
          <p:cNvSpPr/>
          <p:nvPr/>
        </p:nvSpPr>
        <p:spPr>
          <a:xfrm>
            <a:off x="457200" y="1803400"/>
            <a:ext cx="5334000" cy="380000"/>
          </a:xfrm>
          <a:prstGeom prst="roundRect">
            <a:avLst>
              <a:gd name="adj" fmla="val 16667"/>
            </a:avLst>
          </a:prstGeom>
          <a:solidFill>
            <a:srgbClr val="A63D2F"/>
          </a:solidFill>
          <a:ln w="0">
            <a:noFill/>
          </a:ln>
        </p:spPr>
        <p:txBody>
          <a:bodyPr lIns="108000" tIns="36000" rIns="108000" bIns="36000" anchor="ctr"/>
          <a:lstStyle/>
          <a:p>
            <a:pPr algn="l"/>
            <a:r>
              <a:rPr lang="ja-JP" sz="1400" b="1" dirty="0">
                <a:solidFill>
                  <a:srgbClr val="FFFFFF"/>
                </a:solidFill>
                <a:latin typeface="BIZ UDPGothic"/>
                <a:ea typeface="BIZ UDPGothic"/>
              </a:rPr>
              <a:t>4.1  データ理解・品質評価</a:t>
            </a:r>
          </a:p>
        </p:txBody>
      </p:sp>
      <p:sp>
        <p:nvSpPr>
          <p:cNvPr id="11" name="Phase1Content"/>
          <p:cNvSpPr/>
          <p:nvPr/>
        </p:nvSpPr>
        <p:spPr>
          <a:xfrm>
            <a:off x="457200" y="2222500"/>
            <a:ext cx="5334000" cy="3683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100" dirty="0">
                <a:solidFill>
                  <a:srgbClr val="2B2B2B"/>
                </a:solidFill>
                <a:latin typeface="BIZ UDPGothic"/>
                <a:ea typeface="BIZ UDPGothic"/>
              </a:rPr>
              <a:t>カラム定義、型、分布、欠損、ゼロ値、異常値候補を確認</a:t>
            </a:r>
          </a:p>
          <a:p>
            <a:pPr marL="180000" indent="-180000" algn="l">
              <a:spcAft>
                <a:spcPts val="200"/>
              </a:spcAft>
              <a:buFont typeface="BIZ UDPGothic"/>
              <a:buChar char="▸"/>
            </a:pPr>
            <a:r>
              <a:rPr lang="ja-JP" sz="1100" dirty="0">
                <a:solidFill>
                  <a:srgbClr val="2B2B2B"/>
                </a:solidFill>
                <a:latin typeface="BIZ UDPGothic"/>
                <a:ea typeface="BIZ UDPGothic"/>
              </a:rPr>
              <a:t>BOROUGH・BLOCK・LOT の組合せ（BBL）で重複確認</a:t>
            </a:r>
          </a:p>
          <a:p>
            <a:pPr marL="180000" indent="-180000" algn="l">
              <a:spcAft>
                <a:spcPts val="200"/>
              </a:spcAft>
              <a:buFont typeface="BIZ UDPGothic"/>
              <a:buChar char="▸"/>
            </a:pPr>
            <a:r>
              <a:rPr lang="ja-JP" sz="1100" dirty="0">
                <a:solidFill>
                  <a:srgbClr val="2B2B2B"/>
                </a:solidFill>
                <a:latin typeface="BIZ UDPGothic"/>
                <a:ea typeface="BIZ UDPGothic"/>
              </a:rPr>
              <a:t>YEAR BUILT=0、ZIP CODE=0、面積項目のゼロ値等を整理</a:t>
            </a:r>
          </a:p>
          <a:p>
            <a:pPr marL="180000" indent="-180000" algn="l">
              <a:spcAft>
                <a:spcPts val="200"/>
              </a:spcAft>
              <a:buFont typeface="BIZ UDPGothic"/>
              <a:buChar char="▸"/>
            </a:pPr>
            <a:r>
              <a:rPr lang="ja-JP" sz="1100" dirty="0">
                <a:solidFill>
                  <a:srgbClr val="2B2B2B"/>
                </a:solidFill>
                <a:latin typeface="BIZ UDPGothic"/>
                <a:ea typeface="BIZ UDPGothic"/>
              </a:rPr>
              <a:t>欠損や異常値の有無が価格水準に与える偏りを確認</a:t>
            </a:r>
          </a:p>
        </p:txBody>
      </p:sp>
      <p:sp>
        <p:nvSpPr>
          <p:cNvPr id="12" name="Phase2Header"/>
          <p:cNvSpPr/>
          <p:nvPr/>
        </p:nvSpPr>
        <p:spPr>
          <a:xfrm>
            <a:off x="6096000" y="1803400"/>
            <a:ext cx="5334000" cy="380000"/>
          </a:xfrm>
          <a:prstGeom prst="roundRect">
            <a:avLst>
              <a:gd name="adj" fmla="val 16667"/>
            </a:avLst>
          </a:prstGeom>
          <a:solidFill>
            <a:srgbClr val="8B7355"/>
          </a:solidFill>
          <a:ln w="0">
            <a:noFill/>
          </a:ln>
        </p:spPr>
        <p:txBody>
          <a:bodyPr lIns="108000" tIns="36000" rIns="108000" bIns="36000" anchor="ctr"/>
          <a:lstStyle/>
          <a:p>
            <a:pPr algn="l"/>
            <a:r>
              <a:rPr lang="ja-JP" sz="1400" b="1" dirty="0">
                <a:solidFill>
                  <a:srgbClr val="FFFFFF"/>
                </a:solidFill>
                <a:latin typeface="BIZ UDPGothic"/>
                <a:ea typeface="BIZ UDPGothic"/>
              </a:rPr>
              <a:t>4.2  前処理方針</a:t>
            </a:r>
          </a:p>
        </p:txBody>
      </p:sp>
      <p:sp>
        <p:nvSpPr>
          <p:cNvPr id="13" name="Phase2Content"/>
          <p:cNvSpPr/>
          <p:nvPr/>
        </p:nvSpPr>
        <p:spPr>
          <a:xfrm>
            <a:off x="6096000" y="2222500"/>
            <a:ext cx="5334000" cy="3683000"/>
          </a:xfrm>
          <a:prstGeom prst="rect">
            <a:avLst/>
          </a:prstGeom>
          <a:solidFill>
            <a:srgbClr val="F5F5F3"/>
          </a:solidFill>
          <a:ln w="0">
            <a:noFill/>
          </a:ln>
        </p:spPr>
        <p:txBody>
          <a:bodyPr lIns="108000" tIns="72000" rIns="108000" bIns="72000" anchor="t"/>
          <a:lstStyle/>
          <a:p>
            <a:pPr marL="180000" indent="-180000" algn="l">
              <a:spcAft>
                <a:spcPts val="150"/>
              </a:spcAft>
              <a:buFont typeface="BIZ UDPGothic"/>
              <a:buChar char="▸"/>
            </a:pPr>
            <a:r>
              <a:rPr lang="ja-JP" sz="1050" dirty="0">
                <a:solidFill>
                  <a:srgbClr val="2B2B2B"/>
                </a:solidFill>
                <a:latin typeface="BIZ UDPGothic"/>
                <a:ea typeface="BIZ UDPGothic"/>
              </a:rPr>
              <a:t>id、BOROUGH・BLOCK・LOT 等の識別子はモデリングから除外</a:t>
            </a:r>
          </a:p>
          <a:p>
            <a:pPr marL="180000" indent="-180000" algn="l">
              <a:spcAft>
                <a:spcPts val="150"/>
              </a:spcAft>
              <a:buFont typeface="BIZ UDPGothic"/>
              <a:buChar char="▸"/>
            </a:pPr>
            <a:r>
              <a:rPr lang="ja-JP" sz="1050" dirty="0">
                <a:solidFill>
                  <a:srgbClr val="2B2B2B"/>
                </a:solidFill>
                <a:latin typeface="BIZ UDPGothic"/>
                <a:ea typeface="BIZ UDPGothic"/>
              </a:rPr>
              <a:t>時系列粒度なしのため日付由来特徴量は前提としない</a:t>
            </a:r>
          </a:p>
          <a:p>
            <a:pPr marL="180000" indent="-180000" algn="l">
              <a:spcAft>
                <a:spcPts val="150"/>
              </a:spcAft>
              <a:buFont typeface="BIZ UDPGothic"/>
              <a:buChar char="▸"/>
            </a:pPr>
            <a:r>
              <a:rPr lang="ja-JP" sz="1050" dirty="0">
                <a:solidFill>
                  <a:srgbClr val="2B2B2B"/>
                </a:solidFill>
                <a:latin typeface="BIZ UDPGothic"/>
                <a:ea typeface="BIZ UDPGothic"/>
              </a:rPr>
              <a:t>数値欠損は中央値補完 / カテゴリ欠損は最頻値補完</a:t>
            </a:r>
          </a:p>
          <a:p>
            <a:pPr marL="180000" indent="-180000" algn="l">
              <a:spcAft>
                <a:spcPts val="150"/>
              </a:spcAft>
              <a:buFont typeface="BIZ UDPGothic"/>
              <a:buChar char="▸"/>
            </a:pPr>
            <a:r>
              <a:rPr lang="ja-JP" sz="1050" dirty="0">
                <a:solidFill>
                  <a:srgbClr val="2B2B2B"/>
                </a:solidFill>
                <a:latin typeface="BIZ UDPGothic"/>
                <a:ea typeface="BIZ UDPGothic"/>
              </a:rPr>
              <a:t>低カーディナリティ列のみワンホットエンコーディング</a:t>
            </a:r>
          </a:p>
          <a:p>
            <a:pPr marL="180000" indent="-180000" algn="l">
              <a:spcAft>
                <a:spcPts val="150"/>
              </a:spcAft>
              <a:buFont typeface="BIZ UDPGothic"/>
              <a:buChar char="▸"/>
            </a:pPr>
            <a:r>
              <a:rPr lang="ja-JP" sz="1050" dirty="0">
                <a:solidFill>
                  <a:srgbClr val="2B2B2B"/>
                </a:solidFill>
                <a:latin typeface="BIZ UDPGothic"/>
                <a:ea typeface="BIZ UDPGothic"/>
              </a:rPr>
              <a:t>高カーディナリティのカテゴリ列は除外</a:t>
            </a:r>
          </a:p>
          <a:p>
            <a:pPr marL="180000" indent="-180000" algn="l">
              <a:spcAft>
                <a:spcPts val="150"/>
              </a:spcAft>
              <a:buFont typeface="BIZ UDPGothic"/>
              <a:buChar char="▸"/>
            </a:pPr>
            <a:r>
              <a:rPr lang="ja-JP" sz="1050" dirty="0">
                <a:solidFill>
                  <a:srgbClr val="2B2B2B"/>
                </a:solidFill>
                <a:latin typeface="BIZ UDPGothic"/>
                <a:ea typeface="BIZ UDPGothic"/>
              </a:rPr>
              <a:t>SALE PRICE の分布歪みを踏まえた対数変換の有効性比較</a:t>
            </a:r>
          </a:p>
        </p:txBody>
      </p:sp>
    </p:spTree>
    <p:extLst>
      <p:ext uri="{BB962C8B-B14F-4D97-AF65-F5344CB8AC3E}">
        <p14:creationId xmlns:p14="http://schemas.microsoft.com/office/powerpoint/2010/main" val="415384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01CA2-258A-0C0B-5AC8-E6443CDD7A85}"/>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探索・モデリング・解釈</a:t>
            </a:r>
          </a:p>
        </p:txBody>
      </p:sp>
      <p:sp>
        <p:nvSpPr>
          <p:cNvPr id="14" name="H0"/>
          <p:cNvSpPr/>
          <p:nvPr/>
        </p:nvSpPr>
        <p:spPr>
          <a:xfrm>
            <a:off x="457200" y="1803400"/>
            <a:ext cx="3505200" cy="380000"/>
          </a:xfrm>
          <a:prstGeom prst="roundRect">
            <a:avLst>
              <a:gd name="adj" fmla="val 16667"/>
            </a:avLst>
          </a:prstGeom>
          <a:solidFill>
            <a:srgbClr val="6B6B6B"/>
          </a:solidFill>
          <a:ln w="0">
            <a:noFill/>
          </a:ln>
        </p:spPr>
        <p:txBody>
          <a:bodyPr lIns="108000" tIns="36000" rIns="108000" bIns="36000" anchor="ctr"/>
          <a:lstStyle/>
          <a:p>
            <a:pPr algn="l"/>
            <a:r>
              <a:rPr lang="ja-JP" sz="1400" b="1" dirty="0">
                <a:solidFill>
                  <a:srgbClr val="FFFFFF"/>
                </a:solidFill>
                <a:latin typeface="BIZ UDPGothic"/>
                <a:ea typeface="BIZ UDPGothic"/>
              </a:rPr>
              <a:t>4.3  探索的分析</a:t>
            </a:r>
          </a:p>
        </p:txBody>
      </p:sp>
      <p:sp>
        <p:nvSpPr>
          <p:cNvPr id="10" name="C0"/>
          <p:cNvSpPr/>
          <p:nvPr/>
        </p:nvSpPr>
        <p:spPr>
          <a:xfrm>
            <a:off x="4572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BOROUGH別、NEIGHBORHOOD別、建物クラス別の価格分布比較</a:t>
            </a:r>
          </a:p>
          <a:p>
            <a:pPr marL="180000" indent="-180000" algn="l">
              <a:spcAft>
                <a:spcPts val="200"/>
              </a:spcAft>
              <a:buFont typeface="BIZ UDPGothic"/>
              <a:buChar char="▸"/>
            </a:pPr>
            <a:r>
              <a:rPr lang="ja-JP" sz="1050" dirty="0">
                <a:solidFill>
                  <a:srgbClr val="2B2B2B"/>
                </a:solidFill>
                <a:latin typeface="BIZ UDPGothic"/>
                <a:ea typeface="BIZ UDPGothic"/>
              </a:rPr>
              <a:t>戸数、面積、築年と価格の関係把握</a:t>
            </a:r>
          </a:p>
          <a:p>
            <a:pPr marL="180000" indent="-180000" algn="l">
              <a:spcAft>
                <a:spcPts val="200"/>
              </a:spcAft>
              <a:buFont typeface="BIZ UDPGothic"/>
              <a:buChar char="▸"/>
            </a:pPr>
            <a:r>
              <a:rPr lang="ja-JP" sz="1050" dirty="0">
                <a:solidFill>
                  <a:srgbClr val="2B2B2B"/>
                </a:solidFill>
                <a:latin typeface="BIZ UDPGothic"/>
                <a:ea typeface="BIZ UDPGothic"/>
              </a:rPr>
              <a:t>欠損やゼロ値の有無による価格偏りの確認</a:t>
            </a:r>
          </a:p>
          <a:p>
            <a:pPr marL="180000" indent="-180000" algn="l">
              <a:spcAft>
                <a:spcPts val="200"/>
              </a:spcAft>
              <a:buFont typeface="BIZ UDPGothic"/>
              <a:buChar char="▸"/>
            </a:pPr>
            <a:r>
              <a:rPr lang="ja-JP" sz="1050" dirty="0">
                <a:solidFill>
                  <a:srgbClr val="2B2B2B"/>
                </a:solidFill>
                <a:latin typeface="BIZ UDPGothic"/>
                <a:ea typeface="BIZ UDPGothic"/>
              </a:rPr>
              <a:t>立地起因の偏りを踏まえた階層的な比較</a:t>
            </a:r>
          </a:p>
        </p:txBody>
      </p:sp>
      <p:sp>
        <p:nvSpPr>
          <p:cNvPr id="15" name="H1"/>
          <p:cNvSpPr/>
          <p:nvPr/>
        </p:nvSpPr>
        <p:spPr>
          <a:xfrm>
            <a:off x="4114800" y="1803400"/>
            <a:ext cx="3505200" cy="380000"/>
          </a:xfrm>
          <a:prstGeom prst="roundRect">
            <a:avLst>
              <a:gd name="adj" fmla="val 16667"/>
            </a:avLst>
          </a:prstGeom>
          <a:solidFill>
            <a:srgbClr val="3D3D3D"/>
          </a:solidFill>
          <a:ln w="0">
            <a:noFill/>
          </a:ln>
        </p:spPr>
        <p:txBody>
          <a:bodyPr lIns="108000" tIns="36000" rIns="108000" bIns="36000" anchor="ctr"/>
          <a:lstStyle/>
          <a:p>
            <a:pPr algn="l"/>
            <a:r>
              <a:rPr lang="ja-JP" sz="1400" b="1" dirty="0">
                <a:solidFill>
                  <a:srgbClr val="FFFFFF"/>
                </a:solidFill>
                <a:latin typeface="BIZ UDPGothic"/>
                <a:ea typeface="BIZ UDPGothic"/>
              </a:rPr>
              <a:t>4.4  初期モデリング</a:t>
            </a:r>
          </a:p>
        </p:txBody>
      </p:sp>
      <p:sp>
        <p:nvSpPr>
          <p:cNvPr id="11" name="C1"/>
          <p:cNvSpPr/>
          <p:nvPr/>
        </p:nvSpPr>
        <p:spPr>
          <a:xfrm>
            <a:off x="41148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ベースラインモデルを作成し、SALE PRICE の初期予測可能性を検証</a:t>
            </a:r>
          </a:p>
          <a:p>
            <a:pPr marL="180000" indent="-180000" algn="l">
              <a:spcAft>
                <a:spcPts val="200"/>
              </a:spcAft>
              <a:buFont typeface="BIZ UDPGothic"/>
              <a:buChar char="▸"/>
            </a:pPr>
            <a:r>
              <a:rPr lang="ja-JP" sz="1050" dirty="0">
                <a:solidFill>
                  <a:srgbClr val="2B2B2B"/>
                </a:solidFill>
                <a:latin typeface="BIZ UDPGothic"/>
                <a:ea typeface="BIZ UDPGothic"/>
              </a:rPr>
              <a:t>過学習防止の観点から、高カーディナリティ項目や識別子利用を抑制</a:t>
            </a:r>
          </a:p>
          <a:p>
            <a:pPr marL="180000" indent="-180000" algn="l">
              <a:spcAft>
                <a:spcPts val="200"/>
              </a:spcAft>
              <a:buFont typeface="BIZ UDPGothic"/>
              <a:buChar char="▸"/>
            </a:pPr>
            <a:r>
              <a:rPr lang="ja-JP" sz="1050" dirty="0">
                <a:solidFill>
                  <a:srgbClr val="2B2B2B"/>
                </a:solidFill>
                <a:latin typeface="BIZ UDPGothic"/>
                <a:ea typeface="BIZ UDPGothic"/>
              </a:rPr>
              <a:t>モデル評価結果と重要特徴量を整理し、説明性と実務解釈の両立を図る</a:t>
            </a:r>
          </a:p>
        </p:txBody>
      </p:sp>
      <p:sp>
        <p:nvSpPr>
          <p:cNvPr id="16" name="H2"/>
          <p:cNvSpPr/>
          <p:nvPr/>
        </p:nvSpPr>
        <p:spPr>
          <a:xfrm>
            <a:off x="7772400" y="1803400"/>
            <a:ext cx="3505200" cy="380000"/>
          </a:xfrm>
          <a:prstGeom prst="roundRect">
            <a:avLst>
              <a:gd name="adj" fmla="val 16667"/>
            </a:avLst>
          </a:prstGeom>
          <a:solidFill>
            <a:srgbClr val="2B2B2B"/>
          </a:solidFill>
          <a:ln w="0">
            <a:noFill/>
          </a:ln>
        </p:spPr>
        <p:txBody>
          <a:bodyPr lIns="108000" tIns="36000" rIns="108000" bIns="36000" anchor="ctr"/>
          <a:lstStyle/>
          <a:p>
            <a:pPr algn="l"/>
            <a:r>
              <a:rPr lang="ja-JP" sz="1400" b="1" dirty="0">
                <a:solidFill>
                  <a:srgbClr val="FFFFFF"/>
                </a:solidFill>
                <a:latin typeface="BIZ UDPGothic"/>
                <a:ea typeface="BIZ UDPGothic"/>
              </a:rPr>
              <a:t>4.5  解釈・報告</a:t>
            </a:r>
          </a:p>
        </p:txBody>
      </p:sp>
      <p:sp>
        <p:nvSpPr>
          <p:cNvPr id="12" name="C2"/>
          <p:cNvSpPr/>
          <p:nvPr/>
        </p:nvSpPr>
        <p:spPr>
          <a:xfrm>
            <a:off x="77724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価格形成要因の上位項目を整理</a:t>
            </a:r>
          </a:p>
          <a:p>
            <a:pPr marL="180000" indent="-180000" algn="l">
              <a:spcAft>
                <a:spcPts val="200"/>
              </a:spcAft>
              <a:buFont typeface="BIZ UDPGothic"/>
              <a:buChar char="▸"/>
            </a:pPr>
            <a:r>
              <a:rPr lang="ja-JP" sz="1050" dirty="0">
                <a:solidFill>
                  <a:srgbClr val="2B2B2B"/>
                </a:solidFill>
                <a:latin typeface="BIZ UDPGothic"/>
                <a:ea typeface="BIZ UDPGothic"/>
              </a:rPr>
              <a:t>データ品質上の制約と解釈限界を明示</a:t>
            </a:r>
          </a:p>
          <a:p>
            <a:pPr marL="180000" indent="-180000" algn="l">
              <a:spcAft>
                <a:spcPts val="200"/>
              </a:spcAft>
              <a:buFont typeface="BIZ UDPGothic"/>
              <a:buChar char="▸"/>
            </a:pPr>
            <a:r>
              <a:rPr lang="ja-JP" sz="1050" dirty="0">
                <a:solidFill>
                  <a:srgbClr val="2B2B2B"/>
                </a:solidFill>
                <a:latin typeface="BIZ UDPGothic"/>
                <a:ea typeface="BIZ UDPGothic"/>
              </a:rPr>
              <a:t>不動産評価上の仮定とデータ事実を明確に分離</a:t>
            </a:r>
          </a:p>
          <a:p>
            <a:pPr marL="180000" indent="-180000" algn="l">
              <a:spcAft>
                <a:spcPts val="200"/>
              </a:spcAft>
              <a:buFont typeface="BIZ UDPGothic"/>
              <a:buChar char="▸"/>
            </a:pPr>
            <a:r>
              <a:rPr lang="ja-JP" sz="1050" dirty="0">
                <a:solidFill>
                  <a:srgbClr val="2B2B2B"/>
                </a:solidFill>
                <a:latin typeface="BIZ UDPGothic"/>
                <a:ea typeface="BIZ UDPGothic"/>
              </a:rPr>
              <a:t>実務での比較評価、案件スクリーニング、追加分析テーマへの示唆を提示</a:t>
            </a:r>
          </a:p>
        </p:txBody>
      </p:sp>
    </p:spTree>
    <p:extLst>
      <p:ext uri="{BB962C8B-B14F-4D97-AF65-F5344CB8AC3E}">
        <p14:creationId xmlns:p14="http://schemas.microsoft.com/office/powerpoint/2010/main" val="1663702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E4FED7-6AFB-5D89-AF76-BC11C81BDD2B}"/>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5. 実施体制</a:t>
            </a:r>
          </a:p>
        </p:txBody>
      </p:sp>
      <p:graphicFrame>
        <p:nvGraphicFramePr>
          <p:cNvPr id="4" name="表 3">
            <a:extLst>
              <a:ext uri="{FF2B5EF4-FFF2-40B4-BE49-F238E27FC236}">
                <a16:creationId xmlns:a16="http://schemas.microsoft.com/office/drawing/2014/main" id="{32CE6E1F-E626-4164-A992-753EF87B753D}"/>
              </a:ext>
            </a:extLst>
          </p:cNvPr>
          <p:cNvGraphicFramePr>
            <a:graphicFrameLocks noGrp="1"/>
          </p:cNvGraphicFramePr>
          <p:nvPr>
            <p:extLst>
              <p:ext uri="{D42A27DB-BD31-4B8C-83A1-F6EECF244321}">
                <p14:modId xmlns:p14="http://schemas.microsoft.com/office/powerpoint/2010/main" val="956832945"/>
              </p:ext>
            </p:extLst>
          </p:nvPr>
        </p:nvGraphicFramePr>
        <p:xfrm>
          <a:off x="457200" y="2032000"/>
          <a:ext cx="7112000" cy="2794001"/>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2564057823"/>
                    </a:ext>
                  </a:extLst>
                </a:gridCol>
                <a:gridCol w="1270000">
                  <a:extLst>
                    <a:ext uri="{9D8B030D-6E8A-4147-A177-3AD203B41FA5}">
                      <a16:colId xmlns:a16="http://schemas.microsoft.com/office/drawing/2014/main" val="2149481199"/>
                    </a:ext>
                  </a:extLst>
                </a:gridCol>
                <a:gridCol w="3365500">
                  <a:extLst>
                    <a:ext uri="{9D8B030D-6E8A-4147-A177-3AD203B41FA5}">
                      <a16:colId xmlns:a16="http://schemas.microsoft.com/office/drawing/2014/main" val="1194771493"/>
                    </a:ext>
                  </a:extLst>
                </a:gridCol>
              </a:tblGrid>
              <a:tr h="399143">
                <a:tc>
                  <a:txBody>
                    <a:bodyPr/>
                    <a:lstStyle/>
                    <a:p>
                      <a:pPr algn="ctr"/>
                      <a:r>
                        <a:rPr lang="ja-JP" altLang="en-US" sz="1400" b="1">
                          <a:solidFill>
                            <a:srgbClr val="FFFFFF"/>
                          </a:solidFill>
                          <a:latin typeface="BIZ UDPGothic"/>
                          <a:ea typeface="BIZ UDPGothic"/>
                        </a:rPr>
                        <a:t>役割</a:t>
                      </a:r>
                    </a:p>
                  </a:txBody>
                  <a:tcPr anchor="ctr">
                    <a:solidFill>
                      <a:srgbClr val="A63D2F"/>
                    </a:solidFill>
                  </a:tcPr>
                </a:tc>
                <a:tc>
                  <a:txBody>
                    <a:bodyPr/>
                    <a:lstStyle/>
                    <a:p>
                      <a:pPr algn="ctr"/>
                      <a:r>
                        <a:rPr lang="ja-JP" altLang="en-US" sz="1400" b="1">
                          <a:solidFill>
                            <a:srgbClr val="FFFFFF"/>
                          </a:solidFill>
                          <a:latin typeface="BIZ UDPGothic"/>
                          <a:ea typeface="BIZ UDPGothic"/>
                        </a:rPr>
                        <a:t>氏名</a:t>
                      </a:r>
                    </a:p>
                  </a:txBody>
                  <a:tcPr anchor="ctr">
                    <a:solidFill>
                      <a:srgbClr val="A63D2F"/>
                    </a:solidFill>
                  </a:tcPr>
                </a:tc>
                <a:tc>
                  <a:txBody>
                    <a:bodyPr/>
                    <a:lstStyle/>
                    <a:p>
                      <a:pPr algn="ctr"/>
                      <a:r>
                        <a:rPr lang="ja-JP" altLang="en-US" sz="1400" b="1">
                          <a:solidFill>
                            <a:srgbClr val="FFFFFF"/>
                          </a:solidFill>
                          <a:latin typeface="BIZ UDPGothic"/>
                          <a:ea typeface="BIZ UDPGothic"/>
                        </a:rPr>
                        <a:t>主担当</a:t>
                      </a:r>
                    </a:p>
                  </a:txBody>
                  <a:tcPr anchor="ctr">
                    <a:solidFill>
                      <a:srgbClr val="A63D2F"/>
                    </a:solidFill>
                  </a:tcPr>
                </a:tc>
                <a:extLst>
                  <a:ext uri="{0D108BD9-81ED-4DB2-BD59-A6C34878D82A}">
                    <a16:rowId xmlns:a16="http://schemas.microsoft.com/office/drawing/2014/main" val="1681750056"/>
                  </a:ext>
                </a:extLst>
              </a:tr>
              <a:tr h="399143">
                <a:tc>
                  <a:txBody>
                    <a:bodyPr/>
                    <a:lstStyle/>
                    <a:p>
                      <a:r>
                        <a:rPr lang="ja-JP" altLang="en-US" sz="1400">
                          <a:solidFill>
                            <a:srgbClr val="2B2B2B"/>
                          </a:solidFill>
                          <a:latin typeface="BIZ UDPGothic"/>
                          <a:ea typeface="BIZ UDPGothic"/>
                        </a:rPr>
                        <a:t>エグゼクティブスポンサー</a:t>
                      </a:r>
                    </a:p>
                  </a:txBody>
                  <a:tcPr anchor="ctr"/>
                </a:tc>
                <a:tc>
                  <a:txBody>
                    <a:bodyPr/>
                    <a:lstStyle/>
                    <a:p>
                      <a:r>
                        <a:rPr lang="ja-JP" altLang="en-US" sz="1400">
                          <a:solidFill>
                            <a:srgbClr val="2B2B2B"/>
                          </a:solidFill>
                          <a:latin typeface="BIZ UDPGothic"/>
                          <a:ea typeface="BIZ UDPGothic"/>
                        </a:rPr>
                        <a:t>中村 誠</a:t>
                      </a:r>
                    </a:p>
                  </a:txBody>
                  <a:tcPr anchor="ctr"/>
                </a:tc>
                <a:tc>
                  <a:txBody>
                    <a:bodyPr/>
                    <a:lstStyle/>
                    <a:p>
                      <a:r>
                        <a:rPr lang="ja-JP" altLang="en-US" sz="1400">
                          <a:solidFill>
                            <a:srgbClr val="2B2B2B"/>
                          </a:solidFill>
                          <a:latin typeface="BIZ UDPGothic"/>
                          <a:ea typeface="BIZ UDPGothic"/>
                        </a:rPr>
                        <a:t>全体統括、重要論点判断</a:t>
                      </a:r>
                    </a:p>
                  </a:txBody>
                  <a:tcPr anchor="ctr"/>
                </a:tc>
                <a:extLst>
                  <a:ext uri="{0D108BD9-81ED-4DB2-BD59-A6C34878D82A}">
                    <a16:rowId xmlns:a16="http://schemas.microsoft.com/office/drawing/2014/main" val="2712473395"/>
                  </a:ext>
                </a:extLst>
              </a:tr>
              <a:tr h="399143">
                <a:tc>
                  <a:txBody>
                    <a:bodyPr/>
                    <a:lstStyle/>
                    <a:p>
                      <a:r>
                        <a:rPr lang="ja-JP" altLang="en-US" sz="1400">
                          <a:solidFill>
                            <a:srgbClr val="2B2B2B"/>
                          </a:solidFill>
                          <a:latin typeface="BIZ UDPGothic"/>
                          <a:ea typeface="BIZ UDPGothic"/>
                        </a:rPr>
                        <a:t>プロジェクトマネージャー</a:t>
                      </a:r>
                    </a:p>
                  </a:txBody>
                  <a:tcPr anchor="ctr">
                    <a:solidFill>
                      <a:srgbClr val="F5F5F3"/>
                    </a:solidFill>
                  </a:tcPr>
                </a:tc>
                <a:tc>
                  <a:txBody>
                    <a:bodyPr/>
                    <a:lstStyle/>
                    <a:p>
                      <a:r>
                        <a:rPr lang="ja-JP" altLang="en-US" sz="1400">
                          <a:solidFill>
                            <a:srgbClr val="2B2B2B"/>
                          </a:solidFill>
                          <a:latin typeface="BIZ UDPGothic"/>
                          <a:ea typeface="BIZ UDPGothic"/>
                        </a:rPr>
                        <a:t>佐藤 健一</a:t>
                      </a:r>
                    </a:p>
                  </a:txBody>
                  <a:tcPr anchor="ctr">
                    <a:solidFill>
                      <a:srgbClr val="F5F5F3"/>
                    </a:solidFill>
                  </a:tcPr>
                </a:tc>
                <a:tc>
                  <a:txBody>
                    <a:bodyPr/>
                    <a:lstStyle/>
                    <a:p>
                      <a:r>
                        <a:rPr lang="ja-JP" altLang="en-US" sz="1400">
                          <a:solidFill>
                            <a:srgbClr val="2B2B2B"/>
                          </a:solidFill>
                          <a:latin typeface="BIZ UDPGothic"/>
                          <a:ea typeface="BIZ UDPGothic"/>
                        </a:rPr>
                        <a:t>進行管理、課題管理、対外窓口</a:t>
                      </a:r>
                    </a:p>
                  </a:txBody>
                  <a:tcPr anchor="ctr">
                    <a:solidFill>
                      <a:srgbClr val="F5F5F3"/>
                    </a:solidFill>
                  </a:tcPr>
                </a:tc>
                <a:extLst>
                  <a:ext uri="{0D108BD9-81ED-4DB2-BD59-A6C34878D82A}">
                    <a16:rowId xmlns:a16="http://schemas.microsoft.com/office/drawing/2014/main" val="1646756848"/>
                  </a:ext>
                </a:extLst>
              </a:tr>
              <a:tr h="399143">
                <a:tc>
                  <a:txBody>
                    <a:bodyPr/>
                    <a:lstStyle/>
                    <a:p>
                      <a:r>
                        <a:rPr lang="ja-JP" altLang="en-US" sz="1400">
                          <a:solidFill>
                            <a:srgbClr val="2B2B2B"/>
                          </a:solidFill>
                          <a:latin typeface="BIZ UDPGothic"/>
                          <a:ea typeface="BIZ UDPGothic"/>
                        </a:rPr>
                        <a:t>リードデータサイエンティスト</a:t>
                      </a:r>
                    </a:p>
                  </a:txBody>
                  <a:tcPr anchor="ctr"/>
                </a:tc>
                <a:tc>
                  <a:txBody>
                    <a:bodyPr/>
                    <a:lstStyle/>
                    <a:p>
                      <a:r>
                        <a:rPr lang="ja-JP" altLang="en-US" sz="1400">
                          <a:solidFill>
                            <a:srgbClr val="2B2B2B"/>
                          </a:solidFill>
                          <a:latin typeface="BIZ UDPGothic"/>
                          <a:ea typeface="BIZ UDPGothic"/>
                        </a:rPr>
                        <a:t>渡辺 遥</a:t>
                      </a:r>
                    </a:p>
                  </a:txBody>
                  <a:tcPr anchor="ctr"/>
                </a:tc>
                <a:tc>
                  <a:txBody>
                    <a:bodyPr/>
                    <a:lstStyle/>
                    <a:p>
                      <a:r>
                        <a:rPr lang="ja-JP" altLang="en-US" sz="1400">
                          <a:solidFill>
                            <a:srgbClr val="2B2B2B"/>
                          </a:solidFill>
                          <a:latin typeface="BIZ UDPGothic"/>
                          <a:ea typeface="BIZ UDPGothic"/>
                        </a:rPr>
                        <a:t>分析設計、モデル方針、結果解釈</a:t>
                      </a:r>
                    </a:p>
                  </a:txBody>
                  <a:tcPr anchor="ctr"/>
                </a:tc>
                <a:extLst>
                  <a:ext uri="{0D108BD9-81ED-4DB2-BD59-A6C34878D82A}">
                    <a16:rowId xmlns:a16="http://schemas.microsoft.com/office/drawing/2014/main" val="1343869477"/>
                  </a:ext>
                </a:extLst>
              </a:tr>
              <a:tr h="399143">
                <a:tc>
                  <a:txBody>
                    <a:bodyPr/>
                    <a:lstStyle/>
                    <a:p>
                      <a:r>
                        <a:rPr lang="ja-JP" altLang="en-US" sz="1400">
                          <a:solidFill>
                            <a:srgbClr val="2B2B2B"/>
                          </a:solidFill>
                          <a:latin typeface="BIZ UDPGothic"/>
                          <a:ea typeface="BIZ UDPGothic"/>
                        </a:rPr>
                        <a:t>データエンジニア</a:t>
                      </a:r>
                    </a:p>
                  </a:txBody>
                  <a:tcPr anchor="ctr">
                    <a:solidFill>
                      <a:srgbClr val="F5F5F3"/>
                    </a:solidFill>
                  </a:tcPr>
                </a:tc>
                <a:tc>
                  <a:txBody>
                    <a:bodyPr/>
                    <a:lstStyle/>
                    <a:p>
                      <a:r>
                        <a:rPr lang="ja-JP" altLang="en-US" sz="1400">
                          <a:solidFill>
                            <a:srgbClr val="2B2B2B"/>
                          </a:solidFill>
                          <a:latin typeface="BIZ UDPGothic"/>
                          <a:ea typeface="BIZ UDPGothic"/>
                        </a:rPr>
                        <a:t>岡田 佑樹</a:t>
                      </a:r>
                    </a:p>
                  </a:txBody>
                  <a:tcPr anchor="ctr">
                    <a:solidFill>
                      <a:srgbClr val="F5F5F3"/>
                    </a:solidFill>
                  </a:tcPr>
                </a:tc>
                <a:tc>
                  <a:txBody>
                    <a:bodyPr/>
                    <a:lstStyle/>
                    <a:p>
                      <a:r>
                        <a:rPr lang="ja-JP" altLang="en-US" sz="1400">
                          <a:solidFill>
                            <a:srgbClr val="2B2B2B"/>
                          </a:solidFill>
                          <a:latin typeface="BIZ UDPGothic"/>
                          <a:ea typeface="BIZ UDPGothic"/>
                        </a:rPr>
                        <a:t>データ読込、前処理、再現環境整備</a:t>
                      </a:r>
                    </a:p>
                  </a:txBody>
                  <a:tcPr anchor="ctr">
                    <a:solidFill>
                      <a:srgbClr val="F5F5F3"/>
                    </a:solidFill>
                  </a:tcPr>
                </a:tc>
                <a:extLst>
                  <a:ext uri="{0D108BD9-81ED-4DB2-BD59-A6C34878D82A}">
                    <a16:rowId xmlns:a16="http://schemas.microsoft.com/office/drawing/2014/main" val="2011623257"/>
                  </a:ext>
                </a:extLst>
              </a:tr>
              <a:tr h="399143">
                <a:tc>
                  <a:txBody>
                    <a:bodyPr/>
                    <a:lstStyle/>
                    <a:p>
                      <a:r>
                        <a:rPr lang="ja-JP" altLang="en-US" sz="1400">
                          <a:solidFill>
                            <a:srgbClr val="2B2B2B"/>
                          </a:solidFill>
                          <a:latin typeface="BIZ UDPGothic"/>
                          <a:ea typeface="BIZ UDPGothic"/>
                        </a:rPr>
                        <a:t>ビジネスアナリスト</a:t>
                      </a:r>
                    </a:p>
                  </a:txBody>
                  <a:tcPr anchor="ctr"/>
                </a:tc>
                <a:tc>
                  <a:txBody>
                    <a:bodyPr/>
                    <a:lstStyle/>
                    <a:p>
                      <a:r>
                        <a:rPr lang="ja-JP" altLang="en-US" sz="1400">
                          <a:solidFill>
                            <a:srgbClr val="2B2B2B"/>
                          </a:solidFill>
                          <a:latin typeface="BIZ UDPGothic"/>
                          <a:ea typeface="BIZ UDPGothic"/>
                        </a:rPr>
                        <a:t>藤田 彩</a:t>
                      </a:r>
                    </a:p>
                  </a:txBody>
                  <a:tcPr anchor="ctr"/>
                </a:tc>
                <a:tc>
                  <a:txBody>
                    <a:bodyPr/>
                    <a:lstStyle/>
                    <a:p>
                      <a:r>
                        <a:rPr lang="ja-JP" altLang="en-US" sz="1400">
                          <a:solidFill>
                            <a:srgbClr val="2B2B2B"/>
                          </a:solidFill>
                          <a:latin typeface="BIZ UDPGothic"/>
                          <a:ea typeface="BIZ UDPGothic"/>
                        </a:rPr>
                        <a:t>業務要件整理、示唆整理、文書化</a:t>
                      </a:r>
                    </a:p>
                  </a:txBody>
                  <a:tcPr anchor="ctr"/>
                </a:tc>
                <a:extLst>
                  <a:ext uri="{0D108BD9-81ED-4DB2-BD59-A6C34878D82A}">
                    <a16:rowId xmlns:a16="http://schemas.microsoft.com/office/drawing/2014/main" val="2396616658"/>
                  </a:ext>
                </a:extLst>
              </a:tr>
              <a:tr h="399143">
                <a:tc>
                  <a:txBody>
                    <a:bodyPr/>
                    <a:lstStyle/>
                    <a:p>
                      <a:r>
                        <a:rPr lang="ja-JP" altLang="en-US" sz="1400" dirty="0">
                          <a:solidFill>
                            <a:srgbClr val="2B2B2B"/>
                          </a:solidFill>
                          <a:latin typeface="BIZ UDPGothic"/>
                          <a:ea typeface="BIZ UDPGothic"/>
                        </a:rPr>
                        <a:t>QAレビューア</a:t>
                      </a:r>
                    </a:p>
                  </a:txBody>
                  <a:tcPr anchor="ctr">
                    <a:solidFill>
                      <a:srgbClr val="F5F5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400" b="0" dirty="0">
                          <a:solidFill>
                            <a:schemeClr val="tx1"/>
                          </a:solidFill>
                          <a:latin typeface="+mn-lt"/>
                          <a:ea typeface="BIZ UDPGothic"/>
                        </a:rPr>
                        <a:t>池田 直哉</a:t>
                      </a:r>
                    </a:p>
                  </a:txBody>
                  <a:tcPr anchor="ctr">
                    <a:solidFill>
                      <a:srgbClr val="F5F5F3"/>
                    </a:solidFill>
                  </a:tcPr>
                </a:tc>
                <a:tc>
                  <a:txBody>
                    <a:bodyPr/>
                    <a:lstStyle/>
                    <a:p>
                      <a:r>
                        <a:rPr lang="ja-JP" altLang="en-US" sz="1400" dirty="0">
                          <a:solidFill>
                            <a:srgbClr val="2B2B2B"/>
                          </a:solidFill>
                          <a:latin typeface="BIZ UDPGothic"/>
                          <a:ea typeface="BIZ UDPGothic"/>
                        </a:rPr>
                        <a:t>成果物レビュー、整合性確認</a:t>
                      </a:r>
                    </a:p>
                  </a:txBody>
                  <a:tcPr anchor="ctr">
                    <a:solidFill>
                      <a:srgbClr val="F5F5F3"/>
                    </a:solidFill>
                  </a:tcPr>
                </a:tc>
                <a:extLst>
                  <a:ext uri="{0D108BD9-81ED-4DB2-BD59-A6C34878D82A}">
                    <a16:rowId xmlns:a16="http://schemas.microsoft.com/office/drawing/2014/main" val="3809496751"/>
                  </a:ext>
                </a:extLst>
              </a:tr>
            </a:tbl>
          </a:graphicData>
        </a:graphic>
      </p:graphicFrame>
      <p:sp>
        <p:nvSpPr>
          <p:cNvPr id="5" name="テキスト ボックス 4">
            <a:extLst>
              <a:ext uri="{FF2B5EF4-FFF2-40B4-BE49-F238E27FC236}">
                <a16:creationId xmlns:a16="http://schemas.microsoft.com/office/drawing/2014/main" id="{4898550A-E139-411B-895B-A9355665F077}"/>
              </a:ext>
            </a:extLst>
          </p:cNvPr>
          <p:cNvSpPr txBox="1"/>
          <p:nvPr/>
        </p:nvSpPr>
        <p:spPr>
          <a:xfrm>
            <a:off x="457200" y="1778000"/>
            <a:ext cx="5080000" cy="254000"/>
          </a:xfrm>
          <a:prstGeom prst="rect">
            <a:avLst/>
          </a:prstGeom>
          <a:noFill/>
        </p:spPr>
        <p:txBody>
          <a:bodyPr vertOverflow="overflow" vert="horz" wrap="square" rtlCol="0" anchor="t">
            <a:spAutoFit/>
          </a:bodyPr>
          <a:lstStyle/>
          <a:p>
            <a:pPr algn="l"/>
            <a:r>
              <a:rPr lang="ja-JP" altLang="en-US" sz="1400" b="1">
                <a:solidFill>
                  <a:srgbClr val="A63D2F"/>
                </a:solidFill>
                <a:latin typeface="BIZ UDPGothic"/>
                <a:ea typeface="BIZ UDPGothic"/>
              </a:rPr>
              <a:t>実施主体：株式会社データアステル　データサイエンス部</a:t>
            </a:r>
          </a:p>
        </p:txBody>
      </p:sp>
      <p:sp>
        <p:nvSpPr>
          <p:cNvPr id="6" name="四角形: 角を丸くする 5">
            <a:extLst>
              <a:ext uri="{FF2B5EF4-FFF2-40B4-BE49-F238E27FC236}">
                <a16:creationId xmlns:a16="http://schemas.microsoft.com/office/drawing/2014/main" id="{084B044E-C6DD-498F-99E6-7C6E548AD944}"/>
              </a:ext>
            </a:extLst>
          </p:cNvPr>
          <p:cNvSpPr/>
          <p:nvPr/>
        </p:nvSpPr>
        <p:spPr>
          <a:xfrm>
            <a:off x="7874000" y="2032000"/>
            <a:ext cx="3860800" cy="2794000"/>
          </a:xfrm>
          <a:prstGeom prst="roundRect">
            <a:avLst/>
          </a:prstGeom>
          <a:solidFill>
            <a:srgbClr val="2B2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B85430A-085A-46D8-A766-D98FD7D1FB78}"/>
              </a:ext>
            </a:extLst>
          </p:cNvPr>
          <p:cNvSpPr txBox="1"/>
          <p:nvPr/>
        </p:nvSpPr>
        <p:spPr>
          <a:xfrm>
            <a:off x="8064500" y="2159000"/>
            <a:ext cx="3479800" cy="2540000"/>
          </a:xfrm>
          <a:prstGeom prst="rect">
            <a:avLst/>
          </a:prstGeom>
          <a:noFill/>
        </p:spPr>
        <p:txBody>
          <a:bodyPr vertOverflow="overflow" vert="horz" wrap="square" rtlCol="0" anchor="t">
            <a:spAutoFit/>
          </a:bodyPr>
          <a:lstStyle/>
          <a:p>
            <a:pPr algn="l"/>
            <a:r>
              <a:rPr lang="ja-JP" altLang="en-US" sz="1400">
                <a:solidFill>
                  <a:srgbClr val="FFFFFF"/>
                </a:solidFill>
                <a:latin typeface="BIZ UDPGothic"/>
                <a:ea typeface="BIZ UDPGothic"/>
              </a:rPr>
              <a:t>クライアント窓口
株式会社青嶺不動産
アセットマネジメント
資産運用本部
レジデンシャル戦略部
前田 美咲 部長</a:t>
            </a:r>
          </a:p>
        </p:txBody>
      </p:sp>
    </p:spTree>
    <p:extLst>
      <p:ext uri="{BB962C8B-B14F-4D97-AF65-F5344CB8AC3E}">
        <p14:creationId xmlns:p14="http://schemas.microsoft.com/office/powerpoint/2010/main" val="3474567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95761D-3A9E-751D-D45E-B0AD5F5B4FE0}"/>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5. 会議運営</a:t>
            </a:r>
          </a:p>
        </p:txBody>
      </p:sp>
      <p:sp>
        <p:nvSpPr>
          <p:cNvPr id="20" name="Week0"/>
          <p:cNvSpPr/>
          <p:nvPr/>
        </p:nvSpPr>
        <p:spPr>
          <a:xfrm>
            <a:off x="9144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1</a:t>
            </a:r>
          </a:p>
        </p:txBody>
      </p:sp>
      <p:sp>
        <p:nvSpPr>
          <p:cNvPr id="21" name="Week1"/>
          <p:cNvSpPr/>
          <p:nvPr/>
        </p:nvSpPr>
        <p:spPr>
          <a:xfrm>
            <a:off x="25908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2</a:t>
            </a:r>
          </a:p>
        </p:txBody>
      </p:sp>
      <p:sp>
        <p:nvSpPr>
          <p:cNvPr id="22" name="Week2"/>
          <p:cNvSpPr/>
          <p:nvPr/>
        </p:nvSpPr>
        <p:spPr>
          <a:xfrm>
            <a:off x="4267200" y="1905000"/>
            <a:ext cx="1676400" cy="380000"/>
          </a:xfrm>
          <a:prstGeom prst="rect">
            <a:avLst/>
          </a:prstGeom>
          <a:solidFill>
            <a:srgbClr val="A63D2F"/>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3</a:t>
            </a:r>
          </a:p>
        </p:txBody>
      </p:sp>
      <p:sp>
        <p:nvSpPr>
          <p:cNvPr id="23" name="Week3"/>
          <p:cNvSpPr/>
          <p:nvPr/>
        </p:nvSpPr>
        <p:spPr>
          <a:xfrm>
            <a:off x="59436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4</a:t>
            </a:r>
          </a:p>
        </p:txBody>
      </p:sp>
      <p:sp>
        <p:nvSpPr>
          <p:cNvPr id="24" name="Week4"/>
          <p:cNvSpPr/>
          <p:nvPr/>
        </p:nvSpPr>
        <p:spPr>
          <a:xfrm>
            <a:off x="76200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5</a:t>
            </a:r>
          </a:p>
        </p:txBody>
      </p:sp>
      <p:sp>
        <p:nvSpPr>
          <p:cNvPr id="25" name="Week5"/>
          <p:cNvSpPr/>
          <p:nvPr/>
        </p:nvSpPr>
        <p:spPr>
          <a:xfrm>
            <a:off x="9296400" y="1905000"/>
            <a:ext cx="1676400" cy="380000"/>
          </a:xfrm>
          <a:prstGeom prst="rect">
            <a:avLst/>
          </a:prstGeom>
          <a:solidFill>
            <a:srgbClr val="A63D2F"/>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6</a:t>
            </a:r>
          </a:p>
        </p:txBody>
      </p:sp>
      <p:sp>
        <p:nvSpPr>
          <p:cNvPr id="30" name="TimeLabel"/>
          <p:cNvSpPr/>
          <p:nvPr/>
        </p:nvSpPr>
        <p:spPr>
          <a:xfrm>
            <a:off x="457200" y="1905000"/>
            <a:ext cx="457200" cy="380000"/>
          </a:xfrm>
          <a:prstGeom prst="rect">
            <a:avLst/>
          </a:prstGeom>
          <a:noFill/>
          <a:ln w="0">
            <a:noFill/>
          </a:ln>
        </p:spPr>
        <p:txBody>
          <a:bodyPr lIns="0" tIns="0" rIns="0" bIns="0" anchor="ctr"/>
          <a:lstStyle/>
          <a:p>
            <a:pPr algn="r"/>
            <a:r>
              <a:rPr lang="ja-JP" sz="1100" b="1" dirty="0">
                <a:solidFill>
                  <a:srgbClr val="2B2B2B"/>
                </a:solidFill>
                <a:latin typeface="BIZ UDPGothic"/>
                <a:ea typeface="BIZ UDPGothic"/>
              </a:rPr>
              <a:t>期間</a:t>
            </a:r>
          </a:p>
        </p:txBody>
      </p:sp>
      <p:sp>
        <p:nvSpPr>
          <p:cNvPr id="31" name="MidLabel"/>
          <p:cNvSpPr/>
          <p:nvPr/>
        </p:nvSpPr>
        <p:spPr>
          <a:xfrm>
            <a:off x="4267200" y="2349500"/>
            <a:ext cx="1676400" cy="300000"/>
          </a:xfrm>
          <a:prstGeom prst="rect">
            <a:avLst/>
          </a:prstGeom>
          <a:noFill/>
          <a:ln w="0">
            <a:noFill/>
          </a:ln>
        </p:spPr>
        <p:txBody>
          <a:bodyPr lIns="0" tIns="0" rIns="0" bIns="0" anchor="t"/>
          <a:lstStyle/>
          <a:p>
            <a:pPr algn="ctr"/>
            <a:r>
              <a:rPr lang="ja-JP" sz="1100" b="1" dirty="0">
                <a:solidFill>
                  <a:srgbClr val="A63D2F"/>
                </a:solidFill>
                <a:latin typeface="BIZ UDPGothic"/>
                <a:ea typeface="BIZ UDPGothic"/>
              </a:rPr>
              <a:t>▲ 中間報告</a:t>
            </a:r>
          </a:p>
        </p:txBody>
      </p:sp>
      <p:sp>
        <p:nvSpPr>
          <p:cNvPr id="32" name="FinalLabel"/>
          <p:cNvSpPr/>
          <p:nvPr/>
        </p:nvSpPr>
        <p:spPr>
          <a:xfrm>
            <a:off x="9296400" y="2349500"/>
            <a:ext cx="1676400" cy="300000"/>
          </a:xfrm>
          <a:prstGeom prst="rect">
            <a:avLst/>
          </a:prstGeom>
          <a:noFill/>
          <a:ln w="0">
            <a:noFill/>
          </a:ln>
        </p:spPr>
        <p:txBody>
          <a:bodyPr lIns="0" tIns="0" rIns="0" bIns="0" anchor="t"/>
          <a:lstStyle/>
          <a:p>
            <a:pPr algn="ctr"/>
            <a:r>
              <a:rPr lang="ja-JP" sz="1100" b="1" dirty="0">
                <a:solidFill>
                  <a:srgbClr val="A63D2F"/>
                </a:solidFill>
                <a:latin typeface="BIZ UDPGothic"/>
                <a:ea typeface="BIZ UDPGothic"/>
              </a:rPr>
              <a:t>▲ 最終報告</a:t>
            </a:r>
          </a:p>
        </p:txBody>
      </p:sp>
      <p:sp>
        <p:nvSpPr>
          <p:cNvPr id="40" name="Meeting0"/>
          <p:cNvSpPr/>
          <p:nvPr/>
        </p:nvSpPr>
        <p:spPr>
          <a:xfrm>
            <a:off x="4572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定例会議</a:t>
            </a:r>
          </a:p>
          <a:p>
            <a:pPr algn="ctr"/>
            <a:r>
              <a:rPr lang="ja-JP" sz="1200" dirty="0">
                <a:solidFill>
                  <a:srgbClr val="6B6B6B"/>
                </a:solidFill>
                <a:latin typeface="BIZ UDPGothic"/>
                <a:ea typeface="BIZ UDPGothic"/>
              </a:rPr>
              <a:t>週1回</a:t>
            </a:r>
          </a:p>
        </p:txBody>
      </p:sp>
      <p:sp>
        <p:nvSpPr>
          <p:cNvPr id="41" name="Meeting1"/>
          <p:cNvSpPr/>
          <p:nvPr/>
        </p:nvSpPr>
        <p:spPr>
          <a:xfrm>
            <a:off x="41148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中間報告</a:t>
            </a:r>
          </a:p>
          <a:p>
            <a:pPr algn="ctr"/>
            <a:r>
              <a:rPr lang="ja-JP" sz="1200" dirty="0">
                <a:solidFill>
                  <a:srgbClr val="6B6B6B"/>
                </a:solidFill>
                <a:latin typeface="BIZ UDPGothic"/>
                <a:ea typeface="BIZ UDPGothic"/>
              </a:rPr>
              <a:t>第3〜4週</a:t>
            </a:r>
          </a:p>
        </p:txBody>
      </p:sp>
      <p:sp>
        <p:nvSpPr>
          <p:cNvPr id="42" name="Meeting2"/>
          <p:cNvSpPr/>
          <p:nvPr/>
        </p:nvSpPr>
        <p:spPr>
          <a:xfrm>
            <a:off x="77724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最終報告</a:t>
            </a:r>
          </a:p>
          <a:p>
            <a:pPr algn="ctr"/>
            <a:r>
              <a:rPr lang="ja-JP" sz="1200" dirty="0">
                <a:solidFill>
                  <a:srgbClr val="6B6B6B"/>
                </a:solidFill>
                <a:latin typeface="BIZ UDPGothic"/>
                <a:ea typeface="BIZ UDPGothic"/>
              </a:rPr>
              <a:t>第6週</a:t>
            </a:r>
          </a:p>
        </p:txBody>
      </p:sp>
      <p:sp>
        <p:nvSpPr>
          <p:cNvPr id="50" name="Contacts"/>
          <p:cNvSpPr/>
          <p:nvPr/>
        </p:nvSpPr>
        <p:spPr>
          <a:xfrm>
            <a:off x="457200" y="4318000"/>
            <a:ext cx="10972800" cy="889000"/>
          </a:xfrm>
          <a:prstGeom prst="roundRect">
            <a:avLst>
              <a:gd name="adj" fmla="val 8000"/>
            </a:avLst>
          </a:prstGeom>
          <a:solidFill>
            <a:srgbClr val="2B2B2B"/>
          </a:solidFill>
          <a:ln w="0">
            <a:noFill/>
          </a:ln>
        </p:spPr>
        <p:txBody>
          <a:bodyPr lIns="144000" tIns="54000" rIns="144000" bIns="54000" anchor="ctr"/>
          <a:lstStyle/>
          <a:p>
            <a:pPr algn="ctr"/>
            <a:r>
              <a:rPr lang="ja-JP" sz="1400" b="1" dirty="0">
                <a:solidFill>
                  <a:srgbClr val="D4C5B0"/>
                </a:solidFill>
                <a:latin typeface="BIZ UDPGothic"/>
                <a:ea typeface="BIZ UDPGothic"/>
              </a:rPr>
              <a:t>意思決定窓口</a:t>
            </a:r>
            <a:r>
              <a:rPr lang="ja-JP" sz="1200" dirty="0">
                <a:solidFill>
                  <a:srgbClr val="FFFFFF"/>
                </a:solidFill>
                <a:latin typeface="BIZ UDPGothic"/>
                <a:ea typeface="BIZ UDPGothic"/>
              </a:rPr>
              <a:t>　　ベンダー側：佐藤 健一　｜　クライアント側：前田 美咲</a:t>
            </a:r>
          </a:p>
        </p:txBody>
      </p:sp>
    </p:spTree>
    <p:extLst>
      <p:ext uri="{BB962C8B-B14F-4D97-AF65-F5344CB8AC3E}">
        <p14:creationId xmlns:p14="http://schemas.microsoft.com/office/powerpoint/2010/main" val="1389290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01420-99D8-0EEF-D298-501C6B0AEB8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6. スケジュール案</a:t>
            </a:r>
          </a:p>
        </p:txBody>
      </p:sp>
      <p:sp>
        <p:nvSpPr>
          <p:cNvPr id="3" name="テキスト ボックス 2">
            <a:extLst>
              <a:ext uri="{FF2B5EF4-FFF2-40B4-BE49-F238E27FC236}">
                <a16:creationId xmlns:a16="http://schemas.microsoft.com/office/drawing/2014/main" id="{196C9EFA-693E-4A86-B5BC-9C3F782B25D4}"/>
              </a:ext>
            </a:extLst>
          </p:cNvPr>
          <p:cNvSpPr txBox="1"/>
          <p:nvPr/>
        </p:nvSpPr>
        <p:spPr>
          <a:xfrm>
            <a:off x="838200" y="1778000"/>
            <a:ext cx="6350000" cy="254000"/>
          </a:xfrm>
          <a:prstGeom prst="rect">
            <a:avLst/>
          </a:prstGeom>
          <a:noFill/>
        </p:spPr>
        <p:txBody>
          <a:bodyPr vertOverflow="overflow" vert="horz" wrap="square" rtlCol="0" anchor="t">
            <a:spAutoFit/>
          </a:bodyPr>
          <a:lstStyle/>
          <a:p>
            <a:pPr algn="l"/>
            <a:r>
              <a:rPr lang="zh-TW" altLang="en-US" sz="1400">
                <a:solidFill>
                  <a:srgbClr val="6B6B6B"/>
                </a:solidFill>
                <a:latin typeface="BIZ UDPGothic"/>
                <a:ea typeface="BIZ UDPGothic"/>
              </a:rPr>
              <a:t>契約開始日：</a:t>
            </a:r>
            <a:r>
              <a:rPr lang="en-US" altLang="zh-TW" sz="1400">
                <a:solidFill>
                  <a:srgbClr val="6B6B6B"/>
                </a:solidFill>
                <a:latin typeface="BIZ UDPGothic"/>
                <a:ea typeface="BIZ UDPGothic"/>
              </a:rPr>
              <a:t>2025-08-06</a:t>
            </a:r>
            <a:r>
              <a:rPr lang="zh-TW" altLang="en-US" sz="1400">
                <a:solidFill>
                  <a:srgbClr val="6B6B6B"/>
                </a:solidFill>
                <a:latin typeface="BIZ UDPGothic"/>
                <a:ea typeface="BIZ UDPGothic"/>
              </a:rPr>
              <a:t>　｜　期間：</a:t>
            </a:r>
            <a:r>
              <a:rPr lang="en-US" altLang="zh-TW" sz="1400">
                <a:solidFill>
                  <a:srgbClr val="6B6B6B"/>
                </a:solidFill>
                <a:latin typeface="BIZ UDPGothic"/>
                <a:ea typeface="BIZ UDPGothic"/>
              </a:rPr>
              <a:t>6</a:t>
            </a:r>
            <a:r>
              <a:rPr lang="zh-TW" altLang="en-US" sz="1400">
                <a:solidFill>
                  <a:srgbClr val="6B6B6B"/>
                </a:solidFill>
                <a:latin typeface="BIZ UDPGothic"/>
                <a:ea typeface="BIZ UDPGothic"/>
              </a:rPr>
              <a:t>週間</a:t>
            </a:r>
            <a:endParaRPr lang="ja-JP" altLang="en-US" sz="1400">
              <a:solidFill>
                <a:srgbClr val="6B6B6B"/>
              </a:solidFill>
              <a:latin typeface="BIZ UDPGothic"/>
              <a:ea typeface="BIZ UDPGothic"/>
            </a:endParaRPr>
          </a:p>
        </p:txBody>
      </p:sp>
      <p:graphicFrame>
        <p:nvGraphicFramePr>
          <p:cNvPr id="5" name="表 4">
            <a:extLst>
              <a:ext uri="{FF2B5EF4-FFF2-40B4-BE49-F238E27FC236}">
                <a16:creationId xmlns:a16="http://schemas.microsoft.com/office/drawing/2014/main" id="{6531F8B4-266F-4D62-8539-0BA5489CAFB0}"/>
              </a:ext>
            </a:extLst>
          </p:cNvPr>
          <p:cNvGraphicFramePr>
            <a:graphicFrameLocks noGrp="1"/>
          </p:cNvGraphicFramePr>
          <p:nvPr>
            <p:extLst>
              <p:ext uri="{D42A27DB-BD31-4B8C-83A1-F6EECF244321}">
                <p14:modId xmlns:p14="http://schemas.microsoft.com/office/powerpoint/2010/main" val="2967255435"/>
              </p:ext>
            </p:extLst>
          </p:nvPr>
        </p:nvGraphicFramePr>
        <p:xfrm>
          <a:off x="457200" y="2095500"/>
          <a:ext cx="11277600" cy="4190998"/>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751446896"/>
                    </a:ext>
                  </a:extLst>
                </a:gridCol>
                <a:gridCol w="6223000">
                  <a:extLst>
                    <a:ext uri="{9D8B030D-6E8A-4147-A177-3AD203B41FA5}">
                      <a16:colId xmlns:a16="http://schemas.microsoft.com/office/drawing/2014/main" val="736563010"/>
                    </a:ext>
                  </a:extLst>
                </a:gridCol>
                <a:gridCol w="4165600">
                  <a:extLst>
                    <a:ext uri="{9D8B030D-6E8A-4147-A177-3AD203B41FA5}">
                      <a16:colId xmlns:a16="http://schemas.microsoft.com/office/drawing/2014/main" val="113588482"/>
                    </a:ext>
                  </a:extLst>
                </a:gridCol>
              </a:tblGrid>
              <a:tr h="598714">
                <a:tc>
                  <a:txBody>
                    <a:bodyPr/>
                    <a:lstStyle/>
                    <a:p>
                      <a:pPr algn="ctr"/>
                      <a:r>
                        <a:rPr lang="ja-JP" altLang="en-US" sz="1400" b="1">
                          <a:solidFill>
                            <a:srgbClr val="FFFFFF"/>
                          </a:solidFill>
                          <a:latin typeface="BIZ UDPGothic"/>
                          <a:ea typeface="BIZ UDPGothic"/>
                        </a:rPr>
                        <a:t>週</a:t>
                      </a:r>
                    </a:p>
                  </a:txBody>
                  <a:tcPr anchor="ctr">
                    <a:solidFill>
                      <a:srgbClr val="A63D2F"/>
                    </a:solidFill>
                  </a:tcPr>
                </a:tc>
                <a:tc>
                  <a:txBody>
                    <a:bodyPr/>
                    <a:lstStyle/>
                    <a:p>
                      <a:pPr algn="ctr"/>
                      <a:r>
                        <a:rPr lang="ja-JP" altLang="en-US" sz="1400" b="1">
                          <a:solidFill>
                            <a:srgbClr val="FFFFFF"/>
                          </a:solidFill>
                          <a:latin typeface="BIZ UDPGothic"/>
                          <a:ea typeface="BIZ UDPGothic"/>
                        </a:rPr>
                        <a:t>実施内容</a:t>
                      </a:r>
                    </a:p>
                  </a:txBody>
                  <a:tcPr anchor="ctr">
                    <a:solidFill>
                      <a:srgbClr val="A63D2F"/>
                    </a:solidFill>
                  </a:tcPr>
                </a:tc>
                <a:tc>
                  <a:txBody>
                    <a:bodyPr/>
                    <a:lstStyle/>
                    <a:p>
                      <a:pPr algn="ctr"/>
                      <a:r>
                        <a:rPr lang="ja-JP" altLang="en-US" sz="1400" b="1">
                          <a:solidFill>
                            <a:srgbClr val="FFFFFF"/>
                          </a:solidFill>
                          <a:latin typeface="BIZ UDPGothic"/>
                          <a:ea typeface="BIZ UDPGothic"/>
                        </a:rPr>
                        <a:t>主な成果</a:t>
                      </a:r>
                    </a:p>
                  </a:txBody>
                  <a:tcPr anchor="ctr">
                    <a:solidFill>
                      <a:srgbClr val="A63D2F"/>
                    </a:solidFill>
                  </a:tcPr>
                </a:tc>
                <a:extLst>
                  <a:ext uri="{0D108BD9-81ED-4DB2-BD59-A6C34878D82A}">
                    <a16:rowId xmlns:a16="http://schemas.microsoft.com/office/drawing/2014/main" val="1090307647"/>
                  </a:ext>
                </a:extLst>
              </a:tr>
              <a:tr h="598714">
                <a:tc>
                  <a:txBody>
                    <a:bodyPr/>
                    <a:lstStyle/>
                    <a:p>
                      <a:pPr algn="ctr"/>
                      <a:r>
                        <a:rPr lang="ja-JP" altLang="en-US" sz="1400" b="1">
                          <a:solidFill>
                            <a:srgbClr val="2B2B2B"/>
                          </a:solidFill>
                          <a:latin typeface="BIZ UDPGothic"/>
                          <a:ea typeface="BIZ UDPGothic"/>
                        </a:rPr>
                        <a:t>第1週</a:t>
                      </a:r>
                    </a:p>
                  </a:txBody>
                  <a:tcPr anchor="ctr"/>
                </a:tc>
                <a:tc>
                  <a:txBody>
                    <a:bodyPr/>
                    <a:lstStyle/>
                    <a:p>
                      <a:r>
                        <a:rPr lang="ja-JP" altLang="en-US" sz="1400">
                          <a:solidFill>
                            <a:srgbClr val="2B2B2B"/>
                          </a:solidFill>
                          <a:latin typeface="BIZ UDPGothic"/>
                          <a:ea typeface="BIZ UDPGothic"/>
                        </a:rPr>
                        <a:t>キックオフ、データ読込確認、カラム定義整理、欠損・型・ゼロ値の初期点検</a:t>
                      </a:r>
                    </a:p>
                  </a:txBody>
                  <a:tcPr anchor="ctr"/>
                </a:tc>
                <a:tc>
                  <a:txBody>
                    <a:bodyPr/>
                    <a:lstStyle/>
                    <a:p>
                      <a:r>
                        <a:rPr lang="ja-JP" altLang="en-US" sz="1400">
                          <a:solidFill>
                            <a:srgbClr val="2B2B2B"/>
                          </a:solidFill>
                          <a:latin typeface="BIZ UDPGothic"/>
                          <a:ea typeface="BIZ UDPGothic"/>
                        </a:rPr>
                        <a:t>論点一覧、分析着手条件の整理</a:t>
                      </a:r>
                    </a:p>
                  </a:txBody>
                  <a:tcPr anchor="ctr"/>
                </a:tc>
                <a:extLst>
                  <a:ext uri="{0D108BD9-81ED-4DB2-BD59-A6C34878D82A}">
                    <a16:rowId xmlns:a16="http://schemas.microsoft.com/office/drawing/2014/main" val="965327820"/>
                  </a:ext>
                </a:extLst>
              </a:tr>
              <a:tr h="598714">
                <a:tc>
                  <a:txBody>
                    <a:bodyPr/>
                    <a:lstStyle/>
                    <a:p>
                      <a:pPr algn="ctr"/>
                      <a:r>
                        <a:rPr lang="ja-JP" altLang="en-US" sz="1400" b="1">
                          <a:solidFill>
                            <a:srgbClr val="2B2B2B"/>
                          </a:solidFill>
                          <a:latin typeface="BIZ UDPGothic"/>
                          <a:ea typeface="BIZ UDPGothic"/>
                        </a:rPr>
                        <a:t>第2週</a:t>
                      </a:r>
                    </a:p>
                  </a:txBody>
                  <a:tcPr anchor="ctr">
                    <a:solidFill>
                      <a:srgbClr val="F5F5F3"/>
                    </a:solidFill>
                  </a:tcPr>
                </a:tc>
                <a:tc>
                  <a:txBody>
                    <a:bodyPr/>
                    <a:lstStyle/>
                    <a:p>
                      <a:r>
                        <a:rPr lang="ja-JP" altLang="en-US" sz="1400">
                          <a:solidFill>
                            <a:srgbClr val="2B2B2B"/>
                          </a:solidFill>
                          <a:latin typeface="BIZ UDPGothic"/>
                          <a:ea typeface="BIZ UDPGothic"/>
                        </a:rPr>
                        <a:t>データ品質評価、異常値候補抽出、BBL観点の重複確認、前処理方針整理</a:t>
                      </a:r>
                    </a:p>
                  </a:txBody>
                  <a:tcPr anchor="ctr">
                    <a:solidFill>
                      <a:srgbClr val="F5F5F3"/>
                    </a:solidFill>
                  </a:tcPr>
                </a:tc>
                <a:tc>
                  <a:txBody>
                    <a:bodyPr/>
                    <a:lstStyle/>
                    <a:p>
                      <a:r>
                        <a:rPr lang="ja-JP" altLang="en-US" sz="1400">
                          <a:solidFill>
                            <a:srgbClr val="2B2B2B"/>
                          </a:solidFill>
                          <a:latin typeface="BIZ UDPGothic"/>
                          <a:ea typeface="BIZ UDPGothic"/>
                        </a:rPr>
                        <a:t>品質論点整理、前処理ルール案</a:t>
                      </a:r>
                    </a:p>
                  </a:txBody>
                  <a:tcPr anchor="ctr">
                    <a:solidFill>
                      <a:srgbClr val="F5F5F3"/>
                    </a:solidFill>
                  </a:tcPr>
                </a:tc>
                <a:extLst>
                  <a:ext uri="{0D108BD9-81ED-4DB2-BD59-A6C34878D82A}">
                    <a16:rowId xmlns:a16="http://schemas.microsoft.com/office/drawing/2014/main" val="308540306"/>
                  </a:ext>
                </a:extLst>
              </a:tr>
              <a:tr h="598714">
                <a:tc>
                  <a:txBody>
                    <a:bodyPr/>
                    <a:lstStyle/>
                    <a:p>
                      <a:pPr algn="ctr"/>
                      <a:r>
                        <a:rPr lang="ja-JP" altLang="en-US" sz="1400" b="1">
                          <a:solidFill>
                            <a:srgbClr val="2B2B2B"/>
                          </a:solidFill>
                          <a:latin typeface="BIZ UDPGothic"/>
                          <a:ea typeface="BIZ UDPGothic"/>
                        </a:rPr>
                        <a:t>第3週</a:t>
                      </a:r>
                    </a:p>
                  </a:txBody>
                  <a:tcPr anchor="ctr"/>
                </a:tc>
                <a:tc>
                  <a:txBody>
                    <a:bodyPr/>
                    <a:lstStyle/>
                    <a:p>
                      <a:r>
                        <a:rPr lang="ja-JP" altLang="en-US" sz="1400">
                          <a:solidFill>
                            <a:srgbClr val="2B2B2B"/>
                          </a:solidFill>
                          <a:latin typeface="BIZ UDPGothic"/>
                          <a:ea typeface="BIZ UDPGothic"/>
                        </a:rPr>
                        <a:t>探索的分析、価格分布確認、立地別・建物分類別比較、欠損偏り分析</a:t>
                      </a:r>
                    </a:p>
                  </a:txBody>
                  <a:tcPr anchor="ctr"/>
                </a:tc>
                <a:tc>
                  <a:txBody>
                    <a:bodyPr/>
                    <a:lstStyle/>
                    <a:p>
                      <a:r>
                        <a:rPr lang="ja-JP" altLang="en-US" sz="1400">
                          <a:solidFill>
                            <a:srgbClr val="2B2B2B"/>
                          </a:solidFill>
                          <a:latin typeface="BIZ UDPGothic"/>
                          <a:ea typeface="BIZ UDPGothic"/>
                        </a:rPr>
                        <a:t>中間報告書</a:t>
                      </a:r>
                    </a:p>
                  </a:txBody>
                  <a:tcPr anchor="ctr"/>
                </a:tc>
                <a:extLst>
                  <a:ext uri="{0D108BD9-81ED-4DB2-BD59-A6C34878D82A}">
                    <a16:rowId xmlns:a16="http://schemas.microsoft.com/office/drawing/2014/main" val="2602721987"/>
                  </a:ext>
                </a:extLst>
              </a:tr>
              <a:tr h="598714">
                <a:tc>
                  <a:txBody>
                    <a:bodyPr/>
                    <a:lstStyle/>
                    <a:p>
                      <a:pPr algn="ctr"/>
                      <a:r>
                        <a:rPr lang="ja-JP" altLang="en-US" sz="1400" b="1">
                          <a:solidFill>
                            <a:srgbClr val="2B2B2B"/>
                          </a:solidFill>
                          <a:latin typeface="BIZ UDPGothic"/>
                          <a:ea typeface="BIZ UDPGothic"/>
                        </a:rPr>
                        <a:t>第4週</a:t>
                      </a:r>
                    </a:p>
                  </a:txBody>
                  <a:tcPr anchor="ctr">
                    <a:solidFill>
                      <a:srgbClr val="F5F5F3"/>
                    </a:solidFill>
                  </a:tcPr>
                </a:tc>
                <a:tc>
                  <a:txBody>
                    <a:bodyPr/>
                    <a:lstStyle/>
                    <a:p>
                      <a:r>
                        <a:rPr lang="ja-JP" altLang="en-US" sz="1400">
                          <a:solidFill>
                            <a:srgbClr val="2B2B2B"/>
                          </a:solidFill>
                          <a:latin typeface="BIZ UDPGothic"/>
                          <a:ea typeface="BIZ UDPGothic"/>
                        </a:rPr>
                        <a:t>初期モデリング、特徴量準備、ベースラインモデル作成、評価</a:t>
                      </a:r>
                    </a:p>
                  </a:txBody>
                  <a:tcPr anchor="ctr">
                    <a:solidFill>
                      <a:srgbClr val="F5F5F3"/>
                    </a:solidFill>
                  </a:tcPr>
                </a:tc>
                <a:tc>
                  <a:txBody>
                    <a:bodyPr/>
                    <a:lstStyle/>
                    <a:p>
                      <a:r>
                        <a:rPr lang="ja-JP" altLang="en-US" sz="1400">
                          <a:solidFill>
                            <a:srgbClr val="2B2B2B"/>
                          </a:solidFill>
                          <a:latin typeface="BIZ UDPGothic"/>
                          <a:ea typeface="BIZ UDPGothic"/>
                        </a:rPr>
                        <a:t>モデル評価結果、主要特徴量整理</a:t>
                      </a:r>
                    </a:p>
                  </a:txBody>
                  <a:tcPr anchor="ctr">
                    <a:solidFill>
                      <a:srgbClr val="F5F5F3"/>
                    </a:solidFill>
                  </a:tcPr>
                </a:tc>
                <a:extLst>
                  <a:ext uri="{0D108BD9-81ED-4DB2-BD59-A6C34878D82A}">
                    <a16:rowId xmlns:a16="http://schemas.microsoft.com/office/drawing/2014/main" val="776953022"/>
                  </a:ext>
                </a:extLst>
              </a:tr>
              <a:tr h="598714">
                <a:tc>
                  <a:txBody>
                    <a:bodyPr/>
                    <a:lstStyle/>
                    <a:p>
                      <a:pPr algn="ctr"/>
                      <a:r>
                        <a:rPr lang="ja-JP" altLang="en-US" sz="1400" b="1">
                          <a:solidFill>
                            <a:srgbClr val="2B2B2B"/>
                          </a:solidFill>
                          <a:latin typeface="BIZ UDPGothic"/>
                          <a:ea typeface="BIZ UDPGothic"/>
                        </a:rPr>
                        <a:t>第5週</a:t>
                      </a:r>
                    </a:p>
                  </a:txBody>
                  <a:tcPr anchor="ctr"/>
                </a:tc>
                <a:tc>
                  <a:txBody>
                    <a:bodyPr/>
                    <a:lstStyle/>
                    <a:p>
                      <a:r>
                        <a:rPr lang="ja-JP" altLang="en-US" sz="1400">
                          <a:solidFill>
                            <a:srgbClr val="2B2B2B"/>
                          </a:solidFill>
                          <a:latin typeface="BIZ UDPGothic"/>
                          <a:ea typeface="BIZ UDPGothic"/>
                        </a:rPr>
                        <a:t>結果解釈、業務示唆化、リスク・限界整理、最終報告構成固め</a:t>
                      </a:r>
                    </a:p>
                  </a:txBody>
                  <a:tcPr anchor="ctr"/>
                </a:tc>
                <a:tc>
                  <a:txBody>
                    <a:bodyPr/>
                    <a:lstStyle/>
                    <a:p>
                      <a:r>
                        <a:rPr lang="ja-JP" altLang="en-US" sz="1400">
                          <a:solidFill>
                            <a:srgbClr val="2B2B2B"/>
                          </a:solidFill>
                          <a:latin typeface="BIZ UDPGothic"/>
                          <a:ea typeface="BIZ UDPGothic"/>
                        </a:rPr>
                        <a:t>示唆案、最終報告ドラフト</a:t>
                      </a:r>
                    </a:p>
                  </a:txBody>
                  <a:tcPr anchor="ctr"/>
                </a:tc>
                <a:extLst>
                  <a:ext uri="{0D108BD9-81ED-4DB2-BD59-A6C34878D82A}">
                    <a16:rowId xmlns:a16="http://schemas.microsoft.com/office/drawing/2014/main" val="4193139489"/>
                  </a:ext>
                </a:extLst>
              </a:tr>
              <a:tr h="598714">
                <a:tc>
                  <a:txBody>
                    <a:bodyPr/>
                    <a:lstStyle/>
                    <a:p>
                      <a:pPr algn="ctr"/>
                      <a:r>
                        <a:rPr lang="ja-JP" altLang="en-US" sz="1400" b="1">
                          <a:solidFill>
                            <a:srgbClr val="2B2B2B"/>
                          </a:solidFill>
                          <a:latin typeface="BIZ UDPGothic"/>
                          <a:ea typeface="BIZ UDPGothic"/>
                        </a:rPr>
                        <a:t>第6週</a:t>
                      </a:r>
                    </a:p>
                  </a:txBody>
                  <a:tcPr anchor="ctr">
                    <a:solidFill>
                      <a:srgbClr val="F5F5F3"/>
                    </a:solidFill>
                  </a:tcPr>
                </a:tc>
                <a:tc>
                  <a:txBody>
                    <a:bodyPr/>
                    <a:lstStyle/>
                    <a:p>
                      <a:r>
                        <a:rPr lang="ja-JP" altLang="en-US" sz="1400">
                          <a:solidFill>
                            <a:srgbClr val="2B2B2B"/>
                          </a:solidFill>
                          <a:latin typeface="BIZ UDPGothic"/>
                          <a:ea typeface="BIZ UDPGothic"/>
                        </a:rPr>
                        <a:t>最終報告書作成、レビュー、最終報告会、検収対応</a:t>
                      </a:r>
                    </a:p>
                  </a:txBody>
                  <a:tcPr anchor="ctr">
                    <a:solidFill>
                      <a:srgbClr val="F5F5F3"/>
                    </a:solidFill>
                  </a:tcPr>
                </a:tc>
                <a:tc>
                  <a:txBody>
                    <a:bodyPr/>
                    <a:lstStyle/>
                    <a:p>
                      <a:r>
                        <a:rPr lang="ja-JP" altLang="en-US" sz="1400">
                          <a:solidFill>
                            <a:srgbClr val="2B2B2B"/>
                          </a:solidFill>
                          <a:latin typeface="BIZ UDPGothic"/>
                          <a:ea typeface="BIZ UDPGothic"/>
                        </a:rPr>
                        <a:t>最終成果物一式</a:t>
                      </a:r>
                    </a:p>
                  </a:txBody>
                  <a:tcPr anchor="ctr">
                    <a:solidFill>
                      <a:srgbClr val="F5F5F3"/>
                    </a:solidFill>
                  </a:tcPr>
                </a:tc>
                <a:extLst>
                  <a:ext uri="{0D108BD9-81ED-4DB2-BD59-A6C34878D82A}">
                    <a16:rowId xmlns:a16="http://schemas.microsoft.com/office/drawing/2014/main" val="3083254777"/>
                  </a:ext>
                </a:extLst>
              </a:tr>
            </a:tbl>
          </a:graphicData>
        </a:graphic>
      </p:graphicFrame>
    </p:spTree>
    <p:extLst>
      <p:ext uri="{BB962C8B-B14F-4D97-AF65-F5344CB8AC3E}">
        <p14:creationId xmlns:p14="http://schemas.microsoft.com/office/powerpoint/2010/main" val="191081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921797-1E8A-1CF4-B426-90C3FAFAFB98}"/>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7. 成果物定義</a:t>
            </a:r>
          </a:p>
        </p:txBody>
      </p:sp>
      <p:graphicFrame>
        <p:nvGraphicFramePr>
          <p:cNvPr id="4" name="表 3">
            <a:extLst>
              <a:ext uri="{FF2B5EF4-FFF2-40B4-BE49-F238E27FC236}">
                <a16:creationId xmlns:a16="http://schemas.microsoft.com/office/drawing/2014/main" id="{E36B6993-EB03-4EAC-A5ED-AC33DC429049}"/>
              </a:ext>
            </a:extLst>
          </p:cNvPr>
          <p:cNvGraphicFramePr>
            <a:graphicFrameLocks noGrp="1"/>
          </p:cNvGraphicFramePr>
          <p:nvPr>
            <p:extLst>
              <p:ext uri="{D42A27DB-BD31-4B8C-83A1-F6EECF244321}">
                <p14:modId xmlns:p14="http://schemas.microsoft.com/office/powerpoint/2010/main" val="719990233"/>
              </p:ext>
            </p:extLst>
          </p:nvPr>
        </p:nvGraphicFramePr>
        <p:xfrm>
          <a:off x="457200" y="1841500"/>
          <a:ext cx="11277600" cy="4190998"/>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67435066"/>
                    </a:ext>
                  </a:extLst>
                </a:gridCol>
                <a:gridCol w="8483600">
                  <a:extLst>
                    <a:ext uri="{9D8B030D-6E8A-4147-A177-3AD203B41FA5}">
                      <a16:colId xmlns:a16="http://schemas.microsoft.com/office/drawing/2014/main" val="1809813939"/>
                    </a:ext>
                  </a:extLst>
                </a:gridCol>
              </a:tblGrid>
              <a:tr h="598714">
                <a:tc>
                  <a:txBody>
                    <a:bodyPr/>
                    <a:lstStyle/>
                    <a:p>
                      <a:pPr algn="ctr"/>
                      <a:r>
                        <a:rPr lang="ja-JP" altLang="en-US" sz="1400" b="1">
                          <a:solidFill>
                            <a:srgbClr val="FFFFFF"/>
                          </a:solidFill>
                          <a:latin typeface="BIZ UDPGothic"/>
                          <a:ea typeface="BIZ UDPGothic"/>
                        </a:rPr>
                        <a:t>成果物</a:t>
                      </a:r>
                    </a:p>
                  </a:txBody>
                  <a:tcPr anchor="ctr">
                    <a:solidFill>
                      <a:srgbClr val="A63D2F"/>
                    </a:solidFill>
                  </a:tcPr>
                </a:tc>
                <a:tc>
                  <a:txBody>
                    <a:bodyPr/>
                    <a:lstStyle/>
                    <a:p>
                      <a:pPr algn="ctr"/>
                      <a:r>
                        <a:rPr lang="ja-JP" altLang="en-US" sz="1400" b="1">
                          <a:solidFill>
                            <a:srgbClr val="FFFFFF"/>
                          </a:solidFill>
                          <a:latin typeface="BIZ UDPGothic"/>
                          <a:ea typeface="BIZ UDPGothic"/>
                        </a:rPr>
                        <a:t>内容</a:t>
                      </a:r>
                    </a:p>
                  </a:txBody>
                  <a:tcPr anchor="ctr">
                    <a:solidFill>
                      <a:srgbClr val="A63D2F"/>
                    </a:solidFill>
                  </a:tcPr>
                </a:tc>
                <a:extLst>
                  <a:ext uri="{0D108BD9-81ED-4DB2-BD59-A6C34878D82A}">
                    <a16:rowId xmlns:a16="http://schemas.microsoft.com/office/drawing/2014/main" val="2436982032"/>
                  </a:ext>
                </a:extLst>
              </a:tr>
              <a:tr h="598714">
                <a:tc>
                  <a:txBody>
                    <a:bodyPr/>
                    <a:lstStyle/>
                    <a:p>
                      <a:r>
                        <a:rPr lang="ja-JP" altLang="en-US" sz="1400" b="1">
                          <a:solidFill>
                            <a:srgbClr val="2B2B2B"/>
                          </a:solidFill>
                          <a:latin typeface="BIZ UDPGothic"/>
                          <a:ea typeface="BIZ UDPGothic"/>
                        </a:rPr>
                        <a:t>プロジェクト概要書</a:t>
                      </a:r>
                    </a:p>
                  </a:txBody>
                  <a:tcPr anchor="ctr"/>
                </a:tc>
                <a:tc>
                  <a:txBody>
                    <a:bodyPr/>
                    <a:lstStyle/>
                    <a:p>
                      <a:r>
                        <a:rPr lang="ja-JP" altLang="en-US" sz="1400">
                          <a:solidFill>
                            <a:srgbClr val="2B2B2B"/>
                          </a:solidFill>
                          <a:latin typeface="BIZ UDPGothic"/>
                          <a:ea typeface="BIZ UDPGothic"/>
                        </a:rPr>
                        <a:t>本提案内容を含む正本文書。目的、対象範囲、前提条件、役割、進め方を定義</a:t>
                      </a:r>
                    </a:p>
                  </a:txBody>
                  <a:tcPr anchor="ctr"/>
                </a:tc>
                <a:extLst>
                  <a:ext uri="{0D108BD9-81ED-4DB2-BD59-A6C34878D82A}">
                    <a16:rowId xmlns:a16="http://schemas.microsoft.com/office/drawing/2014/main" val="3110208869"/>
                  </a:ext>
                </a:extLst>
              </a:tr>
              <a:tr h="598714">
                <a:tc>
                  <a:txBody>
                    <a:bodyPr/>
                    <a:lstStyle/>
                    <a:p>
                      <a:r>
                        <a:rPr lang="ja-JP" altLang="en-US" sz="1400" b="1">
                          <a:solidFill>
                            <a:srgbClr val="2B2B2B"/>
                          </a:solidFill>
                          <a:latin typeface="BIZ UDPGothic"/>
                          <a:ea typeface="BIZ UDPGothic"/>
                        </a:rPr>
                        <a:t>分析計画メモ／実施方針書</a:t>
                      </a:r>
                    </a:p>
                  </a:txBody>
                  <a:tcPr anchor="ctr">
                    <a:solidFill>
                      <a:srgbClr val="F5F5F3"/>
                    </a:solidFill>
                  </a:tcPr>
                </a:tc>
                <a:tc>
                  <a:txBody>
                    <a:bodyPr/>
                    <a:lstStyle/>
                    <a:p>
                      <a:r>
                        <a:rPr lang="ja-JP" altLang="en-US" sz="1400">
                          <a:solidFill>
                            <a:srgbClr val="2B2B2B"/>
                          </a:solidFill>
                          <a:latin typeface="BIZ UDPGothic"/>
                          <a:ea typeface="BIZ UDPGothic"/>
                        </a:rPr>
                        <a:t>データ処理方針、評価方法、分析ステップ、論点一覧を記載</a:t>
                      </a:r>
                    </a:p>
                  </a:txBody>
                  <a:tcPr anchor="ctr">
                    <a:solidFill>
                      <a:srgbClr val="F5F5F3"/>
                    </a:solidFill>
                  </a:tcPr>
                </a:tc>
                <a:extLst>
                  <a:ext uri="{0D108BD9-81ED-4DB2-BD59-A6C34878D82A}">
                    <a16:rowId xmlns:a16="http://schemas.microsoft.com/office/drawing/2014/main" val="1311852889"/>
                  </a:ext>
                </a:extLst>
              </a:tr>
              <a:tr h="598714">
                <a:tc>
                  <a:txBody>
                    <a:bodyPr/>
                    <a:lstStyle/>
                    <a:p>
                      <a:r>
                        <a:rPr lang="ja-JP" altLang="en-US" sz="1400" b="1">
                          <a:solidFill>
                            <a:srgbClr val="2B2B2B"/>
                          </a:solidFill>
                          <a:latin typeface="BIZ UDPGothic"/>
                          <a:ea typeface="BIZ UDPGothic"/>
                        </a:rPr>
                        <a:t>中間報告書</a:t>
                      </a:r>
                    </a:p>
                  </a:txBody>
                  <a:tcPr anchor="ctr"/>
                </a:tc>
                <a:tc>
                  <a:txBody>
                    <a:bodyPr/>
                    <a:lstStyle/>
                    <a:p>
                      <a:r>
                        <a:rPr lang="ja-JP" altLang="en-US" sz="1400">
                          <a:solidFill>
                            <a:srgbClr val="2B2B2B"/>
                          </a:solidFill>
                          <a:latin typeface="BIZ UDPGothic"/>
                          <a:ea typeface="BIZ UDPGothic"/>
                        </a:rPr>
                        <a:t>データ品質確認結果、探索的分析結果、初期仮説、追加確認事項を整理</a:t>
                      </a:r>
                    </a:p>
                  </a:txBody>
                  <a:tcPr anchor="ctr"/>
                </a:tc>
                <a:extLst>
                  <a:ext uri="{0D108BD9-81ED-4DB2-BD59-A6C34878D82A}">
                    <a16:rowId xmlns:a16="http://schemas.microsoft.com/office/drawing/2014/main" val="1770883294"/>
                  </a:ext>
                </a:extLst>
              </a:tr>
              <a:tr h="598714">
                <a:tc>
                  <a:txBody>
                    <a:bodyPr/>
                    <a:lstStyle/>
                    <a:p>
                      <a:r>
                        <a:rPr lang="ja-JP" altLang="en-US" sz="1400" b="1">
                          <a:solidFill>
                            <a:srgbClr val="2B2B2B"/>
                          </a:solidFill>
                          <a:latin typeface="BIZ UDPGothic"/>
                          <a:ea typeface="BIZ UDPGothic"/>
                        </a:rPr>
                        <a:t>最終報告書</a:t>
                      </a:r>
                    </a:p>
                  </a:txBody>
                  <a:tcPr anchor="ctr">
                    <a:solidFill>
                      <a:srgbClr val="F5F5F3"/>
                    </a:solidFill>
                  </a:tcPr>
                </a:tc>
                <a:tc>
                  <a:txBody>
                    <a:bodyPr/>
                    <a:lstStyle/>
                    <a:p>
                      <a:r>
                        <a:rPr lang="ja-JP" altLang="en-US" sz="1400">
                          <a:solidFill>
                            <a:srgbClr val="2B2B2B"/>
                          </a:solidFill>
                          <a:latin typeface="BIZ UDPGothic"/>
                          <a:ea typeface="BIZ UDPGothic"/>
                        </a:rPr>
                        <a:t>分析結果、価格形成要因、モデル評価、業務示唆、留意点、拡張案を記載</a:t>
                      </a:r>
                    </a:p>
                  </a:txBody>
                  <a:tcPr anchor="ctr">
                    <a:solidFill>
                      <a:srgbClr val="F5F5F3"/>
                    </a:solidFill>
                  </a:tcPr>
                </a:tc>
                <a:extLst>
                  <a:ext uri="{0D108BD9-81ED-4DB2-BD59-A6C34878D82A}">
                    <a16:rowId xmlns:a16="http://schemas.microsoft.com/office/drawing/2014/main" val="2504645585"/>
                  </a:ext>
                </a:extLst>
              </a:tr>
              <a:tr h="598714">
                <a:tc>
                  <a:txBody>
                    <a:bodyPr/>
                    <a:lstStyle/>
                    <a:p>
                      <a:r>
                        <a:rPr lang="ja-JP" altLang="en-US" sz="1400" b="1">
                          <a:solidFill>
                            <a:srgbClr val="2B2B2B"/>
                          </a:solidFill>
                          <a:latin typeface="BIZ UDPGothic"/>
                          <a:ea typeface="BIZ UDPGothic"/>
                        </a:rPr>
                        <a:t>会議議事メモ</a:t>
                      </a:r>
                    </a:p>
                  </a:txBody>
                  <a:tcPr anchor="ctr"/>
                </a:tc>
                <a:tc>
                  <a:txBody>
                    <a:bodyPr/>
                    <a:lstStyle/>
                    <a:p>
                      <a:r>
                        <a:rPr lang="ja-JP" altLang="en-US" sz="1400">
                          <a:solidFill>
                            <a:srgbClr val="2B2B2B"/>
                          </a:solidFill>
                          <a:latin typeface="BIZ UDPGothic"/>
                          <a:ea typeface="BIZ UDPGothic"/>
                        </a:rPr>
                        <a:t>定例会議および報告会の決定事項、課題、宿題事項を記録</a:t>
                      </a:r>
                    </a:p>
                  </a:txBody>
                  <a:tcPr anchor="ctr"/>
                </a:tc>
                <a:extLst>
                  <a:ext uri="{0D108BD9-81ED-4DB2-BD59-A6C34878D82A}">
                    <a16:rowId xmlns:a16="http://schemas.microsoft.com/office/drawing/2014/main" val="1286217283"/>
                  </a:ext>
                </a:extLst>
              </a:tr>
              <a:tr h="598714">
                <a:tc>
                  <a:txBody>
                    <a:bodyPr/>
                    <a:lstStyle/>
                    <a:p>
                      <a:r>
                        <a:rPr lang="ja-JP" altLang="en-US" sz="1400" b="1">
                          <a:solidFill>
                            <a:srgbClr val="2B2B2B"/>
                          </a:solidFill>
                          <a:latin typeface="BIZ UDPGothic"/>
                          <a:ea typeface="BIZ UDPGothic"/>
                        </a:rPr>
                        <a:t>スケジュール管理表</a:t>
                      </a:r>
                    </a:p>
                  </a:txBody>
                  <a:tcPr anchor="ctr">
                    <a:solidFill>
                      <a:srgbClr val="F5F5F3"/>
                    </a:solidFill>
                  </a:tcPr>
                </a:tc>
                <a:tc>
                  <a:txBody>
                    <a:bodyPr/>
                    <a:lstStyle/>
                    <a:p>
                      <a:r>
                        <a:rPr lang="ja-JP" altLang="en-US" sz="1400">
                          <a:solidFill>
                            <a:srgbClr val="2B2B2B"/>
                          </a:solidFill>
                          <a:latin typeface="BIZ UDPGothic"/>
                          <a:ea typeface="BIZ UDPGothic"/>
                        </a:rPr>
                        <a:t>週次タスク、担当、完了条件、進捗状況を管理</a:t>
                      </a:r>
                    </a:p>
                  </a:txBody>
                  <a:tcPr anchor="ctr">
                    <a:solidFill>
                      <a:srgbClr val="F5F5F3"/>
                    </a:solidFill>
                  </a:tcPr>
                </a:tc>
                <a:extLst>
                  <a:ext uri="{0D108BD9-81ED-4DB2-BD59-A6C34878D82A}">
                    <a16:rowId xmlns:a16="http://schemas.microsoft.com/office/drawing/2014/main" val="2947299477"/>
                  </a:ext>
                </a:extLst>
              </a:tr>
            </a:tbl>
          </a:graphicData>
        </a:graphic>
      </p:graphicFrame>
    </p:spTree>
    <p:extLst>
      <p:ext uri="{BB962C8B-B14F-4D97-AF65-F5344CB8AC3E}">
        <p14:creationId xmlns:p14="http://schemas.microsoft.com/office/powerpoint/2010/main" val="3709150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8AE741-D139-7511-2D54-AFF9017073B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8. 費用見積</a:t>
            </a:r>
          </a:p>
        </p:txBody>
      </p:sp>
      <p:sp>
        <p:nvSpPr>
          <p:cNvPr id="10" name="PriceBox"/>
          <p:cNvSpPr/>
          <p:nvPr/>
        </p:nvSpPr>
        <p:spPr>
          <a:xfrm>
            <a:off x="457200" y="1841500"/>
            <a:ext cx="5334000" cy="1905000"/>
          </a:xfrm>
          <a:prstGeom prst="roundRect">
            <a:avLst>
              <a:gd name="adj" fmla="val 6000"/>
            </a:avLst>
          </a:prstGeom>
          <a:solidFill>
            <a:srgbClr val="2B2B2B"/>
          </a:solidFill>
          <a:ln w="0">
            <a:noFill/>
          </a:ln>
        </p:spPr>
        <p:txBody>
          <a:bodyPr lIns="144000" tIns="72000" rIns="144000" bIns="72000" anchor="ctr"/>
          <a:lstStyle/>
          <a:p>
            <a:pPr algn="ctr">
              <a:spcAft>
                <a:spcPts val="200"/>
              </a:spcAft>
            </a:pPr>
            <a:r>
              <a:rPr lang="ja-JP" sz="1400" dirty="0">
                <a:solidFill>
                  <a:srgbClr val="D4C5B0"/>
                </a:solidFill>
                <a:latin typeface="BIZ UDPGothic"/>
                <a:ea typeface="BIZ UDPGothic"/>
              </a:rPr>
              <a:t>見込金額（税込）</a:t>
            </a:r>
          </a:p>
          <a:p>
            <a:pPr algn="ctr">
              <a:spcAft>
                <a:spcPts val="200"/>
              </a:spcAft>
            </a:pPr>
            <a:r>
              <a:rPr lang="ja-JP" sz="3600" b="1" dirty="0">
                <a:solidFill>
                  <a:srgbClr val="FFFFFF"/>
                </a:solidFill>
                <a:latin typeface="BIZ UDPGothic"/>
                <a:ea typeface="BIZ UDPGothic"/>
              </a:rPr>
              <a:t>¥4,675,000</a:t>
            </a:r>
          </a:p>
          <a:p>
            <a:pPr algn="ctr"/>
            <a:r>
              <a:rPr lang="ja-JP" sz="1100" dirty="0">
                <a:solidFill>
                  <a:srgbClr val="6B6B6B"/>
                </a:solidFill>
                <a:latin typeface="BIZ UDPGothic"/>
                <a:ea typeface="BIZ UDPGothic"/>
              </a:rPr>
              <a:t>税抜 ¥4,250,000 + 消費税 ¥425,000</a:t>
            </a:r>
          </a:p>
        </p:txBody>
      </p:sp>
      <p:sp>
        <p:nvSpPr>
          <p:cNvPr id="20" name="Detail0"/>
          <p:cNvSpPr/>
          <p:nvPr/>
        </p:nvSpPr>
        <p:spPr>
          <a:xfrm>
            <a:off x="6096000" y="18415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契約形態</a:t>
            </a:r>
          </a:p>
          <a:p>
            <a:pPr algn="ctr"/>
            <a:r>
              <a:rPr lang="ja-JP" sz="1600" b="1" dirty="0">
                <a:solidFill>
                  <a:srgbClr val="2B2B2B"/>
                </a:solidFill>
                <a:latin typeface="BIZ UDPGothic"/>
                <a:ea typeface="BIZ UDPGothic"/>
              </a:rPr>
              <a:t>タイム&amp;マテリアル</a:t>
            </a:r>
          </a:p>
        </p:txBody>
      </p:sp>
      <p:sp>
        <p:nvSpPr>
          <p:cNvPr id="21" name="Detail1"/>
          <p:cNvSpPr/>
          <p:nvPr/>
        </p:nvSpPr>
        <p:spPr>
          <a:xfrm>
            <a:off x="8839200" y="18415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時間単価</a:t>
            </a:r>
          </a:p>
          <a:p>
            <a:pPr algn="ctr"/>
            <a:r>
              <a:rPr lang="ja-JP" sz="1600" b="1" dirty="0">
                <a:solidFill>
                  <a:srgbClr val="2B2B2B"/>
                </a:solidFill>
                <a:latin typeface="BIZ UDPGothic"/>
                <a:ea typeface="BIZ UDPGothic"/>
              </a:rPr>
              <a:t>¥25,000/時間</a:t>
            </a:r>
          </a:p>
        </p:txBody>
      </p:sp>
      <p:sp>
        <p:nvSpPr>
          <p:cNvPr id="22" name="Detail2"/>
          <p:cNvSpPr/>
          <p:nvPr/>
        </p:nvSpPr>
        <p:spPr>
          <a:xfrm>
            <a:off x="6096000" y="29210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見込工数</a:t>
            </a:r>
          </a:p>
          <a:p>
            <a:pPr algn="ctr"/>
            <a:r>
              <a:rPr lang="ja-JP" sz="1600" b="1" dirty="0">
                <a:solidFill>
                  <a:srgbClr val="2B2B2B"/>
                </a:solidFill>
                <a:latin typeface="BIZ UDPGothic"/>
                <a:ea typeface="BIZ UDPGothic"/>
              </a:rPr>
              <a:t>170時間</a:t>
            </a:r>
          </a:p>
        </p:txBody>
      </p:sp>
      <p:sp>
        <p:nvSpPr>
          <p:cNvPr id="23" name="Detail3"/>
          <p:cNvSpPr/>
          <p:nvPr/>
        </p:nvSpPr>
        <p:spPr>
          <a:xfrm>
            <a:off x="8839200" y="29210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工数丸め</a:t>
            </a:r>
          </a:p>
          <a:p>
            <a:pPr algn="ctr"/>
            <a:r>
              <a:rPr lang="ja-JP" sz="1600" b="1" dirty="0">
                <a:solidFill>
                  <a:srgbClr val="2B2B2B"/>
                </a:solidFill>
                <a:latin typeface="BIZ UDPGothic"/>
                <a:ea typeface="BIZ UDPGothic"/>
              </a:rPr>
              <a:t>30分単位</a:t>
            </a:r>
          </a:p>
        </p:txBody>
      </p:sp>
      <p:sp>
        <p:nvSpPr>
          <p:cNvPr id="30" name="Notes"/>
          <p:cNvSpPr/>
          <p:nvPr/>
        </p:nvSpPr>
        <p:spPr>
          <a:xfrm>
            <a:off x="457200" y="3937000"/>
            <a:ext cx="10972800" cy="380000"/>
          </a:xfrm>
          <a:prstGeom prst="rect">
            <a:avLst/>
          </a:prstGeom>
          <a:solidFill>
            <a:srgbClr val="F5F5F3"/>
          </a:solidFill>
          <a:ln w="0">
            <a:noFill/>
          </a:ln>
        </p:spPr>
        <p:txBody>
          <a:bodyPr lIns="108000" tIns="54000" rIns="108000" bIns="54000" anchor="ctr"/>
          <a:lstStyle/>
          <a:p>
            <a:pPr algn="l"/>
            <a:r>
              <a:rPr lang="ja-JP" sz="1100" dirty="0">
                <a:solidFill>
                  <a:srgbClr val="6B6B6B"/>
                </a:solidFill>
                <a:latin typeface="BIZ UDPGothic"/>
                <a:ea typeface="BIZ UDPGothic"/>
              </a:rPr>
              <a:t>※ 固定総額契約ではなく、最終請求額は実績工数に基づいて確定する</a:t>
            </a:r>
          </a:p>
          <a:p>
            <a:pPr algn="l"/>
            <a:r>
              <a:rPr lang="ja-JP" sz="1100" dirty="0">
                <a:solidFill>
                  <a:srgbClr val="6B6B6B"/>
                </a:solidFill>
                <a:latin typeface="BIZ UDPGothic"/>
                <a:ea typeface="BIZ UDPGothic"/>
              </a:rPr>
              <a:t>※ 精算ルール：実績工数に基づき、案件完了後に最終成果物の検収を経て一括精算</a:t>
            </a:r>
          </a:p>
        </p:txBody>
      </p:sp>
      <p:sp>
        <p:nvSpPr>
          <p:cNvPr id="31" name="PayLabel"/>
          <p:cNvSpPr/>
          <p:nvPr/>
        </p:nvSpPr>
        <p:spPr>
          <a:xfrm>
            <a:off x="457200" y="4699000"/>
            <a:ext cx="10972800" cy="1016000"/>
          </a:xfrm>
          <a:prstGeom prst="roundRect">
            <a:avLst>
              <a:gd name="adj" fmla="val 12000"/>
            </a:avLst>
          </a:prstGeom>
          <a:solidFill>
            <a:srgbClr val="A63D2F"/>
          </a:solidFill>
          <a:ln w="0">
            <a:noFill/>
          </a:ln>
        </p:spPr>
        <p:txBody>
          <a:bodyPr lIns="144000" tIns="36000" rIns="144000" bIns="36000" anchor="ctr"/>
          <a:lstStyle/>
          <a:p>
            <a:pPr algn="l"/>
            <a:r>
              <a:rPr lang="ja-JP" sz="1400" b="1" dirty="0">
                <a:solidFill>
                  <a:srgbClr val="FFFFFF"/>
                </a:solidFill>
                <a:latin typeface="BIZ UDPGothic"/>
                <a:ea typeface="BIZ UDPGothic"/>
              </a:rPr>
              <a:t>支払条件：</a:t>
            </a:r>
            <a:r>
              <a:rPr lang="ja-JP" sz="1200" dirty="0">
                <a:solidFill>
                  <a:srgbClr val="FFFFFF"/>
                </a:solidFill>
                <a:latin typeface="BIZ UDPGothic"/>
                <a:ea typeface="BIZ UDPGothic"/>
              </a:rPr>
              <a:t>最終成果物の検収完了後5営業日以内に一括支払（100%）　税込 ¥4,675,000</a:t>
            </a:r>
          </a:p>
        </p:txBody>
      </p:sp>
    </p:spTree>
    <p:extLst>
      <p:ext uri="{BB962C8B-B14F-4D97-AF65-F5344CB8AC3E}">
        <p14:creationId xmlns:p14="http://schemas.microsoft.com/office/powerpoint/2010/main" val="2760025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F4294C-2384-E615-824D-74354B0976BD}"/>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9. リスクと対応策</a:t>
            </a:r>
          </a:p>
        </p:txBody>
      </p:sp>
      <p:graphicFrame>
        <p:nvGraphicFramePr>
          <p:cNvPr id="4" name="表 3">
            <a:extLst>
              <a:ext uri="{FF2B5EF4-FFF2-40B4-BE49-F238E27FC236}">
                <a16:creationId xmlns:a16="http://schemas.microsoft.com/office/drawing/2014/main" id="{6CF91D4F-DF1F-435D-8B20-08F4AEF3AEB8}"/>
              </a:ext>
            </a:extLst>
          </p:cNvPr>
          <p:cNvGraphicFramePr>
            <a:graphicFrameLocks noGrp="1"/>
          </p:cNvGraphicFramePr>
          <p:nvPr>
            <p:extLst>
              <p:ext uri="{D42A27DB-BD31-4B8C-83A1-F6EECF244321}">
                <p14:modId xmlns:p14="http://schemas.microsoft.com/office/powerpoint/2010/main" val="897844499"/>
              </p:ext>
            </p:extLst>
          </p:nvPr>
        </p:nvGraphicFramePr>
        <p:xfrm>
          <a:off x="457200" y="1841500"/>
          <a:ext cx="11277600" cy="40005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59112863"/>
                    </a:ext>
                  </a:extLst>
                </a:gridCol>
                <a:gridCol w="4953000">
                  <a:extLst>
                    <a:ext uri="{9D8B030D-6E8A-4147-A177-3AD203B41FA5}">
                      <a16:colId xmlns:a16="http://schemas.microsoft.com/office/drawing/2014/main" val="248913910"/>
                    </a:ext>
                  </a:extLst>
                </a:gridCol>
                <a:gridCol w="4292600">
                  <a:extLst>
                    <a:ext uri="{9D8B030D-6E8A-4147-A177-3AD203B41FA5}">
                      <a16:colId xmlns:a16="http://schemas.microsoft.com/office/drawing/2014/main" val="824317052"/>
                    </a:ext>
                  </a:extLst>
                </a:gridCol>
              </a:tblGrid>
              <a:tr h="571500">
                <a:tc>
                  <a:txBody>
                    <a:bodyPr/>
                    <a:lstStyle/>
                    <a:p>
                      <a:pPr algn="ctr"/>
                      <a:r>
                        <a:rPr lang="ja-JP" altLang="en-US" sz="1400" b="1">
                          <a:solidFill>
                            <a:srgbClr val="FFFFFF"/>
                          </a:solidFill>
                          <a:latin typeface="BIZ UDPGothic"/>
                          <a:ea typeface="BIZ UDPGothic"/>
                        </a:rPr>
                        <a:t>リスク</a:t>
                      </a:r>
                    </a:p>
                  </a:txBody>
                  <a:tcPr anchor="ctr">
                    <a:solidFill>
                      <a:srgbClr val="A63D2F"/>
                    </a:solidFill>
                  </a:tcPr>
                </a:tc>
                <a:tc>
                  <a:txBody>
                    <a:bodyPr/>
                    <a:lstStyle/>
                    <a:p>
                      <a:pPr algn="ctr"/>
                      <a:r>
                        <a:rPr lang="ja-JP" altLang="en-US" sz="1400" b="1">
                          <a:solidFill>
                            <a:srgbClr val="FFFFFF"/>
                          </a:solidFill>
                          <a:latin typeface="BIZ UDPGothic"/>
                          <a:ea typeface="BIZ UDPGothic"/>
                        </a:rPr>
                        <a:t>内容</a:t>
                      </a:r>
                    </a:p>
                  </a:txBody>
                  <a:tcPr anchor="ctr">
                    <a:solidFill>
                      <a:srgbClr val="A63D2F"/>
                    </a:solidFill>
                  </a:tcPr>
                </a:tc>
                <a:tc>
                  <a:txBody>
                    <a:bodyPr/>
                    <a:lstStyle/>
                    <a:p>
                      <a:pPr algn="ctr"/>
                      <a:r>
                        <a:rPr lang="ja-JP" altLang="en-US" sz="1400" b="1">
                          <a:solidFill>
                            <a:srgbClr val="FFFFFF"/>
                          </a:solidFill>
                          <a:latin typeface="BIZ UDPGothic"/>
                          <a:ea typeface="BIZ UDPGothic"/>
                        </a:rPr>
                        <a:t>対応策</a:t>
                      </a:r>
                    </a:p>
                  </a:txBody>
                  <a:tcPr anchor="ctr">
                    <a:solidFill>
                      <a:srgbClr val="A63D2F"/>
                    </a:solidFill>
                  </a:tcPr>
                </a:tc>
                <a:extLst>
                  <a:ext uri="{0D108BD9-81ED-4DB2-BD59-A6C34878D82A}">
                    <a16:rowId xmlns:a16="http://schemas.microsoft.com/office/drawing/2014/main" val="817882381"/>
                  </a:ext>
                </a:extLst>
              </a:tr>
              <a:tr h="571500">
                <a:tc>
                  <a:txBody>
                    <a:bodyPr/>
                    <a:lstStyle/>
                    <a:p>
                      <a:r>
                        <a:rPr lang="ja-JP" altLang="en-US" sz="1400" b="1">
                          <a:solidFill>
                            <a:srgbClr val="2B2B2B"/>
                          </a:solidFill>
                          <a:latin typeface="BIZ UDPGothic"/>
                          <a:ea typeface="BIZ UDPGothic"/>
                        </a:rPr>
                        <a:t>立地起因の偏り</a:t>
                      </a:r>
                    </a:p>
                  </a:txBody>
                  <a:tcPr anchor="ctr"/>
                </a:tc>
                <a:tc>
                  <a:txBody>
                    <a:bodyPr/>
                    <a:lstStyle/>
                    <a:p>
                      <a:r>
                        <a:rPr lang="ja-JP" altLang="en-US" sz="1400">
                          <a:solidFill>
                            <a:srgbClr val="2B2B2B"/>
                          </a:solidFill>
                          <a:latin typeface="BIZ UDPGothic"/>
                          <a:ea typeface="BIZ UDPGothic"/>
                        </a:rPr>
                        <a:t>価格差の多くが立地要因に吸収され、建物属性の寄与解釈が偏る可能性</a:t>
                      </a:r>
                    </a:p>
                  </a:txBody>
                  <a:tcPr anchor="ctr"/>
                </a:tc>
                <a:tc>
                  <a:txBody>
                    <a:bodyPr/>
                    <a:lstStyle/>
                    <a:p>
                      <a:r>
                        <a:rPr lang="ja-JP" altLang="en-US" sz="1400">
                          <a:solidFill>
                            <a:srgbClr val="2B2B2B"/>
                          </a:solidFill>
                          <a:latin typeface="BIZ UDPGothic"/>
                          <a:ea typeface="BIZ UDPGothic"/>
                        </a:rPr>
                        <a:t>BOROUGH等の立地軸を踏まえた比較を実施</a:t>
                      </a:r>
                    </a:p>
                  </a:txBody>
                  <a:tcPr anchor="ctr"/>
                </a:tc>
                <a:extLst>
                  <a:ext uri="{0D108BD9-81ED-4DB2-BD59-A6C34878D82A}">
                    <a16:rowId xmlns:a16="http://schemas.microsoft.com/office/drawing/2014/main" val="2114574270"/>
                  </a:ext>
                </a:extLst>
              </a:tr>
              <a:tr h="571500">
                <a:tc>
                  <a:txBody>
                    <a:bodyPr/>
                    <a:lstStyle/>
                    <a:p>
                      <a:r>
                        <a:rPr lang="ja-JP" altLang="en-US" sz="1400" b="1">
                          <a:solidFill>
                            <a:srgbClr val="2B2B2B"/>
                          </a:solidFill>
                          <a:latin typeface="BIZ UDPGothic"/>
                          <a:ea typeface="BIZ UDPGothic"/>
                        </a:rPr>
                        <a:t>市場サイクル変動</a:t>
                      </a:r>
                    </a:p>
                  </a:txBody>
                  <a:tcPr anchor="ctr">
                    <a:solidFill>
                      <a:srgbClr val="F5F5F3"/>
                    </a:solidFill>
                  </a:tcPr>
                </a:tc>
                <a:tc>
                  <a:txBody>
                    <a:bodyPr/>
                    <a:lstStyle/>
                    <a:p>
                      <a:r>
                        <a:rPr lang="ja-JP" altLang="en-US" sz="1400">
                          <a:solidFill>
                            <a:srgbClr val="2B2B2B"/>
                          </a:solidFill>
                          <a:latin typeface="BIZ UDPGothic"/>
                          <a:ea typeface="BIZ UDPGothic"/>
                        </a:rPr>
                        <a:t>時系列粒度情報が限定され、市況局面差を直接調整できない</a:t>
                      </a:r>
                    </a:p>
                  </a:txBody>
                  <a:tcPr anchor="ctr">
                    <a:solidFill>
                      <a:srgbClr val="F5F5F3"/>
                    </a:solidFill>
                  </a:tcPr>
                </a:tc>
                <a:tc>
                  <a:txBody>
                    <a:bodyPr/>
                    <a:lstStyle/>
                    <a:p>
                      <a:r>
                        <a:rPr lang="ja-JP" altLang="en-US" sz="1400">
                          <a:solidFill>
                            <a:srgbClr val="2B2B2B"/>
                          </a:solidFill>
                          <a:latin typeface="BIZ UDPGothic"/>
                          <a:ea typeface="BIZ UDPGothic"/>
                        </a:rPr>
                        <a:t>前提を明示し、結果解釈時に限界として記載</a:t>
                      </a:r>
                    </a:p>
                  </a:txBody>
                  <a:tcPr anchor="ctr">
                    <a:solidFill>
                      <a:srgbClr val="F5F5F3"/>
                    </a:solidFill>
                  </a:tcPr>
                </a:tc>
                <a:extLst>
                  <a:ext uri="{0D108BD9-81ED-4DB2-BD59-A6C34878D82A}">
                    <a16:rowId xmlns:a16="http://schemas.microsoft.com/office/drawing/2014/main" val="2750155299"/>
                  </a:ext>
                </a:extLst>
              </a:tr>
              <a:tr h="571500">
                <a:tc>
                  <a:txBody>
                    <a:bodyPr/>
                    <a:lstStyle/>
                    <a:p>
                      <a:r>
                        <a:rPr lang="ja-JP" altLang="en-US" sz="1400" b="1">
                          <a:solidFill>
                            <a:srgbClr val="2B2B2B"/>
                          </a:solidFill>
                          <a:latin typeface="BIZ UDPGothic"/>
                          <a:ea typeface="BIZ UDPGothic"/>
                        </a:rPr>
                        <a:t>物件データ不整合</a:t>
                      </a:r>
                    </a:p>
                  </a:txBody>
                  <a:tcPr anchor="ctr"/>
                </a:tc>
                <a:tc>
                  <a:txBody>
                    <a:bodyPr/>
                    <a:lstStyle/>
                    <a:p>
                      <a:r>
                        <a:rPr lang="ja-JP" altLang="en-US" sz="1400">
                          <a:solidFill>
                            <a:srgbClr val="2B2B2B"/>
                          </a:solidFill>
                          <a:latin typeface="BIZ UDPGothic"/>
                          <a:ea typeface="BIZ UDPGothic"/>
                        </a:rPr>
                        <a:t>YEAR BUILT=0、ZIP CODE=0、面積欠損等により誤解を招く可能性</a:t>
                      </a:r>
                    </a:p>
                  </a:txBody>
                  <a:tcPr anchor="ctr"/>
                </a:tc>
                <a:tc>
                  <a:txBody>
                    <a:bodyPr/>
                    <a:lstStyle/>
                    <a:p>
                      <a:r>
                        <a:rPr lang="ja-JP" altLang="en-US" sz="1400">
                          <a:solidFill>
                            <a:srgbClr val="2B2B2B"/>
                          </a:solidFill>
                          <a:latin typeface="BIZ UDPGothic"/>
                          <a:ea typeface="BIZ UDPGothic"/>
                        </a:rPr>
                        <a:t>品質点検結果を明示し、補完・除外の件数と理由を記録</a:t>
                      </a:r>
                    </a:p>
                  </a:txBody>
                  <a:tcPr anchor="ctr"/>
                </a:tc>
                <a:extLst>
                  <a:ext uri="{0D108BD9-81ED-4DB2-BD59-A6C34878D82A}">
                    <a16:rowId xmlns:a16="http://schemas.microsoft.com/office/drawing/2014/main" val="3050156357"/>
                  </a:ext>
                </a:extLst>
              </a:tr>
              <a:tr h="571500">
                <a:tc>
                  <a:txBody>
                    <a:bodyPr/>
                    <a:lstStyle/>
                    <a:p>
                      <a:r>
                        <a:rPr lang="ja-JP" altLang="en-US" sz="1400" b="1">
                          <a:solidFill>
                            <a:srgbClr val="2B2B2B"/>
                          </a:solidFill>
                          <a:latin typeface="BIZ UDPGothic"/>
                          <a:ea typeface="BIZ UDPGothic"/>
                        </a:rPr>
                        <a:t>高カーディナリティ
による過学習</a:t>
                      </a:r>
                    </a:p>
                  </a:txBody>
                  <a:tcPr anchor="ctr">
                    <a:solidFill>
                      <a:srgbClr val="F5F5F3"/>
                    </a:solidFill>
                  </a:tcPr>
                </a:tc>
                <a:tc>
                  <a:txBody>
                    <a:bodyPr/>
                    <a:lstStyle/>
                    <a:p>
                      <a:r>
                        <a:rPr lang="ja-JP" altLang="en-US" sz="1400">
                          <a:solidFill>
                            <a:srgbClr val="2B2B2B"/>
                          </a:solidFill>
                          <a:latin typeface="BIZ UDPGothic"/>
                          <a:ea typeface="BIZ UDPGothic"/>
                        </a:rPr>
                        <a:t>NEIGHBORHOOD等の扱いにより初期モデルが過学習する可能性</a:t>
                      </a:r>
                    </a:p>
                  </a:txBody>
                  <a:tcPr anchor="ctr">
                    <a:solidFill>
                      <a:srgbClr val="F5F5F3"/>
                    </a:solidFill>
                  </a:tcPr>
                </a:tc>
                <a:tc>
                  <a:txBody>
                    <a:bodyPr/>
                    <a:lstStyle/>
                    <a:p>
                      <a:r>
                        <a:rPr lang="ja-JP" altLang="en-US" sz="1400">
                          <a:solidFill>
                            <a:srgbClr val="2B2B2B"/>
                          </a:solidFill>
                          <a:latin typeface="BIZ UDPGothic"/>
                          <a:ea typeface="BIZ UDPGothic"/>
                        </a:rPr>
                        <a:t>識別子的列は除外、高カーディナリティは標準方針に従い除外</a:t>
                      </a:r>
                    </a:p>
                  </a:txBody>
                  <a:tcPr anchor="ctr">
                    <a:solidFill>
                      <a:srgbClr val="F5F5F3"/>
                    </a:solidFill>
                  </a:tcPr>
                </a:tc>
                <a:extLst>
                  <a:ext uri="{0D108BD9-81ED-4DB2-BD59-A6C34878D82A}">
                    <a16:rowId xmlns:a16="http://schemas.microsoft.com/office/drawing/2014/main" val="685622653"/>
                  </a:ext>
                </a:extLst>
              </a:tr>
              <a:tr h="571500">
                <a:tc>
                  <a:txBody>
                    <a:bodyPr/>
                    <a:lstStyle/>
                    <a:p>
                      <a:r>
                        <a:rPr lang="ja-JP" altLang="en-US" sz="1400" b="1">
                          <a:solidFill>
                            <a:srgbClr val="2B2B2B"/>
                          </a:solidFill>
                          <a:latin typeface="BIZ UDPGothic"/>
                          <a:ea typeface="BIZ UDPGothic"/>
                        </a:rPr>
                        <a:t>建物クラス
定義の解釈差</a:t>
                      </a:r>
                    </a:p>
                  </a:txBody>
                  <a:tcPr anchor="ctr"/>
                </a:tc>
                <a:tc>
                  <a:txBody>
                    <a:bodyPr/>
                    <a:lstStyle/>
                    <a:p>
                      <a:r>
                        <a:rPr lang="ja-JP" altLang="en-US" sz="1400">
                          <a:solidFill>
                            <a:srgbClr val="2B2B2B"/>
                          </a:solidFill>
                          <a:latin typeface="BIZ UDPGothic"/>
                          <a:ea typeface="BIZ UDPGothic"/>
                        </a:rPr>
                        <a:t>建物分類・税区分の業務解釈に差異が生じる可能性</a:t>
                      </a:r>
                    </a:p>
                  </a:txBody>
                  <a:tcPr anchor="ctr"/>
                </a:tc>
                <a:tc>
                  <a:txBody>
                    <a:bodyPr/>
                    <a:lstStyle/>
                    <a:p>
                      <a:r>
                        <a:rPr lang="ja-JP" altLang="en-US" sz="1400">
                          <a:solidFill>
                            <a:srgbClr val="2B2B2B"/>
                          </a:solidFill>
                          <a:latin typeface="BIZ UDPGothic"/>
                          <a:ea typeface="BIZ UDPGothic"/>
                        </a:rPr>
                        <a:t>カラム説明に基づく定義を明記し、利用方針を文書化</a:t>
                      </a:r>
                    </a:p>
                  </a:txBody>
                  <a:tcPr anchor="ctr"/>
                </a:tc>
                <a:extLst>
                  <a:ext uri="{0D108BD9-81ED-4DB2-BD59-A6C34878D82A}">
                    <a16:rowId xmlns:a16="http://schemas.microsoft.com/office/drawing/2014/main" val="2528096181"/>
                  </a:ext>
                </a:extLst>
              </a:tr>
              <a:tr h="571500">
                <a:tc>
                  <a:txBody>
                    <a:bodyPr/>
                    <a:lstStyle/>
                    <a:p>
                      <a:r>
                        <a:rPr lang="ja-JP" altLang="en-US" sz="1400" b="1">
                          <a:solidFill>
                            <a:srgbClr val="2B2B2B"/>
                          </a:solidFill>
                          <a:latin typeface="BIZ UDPGothic"/>
                          <a:ea typeface="BIZ UDPGothic"/>
                        </a:rPr>
                        <a:t>文書間の
前提不一致</a:t>
                      </a:r>
                    </a:p>
                  </a:txBody>
                  <a:tcPr anchor="ctr">
                    <a:solidFill>
                      <a:srgbClr val="F5F5F3"/>
                    </a:solidFill>
                  </a:tcPr>
                </a:tc>
                <a:tc>
                  <a:txBody>
                    <a:bodyPr/>
                    <a:lstStyle/>
                    <a:p>
                      <a:r>
                        <a:rPr lang="ja-JP" altLang="en-US" sz="1400">
                          <a:solidFill>
                            <a:srgbClr val="2B2B2B"/>
                          </a:solidFill>
                          <a:latin typeface="BIZ UDPGothic"/>
                          <a:ea typeface="BIZ UDPGothic"/>
                        </a:rPr>
                        <a:t>提案書、中間報告、最終報告で記載揺れが発生する可能性</a:t>
                      </a:r>
                    </a:p>
                  </a:txBody>
                  <a:tcPr anchor="ctr">
                    <a:solidFill>
                      <a:srgbClr val="F5F5F3"/>
                    </a:solidFill>
                  </a:tcPr>
                </a:tc>
                <a:tc>
                  <a:txBody>
                    <a:bodyPr/>
                    <a:lstStyle/>
                    <a:p>
                      <a:r>
                        <a:rPr lang="ja-JP" altLang="en-US" sz="1400">
                          <a:solidFill>
                            <a:srgbClr val="2B2B2B"/>
                          </a:solidFill>
                          <a:latin typeface="BIZ UDPGothic"/>
                          <a:ea typeface="BIZ UDPGothic"/>
                        </a:rPr>
                        <a:t>本書を正本とし、目的変数・対象データ・役割・納品物を統一管理</a:t>
                      </a:r>
                    </a:p>
                  </a:txBody>
                  <a:tcPr anchor="ctr">
                    <a:solidFill>
                      <a:srgbClr val="F5F5F3"/>
                    </a:solidFill>
                  </a:tcPr>
                </a:tc>
                <a:extLst>
                  <a:ext uri="{0D108BD9-81ED-4DB2-BD59-A6C34878D82A}">
                    <a16:rowId xmlns:a16="http://schemas.microsoft.com/office/drawing/2014/main" val="478086189"/>
                  </a:ext>
                </a:extLst>
              </a:tr>
            </a:tbl>
          </a:graphicData>
        </a:graphic>
      </p:graphicFrame>
    </p:spTree>
    <p:extLst>
      <p:ext uri="{BB962C8B-B14F-4D97-AF65-F5344CB8AC3E}">
        <p14:creationId xmlns:p14="http://schemas.microsoft.com/office/powerpoint/2010/main" val="3825350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5B4B1A-BBC3-31E9-6083-C29CA745A8A4}"/>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10. 前提条件と除外事項</a:t>
            </a:r>
          </a:p>
        </p:txBody>
      </p:sp>
      <p:sp>
        <p:nvSpPr>
          <p:cNvPr id="10" name="PreHead"/>
          <p:cNvSpPr/>
          <p:nvPr/>
        </p:nvSpPr>
        <p:spPr>
          <a:xfrm>
            <a:off x="457200" y="1803400"/>
            <a:ext cx="5334000" cy="380000"/>
          </a:xfrm>
          <a:prstGeom prst="roundRect">
            <a:avLst>
              <a:gd name="adj" fmla="val 16667"/>
            </a:avLst>
          </a:prstGeom>
          <a:solidFill>
            <a:srgbClr val="A63D2F"/>
          </a:solidFill>
          <a:ln w="0">
            <a:noFill/>
          </a:ln>
        </p:spPr>
        <p:txBody>
          <a:bodyPr lIns="108000" tIns="36000" rIns="108000" bIns="36000" anchor="ctr"/>
          <a:lstStyle/>
          <a:p>
            <a:pPr algn="l"/>
            <a:r>
              <a:rPr lang="ja-JP" sz="1400" b="1" dirty="0">
                <a:solidFill>
                  <a:srgbClr val="FFFFFF"/>
                </a:solidFill>
                <a:latin typeface="BIZ UDPGothic"/>
                <a:ea typeface="BIZ UDPGothic"/>
              </a:rPr>
              <a:t>前提条件</a:t>
            </a:r>
          </a:p>
        </p:txBody>
      </p:sp>
      <p:sp>
        <p:nvSpPr>
          <p:cNvPr id="11" name="PreContent"/>
          <p:cNvSpPr/>
          <p:nvPr/>
        </p:nvSpPr>
        <p:spPr>
          <a:xfrm>
            <a:off x="457200" y="2222500"/>
            <a:ext cx="5334000" cy="2540000"/>
          </a:xfrm>
          <a:prstGeom prst="rect">
            <a:avLst/>
          </a:prstGeom>
          <a:solidFill>
            <a:srgbClr val="F5F5F3"/>
          </a:solidFill>
          <a:ln w="0">
            <a:noFill/>
          </a:ln>
        </p:spPr>
        <p:txBody>
          <a:bodyPr lIns="108000" tIns="72000" rIns="108000" bIns="72000" anchor="t"/>
          <a:lstStyle/>
          <a:p>
            <a:pPr marL="180000" indent="-180000" algn="l">
              <a:spcAft>
                <a:spcPts val="100"/>
              </a:spcAft>
              <a:buFont typeface="BIZ UDPGothic"/>
              <a:buAutoNum type="arabicPeriod"/>
            </a:pPr>
            <a:r>
              <a:rPr lang="ja-JP" sz="1000" dirty="0">
                <a:solidFill>
                  <a:srgbClr val="2B2B2B"/>
                </a:solidFill>
                <a:latin typeface="BIZ UDPGothic"/>
                <a:ea typeface="BIZ UDPGothic"/>
              </a:rPr>
              <a:t>data\train.csv を唯一の分析対象データとして利用</a:t>
            </a:r>
          </a:p>
          <a:p>
            <a:pPr marL="180000" indent="-180000" algn="l">
              <a:spcAft>
                <a:spcPts val="100"/>
              </a:spcAft>
              <a:buFont typeface="BIZ UDPGothic"/>
              <a:buAutoNum type="arabicPeriod"/>
            </a:pPr>
            <a:r>
              <a:rPr lang="ja-JP" sz="1000" dirty="0">
                <a:solidFill>
                  <a:srgbClr val="2B2B2B"/>
                </a:solidFill>
                <a:latin typeface="BIZ UDPGothic"/>
                <a:ea typeface="BIZ UDPGothic"/>
              </a:rPr>
              <a:t>SALE PRICE を目的変数として利用可能な前提</a:t>
            </a:r>
          </a:p>
          <a:p>
            <a:pPr marL="180000" indent="-180000" algn="l">
              <a:spcAft>
                <a:spcPts val="100"/>
              </a:spcAft>
              <a:buFont typeface="BIZ UDPGothic"/>
              <a:buAutoNum type="arabicPeriod"/>
            </a:pPr>
            <a:r>
              <a:rPr lang="ja-JP" sz="1000" dirty="0">
                <a:solidFill>
                  <a:srgbClr val="2B2B2B"/>
                </a:solidFill>
                <a:latin typeface="BIZ UDPGothic"/>
                <a:ea typeface="BIZ UDPGothic"/>
              </a:rPr>
              <a:t>id は一意識別子として扱う</a:t>
            </a:r>
          </a:p>
          <a:p>
            <a:pPr marL="180000" indent="-180000" algn="l">
              <a:spcAft>
                <a:spcPts val="100"/>
              </a:spcAft>
              <a:buFont typeface="BIZ UDPGothic"/>
              <a:buAutoNum type="arabicPeriod"/>
            </a:pPr>
            <a:r>
              <a:rPr lang="ja-JP" sz="1000" dirty="0">
                <a:solidFill>
                  <a:srgbClr val="2B2B2B"/>
                </a:solidFill>
                <a:latin typeface="BIZ UDPGothic"/>
                <a:ea typeface="BIZ UDPGothic"/>
              </a:rPr>
              <a:t>BOROUGH・BLOCK・LOT の組合せ（BBL）を物件識別キーとする</a:t>
            </a:r>
          </a:p>
          <a:p>
            <a:pPr marL="180000" indent="-180000" algn="l">
              <a:spcAft>
                <a:spcPts val="100"/>
              </a:spcAft>
              <a:buFont typeface="BIZ UDPGothic"/>
              <a:buAutoNum type="arabicPeriod"/>
            </a:pPr>
            <a:r>
              <a:rPr lang="ja-JP" sz="1000" dirty="0">
                <a:solidFill>
                  <a:srgbClr val="2B2B2B"/>
                </a:solidFill>
                <a:latin typeface="BIZ UDPGothic"/>
                <a:ea typeface="BIZ UDPGothic"/>
              </a:rPr>
              <a:t>LAND SQUARE FEET と GROSS SQUARE FEET は欠損とゼロ値を区別</a:t>
            </a:r>
          </a:p>
          <a:p>
            <a:pPr marL="180000" indent="-180000" algn="l">
              <a:spcAft>
                <a:spcPts val="100"/>
              </a:spcAft>
              <a:buFont typeface="BIZ UDPGothic"/>
              <a:buAutoNum type="arabicPeriod"/>
            </a:pPr>
            <a:r>
              <a:rPr lang="ja-JP" sz="1000" dirty="0">
                <a:solidFill>
                  <a:srgbClr val="2B2B2B"/>
                </a:solidFill>
                <a:latin typeface="BIZ UDPGothic"/>
                <a:ea typeface="BIZ UDPGothic"/>
              </a:rPr>
              <a:t>鑑定評価上の仮定とデータ事実は明確に分離して記載</a:t>
            </a:r>
          </a:p>
          <a:p>
            <a:pPr marL="180000" indent="-180000" algn="l">
              <a:spcAft>
                <a:spcPts val="100"/>
              </a:spcAft>
              <a:buFont typeface="BIZ UDPGothic"/>
              <a:buAutoNum type="arabicPeriod"/>
            </a:pPr>
            <a:r>
              <a:rPr lang="ja-JP" sz="1000" dirty="0">
                <a:solidFill>
                  <a:srgbClr val="2B2B2B"/>
                </a:solidFill>
                <a:latin typeface="BIZ UDPGothic"/>
                <a:ea typeface="BIZ UDPGothic"/>
              </a:rPr>
              <a:t>市場データ追加利用時は出所と基準日を明記</a:t>
            </a:r>
          </a:p>
        </p:txBody>
      </p:sp>
      <p:sp>
        <p:nvSpPr>
          <p:cNvPr id="12" name="ExHead"/>
          <p:cNvSpPr/>
          <p:nvPr/>
        </p:nvSpPr>
        <p:spPr>
          <a:xfrm>
            <a:off x="6096000" y="1803400"/>
            <a:ext cx="5334000" cy="380000"/>
          </a:xfrm>
          <a:prstGeom prst="roundRect">
            <a:avLst>
              <a:gd name="adj" fmla="val 16667"/>
            </a:avLst>
          </a:prstGeom>
          <a:solidFill>
            <a:srgbClr val="6B6B6B"/>
          </a:solidFill>
          <a:ln w="0">
            <a:noFill/>
          </a:ln>
        </p:spPr>
        <p:txBody>
          <a:bodyPr lIns="108000" tIns="36000" rIns="108000" bIns="36000" anchor="ctr"/>
          <a:lstStyle/>
          <a:p>
            <a:pPr algn="l"/>
            <a:r>
              <a:rPr lang="ja-JP" sz="1400" b="1" dirty="0">
                <a:solidFill>
                  <a:srgbClr val="FFFFFF"/>
                </a:solidFill>
                <a:latin typeface="BIZ UDPGothic"/>
                <a:ea typeface="BIZ UDPGothic"/>
              </a:rPr>
              <a:t>除外事項</a:t>
            </a:r>
          </a:p>
        </p:txBody>
      </p:sp>
      <p:sp>
        <p:nvSpPr>
          <p:cNvPr id="13" name="ExContent"/>
          <p:cNvSpPr/>
          <p:nvPr/>
        </p:nvSpPr>
        <p:spPr>
          <a:xfrm>
            <a:off x="6096000" y="2222500"/>
            <a:ext cx="5334000" cy="2540000"/>
          </a:xfrm>
          <a:prstGeom prst="rect">
            <a:avLst/>
          </a:prstGeom>
          <a:solidFill>
            <a:srgbClr val="F5F5F3"/>
          </a:solidFill>
          <a:ln w="0">
            <a:noFill/>
          </a:ln>
        </p:spPr>
        <p:txBody>
          <a:bodyPr lIns="108000" tIns="72000" rIns="108000" bIns="72000" anchor="t"/>
          <a:lstStyle/>
          <a:p>
            <a:pPr marL="180000" indent="-180000" algn="l">
              <a:spcAft>
                <a:spcPts val="150"/>
              </a:spcAft>
              <a:buFont typeface="BIZ UDPGothic"/>
              <a:buAutoNum type="arabicPeriod"/>
            </a:pPr>
            <a:r>
              <a:rPr lang="ja-JP" sz="1050" dirty="0">
                <a:solidFill>
                  <a:srgbClr val="2B2B2B"/>
                </a:solidFill>
                <a:latin typeface="BIZ UDPGothic"/>
                <a:ea typeface="BIZ UDPGothic"/>
              </a:rPr>
              <a:t>本番システム化、継続運用設計、外部データ恒常連携</a:t>
            </a:r>
          </a:p>
          <a:p>
            <a:pPr marL="180000" indent="-180000" algn="l">
              <a:spcAft>
                <a:spcPts val="150"/>
              </a:spcAft>
              <a:buFont typeface="BIZ UDPGothic"/>
              <a:buAutoNum type="arabicPeriod"/>
            </a:pPr>
            <a:r>
              <a:rPr lang="ja-JP" sz="1050" dirty="0">
                <a:solidFill>
                  <a:srgbClr val="2B2B2B"/>
                </a:solidFill>
                <a:latin typeface="BIZ UDPGothic"/>
                <a:ea typeface="BIZ UDPGothic"/>
              </a:rPr>
              <a:t>契約データ、テナントデータ等の機微情報の統合分析</a:t>
            </a:r>
          </a:p>
          <a:p>
            <a:pPr marL="180000" indent="-180000" algn="l">
              <a:spcAft>
                <a:spcPts val="150"/>
              </a:spcAft>
              <a:buFont typeface="BIZ UDPGothic"/>
              <a:buAutoNum type="arabicPeriod"/>
            </a:pPr>
            <a:r>
              <a:rPr lang="ja-JP" sz="1050" dirty="0">
                <a:solidFill>
                  <a:srgbClr val="2B2B2B"/>
                </a:solidFill>
                <a:latin typeface="BIZ UDPGothic"/>
                <a:ea typeface="BIZ UDPGothic"/>
              </a:rPr>
              <a:t>個別案件に対する鑑定、査定、投資意思決定代行</a:t>
            </a:r>
          </a:p>
          <a:p>
            <a:pPr marL="180000" indent="-180000" algn="l">
              <a:spcAft>
                <a:spcPts val="150"/>
              </a:spcAft>
              <a:buFont typeface="BIZ UDPGothic"/>
              <a:buAutoNum type="arabicPeriod"/>
            </a:pPr>
            <a:r>
              <a:rPr lang="ja-JP" sz="1050" dirty="0">
                <a:solidFill>
                  <a:srgbClr val="2B2B2B"/>
                </a:solidFill>
                <a:latin typeface="BIZ UDPGothic"/>
                <a:ea typeface="BIZ UDPGothic"/>
              </a:rPr>
              <a:t>元データに存在しない賃料、NOI、稼働率等の指標算出</a:t>
            </a:r>
          </a:p>
        </p:txBody>
      </p:sp>
      <p:sp>
        <p:nvSpPr>
          <p:cNvPr id="14" name="ChangePolicy"/>
          <p:cNvSpPr/>
          <p:nvPr/>
        </p:nvSpPr>
        <p:spPr>
          <a:xfrm>
            <a:off x="457200" y="5080000"/>
            <a:ext cx="10972800" cy="600000"/>
          </a:xfrm>
          <a:prstGeom prst="roundRect">
            <a:avLst>
              <a:gd name="adj" fmla="val 8000"/>
            </a:avLst>
          </a:prstGeom>
          <a:solidFill>
            <a:srgbClr val="2B2B2B"/>
          </a:solidFill>
          <a:ln w="0">
            <a:noFill/>
          </a:ln>
        </p:spPr>
        <p:txBody>
          <a:bodyPr lIns="144000" tIns="54000" rIns="144000" bIns="54000" anchor="ctr"/>
          <a:lstStyle/>
          <a:p>
            <a:pPr algn="l">
              <a:spcAft>
                <a:spcPts val="200"/>
              </a:spcAft>
            </a:pPr>
            <a:r>
              <a:rPr lang="ja-JP" sz="1400" b="1" dirty="0">
                <a:solidFill>
                  <a:srgbClr val="A63D2F"/>
                </a:solidFill>
                <a:latin typeface="BIZ UDPGothic"/>
                <a:ea typeface="BIZ UDPGothic"/>
              </a:rPr>
              <a:t>変更管理方針</a:t>
            </a:r>
          </a:p>
          <a:p>
            <a:pPr algn="l"/>
            <a:r>
              <a:rPr lang="ja-JP" sz="1100" dirty="0">
                <a:solidFill>
                  <a:srgbClr val="FFFFFF"/>
                </a:solidFill>
                <a:latin typeface="BIZ UDPGothic"/>
                <a:ea typeface="BIZ UDPGothic"/>
              </a:rPr>
              <a:t>追加対応は時間単価ベースで別途見積または追加発注として扱う。対象範囲の追加、分析論点の拡張、追加成果物作成等は別途協議のうえ対応する</a:t>
            </a:r>
          </a:p>
        </p:txBody>
      </p:sp>
    </p:spTree>
    <p:extLst>
      <p:ext uri="{BB962C8B-B14F-4D97-AF65-F5344CB8AC3E}">
        <p14:creationId xmlns:p14="http://schemas.microsoft.com/office/powerpoint/2010/main" val="1072326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3888DA-3F3E-BAFD-86E7-C75C61A892B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11. 次アクション</a:t>
            </a:r>
          </a:p>
        </p:txBody>
      </p:sp>
      <p:sp>
        <p:nvSpPr>
          <p:cNvPr id="20" name="Num0"/>
          <p:cNvSpPr/>
          <p:nvPr/>
        </p:nvSpPr>
        <p:spPr>
          <a:xfrm>
            <a:off x="457200" y="1841500"/>
            <a:ext cx="609600" cy="609600"/>
          </a:xfrm>
          <a:prstGeom prst="ellipse">
            <a:avLst/>
          </a:prstGeom>
          <a:solidFill>
            <a:srgbClr val="A63D2F"/>
          </a:solidFill>
          <a:ln w="0">
            <a:noFill/>
          </a:ln>
        </p:spPr>
        <p:txBody>
          <a:bodyPr lIns="0" tIns="0" rIns="0" bIns="0" anchor="ctr"/>
          <a:lstStyle/>
          <a:p>
            <a:pPr algn="ctr"/>
            <a:r>
              <a:rPr lang="en-US" sz="2000" b="1" dirty="0">
                <a:solidFill>
                  <a:srgbClr val="FFFFFF"/>
                </a:solidFill>
                <a:latin typeface="BIZ UDPGothic"/>
                <a:ea typeface="BIZ UDPGothic"/>
              </a:rPr>
              <a:t>1</a:t>
            </a:r>
          </a:p>
        </p:txBody>
      </p:sp>
      <p:sp>
        <p:nvSpPr>
          <p:cNvPr id="21" name="Act0"/>
          <p:cNvSpPr/>
          <p:nvPr/>
        </p:nvSpPr>
        <p:spPr>
          <a:xfrm>
            <a:off x="1219200" y="1841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本提案内容のご確認および契約条件の承認</a:t>
            </a:r>
          </a:p>
        </p:txBody>
      </p:sp>
      <p:sp>
        <p:nvSpPr>
          <p:cNvPr id="22" name="Num1"/>
          <p:cNvSpPr/>
          <p:nvPr/>
        </p:nvSpPr>
        <p:spPr>
          <a:xfrm>
            <a:off x="457200" y="2603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2</a:t>
            </a:r>
          </a:p>
        </p:txBody>
      </p:sp>
      <p:sp>
        <p:nvSpPr>
          <p:cNvPr id="23" name="Act1"/>
          <p:cNvSpPr/>
          <p:nvPr/>
        </p:nvSpPr>
        <p:spPr>
          <a:xfrm>
            <a:off x="1219200" y="2603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キックオフ実施日程の確定</a:t>
            </a:r>
          </a:p>
        </p:txBody>
      </p:sp>
      <p:sp>
        <p:nvSpPr>
          <p:cNvPr id="24" name="Num2"/>
          <p:cNvSpPr/>
          <p:nvPr/>
        </p:nvSpPr>
        <p:spPr>
          <a:xfrm>
            <a:off x="457200" y="3365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3</a:t>
            </a:r>
          </a:p>
        </p:txBody>
      </p:sp>
      <p:sp>
        <p:nvSpPr>
          <p:cNvPr id="25" name="Act2"/>
          <p:cNvSpPr/>
          <p:nvPr/>
        </p:nvSpPr>
        <p:spPr>
          <a:xfrm>
            <a:off x="1219200" y="3365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data\train.csv および関連カラム説明資料の正式受領確認</a:t>
            </a:r>
          </a:p>
        </p:txBody>
      </p:sp>
      <p:sp>
        <p:nvSpPr>
          <p:cNvPr id="26" name="Num3"/>
          <p:cNvSpPr/>
          <p:nvPr/>
        </p:nvSpPr>
        <p:spPr>
          <a:xfrm>
            <a:off x="457200" y="4127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4</a:t>
            </a:r>
          </a:p>
        </p:txBody>
      </p:sp>
      <p:sp>
        <p:nvSpPr>
          <p:cNvPr id="27" name="Act3"/>
          <p:cNvSpPr/>
          <p:nvPr/>
        </p:nvSpPr>
        <p:spPr>
          <a:xfrm>
            <a:off x="1219200" y="4127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定例会議体および報告会日程の確定</a:t>
            </a:r>
          </a:p>
        </p:txBody>
      </p:sp>
      <p:sp>
        <p:nvSpPr>
          <p:cNvPr id="28" name="Num4"/>
          <p:cNvSpPr/>
          <p:nvPr/>
        </p:nvSpPr>
        <p:spPr>
          <a:xfrm>
            <a:off x="457200" y="4889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5</a:t>
            </a:r>
          </a:p>
        </p:txBody>
      </p:sp>
      <p:sp>
        <p:nvSpPr>
          <p:cNvPr id="29" name="Act4"/>
          <p:cNvSpPr/>
          <p:nvPr/>
        </p:nvSpPr>
        <p:spPr>
          <a:xfrm>
            <a:off x="1219200" y="4889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契約開始日 2025-08-06 に向けた着手準備の実施</a:t>
            </a:r>
          </a:p>
        </p:txBody>
      </p:sp>
      <p:sp>
        <p:nvSpPr>
          <p:cNvPr id="40" name="Closing"/>
          <p:cNvSpPr/>
          <p:nvPr/>
        </p:nvSpPr>
        <p:spPr>
          <a:xfrm>
            <a:off x="457200" y="5715000"/>
            <a:ext cx="10972800" cy="500000"/>
          </a:xfrm>
          <a:prstGeom prst="roundRect">
            <a:avLst>
              <a:gd name="adj" fmla="val 10000"/>
            </a:avLst>
          </a:prstGeom>
          <a:solidFill>
            <a:srgbClr val="2B2B2B"/>
          </a:solidFill>
          <a:ln w="0">
            <a:noFill/>
          </a:ln>
        </p:spPr>
        <p:txBody>
          <a:bodyPr lIns="144000" tIns="36000" rIns="144000" bIns="36000" anchor="ctr"/>
          <a:lstStyle/>
          <a:p>
            <a:pPr algn="ctr"/>
            <a:r>
              <a:rPr lang="ja-JP" sz="1200" dirty="0">
                <a:solidFill>
                  <a:srgbClr val="FFFFFF"/>
                </a:solidFill>
                <a:latin typeface="BIZ UDPGothic"/>
                <a:ea typeface="BIZ UDPGothic"/>
              </a:rPr>
              <a:t>株式会社データアステルは、青嶺不動産アセットマネジメント様に対し、6週間で再現可能かつ実務活用に資する初期分析成果を提供する</a:t>
            </a:r>
          </a:p>
        </p:txBody>
      </p:sp>
    </p:spTree>
    <p:extLst>
      <p:ext uri="{BB962C8B-B14F-4D97-AF65-F5344CB8AC3E}">
        <p14:creationId xmlns:p14="http://schemas.microsoft.com/office/powerpoint/2010/main" val="3995921887"/>
      </p:ext>
    </p:extLst>
  </p:cSld>
  <p:clrMapOvr>
    <a:masterClrMapping/>
  </p:clrMapOvr>
</p:sld>
</file>

<file path=ppt/theme/theme1.xml><?xml version="1.0" encoding="utf-8"?>
<a:theme xmlns:a="http://schemas.openxmlformats.org/drawingml/2006/main" name="Office テーマ [1774879839740]">
  <a:themeElements>
    <a:clrScheme name="MonoRed">
      <a:dk1>
        <a:srgbClr val="2B2B2B"/>
      </a:dk1>
      <a:lt1>
        <a:srgbClr val="FFFFFF"/>
      </a:lt1>
      <a:dk2>
        <a:srgbClr val="4A4A4A"/>
      </a:dk2>
      <a:lt2>
        <a:srgbClr val="F5F5F3"/>
      </a:lt2>
      <a:accent1>
        <a:srgbClr val="A63D2F"/>
      </a:accent1>
      <a:accent2>
        <a:srgbClr val="6B6B6B"/>
      </a:accent2>
      <a:accent3>
        <a:srgbClr val="D4C5B0"/>
      </a:accent3>
      <a:accent4>
        <a:srgbClr val="3D3D3D"/>
      </a:accent4>
      <a:accent5>
        <a:srgbClr val="8B7355"/>
      </a:accent5>
      <a:accent6>
        <a:srgbClr val="C44E3D"/>
      </a:accent6>
      <a:hlink>
        <a:srgbClr val="467886"/>
      </a:hlink>
      <a:folHlink>
        <a:srgbClr val="96607D"/>
      </a:folHlink>
    </a:clrScheme>
    <a:fontScheme name="BIZ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5BCB07-AF98-4E3B-B6ED-6B6CB267C15A}">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98</TotalTime>
  <Words>1857</Words>
  <Application>Microsoft Office PowerPoint</Application>
  <PresentationFormat>ワイド画面</PresentationFormat>
  <Paragraphs>247</Paragraphs>
  <Slides>15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BIZ UDPGothic</vt:lpstr>
      <vt:lpstr>Arial</vt:lpstr>
      <vt:lpstr>Office テーマ [1774879839740]</vt:lpstr>
      <vt:lpstr>データ分析プロジェクト提案書</vt:lpstr>
      <vt:lpstr>1. 背景</vt:lpstr>
      <vt:lpstr>2. 目的</vt:lpstr>
      <vt:lpstr>3. スコープ</vt:lpstr>
      <vt:lpstr>4. 分析アプローチ ― 全体フロー</vt:lpstr>
      <vt:lpstr>4. 分析アプローチ ― データ理解・前処理</vt:lpstr>
      <vt:lpstr>4. 分析アプローチ ― 探索・モデリング・解釈</vt:lpstr>
      <vt:lpstr>5. 実施体制</vt:lpstr>
      <vt:lpstr>5. 会議運営</vt:lpstr>
      <vt:lpstr>6. スケジュール案</vt:lpstr>
      <vt:lpstr>7. 成果物定義</vt:lpstr>
      <vt:lpstr>8. 費用見積</vt:lpstr>
      <vt:lpstr>9. リスクと対応策</vt:lpstr>
      <vt:lpstr>10. 前提条件と除外事項</vt:lpstr>
      <vt:lpstr>11. 次アクション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3</cp:revision>
  <dcterms:created xsi:type="dcterms:W3CDTF">2026-03-30T14:08:56Z</dcterms:created>
  <dcterms:modified xsi:type="dcterms:W3CDTF">2026-06-08T10:15:27Z</dcterms:modified>
</cp:coreProperties>
</file>