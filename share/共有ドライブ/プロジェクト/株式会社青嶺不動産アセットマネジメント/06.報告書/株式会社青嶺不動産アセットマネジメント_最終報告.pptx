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62" r:id="rId4"/>
    <p:sldId id="264" r:id="rId5"/>
    <p:sldId id="266" r:id="rId6"/>
    <p:sldId id="268" r:id="rId7"/>
    <p:sldId id="270" r:id="rId8"/>
    <p:sldId id="272" r:id="rId9"/>
    <p:sldId id="274" r:id="rId10"/>
    <p:sldId id="276" r:id="rId11"/>
    <p:sldId id="278" r:id="rId12"/>
    <p:sldId id="280" r:id="rId13"/>
    <p:sldId id="282" r:id="rId14"/>
    <p:sldId id="284" r:id="rId15"/>
    <p:sldId id="286" r:id="rId16"/>
    <p:sldId id="288" r:id="rId17"/>
    <p:sldId id="290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BDDDA-7619-8DE2-4DE8-C87EA87DD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BDBB2A-0651-0BC8-D27D-52FFDEF8E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66C5E1-8328-96E4-A869-4BBE5D0A5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2053-81C5-415E-9CEB-DBA144E02573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8C1A85-7255-601A-3998-375DD7DAD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E91B2C-C94D-4C32-52BF-E6FEDABB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1D05D-8363-463A-B330-B3783C54A9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952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8D8C8-340A-3180-82D7-852020DE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C8C4B4-8EA8-D58D-EFC5-622687ECF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B86D09-5A0D-868C-FCAE-B497EF35F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2053-81C5-415E-9CEB-DBA144E02573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BA8BBC-6888-132D-682D-EB1C7FF7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B3A8CE-F9B5-1E44-5691-B2215CA16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1D05D-8363-463A-B330-B3783C54A9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74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EC9E00-0EBF-A06E-A2FB-A99E682AB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BFA9C6-42C1-F248-4378-71FCC9A3B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11936A-2906-9837-66F9-7D98B1B7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2053-81C5-415E-9CEB-DBA144E02573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3F1B72-5FC5-F719-4E3F-72A3689ED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EAA296-BE63-161D-A03B-A238805E0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1D05D-8363-463A-B330-B3783C54A9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9192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0110CB-3872-0292-E6F5-F6E33207B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50AC95-F2D3-AEA8-774B-945C7F01C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3E6E3EA-3E3B-C575-D4DC-0F821ACAF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AFAFD9-B2BD-04F5-51E5-DF37FF67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2053-81C5-415E-9CEB-DBA144E02573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49E76D-29D1-842E-12EA-7F13BF81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81DCC3-AEEB-D0A3-7393-A77EF5F0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1D05D-8363-463A-B330-B3783C54A9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291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1821D4-8AD0-5631-AB25-031ED78F1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E0E71A-6D5B-CB51-A206-8414761B1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C00457-FF46-2214-B86C-AA63DD9B0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132FFFE-F012-A43A-D049-4403C39AC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0E207DB-BEEC-69AB-52E0-4EF38EC8F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C8186F9-0169-EBEB-BE98-9578D5251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2053-81C5-415E-9CEB-DBA144E02573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F333560-EEED-5305-1AA9-62484C945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89C8582-19CC-EE61-C7E6-B0325F5F8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1D05D-8363-463A-B330-B3783C54A9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37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80C0CE-49B9-D7BB-C371-C53748D2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25D634A-2E49-FD74-8AA5-0B50B728F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2053-81C5-415E-9CEB-DBA144E02573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818D9A7-54BC-0FAA-BCC1-1232054C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1A0AC2-F99B-7EFB-8C08-D38F93005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1D05D-8363-463A-B330-B3783C54A9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6904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03BB370-CEC1-D281-5DD5-39B0DEE5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2053-81C5-415E-9CEB-DBA144E02573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1407EA-6486-E0B7-1EEE-57319CD8F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334C2E-F6FC-E1B6-F238-AE63B3338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1D05D-8363-463A-B330-B3783C54A9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22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567579-43F0-5766-4959-69E60B919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68ECBD-7F01-8342-2207-CCB0A7076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541DE4-2D1A-63A2-B283-59C27C8E2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264020-05A2-1204-AEB7-B17D7388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2053-81C5-415E-9CEB-DBA144E02573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2B4128-609B-67D7-2AB7-EFE7F8C9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733253-787E-A8A8-326A-16EF517D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1D05D-8363-463A-B330-B3783C54A9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695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52B023-B43A-5705-64C9-D390D678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9BB935F-A994-6B09-70A1-61EBD26913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9B9CA2B-9C18-0151-38DD-0BE7825A0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9FEEC2-BB87-987D-A3FA-8CC5987B6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2053-81C5-415E-9CEB-DBA144E02573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173D34D-CC3A-756A-78D9-51B8A7EC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4756E8-6299-B955-5FCB-C9DAF55AA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1D05D-8363-463A-B330-B3783C54A9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716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58D9A9-A118-028F-BDAA-00D08B15B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B9BC279-4A7F-05CF-2230-9765720F1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DC7F31-8D16-F079-1375-F4EE20C1B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2053-81C5-415E-9CEB-DBA144E02573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E01028-642C-ACDE-A9CD-4FA63E01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9E4EDE-3202-5CCD-7191-6878F3FDE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1D05D-8363-463A-B330-B3783C54A9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022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A4B44A1-EC9A-DE1E-90A5-49EC5C69D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8D525D-3661-EE1A-A2F7-D608FBD8B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4FB3E8-1613-6CCF-85D2-6759AE3FC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2053-81C5-415E-9CEB-DBA144E02573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C324DF-4117-4278-3AC6-10B8D2E27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FF99BE-D869-B063-3721-9DEA7B80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1D05D-8363-463A-B330-B3783C54A9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6556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BFE00D-8885-A45C-712C-C1FECBDF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6D898F-0A10-F3EB-6816-981703255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5BC94A-ACA1-7344-8F11-C88E70D3A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9A2053-81C5-415E-9CEB-DBA144E02573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B5DE71-500D-3C96-DD78-9583C48A1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D7BDEC-4B76-FF07-870C-423C440A4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1D05D-8363-463A-B330-B3783C54A9F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00" name="BottomBar"/>
          <p:cNvSpPr/>
          <p:nvPr userDrawn="1"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901" name="LeftAccent"/>
          <p:cNvSpPr/>
          <p:nvPr userDrawn="1"/>
        </p:nvSpPr>
        <p:spPr>
          <a:xfrm>
            <a:off x="0" y="0"/>
            <a:ext cx="91440" cy="6583680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994553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rgbClr val="1A1A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3D3D3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rgbClr val="3D3D3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rgbClr val="3D3D3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200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" name="RedLine"/>
          <p:cNvSpPr/>
          <p:nvPr/>
        </p:nvSpPr>
        <p:spPr>
          <a:xfrm>
            <a:off x="0" y="3200400"/>
            <a:ext cx="12192000" cy="54864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2" name="Title"/>
          <p:cNvSpPr txBox="1"/>
          <p:nvPr/>
        </p:nvSpPr>
        <p:spPr>
          <a:xfrm>
            <a:off x="914400" y="6858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ja-JP" sz="3200" b="1" dirty="0">
                <a:solidFill>
                  <a:srgbClr val="FFFFFF"/>
                </a:solidFill>
                <a:latin typeface="BIZ UDPGothic"/>
                <a:ea typeface="BIZ UDPGothic"/>
              </a:rPr>
              <a:t>最終分析報告書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914400" y="20574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ja-JP" sz="1800" dirty="0">
                <a:solidFill>
                  <a:srgbClr val="CCCCCC"/>
                </a:solidFill>
                <a:latin typeface="BIZ UDPGothic"/>
                <a:ea typeface="BIZ UDPGothic"/>
              </a:rPr>
              <a:t>NYC不動産売買トランザクション価格形成要因分析</a:t>
            </a:r>
          </a:p>
        </p:txBody>
      </p:sp>
      <p:sp>
        <p:nvSpPr>
          <p:cNvPr id="14" name="ClientInfo"/>
          <p:cNvSpPr txBox="1"/>
          <p:nvPr/>
        </p:nvSpPr>
        <p:spPr>
          <a:xfrm>
            <a:off x="914400" y="365760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ts val="2800"/>
              </a:lnSpc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クライアント：株式会社青嶺不動産アセットマネジメント</a:t>
            </a:r>
          </a:p>
          <a:p>
            <a:pPr algn="l">
              <a:lnSpc>
                <a:spcPts val="2800"/>
              </a:lnSpc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実施者：株式会社データアステル</a:t>
            </a:r>
          </a:p>
          <a:p>
            <a:pPr algn="l">
              <a:lnSpc>
                <a:spcPts val="2800"/>
              </a:lnSpc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契約期間：2025年8月6日〜2025年9月17日</a:t>
            </a:r>
          </a:p>
          <a:p>
            <a:pPr algn="l">
              <a:lnSpc>
                <a:spcPts val="2800"/>
              </a:lnSpc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課金方式：タイム・アンド・マテリアル</a:t>
            </a:r>
          </a:p>
        </p:txBody>
      </p:sp>
      <p:sp>
        <p:nvSpPr>
          <p:cNvPr id="15" name="DateBox"/>
          <p:cNvSpPr txBox="1"/>
          <p:nvPr/>
        </p:nvSpPr>
        <p:spPr>
          <a:xfrm>
            <a:off x="7315200" y="3657600"/>
            <a:ext cx="3962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ja-JP" sz="1400" dirty="0">
                <a:solidFill>
                  <a:srgbClr val="707070"/>
                </a:solidFill>
                <a:latin typeface="BIZ UDPGothic"/>
                <a:ea typeface="BIZ UDPGothic"/>
              </a:rPr>
              <a:t>CONFIDENTIAL</a:t>
            </a:r>
          </a:p>
          <a:p>
            <a:pPr algn="r">
              <a:lnSpc>
                <a:spcPts val="2400"/>
              </a:lnSpc>
              <a:buNone/>
            </a:pPr>
            <a:r>
              <a:rPr lang="ja-JP" sz="1400" dirty="0">
                <a:solidFill>
                  <a:srgbClr val="707070"/>
                </a:solidFill>
                <a:latin typeface="BIZ UDPGothic"/>
                <a:ea typeface="BIZ UDPGothic"/>
              </a:rPr>
              <a:t>最終報告会：2025年9月16日</a:t>
            </a:r>
          </a:p>
        </p:txBody>
      </p:sp>
    </p:spTree>
    <p:extLst>
      <p:ext uri="{BB962C8B-B14F-4D97-AF65-F5344CB8AC3E}">
        <p14:creationId xmlns:p14="http://schemas.microsoft.com/office/powerpoint/2010/main" val="3080646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目次</a:t>
            </a:r>
          </a:p>
        </p:txBody>
      </p:sp>
      <p:sp>
        <p:nvSpPr>
          <p:cNvPr id="11" name="RedLine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0" name="Num01"/>
          <p:cNvSpPr/>
          <p:nvPr/>
        </p:nvSpPr>
        <p:spPr>
          <a:xfrm>
            <a:off x="457200" y="1143000"/>
            <a:ext cx="365760" cy="365760"/>
          </a:xfrm>
          <a:prstGeom prst="ellipse">
            <a:avLst/>
          </a:prstGeom>
          <a:solidFill>
            <a:srgbClr val="8B2E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/>
                <a:ea typeface="BIZ UDPGothic"/>
              </a:rPr>
              <a:t>01</a:t>
            </a:r>
          </a:p>
        </p:txBody>
      </p:sp>
      <p:sp>
        <p:nvSpPr>
          <p:cNvPr id="21" name="Label01"/>
          <p:cNvSpPr txBox="1"/>
          <p:nvPr/>
        </p:nvSpPr>
        <p:spPr>
          <a:xfrm>
            <a:off x="914400" y="11430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エグゼクティブサマリ</a:t>
            </a:r>
          </a:p>
        </p:txBody>
      </p:sp>
      <p:sp>
        <p:nvSpPr>
          <p:cNvPr id="22" name="Num02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8B2E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/>
                <a:ea typeface="BIZ UDPGothic"/>
              </a:rPr>
              <a:t>02</a:t>
            </a:r>
          </a:p>
        </p:txBody>
      </p:sp>
      <p:sp>
        <p:nvSpPr>
          <p:cNvPr id="23" name="Label02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プロジェクト目的とスコープ</a:t>
            </a:r>
          </a:p>
        </p:txBody>
      </p:sp>
      <p:sp>
        <p:nvSpPr>
          <p:cNvPr id="24" name="Num03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8B2E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/>
                <a:ea typeface="BIZ UDPGothic"/>
              </a:rPr>
              <a:t>03</a:t>
            </a:r>
          </a:p>
        </p:txBody>
      </p:sp>
      <p:sp>
        <p:nvSpPr>
          <p:cNvPr id="25" name="Label03"/>
          <p:cNvSpPr txBox="1"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実施方法</a:t>
            </a:r>
          </a:p>
        </p:txBody>
      </p:sp>
      <p:sp>
        <p:nvSpPr>
          <p:cNvPr id="26" name="Num04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8B2E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/>
                <a:ea typeface="BIZ UDPGothic"/>
              </a:rPr>
              <a:t>04</a:t>
            </a:r>
          </a:p>
        </p:txBody>
      </p:sp>
      <p:sp>
        <p:nvSpPr>
          <p:cNvPr id="27" name="Label04"/>
          <p:cNvSpPr txBox="1"/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主要な分析結果と解釈</a:t>
            </a:r>
          </a:p>
        </p:txBody>
      </p:sp>
      <p:sp>
        <p:nvSpPr>
          <p:cNvPr id="28" name="Num05"/>
          <p:cNvSpPr/>
          <p:nvPr/>
        </p:nvSpPr>
        <p:spPr>
          <a:xfrm>
            <a:off x="457200" y="2788920"/>
            <a:ext cx="365760" cy="365760"/>
          </a:xfrm>
          <a:prstGeom prst="ellipse">
            <a:avLst/>
          </a:prstGeom>
          <a:solidFill>
            <a:srgbClr val="8B2E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/>
                <a:ea typeface="BIZ UDPGothic"/>
              </a:rPr>
              <a:t>05</a:t>
            </a:r>
          </a:p>
        </p:txBody>
      </p:sp>
      <p:sp>
        <p:nvSpPr>
          <p:cNvPr id="29" name="Label05"/>
          <p:cNvSpPr txBox="1"/>
          <p:nvPr/>
        </p:nvSpPr>
        <p:spPr>
          <a:xfrm>
            <a:off x="914400" y="27889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業務提言</a:t>
            </a:r>
          </a:p>
        </p:txBody>
      </p:sp>
      <p:sp>
        <p:nvSpPr>
          <p:cNvPr id="30" name="Num06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8B2E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/>
                <a:ea typeface="BIZ UDPGothic"/>
              </a:rPr>
              <a:t>06</a:t>
            </a:r>
          </a:p>
        </p:txBody>
      </p:sp>
      <p:sp>
        <p:nvSpPr>
          <p:cNvPr id="31" name="Label06"/>
          <p:cNvSpPr txBox="1"/>
          <p:nvPr/>
        </p:nvSpPr>
        <p:spPr>
          <a:xfrm>
            <a:off x="914400" y="3200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実装・運用計画</a:t>
            </a:r>
          </a:p>
        </p:txBody>
      </p:sp>
      <p:sp>
        <p:nvSpPr>
          <p:cNvPr id="32" name="Num07"/>
          <p:cNvSpPr/>
          <p:nvPr/>
        </p:nvSpPr>
        <p:spPr>
          <a:xfrm>
            <a:off x="6172200" y="1143000"/>
            <a:ext cx="365760" cy="365760"/>
          </a:xfrm>
          <a:prstGeom prst="ellipse">
            <a:avLst/>
          </a:prstGeom>
          <a:solidFill>
            <a:srgbClr val="8B2E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/>
                <a:ea typeface="BIZ UDPGothic"/>
              </a:rPr>
              <a:t>07</a:t>
            </a:r>
          </a:p>
        </p:txBody>
      </p:sp>
      <p:sp>
        <p:nvSpPr>
          <p:cNvPr id="33" name="Label07"/>
          <p:cNvSpPr txBox="1"/>
          <p:nvPr/>
        </p:nvSpPr>
        <p:spPr>
          <a:xfrm>
            <a:off x="6629400" y="11430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制約事項と残余リスク</a:t>
            </a:r>
          </a:p>
        </p:txBody>
      </p:sp>
      <p:sp>
        <p:nvSpPr>
          <p:cNvPr id="34" name="Num08"/>
          <p:cNvSpPr/>
          <p:nvPr/>
        </p:nvSpPr>
        <p:spPr>
          <a:xfrm>
            <a:off x="6172200" y="1554480"/>
            <a:ext cx="365760" cy="365760"/>
          </a:xfrm>
          <a:prstGeom prst="ellipse">
            <a:avLst/>
          </a:prstGeom>
          <a:solidFill>
            <a:srgbClr val="8B2E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/>
                <a:ea typeface="BIZ UDPGothic"/>
              </a:rPr>
              <a:t>08</a:t>
            </a:r>
          </a:p>
        </p:txBody>
      </p:sp>
      <p:sp>
        <p:nvSpPr>
          <p:cNvPr id="35" name="Label08"/>
          <p:cNvSpPr txBox="1"/>
          <p:nvPr/>
        </p:nvSpPr>
        <p:spPr>
          <a:xfrm>
            <a:off x="6629400" y="15544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今後の拡張ロードマップ</a:t>
            </a:r>
          </a:p>
        </p:txBody>
      </p:sp>
      <p:sp>
        <p:nvSpPr>
          <p:cNvPr id="36" name="Num09"/>
          <p:cNvSpPr/>
          <p:nvPr/>
        </p:nvSpPr>
        <p:spPr>
          <a:xfrm>
            <a:off x="6172200" y="1965960"/>
            <a:ext cx="365760" cy="365760"/>
          </a:xfrm>
          <a:prstGeom prst="ellipse">
            <a:avLst/>
          </a:prstGeom>
          <a:solidFill>
            <a:srgbClr val="8B2E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/>
                <a:ea typeface="BIZ UDPGothic"/>
              </a:rPr>
              <a:t>09</a:t>
            </a:r>
          </a:p>
        </p:txBody>
      </p:sp>
      <p:sp>
        <p:nvSpPr>
          <p:cNvPr id="37" name="Label09"/>
          <p:cNvSpPr txBox="1"/>
          <p:nvPr/>
        </p:nvSpPr>
        <p:spPr>
          <a:xfrm>
            <a:off x="6629400" y="1965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成果物サマリ</a:t>
            </a:r>
          </a:p>
        </p:txBody>
      </p:sp>
      <p:sp>
        <p:nvSpPr>
          <p:cNvPr id="38" name="Num10"/>
          <p:cNvSpPr/>
          <p:nvPr/>
        </p:nvSpPr>
        <p:spPr>
          <a:xfrm>
            <a:off x="6172200" y="2377440"/>
            <a:ext cx="365760" cy="365760"/>
          </a:xfrm>
          <a:prstGeom prst="ellipse">
            <a:avLst/>
          </a:prstGeom>
          <a:solidFill>
            <a:srgbClr val="8B2E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/>
                <a:ea typeface="BIZ UDPGothic"/>
              </a:rPr>
              <a:t>10</a:t>
            </a:r>
          </a:p>
        </p:txBody>
      </p:sp>
      <p:sp>
        <p:nvSpPr>
          <p:cNvPr id="39" name="Label10"/>
          <p:cNvSpPr txBox="1"/>
          <p:nvPr/>
        </p:nvSpPr>
        <p:spPr>
          <a:xfrm>
            <a:off x="6629400" y="2377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総括</a:t>
            </a:r>
          </a:p>
        </p:txBody>
      </p:sp>
      <p:sp>
        <p:nvSpPr>
          <p:cNvPr id="40" name="Num11"/>
          <p:cNvSpPr/>
          <p:nvPr/>
        </p:nvSpPr>
        <p:spPr>
          <a:xfrm>
            <a:off x="6172200" y="2788920"/>
            <a:ext cx="365760" cy="365760"/>
          </a:xfrm>
          <a:prstGeom prst="ellipse">
            <a:avLst/>
          </a:prstGeom>
          <a:solidFill>
            <a:srgbClr val="8B2E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/>
                <a:ea typeface="BIZ UDPGothic"/>
              </a:rPr>
              <a:t>11</a:t>
            </a:r>
          </a:p>
        </p:txBody>
      </p:sp>
      <p:sp>
        <p:nvSpPr>
          <p:cNvPr id="41" name="Label11"/>
          <p:cNvSpPr txBox="1"/>
          <p:nvPr/>
        </p:nvSpPr>
        <p:spPr>
          <a:xfrm>
            <a:off x="6629400" y="27889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提案・契約との差分管理</a:t>
            </a:r>
          </a:p>
        </p:txBody>
      </p:sp>
    </p:spTree>
    <p:extLst>
      <p:ext uri="{BB962C8B-B14F-4D97-AF65-F5344CB8AC3E}">
        <p14:creationId xmlns:p14="http://schemas.microsoft.com/office/powerpoint/2010/main" val="4116116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01  エグゼクティブサマリ</a:t>
            </a:r>
          </a:p>
        </p:txBody>
      </p:sp>
      <p:sp>
        <p:nvSpPr>
          <p:cNvPr id="11" name="RedLine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0" name="CardBg0"/>
          <p:cNvSpPr/>
          <p:nvPr/>
        </p:nvSpPr>
        <p:spPr>
          <a:xfrm>
            <a:off x="457200" y="114300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5F3F0"/>
          </a:solidFill>
          <a:ln w="12700">
            <a:solidFill>
              <a:srgbClr val="E0DE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" name="CardAccent0"/>
          <p:cNvSpPr/>
          <p:nvPr/>
        </p:nvSpPr>
        <p:spPr>
          <a:xfrm>
            <a:off x="640080" y="1143000"/>
            <a:ext cx="4892040" cy="45720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2" name="CardText0"/>
          <p:cNvSpPr txBox="1"/>
          <p:nvPr/>
        </p:nvSpPr>
        <p:spPr>
          <a:xfrm>
            <a:off x="640080" y="1280160"/>
            <a:ext cx="4892040" cy="1554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anchor="t"/>
          <a:lstStyle/>
          <a:p>
            <a:pPr algn="l">
              <a:spcAft>
                <a:spcPts val="600"/>
              </a:spcAft>
              <a:buNone/>
            </a:pPr>
            <a:r>
              <a:rPr lang="ja-JP" sz="1600" b="1" dirty="0">
                <a:solidFill>
                  <a:srgbClr val="8B2E1E"/>
                </a:solidFill>
                <a:latin typeface="BIZ UDPGothic"/>
                <a:ea typeface="BIZ UDPGothic"/>
              </a:rPr>
              <a:t>プロジェクト概要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NYC不動産売買トランザクション（37,751件）を用いたSALE PRICE価格形成要因の定量化と初期的な予測可能性の検証。6週間案件。</a:t>
            </a:r>
          </a:p>
        </p:txBody>
      </p:sp>
      <p:sp>
        <p:nvSpPr>
          <p:cNvPr id="23" name="CardBg1"/>
          <p:cNvSpPr/>
          <p:nvPr/>
        </p:nvSpPr>
        <p:spPr>
          <a:xfrm>
            <a:off x="5943600" y="114300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5F3F0"/>
          </a:solidFill>
          <a:ln w="12700">
            <a:solidFill>
              <a:srgbClr val="E0DE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4" name="CardAccent1"/>
          <p:cNvSpPr/>
          <p:nvPr/>
        </p:nvSpPr>
        <p:spPr>
          <a:xfrm>
            <a:off x="6126480" y="1143000"/>
            <a:ext cx="4892040" cy="4572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5" name="CardText1"/>
          <p:cNvSpPr txBox="1"/>
          <p:nvPr/>
        </p:nvSpPr>
        <p:spPr>
          <a:xfrm>
            <a:off x="6126480" y="1280160"/>
            <a:ext cx="4892040" cy="1554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anchor="t"/>
          <a:lstStyle/>
          <a:p>
            <a:pPr algn="l">
              <a:spcAft>
                <a:spcPts val="600"/>
              </a:spcAft>
              <a:buNone/>
            </a:pPr>
            <a:r>
              <a:rPr lang="ja-JP" sz="1600" b="1" dirty="0">
                <a:solidFill>
                  <a:srgbClr val="4A4A4A"/>
                </a:solidFill>
                <a:latin typeface="BIZ UDPGothic"/>
                <a:ea typeface="BIZ UDPGothic"/>
              </a:rPr>
              <a:t>ビジネス成果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立地（BOROUGH）や規模（戸数・面積）等の属性が価格説明に寄与することを定量的に示し、案件スクリーニング／比較評価に活用可能な示唆を提示。</a:t>
            </a:r>
          </a:p>
        </p:txBody>
      </p:sp>
      <p:sp>
        <p:nvSpPr>
          <p:cNvPr id="26" name="CardBg2"/>
          <p:cNvSpPr/>
          <p:nvPr/>
        </p:nvSpPr>
        <p:spPr>
          <a:xfrm>
            <a:off x="457200" y="320040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5F3F0"/>
          </a:solidFill>
          <a:ln w="12700">
            <a:solidFill>
              <a:srgbClr val="E0DE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7" name="CardAccent2"/>
          <p:cNvSpPr/>
          <p:nvPr/>
        </p:nvSpPr>
        <p:spPr>
          <a:xfrm>
            <a:off x="640080" y="3200400"/>
            <a:ext cx="4892040" cy="4572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8" name="CardText2"/>
          <p:cNvSpPr txBox="1"/>
          <p:nvPr/>
        </p:nvSpPr>
        <p:spPr>
          <a:xfrm>
            <a:off x="640080" y="3337560"/>
            <a:ext cx="4892040" cy="1554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anchor="t"/>
          <a:lstStyle/>
          <a:p>
            <a:pPr algn="l">
              <a:spcAft>
                <a:spcPts val="600"/>
              </a:spcAft>
              <a:buNone/>
            </a:pPr>
            <a:r>
              <a:rPr lang="ja-JP" sz="1600" b="1" dirty="0">
                <a:solidFill>
                  <a:srgbClr val="4A4A4A"/>
                </a:solidFill>
                <a:latin typeface="BIZ UDPGothic"/>
                <a:ea typeface="BIZ UDPGothic"/>
              </a:rPr>
              <a:t>分析成果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最終回帰パイプライン（Random Forest）：RMSE = 699,838 / MAE = 424,774 / R² = 0.482。非線形モデルが線形ベースラインより良好。</a:t>
            </a:r>
          </a:p>
        </p:txBody>
      </p:sp>
      <p:sp>
        <p:nvSpPr>
          <p:cNvPr id="29" name="CardBg3"/>
          <p:cNvSpPr/>
          <p:nvPr/>
        </p:nvSpPr>
        <p:spPr>
          <a:xfrm>
            <a:off x="5943600" y="320040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5F3F0"/>
          </a:solidFill>
          <a:ln w="12700">
            <a:solidFill>
              <a:srgbClr val="E0DE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0" name="CardAccent3"/>
          <p:cNvSpPr/>
          <p:nvPr/>
        </p:nvSpPr>
        <p:spPr>
          <a:xfrm>
            <a:off x="6126480" y="3200400"/>
            <a:ext cx="4892040" cy="45720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1" name="CardText3"/>
          <p:cNvSpPr txBox="1"/>
          <p:nvPr/>
        </p:nvSpPr>
        <p:spPr>
          <a:xfrm>
            <a:off x="6126480" y="3337560"/>
            <a:ext cx="4892040" cy="1554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anchor="t"/>
          <a:lstStyle/>
          <a:p>
            <a:pPr algn="l">
              <a:spcAft>
                <a:spcPts val="600"/>
              </a:spcAft>
              <a:buNone/>
            </a:pPr>
            <a:r>
              <a:rPr lang="ja-JP" sz="1600" b="1" dirty="0">
                <a:solidFill>
                  <a:srgbClr val="8B2E1E"/>
                </a:solidFill>
                <a:latin typeface="BIZ UDPGothic"/>
                <a:ea typeface="BIZ UDPGothic"/>
              </a:rPr>
              <a:t>運用的示唆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面積・築年・ZIPのデータ品質改善、日付・市場データの追加連携、定期的な再学習とデータ品質監視が即時的な優先対応事項である。</a:t>
            </a:r>
          </a:p>
        </p:txBody>
      </p:sp>
    </p:spTree>
    <p:extLst>
      <p:ext uri="{BB962C8B-B14F-4D97-AF65-F5344CB8AC3E}">
        <p14:creationId xmlns:p14="http://schemas.microsoft.com/office/powerpoint/2010/main" val="87493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02  プロジェクト目的とスコープ</a:t>
            </a:r>
          </a:p>
        </p:txBody>
      </p:sp>
      <p:sp>
        <p:nvSpPr>
          <p:cNvPr id="11" name="RL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0" name="ColH0"/>
          <p:cNvSpPr/>
          <p:nvPr/>
        </p:nvSpPr>
        <p:spPr>
          <a:xfrm>
            <a:off x="457200" y="1097280"/>
            <a:ext cx="3505200" cy="457200"/>
          </a:xfrm>
          <a:prstGeom prst="roundRect">
            <a:avLst>
              <a:gd name="adj" fmla="val 5000"/>
            </a:avLst>
          </a:prstGeom>
          <a:solidFill>
            <a:srgbClr val="8B2E1E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目的</a:t>
            </a:r>
          </a:p>
        </p:txBody>
      </p:sp>
      <p:sp>
        <p:nvSpPr>
          <p:cNvPr id="21" name="ColB0"/>
          <p:cNvSpPr txBox="1"/>
          <p:nvPr/>
        </p:nvSpPr>
        <p:spPr>
          <a:xfrm>
            <a:off x="457200" y="1645920"/>
            <a:ext cx="3505200" cy="420624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91440" anchor="t"/>
          <a:lstStyle/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SALE PRICEを中心に立地・建物属性・規模・築年等の価格寄与を定量化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業務判断に資する初期的な分析基盤と示唆を納品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提案書／契約書に合致した目的設定</a:t>
            </a:r>
          </a:p>
        </p:txBody>
      </p:sp>
      <p:sp>
        <p:nvSpPr>
          <p:cNvPr id="22" name="ColH1"/>
          <p:cNvSpPr/>
          <p:nvPr/>
        </p:nvSpPr>
        <p:spPr>
          <a:xfrm>
            <a:off x="4191000" y="1097280"/>
            <a:ext cx="3505200" cy="4572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実施範囲（対象）</a:t>
            </a:r>
          </a:p>
        </p:txBody>
      </p:sp>
      <p:sp>
        <p:nvSpPr>
          <p:cNvPr id="23" name="ColB1"/>
          <p:cNvSpPr txBox="1"/>
          <p:nvPr/>
        </p:nvSpPr>
        <p:spPr>
          <a:xfrm>
            <a:off x="4191000" y="1645920"/>
            <a:ext cx="3505200" cy="420624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91440" anchor="t"/>
          <a:lstStyle/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data\\train.csv の読込・品質確認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探索的データ分析（EDA）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前処理方針策定・特徴量設計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初期モデル検証（1版）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中間報告／最終報告の提出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会議議事メモ等（契約3.1と一致）</a:t>
            </a:r>
          </a:p>
        </p:txBody>
      </p:sp>
      <p:sp>
        <p:nvSpPr>
          <p:cNvPr id="24" name="ColH2"/>
          <p:cNvSpPr/>
          <p:nvPr/>
        </p:nvSpPr>
        <p:spPr>
          <a:xfrm>
            <a:off x="7924800" y="1097280"/>
            <a:ext cx="3505200" cy="457200"/>
          </a:xfrm>
          <a:prstGeom prst="roundRect">
            <a:avLst>
              <a:gd name="adj" fmla="val 5000"/>
            </a:avLst>
          </a:prstGeom>
          <a:solidFill>
            <a:srgbClr val="707070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対象外（契約通り）</a:t>
            </a:r>
          </a:p>
        </p:txBody>
      </p:sp>
      <p:sp>
        <p:nvSpPr>
          <p:cNvPr id="25" name="ColB2"/>
          <p:cNvSpPr txBox="1"/>
          <p:nvPr/>
        </p:nvSpPr>
        <p:spPr>
          <a:xfrm>
            <a:off x="7924800" y="1645920"/>
            <a:ext cx="3505200" cy="420624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91440" anchor="t"/>
          <a:lstStyle/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本番システム実装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外部データの恒常連携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賃料/NOIの算出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鑑定評価書作成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個別案件代行</a:t>
            </a:r>
          </a:p>
        </p:txBody>
      </p:sp>
    </p:spTree>
    <p:extLst>
      <p:ext uri="{BB962C8B-B14F-4D97-AF65-F5344CB8AC3E}">
        <p14:creationId xmlns:p14="http://schemas.microsoft.com/office/powerpoint/2010/main" val="2358888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03  実施体制</a:t>
            </a:r>
          </a:p>
        </p:txBody>
      </p:sp>
      <p:sp>
        <p:nvSpPr>
          <p:cNvPr id="11" name="RL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0" name="DCH"/>
          <p:cNvSpPr/>
          <p:nvPr/>
        </p:nvSpPr>
        <p:spPr>
          <a:xfrm>
            <a:off x="457200" y="1143000"/>
            <a:ext cx="7315200" cy="41148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株式会社データアステル（実施者）</a:t>
            </a:r>
          </a:p>
        </p:txBody>
      </p:sp>
      <p:sp>
        <p:nvSpPr>
          <p:cNvPr id="30" name="MC0"/>
          <p:cNvSpPr/>
          <p:nvPr/>
        </p:nvSpPr>
        <p:spPr>
          <a:xfrm>
            <a:off x="457200" y="169164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9050">
            <a:solidFill>
              <a:srgbClr val="8B2E1E"/>
            </a:solidFill>
          </a:ln>
        </p:spPr>
        <p:txBody>
          <a:bodyPr lIns="137160" anchor="ctr"/>
          <a:lstStyle/>
          <a:p>
            <a:pPr algn="l">
              <a:buNone/>
            </a:pPr>
            <a:r>
              <a:rPr lang="ja-JP" sz="1100" dirty="0">
                <a:solidFill>
                  <a:srgbClr val="8B2E1E"/>
                </a:solidFill>
                <a:latin typeface="BIZ UDPGothic"/>
                <a:ea typeface="BIZ UDPGothic"/>
              </a:rPr>
              <a:t>エグゼクティブスポンサー</a:t>
            </a:r>
          </a:p>
          <a:p>
            <a:pPr algn="l">
              <a:spcBef>
                <a:spcPts val="200"/>
              </a:spcBef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中村 誠</a:t>
            </a:r>
          </a:p>
        </p:txBody>
      </p:sp>
      <p:sp>
        <p:nvSpPr>
          <p:cNvPr id="31" name="MC1"/>
          <p:cNvSpPr/>
          <p:nvPr/>
        </p:nvSpPr>
        <p:spPr>
          <a:xfrm>
            <a:off x="2926080" y="169164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9050">
            <a:solidFill>
              <a:srgbClr val="8B2E1E"/>
            </a:solidFill>
          </a:ln>
        </p:spPr>
        <p:txBody>
          <a:bodyPr lIns="137160" anchor="ctr"/>
          <a:lstStyle/>
          <a:p>
            <a:pPr algn="l">
              <a:buNone/>
            </a:pPr>
            <a:r>
              <a:rPr lang="ja-JP" sz="1100" dirty="0">
                <a:solidFill>
                  <a:srgbClr val="8B2E1E"/>
                </a:solidFill>
                <a:latin typeface="BIZ UDPGothic"/>
                <a:ea typeface="BIZ UDPGothic"/>
              </a:rPr>
              <a:t>プロジェクトマネージャー</a:t>
            </a:r>
          </a:p>
          <a:p>
            <a:pPr algn="l">
              <a:spcBef>
                <a:spcPts val="200"/>
              </a:spcBef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佐藤 健一</a:t>
            </a:r>
          </a:p>
        </p:txBody>
      </p:sp>
      <p:sp>
        <p:nvSpPr>
          <p:cNvPr id="38" name="MC2"/>
          <p:cNvSpPr/>
          <p:nvPr/>
        </p:nvSpPr>
        <p:spPr>
          <a:xfrm>
            <a:off x="457200" y="2606040"/>
            <a:ext cx="1737360" cy="73152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9050">
            <a:solidFill>
              <a:srgbClr val="4A4A4A"/>
            </a:solidFill>
          </a:ln>
        </p:spPr>
        <p:txBody>
          <a:bodyPr lIns="137160" anchor="ctr"/>
          <a:lstStyle/>
          <a:p>
            <a:pPr algn="l">
              <a:buNone/>
            </a:pPr>
            <a:r>
              <a:rPr lang="ja-JP" sz="1100" dirty="0">
                <a:solidFill>
                  <a:srgbClr val="4A4A4A"/>
                </a:solidFill>
                <a:latin typeface="BIZ UDPGothic"/>
                <a:ea typeface="BIZ UDPGothic"/>
              </a:rPr>
              <a:t>リードDS</a:t>
            </a:r>
          </a:p>
          <a:p>
            <a:pPr algn="l">
              <a:spcBef>
                <a:spcPts val="200"/>
              </a:spcBef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渡辺 遥</a:t>
            </a:r>
          </a:p>
        </p:txBody>
      </p:sp>
      <p:sp>
        <p:nvSpPr>
          <p:cNvPr id="39" name="MC3"/>
          <p:cNvSpPr/>
          <p:nvPr/>
        </p:nvSpPr>
        <p:spPr>
          <a:xfrm>
            <a:off x="2331720" y="2606040"/>
            <a:ext cx="1737360" cy="73152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9050">
            <a:solidFill>
              <a:srgbClr val="4A4A4A"/>
            </a:solidFill>
          </a:ln>
        </p:spPr>
        <p:txBody>
          <a:bodyPr lIns="137160" anchor="ctr"/>
          <a:lstStyle/>
          <a:p>
            <a:pPr algn="l">
              <a:buNone/>
            </a:pPr>
            <a:r>
              <a:rPr lang="ja-JP" sz="1100" dirty="0">
                <a:solidFill>
                  <a:srgbClr val="4A4A4A"/>
                </a:solidFill>
                <a:latin typeface="BIZ UDPGothic"/>
                <a:ea typeface="BIZ UDPGothic"/>
              </a:rPr>
              <a:t>データエンジニア</a:t>
            </a:r>
          </a:p>
          <a:p>
            <a:pPr algn="l">
              <a:spcBef>
                <a:spcPts val="200"/>
              </a:spcBef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岡田 佑樹</a:t>
            </a:r>
          </a:p>
        </p:txBody>
      </p:sp>
      <p:sp>
        <p:nvSpPr>
          <p:cNvPr id="40" name="MC4"/>
          <p:cNvSpPr/>
          <p:nvPr/>
        </p:nvSpPr>
        <p:spPr>
          <a:xfrm>
            <a:off x="4206240" y="2606040"/>
            <a:ext cx="1737360" cy="73152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9050">
            <a:solidFill>
              <a:srgbClr val="4A4A4A"/>
            </a:solidFill>
          </a:ln>
        </p:spPr>
        <p:txBody>
          <a:bodyPr lIns="137160" anchor="ctr"/>
          <a:lstStyle/>
          <a:p>
            <a:pPr algn="l">
              <a:buNone/>
            </a:pPr>
            <a:r>
              <a:rPr lang="ja-JP" sz="1100" dirty="0">
                <a:solidFill>
                  <a:srgbClr val="4A4A4A"/>
                </a:solidFill>
                <a:latin typeface="BIZ UDPGothic"/>
                <a:ea typeface="BIZ UDPGothic"/>
              </a:rPr>
              <a:t>BA</a:t>
            </a:r>
          </a:p>
          <a:p>
            <a:pPr algn="l">
              <a:spcBef>
                <a:spcPts val="200"/>
              </a:spcBef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藤田 彩</a:t>
            </a:r>
          </a:p>
        </p:txBody>
      </p:sp>
      <p:sp>
        <p:nvSpPr>
          <p:cNvPr id="41" name="MC5"/>
          <p:cNvSpPr/>
          <p:nvPr/>
        </p:nvSpPr>
        <p:spPr>
          <a:xfrm>
            <a:off x="6080760" y="2606040"/>
            <a:ext cx="1737360" cy="73152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9050">
            <a:solidFill>
              <a:srgbClr val="4A4A4A"/>
            </a:solidFill>
          </a:ln>
        </p:spPr>
        <p:txBody>
          <a:bodyPr lIns="137160" anchor="ctr"/>
          <a:lstStyle/>
          <a:p>
            <a:pPr algn="l">
              <a:buNone/>
            </a:pPr>
            <a:r>
              <a:rPr lang="ja-JP" sz="1100" dirty="0">
                <a:solidFill>
                  <a:srgbClr val="4A4A4A"/>
                </a:solidFill>
                <a:latin typeface="BIZ UDPGothic"/>
                <a:ea typeface="BIZ UDPGothic"/>
              </a:rPr>
              <a:t>QA</a:t>
            </a:r>
          </a:p>
          <a:p>
            <a:pPr algn="l">
              <a:spcBef>
                <a:spcPts val="200"/>
              </a:spcBef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小林 直樹</a:t>
            </a:r>
          </a:p>
        </p:txBody>
      </p:sp>
      <p:sp>
        <p:nvSpPr>
          <p:cNvPr id="50" name="Arrow"/>
          <p:cNvSpPr/>
          <p:nvPr/>
        </p:nvSpPr>
        <p:spPr>
          <a:xfrm>
            <a:off x="8229600" y="2057400"/>
            <a:ext cx="457200" cy="365760"/>
          </a:xfrm>
          <a:prstGeom prst="rightArrow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51" name="CH"/>
          <p:cNvSpPr/>
          <p:nvPr/>
        </p:nvSpPr>
        <p:spPr>
          <a:xfrm>
            <a:off x="8915400" y="1143000"/>
            <a:ext cx="2819400" cy="411480"/>
          </a:xfrm>
          <a:prstGeom prst="roundRect">
            <a:avLst>
              <a:gd name="adj" fmla="val 8000"/>
            </a:avLst>
          </a:prstGeom>
          <a:solidFill>
            <a:srgbClr val="8B2E1E"/>
          </a:solidFill>
          <a:ln>
            <a:noFill/>
          </a:ln>
        </p:spPr>
        <p:txBody>
          <a:bodyPr lIns="137160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クライアント</a:t>
            </a:r>
          </a:p>
        </p:txBody>
      </p:sp>
      <p:sp>
        <p:nvSpPr>
          <p:cNvPr id="52" name="CC"/>
          <p:cNvSpPr/>
          <p:nvPr/>
        </p:nvSpPr>
        <p:spPr>
          <a:xfrm>
            <a:off x="8915400" y="1691640"/>
            <a:ext cx="2819400" cy="91440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9050">
            <a:solidFill>
              <a:srgbClr val="8B2E1E"/>
            </a:solidFill>
          </a:ln>
        </p:spPr>
        <p:txBody>
          <a:bodyPr lIns="137160" anchor="ctr"/>
          <a:lstStyle/>
          <a:p>
            <a:pPr algn="ctr">
              <a:buNone/>
            </a:pPr>
            <a:r>
              <a:rPr lang="ja-JP" sz="1100" dirty="0">
                <a:solidFill>
                  <a:srgbClr val="8B2E1E"/>
                </a:solidFill>
                <a:latin typeface="BIZ UDPGothic"/>
                <a:ea typeface="BIZ UDPGothic"/>
              </a:rPr>
              <a:t>青嶺不動産AM</a:t>
            </a:r>
          </a:p>
          <a:p>
            <a:pPr algn="ctr">
              <a:spcBef>
                <a:spcPts val="200"/>
              </a:spcBef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前田 美咲 部長</a:t>
            </a:r>
          </a:p>
        </p:txBody>
      </p:sp>
      <p:sp>
        <p:nvSpPr>
          <p:cNvPr id="60" name="ConnLine"/>
          <p:cNvSpPr/>
          <p:nvPr/>
        </p:nvSpPr>
        <p:spPr>
          <a:xfrm>
            <a:off x="3657600" y="2423160"/>
            <a:ext cx="0" cy="182880"/>
          </a:xfrm>
          <a:prstGeom prst="line">
            <a:avLst/>
          </a:prstGeom>
          <a:ln w="19050">
            <a:solidFill>
              <a:srgbClr val="A0A0A0"/>
            </a:solidFill>
            <a:prstDash val="dash"/>
          </a:ln>
        </p:spPr>
        <p:txBody>
          <a:bodyPr/>
          <a:lstStyle/>
          <a:p>
            <a:endParaRPr lang="ja-JP"/>
          </a:p>
        </p:txBody>
      </p:sp>
      <p:sp>
        <p:nvSpPr>
          <p:cNvPr id="70" name="MethodNote"/>
          <p:cNvSpPr txBox="1"/>
          <p:nvPr/>
        </p:nvSpPr>
        <p:spPr>
          <a:xfrm>
            <a:off x="457200" y="3657600"/>
            <a:ext cx="11277600" cy="2560320"/>
          </a:xfrm>
          <a:prstGeom prst="rect">
            <a:avLst/>
          </a:prstGeom>
          <a:solidFill>
            <a:srgbClr val="F5F3F0"/>
          </a:solidFill>
          <a:ln w="12700">
            <a:solidFill>
              <a:srgbClr val="E0DEDA"/>
            </a:solidFill>
          </a:ln>
        </p:spPr>
        <p:txBody>
          <a:bodyPr wrap="square" lIns="182880" tIns="137160" rIns="137160" anchor="t"/>
          <a:lstStyle/>
          <a:p>
            <a:pPr algn="l">
              <a:spcAft>
                <a:spcPts val="400"/>
              </a:spcAft>
              <a:buNone/>
            </a:pPr>
            <a:r>
              <a:rPr lang="ja-JP" sz="1400" b="1" dirty="0">
                <a:solidFill>
                  <a:srgbClr val="8B2E1E"/>
                </a:solidFill>
                <a:latin typeface="BIZ UDPGothic"/>
                <a:ea typeface="BIZ UDPGothic"/>
              </a:rPr>
              <a:t>手法要点</a:t>
            </a:r>
          </a:p>
          <a:p>
            <a:pPr marL="228600" indent="-228600" algn="l">
              <a:lnSpc>
                <a:spcPts val="18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再現性優先の標準化パイプラインを採用</a:t>
            </a:r>
          </a:p>
          <a:p>
            <a:pPr marL="228600" indent="-228600" algn="l">
              <a:lnSpc>
                <a:spcPts val="18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高カーディナリティ項目（NEIGHBORHOOD, BUILDING CLASS系）を除外し、交互作用（BBL組合せ等）を特徴量に追加</a:t>
            </a:r>
          </a:p>
          <a:p>
            <a:pPr marL="228600" indent="-228600" algn="l">
              <a:lnSpc>
                <a:spcPts val="18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分割戦略はtime_ordered（date_columnに基づく）を試行。date_columnの実態確認は中間段階で議論</a:t>
            </a:r>
          </a:p>
        </p:txBody>
      </p:sp>
    </p:spTree>
    <p:extLst>
      <p:ext uri="{BB962C8B-B14F-4D97-AF65-F5344CB8AC3E}">
        <p14:creationId xmlns:p14="http://schemas.microsoft.com/office/powerpoint/2010/main" val="229378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03  主要工程（タイムライン）</a:t>
            </a:r>
          </a:p>
        </p:txBody>
      </p:sp>
      <p:sp>
        <p:nvSpPr>
          <p:cNvPr id="11" name="RL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5" name="TimeLine"/>
          <p:cNvSpPr/>
          <p:nvPr/>
        </p:nvSpPr>
        <p:spPr>
          <a:xfrm>
            <a:off x="457200" y="1810512"/>
            <a:ext cx="10881360" cy="3657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0" name="Chev0"/>
          <p:cNvSpPr/>
          <p:nvPr/>
        </p:nvSpPr>
        <p:spPr>
          <a:xfrm>
            <a:off x="457200" y="1554480"/>
            <a:ext cx="1737360" cy="548640"/>
          </a:xfrm>
          <a:prstGeom prst="homePlate">
            <a:avLst/>
          </a:prstGeom>
          <a:solidFill>
            <a:srgbClr val="8B2E1E"/>
          </a:solidFill>
          <a:ln>
            <a:noFill/>
          </a:ln>
        </p:spPr>
        <p:txBody>
          <a:bodyPr lIns="137160" rIns="18288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  <a:latin typeface="BIZ UDPGothic"/>
                <a:ea typeface="BIZ UDPGothic"/>
              </a:rPr>
              <a:t>立上げ・データ受領</a:t>
            </a:r>
          </a:p>
        </p:txBody>
      </p:sp>
      <p:sp>
        <p:nvSpPr>
          <p:cNvPr id="21" name="Date0"/>
          <p:cNvSpPr txBox="1"/>
          <p:nvPr/>
        </p:nvSpPr>
        <p:spPr>
          <a:xfrm>
            <a:off x="457200" y="12344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buNone/>
            </a:pPr>
            <a:r>
              <a:rPr lang="ja-JP" sz="1100" b="1" dirty="0">
                <a:solidFill>
                  <a:srgbClr val="8B2E1E"/>
                </a:solidFill>
                <a:latin typeface="BIZ UDPGothic"/>
                <a:ea typeface="BIZ UDPGothic"/>
              </a:rPr>
              <a:t>8/6</a:t>
            </a:r>
          </a:p>
        </p:txBody>
      </p:sp>
      <p:sp>
        <p:nvSpPr>
          <p:cNvPr id="22" name="Det0"/>
          <p:cNvSpPr txBox="1"/>
          <p:nvPr/>
        </p:nvSpPr>
        <p:spPr>
          <a:xfrm>
            <a:off x="457200" y="2240280"/>
            <a:ext cx="1737360" cy="73152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91440" tIns="91440" anchor="t"/>
          <a:lstStyle/>
          <a:p>
            <a:pPr algn="ctr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M01 キックオフ</a:t>
            </a:r>
          </a:p>
        </p:txBody>
      </p:sp>
      <p:sp>
        <p:nvSpPr>
          <p:cNvPr id="23" name="Chev1"/>
          <p:cNvSpPr/>
          <p:nvPr/>
        </p:nvSpPr>
        <p:spPr>
          <a:xfrm>
            <a:off x="2286000" y="1554480"/>
            <a:ext cx="1737360" cy="548640"/>
          </a:xfrm>
          <a:prstGeom prst="homePlate">
            <a:avLst/>
          </a:prstGeom>
          <a:solidFill>
            <a:srgbClr val="4A4A4A"/>
          </a:solidFill>
          <a:ln>
            <a:noFill/>
          </a:ln>
        </p:spPr>
        <p:txBody>
          <a:bodyPr lIns="137160" rIns="18288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  <a:latin typeface="BIZ UDPGothic"/>
                <a:ea typeface="BIZ UDPGothic"/>
              </a:rPr>
              <a:t>データ品質評価</a:t>
            </a:r>
          </a:p>
        </p:txBody>
      </p:sp>
      <p:sp>
        <p:nvSpPr>
          <p:cNvPr id="24" name="Date1"/>
          <p:cNvSpPr txBox="1"/>
          <p:nvPr/>
        </p:nvSpPr>
        <p:spPr>
          <a:xfrm>
            <a:off x="2286000" y="12344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buNone/>
            </a:pPr>
            <a:r>
              <a:rPr lang="ja-JP" sz="1100" b="1" dirty="0">
                <a:solidFill>
                  <a:srgbClr val="4A4A4A"/>
                </a:solidFill>
                <a:latin typeface="BIZ UDPGothic"/>
                <a:ea typeface="BIZ UDPGothic"/>
              </a:rPr>
              <a:t>8月上旬</a:t>
            </a:r>
          </a:p>
        </p:txBody>
      </p:sp>
      <p:sp>
        <p:nvSpPr>
          <p:cNvPr id="25" name="Det1"/>
          <p:cNvSpPr txBox="1"/>
          <p:nvPr/>
        </p:nvSpPr>
        <p:spPr>
          <a:xfrm>
            <a:off x="2286000" y="2240280"/>
            <a:ext cx="1737360" cy="73152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91440" tIns="91440" anchor="t"/>
          <a:lstStyle/>
          <a:p>
            <a:pPr algn="ctr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欠損・ゼロ値・異常値
BBL重複確認</a:t>
            </a:r>
          </a:p>
        </p:txBody>
      </p:sp>
      <p:sp>
        <p:nvSpPr>
          <p:cNvPr id="26" name="Chev2"/>
          <p:cNvSpPr/>
          <p:nvPr/>
        </p:nvSpPr>
        <p:spPr>
          <a:xfrm>
            <a:off x="4114800" y="1554480"/>
            <a:ext cx="1737360" cy="548640"/>
          </a:xfrm>
          <a:prstGeom prst="homePlate">
            <a:avLst/>
          </a:prstGeom>
          <a:solidFill>
            <a:srgbClr val="4A4A4A"/>
          </a:solidFill>
          <a:ln>
            <a:noFill/>
          </a:ln>
        </p:spPr>
        <p:txBody>
          <a:bodyPr lIns="137160" rIns="18288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  <a:latin typeface="BIZ UDPGothic"/>
                <a:ea typeface="BIZ UDPGothic"/>
              </a:rPr>
              <a:t>探索的分析</a:t>
            </a:r>
          </a:p>
        </p:txBody>
      </p:sp>
      <p:sp>
        <p:nvSpPr>
          <p:cNvPr id="27" name="Date2"/>
          <p:cNvSpPr txBox="1"/>
          <p:nvPr/>
        </p:nvSpPr>
        <p:spPr>
          <a:xfrm>
            <a:off x="4114800" y="12344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buNone/>
            </a:pPr>
            <a:r>
              <a:rPr lang="ja-JP" sz="1100" b="1" dirty="0">
                <a:solidFill>
                  <a:srgbClr val="4A4A4A"/>
                </a:solidFill>
                <a:latin typeface="BIZ UDPGothic"/>
                <a:ea typeface="BIZ UDPGothic"/>
              </a:rPr>
              <a:t>8月中旬</a:t>
            </a:r>
          </a:p>
        </p:txBody>
      </p:sp>
      <p:sp>
        <p:nvSpPr>
          <p:cNvPr id="28" name="Det2"/>
          <p:cNvSpPr txBox="1"/>
          <p:nvPr/>
        </p:nvSpPr>
        <p:spPr>
          <a:xfrm>
            <a:off x="4114800" y="2240280"/>
            <a:ext cx="1737360" cy="73152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91440" tIns="91440" anchor="t"/>
          <a:lstStyle/>
          <a:p>
            <a:pPr algn="ctr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立地別・建物クラス別
面積/戸数/築年の関係</a:t>
            </a:r>
          </a:p>
        </p:txBody>
      </p:sp>
      <p:sp>
        <p:nvSpPr>
          <p:cNvPr id="29" name="Chev3"/>
          <p:cNvSpPr/>
          <p:nvPr/>
        </p:nvSpPr>
        <p:spPr>
          <a:xfrm>
            <a:off x="5943600" y="1554480"/>
            <a:ext cx="1737360" cy="548640"/>
          </a:xfrm>
          <a:prstGeom prst="homePlate">
            <a:avLst/>
          </a:prstGeom>
          <a:solidFill>
            <a:srgbClr val="8B2E1E"/>
          </a:solidFill>
          <a:ln>
            <a:noFill/>
          </a:ln>
        </p:spPr>
        <p:txBody>
          <a:bodyPr lIns="137160" rIns="18288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  <a:latin typeface="BIZ UDPGothic"/>
                <a:ea typeface="BIZ UDPGothic"/>
              </a:rPr>
              <a:t>前処理方針確定</a:t>
            </a:r>
          </a:p>
        </p:txBody>
      </p:sp>
      <p:sp>
        <p:nvSpPr>
          <p:cNvPr id="30" name="Date3"/>
          <p:cNvSpPr txBox="1"/>
          <p:nvPr/>
        </p:nvSpPr>
        <p:spPr>
          <a:xfrm>
            <a:off x="5943600" y="12344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buNone/>
            </a:pPr>
            <a:r>
              <a:rPr lang="ja-JP" sz="1100" b="1" dirty="0">
                <a:solidFill>
                  <a:srgbClr val="8B2E1E"/>
                </a:solidFill>
                <a:latin typeface="BIZ UDPGothic"/>
                <a:ea typeface="BIZ UDPGothic"/>
              </a:rPr>
              <a:t>8/26</a:t>
            </a:r>
          </a:p>
        </p:txBody>
      </p:sp>
      <p:sp>
        <p:nvSpPr>
          <p:cNvPr id="31" name="Det3"/>
          <p:cNvSpPr txBox="1"/>
          <p:nvPr/>
        </p:nvSpPr>
        <p:spPr>
          <a:xfrm>
            <a:off x="5943600" y="2240280"/>
            <a:ext cx="1737360" cy="73152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91440" tIns="91440" anchor="t"/>
          <a:lstStyle/>
          <a:p>
            <a:pPr algn="ctr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M02 中間報告</a:t>
            </a:r>
          </a:p>
        </p:txBody>
      </p:sp>
      <p:sp>
        <p:nvSpPr>
          <p:cNvPr id="32" name="Chev4"/>
          <p:cNvSpPr/>
          <p:nvPr/>
        </p:nvSpPr>
        <p:spPr>
          <a:xfrm>
            <a:off x="7772400" y="1554480"/>
            <a:ext cx="1737360" cy="548640"/>
          </a:xfrm>
          <a:prstGeom prst="homePlate">
            <a:avLst/>
          </a:prstGeom>
          <a:solidFill>
            <a:srgbClr val="4A4A4A"/>
          </a:solidFill>
          <a:ln>
            <a:noFill/>
          </a:ln>
        </p:spPr>
        <p:txBody>
          <a:bodyPr lIns="137160" rIns="18288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  <a:latin typeface="BIZ UDPGothic"/>
                <a:ea typeface="BIZ UDPGothic"/>
              </a:rPr>
              <a:t>初期モデリング</a:t>
            </a:r>
          </a:p>
        </p:txBody>
      </p:sp>
      <p:sp>
        <p:nvSpPr>
          <p:cNvPr id="33" name="Date4"/>
          <p:cNvSpPr txBox="1"/>
          <p:nvPr/>
        </p:nvSpPr>
        <p:spPr>
          <a:xfrm>
            <a:off x="7772400" y="12344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buNone/>
            </a:pPr>
            <a:r>
              <a:rPr lang="ja-JP" sz="1100" b="1" dirty="0">
                <a:solidFill>
                  <a:srgbClr val="4A4A4A"/>
                </a:solidFill>
                <a:latin typeface="BIZ UDPGothic"/>
                <a:ea typeface="BIZ UDPGothic"/>
              </a:rPr>
              <a:t>9月上旬</a:t>
            </a:r>
          </a:p>
        </p:txBody>
      </p:sp>
      <p:sp>
        <p:nvSpPr>
          <p:cNvPr id="34" name="Det4"/>
          <p:cNvSpPr txBox="1"/>
          <p:nvPr/>
        </p:nvSpPr>
        <p:spPr>
          <a:xfrm>
            <a:off x="7772400" y="2240280"/>
            <a:ext cx="1737360" cy="73152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91440" tIns="91440" anchor="t"/>
          <a:lstStyle/>
          <a:p>
            <a:pPr algn="ctr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ベースライン〜非線形
特徴量調整・評価</a:t>
            </a:r>
          </a:p>
        </p:txBody>
      </p:sp>
      <p:sp>
        <p:nvSpPr>
          <p:cNvPr id="35" name="Chev5"/>
          <p:cNvSpPr/>
          <p:nvPr/>
        </p:nvSpPr>
        <p:spPr>
          <a:xfrm>
            <a:off x="9601200" y="1554480"/>
            <a:ext cx="1737360" cy="548640"/>
          </a:xfrm>
          <a:prstGeom prst="homePlate">
            <a:avLst/>
          </a:prstGeom>
          <a:solidFill>
            <a:srgbClr val="8B2E1E"/>
          </a:solidFill>
          <a:ln>
            <a:noFill/>
          </a:ln>
        </p:spPr>
        <p:txBody>
          <a:bodyPr lIns="137160" rIns="18288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  <a:latin typeface="BIZ UDPGothic"/>
                <a:ea typeface="BIZ UDPGothic"/>
              </a:rPr>
              <a:t>最終報告・検収</a:t>
            </a:r>
          </a:p>
        </p:txBody>
      </p:sp>
      <p:sp>
        <p:nvSpPr>
          <p:cNvPr id="36" name="Date5"/>
          <p:cNvSpPr txBox="1"/>
          <p:nvPr/>
        </p:nvSpPr>
        <p:spPr>
          <a:xfrm>
            <a:off x="9601200" y="12344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buNone/>
            </a:pPr>
            <a:r>
              <a:rPr lang="ja-JP" sz="1100" b="1" dirty="0">
                <a:solidFill>
                  <a:srgbClr val="8B2E1E"/>
                </a:solidFill>
                <a:latin typeface="BIZ UDPGothic"/>
                <a:ea typeface="BIZ UDPGothic"/>
              </a:rPr>
              <a:t>9/16-17</a:t>
            </a:r>
          </a:p>
        </p:txBody>
      </p:sp>
      <p:sp>
        <p:nvSpPr>
          <p:cNvPr id="37" name="Det5"/>
          <p:cNvSpPr txBox="1"/>
          <p:nvPr/>
        </p:nvSpPr>
        <p:spPr>
          <a:xfrm>
            <a:off x="9601200" y="2240280"/>
            <a:ext cx="1737360" cy="73152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91440" tIns="91440" anchor="t"/>
          <a:lstStyle/>
          <a:p>
            <a:pPr algn="ctr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最終報告会
検収基準日</a:t>
            </a:r>
          </a:p>
        </p:txBody>
      </p:sp>
      <p:sp>
        <p:nvSpPr>
          <p:cNvPr id="80" name="Period"/>
          <p:cNvSpPr txBox="1"/>
          <p:nvPr/>
        </p:nvSpPr>
        <p:spPr>
          <a:xfrm>
            <a:off x="457200" y="4937760"/>
            <a:ext cx="11277600" cy="1188720"/>
          </a:xfrm>
          <a:prstGeom prst="rect">
            <a:avLst/>
          </a:prstGeom>
          <a:noFill/>
          <a:ln w="19050">
            <a:solidFill>
              <a:srgbClr val="8B2E1E"/>
            </a:solidFill>
            <a:prstDash val="dash"/>
          </a:ln>
        </p:spPr>
        <p:txBody>
          <a:bodyPr wrap="square" lIns="182880" anchor="ctr"/>
          <a:lstStyle/>
          <a:p>
            <a:pPr algn="l">
              <a:buNone/>
            </a:pPr>
            <a:r>
              <a:rPr lang="ja-JP" sz="1200" b="1" dirty="0">
                <a:solidFill>
                  <a:srgbClr val="8B2E1E"/>
                </a:solidFill>
                <a:latin typeface="BIZ UDPGothic"/>
                <a:ea typeface="BIZ UDPGothic"/>
              </a:rPr>
              <a:t>契約期間：2025年8月6日〜2025年9月17日（6週間）</a:t>
            </a:r>
          </a:p>
          <a:p>
            <a:pPr algn="l">
              <a:spcBef>
                <a:spcPts val="200"/>
              </a:spcBef>
              <a:buNone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主要マイルストーン：M01 キックオフ（8/6）→ M02 中間報告（8/26）→ M03 最終報告会（9/16）→ 検収基準日（9/17）</a:t>
            </a:r>
          </a:p>
        </p:txBody>
      </p:sp>
    </p:spTree>
    <p:extLst>
      <p:ext uri="{BB962C8B-B14F-4D97-AF65-F5344CB8AC3E}">
        <p14:creationId xmlns:p14="http://schemas.microsoft.com/office/powerpoint/2010/main" val="2967723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04  データ品質（確定事実）</a:t>
            </a:r>
          </a:p>
        </p:txBody>
      </p:sp>
      <p:sp>
        <p:nvSpPr>
          <p:cNvPr id="11" name="RL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0" name="KPI0"/>
          <p:cNvSpPr/>
          <p:nvPr/>
        </p:nvSpPr>
        <p:spPr>
          <a:xfrm>
            <a:off x="457200" y="109728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25400">
            <a:solidFill>
              <a:srgbClr val="4A4A4A"/>
            </a:solidFill>
          </a:ln>
        </p:spPr>
        <p:txBody>
          <a:bodyPr lIns="137160" anchor="ctr"/>
          <a:lstStyle/>
          <a:p>
            <a:pPr algn="ctr">
              <a:buNone/>
            </a:pPr>
            <a:r>
              <a:rPr lang="ja-JP" sz="1100" dirty="0">
                <a:solidFill>
                  <a:srgbClr val="707070"/>
                </a:solidFill>
                <a:latin typeface="BIZ UDPGothic"/>
                <a:ea typeface="BIZ UDPGothic"/>
              </a:rPr>
              <a:t>レコード数</a:t>
            </a:r>
          </a:p>
          <a:p>
            <a:pPr algn="ctr">
              <a:spcBef>
                <a:spcPts val="200"/>
              </a:spcBef>
              <a:buNone/>
            </a:pPr>
            <a:r>
              <a:rPr lang="ja-JP" sz="2400" b="1" dirty="0">
                <a:solidFill>
                  <a:srgbClr val="4A4A4A"/>
                </a:solidFill>
                <a:latin typeface="BIZ UDPGothic"/>
                <a:ea typeface="BIZ UDPGothic"/>
              </a:rPr>
              <a:t>37,751件</a:t>
            </a:r>
          </a:p>
          <a:p>
            <a:pPr algn="ctr">
              <a:spcBef>
                <a:spcPts val="100"/>
              </a:spcBef>
              <a:buNone/>
            </a:pPr>
            <a:r>
              <a:rPr lang="ja-JP" sz="900" dirty="0">
                <a:solidFill>
                  <a:srgbClr val="A0A0A0"/>
                </a:solidFill>
                <a:latin typeface="BIZ UDPGothic"/>
                <a:ea typeface="BIZ UDPGothic"/>
              </a:rPr>
              <a:t>data\train.csv</a:t>
            </a:r>
          </a:p>
        </p:txBody>
      </p:sp>
      <p:sp>
        <p:nvSpPr>
          <p:cNvPr id="21" name="KPI1"/>
          <p:cNvSpPr/>
          <p:nvPr/>
        </p:nvSpPr>
        <p:spPr>
          <a:xfrm>
            <a:off x="3291840" y="109728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25400">
            <a:solidFill>
              <a:srgbClr val="4A4A4A"/>
            </a:solidFill>
          </a:ln>
        </p:spPr>
        <p:txBody>
          <a:bodyPr lIns="137160" anchor="ctr"/>
          <a:lstStyle/>
          <a:p>
            <a:pPr algn="ctr">
              <a:buNone/>
            </a:pPr>
            <a:r>
              <a:rPr lang="ja-JP" sz="1100" dirty="0">
                <a:solidFill>
                  <a:srgbClr val="707070"/>
                </a:solidFill>
                <a:latin typeface="BIZ UDPGothic"/>
                <a:ea typeface="BIZ UDPGothic"/>
              </a:rPr>
              <a:t>特徴量数</a:t>
            </a:r>
          </a:p>
          <a:p>
            <a:pPr algn="ctr">
              <a:spcBef>
                <a:spcPts val="200"/>
              </a:spcBef>
              <a:buNone/>
            </a:pPr>
            <a:r>
              <a:rPr lang="ja-JP" sz="2400" b="1" dirty="0">
                <a:solidFill>
                  <a:srgbClr val="4A4A4A"/>
                </a:solidFill>
                <a:latin typeface="BIZ UDPGothic"/>
                <a:ea typeface="BIZ UDPGothic"/>
              </a:rPr>
              <a:t>19</a:t>
            </a:r>
          </a:p>
          <a:p>
            <a:pPr algn="ctr">
              <a:spcBef>
                <a:spcPts val="100"/>
              </a:spcBef>
              <a:buNone/>
            </a:pPr>
            <a:r>
              <a:rPr lang="ja-JP" sz="900" dirty="0">
                <a:solidFill>
                  <a:srgbClr val="A0A0A0"/>
                </a:solidFill>
                <a:latin typeface="BIZ UDPGothic"/>
                <a:ea typeface="BIZ UDPGothic"/>
              </a:rPr>
              <a:t>selected_feature_count</a:t>
            </a:r>
          </a:p>
        </p:txBody>
      </p:sp>
      <p:sp>
        <p:nvSpPr>
          <p:cNvPr id="22" name="KPI2"/>
          <p:cNvSpPr/>
          <p:nvPr/>
        </p:nvSpPr>
        <p:spPr>
          <a:xfrm>
            <a:off x="6126480" y="109728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FDF2F0"/>
          </a:solidFill>
          <a:ln w="25400">
            <a:solidFill>
              <a:srgbClr val="8B2E1E"/>
            </a:solidFill>
          </a:ln>
        </p:spPr>
        <p:txBody>
          <a:bodyPr lIns="137160" anchor="ctr"/>
          <a:lstStyle/>
          <a:p>
            <a:pPr algn="ctr">
              <a:buNone/>
            </a:pPr>
            <a:r>
              <a:rPr lang="ja-JP" sz="1100" dirty="0">
                <a:solidFill>
                  <a:srgbClr val="707070"/>
                </a:solidFill>
                <a:latin typeface="BIZ UDPGothic"/>
                <a:ea typeface="BIZ UDPGothic"/>
              </a:rPr>
              <a:t>GROSS SF欠損率</a:t>
            </a:r>
          </a:p>
          <a:p>
            <a:pPr algn="ctr">
              <a:spcBef>
                <a:spcPts val="200"/>
              </a:spcBef>
              <a:buNone/>
            </a:pPr>
            <a:r>
              <a:rPr lang="ja-JP" sz="2400" b="1" dirty="0">
                <a:solidFill>
                  <a:srgbClr val="8B2E1E"/>
                </a:solidFill>
                <a:latin typeface="BIZ UDPGothic"/>
                <a:ea typeface="BIZ UDPGothic"/>
              </a:rPr>
              <a:t>35.9%</a:t>
            </a:r>
          </a:p>
          <a:p>
            <a:pPr algn="ctr">
              <a:spcBef>
                <a:spcPts val="100"/>
              </a:spcBef>
              <a:buNone/>
            </a:pPr>
            <a:r>
              <a:rPr lang="ja-JP" sz="900" dirty="0">
                <a:solidFill>
                  <a:srgbClr val="A0A0A0"/>
                </a:solidFill>
                <a:latin typeface="BIZ UDPGothic"/>
                <a:ea typeface="BIZ UDPGothic"/>
              </a:rPr>
              <a:t>重大な品質課題</a:t>
            </a:r>
          </a:p>
        </p:txBody>
      </p:sp>
      <p:sp>
        <p:nvSpPr>
          <p:cNvPr id="23" name="KPI3"/>
          <p:cNvSpPr/>
          <p:nvPr/>
        </p:nvSpPr>
        <p:spPr>
          <a:xfrm>
            <a:off x="8961120" y="109728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FDF2F0"/>
          </a:solidFill>
          <a:ln w="25400">
            <a:solidFill>
              <a:srgbClr val="8B2E1E"/>
            </a:solidFill>
          </a:ln>
        </p:spPr>
        <p:txBody>
          <a:bodyPr lIns="137160" anchor="ctr"/>
          <a:lstStyle/>
          <a:p>
            <a:pPr algn="ctr">
              <a:buNone/>
            </a:pPr>
            <a:r>
              <a:rPr lang="ja-JP" sz="1100" dirty="0">
                <a:solidFill>
                  <a:srgbClr val="707070"/>
                </a:solidFill>
                <a:latin typeface="BIZ UDPGothic"/>
                <a:ea typeface="BIZ UDPGothic"/>
              </a:rPr>
              <a:t>LAND SF欠損率</a:t>
            </a:r>
          </a:p>
          <a:p>
            <a:pPr algn="ctr">
              <a:spcBef>
                <a:spcPts val="200"/>
              </a:spcBef>
              <a:buNone/>
            </a:pPr>
            <a:r>
              <a:rPr lang="ja-JP" sz="2400" b="1" dirty="0">
                <a:solidFill>
                  <a:srgbClr val="8B2E1E"/>
                </a:solidFill>
                <a:latin typeface="BIZ UDPGothic"/>
                <a:ea typeface="BIZ UDPGothic"/>
              </a:rPr>
              <a:t>35.1%</a:t>
            </a:r>
          </a:p>
          <a:p>
            <a:pPr algn="ctr">
              <a:spcBef>
                <a:spcPts val="100"/>
              </a:spcBef>
              <a:buNone/>
            </a:pPr>
            <a:r>
              <a:rPr lang="ja-JP" sz="900" dirty="0">
                <a:solidFill>
                  <a:srgbClr val="A0A0A0"/>
                </a:solidFill>
                <a:latin typeface="BIZ UDPGothic"/>
                <a:ea typeface="BIZ UDPGothic"/>
              </a:rPr>
              <a:t>重大な品質課題</a:t>
            </a:r>
          </a:p>
        </p:txBody>
      </p:sp>
      <p:sp>
        <p:nvSpPr>
          <p:cNvPr id="30" name="ExcH"/>
          <p:cNvSpPr txBox="1"/>
          <p:nvPr/>
        </p:nvSpPr>
        <p:spPr>
          <a:xfrm>
            <a:off x="457200" y="2148840"/>
            <a:ext cx="11277600" cy="36576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高カーディナリティのため除外した列</a:t>
            </a:r>
          </a:p>
        </p:txBody>
      </p:sp>
      <p:sp>
        <p:nvSpPr>
          <p:cNvPr id="35" name="Exc0"/>
          <p:cNvSpPr/>
          <p:nvPr/>
        </p:nvSpPr>
        <p:spPr>
          <a:xfrm>
            <a:off x="457200" y="2606040"/>
            <a:ext cx="3749040" cy="54864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2700">
            <a:solidFill>
              <a:srgbClr val="E0DEDA"/>
            </a:solidFill>
          </a:ln>
        </p:spPr>
        <p:txBody>
          <a:bodyPr lIns="13716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1A1A"/>
                </a:solidFill>
                <a:latin typeface="BIZ UDPGothic"/>
                <a:ea typeface="BIZ UDPGothic"/>
              </a:rPr>
              <a:t>NEIGHBORHOOD</a:t>
            </a:r>
          </a:p>
          <a:p>
            <a:pPr algn="ctr">
              <a:buNone/>
            </a:pPr>
            <a:r>
              <a:rPr lang="ja-JP" sz="1100" dirty="0">
                <a:solidFill>
                  <a:srgbClr val="707070"/>
                </a:solidFill>
                <a:latin typeface="BIZ UDPGothic"/>
                <a:ea typeface="BIZ UDPGothic"/>
              </a:rPr>
              <a:t>unique: 251</a:t>
            </a:r>
          </a:p>
        </p:txBody>
      </p:sp>
      <p:sp>
        <p:nvSpPr>
          <p:cNvPr id="36" name="Exc1"/>
          <p:cNvSpPr/>
          <p:nvPr/>
        </p:nvSpPr>
        <p:spPr>
          <a:xfrm>
            <a:off x="4389120" y="2606040"/>
            <a:ext cx="3749040" cy="54864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2700">
            <a:solidFill>
              <a:srgbClr val="E0DEDA"/>
            </a:solidFill>
          </a:ln>
        </p:spPr>
        <p:txBody>
          <a:bodyPr lIns="13716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1A1A"/>
                </a:solidFill>
                <a:latin typeface="BIZ UDPGothic"/>
                <a:ea typeface="BIZ UDPGothic"/>
              </a:rPr>
              <a:t>BUILDING CLASS AT PRESENT</a:t>
            </a:r>
          </a:p>
          <a:p>
            <a:pPr algn="ctr">
              <a:buNone/>
            </a:pPr>
            <a:r>
              <a:rPr lang="ja-JP" sz="1100" dirty="0">
                <a:solidFill>
                  <a:srgbClr val="707070"/>
                </a:solidFill>
                <a:latin typeface="BIZ UDPGothic"/>
                <a:ea typeface="BIZ UDPGothic"/>
              </a:rPr>
              <a:t>unique: 123</a:t>
            </a:r>
          </a:p>
        </p:txBody>
      </p:sp>
      <p:sp>
        <p:nvSpPr>
          <p:cNvPr id="37" name="Exc2"/>
          <p:cNvSpPr/>
          <p:nvPr/>
        </p:nvSpPr>
        <p:spPr>
          <a:xfrm>
            <a:off x="8321040" y="2606040"/>
            <a:ext cx="3749040" cy="54864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2700">
            <a:solidFill>
              <a:srgbClr val="E0DEDA"/>
            </a:solidFill>
          </a:ln>
        </p:spPr>
        <p:txBody>
          <a:bodyPr lIns="13716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1A1A"/>
                </a:solidFill>
                <a:latin typeface="BIZ UDPGothic"/>
                <a:ea typeface="BIZ UDPGothic"/>
              </a:rPr>
              <a:t>BUILDING CLASS AT TIME OF SALE</a:t>
            </a:r>
          </a:p>
          <a:p>
            <a:pPr algn="ctr">
              <a:buNone/>
            </a:pPr>
            <a:r>
              <a:rPr lang="ja-JP" sz="1100" dirty="0">
                <a:solidFill>
                  <a:srgbClr val="707070"/>
                </a:solidFill>
                <a:latin typeface="BIZ UDPGothic"/>
                <a:ea typeface="BIZ UDPGothic"/>
              </a:rPr>
              <a:t>unique: 121</a:t>
            </a:r>
          </a:p>
        </p:txBody>
      </p:sp>
      <p:sp>
        <p:nvSpPr>
          <p:cNvPr id="40" name="Notes"/>
          <p:cNvSpPr txBox="1"/>
          <p:nvPr/>
        </p:nvSpPr>
        <p:spPr>
          <a:xfrm>
            <a:off x="457200" y="3383280"/>
            <a:ext cx="11277600" cy="283464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82880" tIns="137160" rIns="137160" anchor="t"/>
          <a:lstStyle/>
          <a:p>
            <a:pPr algn="l">
              <a:spcAft>
                <a:spcPts val="400"/>
              </a:spcAft>
              <a:buNone/>
            </a:pPr>
            <a:r>
              <a:rPr lang="ja-JP" sz="1400" b="1" dirty="0">
                <a:solidFill>
                  <a:srgbClr val="8B2E1E"/>
                </a:solidFill>
                <a:latin typeface="BIZ UDPGothic"/>
                <a:ea typeface="BIZ UDPGothic"/>
              </a:rPr>
              <a:t>データ品質に関する主要な所見</a:t>
            </a:r>
          </a:p>
          <a:p>
            <a:pPr marL="228600" indent="-228600" algn="l">
              <a:lnSpc>
                <a:spcPts val="2000"/>
              </a:lnSpc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GROSS SQUARE FEET（35.9%）およびLAND SQUARE FEET（35.1%）の欠損率が突出して高い</a:t>
            </a:r>
          </a:p>
          <a:p>
            <a:pPr marL="228600" indent="-228600" algn="l">
              <a:lnSpc>
                <a:spcPts val="2000"/>
              </a:lnSpc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YEAR BUILTに入力異常（0等）を含む — 実際の効果は補正後に再評価が必要</a:t>
            </a:r>
          </a:p>
          <a:p>
            <a:pPr marL="228600" indent="-228600" algn="l">
              <a:lnSpc>
                <a:spcPts val="2000"/>
              </a:lnSpc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ZIP CODEの0値が存在 — 外部ZIP参照による修正が可能</a:t>
            </a:r>
          </a:p>
          <a:p>
            <a:pPr marL="228600" indent="-228600" algn="l">
              <a:lnSpc>
                <a:spcPts val="2000"/>
              </a:lnSpc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対象カラムと型方針は分析計画に従い整理済み（selected_feature_count = 19）</a:t>
            </a:r>
          </a:p>
          <a:p>
            <a:pPr marL="228600" indent="-228600" algn="l">
              <a:lnSpc>
                <a:spcPts val="2000"/>
              </a:lnSpc>
              <a:buFont typeface="Arial"/>
              <a:buChar char="●"/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時系列粒度を直接示す信頼できる日付カラムが存在しない（市況サイクルの調整未実施）</a:t>
            </a:r>
          </a:p>
        </p:txBody>
      </p:sp>
    </p:spTree>
    <p:extLst>
      <p:ext uri="{BB962C8B-B14F-4D97-AF65-F5344CB8AC3E}">
        <p14:creationId xmlns:p14="http://schemas.microsoft.com/office/powerpoint/2010/main" val="324997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04  モデル評価結果</a:t>
            </a:r>
          </a:p>
        </p:txBody>
      </p:sp>
      <p:sp>
        <p:nvSpPr>
          <p:cNvPr id="11" name="RL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5" name="ModelLabel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1400" b="1" dirty="0">
                <a:solidFill>
                  <a:srgbClr val="8B2E1E"/>
                </a:solidFill>
                <a:latin typeface="BIZ UDPGothic"/>
                <a:ea typeface="BIZ UDPGothic"/>
              </a:rPr>
              <a:t>最終パイプライン：Random Forest</a:t>
            </a:r>
          </a:p>
        </p:txBody>
      </p:sp>
      <p:sp>
        <p:nvSpPr>
          <p:cNvPr id="20" name="M0"/>
          <p:cNvSpPr/>
          <p:nvPr/>
        </p:nvSpPr>
        <p:spPr>
          <a:xfrm>
            <a:off x="457200" y="1463040"/>
            <a:ext cx="3505200" cy="100584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9050">
            <a:solidFill>
              <a:srgbClr val="8B2E1E"/>
            </a:solidFill>
          </a:ln>
        </p:spPr>
        <p:txBody>
          <a:bodyPr lIns="137160" anchor="ctr"/>
          <a:lstStyle/>
          <a:p>
            <a:pPr algn="ctr">
              <a:buNone/>
            </a:pPr>
            <a:r>
              <a:rPr lang="en-US" sz="1200" dirty="0">
                <a:solidFill>
                  <a:srgbClr val="707070"/>
                </a:solidFill>
                <a:latin typeface="BIZ UDPGothic"/>
                <a:ea typeface="BIZ UDPGothic"/>
              </a:rPr>
              <a:t>RMSE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3200" b="1" dirty="0">
                <a:solidFill>
                  <a:srgbClr val="8B2E1E"/>
                </a:solidFill>
                <a:latin typeface="BIZ UDPGothic"/>
                <a:ea typeface="BIZ UDPGothic"/>
              </a:rPr>
              <a:t>699,839</a:t>
            </a:r>
          </a:p>
        </p:txBody>
      </p:sp>
      <p:sp>
        <p:nvSpPr>
          <p:cNvPr id="21" name="M1"/>
          <p:cNvSpPr/>
          <p:nvPr/>
        </p:nvSpPr>
        <p:spPr>
          <a:xfrm>
            <a:off x="4191000" y="1463040"/>
            <a:ext cx="3505200" cy="100584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9050">
            <a:solidFill>
              <a:srgbClr val="4A4A4A"/>
            </a:solidFill>
          </a:ln>
        </p:spPr>
        <p:txBody>
          <a:bodyPr lIns="137160" anchor="ctr"/>
          <a:lstStyle/>
          <a:p>
            <a:pPr algn="ctr">
              <a:buNone/>
            </a:pPr>
            <a:r>
              <a:rPr lang="en-US" sz="1200" dirty="0">
                <a:solidFill>
                  <a:srgbClr val="707070"/>
                </a:solidFill>
                <a:latin typeface="BIZ UDPGothic"/>
                <a:ea typeface="BIZ UDPGothic"/>
              </a:rPr>
              <a:t>MAE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3200" b="1" dirty="0">
                <a:solidFill>
                  <a:srgbClr val="4A4A4A"/>
                </a:solidFill>
                <a:latin typeface="BIZ UDPGothic"/>
                <a:ea typeface="BIZ UDPGothic"/>
              </a:rPr>
              <a:t>424,774</a:t>
            </a:r>
          </a:p>
        </p:txBody>
      </p:sp>
      <p:sp>
        <p:nvSpPr>
          <p:cNvPr id="22" name="M2"/>
          <p:cNvSpPr/>
          <p:nvPr/>
        </p:nvSpPr>
        <p:spPr>
          <a:xfrm>
            <a:off x="7924800" y="1463040"/>
            <a:ext cx="3505200" cy="1005840"/>
          </a:xfrm>
          <a:prstGeom prst="roundRect">
            <a:avLst>
              <a:gd name="adj" fmla="val 5000"/>
            </a:avLst>
          </a:prstGeom>
          <a:solidFill>
            <a:srgbClr val="8B2E1E"/>
          </a:solidFill>
          <a:ln w="19050">
            <a:solidFill>
              <a:srgbClr val="8B2E1E"/>
            </a:solidFill>
          </a:ln>
        </p:spPr>
        <p:txBody>
          <a:bodyPr lIns="137160" anchor="ctr"/>
          <a:lstStyle/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  <a:latin typeface="BIZ UDPGothic"/>
                <a:ea typeface="BIZ UDPGothic"/>
              </a:rPr>
              <a:t>R²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BIZ UDPGothic"/>
                <a:ea typeface="BIZ UDPGothic"/>
              </a:rPr>
              <a:t>0.482</a:t>
            </a:r>
          </a:p>
        </p:txBody>
      </p:sp>
      <p:sp>
        <p:nvSpPr>
          <p:cNvPr id="25" name="Gap"/>
          <p:cNvSpPr/>
          <p:nvPr/>
        </p:nvSpPr>
        <p:spPr>
          <a:xfrm>
            <a:off x="457200" y="2651760"/>
            <a:ext cx="11277600" cy="548640"/>
          </a:xfrm>
          <a:prstGeom prst="roundRect">
            <a:avLst>
              <a:gd name="adj" fmla="val 5000"/>
            </a:avLst>
          </a:prstGeom>
          <a:solidFill>
            <a:srgbClr val="FDF2F0"/>
          </a:solidFill>
          <a:ln w="19050">
            <a:solidFill>
              <a:srgbClr val="8B2E1E"/>
            </a:solidFill>
            <a:prstDash val="dash"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200" b="1" dirty="0">
                <a:solidFill>
                  <a:srgbClr val="8B2E1E"/>
                </a:solidFill>
                <a:latin typeface="BIZ UDPGothic"/>
                <a:ea typeface="BIZ UDPGothic"/>
              </a:rPr>
              <a:t>⚠ 過学習示唆：</a:t>
            </a: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Train R² = 0.932 vs Validation R² = 0.482 — 学習/検証ギャップが存在。非線形モデルは線形より優位だが、汎化性能の改善余地あり。</a:t>
            </a:r>
          </a:p>
        </p:txBody>
      </p:sp>
      <p:sp>
        <p:nvSpPr>
          <p:cNvPr id="30" name="LBH"/>
          <p:cNvSpPr txBox="1"/>
          <p:nvPr/>
        </p:nvSpPr>
        <p:spPr>
          <a:xfrm>
            <a:off x="457200" y="3383280"/>
            <a:ext cx="11277600" cy="36576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モデル比較リーダーボード</a:t>
            </a:r>
          </a:p>
        </p:txBody>
      </p:sp>
      <p:sp>
        <p:nvSpPr>
          <p:cNvPr id="40" name="BL0"/>
          <p:cNvSpPr txBox="1"/>
          <p:nvPr/>
        </p:nvSpPr>
        <p:spPr>
          <a:xfrm>
            <a:off x="457200" y="3840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8B2E1E"/>
                </a:solidFill>
                <a:latin typeface="BIZ UDPGothic"/>
                <a:ea typeface="BIZ UDPGothic"/>
              </a:rPr>
              <a:t>#1 random_forest</a:t>
            </a:r>
          </a:p>
        </p:txBody>
      </p:sp>
      <p:sp>
        <p:nvSpPr>
          <p:cNvPr id="41" name="Bar0"/>
          <p:cNvSpPr/>
          <p:nvPr/>
        </p:nvSpPr>
        <p:spPr>
          <a:xfrm>
            <a:off x="3200400" y="3886200"/>
            <a:ext cx="5875715" cy="182880"/>
          </a:xfrm>
          <a:prstGeom prst="roundRect">
            <a:avLst>
              <a:gd name="adj" fmla="val 50000"/>
            </a:avLst>
          </a:prstGeom>
          <a:solidFill>
            <a:srgbClr val="8B2E1E"/>
          </a:solidFill>
          <a:ln>
            <a:noFill/>
          </a:ln>
        </p:spPr>
        <p:txBody>
          <a:bodyPr rIns="91440" anchor="ctr"/>
          <a:lstStyle/>
          <a:p>
            <a:pPr algn="r"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/>
                <a:ea typeface="BIZ UDPGothic"/>
              </a:rPr>
              <a:t>R²=0.482</a:t>
            </a:r>
          </a:p>
        </p:txBody>
      </p:sp>
      <p:sp>
        <p:nvSpPr>
          <p:cNvPr id="42" name="BL1"/>
          <p:cNvSpPr txBox="1"/>
          <p:nvPr/>
        </p:nvSpPr>
        <p:spPr>
          <a:xfrm>
            <a:off x="457200" y="4160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en-US" sz="1000" dirty="0">
                <a:solidFill>
                  <a:srgbClr val="707070"/>
                </a:solidFill>
                <a:latin typeface="BIZ UDPGothic"/>
                <a:ea typeface="BIZ UDPGothic"/>
              </a:rPr>
              <a:t>#2 random_forest</a:t>
            </a:r>
          </a:p>
        </p:txBody>
      </p:sp>
      <p:sp>
        <p:nvSpPr>
          <p:cNvPr id="43" name="Bar1"/>
          <p:cNvSpPr/>
          <p:nvPr/>
        </p:nvSpPr>
        <p:spPr>
          <a:xfrm>
            <a:off x="3200400" y="4206240"/>
            <a:ext cx="4937614" cy="182880"/>
          </a:xfrm>
          <a:prstGeom prst="roundRect">
            <a:avLst>
              <a:gd name="adj" fmla="val 50000"/>
            </a:avLst>
          </a:prstGeom>
          <a:solidFill>
            <a:srgbClr val="A0A0A0"/>
          </a:solidFill>
          <a:ln>
            <a:noFill/>
          </a:ln>
        </p:spPr>
        <p:txBody>
          <a:bodyPr rIns="91440" anchor="ctr"/>
          <a:lstStyle/>
          <a:p>
            <a:pPr algn="r"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/>
                <a:ea typeface="BIZ UDPGothic"/>
              </a:rPr>
              <a:t>R²=0.472</a:t>
            </a:r>
          </a:p>
        </p:txBody>
      </p:sp>
      <p:sp>
        <p:nvSpPr>
          <p:cNvPr id="44" name="BL2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en-US" sz="1000" dirty="0">
                <a:solidFill>
                  <a:srgbClr val="707070"/>
                </a:solidFill>
                <a:latin typeface="BIZ UDPGothic"/>
                <a:ea typeface="BIZ UDPGothic"/>
              </a:rPr>
              <a:t>#3 random_forest</a:t>
            </a:r>
          </a:p>
        </p:txBody>
      </p:sp>
      <p:sp>
        <p:nvSpPr>
          <p:cNvPr id="45" name="Bar2"/>
          <p:cNvSpPr/>
          <p:nvPr/>
        </p:nvSpPr>
        <p:spPr>
          <a:xfrm>
            <a:off x="3200400" y="4526280"/>
            <a:ext cx="4937614" cy="182880"/>
          </a:xfrm>
          <a:prstGeom prst="roundRect">
            <a:avLst>
              <a:gd name="adj" fmla="val 50000"/>
            </a:avLst>
          </a:prstGeom>
          <a:solidFill>
            <a:srgbClr val="A0A0A0"/>
          </a:solidFill>
          <a:ln>
            <a:noFill/>
          </a:ln>
        </p:spPr>
        <p:txBody>
          <a:bodyPr rIns="91440" anchor="ctr"/>
          <a:lstStyle/>
          <a:p>
            <a:pPr algn="r"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/>
                <a:ea typeface="BIZ UDPGothic"/>
              </a:rPr>
              <a:t>R²=0.472</a:t>
            </a:r>
          </a:p>
        </p:txBody>
      </p:sp>
      <p:sp>
        <p:nvSpPr>
          <p:cNvPr id="46" name="BL3"/>
          <p:cNvSpPr txBox="1"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en-US" sz="1000" dirty="0">
                <a:solidFill>
                  <a:srgbClr val="707070"/>
                </a:solidFill>
                <a:latin typeface="BIZ UDPGothic"/>
                <a:ea typeface="BIZ UDPGothic"/>
              </a:rPr>
              <a:t>#4 hist_gradient_boosting</a:t>
            </a:r>
          </a:p>
        </p:txBody>
      </p:sp>
      <p:sp>
        <p:nvSpPr>
          <p:cNvPr id="47" name="Bar3"/>
          <p:cNvSpPr/>
          <p:nvPr/>
        </p:nvSpPr>
        <p:spPr>
          <a:xfrm>
            <a:off x="3200400" y="4846320"/>
            <a:ext cx="4571415" cy="182880"/>
          </a:xfrm>
          <a:prstGeom prst="roundRect">
            <a:avLst>
              <a:gd name="adj" fmla="val 50000"/>
            </a:avLst>
          </a:prstGeom>
          <a:solidFill>
            <a:srgbClr val="A0A0A0"/>
          </a:solidFill>
          <a:ln>
            <a:noFill/>
          </a:ln>
        </p:spPr>
        <p:txBody>
          <a:bodyPr rIns="91440" anchor="ctr"/>
          <a:lstStyle/>
          <a:p>
            <a:pPr algn="r"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/>
                <a:ea typeface="BIZ UDPGothic"/>
              </a:rPr>
              <a:t>R²=0.468</a:t>
            </a:r>
          </a:p>
        </p:txBody>
      </p:sp>
      <p:sp>
        <p:nvSpPr>
          <p:cNvPr id="48" name="BL4"/>
          <p:cNvSpPr txBox="1"/>
          <p:nvPr/>
        </p:nvSpPr>
        <p:spPr>
          <a:xfrm>
            <a:off x="457200" y="51206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en-US" sz="1000" dirty="0">
                <a:solidFill>
                  <a:srgbClr val="707070"/>
                </a:solidFill>
                <a:latin typeface="BIZ UDPGothic"/>
                <a:ea typeface="BIZ UDPGothic"/>
              </a:rPr>
              <a:t>#5 random_forest</a:t>
            </a:r>
          </a:p>
        </p:txBody>
      </p:sp>
      <p:sp>
        <p:nvSpPr>
          <p:cNvPr id="49" name="Bar4"/>
          <p:cNvSpPr/>
          <p:nvPr/>
        </p:nvSpPr>
        <p:spPr>
          <a:xfrm>
            <a:off x="3200400" y="5166360"/>
            <a:ext cx="1875764" cy="182880"/>
          </a:xfrm>
          <a:prstGeom prst="roundRect">
            <a:avLst>
              <a:gd name="adj" fmla="val 50000"/>
            </a:avLst>
          </a:prstGeom>
          <a:solidFill>
            <a:srgbClr val="A0A0A0"/>
          </a:solidFill>
          <a:ln>
            <a:noFill/>
          </a:ln>
        </p:spPr>
        <p:txBody>
          <a:bodyPr rIns="91440" anchor="ctr"/>
          <a:lstStyle/>
          <a:p>
            <a:pPr algn="r"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/>
                <a:ea typeface="BIZ UDPGothic"/>
              </a:rPr>
              <a:t>R²=0.440</a:t>
            </a:r>
          </a:p>
        </p:txBody>
      </p:sp>
      <p:sp>
        <p:nvSpPr>
          <p:cNvPr id="50" name="BL5"/>
          <p:cNvSpPr txBox="1"/>
          <p:nvPr/>
        </p:nvSpPr>
        <p:spPr>
          <a:xfrm>
            <a:off x="457200" y="54406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en-US" sz="1000" dirty="0">
                <a:solidFill>
                  <a:srgbClr val="707070"/>
                </a:solidFill>
                <a:latin typeface="BIZ UDPGothic"/>
                <a:ea typeface="BIZ UDPGothic"/>
              </a:rPr>
              <a:t>#6 extra_trees</a:t>
            </a:r>
          </a:p>
        </p:txBody>
      </p:sp>
      <p:sp>
        <p:nvSpPr>
          <p:cNvPr id="51" name="Bar5"/>
          <p:cNvSpPr/>
          <p:nvPr/>
        </p:nvSpPr>
        <p:spPr>
          <a:xfrm>
            <a:off x="3200400" y="5486400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A0A0A0"/>
          </a:solidFill>
          <a:ln>
            <a:noFill/>
          </a:ln>
        </p:spPr>
        <p:txBody>
          <a:bodyPr rIns="91440" anchor="ctr"/>
          <a:lstStyle/>
          <a:p>
            <a:pPr algn="r"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/>
                <a:ea typeface="BIZ UDPGothic"/>
              </a:rPr>
              <a:t>R²=0.431</a:t>
            </a:r>
          </a:p>
        </p:txBody>
      </p:sp>
    </p:spTree>
    <p:extLst>
      <p:ext uri="{BB962C8B-B14F-4D97-AF65-F5344CB8AC3E}">
        <p14:creationId xmlns:p14="http://schemas.microsoft.com/office/powerpoint/2010/main" val="2249690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04  主要な説明因子と制約付き解釈</a:t>
            </a:r>
          </a:p>
        </p:txBody>
      </p:sp>
      <p:sp>
        <p:nvSpPr>
          <p:cNvPr id="11" name="RL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5" name="SH1"/>
          <p:cNvSpPr txBox="1"/>
          <p:nvPr/>
        </p:nvSpPr>
        <p:spPr>
          <a:xfrm>
            <a:off x="457200" y="1051560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1600" b="1" dirty="0">
                <a:solidFill>
                  <a:srgbClr val="8B2E1E"/>
                </a:solidFill>
                <a:latin typeface="BIZ UDPGothic"/>
                <a:ea typeface="BIZ UDPGothic"/>
              </a:rPr>
              <a:t>主要な説明因子（解釈）</a:t>
            </a:r>
          </a:p>
        </p:txBody>
      </p:sp>
      <p:sp>
        <p:nvSpPr>
          <p:cNvPr id="20" name="FA0"/>
          <p:cNvSpPr/>
          <p:nvPr/>
        </p:nvSpPr>
        <p:spPr>
          <a:xfrm>
            <a:off x="457200" y="1463040"/>
            <a:ext cx="3505200" cy="54864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1" name="FC0"/>
          <p:cNvSpPr/>
          <p:nvPr/>
        </p:nvSpPr>
        <p:spPr>
          <a:xfrm>
            <a:off x="457200" y="1517904"/>
            <a:ext cx="3505200" cy="1682496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137160" anchor="t"/>
          <a:lstStyle/>
          <a:p>
            <a:pPr algn="l">
              <a:spcAft>
                <a:spcPts val="200"/>
              </a:spcAft>
              <a:buNone/>
            </a:pPr>
            <a:r>
              <a:rPr lang="ja-JP" sz="1000" b="1" dirty="0">
                <a:solidFill>
                  <a:srgbClr val="8B2E1E"/>
                </a:solidFill>
                <a:latin typeface="BIZ UDPGothic"/>
                <a:ea typeface="BIZ UDPGothic"/>
              </a:rPr>
              <a:t>最重要</a:t>
            </a:r>
          </a:p>
          <a:p>
            <a:pPr algn="l">
              <a:spcAft>
                <a:spcPts val="400"/>
              </a:spcAft>
              <a:buNone/>
            </a:pPr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立地（BOROUGH）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最も強い説明軸。Manhattan等と他BOROUGHで顕著な価格差が存在する。</a:t>
            </a:r>
          </a:p>
        </p:txBody>
      </p:sp>
      <p:sp>
        <p:nvSpPr>
          <p:cNvPr id="23" name="FA1"/>
          <p:cNvSpPr/>
          <p:nvPr/>
        </p:nvSpPr>
        <p:spPr>
          <a:xfrm>
            <a:off x="4191000" y="1463040"/>
            <a:ext cx="3505200" cy="54864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4" name="FC1"/>
          <p:cNvSpPr/>
          <p:nvPr/>
        </p:nvSpPr>
        <p:spPr>
          <a:xfrm>
            <a:off x="4191000" y="1517904"/>
            <a:ext cx="3505200" cy="1682496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137160" anchor="t"/>
          <a:lstStyle/>
          <a:p>
            <a:pPr algn="l">
              <a:spcAft>
                <a:spcPts val="200"/>
              </a:spcAft>
              <a:buNone/>
            </a:pPr>
            <a:r>
              <a:rPr lang="ja-JP" sz="1000" b="1" dirty="0">
                <a:solidFill>
                  <a:srgbClr val="4A4A4A"/>
                </a:solidFill>
                <a:latin typeface="BIZ UDPGothic"/>
                <a:ea typeface="BIZ UDPGothic"/>
              </a:rPr>
              <a:t>重要</a:t>
            </a:r>
          </a:p>
          <a:p>
            <a:pPr algn="l">
              <a:spcAft>
                <a:spcPts val="400"/>
              </a:spcAft>
              <a:buNone/>
            </a:pPr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規模（面積・戸数）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TOTAL UNITS、LAND/GROSS SFおよびRESIDENTIAL/COMMERCIAL UNITSは価格に正の寄与。ただし面積項目の欠損/ゼロ値がバイアス要因。</a:t>
            </a:r>
          </a:p>
        </p:txBody>
      </p:sp>
      <p:sp>
        <p:nvSpPr>
          <p:cNvPr id="26" name="FA2"/>
          <p:cNvSpPr/>
          <p:nvPr/>
        </p:nvSpPr>
        <p:spPr>
          <a:xfrm>
            <a:off x="7924800" y="1463040"/>
            <a:ext cx="3505200" cy="54864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7" name="FC2"/>
          <p:cNvSpPr/>
          <p:nvPr/>
        </p:nvSpPr>
        <p:spPr>
          <a:xfrm>
            <a:off x="7924800" y="1517904"/>
            <a:ext cx="3505200" cy="1682496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137160" anchor="t"/>
          <a:lstStyle/>
          <a:p>
            <a:pPr algn="l">
              <a:spcAft>
                <a:spcPts val="200"/>
              </a:spcAft>
              <a:buNone/>
            </a:pPr>
            <a:r>
              <a:rPr lang="ja-JP" sz="1000" b="1" dirty="0">
                <a:solidFill>
                  <a:srgbClr val="707070"/>
                </a:solidFill>
                <a:latin typeface="BIZ UDPGothic"/>
                <a:ea typeface="BIZ UDPGothic"/>
              </a:rPr>
              <a:t>要再評価</a:t>
            </a:r>
          </a:p>
          <a:p>
            <a:pPr algn="l">
              <a:spcAft>
                <a:spcPts val="400"/>
              </a:spcAft>
              <a:buNone/>
            </a:pPr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築年（YEAR BUILT）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入力異常（0等）を含むため、実際の効果は補正後に再評価が必要である。</a:t>
            </a:r>
          </a:p>
        </p:txBody>
      </p:sp>
      <p:sp>
        <p:nvSpPr>
          <p:cNvPr id="35" name="SH2"/>
          <p:cNvSpPr txBox="1"/>
          <p:nvPr/>
        </p:nvSpPr>
        <p:spPr>
          <a:xfrm>
            <a:off x="457200" y="3383280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1600" b="1" dirty="0">
                <a:solidFill>
                  <a:srgbClr val="8B2E1E"/>
                </a:solidFill>
                <a:latin typeface="BIZ UDPGothic"/>
                <a:ea typeface="BIZ UDPGothic"/>
              </a:rPr>
              <a:t>制約付きの解釈（必須注記）</a:t>
            </a:r>
          </a:p>
        </p:txBody>
      </p:sp>
      <p:sp>
        <p:nvSpPr>
          <p:cNvPr id="40" name="Con0"/>
          <p:cNvSpPr/>
          <p:nvPr/>
        </p:nvSpPr>
        <p:spPr>
          <a:xfrm>
            <a:off x="457200" y="3840480"/>
            <a:ext cx="5486400" cy="2194560"/>
          </a:xfrm>
          <a:prstGeom prst="roundRect">
            <a:avLst>
              <a:gd name="adj" fmla="val 3000"/>
            </a:avLst>
          </a:prstGeom>
          <a:solidFill>
            <a:srgbClr val="FDF2F0"/>
          </a:solidFill>
          <a:ln w="19050">
            <a:solidFill>
              <a:srgbClr val="8B2E1E"/>
            </a:solidFill>
            <a:prstDash val="dash"/>
          </a:ln>
        </p:spPr>
        <p:txBody>
          <a:bodyPr wrap="square" lIns="182880" tIns="137160" rIns="137160" anchor="t"/>
          <a:lstStyle/>
          <a:p>
            <a:pPr algn="l">
              <a:spcAft>
                <a:spcPts val="400"/>
              </a:spcAft>
              <a:buNone/>
            </a:pPr>
            <a:r>
              <a:rPr lang="ja-JP" sz="1400" b="1" dirty="0">
                <a:solidFill>
                  <a:srgbClr val="8B2E1E"/>
                </a:solidFill>
                <a:latin typeface="BIZ UDPGothic"/>
                <a:ea typeface="BIZ UDPGothic"/>
              </a:rPr>
              <a:t>日付情報の欠如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市況サイクル（market cycle）を直接考慮できる信頼できる日付カラムが存在しないため、市況変動の調整は未実施。価格推定に一部バイアスが残る可能性がある。</a:t>
            </a:r>
          </a:p>
        </p:txBody>
      </p:sp>
      <p:sp>
        <p:nvSpPr>
          <p:cNvPr id="41" name="Con1"/>
          <p:cNvSpPr/>
          <p:nvPr/>
        </p:nvSpPr>
        <p:spPr>
          <a:xfrm>
            <a:off x="6324600" y="3840480"/>
            <a:ext cx="5486400" cy="2194560"/>
          </a:xfrm>
          <a:prstGeom prst="roundRect">
            <a:avLst>
              <a:gd name="adj" fmla="val 3000"/>
            </a:avLst>
          </a:prstGeom>
          <a:solidFill>
            <a:srgbClr val="FDF2F0"/>
          </a:solidFill>
          <a:ln w="19050">
            <a:solidFill>
              <a:srgbClr val="8B2E1E"/>
            </a:solidFill>
            <a:prstDash val="dash"/>
          </a:ln>
        </p:spPr>
        <p:txBody>
          <a:bodyPr wrap="square" lIns="182880" tIns="137160" rIns="137160" anchor="t"/>
          <a:lstStyle/>
          <a:p>
            <a:pPr algn="l">
              <a:spcAft>
                <a:spcPts val="400"/>
              </a:spcAft>
              <a:buNone/>
            </a:pPr>
            <a:r>
              <a:rPr lang="ja-JP" sz="1400" b="1" dirty="0">
                <a:solidFill>
                  <a:srgbClr val="8B2E1E"/>
                </a:solidFill>
                <a:latin typeface="BIZ UDPGothic"/>
                <a:ea typeface="BIZ UDPGothic"/>
              </a:rPr>
              <a:t>高カーディナリティ項目の除外</a:t>
            </a:r>
          </a:p>
          <a:p>
            <a:pPr algn="l">
              <a:lnSpc>
                <a:spcPts val="1800"/>
              </a:lnSpc>
              <a:buNone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NEIGHBORHOOD等の地域識別を除外した結果、局所的な説明力は低下する一方で過学習リスクは低減した。トレードオフとして許容。</a:t>
            </a:r>
          </a:p>
        </p:txBody>
      </p:sp>
    </p:spTree>
    <p:extLst>
      <p:ext uri="{BB962C8B-B14F-4D97-AF65-F5344CB8AC3E}">
        <p14:creationId xmlns:p14="http://schemas.microsoft.com/office/powerpoint/2010/main" val="3083997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05  業務提言① データ品質改善</a:t>
            </a:r>
          </a:p>
        </p:txBody>
      </p:sp>
      <p:sp>
        <p:nvSpPr>
          <p:cNvPr id="11" name="RL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2" name="Badge"/>
          <p:cNvSpPr/>
          <p:nvPr/>
        </p:nvSpPr>
        <p:spPr>
          <a:xfrm>
            <a:off x="457200" y="10515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8B2E1E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ja-JP" sz="1200" b="1" dirty="0">
                <a:solidFill>
                  <a:srgbClr val="FFFFFF"/>
                </a:solidFill>
                <a:latin typeface="BIZ UDPGothic"/>
                <a:ea typeface="BIZ UDPGothic"/>
              </a:rPr>
              <a:t>即時優先 / ROI 高</a:t>
            </a:r>
          </a:p>
        </p:txBody>
      </p:sp>
      <p:sp>
        <p:nvSpPr>
          <p:cNvPr id="20" name="N0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8B2E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/>
                <a:ea typeface="BIZ UDPGothic"/>
              </a:rPr>
              <a:t>1</a:t>
            </a:r>
          </a:p>
        </p:txBody>
      </p:sp>
      <p:sp>
        <p:nvSpPr>
          <p:cNvPr id="21" name="IT0"/>
          <p:cNvSpPr txBox="1"/>
          <p:nvPr/>
        </p:nvSpPr>
        <p:spPr>
          <a:xfrm>
            <a:off x="1005840" y="1554480"/>
            <a:ext cx="295656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sz="1400" b="1" dirty="0">
                <a:solidFill>
                  <a:srgbClr val="1A1A1A"/>
                </a:solidFill>
                <a:latin typeface="BIZ UDPGothic"/>
                <a:ea typeface="BIZ UDPGothic"/>
              </a:rPr>
              <a:t>LAND / GROSS SQUARE FEET</a:t>
            </a:r>
          </a:p>
        </p:txBody>
      </p:sp>
      <p:sp>
        <p:nvSpPr>
          <p:cNvPr id="22" name="IB0"/>
          <p:cNvSpPr txBox="1"/>
          <p:nvPr/>
        </p:nvSpPr>
        <p:spPr>
          <a:xfrm>
            <a:off x="457200" y="2103120"/>
            <a:ext cx="3505200" cy="182880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91440" anchor="t"/>
          <a:lstStyle/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欠損補完・源泉確認を実施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欠損の多くは記録欠落か非開示が想定される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外部ソースや現地調査での補填を推奨</a:t>
            </a:r>
          </a:p>
        </p:txBody>
      </p:sp>
      <p:sp>
        <p:nvSpPr>
          <p:cNvPr id="23" name="N1"/>
          <p:cNvSpPr/>
          <p:nvPr/>
        </p:nvSpPr>
        <p:spPr>
          <a:xfrm>
            <a:off x="4191000" y="1554480"/>
            <a:ext cx="457200" cy="457200"/>
          </a:xfrm>
          <a:prstGeom prst="ellipse">
            <a:avLst/>
          </a:prstGeom>
          <a:solidFill>
            <a:srgbClr val="8B2E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/>
                <a:ea typeface="BIZ UDPGothic"/>
              </a:rPr>
              <a:t>2</a:t>
            </a:r>
          </a:p>
        </p:txBody>
      </p:sp>
      <p:sp>
        <p:nvSpPr>
          <p:cNvPr id="24" name="IT1"/>
          <p:cNvSpPr txBox="1"/>
          <p:nvPr/>
        </p:nvSpPr>
        <p:spPr>
          <a:xfrm>
            <a:off x="4739640" y="1554480"/>
            <a:ext cx="295656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sz="1400" b="1" dirty="0">
                <a:solidFill>
                  <a:srgbClr val="1A1A1A"/>
                </a:solidFill>
                <a:latin typeface="BIZ UDPGothic"/>
                <a:ea typeface="BIZ UDPGothic"/>
              </a:rPr>
              <a:t>YEAR BUILT</a:t>
            </a:r>
          </a:p>
        </p:txBody>
      </p:sp>
      <p:sp>
        <p:nvSpPr>
          <p:cNvPr id="25" name="IB1"/>
          <p:cNvSpPr txBox="1"/>
          <p:nvPr/>
        </p:nvSpPr>
        <p:spPr>
          <a:xfrm>
            <a:off x="4191000" y="2103120"/>
            <a:ext cx="3505200" cy="182880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91440" anchor="t"/>
          <a:lstStyle/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0や明らかな異常値を「不明」「入力異常」等にラベリング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補完ルールを定義（中央値補完ではなくカテゴリ化による扱いを推奨）</a:t>
            </a:r>
          </a:p>
        </p:txBody>
      </p:sp>
      <p:sp>
        <p:nvSpPr>
          <p:cNvPr id="26" name="N2"/>
          <p:cNvSpPr/>
          <p:nvPr/>
        </p:nvSpPr>
        <p:spPr>
          <a:xfrm>
            <a:off x="7924800" y="1554480"/>
            <a:ext cx="457200" cy="457200"/>
          </a:xfrm>
          <a:prstGeom prst="ellipse">
            <a:avLst/>
          </a:prstGeom>
          <a:solidFill>
            <a:srgbClr val="8B2E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/>
                <a:ea typeface="BIZ UDPGothic"/>
              </a:rPr>
              <a:t>3</a:t>
            </a:r>
          </a:p>
        </p:txBody>
      </p:sp>
      <p:sp>
        <p:nvSpPr>
          <p:cNvPr id="27" name="IT2"/>
          <p:cNvSpPr txBox="1"/>
          <p:nvPr/>
        </p:nvSpPr>
        <p:spPr>
          <a:xfrm>
            <a:off x="8473440" y="1554480"/>
            <a:ext cx="295656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sz="1400" b="1" dirty="0">
                <a:solidFill>
                  <a:srgbClr val="1A1A1A"/>
                </a:solidFill>
                <a:latin typeface="BIZ UDPGothic"/>
                <a:ea typeface="BIZ UDPGothic"/>
              </a:rPr>
              <a:t>ZIP CODE</a:t>
            </a:r>
          </a:p>
        </p:txBody>
      </p:sp>
      <p:sp>
        <p:nvSpPr>
          <p:cNvPr id="28" name="IB2"/>
          <p:cNvSpPr txBox="1"/>
          <p:nvPr/>
        </p:nvSpPr>
        <p:spPr>
          <a:xfrm>
            <a:off x="7924800" y="2103120"/>
            <a:ext cx="3505200" cy="182880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91440" anchor="t"/>
          <a:lstStyle/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0値確認と補正を実施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外部ZIP参照により修正可能なデータは修正する</a:t>
            </a:r>
          </a:p>
        </p:txBody>
      </p:sp>
      <p:sp>
        <p:nvSpPr>
          <p:cNvPr id="35" name="BU"/>
          <p:cNvSpPr/>
          <p:nvPr/>
        </p:nvSpPr>
        <p:spPr>
          <a:xfrm>
            <a:off x="457200" y="4114800"/>
            <a:ext cx="11277600" cy="36576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業務利用観点の対応</a:t>
            </a:r>
          </a:p>
        </p:txBody>
      </p:sp>
      <p:sp>
        <p:nvSpPr>
          <p:cNvPr id="36" name="BUB"/>
          <p:cNvSpPr txBox="1"/>
          <p:nvPr/>
        </p:nvSpPr>
        <p:spPr>
          <a:xfrm>
            <a:off x="457200" y="4572000"/>
            <a:ext cx="11277600" cy="155448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82880" tIns="137160" rIns="137160" anchor="t"/>
          <a:lstStyle/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案件スクリーニング用途では、モデル出力を「参考スコア（相対評価）」として利用し、必ず立地階層（BOROUGH）別の補正テーブルを併用すること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価格差の解釈時は「データ事実」「推定」「提案」を明確に分離する運用ルールを文書化する（評価レポートテンプレートに措置）</a:t>
            </a:r>
          </a:p>
        </p:txBody>
      </p:sp>
    </p:spTree>
    <p:extLst>
      <p:ext uri="{BB962C8B-B14F-4D97-AF65-F5344CB8AC3E}">
        <p14:creationId xmlns:p14="http://schemas.microsoft.com/office/powerpoint/2010/main" val="2165552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05  業務提言② モデル運用・ガバナンス・追加データ</a:t>
            </a:r>
          </a:p>
        </p:txBody>
      </p:sp>
      <p:sp>
        <p:nvSpPr>
          <p:cNvPr id="11" name="RL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0" name="SH0"/>
          <p:cNvSpPr/>
          <p:nvPr/>
        </p:nvSpPr>
        <p:spPr>
          <a:xfrm>
            <a:off x="457200" y="1097280"/>
            <a:ext cx="3505200" cy="457200"/>
          </a:xfrm>
          <a:prstGeom prst="roundRect">
            <a:avLst>
              <a:gd name="adj" fmla="val 5000"/>
            </a:avLst>
          </a:prstGeom>
          <a:solidFill>
            <a:srgbClr val="8B2E1E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モデル運用・監視</a:t>
            </a:r>
          </a:p>
        </p:txBody>
      </p:sp>
      <p:sp>
        <p:nvSpPr>
          <p:cNvPr id="21" name="SC0"/>
          <p:cNvSpPr txBox="1"/>
          <p:nvPr/>
        </p:nvSpPr>
        <p:spPr>
          <a:xfrm>
            <a:off x="457200" y="1645920"/>
            <a:ext cx="3505200" cy="493776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91440" anchor="t"/>
          <a:lstStyle/>
          <a:p>
            <a:pPr algn="l">
              <a:spcBef>
                <a:spcPts val="400"/>
              </a:spcBef>
              <a:spcAft>
                <a:spcPts val="100"/>
              </a:spcAft>
              <a:buNone/>
            </a:pPr>
            <a:r>
              <a:rPr lang="ja-JP" sz="1100" b="1" dirty="0">
                <a:solidFill>
                  <a:srgbClr val="8B2E1E"/>
                </a:solidFill>
                <a:latin typeface="BIZ UDPGothic"/>
                <a:ea typeface="BIZ UDPGothic"/>
              </a:rPr>
              <a:t>監視KPI設定</a:t>
            </a:r>
          </a:p>
          <a:p>
            <a:pPr algn="l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予測誤差（MAE, RMSE）月次推移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buNone/>
            </a:pPr>
            <a:r>
              <a:rPr lang="ja-JP" sz="1100" b="1" dirty="0">
                <a:solidFill>
                  <a:srgbClr val="8B2E1E"/>
                </a:solidFill>
                <a:latin typeface="BIZ UDPGothic"/>
                <a:ea typeface="BIZ UDPGothic"/>
              </a:rPr>
              <a:t>データ品質監視</a:t>
            </a:r>
          </a:p>
          <a:p>
            <a:pPr algn="l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主要項目の欠損率閾値超過件数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buNone/>
            </a:pPr>
            <a:r>
              <a:rPr lang="ja-JP" sz="1100" b="1" dirty="0">
                <a:solidFill>
                  <a:srgbClr val="8B2E1E"/>
                </a:solidFill>
                <a:latin typeface="BIZ UDPGothic"/>
                <a:ea typeface="BIZ UDPGothic"/>
              </a:rPr>
              <a:t>ドリフト検知</a:t>
            </a:r>
          </a:p>
          <a:p>
            <a:pPr algn="l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主要説明変数の分布変化モニタリング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buNone/>
            </a:pPr>
            <a:r>
              <a:rPr lang="ja-JP" sz="1100" b="1" dirty="0">
                <a:solidFill>
                  <a:srgbClr val="8B2E1E"/>
                </a:solidFill>
                <a:latin typeface="BIZ UDPGothic"/>
                <a:ea typeface="BIZ UDPGothic"/>
              </a:rPr>
              <a:t>再学習頻度</a:t>
            </a:r>
          </a:p>
          <a:p>
            <a:pPr algn="l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四半期ごと（最低限）。重大市場変動時は即時実施</a:t>
            </a:r>
          </a:p>
        </p:txBody>
      </p:sp>
      <p:sp>
        <p:nvSpPr>
          <p:cNvPr id="22" name="SH1"/>
          <p:cNvSpPr/>
          <p:nvPr/>
        </p:nvSpPr>
        <p:spPr>
          <a:xfrm>
            <a:off x="4191000" y="1097280"/>
            <a:ext cx="3505200" cy="4572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ガバナンス・運用体制</a:t>
            </a:r>
          </a:p>
        </p:txBody>
      </p:sp>
      <p:sp>
        <p:nvSpPr>
          <p:cNvPr id="23" name="SC1"/>
          <p:cNvSpPr txBox="1"/>
          <p:nvPr/>
        </p:nvSpPr>
        <p:spPr>
          <a:xfrm>
            <a:off x="4191000" y="1645920"/>
            <a:ext cx="3505200" cy="493776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91440" anchor="t"/>
          <a:lstStyle/>
          <a:p>
            <a:pPr algn="l">
              <a:spcBef>
                <a:spcPts val="400"/>
              </a:spcBef>
              <a:spcAft>
                <a:spcPts val="100"/>
              </a:spcAft>
              <a:buNone/>
            </a:pPr>
            <a:r>
              <a:rPr lang="ja-JP" sz="1100" b="1" dirty="0">
                <a:solidFill>
                  <a:srgbClr val="4A4A4A"/>
                </a:solidFill>
                <a:latin typeface="BIZ UDPGothic"/>
                <a:ea typeface="BIZ UDPGothic"/>
              </a:rPr>
              <a:t>データ管理責任者</a:t>
            </a:r>
          </a:p>
          <a:p>
            <a:pPr algn="l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クライアント内に明確化（補正要件の承認窓口）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buNone/>
            </a:pPr>
            <a:r>
              <a:rPr lang="ja-JP" sz="1100" b="1" dirty="0">
                <a:solidFill>
                  <a:srgbClr val="4A4A4A"/>
                </a:solidFill>
                <a:latin typeface="BIZ UDPGothic"/>
                <a:ea typeface="BIZ UDPGothic"/>
              </a:rPr>
              <a:t>変更管理プロセス</a:t>
            </a:r>
          </a:p>
          <a:p>
            <a:pPr algn="l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提案→影響評価→承認→実施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buNone/>
            </a:pPr>
            <a:r>
              <a:rPr lang="ja-JP" sz="1100" b="1" dirty="0">
                <a:solidFill>
                  <a:srgbClr val="4A4A4A"/>
                </a:solidFill>
                <a:latin typeface="BIZ UDPGothic"/>
                <a:ea typeface="BIZ UDPGothic"/>
              </a:rPr>
              <a:t>追加分析・外部データ</a:t>
            </a:r>
          </a:p>
          <a:p>
            <a:pPr algn="l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PMを経由して合意を取得（契約の変更管理に準拠）</a:t>
            </a:r>
          </a:p>
        </p:txBody>
      </p:sp>
      <p:sp>
        <p:nvSpPr>
          <p:cNvPr id="24" name="SH2"/>
          <p:cNvSpPr/>
          <p:nvPr/>
        </p:nvSpPr>
        <p:spPr>
          <a:xfrm>
            <a:off x="7924800" y="1097280"/>
            <a:ext cx="3505200" cy="457200"/>
          </a:xfrm>
          <a:prstGeom prst="roundRect">
            <a:avLst>
              <a:gd name="adj" fmla="val 5000"/>
            </a:avLst>
          </a:prstGeom>
          <a:solidFill>
            <a:srgbClr val="707070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追加データ・高度化</a:t>
            </a:r>
          </a:p>
        </p:txBody>
      </p:sp>
      <p:sp>
        <p:nvSpPr>
          <p:cNvPr id="25" name="SC2"/>
          <p:cNvSpPr txBox="1"/>
          <p:nvPr/>
        </p:nvSpPr>
        <p:spPr>
          <a:xfrm>
            <a:off x="7924800" y="1645920"/>
            <a:ext cx="3505200" cy="493776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91440" anchor="t"/>
          <a:lstStyle/>
          <a:p>
            <a:pPr algn="l">
              <a:spcBef>
                <a:spcPts val="400"/>
              </a:spcBef>
              <a:spcAft>
                <a:spcPts val="100"/>
              </a:spcAft>
              <a:buNone/>
            </a:pPr>
            <a:r>
              <a:rPr lang="ja-JP" sz="1100" b="1" dirty="0">
                <a:solidFill>
                  <a:srgbClr val="707070"/>
                </a:solidFill>
                <a:latin typeface="BIZ UDPGothic"/>
                <a:ea typeface="BIZ UDPGothic"/>
              </a:rPr>
              <a:t>最優先</a:t>
            </a:r>
          </a:p>
          <a:p>
            <a:pPr algn="l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市場時系列（取引日・市況インデックス）、住宅供給指標、近隣取引の価格履歴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buNone/>
            </a:pPr>
            <a:r>
              <a:rPr lang="ja-JP" sz="1100" b="1" dirty="0">
                <a:solidFill>
                  <a:srgbClr val="707070"/>
                </a:solidFill>
                <a:latin typeface="BIZ UDPGothic"/>
                <a:ea typeface="BIZ UDPGothic"/>
              </a:rPr>
              <a:t>次点</a:t>
            </a:r>
          </a:p>
          <a:p>
            <a:pPr algn="l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評価書データや賃料情報（NOI推定のため）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buNone/>
            </a:pPr>
            <a:r>
              <a:rPr lang="ja-JP" sz="1100" b="1" dirty="0">
                <a:solidFill>
                  <a:srgbClr val="707070"/>
                </a:solidFill>
                <a:latin typeface="BIZ UDPGothic"/>
                <a:ea typeface="BIZ UDPGothic"/>
              </a:rPr>
              <a:t>期待効果</a:t>
            </a:r>
          </a:p>
          <a:p>
            <a:pPr algn="l">
              <a:lnSpc>
                <a:spcPts val="1600"/>
              </a:lnSpc>
              <a:buNone/>
            </a:pP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整備されればモデル精度と業務価値が大幅向上</a:t>
            </a:r>
          </a:p>
        </p:txBody>
      </p:sp>
    </p:spTree>
    <p:extLst>
      <p:ext uri="{BB962C8B-B14F-4D97-AF65-F5344CB8AC3E}">
        <p14:creationId xmlns:p14="http://schemas.microsoft.com/office/powerpoint/2010/main" val="1040039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06  実装・運用計画</a:t>
            </a:r>
          </a:p>
        </p:txBody>
      </p:sp>
      <p:sp>
        <p:nvSpPr>
          <p:cNvPr id="11" name="RL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5" name="ArrowLine"/>
          <p:cNvSpPr/>
          <p:nvPr/>
        </p:nvSpPr>
        <p:spPr>
          <a:xfrm>
            <a:off x="3962400" y="1325880"/>
            <a:ext cx="228600" cy="0"/>
          </a:xfrm>
          <a:prstGeom prst="line">
            <a:avLst/>
          </a:prstGeom>
          <a:ln w="25400">
            <a:solidFill>
              <a:srgbClr val="D0D0D0"/>
            </a:solidFill>
            <a:headEnd type="none"/>
            <a:tailEnd type="triangle"/>
          </a:ln>
        </p:spPr>
        <p:txBody>
          <a:bodyPr/>
          <a:lstStyle/>
          <a:p>
            <a:endParaRPr lang="ja-JP"/>
          </a:p>
        </p:txBody>
      </p:sp>
      <p:sp>
        <p:nvSpPr>
          <p:cNvPr id="16" name="ArrowLine2"/>
          <p:cNvSpPr/>
          <p:nvPr/>
        </p:nvSpPr>
        <p:spPr>
          <a:xfrm>
            <a:off x="7696200" y="1325880"/>
            <a:ext cx="228600" cy="0"/>
          </a:xfrm>
          <a:prstGeom prst="line">
            <a:avLst/>
          </a:prstGeom>
          <a:ln w="25400">
            <a:solidFill>
              <a:srgbClr val="D0D0D0"/>
            </a:solidFill>
            <a:headEnd type="none"/>
            <a:tailEnd type="triangle"/>
          </a:ln>
        </p:spPr>
        <p:txBody>
          <a:bodyPr/>
          <a:lstStyle/>
          <a:p>
            <a:endParaRPr lang="ja-JP"/>
          </a:p>
        </p:txBody>
      </p:sp>
      <p:sp>
        <p:nvSpPr>
          <p:cNvPr id="20" name="PH0"/>
          <p:cNvSpPr/>
          <p:nvPr/>
        </p:nvSpPr>
        <p:spPr>
          <a:xfrm>
            <a:off x="457200" y="1097280"/>
            <a:ext cx="3505200" cy="457200"/>
          </a:xfrm>
          <a:prstGeom prst="roundRect">
            <a:avLst>
              <a:gd name="adj" fmla="val 5000"/>
            </a:avLst>
          </a:prstGeom>
          <a:solidFill>
            <a:srgbClr val="8B2E1E"/>
          </a:solidFill>
          <a:ln>
            <a:noFill/>
          </a:ln>
        </p:spPr>
        <p:txBody>
          <a:bodyPr lIns="182880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短期（0-3ヶ月）</a:t>
            </a:r>
          </a:p>
        </p:txBody>
      </p:sp>
      <p:sp>
        <p:nvSpPr>
          <p:cNvPr id="21" name="PC0"/>
          <p:cNvSpPr txBox="1"/>
          <p:nvPr/>
        </p:nvSpPr>
        <p:spPr>
          <a:xfrm>
            <a:off x="457200" y="1645920"/>
            <a:ext cx="3505200" cy="274320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91440" anchor="t"/>
          <a:lstStyle/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データ品質修正作業（欠損集計→補完ポリシー確定→データクリーニング）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モデル再学習（前処理反映後のRandom Forest調整、ハイパーパラメータ最適化）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モデル評価基準と評価レポートテンプレートの確立</a:t>
            </a:r>
          </a:p>
        </p:txBody>
      </p:sp>
      <p:sp>
        <p:nvSpPr>
          <p:cNvPr id="22" name="PH1"/>
          <p:cNvSpPr/>
          <p:nvPr/>
        </p:nvSpPr>
        <p:spPr>
          <a:xfrm>
            <a:off x="4191000" y="1097280"/>
            <a:ext cx="3505200" cy="4572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lIns="182880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中期（3-6ヶ月）</a:t>
            </a:r>
          </a:p>
        </p:txBody>
      </p:sp>
      <p:sp>
        <p:nvSpPr>
          <p:cNvPr id="23" name="PC1"/>
          <p:cNvSpPr txBox="1"/>
          <p:nvPr/>
        </p:nvSpPr>
        <p:spPr>
          <a:xfrm>
            <a:off x="4191000" y="1645920"/>
            <a:ext cx="3505200" cy="274320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91440" anchor="t"/>
          <a:lstStyle/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モデル運用パイプライン整備（バッチスコアリング、モニタリング基盤、工数最小化）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外部市場データの試験的取り込みと影響評価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業務フローへのスコア出力実装（案件スクリーニングレポートに搭載）</a:t>
            </a:r>
          </a:p>
        </p:txBody>
      </p:sp>
      <p:sp>
        <p:nvSpPr>
          <p:cNvPr id="24" name="PH2"/>
          <p:cNvSpPr/>
          <p:nvPr/>
        </p:nvSpPr>
        <p:spPr>
          <a:xfrm>
            <a:off x="7924800" y="1097280"/>
            <a:ext cx="3505200" cy="457200"/>
          </a:xfrm>
          <a:prstGeom prst="roundRect">
            <a:avLst>
              <a:gd name="adj" fmla="val 5000"/>
            </a:avLst>
          </a:prstGeom>
          <a:solidFill>
            <a:srgbClr val="707070"/>
          </a:solidFill>
          <a:ln>
            <a:noFill/>
          </a:ln>
        </p:spPr>
        <p:txBody>
          <a:bodyPr lIns="182880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長期（6-12ヶ月）</a:t>
            </a:r>
          </a:p>
        </p:txBody>
      </p:sp>
      <p:sp>
        <p:nvSpPr>
          <p:cNvPr id="25" name="PC2"/>
          <p:cNvSpPr txBox="1"/>
          <p:nvPr/>
        </p:nvSpPr>
        <p:spPr>
          <a:xfrm>
            <a:off x="7924800" y="1645920"/>
            <a:ext cx="3505200" cy="274320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37160" tIns="137160" rIns="91440" anchor="t"/>
          <a:lstStyle/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リアルタイム/半リアルタイム評価基盤の検討（必要に応じて）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継続的改善サイクル（A/B検証、業務フィードバック反映）</a:t>
            </a:r>
          </a:p>
          <a:p>
            <a:pPr marL="228600" indent="-228600" algn="l">
              <a:lnSpc>
                <a:spcPts val="1800"/>
              </a:lnSpc>
              <a:spcBef>
                <a:spcPts val="4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標準化ドキュメントの更新と社内展開（運用担当へのハンズオン）</a:t>
            </a:r>
          </a:p>
        </p:txBody>
      </p:sp>
      <p:sp>
        <p:nvSpPr>
          <p:cNvPr id="30" name="CostH"/>
          <p:cNvSpPr/>
          <p:nvPr/>
        </p:nvSpPr>
        <p:spPr>
          <a:xfrm>
            <a:off x="457200" y="4572000"/>
            <a:ext cx="11277600" cy="36576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費用・請求（確定事項／契約準拠）</a:t>
            </a:r>
          </a:p>
        </p:txBody>
      </p:sp>
      <p:sp>
        <p:nvSpPr>
          <p:cNvPr id="35" name="Cost0"/>
          <p:cNvSpPr/>
          <p:nvPr/>
        </p:nvSpPr>
        <p:spPr>
          <a:xfrm>
            <a:off x="457200" y="502920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2700">
            <a:solidFill>
              <a:srgbClr val="E0DEDA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ja-JP" sz="1000" dirty="0">
                <a:solidFill>
                  <a:srgbClr val="707070"/>
                </a:solidFill>
                <a:latin typeface="BIZ UDPGothic"/>
                <a:ea typeface="BIZ UDPGothic"/>
              </a:rPr>
              <a:t>実績工数</a:t>
            </a:r>
          </a:p>
          <a:p>
            <a:pPr algn="ctr">
              <a:spcBef>
                <a:spcPts val="200"/>
              </a:spcBef>
              <a:buNone/>
            </a:pPr>
            <a:r>
              <a:rPr lang="ja-JP" sz="1800" b="1" dirty="0">
                <a:solidFill>
                  <a:srgbClr val="1A1A1A"/>
                </a:solidFill>
                <a:latin typeface="BIZ UDPGothic"/>
                <a:ea typeface="BIZ UDPGothic"/>
              </a:rPr>
              <a:t>184.5時間</a:t>
            </a:r>
          </a:p>
          <a:p>
            <a:pPr algn="ctr">
              <a:buNone/>
            </a:pPr>
            <a:r>
              <a:rPr lang="ja-JP" sz="900" dirty="0">
                <a:solidFill>
                  <a:srgbClr val="A0A0A0"/>
                </a:solidFill>
                <a:latin typeface="BIZ UDPGothic"/>
                <a:ea typeface="BIZ UDPGothic"/>
              </a:rPr>
              <a:t>30分単位丸め</a:t>
            </a:r>
          </a:p>
        </p:txBody>
      </p:sp>
      <p:sp>
        <p:nvSpPr>
          <p:cNvPr id="36" name="Cost1"/>
          <p:cNvSpPr/>
          <p:nvPr/>
        </p:nvSpPr>
        <p:spPr>
          <a:xfrm>
            <a:off x="3368040" y="502920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2700">
            <a:solidFill>
              <a:srgbClr val="E0DEDA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ja-JP" sz="1000" dirty="0">
                <a:solidFill>
                  <a:srgbClr val="707070"/>
                </a:solidFill>
                <a:latin typeface="BIZ UDPGothic"/>
                <a:ea typeface="BIZ UDPGothic"/>
              </a:rPr>
              <a:t>時間単価</a:t>
            </a:r>
          </a:p>
          <a:p>
            <a:pPr algn="ctr">
              <a:spcBef>
                <a:spcPts val="200"/>
              </a:spcBef>
              <a:buNone/>
            </a:pPr>
            <a:r>
              <a:rPr lang="ja-JP" sz="1800" b="1" dirty="0">
                <a:solidFill>
                  <a:srgbClr val="1A1A1A"/>
                </a:solidFill>
                <a:latin typeface="BIZ UDPGothic"/>
                <a:ea typeface="BIZ UDPGothic"/>
              </a:rPr>
              <a:t>¥25,000</a:t>
            </a:r>
          </a:p>
          <a:p>
            <a:pPr algn="ctr">
              <a:buNone/>
            </a:pPr>
            <a:r>
              <a:rPr lang="ja-JP" sz="900" dirty="0">
                <a:solidFill>
                  <a:srgbClr val="A0A0A0"/>
                </a:solidFill>
                <a:latin typeface="BIZ UDPGothic"/>
                <a:ea typeface="BIZ UDPGothic"/>
              </a:rPr>
              <a:t>契約通り</a:t>
            </a:r>
          </a:p>
        </p:txBody>
      </p:sp>
      <p:sp>
        <p:nvSpPr>
          <p:cNvPr id="37" name="Cost2"/>
          <p:cNvSpPr/>
          <p:nvPr/>
        </p:nvSpPr>
        <p:spPr>
          <a:xfrm>
            <a:off x="6278880" y="502920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2700">
            <a:solidFill>
              <a:srgbClr val="E0DEDA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ja-JP" sz="1000" dirty="0">
                <a:solidFill>
                  <a:srgbClr val="707070"/>
                </a:solidFill>
                <a:latin typeface="BIZ UDPGothic"/>
                <a:ea typeface="BIZ UDPGothic"/>
              </a:rPr>
              <a:t>税抜金額</a:t>
            </a:r>
          </a:p>
          <a:p>
            <a:pPr algn="ctr">
              <a:spcBef>
                <a:spcPts val="200"/>
              </a:spcBef>
              <a:buNone/>
            </a:pPr>
            <a:r>
              <a:rPr lang="ja-JP" sz="1800" b="1" dirty="0">
                <a:solidFill>
                  <a:srgbClr val="1A1A1A"/>
                </a:solidFill>
                <a:latin typeface="BIZ UDPGothic"/>
                <a:ea typeface="BIZ UDPGothic"/>
              </a:rPr>
              <a:t>¥4,612,500</a:t>
            </a:r>
          </a:p>
        </p:txBody>
      </p:sp>
      <p:sp>
        <p:nvSpPr>
          <p:cNvPr id="38" name="Cost3"/>
          <p:cNvSpPr/>
          <p:nvPr/>
        </p:nvSpPr>
        <p:spPr>
          <a:xfrm>
            <a:off x="9189720" y="502920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8B2E1E"/>
          </a:solidFill>
          <a:ln w="12700">
            <a:solidFill>
              <a:srgbClr val="8B2E1E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ja-JP" sz="1000" dirty="0">
                <a:solidFill>
                  <a:srgbClr val="FFFFFF"/>
                </a:solidFill>
                <a:latin typeface="BIZ UDPGothic"/>
                <a:ea typeface="BIZ UDPGothic"/>
              </a:rPr>
              <a:t>税込金額</a:t>
            </a:r>
          </a:p>
          <a:p>
            <a:pPr algn="ctr">
              <a:spcBef>
                <a:spcPts val="200"/>
              </a:spcBef>
              <a:buNone/>
            </a:pPr>
            <a:r>
              <a:rPr lang="ja-JP" sz="1800" b="1" dirty="0">
                <a:solidFill>
                  <a:srgbClr val="FFFFFF"/>
                </a:solidFill>
                <a:latin typeface="BIZ UDPGothic"/>
                <a:ea typeface="BIZ UDPGothic"/>
              </a:rPr>
              <a:t>¥5,073,750</a:t>
            </a:r>
          </a:p>
          <a:p>
            <a:pPr algn="ctr">
              <a:buNone/>
            </a:pPr>
            <a:r>
              <a:rPr lang="ja-JP" sz="900" dirty="0">
                <a:solidFill>
                  <a:srgbClr val="DDDDDD"/>
                </a:solidFill>
                <a:latin typeface="BIZ UDPGothic"/>
                <a:ea typeface="BIZ UDPGothic"/>
              </a:rPr>
              <a:t>消費税10%</a:t>
            </a:r>
          </a:p>
        </p:txBody>
      </p:sp>
    </p:spTree>
    <p:extLst>
      <p:ext uri="{BB962C8B-B14F-4D97-AF65-F5344CB8AC3E}">
        <p14:creationId xmlns:p14="http://schemas.microsoft.com/office/powerpoint/2010/main" val="2359944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07  制約事項と残余リスク</a:t>
            </a:r>
          </a:p>
        </p:txBody>
      </p:sp>
      <p:sp>
        <p:nvSpPr>
          <p:cNvPr id="11" name="RL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5" name="CH"/>
          <p:cNvSpPr/>
          <p:nvPr/>
        </p:nvSpPr>
        <p:spPr>
          <a:xfrm>
            <a:off x="457200" y="1097280"/>
            <a:ext cx="5486400" cy="365760"/>
          </a:xfrm>
          <a:prstGeom prst="roundRect">
            <a:avLst>
              <a:gd name="adj" fmla="val 8000"/>
            </a:avLst>
          </a:prstGeom>
          <a:solidFill>
            <a:srgbClr val="4A4A4A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主要制約（確定事実）</a:t>
            </a:r>
          </a:p>
        </p:txBody>
      </p:sp>
      <p:sp>
        <p:nvSpPr>
          <p:cNvPr id="16" name="CB"/>
          <p:cNvSpPr txBox="1"/>
          <p:nvPr/>
        </p:nvSpPr>
        <p:spPr>
          <a:xfrm>
            <a:off x="457200" y="1554480"/>
            <a:ext cx="5486400" cy="137160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82880" tIns="137160" rIns="137160" anchor="t"/>
          <a:lstStyle/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利用データはdata\train.csvに限定（契約条項）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時系列粒度を直接示す信頼できる日付カラムがないため、市況変動の調整不可（継続制約）</a:t>
            </a:r>
          </a:p>
        </p:txBody>
      </p:sp>
      <p:sp>
        <p:nvSpPr>
          <p:cNvPr id="17" name="TH"/>
          <p:cNvSpPr/>
          <p:nvPr/>
        </p:nvSpPr>
        <p:spPr>
          <a:xfrm>
            <a:off x="6172200" y="1097280"/>
            <a:ext cx="5562600" cy="365760"/>
          </a:xfrm>
          <a:prstGeom prst="roundRect">
            <a:avLst>
              <a:gd name="adj" fmla="val 8000"/>
            </a:avLst>
          </a:prstGeom>
          <a:solidFill>
            <a:srgbClr val="707070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追跡可能な残タスク</a:t>
            </a:r>
          </a:p>
        </p:txBody>
      </p:sp>
      <p:sp>
        <p:nvSpPr>
          <p:cNvPr id="18" name="TB"/>
          <p:cNvSpPr txBox="1"/>
          <p:nvPr/>
        </p:nvSpPr>
        <p:spPr>
          <a:xfrm>
            <a:off x="6172200" y="1554480"/>
            <a:ext cx="5562600" cy="137160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82880" tIns="137160" rIns="137160" anchor="t"/>
          <a:lstStyle/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A03: date_column（TAX CLASS AT TIME OF SALE）の実データ型確認と分割戦略の最終確定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A05: 欠損・ゼロ値の最終補完ポリシーの実装とドキュメント化</a:t>
            </a:r>
          </a:p>
        </p:txBody>
      </p:sp>
      <p:sp>
        <p:nvSpPr>
          <p:cNvPr id="30" name="RH"/>
          <p:cNvSpPr/>
          <p:nvPr/>
        </p:nvSpPr>
        <p:spPr>
          <a:xfrm>
            <a:off x="457200" y="3108960"/>
            <a:ext cx="11277600" cy="365760"/>
          </a:xfrm>
          <a:prstGeom prst="roundRect">
            <a:avLst>
              <a:gd name="adj" fmla="val 8000"/>
            </a:avLst>
          </a:prstGeom>
          <a:solidFill>
            <a:srgbClr val="8B2E1E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残余リスク（優先度順）</a:t>
            </a:r>
          </a:p>
        </p:txBody>
      </p:sp>
      <p:sp>
        <p:nvSpPr>
          <p:cNvPr id="40" name="Risk0"/>
          <p:cNvSpPr/>
          <p:nvPr/>
        </p:nvSpPr>
        <p:spPr>
          <a:xfrm>
            <a:off x="457200" y="3566160"/>
            <a:ext cx="2651760" cy="2651760"/>
          </a:xfrm>
          <a:prstGeom prst="roundRect">
            <a:avLst>
              <a:gd name="adj" fmla="val 3000"/>
            </a:avLst>
          </a:prstGeom>
          <a:solidFill>
            <a:srgbClr val="F8F7F5"/>
          </a:solidFill>
          <a:ln w="19050">
            <a:solidFill>
              <a:srgbClr val="8B2E1E"/>
            </a:solidFill>
          </a:ln>
        </p:spPr>
        <p:txBody>
          <a:bodyPr wrap="square" lIns="137160" tIns="137160" rIns="91440" anchor="t"/>
          <a:lstStyle/>
          <a:p>
            <a:pPr algn="l">
              <a:buNone/>
            </a:pPr>
            <a:r>
              <a:rPr lang="ja-JP" sz="1000" b="1" dirty="0">
                <a:solidFill>
                  <a:srgbClr val="8B2E1E"/>
                </a:solidFill>
                <a:latin typeface="BIZ UDPGothic"/>
                <a:ea typeface="BIZ UDPGothic"/>
              </a:rPr>
              <a:t>優先度: 高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#1 立地バイアス</a:t>
            </a:r>
          </a:p>
          <a:p>
            <a:pPr algn="l">
              <a:lnSpc>
                <a:spcPts val="1600"/>
              </a:lnSpc>
              <a:spcAft>
                <a:spcPts val="300"/>
              </a:spcAft>
              <a:buNone/>
            </a:pPr>
            <a:r>
              <a:rPr lang="ja-JP" sz="1000" dirty="0">
                <a:solidFill>
                  <a:srgbClr val="707070"/>
                </a:solidFill>
                <a:latin typeface="BIZ UDPGothic"/>
                <a:ea typeface="BIZ UDPGothic"/>
              </a:rPr>
              <a:t>BOROUGHに説明力が集中</a:t>
            </a:r>
          </a:p>
          <a:p>
            <a:pPr algn="l">
              <a:lnSpc>
                <a:spcPts val="1600"/>
              </a:lnSpc>
              <a:buNone/>
            </a:pPr>
            <a:r>
              <a:rPr lang="ja-JP" sz="1000" b="1" dirty="0">
                <a:solidFill>
                  <a:srgbClr val="4A4A4A"/>
                </a:solidFill>
                <a:latin typeface="BIZ UDPGothic"/>
                <a:ea typeface="BIZ UDPGothic"/>
              </a:rPr>
              <a:t>対策: </a:t>
            </a: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階層別分析と固定効果モデル導入検討</a:t>
            </a:r>
          </a:p>
        </p:txBody>
      </p:sp>
      <p:sp>
        <p:nvSpPr>
          <p:cNvPr id="41" name="Risk1"/>
          <p:cNvSpPr/>
          <p:nvPr/>
        </p:nvSpPr>
        <p:spPr>
          <a:xfrm>
            <a:off x="3291840" y="3566160"/>
            <a:ext cx="2651760" cy="2651760"/>
          </a:xfrm>
          <a:prstGeom prst="roundRect">
            <a:avLst>
              <a:gd name="adj" fmla="val 3000"/>
            </a:avLst>
          </a:prstGeom>
          <a:solidFill>
            <a:srgbClr val="F8F7F5"/>
          </a:solidFill>
          <a:ln w="19050">
            <a:solidFill>
              <a:srgbClr val="8B2E1E"/>
            </a:solidFill>
          </a:ln>
        </p:spPr>
        <p:txBody>
          <a:bodyPr wrap="square" lIns="137160" tIns="137160" rIns="91440" anchor="t"/>
          <a:lstStyle/>
          <a:p>
            <a:pPr algn="l">
              <a:buNone/>
            </a:pPr>
            <a:r>
              <a:rPr lang="ja-JP" sz="1000" b="1" dirty="0">
                <a:solidFill>
                  <a:srgbClr val="8B2E1E"/>
                </a:solidFill>
                <a:latin typeface="BIZ UDPGothic"/>
                <a:ea typeface="BIZ UDPGothic"/>
              </a:rPr>
              <a:t>優先度: 高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#2 データ品質</a:t>
            </a:r>
          </a:p>
          <a:p>
            <a:pPr algn="l">
              <a:lnSpc>
                <a:spcPts val="1600"/>
              </a:lnSpc>
              <a:spcAft>
                <a:spcPts val="300"/>
              </a:spcAft>
              <a:buNone/>
            </a:pPr>
            <a:r>
              <a:rPr lang="ja-JP" sz="1000" dirty="0">
                <a:solidFill>
                  <a:srgbClr val="707070"/>
                </a:solidFill>
                <a:latin typeface="BIZ UDPGothic"/>
                <a:ea typeface="BIZ UDPGothic"/>
              </a:rPr>
              <a:t>面積・築年・ZIPの欠損・異常</a:t>
            </a:r>
          </a:p>
          <a:p>
            <a:pPr algn="l">
              <a:lnSpc>
                <a:spcPts val="1600"/>
              </a:lnSpc>
              <a:buNone/>
            </a:pPr>
            <a:r>
              <a:rPr lang="ja-JP" sz="1000" b="1" dirty="0">
                <a:solidFill>
                  <a:srgbClr val="4A4A4A"/>
                </a:solidFill>
                <a:latin typeface="BIZ UDPGothic"/>
                <a:ea typeface="BIZ UDPGothic"/>
              </a:rPr>
              <a:t>対策: </a:t>
            </a: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補完方針と源泉確認、入力ガイドライン適用</a:t>
            </a:r>
          </a:p>
        </p:txBody>
      </p:sp>
      <p:sp>
        <p:nvSpPr>
          <p:cNvPr id="42" name="Risk2"/>
          <p:cNvSpPr/>
          <p:nvPr/>
        </p:nvSpPr>
        <p:spPr>
          <a:xfrm>
            <a:off x="6126480" y="3566160"/>
            <a:ext cx="2651760" cy="2651760"/>
          </a:xfrm>
          <a:prstGeom prst="roundRect">
            <a:avLst>
              <a:gd name="adj" fmla="val 3000"/>
            </a:avLst>
          </a:prstGeom>
          <a:solidFill>
            <a:srgbClr val="F8F7F5"/>
          </a:solidFill>
          <a:ln w="19050">
            <a:solidFill>
              <a:srgbClr val="707070"/>
            </a:solidFill>
          </a:ln>
        </p:spPr>
        <p:txBody>
          <a:bodyPr wrap="square" lIns="137160" tIns="137160" rIns="91440" anchor="t"/>
          <a:lstStyle/>
          <a:p>
            <a:pPr algn="l">
              <a:buNone/>
            </a:pPr>
            <a:r>
              <a:rPr lang="ja-JP" sz="1000" b="1" dirty="0">
                <a:solidFill>
                  <a:srgbClr val="707070"/>
                </a:solidFill>
                <a:latin typeface="BIZ UDPGothic"/>
                <a:ea typeface="BIZ UDPGothic"/>
              </a:rPr>
              <a:t>優先度: 中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#3 高カーディナリティ</a:t>
            </a:r>
          </a:p>
          <a:p>
            <a:pPr algn="l">
              <a:lnSpc>
                <a:spcPts val="1600"/>
              </a:lnSpc>
              <a:spcAft>
                <a:spcPts val="300"/>
              </a:spcAft>
              <a:buNone/>
            </a:pPr>
            <a:r>
              <a:rPr lang="ja-JP" sz="1000" dirty="0">
                <a:solidFill>
                  <a:srgbClr val="707070"/>
                </a:solidFill>
                <a:latin typeface="BIZ UDPGothic"/>
                <a:ea typeface="BIZ UDPGothic"/>
              </a:rPr>
              <a:t>NEIGHBORHOOD等を除外し局所性喪失</a:t>
            </a:r>
          </a:p>
          <a:p>
            <a:pPr algn="l">
              <a:lnSpc>
                <a:spcPts val="1600"/>
              </a:lnSpc>
              <a:buNone/>
            </a:pPr>
            <a:r>
              <a:rPr lang="ja-JP" sz="1000" b="1" dirty="0">
                <a:solidFill>
                  <a:srgbClr val="4A4A4A"/>
                </a:solidFill>
                <a:latin typeface="BIZ UDPGothic"/>
                <a:ea typeface="BIZ UDPGothic"/>
              </a:rPr>
              <a:t>対策: </a:t>
            </a: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頻度集約やターゲット集約等の代替手法検討</a:t>
            </a:r>
          </a:p>
        </p:txBody>
      </p:sp>
      <p:sp>
        <p:nvSpPr>
          <p:cNvPr id="43" name="Risk3"/>
          <p:cNvSpPr/>
          <p:nvPr/>
        </p:nvSpPr>
        <p:spPr>
          <a:xfrm>
            <a:off x="8961120" y="3566160"/>
            <a:ext cx="2651760" cy="2651760"/>
          </a:xfrm>
          <a:prstGeom prst="roundRect">
            <a:avLst>
              <a:gd name="adj" fmla="val 3000"/>
            </a:avLst>
          </a:prstGeom>
          <a:solidFill>
            <a:srgbClr val="F8F7F5"/>
          </a:solidFill>
          <a:ln w="19050">
            <a:solidFill>
              <a:srgbClr val="707070"/>
            </a:solidFill>
          </a:ln>
        </p:spPr>
        <p:txBody>
          <a:bodyPr wrap="square" lIns="137160" tIns="137160" rIns="91440" anchor="t"/>
          <a:lstStyle/>
          <a:p>
            <a:pPr algn="l">
              <a:buNone/>
            </a:pPr>
            <a:r>
              <a:rPr lang="ja-JP" sz="1000" b="1" dirty="0">
                <a:solidFill>
                  <a:srgbClr val="707070"/>
                </a:solidFill>
                <a:latin typeface="BIZ UDPGothic"/>
                <a:ea typeface="BIZ UDPGothic"/>
              </a:rPr>
              <a:t>優先度: 中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#4 運用上の誤用</a:t>
            </a:r>
          </a:p>
          <a:p>
            <a:pPr algn="l">
              <a:lnSpc>
                <a:spcPts val="1600"/>
              </a:lnSpc>
              <a:spcAft>
                <a:spcPts val="300"/>
              </a:spcAft>
              <a:buNone/>
            </a:pPr>
            <a:r>
              <a:rPr lang="ja-JP" sz="1000" dirty="0">
                <a:solidFill>
                  <a:srgbClr val="707070"/>
                </a:solidFill>
                <a:latin typeface="BIZ UDPGothic"/>
                <a:ea typeface="BIZ UDPGothic"/>
              </a:rPr>
              <a:t>スコアの過信</a:t>
            </a:r>
          </a:p>
          <a:p>
            <a:pPr algn="l">
              <a:lnSpc>
                <a:spcPts val="1600"/>
              </a:lnSpc>
              <a:buNone/>
            </a:pPr>
            <a:r>
              <a:rPr lang="ja-JP" sz="1000" b="1" dirty="0">
                <a:solidFill>
                  <a:srgbClr val="4A4A4A"/>
                </a:solidFill>
                <a:latin typeface="BIZ UDPGothic"/>
                <a:ea typeface="BIZ UDPGothic"/>
              </a:rPr>
              <a:t>対策: </a:t>
            </a:r>
            <a:r>
              <a:rPr lang="ja-JP" sz="1000" dirty="0">
                <a:solidFill>
                  <a:srgbClr val="3D3D3D"/>
                </a:solidFill>
                <a:latin typeface="BIZ UDPGothic"/>
                <a:ea typeface="BIZ UDPGothic"/>
              </a:rPr>
              <a:t>運用ルールと説明責任の明文化</a:t>
            </a:r>
          </a:p>
        </p:txBody>
      </p:sp>
    </p:spTree>
    <p:extLst>
      <p:ext uri="{BB962C8B-B14F-4D97-AF65-F5344CB8AC3E}">
        <p14:creationId xmlns:p14="http://schemas.microsoft.com/office/powerpoint/2010/main" val="4117063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08  今後の拡張ロードマップ</a:t>
            </a:r>
          </a:p>
        </p:txBody>
      </p:sp>
      <p:sp>
        <p:nvSpPr>
          <p:cNvPr id="11" name="RL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0" name="PL0"/>
          <p:cNvSpPr/>
          <p:nvPr/>
        </p:nvSpPr>
        <p:spPr>
          <a:xfrm>
            <a:off x="457200" y="1097280"/>
            <a:ext cx="2743200" cy="1371600"/>
          </a:xfrm>
          <a:prstGeom prst="roundRect">
            <a:avLst>
              <a:gd name="adj" fmla="val 5000"/>
            </a:avLst>
          </a:prstGeom>
          <a:solidFill>
            <a:srgbClr val="8B2E1E"/>
          </a:solidFill>
          <a:ln>
            <a:noFill/>
          </a:ln>
        </p:spPr>
        <p:txBody>
          <a:bodyPr lIns="137160" anchor="ctr"/>
          <a:lstStyle/>
          <a:p>
            <a:pPr algn="ctr">
              <a:spcAft>
                <a:spcPts val="400"/>
              </a:spcAft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フェーズ A（0-3ヶ月）</a:t>
            </a:r>
          </a:p>
          <a:p>
            <a:pPr algn="ctr">
              <a:buNone/>
            </a:pPr>
            <a:r>
              <a:rPr lang="ja-JP" sz="1100" dirty="0">
                <a:solidFill>
                  <a:srgbClr val="DDDDDD"/>
                </a:solidFill>
                <a:latin typeface="BIZ UDPGothic"/>
                <a:ea typeface="BIZ UDPGothic"/>
              </a:rPr>
              <a:t>概算: 40-80時間</a:t>
            </a:r>
          </a:p>
        </p:txBody>
      </p:sp>
      <p:sp>
        <p:nvSpPr>
          <p:cNvPr id="21" name="PB0"/>
          <p:cNvSpPr txBox="1"/>
          <p:nvPr/>
        </p:nvSpPr>
        <p:spPr>
          <a:xfrm>
            <a:off x="3200400" y="1097280"/>
            <a:ext cx="8534400" cy="137160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82880" tIns="91440" rIns="137160" anchor="ctr"/>
          <a:lstStyle/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データ品質改善（面積、YEAR BUILT、ZIP）と補完ルール実装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再学習（cleaned dataset）によるモデル精緻化と交差検証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スコアリング出力のフォーマット化（案件レポートテンプレート）</a:t>
            </a:r>
          </a:p>
        </p:txBody>
      </p:sp>
      <p:sp>
        <p:nvSpPr>
          <p:cNvPr id="22" name="Arr0"/>
          <p:cNvSpPr/>
          <p:nvPr/>
        </p:nvSpPr>
        <p:spPr>
          <a:xfrm>
            <a:off x="1828800" y="2468880"/>
            <a:ext cx="0" cy="137160"/>
          </a:xfrm>
          <a:prstGeom prst="line">
            <a:avLst/>
          </a:prstGeom>
          <a:ln w="25400">
            <a:solidFill>
              <a:srgbClr val="D0D0D0"/>
            </a:solidFill>
            <a:tailEnd type="triangle"/>
          </a:ln>
        </p:spPr>
        <p:txBody>
          <a:bodyPr/>
          <a:lstStyle/>
          <a:p>
            <a:endParaRPr lang="ja-JP"/>
          </a:p>
        </p:txBody>
      </p:sp>
      <p:sp>
        <p:nvSpPr>
          <p:cNvPr id="23" name="PL1"/>
          <p:cNvSpPr/>
          <p:nvPr/>
        </p:nvSpPr>
        <p:spPr>
          <a:xfrm>
            <a:off x="457200" y="2606040"/>
            <a:ext cx="2743200" cy="13716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lIns="137160" anchor="ctr"/>
          <a:lstStyle/>
          <a:p>
            <a:pPr algn="ctr">
              <a:spcAft>
                <a:spcPts val="400"/>
              </a:spcAft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フェーズ B（3-6ヶ月）</a:t>
            </a:r>
          </a:p>
          <a:p>
            <a:pPr algn="ctr">
              <a:buNone/>
            </a:pPr>
            <a:r>
              <a:rPr lang="ja-JP" sz="1100" dirty="0">
                <a:solidFill>
                  <a:srgbClr val="DDDDDD"/>
                </a:solidFill>
                <a:latin typeface="BIZ UDPGothic"/>
                <a:ea typeface="BIZ UDPGothic"/>
              </a:rPr>
              <a:t>概算: 80-160時間</a:t>
            </a:r>
          </a:p>
        </p:txBody>
      </p:sp>
      <p:sp>
        <p:nvSpPr>
          <p:cNvPr id="24" name="PB1"/>
          <p:cNvSpPr txBox="1"/>
          <p:nvPr/>
        </p:nvSpPr>
        <p:spPr>
          <a:xfrm>
            <a:off x="3200400" y="2606040"/>
            <a:ext cx="8534400" cy="137160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82880" tIns="91440" rIns="137160" anchor="ctr"/>
          <a:lstStyle/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市況データ（価格指数、金利）との連携検討・試験取込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地域別（NEIGHBORHOODレベル）集約群の作成と検証（高カーディナリティ対策）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モデル監視ダッシュボード（誤差推移、データ欠損率、ドリフト指標）</a:t>
            </a:r>
          </a:p>
        </p:txBody>
      </p:sp>
      <p:sp>
        <p:nvSpPr>
          <p:cNvPr id="25" name="Arr1"/>
          <p:cNvSpPr/>
          <p:nvPr/>
        </p:nvSpPr>
        <p:spPr>
          <a:xfrm>
            <a:off x="1828800" y="3977640"/>
            <a:ext cx="0" cy="137160"/>
          </a:xfrm>
          <a:prstGeom prst="line">
            <a:avLst/>
          </a:prstGeom>
          <a:ln w="25400">
            <a:solidFill>
              <a:srgbClr val="D0D0D0"/>
            </a:solidFill>
            <a:tailEnd type="triangle"/>
          </a:ln>
        </p:spPr>
        <p:txBody>
          <a:bodyPr/>
          <a:lstStyle/>
          <a:p>
            <a:endParaRPr lang="ja-JP"/>
          </a:p>
        </p:txBody>
      </p:sp>
      <p:sp>
        <p:nvSpPr>
          <p:cNvPr id="26" name="PL2"/>
          <p:cNvSpPr/>
          <p:nvPr/>
        </p:nvSpPr>
        <p:spPr>
          <a:xfrm>
            <a:off x="457200" y="4114800"/>
            <a:ext cx="2743200" cy="1371600"/>
          </a:xfrm>
          <a:prstGeom prst="roundRect">
            <a:avLst>
              <a:gd name="adj" fmla="val 5000"/>
            </a:avLst>
          </a:prstGeom>
          <a:solidFill>
            <a:srgbClr val="707070"/>
          </a:solidFill>
          <a:ln>
            <a:noFill/>
          </a:ln>
        </p:spPr>
        <p:txBody>
          <a:bodyPr lIns="137160" anchor="ctr"/>
          <a:lstStyle/>
          <a:p>
            <a:pPr algn="ctr">
              <a:spcAft>
                <a:spcPts val="400"/>
              </a:spcAft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フェーズ C（6-12ヶ月）</a:t>
            </a:r>
          </a:p>
          <a:p>
            <a:pPr algn="ctr">
              <a:buNone/>
            </a:pPr>
            <a:r>
              <a:rPr lang="ja-JP" sz="1100" dirty="0">
                <a:solidFill>
                  <a:srgbClr val="DDDDDD"/>
                </a:solidFill>
                <a:latin typeface="BIZ UDPGothic"/>
                <a:ea typeface="BIZ UDPGothic"/>
              </a:rPr>
              <a:t>概算: 120-240時間</a:t>
            </a:r>
          </a:p>
        </p:txBody>
      </p:sp>
      <p:sp>
        <p:nvSpPr>
          <p:cNvPr id="27" name="PB2"/>
          <p:cNvSpPr txBox="1"/>
          <p:nvPr/>
        </p:nvSpPr>
        <p:spPr>
          <a:xfrm>
            <a:off x="3200400" y="4114800"/>
            <a:ext cx="8534400" cy="137160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82880" tIns="91440" rIns="137160" anchor="ctr"/>
          <a:lstStyle/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運用化（定期バッチ、SLA設定）、利用部門へのトレーニング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追加指標導入（賃料・NOI推定可能時、投資判断モデルの拡張）</a:t>
            </a:r>
          </a:p>
          <a:p>
            <a:pPr marL="228600" indent="-228600" algn="l">
              <a:lnSpc>
                <a:spcPts val="2000"/>
              </a:lnSpc>
              <a:spcBef>
                <a:spcPts val="200"/>
              </a:spcBef>
              <a:buFont typeface="Arial"/>
              <a:buChar char="●"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標準化テンプレートの社内展開とナレッジ蓄積</a:t>
            </a:r>
          </a:p>
        </p:txBody>
      </p:sp>
      <p:sp>
        <p:nvSpPr>
          <p:cNvPr id="50" name="Note"/>
          <p:cNvSpPr txBox="1"/>
          <p:nvPr/>
        </p:nvSpPr>
        <p:spPr>
          <a:xfrm>
            <a:off x="457200" y="5715000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1000" dirty="0">
                <a:solidFill>
                  <a:srgbClr val="A0A0A0"/>
                </a:solidFill>
                <a:latin typeface="BIZ UDPGothic"/>
                <a:ea typeface="BIZ UDPGothic"/>
              </a:rPr>
              <a:t>※ フェーズBの市況データ連携PoCは外部データ費用別途。各工数は参考概算値。</a:t>
            </a:r>
          </a:p>
        </p:txBody>
      </p:sp>
    </p:spTree>
    <p:extLst>
      <p:ext uri="{BB962C8B-B14F-4D97-AF65-F5344CB8AC3E}">
        <p14:creationId xmlns:p14="http://schemas.microsoft.com/office/powerpoint/2010/main" val="2654818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09  成果物サマリ</a:t>
            </a:r>
          </a:p>
        </p:txBody>
      </p:sp>
      <p:sp>
        <p:nvSpPr>
          <p:cNvPr id="11" name="RL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0" name="TH"/>
          <p:cNvSpPr/>
          <p:nvPr/>
        </p:nvSpPr>
        <p:spPr>
          <a:xfrm>
            <a:off x="457200" y="1097280"/>
            <a:ext cx="11277600" cy="36576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lIns="182880" anchor="ctr"/>
          <a:lstStyle/>
          <a:p>
            <a:pPr algn="l">
              <a:buNone/>
            </a:pPr>
            <a:r>
              <a:rPr lang="ja-JP" sz="1200" b="1" dirty="0">
                <a:solidFill>
                  <a:srgbClr val="FFFFFF"/>
                </a:solidFill>
                <a:latin typeface="BIZ UDPGothic"/>
                <a:ea typeface="BIZ UDPGothic"/>
              </a:rPr>
              <a:t>納品済の主要成果物（契約4.1に準拠）</a:t>
            </a:r>
          </a:p>
        </p:txBody>
      </p:sp>
      <p:sp>
        <p:nvSpPr>
          <p:cNvPr id="30" name="DR0"/>
          <p:cNvSpPr/>
          <p:nvPr/>
        </p:nvSpPr>
        <p:spPr>
          <a:xfrm>
            <a:off x="457200" y="1463040"/>
            <a:ext cx="10180320" cy="457200"/>
          </a:xfrm>
          <a:prstGeom prst="rect">
            <a:avLst/>
          </a:prstGeom>
          <a:solidFill>
            <a:srgbClr val="F8F7F5"/>
          </a:solidFill>
          <a:ln w="6350">
            <a:solidFill>
              <a:srgbClr val="E0DEDA"/>
            </a:solidFill>
          </a:ln>
        </p:spPr>
        <p:txBody>
          <a:bodyPr lIns="182880" anchor="ctr"/>
          <a:lstStyle/>
          <a:p>
            <a:pPr algn="l">
              <a:buNone/>
            </a:pPr>
            <a:r>
              <a:rPr lang="ja-JP" sz="1200" b="1" dirty="0">
                <a:solidFill>
                  <a:srgbClr val="8B2E1E"/>
                </a:solidFill>
                <a:latin typeface="BIZ UDPGothic"/>
                <a:ea typeface="BIZ UDPGothic"/>
              </a:rPr>
              <a:t>1.  </a:t>
            </a:r>
            <a:r>
              <a:rPr lang="ja-JP" sz="1200" b="1" dirty="0">
                <a:solidFill>
                  <a:srgbClr val="1A1A1A"/>
                </a:solidFill>
                <a:latin typeface="BIZ UDPGothic"/>
                <a:ea typeface="BIZ UDPGothic"/>
              </a:rPr>
              <a:t>プロジェクト概要書</a:t>
            </a:r>
          </a:p>
          <a:p>
            <a:pPr algn="l">
              <a:spcBef>
                <a:spcPts val="100"/>
              </a:spcBef>
              <a:buNone/>
            </a:pPr>
            <a:r>
              <a:rPr lang="ja-JP" sz="1000" dirty="0">
                <a:solidFill>
                  <a:srgbClr val="707070"/>
                </a:solidFill>
                <a:latin typeface="BIZ UDPGothic"/>
                <a:ea typeface="BIZ UDPGothic"/>
              </a:rPr>
              <a:t>本書を正本</a:t>
            </a:r>
          </a:p>
        </p:txBody>
      </p:sp>
      <p:sp>
        <p:nvSpPr>
          <p:cNvPr id="50" name="SB0"/>
          <p:cNvSpPr/>
          <p:nvPr/>
        </p:nvSpPr>
        <p:spPr>
          <a:xfrm>
            <a:off x="10820400" y="15544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  <a:latin typeface="BIZ UDPGothic"/>
                <a:ea typeface="BIZ UDPGothic"/>
              </a:rPr>
              <a:t>納品済</a:t>
            </a:r>
          </a:p>
        </p:txBody>
      </p:sp>
      <p:sp>
        <p:nvSpPr>
          <p:cNvPr id="31" name="DR1"/>
          <p:cNvSpPr/>
          <p:nvPr/>
        </p:nvSpPr>
        <p:spPr>
          <a:xfrm>
            <a:off x="457200" y="1920240"/>
            <a:ext cx="1018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</a:ln>
        </p:spPr>
        <p:txBody>
          <a:bodyPr lIns="182880" anchor="ctr"/>
          <a:lstStyle/>
          <a:p>
            <a:pPr algn="l">
              <a:buNone/>
            </a:pPr>
            <a:r>
              <a:rPr lang="ja-JP" sz="1200" b="1" dirty="0">
                <a:solidFill>
                  <a:srgbClr val="8B2E1E"/>
                </a:solidFill>
                <a:latin typeface="BIZ UDPGothic"/>
                <a:ea typeface="BIZ UDPGothic"/>
              </a:rPr>
              <a:t>2.  </a:t>
            </a:r>
            <a:r>
              <a:rPr lang="ja-JP" sz="1200" b="1" dirty="0">
                <a:solidFill>
                  <a:srgbClr val="1A1A1A"/>
                </a:solidFill>
                <a:latin typeface="BIZ UDPGothic"/>
                <a:ea typeface="BIZ UDPGothic"/>
              </a:rPr>
              <a:t>分析計画メモ / 実施方針書</a:t>
            </a:r>
          </a:p>
          <a:p>
            <a:pPr algn="l">
              <a:spcBef>
                <a:spcPts val="100"/>
              </a:spcBef>
              <a:buNone/>
            </a:pPr>
            <a:r>
              <a:rPr lang="ja-JP" sz="1000" dirty="0">
                <a:solidFill>
                  <a:srgbClr val="707070"/>
                </a:solidFill>
                <a:latin typeface="BIZ UDPGothic"/>
                <a:ea typeface="BIZ UDPGothic"/>
              </a:rPr>
              <a:t>artifacts/*</a:t>
            </a:r>
          </a:p>
        </p:txBody>
      </p:sp>
      <p:sp>
        <p:nvSpPr>
          <p:cNvPr id="51" name="SB1"/>
          <p:cNvSpPr/>
          <p:nvPr/>
        </p:nvSpPr>
        <p:spPr>
          <a:xfrm>
            <a:off x="10820400" y="20116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  <a:latin typeface="BIZ UDPGothic"/>
                <a:ea typeface="BIZ UDPGothic"/>
              </a:rPr>
              <a:t>納品済</a:t>
            </a:r>
          </a:p>
        </p:txBody>
      </p:sp>
      <p:sp>
        <p:nvSpPr>
          <p:cNvPr id="32" name="DR2"/>
          <p:cNvSpPr/>
          <p:nvPr/>
        </p:nvSpPr>
        <p:spPr>
          <a:xfrm>
            <a:off x="457200" y="2377440"/>
            <a:ext cx="10180320" cy="457200"/>
          </a:xfrm>
          <a:prstGeom prst="rect">
            <a:avLst/>
          </a:prstGeom>
          <a:solidFill>
            <a:srgbClr val="F8F7F5"/>
          </a:solidFill>
          <a:ln w="6350">
            <a:solidFill>
              <a:srgbClr val="E0DEDA"/>
            </a:solidFill>
          </a:ln>
        </p:spPr>
        <p:txBody>
          <a:bodyPr lIns="182880" anchor="ctr"/>
          <a:lstStyle/>
          <a:p>
            <a:pPr algn="l">
              <a:buNone/>
            </a:pPr>
            <a:r>
              <a:rPr lang="ja-JP" sz="1200" b="1" dirty="0">
                <a:solidFill>
                  <a:srgbClr val="8B2E1E"/>
                </a:solidFill>
                <a:latin typeface="BIZ UDPGothic"/>
                <a:ea typeface="BIZ UDPGothic"/>
              </a:rPr>
              <a:t>3.  </a:t>
            </a:r>
            <a:r>
              <a:rPr lang="ja-JP" sz="1200" b="1" dirty="0">
                <a:solidFill>
                  <a:srgbClr val="1A1A1A"/>
                </a:solidFill>
                <a:latin typeface="BIZ UDPGothic"/>
                <a:ea typeface="BIZ UDPGothic"/>
              </a:rPr>
              <a:t>中間報告書</a:t>
            </a:r>
          </a:p>
          <a:p>
            <a:pPr algn="l">
              <a:spcBef>
                <a:spcPts val="100"/>
              </a:spcBef>
              <a:buNone/>
            </a:pPr>
            <a:r>
              <a:rPr lang="ja-JP" sz="1000" dirty="0">
                <a:solidFill>
                  <a:srgbClr val="707070"/>
                </a:solidFill>
                <a:latin typeface="BIZ UDPGothic"/>
                <a:ea typeface="BIZ UDPGothic"/>
              </a:rPr>
              <a:t>MS4: 2025-08-26</a:t>
            </a:r>
          </a:p>
        </p:txBody>
      </p:sp>
      <p:sp>
        <p:nvSpPr>
          <p:cNvPr id="52" name="SB2"/>
          <p:cNvSpPr/>
          <p:nvPr/>
        </p:nvSpPr>
        <p:spPr>
          <a:xfrm>
            <a:off x="10820400" y="24688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  <a:latin typeface="BIZ UDPGothic"/>
                <a:ea typeface="BIZ UDPGothic"/>
              </a:rPr>
              <a:t>納品済</a:t>
            </a:r>
          </a:p>
        </p:txBody>
      </p:sp>
      <p:sp>
        <p:nvSpPr>
          <p:cNvPr id="33" name="DR3"/>
          <p:cNvSpPr/>
          <p:nvPr/>
        </p:nvSpPr>
        <p:spPr>
          <a:xfrm>
            <a:off x="457200" y="2834640"/>
            <a:ext cx="1018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</a:ln>
        </p:spPr>
        <p:txBody>
          <a:bodyPr lIns="182880" anchor="ctr"/>
          <a:lstStyle/>
          <a:p>
            <a:pPr algn="l">
              <a:buNone/>
            </a:pPr>
            <a:r>
              <a:rPr lang="ja-JP" sz="1200" b="1" dirty="0">
                <a:solidFill>
                  <a:srgbClr val="8B2E1E"/>
                </a:solidFill>
                <a:latin typeface="BIZ UDPGothic"/>
                <a:ea typeface="BIZ UDPGothic"/>
              </a:rPr>
              <a:t>4.  </a:t>
            </a:r>
            <a:r>
              <a:rPr lang="ja-JP" sz="1200" b="1" dirty="0">
                <a:solidFill>
                  <a:srgbClr val="1A1A1A"/>
                </a:solidFill>
                <a:latin typeface="BIZ UDPGothic"/>
                <a:ea typeface="BIZ UDPGothic"/>
              </a:rPr>
              <a:t>最終報告書</a:t>
            </a:r>
          </a:p>
          <a:p>
            <a:pPr algn="l">
              <a:spcBef>
                <a:spcPts val="100"/>
              </a:spcBef>
              <a:buNone/>
            </a:pPr>
            <a:r>
              <a:rPr lang="ja-JP" sz="1000" dirty="0">
                <a:solidFill>
                  <a:srgbClr val="707070"/>
                </a:solidFill>
                <a:latin typeface="BIZ UDPGothic"/>
                <a:ea typeface="BIZ UDPGothic"/>
              </a:rPr>
              <a:t>本書</a:t>
            </a:r>
          </a:p>
        </p:txBody>
      </p:sp>
      <p:sp>
        <p:nvSpPr>
          <p:cNvPr id="53" name="SB3"/>
          <p:cNvSpPr/>
          <p:nvPr/>
        </p:nvSpPr>
        <p:spPr>
          <a:xfrm>
            <a:off x="10820400" y="29260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  <a:latin typeface="BIZ UDPGothic"/>
                <a:ea typeface="BIZ UDPGothic"/>
              </a:rPr>
              <a:t>納品済</a:t>
            </a:r>
          </a:p>
        </p:txBody>
      </p:sp>
      <p:sp>
        <p:nvSpPr>
          <p:cNvPr id="34" name="DR4"/>
          <p:cNvSpPr/>
          <p:nvPr/>
        </p:nvSpPr>
        <p:spPr>
          <a:xfrm>
            <a:off x="457200" y="3291840"/>
            <a:ext cx="10180320" cy="457200"/>
          </a:xfrm>
          <a:prstGeom prst="rect">
            <a:avLst/>
          </a:prstGeom>
          <a:solidFill>
            <a:srgbClr val="F8F7F5"/>
          </a:solidFill>
          <a:ln w="6350">
            <a:solidFill>
              <a:srgbClr val="E0DEDA"/>
            </a:solidFill>
          </a:ln>
        </p:spPr>
        <p:txBody>
          <a:bodyPr lIns="182880" anchor="ctr"/>
          <a:lstStyle/>
          <a:p>
            <a:pPr algn="l">
              <a:buNone/>
            </a:pPr>
            <a:r>
              <a:rPr lang="ja-JP" sz="1200" b="1" dirty="0">
                <a:solidFill>
                  <a:srgbClr val="8B2E1E"/>
                </a:solidFill>
                <a:latin typeface="BIZ UDPGothic"/>
                <a:ea typeface="BIZ UDPGothic"/>
              </a:rPr>
              <a:t>5.  </a:t>
            </a:r>
            <a:r>
              <a:rPr lang="ja-JP" sz="1200" b="1" dirty="0">
                <a:solidFill>
                  <a:srgbClr val="1A1A1A"/>
                </a:solidFill>
                <a:latin typeface="BIZ UDPGothic"/>
                <a:ea typeface="BIZ UDPGothic"/>
              </a:rPr>
              <a:t>会議議事メモ</a:t>
            </a:r>
          </a:p>
          <a:p>
            <a:pPr algn="l">
              <a:spcBef>
                <a:spcPts val="100"/>
              </a:spcBef>
              <a:buNone/>
            </a:pPr>
            <a:r>
              <a:rPr lang="ja-JP" sz="1000" dirty="0">
                <a:solidFill>
                  <a:srgbClr val="707070"/>
                </a:solidFill>
                <a:latin typeface="BIZ UDPGothic"/>
                <a:ea typeface="BIZ UDPGothic"/>
              </a:rPr>
              <a:t>M01, M02</a:t>
            </a:r>
          </a:p>
        </p:txBody>
      </p:sp>
      <p:sp>
        <p:nvSpPr>
          <p:cNvPr id="54" name="SB4"/>
          <p:cNvSpPr/>
          <p:nvPr/>
        </p:nvSpPr>
        <p:spPr>
          <a:xfrm>
            <a:off x="10820400" y="33832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  <a:latin typeface="BIZ UDPGothic"/>
                <a:ea typeface="BIZ UDPGothic"/>
              </a:rPr>
              <a:t>納品済</a:t>
            </a:r>
          </a:p>
        </p:txBody>
      </p:sp>
      <p:sp>
        <p:nvSpPr>
          <p:cNvPr id="35" name="DR5"/>
          <p:cNvSpPr/>
          <p:nvPr/>
        </p:nvSpPr>
        <p:spPr>
          <a:xfrm>
            <a:off x="457200" y="3749040"/>
            <a:ext cx="1018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</a:ln>
        </p:spPr>
        <p:txBody>
          <a:bodyPr lIns="182880" anchor="ctr"/>
          <a:lstStyle/>
          <a:p>
            <a:pPr algn="l">
              <a:buNone/>
            </a:pPr>
            <a:r>
              <a:rPr lang="ja-JP" sz="1200" b="1" dirty="0">
                <a:solidFill>
                  <a:srgbClr val="8B2E1E"/>
                </a:solidFill>
                <a:latin typeface="BIZ UDPGothic"/>
                <a:ea typeface="BIZ UDPGothic"/>
              </a:rPr>
              <a:t>6.  </a:t>
            </a:r>
            <a:r>
              <a:rPr lang="ja-JP" sz="1200" b="1" dirty="0">
                <a:solidFill>
                  <a:srgbClr val="1A1A1A"/>
                </a:solidFill>
                <a:latin typeface="BIZ UDPGothic"/>
                <a:ea typeface="BIZ UDPGothic"/>
              </a:rPr>
              <a:t>スケジュール管理表</a:t>
            </a:r>
          </a:p>
          <a:p>
            <a:pPr algn="l">
              <a:spcBef>
                <a:spcPts val="100"/>
              </a:spcBef>
              <a:buNone/>
            </a:pPr>
            <a:r>
              <a:rPr lang="ja-JP" sz="1000" dirty="0">
                <a:solidFill>
                  <a:srgbClr val="707070"/>
                </a:solidFill>
                <a:latin typeface="BIZ UDPGothic"/>
                <a:ea typeface="BIZ UDPGothic"/>
              </a:rPr>
              <a:t>artifacts/schedule/*</a:t>
            </a:r>
          </a:p>
        </p:txBody>
      </p:sp>
      <p:sp>
        <p:nvSpPr>
          <p:cNvPr id="55" name="SB5"/>
          <p:cNvSpPr/>
          <p:nvPr/>
        </p:nvSpPr>
        <p:spPr>
          <a:xfrm>
            <a:off x="10820400" y="38404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  <a:latin typeface="BIZ UDPGothic"/>
                <a:ea typeface="BIZ UDPGothic"/>
              </a:rPr>
              <a:t>納品済</a:t>
            </a:r>
          </a:p>
        </p:txBody>
      </p:sp>
      <p:sp>
        <p:nvSpPr>
          <p:cNvPr id="36" name="DR6"/>
          <p:cNvSpPr/>
          <p:nvPr/>
        </p:nvSpPr>
        <p:spPr>
          <a:xfrm>
            <a:off x="457200" y="4206240"/>
            <a:ext cx="10180320" cy="457200"/>
          </a:xfrm>
          <a:prstGeom prst="rect">
            <a:avLst/>
          </a:prstGeom>
          <a:solidFill>
            <a:srgbClr val="F8F7F5"/>
          </a:solidFill>
          <a:ln w="6350">
            <a:solidFill>
              <a:srgbClr val="E0DEDA"/>
            </a:solidFill>
          </a:ln>
        </p:spPr>
        <p:txBody>
          <a:bodyPr lIns="182880" anchor="ctr"/>
          <a:lstStyle/>
          <a:p>
            <a:pPr algn="l">
              <a:buNone/>
            </a:pPr>
            <a:r>
              <a:rPr lang="ja-JP" sz="1200" b="1" dirty="0">
                <a:solidFill>
                  <a:srgbClr val="8B2E1E"/>
                </a:solidFill>
                <a:latin typeface="BIZ UDPGothic"/>
                <a:ea typeface="BIZ UDPGothic"/>
              </a:rPr>
              <a:t>7.  </a:t>
            </a:r>
            <a:r>
              <a:rPr lang="ja-JP" sz="1200" b="1" dirty="0">
                <a:solidFill>
                  <a:srgbClr val="1A1A1A"/>
                </a:solidFill>
                <a:latin typeface="BIZ UDPGothic"/>
                <a:ea typeface="BIZ UDPGothic"/>
              </a:rPr>
              <a:t>分析出力</a:t>
            </a:r>
          </a:p>
          <a:p>
            <a:pPr algn="l">
              <a:spcBef>
                <a:spcPts val="100"/>
              </a:spcBef>
              <a:buNone/>
            </a:pPr>
            <a:r>
              <a:rPr lang="ja-JP" sz="1000" dirty="0">
                <a:solidFill>
                  <a:srgbClr val="707070"/>
                </a:solidFill>
                <a:latin typeface="BIZ UDPGothic"/>
                <a:ea typeface="BIZ UDPGothic"/>
              </a:rPr>
              <a:t>run_summary, metrics, leaderboard</a:t>
            </a:r>
          </a:p>
        </p:txBody>
      </p:sp>
      <p:sp>
        <p:nvSpPr>
          <p:cNvPr id="56" name="SB6"/>
          <p:cNvSpPr/>
          <p:nvPr/>
        </p:nvSpPr>
        <p:spPr>
          <a:xfrm>
            <a:off x="10820400" y="42976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  <a:latin typeface="BIZ UDPGothic"/>
                <a:ea typeface="BIZ UDPGothic"/>
              </a:rPr>
              <a:t>納品済</a:t>
            </a:r>
          </a:p>
        </p:txBody>
      </p:sp>
    </p:spTree>
    <p:extLst>
      <p:ext uri="{BB962C8B-B14F-4D97-AF65-F5344CB8AC3E}">
        <p14:creationId xmlns:p14="http://schemas.microsoft.com/office/powerpoint/2010/main" val="2666890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10  総括</a:t>
            </a:r>
          </a:p>
        </p:txBody>
      </p:sp>
      <p:sp>
        <p:nvSpPr>
          <p:cNvPr id="11" name="RL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0" name="TA0"/>
          <p:cNvSpPr/>
          <p:nvPr/>
        </p:nvSpPr>
        <p:spPr>
          <a:xfrm>
            <a:off x="457200" y="1143000"/>
            <a:ext cx="3505200" cy="54864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1" name="TC0"/>
          <p:cNvSpPr/>
          <p:nvPr/>
        </p:nvSpPr>
        <p:spPr>
          <a:xfrm>
            <a:off x="457200" y="1197864"/>
            <a:ext cx="3505200" cy="2688336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82880" tIns="182880" rIns="137160" anchor="t"/>
          <a:lstStyle/>
          <a:p>
            <a:pPr algn="l">
              <a:spcAft>
                <a:spcPts val="600"/>
              </a:spcAft>
              <a:buNone/>
            </a:pPr>
            <a:r>
              <a:rPr lang="ja-JP" sz="1800" b="1" dirty="0">
                <a:solidFill>
                  <a:srgbClr val="8B2E1E"/>
                </a:solidFill>
                <a:latin typeface="BIZ UDPGothic"/>
                <a:ea typeface="BIZ UDPGothic"/>
              </a:rPr>
              <a:t>完了した成果</a:t>
            </a:r>
          </a:p>
          <a:p>
            <a:pPr algn="l">
              <a:lnSpc>
                <a:spcPts val="2200"/>
              </a:lnSpc>
              <a:buNone/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契約・提案で定めた範囲内で「再現可能な分析手順」と「初期的なモデル検証」を完了。業務で直ちに使える示唆（立地の強い影響、面積・戸数の寄与、非線形モデルの有効性）を提供した。</a:t>
            </a:r>
          </a:p>
        </p:txBody>
      </p:sp>
      <p:sp>
        <p:nvSpPr>
          <p:cNvPr id="22" name="TA1"/>
          <p:cNvSpPr/>
          <p:nvPr/>
        </p:nvSpPr>
        <p:spPr>
          <a:xfrm>
            <a:off x="4191000" y="1143000"/>
            <a:ext cx="3505200" cy="54864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3" name="TC1"/>
          <p:cNvSpPr/>
          <p:nvPr/>
        </p:nvSpPr>
        <p:spPr>
          <a:xfrm>
            <a:off x="4191000" y="1197864"/>
            <a:ext cx="3505200" cy="2688336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82880" tIns="182880" rIns="137160" anchor="t"/>
          <a:lstStyle/>
          <a:p>
            <a:pPr algn="l">
              <a:spcAft>
                <a:spcPts val="600"/>
              </a:spcAft>
              <a:buNone/>
            </a:pPr>
            <a:r>
              <a:rPr lang="ja-JP" sz="1800" b="1" dirty="0">
                <a:solidFill>
                  <a:srgbClr val="4A4A4A"/>
                </a:solidFill>
                <a:latin typeface="BIZ UDPGothic"/>
                <a:ea typeface="BIZ UDPGothic"/>
              </a:rPr>
              <a:t>現状の位置づけ</a:t>
            </a:r>
          </a:p>
          <a:p>
            <a:pPr algn="l">
              <a:lnSpc>
                <a:spcPts val="2200"/>
              </a:lnSpc>
              <a:buNone/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現状は「初期評価フェーズ」であり、製品利用レベルの運用にはデータ品質改善と継続的なモデル運用体制の整備が不可欠である。</a:t>
            </a:r>
          </a:p>
        </p:txBody>
      </p:sp>
      <p:sp>
        <p:nvSpPr>
          <p:cNvPr id="24" name="TA2"/>
          <p:cNvSpPr/>
          <p:nvPr/>
        </p:nvSpPr>
        <p:spPr>
          <a:xfrm>
            <a:off x="7924800" y="1143000"/>
            <a:ext cx="3505200" cy="54864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5" name="TC2"/>
          <p:cNvSpPr/>
          <p:nvPr/>
        </p:nvSpPr>
        <p:spPr>
          <a:xfrm>
            <a:off x="7924800" y="1197864"/>
            <a:ext cx="3505200" cy="2688336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82880" tIns="182880" rIns="137160" anchor="t"/>
          <a:lstStyle/>
          <a:p>
            <a:pPr algn="l">
              <a:spcAft>
                <a:spcPts val="600"/>
              </a:spcAft>
              <a:buNone/>
            </a:pPr>
            <a:r>
              <a:rPr lang="ja-JP" sz="1800" b="1" dirty="0">
                <a:solidFill>
                  <a:srgbClr val="8B2E1E"/>
                </a:solidFill>
                <a:latin typeface="BIZ UDPGothic"/>
                <a:ea typeface="BIZ UDPGothic"/>
              </a:rPr>
              <a:t>次段階への推奨</a:t>
            </a:r>
          </a:p>
          <a:p>
            <a:pPr algn="l">
              <a:lnSpc>
                <a:spcPts val="2200"/>
              </a:lnSpc>
              <a:buNone/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優先度の高いデータ品質改善（面積・築年・日付情報の正確化）と市場データ連携を進めることを推奨する。</a:t>
            </a:r>
          </a:p>
        </p:txBody>
      </p:sp>
      <p:sp>
        <p:nvSpPr>
          <p:cNvPr id="30" name="EmphBar"/>
          <p:cNvSpPr/>
          <p:nvPr/>
        </p:nvSpPr>
        <p:spPr>
          <a:xfrm>
            <a:off x="457200" y="4114800"/>
            <a:ext cx="11277600" cy="182880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txBody>
          <a:bodyPr wrap="square" lIns="365760" rIns="365760" anchor="ctr"/>
          <a:lstStyle/>
          <a:p>
            <a:pPr algn="ctr">
              <a:buNone/>
            </a:pPr>
            <a:r>
              <a:rPr lang="ja-JP" sz="1600" dirty="0">
                <a:solidFill>
                  <a:srgbClr val="FFFFFF"/>
                </a:solidFill>
                <a:latin typeface="BIZ UDPGothic"/>
                <a:ea typeface="BIZ UDPGothic"/>
              </a:rPr>
              <a:t>本プロジェクトは初期分析基盤の構築を完了した。</a:t>
            </a:r>
          </a:p>
          <a:p>
            <a:pPr algn="ctr">
              <a:spcBef>
                <a:spcPts val="400"/>
              </a:spcBef>
              <a:buNone/>
            </a:pPr>
            <a:r>
              <a:rPr lang="ja-JP" sz="1600" dirty="0">
                <a:solidFill>
                  <a:srgbClr val="FFFFFF"/>
                </a:solidFill>
                <a:latin typeface="BIZ UDPGothic"/>
                <a:ea typeface="BIZ UDPGothic"/>
              </a:rPr>
              <a:t>次フェーズでは</a:t>
            </a:r>
            <a:r>
              <a:rPr lang="ja-JP" sz="1600" b="1" dirty="0">
                <a:solidFill>
                  <a:srgbClr val="F5A623"/>
                </a:solidFill>
                <a:latin typeface="BIZ UDPGothic"/>
                <a:ea typeface="BIZ UDPGothic"/>
              </a:rPr>
              <a:t>データ品質改善</a:t>
            </a:r>
            <a:r>
              <a:rPr lang="ja-JP" sz="1600" dirty="0">
                <a:solidFill>
                  <a:srgbClr val="FFFFFF"/>
                </a:solidFill>
                <a:latin typeface="BIZ UDPGothic"/>
                <a:ea typeface="BIZ UDPGothic"/>
              </a:rPr>
              <a:t>と</a:t>
            </a:r>
            <a:r>
              <a:rPr lang="ja-JP" sz="1600" b="1" dirty="0">
                <a:solidFill>
                  <a:srgbClr val="F5A623"/>
                </a:solidFill>
                <a:latin typeface="BIZ UDPGothic"/>
                <a:ea typeface="BIZ UDPGothic"/>
              </a:rPr>
              <a:t>市場データ連携</a:t>
            </a:r>
            <a:r>
              <a:rPr lang="ja-JP" sz="1600" dirty="0">
                <a:solidFill>
                  <a:srgbClr val="FFFFFF"/>
                </a:solidFill>
                <a:latin typeface="BIZ UDPGothic"/>
                <a:ea typeface="BIZ UDPGothic"/>
              </a:rPr>
              <a:t>を優先的に推進する。</a:t>
            </a:r>
          </a:p>
        </p:txBody>
      </p:sp>
    </p:spTree>
    <p:extLst>
      <p:ext uri="{BB962C8B-B14F-4D97-AF65-F5344CB8AC3E}">
        <p14:creationId xmlns:p14="http://schemas.microsoft.com/office/powerpoint/2010/main" val="3101696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11  提案・契約との差分管理</a:t>
            </a:r>
          </a:p>
        </p:txBody>
      </p:sp>
      <p:sp>
        <p:nvSpPr>
          <p:cNvPr id="11" name="RL"/>
          <p:cNvSpPr/>
          <p:nvPr/>
        </p:nvSpPr>
        <p:spPr>
          <a:xfrm>
            <a:off x="0" y="914400"/>
            <a:ext cx="12192000" cy="36576"/>
          </a:xfrm>
          <a:prstGeom prst="rect">
            <a:avLst/>
          </a:prstGeom>
          <a:solidFill>
            <a:srgbClr val="8B2E1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0" name="AL0"/>
          <p:cNvSpPr/>
          <p:nvPr/>
        </p:nvSpPr>
        <p:spPr>
          <a:xfrm>
            <a:off x="457200" y="1097280"/>
            <a:ext cx="2286000" cy="100584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lIns="137160" anchor="ctr"/>
          <a:lstStyle/>
          <a:p>
            <a:pPr algn="ctr"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成果物</a:t>
            </a:r>
          </a:p>
          <a:p>
            <a:pPr algn="ctr">
              <a:buNone/>
            </a:pPr>
            <a:r>
              <a:rPr lang="ja-JP" sz="1000" b="1" dirty="0">
                <a:solidFill>
                  <a:srgbClr val="2E7D32"/>
                </a:solidFill>
                <a:latin typeface="BIZ UDPGothic"/>
                <a:ea typeface="BIZ UDPGothic"/>
              </a:rPr>
              <a:t>差分なし</a:t>
            </a:r>
          </a:p>
        </p:txBody>
      </p:sp>
      <p:sp>
        <p:nvSpPr>
          <p:cNvPr id="21" name="DD0"/>
          <p:cNvSpPr txBox="1"/>
          <p:nvPr/>
        </p:nvSpPr>
        <p:spPr>
          <a:xfrm>
            <a:off x="2834640" y="1097280"/>
            <a:ext cx="8900160" cy="100584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82880" rIns="137160" anchor="ctr"/>
          <a:lstStyle/>
          <a:p>
            <a:pPr algn="l">
              <a:lnSpc>
                <a:spcPts val="1800"/>
              </a:lnSpc>
              <a:buNone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契約・提案で合意した全成果物を作成・提出済み。中間報告（M02）および最終報告会（M03）にて確認済み。</a:t>
            </a:r>
          </a:p>
        </p:txBody>
      </p:sp>
      <p:sp>
        <p:nvSpPr>
          <p:cNvPr id="23" name="AL1"/>
          <p:cNvSpPr/>
          <p:nvPr/>
        </p:nvSpPr>
        <p:spPr>
          <a:xfrm>
            <a:off x="457200" y="2194560"/>
            <a:ext cx="2286000" cy="100584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lIns="137160" anchor="ctr"/>
          <a:lstStyle/>
          <a:p>
            <a:pPr algn="ctr"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スコープ</a:t>
            </a:r>
          </a:p>
          <a:p>
            <a:pPr algn="ctr">
              <a:buNone/>
            </a:pPr>
            <a:r>
              <a:rPr lang="ja-JP" sz="1000" b="1" dirty="0">
                <a:solidFill>
                  <a:srgbClr val="2E7D32"/>
                </a:solidFill>
                <a:latin typeface="BIZ UDPGothic"/>
                <a:ea typeface="BIZ UDPGothic"/>
              </a:rPr>
              <a:t>実質差分なし</a:t>
            </a:r>
          </a:p>
        </p:txBody>
      </p:sp>
      <p:sp>
        <p:nvSpPr>
          <p:cNvPr id="24" name="DD1"/>
          <p:cNvSpPr txBox="1"/>
          <p:nvPr/>
        </p:nvSpPr>
        <p:spPr>
          <a:xfrm>
            <a:off x="2834640" y="2194560"/>
            <a:ext cx="8900160" cy="100584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82880" rIns="137160" anchor="ctr"/>
          <a:lstStyle/>
          <a:p>
            <a:pPr algn="l">
              <a:lnSpc>
                <a:spcPts val="1800"/>
              </a:lnSpc>
              <a:buNone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契約（3.2）の対象/対象外は原則維持。date_columnの扱い検証に関する実装上の仮決定が中間段階で発生したが、スコープ自体は変更せず実装判断の調整に留まる。M01のA03およびM02で合意済み。</a:t>
            </a:r>
          </a:p>
        </p:txBody>
      </p:sp>
      <p:sp>
        <p:nvSpPr>
          <p:cNvPr id="26" name="AL2"/>
          <p:cNvSpPr/>
          <p:nvPr/>
        </p:nvSpPr>
        <p:spPr>
          <a:xfrm>
            <a:off x="457200" y="3291840"/>
            <a:ext cx="2286000" cy="100584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lIns="137160" anchor="ctr"/>
          <a:lstStyle/>
          <a:p>
            <a:pPr algn="ctr"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KPI／受入基準</a:t>
            </a:r>
          </a:p>
          <a:p>
            <a:pPr algn="ctr">
              <a:buNone/>
            </a:pPr>
            <a:r>
              <a:rPr lang="ja-JP" sz="1000" b="1" dirty="0">
                <a:solidFill>
                  <a:srgbClr val="2E7D32"/>
                </a:solidFill>
                <a:latin typeface="BIZ UDPGothic"/>
                <a:ea typeface="BIZ UDPGothic"/>
              </a:rPr>
              <a:t>差分なし</a:t>
            </a:r>
          </a:p>
        </p:txBody>
      </p:sp>
      <p:sp>
        <p:nvSpPr>
          <p:cNvPr id="27" name="DD2"/>
          <p:cNvSpPr txBox="1"/>
          <p:nvPr/>
        </p:nvSpPr>
        <p:spPr>
          <a:xfrm>
            <a:off x="2834640" y="3291840"/>
            <a:ext cx="8900160" cy="100584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82880" rIns="137160" anchor="ctr"/>
          <a:lstStyle/>
          <a:p>
            <a:pPr algn="l">
              <a:lnSpc>
                <a:spcPts val="1800"/>
              </a:lnSpc>
              <a:buNone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「予測性能の目標値」は当初から固定されておらず、評価は相対（モデル間比較）で実施。最終的なモデルR² ≈ 0.48を報告。M02で継続条件を承認。</a:t>
            </a:r>
          </a:p>
        </p:txBody>
      </p:sp>
      <p:sp>
        <p:nvSpPr>
          <p:cNvPr id="29" name="AL3"/>
          <p:cNvSpPr/>
          <p:nvPr/>
        </p:nvSpPr>
        <p:spPr>
          <a:xfrm>
            <a:off x="457200" y="4389120"/>
            <a:ext cx="2286000" cy="100584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lIns="137160" anchor="ctr"/>
          <a:lstStyle/>
          <a:p>
            <a:pPr algn="ctr"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契約形態・支払</a:t>
            </a:r>
          </a:p>
          <a:p>
            <a:pPr algn="ctr">
              <a:buNone/>
            </a:pPr>
            <a:r>
              <a:rPr lang="ja-JP" sz="1000" b="1" dirty="0">
                <a:solidFill>
                  <a:srgbClr val="8B2E1E"/>
                </a:solidFill>
                <a:latin typeface="BIZ UDPGothic"/>
                <a:ea typeface="BIZ UDPGothic"/>
              </a:rPr>
              <a:t>工数増あり</a:t>
            </a:r>
          </a:p>
        </p:txBody>
      </p:sp>
      <p:sp>
        <p:nvSpPr>
          <p:cNvPr id="30" name="DD3"/>
          <p:cNvSpPr txBox="1"/>
          <p:nvPr/>
        </p:nvSpPr>
        <p:spPr>
          <a:xfrm>
            <a:off x="2834640" y="4389120"/>
            <a:ext cx="8900160" cy="1005840"/>
          </a:xfrm>
          <a:prstGeom prst="rect">
            <a:avLst/>
          </a:prstGeom>
          <a:solidFill>
            <a:srgbClr val="F8F7F5"/>
          </a:solidFill>
          <a:ln w="12700">
            <a:solidFill>
              <a:srgbClr val="E0DEDA"/>
            </a:solidFill>
          </a:ln>
        </p:spPr>
        <p:txBody>
          <a:bodyPr wrap="square" lIns="182880" rIns="137160" anchor="ctr"/>
          <a:lstStyle/>
          <a:p>
            <a:pPr algn="l">
              <a:lnSpc>
                <a:spcPts val="1800"/>
              </a:lnSpc>
              <a:buNone/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課金方式:T&amp;M（第6条）、請求ロジック・税率・単価は契約通り変更なし。実績工数は契約想定170時間を上回る184.5時間。検収基準日（9/17）に基づき請求手続き実行済み。</a:t>
            </a:r>
          </a:p>
        </p:txBody>
      </p:sp>
      <p:sp>
        <p:nvSpPr>
          <p:cNvPr id="40" name="FN"/>
          <p:cNvSpPr txBox="1"/>
          <p:nvPr/>
        </p:nvSpPr>
        <p:spPr>
          <a:xfrm>
            <a:off x="457200" y="548640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ts val="1600"/>
              </a:lnSpc>
              <a:buNone/>
            </a:pPr>
            <a:r>
              <a:rPr lang="ja-JP" sz="1000" dirty="0">
                <a:solidFill>
                  <a:srgbClr val="A0A0A0"/>
                </a:solidFill>
                <a:latin typeface="BIZ UDPGothic"/>
                <a:ea typeface="BIZ UDPGothic"/>
              </a:rPr>
              <a:t>※ 変更管理チェックポイント（2025-08-27）を設置。変更要求はPM（佐藤）を通じ影響見積を提示、クライアント承認後に実施するフローを運用。</a:t>
            </a:r>
          </a:p>
        </p:txBody>
      </p:sp>
    </p:spTree>
    <p:extLst>
      <p:ext uri="{BB962C8B-B14F-4D97-AF65-F5344CB8AC3E}">
        <p14:creationId xmlns:p14="http://schemas.microsoft.com/office/powerpoint/2010/main" val="4058700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 [1774917543831]">
  <a:themeElements>
    <a:clrScheme name="Office">
      <a:dk1>
        <a:srgbClr val="1A1A1A"/>
      </a:dk1>
      <a:lt1>
        <a:srgbClr val="FFFFFF"/>
      </a:lt1>
      <a:dk2>
        <a:srgbClr val="3D3D3D"/>
      </a:dk2>
      <a:lt2>
        <a:srgbClr val="F2F0ED"/>
      </a:lt2>
      <a:accent1>
        <a:srgbClr val="8B2E1E"/>
      </a:accent1>
      <a:accent2>
        <a:srgbClr val="4A4A4A"/>
      </a:accent2>
      <a:accent3>
        <a:srgbClr val="707070"/>
      </a:accent3>
      <a:accent4>
        <a:srgbClr val="B8860B"/>
      </a:accent4>
      <a:accent5>
        <a:srgbClr val="A0A0A0"/>
      </a:accent5>
      <a:accent6>
        <a:srgbClr val="C0392B"/>
      </a:accent6>
      <a:hlink>
        <a:srgbClr val="467886"/>
      </a:hlink>
      <a:folHlink>
        <a:srgbClr val="96607D"/>
      </a:folHlink>
    </a:clrScheme>
    <a:fontScheme name="Office">
      <a:majorFont>
        <a:latin typeface="BIZ UDPGothic" panose="02110004020202020204"/>
        <a:ea typeface="BIZ UDP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 panose="02110004020202020204"/>
        <a:ea typeface="BIZ UDP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D82A196-A32F-4D96-A7A2-A4E355637BD0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2313</Words>
  <Application>Microsoft Office PowerPoint</Application>
  <PresentationFormat>ワイド画面</PresentationFormat>
  <Paragraphs>318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0" baseType="lpstr">
      <vt:lpstr>BIZ UDPGothic</vt:lpstr>
      <vt:lpstr>Arial</vt:lpstr>
      <vt:lpstr>Office テーマ [1774917543831]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h.ikeshita</dc:creator>
  <cp:lastModifiedBy>h.ikeshita</cp:lastModifiedBy>
  <cp:revision>2</cp:revision>
  <dcterms:created xsi:type="dcterms:W3CDTF">2026-03-30T16:09:33Z</dcterms:created>
  <dcterms:modified xsi:type="dcterms:W3CDTF">2026-03-31T00:56:21Z</dcterms:modified>
</cp:coreProperties>
</file>