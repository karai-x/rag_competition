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0" r:id="rId3"/>
    <p:sldId id="263" r:id="rId4"/>
    <p:sldId id="266" r:id="rId5"/>
    <p:sldId id="269" r:id="rId6"/>
    <p:sldId id="272" r:id="rId7"/>
    <p:sldId id="275" r:id="rId8"/>
    <p:sldId id="278" r:id="rId9"/>
    <p:sldId id="281" r:id="rId10"/>
    <p:sldId id="284" r:id="rId11"/>
    <p:sldId id="287" r:id="rId12"/>
    <p:sldId id="290" r:id="rId13"/>
    <p:sldId id="293" r:id="rId14"/>
    <p:sldId id="295" r:id="rId15"/>
    <p:sldId id="298" r:id="rId16"/>
    <p:sldId id="301"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96" y="3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F8ECBF-4E8A-FAF0-BC44-08E2B1E50E9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58D5D87-60A1-7F4B-C8E5-6A5BEC745F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6D5E63A-1D7C-0852-FA9B-0A12DE36E148}"/>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51422D8F-B6B3-982B-B86A-9EC2860F99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5614BC-406D-90E7-7F07-BC34930F6F43}"/>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2381031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63637D-2A85-D176-4197-A88870FE9E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2C2229-E42C-A24A-2AAB-61BF220C62A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E906C06-454D-87DC-1671-CE1C5A9EB04C}"/>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4C485879-F6D0-9465-ADEF-398C17AB1C7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6BE52BF-7331-36A7-DC39-31F751014D2C}"/>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3534911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C4DBF5-D905-C260-078A-088868B27EE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D25B01-4C91-B774-7706-335D184446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A11DE7C-8C88-C1B7-1732-B233D2107462}"/>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E2307B51-92EC-94C6-A89B-4C396BF316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9C7257-CAE1-2050-BCCB-F22FAC9CA282}"/>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312338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932EC1-CD1D-4116-ABAA-E09BC5DB810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57E240C-323D-DCC4-E3FC-277548C5C29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6AA46BF-E1C0-4C5F-B78B-76ECFE22D9E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B4AA2F6-00F8-B75B-018C-3B44F33ED315}"/>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4ACF94EE-0A1F-12ED-6894-7C7E74827D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EF23C16-ED01-AD58-7C89-6156772373DD}"/>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1935695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98C774-593B-3237-4D4B-DBFE26BF47E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D51F588-8538-A35F-48E6-6361FA0A8D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F802DE1-65D5-C5DC-1A67-C0191164CCC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FE9947-5E69-15FB-6AE9-A46A091384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DD0B97B-9E46-E1EA-5A02-305964A05B1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4F520C-331F-2E50-CCBC-2BF01742BD0A}"/>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8" name="フッター プレースホルダー 7">
            <a:extLst>
              <a:ext uri="{FF2B5EF4-FFF2-40B4-BE49-F238E27FC236}">
                <a16:creationId xmlns:a16="http://schemas.microsoft.com/office/drawing/2014/main" id="{FCDB6498-C75D-D762-8C53-903CF949871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081026A-6849-08B9-7BE3-30088EB53E18}"/>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1267578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ED426C-032E-40C5-0136-76D00804381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1AF80EF-B4E7-0414-A289-FC9BE53DF4FF}"/>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42D06E4B-2D62-7730-824F-F5B871738A5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FCE333F-0CFC-A9DB-A296-E6A345A6CDA3}"/>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335768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FD6F509-9B4B-B3E0-F330-C731476A7451}"/>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3" name="フッター プレースホルダー 2">
            <a:extLst>
              <a:ext uri="{FF2B5EF4-FFF2-40B4-BE49-F238E27FC236}">
                <a16:creationId xmlns:a16="http://schemas.microsoft.com/office/drawing/2014/main" id="{3C168D82-B4C1-7DC5-028B-6037AEC2DE8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3061B56-A4EB-3A56-6426-5A9DC3035C50}"/>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1222147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9E8CA7-E8C1-A31C-BCB0-1DD763BA551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0C36DA0-034B-96CC-3517-8BEBCA60B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98B0931-8E9A-38D8-B1EA-0C08FD410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383BB99-2438-23E2-473C-AD83A59E771B}"/>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6AE26B3E-36DC-7EBF-4E5F-C314BD607A9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3FDAAF4-7F82-4AEB-2903-71CE29EDDF3A}"/>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1920270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AFDDE0-DE51-896F-4A7C-9F158B990CD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062BBFB-751B-B676-EBED-076C0A1DF8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CBEBD18-C5F2-1657-4809-B8936B0196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9E11B-8D04-6304-A217-9C64965E6732}"/>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5C1335E3-92C5-F0A0-D672-6CB9AD98E6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8BC092-A773-2329-045E-0238EC58D1E3}"/>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872514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0A6DC-F141-FA54-759F-8CE20066628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89DFE8E-B5AF-553F-26A2-FB6E575E8E6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E4EB481-5556-C919-C61F-A48DF874FA0A}"/>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9ACC3387-B4E8-AA78-CDD2-B272A7BCBA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527388-D1DA-2944-16C3-D952800DB541}"/>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537344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C7C493F-B3DE-AF78-0EBE-51C9CE59E70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63289B-9ADE-E5C9-D0F9-212C7549FD4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6F0B20-35FC-F21D-060B-6D665D82FDFE}"/>
              </a:ext>
            </a:extLst>
          </p:cNvPr>
          <p:cNvSpPr>
            <a:spLocks noGrp="1"/>
          </p:cNvSpPr>
          <p:nvPr>
            <p:ph type="dt" sz="half" idx="10"/>
          </p:nvPr>
        </p:nvSpPr>
        <p:spPr/>
        <p:txBody>
          <a:bodyPr/>
          <a:lstStyle/>
          <a:p>
            <a:fld id="{6D50A6EE-620A-4553-AB71-9F37BA9A1AB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D68E04B3-BC3A-3D48-AFE7-24B8459C9C9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6D620F5-F51A-60BF-ECC3-AB146A3C694D}"/>
              </a:ext>
            </a:extLst>
          </p:cNvPr>
          <p:cNvSpPr>
            <a:spLocks noGrp="1"/>
          </p:cNvSpPr>
          <p:nvPr>
            <p:ph type="sldNum" sz="quarter" idx="12"/>
          </p:nvPr>
        </p:nvSpPr>
        <p:spPr/>
        <p:txBody>
          <a:bodyPr/>
          <a:lstStyle/>
          <a:p>
            <a:fld id="{6E819247-7071-4676-A946-396DE1130F13}" type="slidenum">
              <a:rPr kumimoji="1" lang="ja-JP" altLang="en-US" smtClean="0"/>
              <a:t>‹#›</a:t>
            </a:fld>
            <a:endParaRPr kumimoji="1" lang="ja-JP" altLang="en-US"/>
          </a:p>
        </p:txBody>
      </p:sp>
    </p:spTree>
    <p:extLst>
      <p:ext uri="{BB962C8B-B14F-4D97-AF65-F5344CB8AC3E}">
        <p14:creationId xmlns:p14="http://schemas.microsoft.com/office/powerpoint/2010/main" val="198166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AED295C-77DC-067B-392A-8EB09106F6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90FD606-42B4-5228-84B1-4C1087D21C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BC9E446-4566-5B6A-F9DD-1DA5432B31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50A6EE-620A-4553-AB71-9F37BA9A1AB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572499C6-5926-424A-6F5F-65520F481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144EA8A-7535-E595-B0F4-4E8AF6F63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819247-7071-4676-A946-396DE1130F13}" type="slidenum">
              <a:rPr kumimoji="1" lang="ja-JP" altLang="en-US" smtClean="0"/>
              <a:t>‹#›</a:t>
            </a:fld>
            <a:endParaRPr kumimoji="1" lang="ja-JP" altLang="en-US"/>
          </a:p>
        </p:txBody>
      </p:sp>
      <p:sp>
        <p:nvSpPr>
          <p:cNvPr id="900" name="BottomBar"/>
          <p:cNvSpPr/>
          <p:nvPr userDrawn="1"/>
        </p:nvSpPr>
        <p:spPr>
          <a:xfrm>
            <a:off x="0" y="6720000"/>
            <a:ext cx="12192000" cy="137160"/>
          </a:xfrm>
          <a:prstGeom prst="rect">
            <a:avLst/>
          </a:prstGeom>
          <a:solidFill>
            <a:srgbClr val="8B2500"/>
          </a:solidFill>
          <a:ln>
            <a:noFill/>
          </a:ln>
        </p:spPr>
        <p:txBody>
          <a:bodyPr/>
          <a:lstStyle/>
          <a:p>
            <a:endParaRPr lang="ja-JP"/>
          </a:p>
        </p:txBody>
      </p:sp>
    </p:spTree>
    <p:extLst>
      <p:ext uri="{BB962C8B-B14F-4D97-AF65-F5344CB8AC3E}">
        <p14:creationId xmlns:p14="http://schemas.microsoft.com/office/powerpoint/2010/main" val="4180836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D3D3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D3D3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D3D3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9pPr>
    </p:bodyStyle>
    <p:otherStyle>
      <a:defPPr>
        <a:defRPr lang="ja-JP">
          <a:solidFill>
            <a:srgbClr val="3D3D3D"/>
          </a:solidFill>
        </a:defRPr>
      </a:defPPr>
      <a:lvl1pPr marL="0" algn="l" defTabSz="914400" rtl="0" eaLnBrk="1" latinLnBrk="0" hangingPunct="1">
        <a:defRPr kumimoji="1" sz="1800" kern="1200">
          <a:solidFill>
            <a:srgbClr val="3D3D3D"/>
          </a:solidFill>
          <a:latin typeface="+mn-lt"/>
          <a:ea typeface="+mn-ea"/>
          <a:cs typeface="+mn-cs"/>
        </a:defRPr>
      </a:lvl1pPr>
      <a:lvl2pPr marL="457200" algn="l" defTabSz="914400" rtl="0" eaLnBrk="1" latinLnBrk="0" hangingPunct="1">
        <a:defRPr kumimoji="1" sz="1800" kern="1200">
          <a:solidFill>
            <a:srgbClr val="3D3D3D"/>
          </a:solidFill>
          <a:latin typeface="+mn-lt"/>
          <a:ea typeface="+mn-ea"/>
          <a:cs typeface="+mn-cs"/>
        </a:defRPr>
      </a:lvl2pPr>
      <a:lvl3pPr marL="914400" algn="l" defTabSz="914400" rtl="0" eaLnBrk="1" latinLnBrk="0" hangingPunct="1">
        <a:defRPr kumimoji="1" sz="1800" kern="1200">
          <a:solidFill>
            <a:srgbClr val="3D3D3D"/>
          </a:solidFill>
          <a:latin typeface="+mn-lt"/>
          <a:ea typeface="+mn-ea"/>
          <a:cs typeface="+mn-cs"/>
        </a:defRPr>
      </a:lvl3pPr>
      <a:lvl4pPr marL="1371600" algn="l" defTabSz="914400" rtl="0" eaLnBrk="1" latinLnBrk="0" hangingPunct="1">
        <a:defRPr kumimoji="1" sz="1800" kern="1200">
          <a:solidFill>
            <a:srgbClr val="3D3D3D"/>
          </a:solidFill>
          <a:latin typeface="+mn-lt"/>
          <a:ea typeface="+mn-ea"/>
          <a:cs typeface="+mn-cs"/>
        </a:defRPr>
      </a:lvl4pPr>
      <a:lvl5pPr marL="1828800" algn="l" defTabSz="914400" rtl="0" eaLnBrk="1" latinLnBrk="0" hangingPunct="1">
        <a:defRPr kumimoji="1" sz="1800" kern="1200">
          <a:solidFill>
            <a:srgbClr val="3D3D3D"/>
          </a:solidFill>
          <a:latin typeface="+mn-lt"/>
          <a:ea typeface="+mn-ea"/>
          <a:cs typeface="+mn-cs"/>
        </a:defRPr>
      </a:lvl5pPr>
      <a:lvl6pPr marL="2286000" algn="l" defTabSz="914400" rtl="0" eaLnBrk="1" latinLnBrk="0" hangingPunct="1">
        <a:defRPr kumimoji="1" sz="1800" kern="1200">
          <a:solidFill>
            <a:srgbClr val="3D3D3D"/>
          </a:solidFill>
          <a:latin typeface="+mn-lt"/>
          <a:ea typeface="+mn-ea"/>
          <a:cs typeface="+mn-cs"/>
        </a:defRPr>
      </a:lvl6pPr>
      <a:lvl7pPr marL="2743200" algn="l" defTabSz="914400" rtl="0" eaLnBrk="1" latinLnBrk="0" hangingPunct="1">
        <a:defRPr kumimoji="1" sz="1800" kern="1200">
          <a:solidFill>
            <a:srgbClr val="3D3D3D"/>
          </a:solidFill>
          <a:latin typeface="+mn-lt"/>
          <a:ea typeface="+mn-ea"/>
          <a:cs typeface="+mn-cs"/>
        </a:defRPr>
      </a:lvl7pPr>
      <a:lvl8pPr marL="3200400" algn="l" defTabSz="914400" rtl="0" eaLnBrk="1" latinLnBrk="0" hangingPunct="1">
        <a:defRPr kumimoji="1" sz="1800" kern="1200">
          <a:solidFill>
            <a:srgbClr val="3D3D3D"/>
          </a:solidFill>
          <a:latin typeface="+mn-lt"/>
          <a:ea typeface="+mn-ea"/>
          <a:cs typeface="+mn-cs"/>
        </a:defRPr>
      </a:lvl8pPr>
      <a:lvl9pPr marL="3657600" algn="l" defTabSz="914400" rtl="0" eaLnBrk="1" latinLnBrk="0" hangingPunct="1">
        <a:defRPr kumimoji="1" sz="1800" kern="1200">
          <a:solidFill>
            <a:srgbClr val="3D3D3D"/>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55FC38-BD65-76F1-AB2A-BF92A8BDBA8A}"/>
              </a:ext>
            </a:extLst>
          </p:cNvPr>
          <p:cNvSpPr>
            <a:spLocks noGrp="1"/>
          </p:cNvSpPr>
          <p:nvPr>
            <p:ph type="ctrTitle"/>
          </p:nvPr>
        </p:nvSpPr>
        <p:spPr>
          <a:xfrm>
            <a:off x="1524000" y="1524000"/>
            <a:ext cx="9144000" cy="2387600"/>
          </a:xfrm>
        </p:spPr>
        <p:txBody>
          <a:bodyPr/>
          <a:lstStyle/>
          <a:p>
            <a:pPr algn="ctr"/>
            <a:r>
              <a:rPr lang="ja-JP" sz="1400" dirty="0">
                <a:solidFill>
                  <a:srgbClr val="8B2500"/>
                </a:solidFill>
                <a:latin typeface="BIZ UDPゴシック"/>
                <a:ea typeface="BIZ UDPゴシック"/>
              </a:rPr>
              <a:t>データ分析プロジェクト提案書</a:t>
            </a:r>
          </a:p>
          <a:p>
            <a:pPr algn="ctr"/>
            <a:r>
              <a:rPr lang="ja-JP" sz="2800" b="1" dirty="0">
                <a:solidFill>
                  <a:srgbClr val="1A1A1A"/>
                </a:solidFill>
                <a:latin typeface="BIZ UDPゴシック"/>
                <a:ea typeface="BIZ UDPゴシック"/>
              </a:rPr>
              <a:t>モビリティ需要予測分析</a:t>
            </a:r>
          </a:p>
          <a:p>
            <a:pPr algn="ctr"/>
            <a:r>
              <a:rPr lang="ja-JP" sz="2800" b="1" dirty="0">
                <a:solidFill>
                  <a:srgbClr val="1A1A1A"/>
                </a:solidFill>
                <a:latin typeface="BIZ UDPゴシック"/>
                <a:ea typeface="BIZ UDPゴシック"/>
              </a:rPr>
              <a:t>プロジェクト</a:t>
            </a:r>
          </a:p>
        </p:txBody>
      </p:sp>
      <p:sp>
        <p:nvSpPr>
          <p:cNvPr id="3" name="字幕 2">
            <a:extLst>
              <a:ext uri="{FF2B5EF4-FFF2-40B4-BE49-F238E27FC236}">
                <a16:creationId xmlns:a16="http://schemas.microsoft.com/office/drawing/2014/main" id="{2B3B5E2B-629C-CCB2-C3EC-D849510E5E0F}"/>
              </a:ext>
            </a:extLst>
          </p:cNvPr>
          <p:cNvSpPr>
            <a:spLocks noGrp="1"/>
          </p:cNvSpPr>
          <p:nvPr>
            <p:ph type="subTitle" idx="1"/>
          </p:nvPr>
        </p:nvSpPr>
        <p:spPr>
          <a:xfrm>
            <a:off x="1524000" y="4318000"/>
            <a:ext cx="9144000" cy="1655762"/>
          </a:xfrm>
        </p:spPr>
        <p:txBody>
          <a:bodyPr/>
          <a:lstStyle/>
          <a:p>
            <a:pPr algn="ctr"/>
            <a:r>
              <a:rPr lang="ja-JP" sz="1400" dirty="0">
                <a:solidFill>
                  <a:srgbClr val="4A4A4A"/>
                </a:solidFill>
                <a:latin typeface="BIZ UDPゴシック"/>
                <a:ea typeface="BIZ UDPゴシック"/>
              </a:rPr>
              <a:t>株式会社青潮モビリティサービス 御中</a:t>
            </a:r>
          </a:p>
          <a:p>
            <a:pPr algn="ctr">
              <a:spcBef>
                <a:spcPts val="600"/>
              </a:spcBef>
            </a:pPr>
            <a:r>
              <a:rPr lang="ja-JP" sz="1400" dirty="0">
                <a:solidFill>
                  <a:srgbClr val="4A4A4A"/>
                </a:solidFill>
                <a:latin typeface="BIZ UDPゴシック"/>
                <a:ea typeface="BIZ UDPゴシック"/>
              </a:rPr>
              <a:t>株式会社データアステル</a:t>
            </a:r>
          </a:p>
        </p:txBody>
      </p:sp>
      <p:sp>
        <p:nvSpPr>
          <p:cNvPr id="50" name="AccentLine"/>
          <p:cNvSpPr/>
          <p:nvPr/>
        </p:nvSpPr>
        <p:spPr>
          <a:xfrm>
            <a:off x="4191000" y="4064000"/>
            <a:ext cx="3810000" cy="0"/>
          </a:xfrm>
          <a:prstGeom prst="line">
            <a:avLst/>
          </a:prstGeom>
          <a:ln w="28575">
            <a:solidFill>
              <a:srgbClr val="8B2500"/>
            </a:solidFill>
          </a:ln>
        </p:spPr>
        <p:txBody>
          <a:bodyPr/>
          <a:lstStyle/>
          <a:p>
            <a:endParaRPr lang="ja-JP"/>
          </a:p>
        </p:txBody>
      </p:sp>
    </p:spTree>
    <p:extLst>
      <p:ext uri="{BB962C8B-B14F-4D97-AF65-F5344CB8AC3E}">
        <p14:creationId xmlns:p14="http://schemas.microsoft.com/office/powerpoint/2010/main" val="121013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ECD50C-F25F-8BA8-AFD2-FB00016B326B}"/>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1. 背景</a:t>
            </a:r>
          </a:p>
        </p:txBody>
      </p:sp>
      <p:sp>
        <p:nvSpPr>
          <p:cNvPr id="10" name="SectionBar"/>
          <p:cNvSpPr/>
          <p:nvPr/>
        </p:nvSpPr>
        <p:spPr>
          <a:xfrm>
            <a:off x="457200" y="1841500"/>
            <a:ext cx="11277600" cy="457200"/>
          </a:xfrm>
          <a:prstGeom prst="rect">
            <a:avLst/>
          </a:prstGeom>
          <a:solidFill>
            <a:srgbClr val="8B2500"/>
          </a:solidFill>
          <a:ln>
            <a:noFill/>
          </a:ln>
        </p:spPr>
        <p:txBody>
          <a:bodyPr wrap="square" lIns="91440" tIns="45720" rIns="91440" bIns="45720" anchor="ctr"/>
          <a:lstStyle/>
          <a:p>
            <a:pPr algn="l"/>
            <a:r>
              <a:rPr lang="ja-JP" sz="1600" b="1" dirty="0">
                <a:solidFill>
                  <a:srgbClr val="FFFFFF"/>
                </a:solidFill>
                <a:latin typeface="BIZ UDPゴシック"/>
                <a:ea typeface="BIZ UDPゴシック"/>
              </a:rPr>
              <a:t>課題認識</a:t>
            </a:r>
          </a:p>
        </p:txBody>
      </p:sp>
      <p:sp>
        <p:nvSpPr>
          <p:cNvPr id="11" name="Challenge0"/>
          <p:cNvSpPr/>
          <p:nvPr/>
        </p:nvSpPr>
        <p:spPr>
          <a:xfrm>
            <a:off x="457200" y="2476500"/>
            <a:ext cx="3556000" cy="952500"/>
          </a:xfrm>
          <a:prstGeom prst="roundRect">
            <a:avLst/>
          </a:prstGeom>
          <a:solidFill>
            <a:srgbClr val="F2F0ED"/>
          </a:solidFill>
          <a:ln>
            <a:noFill/>
          </a:ln>
        </p:spPr>
        <p:txBody>
          <a:bodyPr wrap="square" lIns="91440" tIns="45720" rIns="91440" bIns="45720" anchor="ctr"/>
          <a:lstStyle/>
          <a:p>
            <a:pPr algn="ctr"/>
            <a:r>
              <a:rPr lang="ja-JP" sz="1400" b="1" dirty="0">
                <a:solidFill>
                  <a:srgbClr val="8B2500"/>
                </a:solidFill>
                <a:latin typeface="BIZ UDPゴシック"/>
                <a:ea typeface="BIZ UDPゴシック"/>
              </a:rPr>
              <a:t>▲</a:t>
            </a:r>
          </a:p>
          <a:p>
            <a:pPr algn="ctr"/>
            <a:r>
              <a:rPr lang="ja-JP" sz="1400" dirty="0">
                <a:solidFill>
                  <a:srgbClr val="1A1A1A"/>
                </a:solidFill>
                <a:latin typeface="BIZ UDPゴシック"/>
                <a:ea typeface="BIZ UDPゴシック"/>
              </a:rPr>
              <a:t>需要ピーク時の
サービス可用性確保</a:t>
            </a:r>
          </a:p>
        </p:txBody>
      </p:sp>
      <p:sp>
        <p:nvSpPr>
          <p:cNvPr id="12" name="Challenge1"/>
          <p:cNvSpPr/>
          <p:nvPr/>
        </p:nvSpPr>
        <p:spPr>
          <a:xfrm>
            <a:off x="4140200" y="2476500"/>
            <a:ext cx="3556000" cy="952500"/>
          </a:xfrm>
          <a:prstGeom prst="roundRect">
            <a:avLst/>
          </a:prstGeom>
          <a:solidFill>
            <a:srgbClr val="F2F0ED"/>
          </a:solidFill>
          <a:ln>
            <a:noFill/>
          </a:ln>
        </p:spPr>
        <p:txBody>
          <a:bodyPr wrap="square" lIns="91440" tIns="45720" rIns="91440" bIns="45720" anchor="ctr"/>
          <a:lstStyle/>
          <a:p>
            <a:pPr algn="ctr"/>
            <a:r>
              <a:rPr lang="ja-JP" sz="1400" b="1" dirty="0">
                <a:solidFill>
                  <a:srgbClr val="8B2500"/>
                </a:solidFill>
                <a:latin typeface="BIZ UDPゴシック"/>
                <a:ea typeface="BIZ UDPゴシック"/>
              </a:rPr>
              <a:t>■</a:t>
            </a:r>
          </a:p>
          <a:p>
            <a:pPr algn="ctr"/>
            <a:r>
              <a:rPr lang="ja-JP" sz="1400" dirty="0">
                <a:solidFill>
                  <a:srgbClr val="1A1A1A"/>
                </a:solidFill>
                <a:latin typeface="BIZ UDPゴシック"/>
                <a:ea typeface="BIZ UDPゴシック"/>
              </a:rPr>
              <a:t>供給不足・過剰配置の
抑制</a:t>
            </a:r>
          </a:p>
        </p:txBody>
      </p:sp>
      <p:sp>
        <p:nvSpPr>
          <p:cNvPr id="13" name="Challenge2"/>
          <p:cNvSpPr/>
          <p:nvPr/>
        </p:nvSpPr>
        <p:spPr>
          <a:xfrm>
            <a:off x="7823200" y="2476500"/>
            <a:ext cx="3556000" cy="952500"/>
          </a:xfrm>
          <a:prstGeom prst="roundRect">
            <a:avLst/>
          </a:prstGeom>
          <a:solidFill>
            <a:srgbClr val="F2F0ED"/>
          </a:solidFill>
          <a:ln>
            <a:noFill/>
          </a:ln>
        </p:spPr>
        <p:txBody>
          <a:bodyPr wrap="square" lIns="91440" tIns="45720" rIns="91440" bIns="45720" anchor="ctr"/>
          <a:lstStyle/>
          <a:p>
            <a:pPr algn="ctr"/>
            <a:r>
              <a:rPr lang="ja-JP" sz="1400" b="1" dirty="0">
                <a:solidFill>
                  <a:srgbClr val="8B2500"/>
                </a:solidFill>
                <a:latin typeface="BIZ UDPゴシック"/>
                <a:ea typeface="BIZ UDPゴシック"/>
              </a:rPr>
              <a:t>●</a:t>
            </a:r>
          </a:p>
          <a:p>
            <a:pPr algn="ctr"/>
            <a:r>
              <a:rPr lang="ja-JP" sz="1400" dirty="0">
                <a:solidFill>
                  <a:srgbClr val="1A1A1A"/>
                </a:solidFill>
                <a:latin typeface="BIZ UDPゴシック"/>
                <a:ea typeface="BIZ UDPゴシック"/>
              </a:rPr>
              <a:t>配車・再配置計画の
高度化</a:t>
            </a:r>
          </a:p>
        </p:txBody>
      </p:sp>
      <p:sp>
        <p:nvSpPr>
          <p:cNvPr id="20" name="Arrow"/>
          <p:cNvSpPr/>
          <p:nvPr/>
        </p:nvSpPr>
        <p:spPr>
          <a:xfrm>
            <a:off x="5588000" y="3556000"/>
            <a:ext cx="1016000" cy="444500"/>
          </a:xfrm>
          <a:prstGeom prst="downArrow">
            <a:avLst/>
          </a:prstGeom>
          <a:solidFill>
            <a:srgbClr val="8B2500">
              <a:alpha val="40000"/>
            </a:srgbClr>
          </a:solidFill>
          <a:ln>
            <a:noFill/>
          </a:ln>
        </p:spPr>
        <p:txBody>
          <a:bodyPr/>
          <a:lstStyle/>
          <a:p>
            <a:endParaRPr lang="ja-JP"/>
          </a:p>
        </p:txBody>
      </p:sp>
      <p:sp>
        <p:nvSpPr>
          <p:cNvPr id="21" name="DataBar"/>
          <p:cNvSpPr/>
          <p:nvPr/>
        </p:nvSpPr>
        <p:spPr>
          <a:xfrm>
            <a:off x="457200" y="4127500"/>
            <a:ext cx="11277600" cy="457200"/>
          </a:xfrm>
          <a:prstGeom prst="rect">
            <a:avLst/>
          </a:prstGeom>
          <a:solidFill>
            <a:srgbClr val="4A4A4A"/>
          </a:solidFill>
          <a:ln>
            <a:noFill/>
          </a:ln>
        </p:spPr>
        <p:txBody>
          <a:bodyPr wrap="square" lIns="91440" tIns="45720" rIns="91440" bIns="45720" anchor="ctr"/>
          <a:lstStyle/>
          <a:p>
            <a:pPr algn="l"/>
            <a:r>
              <a:rPr lang="ja-JP" sz="1600" b="1" dirty="0">
                <a:solidFill>
                  <a:srgbClr val="FFFFFF"/>
                </a:solidFill>
                <a:latin typeface="BIZ UDPゴシック"/>
                <a:ea typeface="BIZ UDPゴシック"/>
              </a:rPr>
              <a:t>対象データ：train.tsv</a:t>
            </a:r>
          </a:p>
        </p:txBody>
      </p:sp>
      <p:sp>
        <p:nvSpPr>
          <p:cNvPr id="22" name="Data0"/>
          <p:cNvSpPr/>
          <p:nvPr/>
        </p:nvSpPr>
        <p:spPr>
          <a:xfrm>
            <a:off x="457200" y="4762500"/>
            <a:ext cx="3556000" cy="1143000"/>
          </a:xfrm>
          <a:prstGeom prst="roundRect">
            <a:avLst/>
          </a:prstGeom>
          <a:solidFill>
            <a:srgbClr val="F2F0ED"/>
          </a:solidFill>
          <a:ln>
            <a:noFill/>
          </a:ln>
        </p:spPr>
        <p:txBody>
          <a:bodyPr wrap="square" lIns="91440" tIns="45720" rIns="91440" bIns="45720" anchor="ctr"/>
          <a:lstStyle/>
          <a:p>
            <a:pPr algn="ctr"/>
            <a:r>
              <a:rPr lang="ja-JP" sz="1400" b="1" dirty="0">
                <a:solidFill>
                  <a:srgbClr val="8B2500"/>
                </a:solidFill>
                <a:latin typeface="BIZ UDPゴシック"/>
                <a:ea typeface="BIZ UDPゴシック"/>
              </a:rPr>
              <a:t>データ規模</a:t>
            </a:r>
          </a:p>
          <a:p>
            <a:pPr algn="ctr">
              <a:spcBef>
                <a:spcPts val="400"/>
              </a:spcBef>
            </a:pPr>
            <a:r>
              <a:rPr lang="ja-JP" sz="1200" dirty="0">
                <a:solidFill>
                  <a:srgbClr val="3D3D3D"/>
                </a:solidFill>
                <a:latin typeface="BIZ UDPゴシック"/>
                <a:ea typeface="BIZ UDPゴシック"/>
              </a:rPr>
              <a:t>8,645行 × 15列
1時間単位の時系列データ</a:t>
            </a:r>
          </a:p>
        </p:txBody>
      </p:sp>
      <p:sp>
        <p:nvSpPr>
          <p:cNvPr id="23" name="Data1"/>
          <p:cNvSpPr/>
          <p:nvPr/>
        </p:nvSpPr>
        <p:spPr>
          <a:xfrm>
            <a:off x="4140200" y="4762500"/>
            <a:ext cx="3556000" cy="1143000"/>
          </a:xfrm>
          <a:prstGeom prst="roundRect">
            <a:avLst/>
          </a:prstGeom>
          <a:solidFill>
            <a:srgbClr val="F2F0ED"/>
          </a:solidFill>
          <a:ln>
            <a:noFill/>
          </a:ln>
        </p:spPr>
        <p:txBody>
          <a:bodyPr wrap="square" lIns="91440" tIns="45720" rIns="91440" bIns="45720" anchor="ctr"/>
          <a:lstStyle/>
          <a:p>
            <a:pPr algn="ctr"/>
            <a:r>
              <a:rPr lang="ja-JP" sz="1400" b="1" dirty="0">
                <a:solidFill>
                  <a:srgbClr val="8B2500"/>
                </a:solidFill>
                <a:latin typeface="BIZ UDPゴシック"/>
                <a:ea typeface="BIZ UDPゴシック"/>
              </a:rPr>
              <a:t>含まれる情報</a:t>
            </a:r>
          </a:p>
          <a:p>
            <a:pPr algn="ctr">
              <a:spcBef>
                <a:spcPts val="400"/>
              </a:spcBef>
            </a:pPr>
            <a:r>
              <a:rPr lang="ja-JP" sz="1200" dirty="0">
                <a:solidFill>
                  <a:srgbClr val="3D3D3D"/>
                </a:solidFill>
                <a:latin typeface="BIZ UDPゴシック"/>
                <a:ea typeface="BIZ UDPゴシック"/>
              </a:rPr>
              <a:t>日時・季節・曜日・祝日
天候・気温・湿度・風速</a:t>
            </a:r>
          </a:p>
        </p:txBody>
      </p:sp>
      <p:sp>
        <p:nvSpPr>
          <p:cNvPr id="24" name="Data2"/>
          <p:cNvSpPr/>
          <p:nvPr/>
        </p:nvSpPr>
        <p:spPr>
          <a:xfrm>
            <a:off x="7823200" y="4762500"/>
            <a:ext cx="3556000" cy="1143000"/>
          </a:xfrm>
          <a:prstGeom prst="roundRect">
            <a:avLst/>
          </a:prstGeom>
          <a:solidFill>
            <a:srgbClr val="F2F0ED"/>
          </a:solidFill>
          <a:ln>
            <a:noFill/>
          </a:ln>
        </p:spPr>
        <p:txBody>
          <a:bodyPr wrap="square" lIns="91440" tIns="45720" rIns="91440" bIns="45720" anchor="ctr"/>
          <a:lstStyle/>
          <a:p>
            <a:pPr algn="ctr"/>
            <a:r>
              <a:rPr lang="ja-JP" sz="1400" b="1" dirty="0">
                <a:solidFill>
                  <a:srgbClr val="8B2500"/>
                </a:solidFill>
                <a:latin typeface="BIZ UDPゴシック"/>
                <a:ea typeface="BIZ UDPゴシック"/>
              </a:rPr>
              <a:t>目的変数</a:t>
            </a:r>
          </a:p>
          <a:p>
            <a:pPr algn="ctr">
              <a:spcBef>
                <a:spcPts val="400"/>
              </a:spcBef>
            </a:pPr>
            <a:r>
              <a:rPr lang="ja-JP" sz="1200" dirty="0">
                <a:solidFill>
                  <a:srgbClr val="3D3D3D"/>
                </a:solidFill>
                <a:latin typeface="BIZ UDPゴシック"/>
                <a:ea typeface="BIZ UDPゴシック"/>
              </a:rPr>
              <a:t>cnt（利用者数）
時間単位の需要予測に使用</a:t>
            </a:r>
          </a:p>
        </p:txBody>
      </p:sp>
      <p:sp>
        <p:nvSpPr>
          <p:cNvPr id="30" name="Note"/>
          <p:cNvSpPr/>
          <p:nvPr/>
        </p:nvSpPr>
        <p:spPr>
          <a:xfrm>
            <a:off x="457200" y="6070600"/>
            <a:ext cx="11277600" cy="571500"/>
          </a:xfrm>
          <a:prstGeom prst="rect">
            <a:avLst/>
          </a:prstGeom>
          <a:noFill/>
          <a:ln>
            <a:noFill/>
          </a:ln>
        </p:spPr>
        <p:txBody>
          <a:bodyPr wrap="square" lIns="91440" tIns="45720" rIns="91440" bIns="45720"/>
          <a:lstStyle/>
          <a:p>
            <a:pPr algn="l"/>
            <a:r>
              <a:rPr lang="ja-JP" sz="1100" dirty="0">
                <a:solidFill>
                  <a:srgbClr val="7A7A7A"/>
                </a:solidFill>
                <a:latin typeface="BIZ UDPゴシック"/>
                <a:ea typeface="BIZ UDPゴシック"/>
              </a:rPr>
              <a:t>※ 拠点情報、車両情報、位置情報、移動履歴、イベント情報等は本データに含まれないため、本フェーズでは全体需要の時間別予測と変動要因の把握を中心に進める。データ辞書と実データの整合性確認が必要な項目は、分析着手時点で定義確認を実施する前提とする。</a:t>
            </a:r>
          </a:p>
        </p:txBody>
      </p:sp>
      <p:sp>
        <p:nvSpPr>
          <p:cNvPr id="3" name="PageNumber">
            <a:extLst>
              <a:ext uri="{FF2B5EF4-FFF2-40B4-BE49-F238E27FC236}">
                <a16:creationId xmlns:a16="http://schemas.microsoft.com/office/drawing/2014/main" id="{B5AF0718-B227-4C35-833B-3B6A9A5B5925}"/>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2</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255586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76E471-DA77-401C-CDBB-8F34737FB422}"/>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2. プロジェクト目的</a:t>
            </a:r>
          </a:p>
        </p:txBody>
      </p:sp>
      <p:sp>
        <p:nvSpPr>
          <p:cNvPr id="10" name="Purpose"/>
          <p:cNvSpPr/>
          <p:nvPr/>
        </p:nvSpPr>
        <p:spPr>
          <a:xfrm>
            <a:off x="457200" y="1841500"/>
            <a:ext cx="11277600" cy="762000"/>
          </a:xfrm>
          <a:prstGeom prst="roundRect">
            <a:avLst/>
          </a:prstGeom>
          <a:solidFill>
            <a:srgbClr val="F2F0ED"/>
          </a:solidFill>
          <a:ln w="12700">
            <a:solidFill>
              <a:srgbClr val="8B2500"/>
            </a:solidFill>
          </a:ln>
        </p:spPr>
        <p:txBody>
          <a:bodyPr wrap="square" lIns="91440" tIns="45720" rIns="91440" bIns="45720" anchor="ctr"/>
          <a:lstStyle/>
          <a:p>
            <a:pPr algn="ctr"/>
            <a:r>
              <a:rPr lang="ja-JP" sz="1400" dirty="0">
                <a:solidFill>
                  <a:srgbClr val="3D3D3D"/>
                </a:solidFill>
                <a:latin typeface="BIZ UDPゴシック"/>
                <a:ea typeface="BIZ UDPゴシック"/>
              </a:rPr>
              <a:t>時間単位の利用者数 cnt の</a:t>
            </a:r>
            <a:r>
              <a:rPr lang="ja-JP" sz="1400" b="1" dirty="0">
                <a:solidFill>
                  <a:srgbClr val="8B2500"/>
                </a:solidFill>
                <a:latin typeface="BIZ UDPゴシック"/>
                <a:ea typeface="BIZ UDPゴシック"/>
              </a:rPr>
              <a:t>需要予測モデル初期版を構築</a:t>
            </a:r>
            <a:r>
              <a:rPr lang="ja-JP" sz="1400" dirty="0">
                <a:solidFill>
                  <a:srgbClr val="3D3D3D"/>
                </a:solidFill>
                <a:latin typeface="BIZ UDPゴシック"/>
                <a:ea typeface="BIZ UDPゴシック"/>
              </a:rPr>
              <a:t>し、需要変動の主要因を</a:t>
            </a:r>
            <a:r>
              <a:rPr lang="ja-JP" sz="1400" b="1" dirty="0">
                <a:solidFill>
                  <a:srgbClr val="8B2500"/>
                </a:solidFill>
                <a:latin typeface="BIZ UDPゴシック"/>
                <a:ea typeface="BIZ UDPゴシック"/>
              </a:rPr>
              <a:t>可視化・解釈可能な形で整理</a:t>
            </a:r>
            <a:r>
              <a:rPr lang="ja-JP" sz="1400" dirty="0">
                <a:solidFill>
                  <a:srgbClr val="3D3D3D"/>
                </a:solidFill>
                <a:latin typeface="BIZ UDPゴシック"/>
                <a:ea typeface="BIZ UDPゴシック"/>
              </a:rPr>
              <a:t>する</a:t>
            </a:r>
          </a:p>
        </p:txBody>
      </p:sp>
      <p:sp>
        <p:nvSpPr>
          <p:cNvPr id="20" name="Num0"/>
          <p:cNvSpPr/>
          <p:nvPr/>
        </p:nvSpPr>
        <p:spPr>
          <a:xfrm>
            <a:off x="533400" y="2857500"/>
            <a:ext cx="381000" cy="381000"/>
          </a:xfrm>
          <a:prstGeom prst="ellipse">
            <a:avLst/>
          </a:prstGeom>
          <a:solidFill>
            <a:srgbClr val="8B2500"/>
          </a:solidFill>
          <a:ln>
            <a:noFill/>
          </a:ln>
        </p:spPr>
        <p:txBody>
          <a:bodyPr wrap="none" lIns="0" tIns="0" rIns="0" bIns="0" anchor="ctr"/>
          <a:lstStyle/>
          <a:p>
            <a:pPr algn="ctr"/>
            <a:r>
              <a:rPr lang="ja-JP" sz="1600" b="1" dirty="0">
                <a:solidFill>
                  <a:srgbClr val="FFFFFF"/>
                </a:solidFill>
                <a:latin typeface="BIZ UDPゴシック"/>
                <a:ea typeface="BIZ UDPゴシック"/>
              </a:rPr>
              <a:t>1</a:t>
            </a:r>
          </a:p>
        </p:txBody>
      </p:sp>
      <p:sp>
        <p:nvSpPr>
          <p:cNvPr id="21" name="Goal0"/>
          <p:cNvSpPr/>
          <p:nvPr/>
        </p:nvSpPr>
        <p:spPr>
          <a:xfrm>
            <a:off x="1016000" y="2768600"/>
            <a:ext cx="3175000" cy="889000"/>
          </a:xfrm>
          <a:prstGeom prst="rect">
            <a:avLst/>
          </a:prstGeom>
          <a:noFill/>
          <a:ln>
            <a:noFill/>
          </a:ln>
        </p:spPr>
        <p:txBody>
          <a:bodyPr wrap="square" lIns="45720" tIns="45720" rIns="45720" bIns="45720" anchor="ctr"/>
          <a:lstStyle/>
          <a:p>
            <a:pPr algn="l"/>
            <a:r>
              <a:rPr lang="ja-JP" sz="1200" dirty="0">
                <a:solidFill>
                  <a:srgbClr val="1A1A1A"/>
                </a:solidFill>
                <a:latin typeface="BIZ UDPゴシック"/>
                <a:ea typeface="BIZ UDPゴシック"/>
              </a:rPr>
              <a:t>cnt を目的変数とした予測モデルを1系統以上構築し、評価結果を提示する</a:t>
            </a:r>
          </a:p>
        </p:txBody>
      </p:sp>
      <p:sp>
        <p:nvSpPr>
          <p:cNvPr id="22" name="Num1"/>
          <p:cNvSpPr/>
          <p:nvPr/>
        </p:nvSpPr>
        <p:spPr>
          <a:xfrm>
            <a:off x="4343400" y="2857500"/>
            <a:ext cx="381000" cy="381000"/>
          </a:xfrm>
          <a:prstGeom prst="ellipse">
            <a:avLst/>
          </a:prstGeom>
          <a:solidFill>
            <a:srgbClr val="8B2500"/>
          </a:solidFill>
          <a:ln>
            <a:noFill/>
          </a:ln>
        </p:spPr>
        <p:txBody>
          <a:bodyPr wrap="none" lIns="0" tIns="0" rIns="0" bIns="0" anchor="ctr"/>
          <a:lstStyle/>
          <a:p>
            <a:pPr algn="ctr"/>
            <a:r>
              <a:rPr lang="ja-JP" sz="1600" b="1" dirty="0">
                <a:solidFill>
                  <a:srgbClr val="FFFFFF"/>
                </a:solidFill>
                <a:latin typeface="BIZ UDPゴシック"/>
                <a:ea typeface="BIZ UDPゴシック"/>
              </a:rPr>
              <a:t>2</a:t>
            </a:r>
          </a:p>
        </p:txBody>
      </p:sp>
      <p:sp>
        <p:nvSpPr>
          <p:cNvPr id="23" name="Goal1"/>
          <p:cNvSpPr/>
          <p:nvPr/>
        </p:nvSpPr>
        <p:spPr>
          <a:xfrm>
            <a:off x="4826000" y="2768600"/>
            <a:ext cx="3175000" cy="889000"/>
          </a:xfrm>
          <a:prstGeom prst="rect">
            <a:avLst/>
          </a:prstGeom>
          <a:noFill/>
          <a:ln>
            <a:noFill/>
          </a:ln>
        </p:spPr>
        <p:txBody>
          <a:bodyPr wrap="square" lIns="45720" tIns="45720" rIns="45720" bIns="45720" anchor="ctr"/>
          <a:lstStyle/>
          <a:p>
            <a:pPr algn="l"/>
            <a:r>
              <a:rPr lang="ja-JP" sz="1200" dirty="0">
                <a:solidFill>
                  <a:srgbClr val="1A1A1A"/>
                </a:solidFill>
                <a:latin typeface="BIZ UDPゴシック"/>
                <a:ea typeface="BIZ UDPゴシック"/>
              </a:rPr>
              <a:t>ベースラインモデルと改善モデルを比較し、精度差分を定量報告する</a:t>
            </a:r>
          </a:p>
        </p:txBody>
      </p:sp>
      <p:sp>
        <p:nvSpPr>
          <p:cNvPr id="24" name="Num2"/>
          <p:cNvSpPr/>
          <p:nvPr/>
        </p:nvSpPr>
        <p:spPr>
          <a:xfrm>
            <a:off x="8153400" y="2857500"/>
            <a:ext cx="381000" cy="381000"/>
          </a:xfrm>
          <a:prstGeom prst="ellipse">
            <a:avLst/>
          </a:prstGeom>
          <a:solidFill>
            <a:srgbClr val="8B2500"/>
          </a:solidFill>
          <a:ln>
            <a:noFill/>
          </a:ln>
        </p:spPr>
        <p:txBody>
          <a:bodyPr wrap="none" lIns="0" tIns="0" rIns="0" bIns="0" anchor="ctr"/>
          <a:lstStyle/>
          <a:p>
            <a:pPr algn="ctr"/>
            <a:r>
              <a:rPr lang="ja-JP" sz="1600" b="1" dirty="0">
                <a:solidFill>
                  <a:srgbClr val="FFFFFF"/>
                </a:solidFill>
                <a:latin typeface="BIZ UDPゴシック"/>
                <a:ea typeface="BIZ UDPゴシック"/>
              </a:rPr>
              <a:t>3</a:t>
            </a:r>
          </a:p>
        </p:txBody>
      </p:sp>
      <p:sp>
        <p:nvSpPr>
          <p:cNvPr id="25" name="Goal2"/>
          <p:cNvSpPr/>
          <p:nvPr/>
        </p:nvSpPr>
        <p:spPr>
          <a:xfrm>
            <a:off x="8636000" y="2768600"/>
            <a:ext cx="3175000" cy="889000"/>
          </a:xfrm>
          <a:prstGeom prst="rect">
            <a:avLst/>
          </a:prstGeom>
          <a:noFill/>
          <a:ln>
            <a:noFill/>
          </a:ln>
        </p:spPr>
        <p:txBody>
          <a:bodyPr wrap="square" lIns="45720" tIns="45720" rIns="45720" bIns="45720" anchor="ctr"/>
          <a:lstStyle/>
          <a:p>
            <a:pPr algn="l"/>
            <a:r>
              <a:rPr lang="ja-JP" sz="1200" dirty="0">
                <a:solidFill>
                  <a:srgbClr val="1A1A1A"/>
                </a:solidFill>
                <a:latin typeface="BIZ UDPゴシック"/>
                <a:ea typeface="BIZ UDPゴシック"/>
              </a:rPr>
              <a:t>重要説明変数上位5項目以上を特定し、需要との関係を解釈する</a:t>
            </a:r>
          </a:p>
        </p:txBody>
      </p:sp>
      <p:sp>
        <p:nvSpPr>
          <p:cNvPr id="26" name="Num3"/>
          <p:cNvSpPr/>
          <p:nvPr/>
        </p:nvSpPr>
        <p:spPr>
          <a:xfrm>
            <a:off x="533400" y="3937000"/>
            <a:ext cx="381000" cy="381000"/>
          </a:xfrm>
          <a:prstGeom prst="ellipse">
            <a:avLst/>
          </a:prstGeom>
          <a:solidFill>
            <a:srgbClr val="8B2500"/>
          </a:solidFill>
          <a:ln>
            <a:noFill/>
          </a:ln>
        </p:spPr>
        <p:txBody>
          <a:bodyPr wrap="none" lIns="0" tIns="0" rIns="0" bIns="0" anchor="ctr"/>
          <a:lstStyle/>
          <a:p>
            <a:pPr algn="ctr"/>
            <a:r>
              <a:rPr lang="ja-JP" sz="1600" b="1" dirty="0">
                <a:solidFill>
                  <a:srgbClr val="FFFFFF"/>
                </a:solidFill>
                <a:latin typeface="BIZ UDPゴシック"/>
                <a:ea typeface="BIZ UDPゴシック"/>
              </a:rPr>
              <a:t>4</a:t>
            </a:r>
          </a:p>
        </p:txBody>
      </p:sp>
      <p:sp>
        <p:nvSpPr>
          <p:cNvPr id="27" name="Goal3"/>
          <p:cNvSpPr/>
          <p:nvPr/>
        </p:nvSpPr>
        <p:spPr>
          <a:xfrm>
            <a:off x="1016000" y="3848100"/>
            <a:ext cx="3175000" cy="889000"/>
          </a:xfrm>
          <a:prstGeom prst="rect">
            <a:avLst/>
          </a:prstGeom>
          <a:noFill/>
          <a:ln>
            <a:noFill/>
          </a:ln>
        </p:spPr>
        <p:txBody>
          <a:bodyPr wrap="square" lIns="45720" tIns="45720" rIns="45720" bIns="45720" anchor="ctr"/>
          <a:lstStyle/>
          <a:p>
            <a:pPr algn="l"/>
            <a:r>
              <a:rPr lang="ja-JP" sz="1200" dirty="0">
                <a:solidFill>
                  <a:srgbClr val="1A1A1A"/>
                </a:solidFill>
                <a:latin typeface="BIZ UDPゴシック"/>
                <a:ea typeface="BIZ UDPゴシック"/>
              </a:rPr>
              <a:t>時間帯別・曜日別・天候別の需要傾向を可視化する</a:t>
            </a:r>
          </a:p>
        </p:txBody>
      </p:sp>
      <p:sp>
        <p:nvSpPr>
          <p:cNvPr id="28" name="Num4"/>
          <p:cNvSpPr/>
          <p:nvPr/>
        </p:nvSpPr>
        <p:spPr>
          <a:xfrm>
            <a:off x="4343400" y="3937000"/>
            <a:ext cx="381000" cy="381000"/>
          </a:xfrm>
          <a:prstGeom prst="ellipse">
            <a:avLst/>
          </a:prstGeom>
          <a:solidFill>
            <a:srgbClr val="8B2500"/>
          </a:solidFill>
          <a:ln>
            <a:noFill/>
          </a:ln>
        </p:spPr>
        <p:txBody>
          <a:bodyPr wrap="none" lIns="0" tIns="0" rIns="0" bIns="0" anchor="ctr"/>
          <a:lstStyle/>
          <a:p>
            <a:pPr algn="ctr"/>
            <a:r>
              <a:rPr lang="ja-JP" sz="1600" b="1" dirty="0">
                <a:solidFill>
                  <a:srgbClr val="FFFFFF"/>
                </a:solidFill>
                <a:latin typeface="BIZ UDPゴシック"/>
                <a:ea typeface="BIZ UDPゴシック"/>
              </a:rPr>
              <a:t>5</a:t>
            </a:r>
          </a:p>
        </p:txBody>
      </p:sp>
      <p:sp>
        <p:nvSpPr>
          <p:cNvPr id="29" name="Goal4"/>
          <p:cNvSpPr/>
          <p:nvPr/>
        </p:nvSpPr>
        <p:spPr>
          <a:xfrm>
            <a:off x="4826000" y="3848100"/>
            <a:ext cx="3175000" cy="889000"/>
          </a:xfrm>
          <a:prstGeom prst="rect">
            <a:avLst/>
          </a:prstGeom>
          <a:noFill/>
          <a:ln>
            <a:noFill/>
          </a:ln>
        </p:spPr>
        <p:txBody>
          <a:bodyPr wrap="square" lIns="45720" tIns="45720" rIns="45720" bIns="45720" anchor="ctr"/>
          <a:lstStyle/>
          <a:p>
            <a:pPr algn="l"/>
            <a:r>
              <a:rPr lang="ja-JP" sz="1200" dirty="0">
                <a:solidFill>
                  <a:srgbClr val="1A1A1A"/>
                </a:solidFill>
                <a:latin typeface="BIZ UDPゴシック"/>
                <a:ea typeface="BIZ UDPゴシック"/>
              </a:rPr>
              <a:t>アセット配分最適化・サービス可用性改善に向けた示唆を3点以上提示する</a:t>
            </a:r>
          </a:p>
        </p:txBody>
      </p:sp>
      <p:sp>
        <p:nvSpPr>
          <p:cNvPr id="30" name="Num5"/>
          <p:cNvSpPr/>
          <p:nvPr/>
        </p:nvSpPr>
        <p:spPr>
          <a:xfrm>
            <a:off x="8153400" y="3937000"/>
            <a:ext cx="381000" cy="381000"/>
          </a:xfrm>
          <a:prstGeom prst="ellipse">
            <a:avLst/>
          </a:prstGeom>
          <a:solidFill>
            <a:srgbClr val="8B2500"/>
          </a:solidFill>
          <a:ln>
            <a:noFill/>
          </a:ln>
        </p:spPr>
        <p:txBody>
          <a:bodyPr wrap="none" lIns="0" tIns="0" rIns="0" bIns="0" anchor="ctr"/>
          <a:lstStyle/>
          <a:p>
            <a:pPr algn="ctr"/>
            <a:r>
              <a:rPr lang="ja-JP" sz="1600" b="1" dirty="0">
                <a:solidFill>
                  <a:srgbClr val="FFFFFF"/>
                </a:solidFill>
                <a:latin typeface="BIZ UDPゴシック"/>
                <a:ea typeface="BIZ UDPゴシック"/>
              </a:rPr>
              <a:t>6</a:t>
            </a:r>
          </a:p>
        </p:txBody>
      </p:sp>
      <p:sp>
        <p:nvSpPr>
          <p:cNvPr id="31" name="Goal5"/>
          <p:cNvSpPr/>
          <p:nvPr/>
        </p:nvSpPr>
        <p:spPr>
          <a:xfrm>
            <a:off x="8636000" y="3848100"/>
            <a:ext cx="3175000" cy="889000"/>
          </a:xfrm>
          <a:prstGeom prst="rect">
            <a:avLst/>
          </a:prstGeom>
          <a:noFill/>
          <a:ln>
            <a:noFill/>
          </a:ln>
        </p:spPr>
        <p:txBody>
          <a:bodyPr wrap="square" lIns="45720" tIns="45720" rIns="45720" bIns="45720" anchor="ctr"/>
          <a:lstStyle/>
          <a:p>
            <a:pPr algn="l"/>
            <a:r>
              <a:rPr lang="ja-JP" sz="1200" dirty="0">
                <a:solidFill>
                  <a:srgbClr val="1A1A1A"/>
                </a:solidFill>
                <a:latin typeface="BIZ UDPゴシック"/>
                <a:ea typeface="BIZ UDPゴシック"/>
              </a:rPr>
              <a:t>次フェーズに向けた追加データ要件、制約事項、論点を明文化する</a:t>
            </a:r>
          </a:p>
        </p:txBody>
      </p:sp>
      <p:sp>
        <p:nvSpPr>
          <p:cNvPr id="40" name="PhaseNote"/>
          <p:cNvSpPr/>
          <p:nvPr/>
        </p:nvSpPr>
        <p:spPr>
          <a:xfrm>
            <a:off x="457200" y="5080000"/>
            <a:ext cx="11277600" cy="1016000"/>
          </a:xfrm>
          <a:prstGeom prst="roundRect">
            <a:avLst/>
          </a:prstGeom>
          <a:solidFill>
            <a:srgbClr val="4A4A4A"/>
          </a:solidFill>
          <a:ln>
            <a:noFill/>
          </a:ln>
        </p:spPr>
        <p:txBody>
          <a:bodyPr wrap="square" lIns="182880" tIns="45720" rIns="91440" bIns="45720" anchor="ctr"/>
          <a:lstStyle/>
          <a:p>
            <a:pPr algn="l"/>
            <a:r>
              <a:rPr lang="ja-JP" sz="1200" b="1" dirty="0">
                <a:solidFill>
                  <a:srgbClr val="FFFFFF"/>
                </a:solidFill>
                <a:latin typeface="BIZ UDPゴシック"/>
                <a:ea typeface="BIZ UDPゴシック"/>
              </a:rPr>
              <a:t>本フェーズの位置づけ：需要予測のPoC／初期検証</a:t>
            </a:r>
          </a:p>
          <a:p>
            <a:pPr algn="l">
              <a:spcBef>
                <a:spcPts val="200"/>
              </a:spcBef>
            </a:pPr>
            <a:r>
              <a:rPr lang="ja-JP" sz="1100" dirty="0">
                <a:solidFill>
                  <a:srgbClr val="FFFFFF"/>
                </a:solidFill>
                <a:latin typeface="BIZ UDPゴシック"/>
                <a:ea typeface="BIZ UDPゴシック"/>
              </a:rPr>
              <a:t>予測可能性の確認、説明可能性の確保、運用接続に向けた課題整理を主眼とする（完成システムの提供ではない）</a:t>
            </a:r>
          </a:p>
        </p:txBody>
      </p:sp>
      <p:sp>
        <p:nvSpPr>
          <p:cNvPr id="3" name="PageNumber">
            <a:extLst>
              <a:ext uri="{FF2B5EF4-FFF2-40B4-BE49-F238E27FC236}">
                <a16:creationId xmlns:a16="http://schemas.microsoft.com/office/drawing/2014/main" id="{3CD35008-91C5-4210-9EFA-4892C9432085}"/>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3</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3961501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54A365-5EA4-4CA4-0638-667844C9313A}"/>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3. スコープ ― 対象範囲</a:t>
            </a:r>
          </a:p>
        </p:txBody>
      </p:sp>
      <p:sp>
        <p:nvSpPr>
          <p:cNvPr id="10" name="Scope0"/>
          <p:cNvSpPr/>
          <p:nvPr/>
        </p:nvSpPr>
        <p:spPr>
          <a:xfrm>
            <a:off x="457200" y="1841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01</a:t>
            </a:r>
          </a:p>
          <a:p>
            <a:pPr algn="ctr">
              <a:spcBef>
                <a:spcPts val="200"/>
              </a:spcBef>
            </a:pPr>
            <a:r>
              <a:rPr lang="ja-JP" sz="1100" dirty="0">
                <a:solidFill>
                  <a:srgbClr val="1A1A1A"/>
                </a:solidFill>
                <a:latin typeface="BIZ UDPゴシック"/>
                <a:ea typeface="BIZ UDPゴシック"/>
              </a:rPr>
              <a:t>データ読込・
内容確認</a:t>
            </a:r>
          </a:p>
        </p:txBody>
      </p:sp>
      <p:sp>
        <p:nvSpPr>
          <p:cNvPr id="50" name="Arrow0"/>
          <p:cNvSpPr/>
          <p:nvPr/>
        </p:nvSpPr>
        <p:spPr>
          <a:xfrm>
            <a:off x="2527300" y="2114550"/>
            <a:ext cx="127000" cy="152400"/>
          </a:xfrm>
          <a:prstGeom prst="rightArrow">
            <a:avLst/>
          </a:prstGeom>
          <a:solidFill>
            <a:srgbClr val="8B2500">
              <a:alpha val="40000"/>
            </a:srgbClr>
          </a:solidFill>
          <a:ln>
            <a:noFill/>
          </a:ln>
        </p:spPr>
        <p:txBody>
          <a:bodyPr/>
          <a:lstStyle/>
          <a:p>
            <a:endParaRPr lang="ja-JP"/>
          </a:p>
        </p:txBody>
      </p:sp>
      <p:sp>
        <p:nvSpPr>
          <p:cNvPr id="11" name="Scope1"/>
          <p:cNvSpPr/>
          <p:nvPr/>
        </p:nvSpPr>
        <p:spPr>
          <a:xfrm>
            <a:off x="2654300" y="1841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02</a:t>
            </a:r>
          </a:p>
          <a:p>
            <a:pPr algn="ctr">
              <a:spcBef>
                <a:spcPts val="200"/>
              </a:spcBef>
            </a:pPr>
            <a:r>
              <a:rPr lang="ja-JP" sz="1100" dirty="0">
                <a:solidFill>
                  <a:srgbClr val="1A1A1A"/>
                </a:solidFill>
                <a:latin typeface="BIZ UDPゴシック"/>
                <a:ea typeface="BIZ UDPゴシック"/>
              </a:rPr>
              <a:t>データ品質
確認</a:t>
            </a:r>
          </a:p>
        </p:txBody>
      </p:sp>
      <p:sp>
        <p:nvSpPr>
          <p:cNvPr id="51" name="Arrow1"/>
          <p:cNvSpPr/>
          <p:nvPr/>
        </p:nvSpPr>
        <p:spPr>
          <a:xfrm>
            <a:off x="4724400" y="2114550"/>
            <a:ext cx="127000" cy="152400"/>
          </a:xfrm>
          <a:prstGeom prst="rightArrow">
            <a:avLst/>
          </a:prstGeom>
          <a:solidFill>
            <a:srgbClr val="8B2500">
              <a:alpha val="40000"/>
            </a:srgbClr>
          </a:solidFill>
          <a:ln>
            <a:noFill/>
          </a:ln>
        </p:spPr>
        <p:txBody>
          <a:bodyPr/>
          <a:lstStyle/>
          <a:p>
            <a:endParaRPr lang="ja-JP"/>
          </a:p>
        </p:txBody>
      </p:sp>
      <p:sp>
        <p:nvSpPr>
          <p:cNvPr id="12" name="Scope2"/>
          <p:cNvSpPr/>
          <p:nvPr/>
        </p:nvSpPr>
        <p:spPr>
          <a:xfrm>
            <a:off x="4851400" y="1841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03</a:t>
            </a:r>
          </a:p>
          <a:p>
            <a:pPr algn="ctr">
              <a:spcBef>
                <a:spcPts val="200"/>
              </a:spcBef>
            </a:pPr>
            <a:r>
              <a:rPr lang="ja-JP" sz="1100" dirty="0">
                <a:solidFill>
                  <a:srgbClr val="1A1A1A"/>
                </a:solidFill>
                <a:latin typeface="BIZ UDPゴシック"/>
                <a:ea typeface="BIZ UDPゴシック"/>
              </a:rPr>
              <a:t>需要構造
分析</a:t>
            </a:r>
          </a:p>
        </p:txBody>
      </p:sp>
      <p:sp>
        <p:nvSpPr>
          <p:cNvPr id="52" name="Arrow2"/>
          <p:cNvSpPr/>
          <p:nvPr/>
        </p:nvSpPr>
        <p:spPr>
          <a:xfrm>
            <a:off x="6921500" y="2114550"/>
            <a:ext cx="127000" cy="152400"/>
          </a:xfrm>
          <a:prstGeom prst="rightArrow">
            <a:avLst/>
          </a:prstGeom>
          <a:solidFill>
            <a:srgbClr val="8B2500">
              <a:alpha val="40000"/>
            </a:srgbClr>
          </a:solidFill>
          <a:ln>
            <a:noFill/>
          </a:ln>
        </p:spPr>
        <p:txBody>
          <a:bodyPr/>
          <a:lstStyle/>
          <a:p>
            <a:endParaRPr lang="ja-JP"/>
          </a:p>
        </p:txBody>
      </p:sp>
      <p:sp>
        <p:nvSpPr>
          <p:cNvPr id="13" name="Scope3"/>
          <p:cNvSpPr/>
          <p:nvPr/>
        </p:nvSpPr>
        <p:spPr>
          <a:xfrm>
            <a:off x="7048500" y="1841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04</a:t>
            </a:r>
          </a:p>
          <a:p>
            <a:pPr algn="ctr">
              <a:spcBef>
                <a:spcPts val="200"/>
              </a:spcBef>
            </a:pPr>
            <a:r>
              <a:rPr lang="ja-JP" sz="1100" dirty="0">
                <a:solidFill>
                  <a:srgbClr val="1A1A1A"/>
                </a:solidFill>
                <a:latin typeface="BIZ UDPゴシック"/>
                <a:ea typeface="BIZ UDPゴシック"/>
              </a:rPr>
              <a:t>特徴量設計
・前処理</a:t>
            </a:r>
          </a:p>
        </p:txBody>
      </p:sp>
      <p:sp>
        <p:nvSpPr>
          <p:cNvPr id="53" name="Arrow3"/>
          <p:cNvSpPr/>
          <p:nvPr/>
        </p:nvSpPr>
        <p:spPr>
          <a:xfrm>
            <a:off x="9118600" y="2114550"/>
            <a:ext cx="127000" cy="152400"/>
          </a:xfrm>
          <a:prstGeom prst="rightArrow">
            <a:avLst/>
          </a:prstGeom>
          <a:solidFill>
            <a:srgbClr val="8B2500">
              <a:alpha val="40000"/>
            </a:srgbClr>
          </a:solidFill>
          <a:ln>
            <a:noFill/>
          </a:ln>
        </p:spPr>
        <p:txBody>
          <a:bodyPr/>
          <a:lstStyle/>
          <a:p>
            <a:endParaRPr lang="ja-JP"/>
          </a:p>
        </p:txBody>
      </p:sp>
      <p:sp>
        <p:nvSpPr>
          <p:cNvPr id="14" name="Scope4"/>
          <p:cNvSpPr/>
          <p:nvPr/>
        </p:nvSpPr>
        <p:spPr>
          <a:xfrm>
            <a:off x="9245600" y="1841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05</a:t>
            </a:r>
          </a:p>
          <a:p>
            <a:pPr algn="ctr">
              <a:spcBef>
                <a:spcPts val="200"/>
              </a:spcBef>
            </a:pPr>
            <a:r>
              <a:rPr lang="ja-JP" sz="1100" dirty="0">
                <a:solidFill>
                  <a:srgbClr val="1A1A1A"/>
                </a:solidFill>
                <a:latin typeface="BIZ UDPゴシック"/>
                <a:ea typeface="BIZ UDPゴシック"/>
              </a:rPr>
              <a:t>ベースライン
モデル構築</a:t>
            </a:r>
          </a:p>
        </p:txBody>
      </p:sp>
      <p:sp>
        <p:nvSpPr>
          <p:cNvPr id="15" name="Scope5"/>
          <p:cNvSpPr/>
          <p:nvPr/>
        </p:nvSpPr>
        <p:spPr>
          <a:xfrm>
            <a:off x="457200" y="2730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06</a:t>
            </a:r>
          </a:p>
          <a:p>
            <a:pPr algn="ctr">
              <a:spcBef>
                <a:spcPts val="200"/>
              </a:spcBef>
            </a:pPr>
            <a:r>
              <a:rPr lang="ja-JP" sz="1100" dirty="0">
                <a:solidFill>
                  <a:srgbClr val="1A1A1A"/>
                </a:solidFill>
                <a:latin typeface="BIZ UDPゴシック"/>
                <a:ea typeface="BIZ UDPゴシック"/>
              </a:rPr>
              <a:t>改善モデル
構築・比較</a:t>
            </a:r>
          </a:p>
        </p:txBody>
      </p:sp>
      <p:sp>
        <p:nvSpPr>
          <p:cNvPr id="55" name="Arrow5"/>
          <p:cNvSpPr/>
          <p:nvPr/>
        </p:nvSpPr>
        <p:spPr>
          <a:xfrm>
            <a:off x="2527300" y="3003550"/>
            <a:ext cx="127000" cy="152400"/>
          </a:xfrm>
          <a:prstGeom prst="rightArrow">
            <a:avLst/>
          </a:prstGeom>
          <a:solidFill>
            <a:srgbClr val="8B2500">
              <a:alpha val="40000"/>
            </a:srgbClr>
          </a:solidFill>
          <a:ln>
            <a:noFill/>
          </a:ln>
        </p:spPr>
        <p:txBody>
          <a:bodyPr/>
          <a:lstStyle/>
          <a:p>
            <a:endParaRPr lang="ja-JP"/>
          </a:p>
        </p:txBody>
      </p:sp>
      <p:sp>
        <p:nvSpPr>
          <p:cNvPr id="16" name="Scope6"/>
          <p:cNvSpPr/>
          <p:nvPr/>
        </p:nvSpPr>
        <p:spPr>
          <a:xfrm>
            <a:off x="2654300" y="2730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07</a:t>
            </a:r>
          </a:p>
          <a:p>
            <a:pPr algn="ctr">
              <a:spcBef>
                <a:spcPts val="200"/>
              </a:spcBef>
            </a:pPr>
            <a:r>
              <a:rPr lang="ja-JP" sz="1100" dirty="0">
                <a:solidFill>
                  <a:srgbClr val="1A1A1A"/>
                </a:solidFill>
                <a:latin typeface="BIZ UDPゴシック"/>
                <a:ea typeface="BIZ UDPゴシック"/>
              </a:rPr>
              <a:t>重要因子
分析・可視化</a:t>
            </a:r>
          </a:p>
        </p:txBody>
      </p:sp>
      <p:sp>
        <p:nvSpPr>
          <p:cNvPr id="56" name="Arrow6"/>
          <p:cNvSpPr/>
          <p:nvPr/>
        </p:nvSpPr>
        <p:spPr>
          <a:xfrm>
            <a:off x="4724400" y="3003550"/>
            <a:ext cx="127000" cy="152400"/>
          </a:xfrm>
          <a:prstGeom prst="rightArrow">
            <a:avLst/>
          </a:prstGeom>
          <a:solidFill>
            <a:srgbClr val="8B2500">
              <a:alpha val="40000"/>
            </a:srgbClr>
          </a:solidFill>
          <a:ln>
            <a:noFill/>
          </a:ln>
        </p:spPr>
        <p:txBody>
          <a:bodyPr/>
          <a:lstStyle/>
          <a:p>
            <a:endParaRPr lang="ja-JP"/>
          </a:p>
        </p:txBody>
      </p:sp>
      <p:sp>
        <p:nvSpPr>
          <p:cNvPr id="17" name="Scope7"/>
          <p:cNvSpPr/>
          <p:nvPr/>
        </p:nvSpPr>
        <p:spPr>
          <a:xfrm>
            <a:off x="4851400" y="2730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08</a:t>
            </a:r>
          </a:p>
          <a:p>
            <a:pPr algn="ctr">
              <a:spcBef>
                <a:spcPts val="200"/>
              </a:spcBef>
            </a:pPr>
            <a:r>
              <a:rPr lang="ja-JP" sz="1100" dirty="0">
                <a:solidFill>
                  <a:srgbClr val="1A1A1A"/>
                </a:solidFill>
                <a:latin typeface="BIZ UDPゴシック"/>
                <a:ea typeface="BIZ UDPゴシック"/>
              </a:rPr>
              <a:t>業務示唆
整理</a:t>
            </a:r>
          </a:p>
        </p:txBody>
      </p:sp>
      <p:sp>
        <p:nvSpPr>
          <p:cNvPr id="57" name="Arrow7"/>
          <p:cNvSpPr/>
          <p:nvPr/>
        </p:nvSpPr>
        <p:spPr>
          <a:xfrm>
            <a:off x="6921500" y="3003550"/>
            <a:ext cx="127000" cy="152400"/>
          </a:xfrm>
          <a:prstGeom prst="rightArrow">
            <a:avLst/>
          </a:prstGeom>
          <a:solidFill>
            <a:srgbClr val="8B2500">
              <a:alpha val="40000"/>
            </a:srgbClr>
          </a:solidFill>
          <a:ln>
            <a:noFill/>
          </a:ln>
        </p:spPr>
        <p:txBody>
          <a:bodyPr/>
          <a:lstStyle/>
          <a:p>
            <a:endParaRPr lang="ja-JP"/>
          </a:p>
        </p:txBody>
      </p:sp>
      <p:sp>
        <p:nvSpPr>
          <p:cNvPr id="18" name="Scope8"/>
          <p:cNvSpPr/>
          <p:nvPr/>
        </p:nvSpPr>
        <p:spPr>
          <a:xfrm>
            <a:off x="7048500" y="2730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09</a:t>
            </a:r>
          </a:p>
          <a:p>
            <a:pPr algn="ctr">
              <a:spcBef>
                <a:spcPts val="200"/>
              </a:spcBef>
            </a:pPr>
            <a:r>
              <a:rPr lang="ja-JP" sz="1100" dirty="0">
                <a:solidFill>
                  <a:srgbClr val="1A1A1A"/>
                </a:solidFill>
                <a:latin typeface="BIZ UDPゴシック"/>
                <a:ea typeface="BIZ UDPゴシック"/>
              </a:rPr>
              <a:t>報告書
作成</a:t>
            </a:r>
          </a:p>
        </p:txBody>
      </p:sp>
      <p:sp>
        <p:nvSpPr>
          <p:cNvPr id="58" name="Arrow8"/>
          <p:cNvSpPr/>
          <p:nvPr/>
        </p:nvSpPr>
        <p:spPr>
          <a:xfrm>
            <a:off x="9118600" y="3003550"/>
            <a:ext cx="127000" cy="152400"/>
          </a:xfrm>
          <a:prstGeom prst="rightArrow">
            <a:avLst/>
          </a:prstGeom>
          <a:solidFill>
            <a:srgbClr val="8B2500">
              <a:alpha val="40000"/>
            </a:srgbClr>
          </a:solidFill>
          <a:ln>
            <a:noFill/>
          </a:ln>
        </p:spPr>
        <p:txBody>
          <a:bodyPr/>
          <a:lstStyle/>
          <a:p>
            <a:endParaRPr lang="ja-JP"/>
          </a:p>
        </p:txBody>
      </p:sp>
      <p:sp>
        <p:nvSpPr>
          <p:cNvPr id="19" name="Scope9"/>
          <p:cNvSpPr/>
          <p:nvPr/>
        </p:nvSpPr>
        <p:spPr>
          <a:xfrm>
            <a:off x="9245600" y="2730500"/>
            <a:ext cx="2070100" cy="698500"/>
          </a:xfrm>
          <a:prstGeom prst="roundRect">
            <a:avLst/>
          </a:prstGeom>
          <a:solidFill>
            <a:srgbClr val="F2F0ED"/>
          </a:solidFill>
          <a:ln w="12700">
            <a:solidFill>
              <a:srgbClr val="8B2500"/>
            </a:solidFill>
          </a:ln>
        </p:spPr>
        <p:txBody>
          <a:bodyPr wrap="square" lIns="72000" tIns="36000" rIns="72000" bIns="36000" anchor="ctr"/>
          <a:lstStyle/>
          <a:p>
            <a:pPr algn="ctr"/>
            <a:r>
              <a:rPr lang="ja-JP" sz="1100" b="1" dirty="0">
                <a:solidFill>
                  <a:srgbClr val="8B2500"/>
                </a:solidFill>
                <a:latin typeface="BIZ UDPゴシック"/>
                <a:ea typeface="BIZ UDPゴシック"/>
              </a:rPr>
              <a:t>10</a:t>
            </a:r>
          </a:p>
          <a:p>
            <a:pPr algn="ctr">
              <a:spcBef>
                <a:spcPts val="200"/>
              </a:spcBef>
            </a:pPr>
            <a:r>
              <a:rPr lang="ja-JP" sz="1100" dirty="0">
                <a:solidFill>
                  <a:srgbClr val="1A1A1A"/>
                </a:solidFill>
                <a:latin typeface="BIZ UDPゴシック"/>
                <a:ea typeface="BIZ UDPゴシック"/>
              </a:rPr>
              <a:t>次フェーズ
論点整理</a:t>
            </a:r>
          </a:p>
        </p:txBody>
      </p:sp>
      <p:sp>
        <p:nvSpPr>
          <p:cNvPr id="60" name="DownArrow"/>
          <p:cNvSpPr/>
          <p:nvPr/>
        </p:nvSpPr>
        <p:spPr>
          <a:xfrm>
            <a:off x="10153650" y="2540000"/>
            <a:ext cx="254000" cy="190500"/>
          </a:xfrm>
          <a:prstGeom prst="downArrow">
            <a:avLst/>
          </a:prstGeom>
          <a:solidFill>
            <a:srgbClr val="8B2500">
              <a:alpha val="40000"/>
            </a:srgbClr>
          </a:solidFill>
          <a:ln>
            <a:noFill/>
          </a:ln>
        </p:spPr>
        <p:txBody>
          <a:bodyPr/>
          <a:lstStyle/>
          <a:p>
            <a:endParaRPr lang="ja-JP"/>
          </a:p>
        </p:txBody>
      </p:sp>
      <p:sp>
        <p:nvSpPr>
          <p:cNvPr id="70" name="ScopeNote"/>
          <p:cNvSpPr/>
          <p:nvPr/>
        </p:nvSpPr>
        <p:spPr>
          <a:xfrm>
            <a:off x="457200" y="3683000"/>
            <a:ext cx="11277600" cy="444500"/>
          </a:xfrm>
          <a:prstGeom prst="rect">
            <a:avLst/>
          </a:prstGeom>
          <a:solidFill>
            <a:srgbClr val="8B2500"/>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3.3 スコープの考え方</a:t>
            </a:r>
          </a:p>
        </p:txBody>
      </p:sp>
      <p:sp>
        <p:nvSpPr>
          <p:cNvPr id="71" name="Con0"/>
          <p:cNvSpPr/>
          <p:nvPr/>
        </p:nvSpPr>
        <p:spPr>
          <a:xfrm>
            <a:off x="457200" y="4318000"/>
            <a:ext cx="2692400" cy="1016000"/>
          </a:xfrm>
          <a:prstGeom prst="roundRect">
            <a:avLst/>
          </a:prstGeom>
          <a:solidFill>
            <a:srgbClr val="F2F0ED"/>
          </a:solidFill>
          <a:ln w="12700">
            <a:solidFill>
              <a:srgbClr val="7A7A7A"/>
            </a:solidFill>
          </a:ln>
        </p:spPr>
        <p:txBody>
          <a:bodyPr wrap="square" lIns="72000" tIns="36000" rIns="72000" bIns="36000" anchor="ctr"/>
          <a:lstStyle/>
          <a:p>
            <a:pPr algn="ctr"/>
            <a:r>
              <a:rPr lang="ja-JP" sz="1100" dirty="0">
                <a:solidFill>
                  <a:srgbClr val="1A1A1A"/>
                </a:solidFill>
                <a:latin typeface="BIZ UDPゴシック"/>
                <a:ea typeface="BIZ UDPゴシック"/>
              </a:rPr>
              <a:t>予測可能性の有無と改善余地の確認</a:t>
            </a:r>
          </a:p>
        </p:txBody>
      </p:sp>
      <p:sp>
        <p:nvSpPr>
          <p:cNvPr id="72" name="Con1"/>
          <p:cNvSpPr/>
          <p:nvPr/>
        </p:nvSpPr>
        <p:spPr>
          <a:xfrm>
            <a:off x="3276600" y="4318000"/>
            <a:ext cx="2692400" cy="1016000"/>
          </a:xfrm>
          <a:prstGeom prst="roundRect">
            <a:avLst/>
          </a:prstGeom>
          <a:solidFill>
            <a:srgbClr val="F2F0ED"/>
          </a:solidFill>
          <a:ln w="12700">
            <a:solidFill>
              <a:srgbClr val="7A7A7A"/>
            </a:solidFill>
          </a:ln>
        </p:spPr>
        <p:txBody>
          <a:bodyPr wrap="square" lIns="72000" tIns="36000" rIns="72000" bIns="36000" anchor="ctr"/>
          <a:lstStyle/>
          <a:p>
            <a:pPr algn="ctr"/>
            <a:r>
              <a:rPr lang="ja-JP" sz="1100" dirty="0">
                <a:solidFill>
                  <a:srgbClr val="1A1A1A"/>
                </a:solidFill>
                <a:latin typeface="BIZ UDPゴシック"/>
                <a:ea typeface="BIZ UDPゴシック"/>
              </a:rPr>
              <a:t>需要変動要因の説明</a:t>
            </a:r>
          </a:p>
        </p:txBody>
      </p:sp>
      <p:sp>
        <p:nvSpPr>
          <p:cNvPr id="73" name="Con2"/>
          <p:cNvSpPr/>
          <p:nvPr/>
        </p:nvSpPr>
        <p:spPr>
          <a:xfrm>
            <a:off x="6096000" y="4318000"/>
            <a:ext cx="2692400" cy="1016000"/>
          </a:xfrm>
          <a:prstGeom prst="roundRect">
            <a:avLst/>
          </a:prstGeom>
          <a:solidFill>
            <a:srgbClr val="F2F0ED"/>
          </a:solidFill>
          <a:ln w="12700">
            <a:solidFill>
              <a:srgbClr val="7A7A7A"/>
            </a:solidFill>
          </a:ln>
        </p:spPr>
        <p:txBody>
          <a:bodyPr wrap="square" lIns="72000" tIns="36000" rIns="72000" bIns="36000" anchor="ctr"/>
          <a:lstStyle/>
          <a:p>
            <a:pPr algn="ctr"/>
            <a:r>
              <a:rPr lang="ja-JP" sz="1100" dirty="0">
                <a:solidFill>
                  <a:srgbClr val="1A1A1A"/>
                </a:solidFill>
                <a:latin typeface="BIZ UDPゴシック"/>
                <a:ea typeface="BIZ UDPゴシック"/>
              </a:rPr>
              <a:t>運用上の意思決定に接続できる示唆の整理</a:t>
            </a:r>
          </a:p>
        </p:txBody>
      </p:sp>
      <p:sp>
        <p:nvSpPr>
          <p:cNvPr id="74" name="Con3"/>
          <p:cNvSpPr/>
          <p:nvPr/>
        </p:nvSpPr>
        <p:spPr>
          <a:xfrm>
            <a:off x="8915400" y="4318000"/>
            <a:ext cx="2692400" cy="1016000"/>
          </a:xfrm>
          <a:prstGeom prst="roundRect">
            <a:avLst/>
          </a:prstGeom>
          <a:solidFill>
            <a:srgbClr val="F2F0ED"/>
          </a:solidFill>
          <a:ln w="12700">
            <a:solidFill>
              <a:srgbClr val="7A7A7A"/>
            </a:solidFill>
          </a:ln>
        </p:spPr>
        <p:txBody>
          <a:bodyPr wrap="square" lIns="72000" tIns="36000" rIns="72000" bIns="36000" anchor="ctr"/>
          <a:lstStyle/>
          <a:p>
            <a:pPr algn="ctr"/>
            <a:r>
              <a:rPr lang="ja-JP" sz="1100" dirty="0">
                <a:solidFill>
                  <a:srgbClr val="1A1A1A"/>
                </a:solidFill>
                <a:latin typeface="BIZ UDPゴシック"/>
                <a:ea typeface="BIZ UDPゴシック"/>
              </a:rPr>
              <a:t>次段階の高度化に必要な追加データ・要件の明確化</a:t>
            </a:r>
          </a:p>
        </p:txBody>
      </p:sp>
      <p:sp>
        <p:nvSpPr>
          <p:cNvPr id="80" name="Note"/>
          <p:cNvSpPr/>
          <p:nvPr/>
        </p:nvSpPr>
        <p:spPr>
          <a:xfrm>
            <a:off x="457200" y="5524500"/>
            <a:ext cx="11277600" cy="571500"/>
          </a:xfrm>
          <a:prstGeom prst="rect">
            <a:avLst/>
          </a:prstGeom>
          <a:noFill/>
          <a:ln>
            <a:noFill/>
          </a:ln>
        </p:spPr>
        <p:txBody>
          <a:bodyPr wrap="square" lIns="72000" tIns="36000" rIns="72000" bIns="36000" anchor="ctr"/>
          <a:lstStyle/>
          <a:p>
            <a:pPr algn="l"/>
            <a:r>
              <a:rPr lang="ja-JP" sz="1100" dirty="0">
                <a:solidFill>
                  <a:srgbClr val="7A7A7A"/>
                </a:solidFill>
                <a:latin typeface="BIZ UDPゴシック"/>
                <a:ea typeface="BIZ UDPゴシック"/>
              </a:rPr>
              <a:t>※ 本プロジェクトは需要予測精度の絶対値のみを追求するものではなく、上記4つの観点を重視して進める</a:t>
            </a:r>
          </a:p>
        </p:txBody>
      </p:sp>
      <p:sp>
        <p:nvSpPr>
          <p:cNvPr id="3" name="PageNumber">
            <a:extLst>
              <a:ext uri="{FF2B5EF4-FFF2-40B4-BE49-F238E27FC236}">
                <a16:creationId xmlns:a16="http://schemas.microsoft.com/office/drawing/2014/main" id="{6883A9EA-02F9-4A7F-80E2-F923D236AAF6}"/>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4</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776537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032B78-CCFB-A2E4-E750-E89A1BE2D4C8}"/>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3. スコープ ― 対象外</a:t>
            </a:r>
          </a:p>
        </p:txBody>
      </p:sp>
      <p:sp>
        <p:nvSpPr>
          <p:cNvPr id="10" name="S10"/>
          <p:cNvSpPr/>
          <p:nvPr/>
        </p:nvSpPr>
        <p:spPr>
          <a:xfrm>
            <a:off x="457200" y="1841500"/>
            <a:ext cx="5461000" cy="406400"/>
          </a:xfrm>
          <a:prstGeom prst="rect">
            <a:avLst/>
          </a:prstGeom>
          <a:solidFill>
            <a:srgbClr val="4A4A4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システム実装</a:t>
            </a:r>
          </a:p>
        </p:txBody>
      </p:sp>
      <p:sp>
        <p:nvSpPr>
          <p:cNvPr id="11" name="S11"/>
          <p:cNvSpPr/>
          <p:nvPr/>
        </p:nvSpPr>
        <p:spPr>
          <a:xfrm>
            <a:off x="457200" y="23241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本番システム実装</a:t>
            </a:r>
          </a:p>
        </p:txBody>
      </p:sp>
      <p:sp>
        <p:nvSpPr>
          <p:cNvPr id="12" name="S12"/>
          <p:cNvSpPr/>
          <p:nvPr/>
        </p:nvSpPr>
        <p:spPr>
          <a:xfrm>
            <a:off x="457200" y="27559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API化・バッチ化</a:t>
            </a:r>
          </a:p>
        </p:txBody>
      </p:sp>
      <p:sp>
        <p:nvSpPr>
          <p:cNvPr id="13" name="S13"/>
          <p:cNvSpPr/>
          <p:nvPr/>
        </p:nvSpPr>
        <p:spPr>
          <a:xfrm>
            <a:off x="457200" y="31877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MLOps環境構築</a:t>
            </a:r>
          </a:p>
        </p:txBody>
      </p:sp>
      <p:sp>
        <p:nvSpPr>
          <p:cNvPr id="14" name="S14"/>
          <p:cNvSpPr/>
          <p:nvPr/>
        </p:nvSpPr>
        <p:spPr>
          <a:xfrm>
            <a:off x="457200" y="36195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自動再学習機能の実装</a:t>
            </a:r>
          </a:p>
        </p:txBody>
      </p:sp>
      <p:sp>
        <p:nvSpPr>
          <p:cNvPr id="20" name="S20"/>
          <p:cNvSpPr/>
          <p:nvPr/>
        </p:nvSpPr>
        <p:spPr>
          <a:xfrm>
            <a:off x="6172200" y="1841500"/>
            <a:ext cx="5461000" cy="406400"/>
          </a:xfrm>
          <a:prstGeom prst="rect">
            <a:avLst/>
          </a:prstGeom>
          <a:solidFill>
            <a:srgbClr val="7A7A7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詳細分析</a:t>
            </a:r>
          </a:p>
        </p:txBody>
      </p:sp>
      <p:sp>
        <p:nvSpPr>
          <p:cNvPr id="21" name="S21"/>
          <p:cNvSpPr/>
          <p:nvPr/>
        </p:nvSpPr>
        <p:spPr>
          <a:xfrm>
            <a:off x="6172200" y="23241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拠点別・車両別・会員別分析</a:t>
            </a:r>
          </a:p>
        </p:txBody>
      </p:sp>
      <p:sp>
        <p:nvSpPr>
          <p:cNvPr id="22" name="S22"/>
          <p:cNvSpPr/>
          <p:nvPr/>
        </p:nvSpPr>
        <p:spPr>
          <a:xfrm>
            <a:off x="6172200" y="27559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空間需要分析（位置情報・移動履歴）</a:t>
            </a:r>
          </a:p>
        </p:txBody>
      </p:sp>
      <p:sp>
        <p:nvSpPr>
          <p:cNvPr id="30" name="S30"/>
          <p:cNvSpPr/>
          <p:nvPr/>
        </p:nvSpPr>
        <p:spPr>
          <a:xfrm>
            <a:off x="457200" y="4064000"/>
            <a:ext cx="5461000" cy="406400"/>
          </a:xfrm>
          <a:prstGeom prst="rect">
            <a:avLst/>
          </a:prstGeom>
          <a:solidFill>
            <a:srgbClr val="4A4A4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外部連携・最適化</a:t>
            </a:r>
          </a:p>
        </p:txBody>
      </p:sp>
      <p:sp>
        <p:nvSpPr>
          <p:cNvPr id="31" name="S31"/>
          <p:cNvSpPr/>
          <p:nvPr/>
        </p:nvSpPr>
        <p:spPr>
          <a:xfrm>
            <a:off x="457200" y="45466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外部気象API・交通・イベントデータ連携</a:t>
            </a:r>
          </a:p>
        </p:txBody>
      </p:sp>
      <p:sp>
        <p:nvSpPr>
          <p:cNvPr id="32" name="S32"/>
          <p:cNvSpPr/>
          <p:nvPr/>
        </p:nvSpPr>
        <p:spPr>
          <a:xfrm>
            <a:off x="457200" y="49784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配車最適化アルゴリズム実装</a:t>
            </a:r>
          </a:p>
        </p:txBody>
      </p:sp>
      <p:sp>
        <p:nvSpPr>
          <p:cNvPr id="33" name="S33"/>
          <p:cNvSpPr/>
          <p:nvPr/>
        </p:nvSpPr>
        <p:spPr>
          <a:xfrm>
            <a:off x="457200" y="54102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再配置最適化ロジック構築</a:t>
            </a:r>
          </a:p>
        </p:txBody>
      </p:sp>
      <p:sp>
        <p:nvSpPr>
          <p:cNvPr id="40" name="S40"/>
          <p:cNvSpPr/>
          <p:nvPr/>
        </p:nvSpPr>
        <p:spPr>
          <a:xfrm>
            <a:off x="6172200" y="4064000"/>
            <a:ext cx="5461000" cy="406400"/>
          </a:xfrm>
          <a:prstGeom prst="rect">
            <a:avLst/>
          </a:prstGeom>
          <a:solidFill>
            <a:srgbClr val="7A7A7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運用・保証</a:t>
            </a:r>
          </a:p>
        </p:txBody>
      </p:sp>
      <p:sp>
        <p:nvSpPr>
          <p:cNvPr id="41" name="S41"/>
          <p:cNvSpPr/>
          <p:nvPr/>
        </p:nvSpPr>
        <p:spPr>
          <a:xfrm>
            <a:off x="6172200" y="45466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本番運用時の予測精度保証</a:t>
            </a:r>
          </a:p>
        </p:txBody>
      </p:sp>
      <p:sp>
        <p:nvSpPr>
          <p:cNvPr id="42" name="S42"/>
          <p:cNvSpPr/>
          <p:nvPr/>
        </p:nvSpPr>
        <p:spPr>
          <a:xfrm>
            <a:off x="6172200" y="4978400"/>
            <a:ext cx="5461000" cy="355600"/>
          </a:xfrm>
          <a:prstGeom prst="rect">
            <a:avLst/>
          </a:prstGeom>
          <a:solidFill>
            <a:srgbClr val="F2F0ED"/>
          </a:solidFill>
          <a:ln>
            <a:noFill/>
          </a:ln>
        </p:spPr>
        <p:txBody>
          <a:bodyPr wrap="square" lIns="72000" tIns="36000" rIns="72000" bIns="36000" anchor="ctr"/>
          <a:lstStyle/>
          <a:p>
            <a:pPr algn="l"/>
            <a:r>
              <a:rPr lang="ja-JP" sz="1200" dirty="0">
                <a:solidFill>
                  <a:srgbClr val="8B2500"/>
                </a:solidFill>
                <a:latin typeface="BIZ UDPゴシック"/>
                <a:ea typeface="BIZ UDPゴシック"/>
              </a:rPr>
              <a:t>×  </a:t>
            </a:r>
            <a:r>
              <a:rPr lang="ja-JP" sz="1200" dirty="0">
                <a:solidFill>
                  <a:srgbClr val="3D3D3D"/>
                </a:solidFill>
                <a:latin typeface="BIZ UDPゴシック"/>
                <a:ea typeface="BIZ UDPゴシック"/>
              </a:rPr>
              <a:t>業務制度・オペレーション変更の実行支援</a:t>
            </a:r>
          </a:p>
        </p:txBody>
      </p:sp>
      <p:sp>
        <p:nvSpPr>
          <p:cNvPr id="80" name="Note"/>
          <p:cNvSpPr/>
          <p:nvPr/>
        </p:nvSpPr>
        <p:spPr>
          <a:xfrm>
            <a:off x="457200" y="6032500"/>
            <a:ext cx="11277600" cy="508000"/>
          </a:xfrm>
          <a:prstGeom prst="rect">
            <a:avLst/>
          </a:prstGeom>
          <a:noFill/>
          <a:ln>
            <a:noFill/>
          </a:ln>
        </p:spPr>
        <p:txBody>
          <a:bodyPr wrap="square" lIns="72000" tIns="36000" rIns="72000" bIns="36000"/>
          <a:lstStyle/>
          <a:p>
            <a:pPr algn="l"/>
            <a:r>
              <a:rPr lang="ja-JP" sz="1100" dirty="0">
                <a:solidFill>
                  <a:srgbClr val="7A7A7A"/>
                </a:solidFill>
                <a:latin typeface="BIZ UDPゴシック"/>
                <a:ea typeface="BIZ UDPゴシック"/>
              </a:rPr>
              <a:t>※ 上記は次フェーズ以降の検討候補として位置づけ、本フェーズでは基礎分析と要件整理に注力する</a:t>
            </a:r>
          </a:p>
        </p:txBody>
      </p:sp>
      <p:sp>
        <p:nvSpPr>
          <p:cNvPr id="3" name="PageNumber">
            <a:extLst>
              <a:ext uri="{FF2B5EF4-FFF2-40B4-BE49-F238E27FC236}">
                <a16:creationId xmlns:a16="http://schemas.microsoft.com/office/drawing/2014/main" id="{2F4E4DA9-9A6D-477E-833F-7DFB641D28EF}"/>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5</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2856742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EA31F-A689-16ED-CEA8-18BA0BC6C9CC}"/>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4. 分析アプローチ ― 全体像</a:t>
            </a:r>
          </a:p>
        </p:txBody>
      </p:sp>
      <p:sp>
        <p:nvSpPr>
          <p:cNvPr id="10" name="S10"/>
          <p:cNvSpPr/>
          <p:nvPr/>
        </p:nvSpPr>
        <p:spPr>
          <a:xfrm>
            <a:off x="457200" y="1778000"/>
            <a:ext cx="11277600" cy="317500"/>
          </a:xfrm>
          <a:prstGeom prst="rect">
            <a:avLst/>
          </a:prstGeom>
          <a:noFill/>
          <a:ln>
            <a:noFill/>
          </a:ln>
        </p:spPr>
        <p:txBody>
          <a:bodyPr wrap="square" lIns="72000" tIns="36000" rIns="72000" bIns="36000" anchor="ctr"/>
          <a:lstStyle/>
          <a:p>
            <a:pPr algn="l"/>
            <a:r>
              <a:rPr lang="ja-JP" sz="1200" dirty="0">
                <a:solidFill>
                  <a:srgbClr val="4A4A4A"/>
                </a:solidFill>
                <a:latin typeface="BIZ UDPゴシック"/>
                <a:ea typeface="BIZ UDPゴシック"/>
              </a:rPr>
              <a:t>短期間での実効性と説明可能性を両立するため、以下の段階的アプローチを採用する</a:t>
            </a:r>
          </a:p>
        </p:txBody>
      </p:sp>
      <p:sp>
        <p:nvSpPr>
          <p:cNvPr id="20" name="S20"/>
          <p:cNvSpPr/>
          <p:nvPr/>
        </p:nvSpPr>
        <p:spPr>
          <a:xfrm>
            <a:off x="457200" y="2222500"/>
            <a:ext cx="2159000" cy="889000"/>
          </a:xfrm>
          <a:prstGeom prst="homePlate">
            <a:avLst/>
          </a:prstGeom>
          <a:solidFill>
            <a:srgbClr val="8B2500"/>
          </a:solidFill>
          <a:ln>
            <a:noFill/>
          </a:ln>
        </p:spPr>
        <p:txBody>
          <a:bodyPr wrap="square" lIns="72000" tIns="36000" rIns="72000" bIns="36000" anchor="ctr"/>
          <a:lstStyle/>
          <a:p>
            <a:pPr algn="ctr"/>
            <a:r>
              <a:rPr lang="ja-JP" sz="1000" dirty="0">
                <a:solidFill>
                  <a:srgbClr val="FFFFFF"/>
                </a:solidFill>
                <a:latin typeface="BIZ UDPゴシック"/>
                <a:ea typeface="BIZ UDPゴシック"/>
              </a:rPr>
              <a:t>STEP 1</a:t>
            </a:r>
          </a:p>
          <a:p>
            <a:pPr algn="ctr">
              <a:spcBef>
                <a:spcPts val="200"/>
              </a:spcBef>
            </a:pPr>
            <a:r>
              <a:rPr lang="ja-JP" sz="1400" b="1" dirty="0">
                <a:solidFill>
                  <a:srgbClr val="FFFFFF"/>
                </a:solidFill>
                <a:latin typeface="BIZ UDPゴシック"/>
                <a:ea typeface="BIZ UDPゴシック"/>
              </a:rPr>
              <a:t>データ確認
前提整理</a:t>
            </a:r>
          </a:p>
        </p:txBody>
      </p:sp>
      <p:sp>
        <p:nvSpPr>
          <p:cNvPr id="30" name="A0"/>
          <p:cNvSpPr/>
          <p:nvPr/>
        </p:nvSpPr>
        <p:spPr>
          <a:xfrm>
            <a:off x="2616200" y="2540000"/>
            <a:ext cx="127000" cy="152400"/>
          </a:xfrm>
          <a:prstGeom prst="rightArrow">
            <a:avLst/>
          </a:prstGeom>
          <a:solidFill>
            <a:srgbClr val="B0A8A0"/>
          </a:solidFill>
          <a:ln>
            <a:noFill/>
          </a:ln>
        </p:spPr>
        <p:txBody>
          <a:bodyPr/>
          <a:lstStyle/>
          <a:p>
            <a:endParaRPr lang="ja-JP"/>
          </a:p>
        </p:txBody>
      </p:sp>
      <p:sp>
        <p:nvSpPr>
          <p:cNvPr id="21" name="S21"/>
          <p:cNvSpPr/>
          <p:nvPr/>
        </p:nvSpPr>
        <p:spPr>
          <a:xfrm>
            <a:off x="2743200" y="2222500"/>
            <a:ext cx="2159000" cy="889000"/>
          </a:xfrm>
          <a:prstGeom prst="homePlate">
            <a:avLst/>
          </a:prstGeom>
          <a:solidFill>
            <a:srgbClr val="A03000"/>
          </a:solidFill>
          <a:ln>
            <a:noFill/>
          </a:ln>
        </p:spPr>
        <p:txBody>
          <a:bodyPr wrap="square" lIns="72000" tIns="36000" rIns="72000" bIns="36000" anchor="ctr"/>
          <a:lstStyle/>
          <a:p>
            <a:pPr algn="ctr"/>
            <a:r>
              <a:rPr lang="ja-JP" sz="1000" dirty="0">
                <a:solidFill>
                  <a:srgbClr val="FFFFFF"/>
                </a:solidFill>
                <a:latin typeface="BIZ UDPゴシック"/>
                <a:ea typeface="BIZ UDPゴシック"/>
              </a:rPr>
              <a:t>STEP 2</a:t>
            </a:r>
          </a:p>
          <a:p>
            <a:pPr algn="ctr">
              <a:spcBef>
                <a:spcPts val="200"/>
              </a:spcBef>
            </a:pPr>
            <a:r>
              <a:rPr lang="ja-JP" sz="1400" b="1" dirty="0">
                <a:solidFill>
                  <a:srgbClr val="FFFFFF"/>
                </a:solidFill>
                <a:latin typeface="BIZ UDPゴシック"/>
                <a:ea typeface="BIZ UDPゴシック"/>
              </a:rPr>
              <a:t>前処理
方針策定</a:t>
            </a:r>
          </a:p>
        </p:txBody>
      </p:sp>
      <p:sp>
        <p:nvSpPr>
          <p:cNvPr id="31" name="A1"/>
          <p:cNvSpPr/>
          <p:nvPr/>
        </p:nvSpPr>
        <p:spPr>
          <a:xfrm>
            <a:off x="4902200" y="2540000"/>
            <a:ext cx="127000" cy="152400"/>
          </a:xfrm>
          <a:prstGeom prst="rightArrow">
            <a:avLst/>
          </a:prstGeom>
          <a:solidFill>
            <a:srgbClr val="B0A8A0"/>
          </a:solidFill>
          <a:ln>
            <a:noFill/>
          </a:ln>
        </p:spPr>
        <p:txBody>
          <a:bodyPr/>
          <a:lstStyle/>
          <a:p>
            <a:endParaRPr lang="ja-JP"/>
          </a:p>
        </p:txBody>
      </p:sp>
      <p:sp>
        <p:nvSpPr>
          <p:cNvPr id="22" name="S22"/>
          <p:cNvSpPr/>
          <p:nvPr/>
        </p:nvSpPr>
        <p:spPr>
          <a:xfrm>
            <a:off x="5029200" y="2222500"/>
            <a:ext cx="2159000" cy="889000"/>
          </a:xfrm>
          <a:prstGeom prst="homePlate">
            <a:avLst/>
          </a:prstGeom>
          <a:solidFill>
            <a:srgbClr val="B53800"/>
          </a:solidFill>
          <a:ln>
            <a:noFill/>
          </a:ln>
        </p:spPr>
        <p:txBody>
          <a:bodyPr wrap="square" lIns="72000" tIns="36000" rIns="72000" bIns="36000" anchor="ctr"/>
          <a:lstStyle/>
          <a:p>
            <a:pPr algn="ctr"/>
            <a:r>
              <a:rPr lang="ja-JP" sz="1000" dirty="0">
                <a:solidFill>
                  <a:srgbClr val="FFFFFF"/>
                </a:solidFill>
                <a:latin typeface="BIZ UDPゴシック"/>
                <a:ea typeface="BIZ UDPゴシック"/>
              </a:rPr>
              <a:t>STEP 3</a:t>
            </a:r>
          </a:p>
          <a:p>
            <a:pPr algn="ctr">
              <a:spcBef>
                <a:spcPts val="200"/>
              </a:spcBef>
            </a:pPr>
            <a:r>
              <a:rPr lang="ja-JP" sz="1400" b="1" dirty="0">
                <a:solidFill>
                  <a:srgbClr val="FFFFFF"/>
                </a:solidFill>
                <a:latin typeface="BIZ UDPゴシック"/>
                <a:ea typeface="BIZ UDPゴシック"/>
              </a:rPr>
              <a:t>特徴量設計
モデル構築</a:t>
            </a:r>
          </a:p>
        </p:txBody>
      </p:sp>
      <p:sp>
        <p:nvSpPr>
          <p:cNvPr id="32" name="A2"/>
          <p:cNvSpPr/>
          <p:nvPr/>
        </p:nvSpPr>
        <p:spPr>
          <a:xfrm>
            <a:off x="7188200" y="2540000"/>
            <a:ext cx="127000" cy="152400"/>
          </a:xfrm>
          <a:prstGeom prst="rightArrow">
            <a:avLst/>
          </a:prstGeom>
          <a:solidFill>
            <a:srgbClr val="B0A8A0"/>
          </a:solidFill>
          <a:ln>
            <a:noFill/>
          </a:ln>
        </p:spPr>
        <p:txBody>
          <a:bodyPr/>
          <a:lstStyle/>
          <a:p>
            <a:endParaRPr lang="ja-JP"/>
          </a:p>
        </p:txBody>
      </p:sp>
      <p:sp>
        <p:nvSpPr>
          <p:cNvPr id="23" name="S23"/>
          <p:cNvSpPr/>
          <p:nvPr/>
        </p:nvSpPr>
        <p:spPr>
          <a:xfrm>
            <a:off x="7315200" y="2222500"/>
            <a:ext cx="2159000" cy="889000"/>
          </a:xfrm>
          <a:prstGeom prst="homePlate">
            <a:avLst/>
          </a:prstGeom>
          <a:solidFill>
            <a:srgbClr val="C04000"/>
          </a:solidFill>
          <a:ln>
            <a:noFill/>
          </a:ln>
        </p:spPr>
        <p:txBody>
          <a:bodyPr wrap="square" lIns="72000" tIns="36000" rIns="72000" bIns="36000" anchor="ctr"/>
          <a:lstStyle/>
          <a:p>
            <a:pPr algn="ctr"/>
            <a:r>
              <a:rPr lang="ja-JP" sz="1000" dirty="0">
                <a:solidFill>
                  <a:srgbClr val="FFFFFF"/>
                </a:solidFill>
                <a:latin typeface="BIZ UDPゴシック"/>
                <a:ea typeface="BIZ UDPゴシック"/>
              </a:rPr>
              <a:t>STEP 4</a:t>
            </a:r>
          </a:p>
          <a:p>
            <a:pPr algn="ctr">
              <a:spcBef>
                <a:spcPts val="200"/>
              </a:spcBef>
            </a:pPr>
            <a:r>
              <a:rPr lang="ja-JP" sz="1400" b="1" dirty="0">
                <a:solidFill>
                  <a:srgbClr val="FFFFFF"/>
                </a:solidFill>
                <a:latin typeface="BIZ UDPゴシック"/>
                <a:ea typeface="BIZ UDPゴシック"/>
              </a:rPr>
              <a:t>評価
要因分析</a:t>
            </a:r>
          </a:p>
        </p:txBody>
      </p:sp>
      <p:sp>
        <p:nvSpPr>
          <p:cNvPr id="33" name="A3"/>
          <p:cNvSpPr/>
          <p:nvPr/>
        </p:nvSpPr>
        <p:spPr>
          <a:xfrm>
            <a:off x="9474200" y="2540000"/>
            <a:ext cx="127000" cy="152400"/>
          </a:xfrm>
          <a:prstGeom prst="rightArrow">
            <a:avLst/>
          </a:prstGeom>
          <a:solidFill>
            <a:srgbClr val="B0A8A0"/>
          </a:solidFill>
          <a:ln>
            <a:noFill/>
          </a:ln>
        </p:spPr>
        <p:txBody>
          <a:bodyPr/>
          <a:lstStyle/>
          <a:p>
            <a:endParaRPr lang="ja-JP"/>
          </a:p>
        </p:txBody>
      </p:sp>
      <p:sp>
        <p:nvSpPr>
          <p:cNvPr id="24" name="S24"/>
          <p:cNvSpPr/>
          <p:nvPr/>
        </p:nvSpPr>
        <p:spPr>
          <a:xfrm>
            <a:off x="9601200" y="2222500"/>
            <a:ext cx="2159000" cy="889000"/>
          </a:xfrm>
          <a:prstGeom prst="homePlate">
            <a:avLst/>
          </a:prstGeom>
          <a:solidFill>
            <a:srgbClr val="4A4A4A"/>
          </a:solidFill>
          <a:ln>
            <a:noFill/>
          </a:ln>
        </p:spPr>
        <p:txBody>
          <a:bodyPr wrap="square" lIns="72000" tIns="36000" rIns="72000" bIns="36000" anchor="ctr"/>
          <a:lstStyle/>
          <a:p>
            <a:pPr algn="ctr"/>
            <a:r>
              <a:rPr lang="ja-JP" sz="1000" dirty="0">
                <a:solidFill>
                  <a:srgbClr val="FFFFFF"/>
                </a:solidFill>
                <a:latin typeface="BIZ UDPゴシック"/>
                <a:ea typeface="BIZ UDPゴシック"/>
              </a:rPr>
              <a:t>STEP 5</a:t>
            </a:r>
          </a:p>
          <a:p>
            <a:pPr algn="ctr">
              <a:spcBef>
                <a:spcPts val="200"/>
              </a:spcBef>
            </a:pPr>
            <a:r>
              <a:rPr lang="ja-JP" sz="1400" b="1" dirty="0">
                <a:solidFill>
                  <a:srgbClr val="FFFFFF"/>
                </a:solidFill>
                <a:latin typeface="BIZ UDPゴシック"/>
                <a:ea typeface="BIZ UDPゴシック"/>
              </a:rPr>
              <a:t>業務接続
示唆整理</a:t>
            </a:r>
          </a:p>
        </p:txBody>
      </p:sp>
      <p:sp>
        <p:nvSpPr>
          <p:cNvPr id="40" name="S40"/>
          <p:cNvSpPr/>
          <p:nvPr/>
        </p:nvSpPr>
        <p:spPr>
          <a:xfrm>
            <a:off x="457200" y="3302000"/>
            <a:ext cx="2159000" cy="2921000"/>
          </a:xfrm>
          <a:prstGeom prst="rect">
            <a:avLst/>
          </a:prstGeom>
          <a:solidFill>
            <a:srgbClr val="F2F0ED"/>
          </a:solidFill>
          <a:ln>
            <a:noFill/>
          </a:ln>
        </p:spPr>
        <p:txBody>
          <a:bodyPr wrap="square" lIns="72000" tIns="36000" rIns="72000" bIns="36000" anchor="ctr"/>
          <a:lstStyle/>
          <a:p>
            <a:pPr algn="l">
              <a:lnSpc>
                <a:spcPts val="1600"/>
              </a:lnSpc>
            </a:pPr>
            <a:r>
              <a:rPr lang="ja-JP" sz="1000" dirty="0">
                <a:solidFill>
                  <a:srgbClr val="3D3D3D"/>
                </a:solidFill>
                <a:latin typeface="BIZ UDPゴシック"/>
                <a:ea typeface="BIZ UDPゴシック"/>
              </a:rPr>
              <a:t>カラム定義と実データの
整合性確認
欠損・型・値域・分布の確認
yr, workingdayの定義検証</a:t>
            </a:r>
          </a:p>
        </p:txBody>
      </p:sp>
      <p:sp>
        <p:nvSpPr>
          <p:cNvPr id="41" name="S41"/>
          <p:cNvSpPr/>
          <p:nvPr/>
        </p:nvSpPr>
        <p:spPr>
          <a:xfrm>
            <a:off x="2743200" y="3302000"/>
            <a:ext cx="2159000" cy="2921000"/>
          </a:xfrm>
          <a:prstGeom prst="rect">
            <a:avLst/>
          </a:prstGeom>
          <a:solidFill>
            <a:srgbClr val="F2F0ED"/>
          </a:solidFill>
          <a:ln>
            <a:noFill/>
          </a:ln>
        </p:spPr>
        <p:txBody>
          <a:bodyPr wrap="square" lIns="72000" tIns="36000" rIns="72000" bIns="36000" anchor="ctr"/>
          <a:lstStyle/>
          <a:p>
            <a:pPr algn="l">
              <a:lnSpc>
                <a:spcPts val="1600"/>
              </a:lnSpc>
            </a:pPr>
            <a:r>
              <a:rPr lang="ja-JP" sz="1000" dirty="0">
                <a:solidFill>
                  <a:srgbClr val="3D3D3D"/>
                </a:solidFill>
                <a:latin typeface="BIZ UDPゴシック"/>
                <a:ea typeface="BIZ UDPゴシック"/>
              </a:rPr>
              <a:t>識別子列の除外
日付由来特徴量の追加
欠損値補完（中央値/最頻値）
カテゴリ列のエンコーディング</a:t>
            </a:r>
          </a:p>
        </p:txBody>
      </p:sp>
      <p:sp>
        <p:nvSpPr>
          <p:cNvPr id="42" name="S42"/>
          <p:cNvSpPr/>
          <p:nvPr/>
        </p:nvSpPr>
        <p:spPr>
          <a:xfrm>
            <a:off x="5029200" y="3302000"/>
            <a:ext cx="2159000" cy="2921000"/>
          </a:xfrm>
          <a:prstGeom prst="rect">
            <a:avLst/>
          </a:prstGeom>
          <a:solidFill>
            <a:srgbClr val="F2F0ED"/>
          </a:solidFill>
          <a:ln>
            <a:noFill/>
          </a:ln>
        </p:spPr>
        <p:txBody>
          <a:bodyPr wrap="square" lIns="72000" tIns="36000" rIns="72000" bIns="36000" anchor="ctr"/>
          <a:lstStyle/>
          <a:p>
            <a:pPr algn="l">
              <a:lnSpc>
                <a:spcPts val="1600"/>
              </a:lnSpc>
            </a:pPr>
            <a:r>
              <a:rPr lang="ja-JP" sz="1000" dirty="0">
                <a:solidFill>
                  <a:srgbClr val="3D3D3D"/>
                </a:solidFill>
                <a:latin typeface="BIZ UDPゴシック"/>
                <a:ea typeface="BIZ UDPゴシック"/>
              </a:rPr>
              <a:t>時間帯・カレンダー要因
気象要因の活用
ベースラインモデル構築
改善候補モデル構築</a:t>
            </a:r>
          </a:p>
        </p:txBody>
      </p:sp>
      <p:sp>
        <p:nvSpPr>
          <p:cNvPr id="43" name="S43"/>
          <p:cNvSpPr/>
          <p:nvPr/>
        </p:nvSpPr>
        <p:spPr>
          <a:xfrm>
            <a:off x="7315200" y="3302000"/>
            <a:ext cx="2159000" cy="2921000"/>
          </a:xfrm>
          <a:prstGeom prst="rect">
            <a:avLst/>
          </a:prstGeom>
          <a:solidFill>
            <a:srgbClr val="F2F0ED"/>
          </a:solidFill>
          <a:ln>
            <a:noFill/>
          </a:ln>
        </p:spPr>
        <p:txBody>
          <a:bodyPr wrap="square" lIns="72000" tIns="36000" rIns="72000" bIns="36000" anchor="ctr"/>
          <a:lstStyle/>
          <a:p>
            <a:pPr algn="l">
              <a:lnSpc>
                <a:spcPts val="1600"/>
              </a:lnSpc>
            </a:pPr>
            <a:r>
              <a:rPr lang="ja-JP" sz="1000" dirty="0">
                <a:solidFill>
                  <a:srgbClr val="3D3D3D"/>
                </a:solidFill>
                <a:latin typeface="BIZ UDPゴシック"/>
                <a:ea typeface="BIZ UDPゴシック"/>
              </a:rPr>
              <a:t>定量的な精度比較
重要因子分析
時間帯別・曜日別・
天候別需要傾向の可視化</a:t>
            </a:r>
          </a:p>
        </p:txBody>
      </p:sp>
      <p:sp>
        <p:nvSpPr>
          <p:cNvPr id="44" name="S44"/>
          <p:cNvSpPr/>
          <p:nvPr/>
        </p:nvSpPr>
        <p:spPr>
          <a:xfrm>
            <a:off x="9601200" y="3302000"/>
            <a:ext cx="2159000" cy="2921000"/>
          </a:xfrm>
          <a:prstGeom prst="rect">
            <a:avLst/>
          </a:prstGeom>
          <a:solidFill>
            <a:srgbClr val="F2F0ED"/>
          </a:solidFill>
          <a:ln>
            <a:noFill/>
          </a:ln>
        </p:spPr>
        <p:txBody>
          <a:bodyPr wrap="square" lIns="72000" tIns="36000" rIns="72000" bIns="36000" anchor="ctr"/>
          <a:lstStyle/>
          <a:p>
            <a:pPr algn="l">
              <a:lnSpc>
                <a:spcPts val="1600"/>
              </a:lnSpc>
            </a:pPr>
            <a:r>
              <a:rPr lang="ja-JP" sz="1000" dirty="0">
                <a:solidFill>
                  <a:srgbClr val="3D3D3D"/>
                </a:solidFill>
                <a:latin typeface="BIZ UDPゴシック"/>
                <a:ea typeface="BIZ UDPゴシック"/>
              </a:rPr>
              <a:t>需要ピーク時間帯の把握
外生要因の影響整理
アセット配分最適化示唆
追加データ要件の優先順位付</a:t>
            </a:r>
          </a:p>
        </p:txBody>
      </p:sp>
      <p:sp>
        <p:nvSpPr>
          <p:cNvPr id="3" name="PageNumber">
            <a:extLst>
              <a:ext uri="{FF2B5EF4-FFF2-40B4-BE49-F238E27FC236}">
                <a16:creationId xmlns:a16="http://schemas.microsoft.com/office/drawing/2014/main" id="{CE5F131A-D5EF-4C8A-94E2-8C622F4C8740}"/>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6</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3786710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A2053B-EEFD-3F6B-0022-81F09D2DD880}"/>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4.1-4.2 データ確認・前処理方針</a:t>
            </a:r>
          </a:p>
        </p:txBody>
      </p:sp>
      <p:sp>
        <p:nvSpPr>
          <p:cNvPr id="10" name="S10"/>
          <p:cNvSpPr/>
          <p:nvPr/>
        </p:nvSpPr>
        <p:spPr>
          <a:xfrm>
            <a:off x="457200" y="1841500"/>
            <a:ext cx="5588000" cy="406400"/>
          </a:xfrm>
          <a:prstGeom prst="rect">
            <a:avLst/>
          </a:prstGeom>
          <a:solidFill>
            <a:srgbClr val="8B2500"/>
          </a:solidFill>
          <a:ln>
            <a:noFill/>
          </a:ln>
        </p:spPr>
        <p:txBody>
          <a:bodyPr wrap="square" lIns="91440" tIns="45720" rIns="91440" bIns="45720" anchor="ctr"/>
          <a:lstStyle/>
          <a:p>
            <a:pPr algn="l"/>
            <a:r>
              <a:rPr lang="ja-JP" sz="1400" b="1" dirty="0">
                <a:solidFill>
                  <a:srgbClr val="FFFFFF"/>
                </a:solidFill>
                <a:latin typeface="BIZ UDPゴシック"/>
                <a:ea typeface="BIZ UDPゴシック"/>
              </a:rPr>
              <a:t>4.1 データ確認・前提整理</a:t>
            </a:r>
          </a:p>
        </p:txBody>
      </p:sp>
      <p:sp>
        <p:nvSpPr>
          <p:cNvPr id="11" name="S11"/>
          <p:cNvSpPr/>
          <p:nvPr/>
        </p:nvSpPr>
        <p:spPr>
          <a:xfrm>
            <a:off x="457200" y="2324100"/>
            <a:ext cx="5588000" cy="355600"/>
          </a:xfrm>
          <a:prstGeom prst="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カラム定義と実データの整合性確認</a:t>
            </a:r>
          </a:p>
        </p:txBody>
      </p:sp>
      <p:sp>
        <p:nvSpPr>
          <p:cNvPr id="12" name="S12"/>
          <p:cNvSpPr/>
          <p:nvPr/>
        </p:nvSpPr>
        <p:spPr>
          <a:xfrm>
            <a:off x="457200" y="2755900"/>
            <a:ext cx="5588000" cy="355600"/>
          </a:xfrm>
          <a:prstGeom prst="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欠損、型、値域、分布の確認</a:t>
            </a:r>
          </a:p>
        </p:txBody>
      </p:sp>
      <p:sp>
        <p:nvSpPr>
          <p:cNvPr id="13" name="S13"/>
          <p:cNvSpPr/>
          <p:nvPr/>
        </p:nvSpPr>
        <p:spPr>
          <a:xfrm>
            <a:off x="457200" y="3187700"/>
            <a:ext cx="5588000" cy="355600"/>
          </a:xfrm>
          <a:prstGeom prst="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yr, workingday 等の定義差異が疑われる項目の検証</a:t>
            </a:r>
          </a:p>
        </p:txBody>
      </p:sp>
      <p:sp>
        <p:nvSpPr>
          <p:cNvPr id="14" name="S14"/>
          <p:cNvSpPr/>
          <p:nvPr/>
        </p:nvSpPr>
        <p:spPr>
          <a:xfrm>
            <a:off x="457200" y="3619500"/>
            <a:ext cx="5588000" cy="355600"/>
          </a:xfrm>
          <a:prstGeom prst="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時間粒度が「日付×時間」の1時間単位であることの確認</a:t>
            </a:r>
          </a:p>
        </p:txBody>
      </p:sp>
      <p:sp>
        <p:nvSpPr>
          <p:cNvPr id="20" name="S20"/>
          <p:cNvSpPr/>
          <p:nvPr/>
        </p:nvSpPr>
        <p:spPr>
          <a:xfrm>
            <a:off x="457200" y="4191000"/>
            <a:ext cx="5588000" cy="381000"/>
          </a:xfrm>
          <a:prstGeom prst="rect">
            <a:avLst/>
          </a:prstGeom>
          <a:noFill/>
          <a:ln>
            <a:noFill/>
          </a:ln>
        </p:spPr>
        <p:txBody>
          <a:bodyPr wrap="square" lIns="91440" tIns="45720" rIns="91440" bIns="45720" anchor="ctr"/>
          <a:lstStyle/>
          <a:p>
            <a:pPr algn="l"/>
            <a:r>
              <a:rPr lang="ja-JP" sz="1000" i="1" dirty="0">
                <a:solidFill>
                  <a:srgbClr val="7A7A7A"/>
                </a:solidFill>
                <a:latin typeface="BIZ UDPゴシック"/>
                <a:ea typeface="BIZ UDPゴシック"/>
              </a:rPr>
              <a:t>※ 運用事実と需要仮説を分離し、外生要因の前提を成果物に明示する</a:t>
            </a:r>
          </a:p>
        </p:txBody>
      </p:sp>
      <p:sp>
        <p:nvSpPr>
          <p:cNvPr id="30" name="S30"/>
          <p:cNvSpPr/>
          <p:nvPr/>
        </p:nvSpPr>
        <p:spPr>
          <a:xfrm>
            <a:off x="6223000" y="1841500"/>
            <a:ext cx="5588000" cy="406400"/>
          </a:xfrm>
          <a:prstGeom prst="rect">
            <a:avLst/>
          </a:prstGeom>
          <a:solidFill>
            <a:srgbClr val="4A4A4A"/>
          </a:solidFill>
          <a:ln>
            <a:noFill/>
          </a:ln>
        </p:spPr>
        <p:txBody>
          <a:bodyPr wrap="square" lIns="91440" tIns="45720" rIns="91440" bIns="45720" anchor="ctr"/>
          <a:lstStyle/>
          <a:p>
            <a:pPr algn="l"/>
            <a:r>
              <a:rPr lang="ja-JP" sz="1400" b="1" dirty="0">
                <a:solidFill>
                  <a:srgbClr val="FFFFFF"/>
                </a:solidFill>
                <a:latin typeface="BIZ UDPゴシック"/>
                <a:ea typeface="BIZ UDPゴシック"/>
              </a:rPr>
              <a:t>4.2 前処理方針</a:t>
            </a:r>
          </a:p>
        </p:txBody>
      </p:sp>
      <p:sp>
        <p:nvSpPr>
          <p:cNvPr id="31" name="S31"/>
          <p:cNvSpPr/>
          <p:nvPr/>
        </p:nvSpPr>
        <p:spPr>
          <a:xfrm>
            <a:off x="6223000" y="2324100"/>
            <a:ext cx="1651000" cy="355600"/>
          </a:xfrm>
          <a:prstGeom prst="rect">
            <a:avLst/>
          </a:prstGeom>
          <a:solidFill>
            <a:srgbClr val="F2F0ED"/>
          </a:solidFill>
          <a:ln>
            <a:noFill/>
          </a:ln>
        </p:spPr>
        <p:txBody>
          <a:bodyPr wrap="square" lIns="91440" tIns="45720" rIns="91440" bIns="45720" anchor="ctr"/>
          <a:lstStyle/>
          <a:p>
            <a:pPr algn="ctr"/>
            <a:r>
              <a:rPr lang="ja-JP" sz="1000" b="1" dirty="0">
                <a:solidFill>
                  <a:srgbClr val="8B2500"/>
                </a:solidFill>
                <a:latin typeface="BIZ UDPゴシック"/>
                <a:ea typeface="BIZ UDPゴシック"/>
              </a:rPr>
              <a:t>識別子列</a:t>
            </a:r>
          </a:p>
        </p:txBody>
      </p:sp>
      <p:sp>
        <p:nvSpPr>
          <p:cNvPr id="32" name="S32"/>
          <p:cNvSpPr/>
          <p:nvPr/>
        </p:nvSpPr>
        <p:spPr>
          <a:xfrm>
            <a:off x="7937500" y="2324100"/>
            <a:ext cx="3873500" cy="355600"/>
          </a:xfrm>
          <a:prstGeom prst="rect">
            <a:avLst/>
          </a:prstGeom>
          <a:noFill/>
          <a:ln>
            <a:noFill/>
          </a:ln>
        </p:spPr>
        <p:txBody>
          <a:bodyPr wrap="square" lIns="91440" tIns="45720" rIns="91440" bIns="45720" anchor="ctr"/>
          <a:lstStyle/>
          <a:p>
            <a:pPr algn="l"/>
            <a:r>
              <a:rPr lang="ja-JP" sz="1000" dirty="0">
                <a:solidFill>
                  <a:srgbClr val="3D3D3D"/>
                </a:solidFill>
                <a:latin typeface="BIZ UDPゴシック"/>
                <a:ea typeface="BIZ UDPゴシック"/>
              </a:rPr>
              <a:t>id は除外、モデル説明変数に使用しない</a:t>
            </a:r>
          </a:p>
        </p:txBody>
      </p:sp>
      <p:sp>
        <p:nvSpPr>
          <p:cNvPr id="33" name="S33"/>
          <p:cNvSpPr/>
          <p:nvPr/>
        </p:nvSpPr>
        <p:spPr>
          <a:xfrm>
            <a:off x="6223000" y="2755900"/>
            <a:ext cx="1651000" cy="355600"/>
          </a:xfrm>
          <a:prstGeom prst="rect">
            <a:avLst/>
          </a:prstGeom>
          <a:solidFill>
            <a:srgbClr val="F2F0ED"/>
          </a:solidFill>
          <a:ln>
            <a:noFill/>
          </a:ln>
        </p:spPr>
        <p:txBody>
          <a:bodyPr wrap="square" lIns="91440" tIns="45720" rIns="91440" bIns="45720" anchor="ctr"/>
          <a:lstStyle/>
          <a:p>
            <a:pPr algn="ctr"/>
            <a:r>
              <a:rPr lang="ja-JP" sz="1000" b="1" dirty="0">
                <a:solidFill>
                  <a:srgbClr val="8B2500"/>
                </a:solidFill>
                <a:latin typeface="BIZ UDPゴシック"/>
                <a:ea typeface="BIZ UDPゴシック"/>
              </a:rPr>
              <a:t>日付特徴量</a:t>
            </a:r>
          </a:p>
        </p:txBody>
      </p:sp>
      <p:sp>
        <p:nvSpPr>
          <p:cNvPr id="34" name="S34"/>
          <p:cNvSpPr/>
          <p:nvPr/>
        </p:nvSpPr>
        <p:spPr>
          <a:xfrm>
            <a:off x="7937500" y="2755900"/>
            <a:ext cx="3873500" cy="355600"/>
          </a:xfrm>
          <a:prstGeom prst="rect">
            <a:avLst/>
          </a:prstGeom>
          <a:noFill/>
          <a:ln>
            <a:noFill/>
          </a:ln>
        </p:spPr>
        <p:txBody>
          <a:bodyPr wrap="square" lIns="91440" tIns="45720" rIns="91440" bIns="45720" anchor="ctr"/>
          <a:lstStyle/>
          <a:p>
            <a:pPr algn="l"/>
            <a:r>
              <a:rPr lang="ja-JP" sz="1000" dirty="0">
                <a:solidFill>
                  <a:srgbClr val="3D3D3D"/>
                </a:solidFill>
                <a:latin typeface="BIZ UDPゴシック"/>
                <a:ea typeface="BIZ UDPゴシック"/>
              </a:rPr>
              <a:t>dteday から日付由来特徴量を追加</a:t>
            </a:r>
          </a:p>
        </p:txBody>
      </p:sp>
      <p:sp>
        <p:nvSpPr>
          <p:cNvPr id="35" name="S35"/>
          <p:cNvSpPr/>
          <p:nvPr/>
        </p:nvSpPr>
        <p:spPr>
          <a:xfrm>
            <a:off x="6223000" y="3187700"/>
            <a:ext cx="1651000" cy="355600"/>
          </a:xfrm>
          <a:prstGeom prst="rect">
            <a:avLst/>
          </a:prstGeom>
          <a:solidFill>
            <a:srgbClr val="F2F0ED"/>
          </a:solidFill>
          <a:ln>
            <a:noFill/>
          </a:ln>
        </p:spPr>
        <p:txBody>
          <a:bodyPr wrap="square" lIns="91440" tIns="45720" rIns="91440" bIns="45720" anchor="ctr"/>
          <a:lstStyle/>
          <a:p>
            <a:pPr algn="ctr"/>
            <a:r>
              <a:rPr lang="ja-JP" sz="1000" b="1" dirty="0">
                <a:solidFill>
                  <a:srgbClr val="8B2500"/>
                </a:solidFill>
                <a:latin typeface="BIZ UDPゴシック"/>
                <a:ea typeface="BIZ UDPゴシック"/>
              </a:rPr>
              <a:t>数値欠損</a:t>
            </a:r>
          </a:p>
        </p:txBody>
      </p:sp>
      <p:sp>
        <p:nvSpPr>
          <p:cNvPr id="36" name="S36"/>
          <p:cNvSpPr/>
          <p:nvPr/>
        </p:nvSpPr>
        <p:spPr>
          <a:xfrm>
            <a:off x="7937500" y="3187700"/>
            <a:ext cx="3873500" cy="355600"/>
          </a:xfrm>
          <a:prstGeom prst="rect">
            <a:avLst/>
          </a:prstGeom>
          <a:noFill/>
          <a:ln>
            <a:noFill/>
          </a:ln>
        </p:spPr>
        <p:txBody>
          <a:bodyPr wrap="square" lIns="91440" tIns="45720" rIns="91440" bIns="45720" anchor="ctr"/>
          <a:lstStyle/>
          <a:p>
            <a:pPr algn="l"/>
            <a:r>
              <a:rPr lang="ja-JP" sz="1000" dirty="0">
                <a:solidFill>
                  <a:srgbClr val="3D3D3D"/>
                </a:solidFill>
                <a:latin typeface="BIZ UDPゴシック"/>
                <a:ea typeface="BIZ UDPゴシック"/>
              </a:rPr>
              <a:t>中央値補完を適用</a:t>
            </a:r>
          </a:p>
        </p:txBody>
      </p:sp>
      <p:sp>
        <p:nvSpPr>
          <p:cNvPr id="37" name="S37"/>
          <p:cNvSpPr/>
          <p:nvPr/>
        </p:nvSpPr>
        <p:spPr>
          <a:xfrm>
            <a:off x="6223000" y="3619500"/>
            <a:ext cx="1651000" cy="355600"/>
          </a:xfrm>
          <a:prstGeom prst="rect">
            <a:avLst/>
          </a:prstGeom>
          <a:solidFill>
            <a:srgbClr val="F2F0ED"/>
          </a:solidFill>
          <a:ln>
            <a:noFill/>
          </a:ln>
        </p:spPr>
        <p:txBody>
          <a:bodyPr wrap="square" lIns="91440" tIns="45720" rIns="91440" bIns="45720" anchor="ctr"/>
          <a:lstStyle/>
          <a:p>
            <a:pPr algn="ctr"/>
            <a:r>
              <a:rPr lang="ja-JP" sz="1000" b="1" dirty="0">
                <a:solidFill>
                  <a:srgbClr val="8B2500"/>
                </a:solidFill>
                <a:latin typeface="BIZ UDPゴシック"/>
                <a:ea typeface="BIZ UDPゴシック"/>
              </a:rPr>
              <a:t>カテゴリ欠損</a:t>
            </a:r>
          </a:p>
        </p:txBody>
      </p:sp>
      <p:sp>
        <p:nvSpPr>
          <p:cNvPr id="38" name="S38"/>
          <p:cNvSpPr/>
          <p:nvPr/>
        </p:nvSpPr>
        <p:spPr>
          <a:xfrm>
            <a:off x="7937500" y="3619500"/>
            <a:ext cx="3873500" cy="355600"/>
          </a:xfrm>
          <a:prstGeom prst="rect">
            <a:avLst/>
          </a:prstGeom>
          <a:noFill/>
          <a:ln>
            <a:noFill/>
          </a:ln>
        </p:spPr>
        <p:txBody>
          <a:bodyPr wrap="square" lIns="91440" tIns="45720" rIns="91440" bIns="45720" anchor="ctr"/>
          <a:lstStyle/>
          <a:p>
            <a:pPr algn="l"/>
            <a:r>
              <a:rPr lang="ja-JP" sz="1000" dirty="0">
                <a:solidFill>
                  <a:srgbClr val="3D3D3D"/>
                </a:solidFill>
                <a:latin typeface="BIZ UDPゴシック"/>
                <a:ea typeface="BIZ UDPゴシック"/>
              </a:rPr>
              <a:t>最頻値補完を適用</a:t>
            </a:r>
          </a:p>
        </p:txBody>
      </p:sp>
      <p:sp>
        <p:nvSpPr>
          <p:cNvPr id="39" name="S39"/>
          <p:cNvSpPr/>
          <p:nvPr/>
        </p:nvSpPr>
        <p:spPr>
          <a:xfrm>
            <a:off x="6223000" y="4051300"/>
            <a:ext cx="1651000" cy="355600"/>
          </a:xfrm>
          <a:prstGeom prst="rect">
            <a:avLst/>
          </a:prstGeom>
          <a:solidFill>
            <a:srgbClr val="F2F0ED"/>
          </a:solidFill>
          <a:ln>
            <a:noFill/>
          </a:ln>
        </p:spPr>
        <p:txBody>
          <a:bodyPr wrap="square" lIns="91440" tIns="45720" rIns="91440" bIns="45720" anchor="ctr"/>
          <a:lstStyle/>
          <a:p>
            <a:pPr algn="ctr"/>
            <a:r>
              <a:rPr lang="ja-JP" sz="1000" b="1" dirty="0">
                <a:solidFill>
                  <a:srgbClr val="8B2500"/>
                </a:solidFill>
                <a:latin typeface="BIZ UDPゴシック"/>
                <a:ea typeface="BIZ UDPゴシック"/>
              </a:rPr>
              <a:t>カテゴリ列</a:t>
            </a:r>
          </a:p>
        </p:txBody>
      </p:sp>
      <p:sp>
        <p:nvSpPr>
          <p:cNvPr id="40" name="S40"/>
          <p:cNvSpPr/>
          <p:nvPr/>
        </p:nvSpPr>
        <p:spPr>
          <a:xfrm>
            <a:off x="7937500" y="4051300"/>
            <a:ext cx="3873500" cy="355600"/>
          </a:xfrm>
          <a:prstGeom prst="rect">
            <a:avLst/>
          </a:prstGeom>
          <a:noFill/>
          <a:ln>
            <a:noFill/>
          </a:ln>
        </p:spPr>
        <p:txBody>
          <a:bodyPr wrap="square" lIns="91440" tIns="45720" rIns="91440" bIns="45720" anchor="ctr"/>
          <a:lstStyle/>
          <a:p>
            <a:pPr algn="l"/>
            <a:r>
              <a:rPr lang="ja-JP" sz="1000" dirty="0">
                <a:solidFill>
                  <a:srgbClr val="3D3D3D"/>
                </a:solidFill>
                <a:latin typeface="BIZ UDPゴシック"/>
                <a:ea typeface="BIZ UDPゴシック"/>
              </a:rPr>
              <a:t>閾値未満は one-hot encoding 適用</a:t>
            </a:r>
          </a:p>
        </p:txBody>
      </p:sp>
      <p:sp>
        <p:nvSpPr>
          <p:cNvPr id="41" name="S41"/>
          <p:cNvSpPr/>
          <p:nvPr/>
        </p:nvSpPr>
        <p:spPr>
          <a:xfrm>
            <a:off x="6223000" y="4483100"/>
            <a:ext cx="1651000" cy="355600"/>
          </a:xfrm>
          <a:prstGeom prst="rect">
            <a:avLst/>
          </a:prstGeom>
          <a:solidFill>
            <a:srgbClr val="F2F0ED"/>
          </a:solidFill>
          <a:ln>
            <a:noFill/>
          </a:ln>
        </p:spPr>
        <p:txBody>
          <a:bodyPr wrap="square" lIns="91440" tIns="45720" rIns="91440" bIns="45720" anchor="ctr"/>
          <a:lstStyle/>
          <a:p>
            <a:pPr algn="ctr"/>
            <a:r>
              <a:rPr lang="ja-JP" sz="1000" b="1" dirty="0">
                <a:solidFill>
                  <a:srgbClr val="8B2500"/>
                </a:solidFill>
                <a:latin typeface="BIZ UDPゴシック"/>
                <a:ea typeface="BIZ UDPゴシック"/>
              </a:rPr>
              <a:t>高カーディナリティ</a:t>
            </a:r>
          </a:p>
        </p:txBody>
      </p:sp>
      <p:sp>
        <p:nvSpPr>
          <p:cNvPr id="42" name="S42"/>
          <p:cNvSpPr/>
          <p:nvPr/>
        </p:nvSpPr>
        <p:spPr>
          <a:xfrm>
            <a:off x="7937500" y="4483100"/>
            <a:ext cx="3873500" cy="355600"/>
          </a:xfrm>
          <a:prstGeom prst="rect">
            <a:avLst/>
          </a:prstGeom>
          <a:noFill/>
          <a:ln>
            <a:noFill/>
          </a:ln>
        </p:spPr>
        <p:txBody>
          <a:bodyPr wrap="square" lIns="91440" tIns="45720" rIns="91440" bIns="45720" anchor="ctr"/>
          <a:lstStyle/>
          <a:p>
            <a:pPr algn="l"/>
            <a:r>
              <a:rPr lang="ja-JP" sz="1000" dirty="0">
                <a:solidFill>
                  <a:srgbClr val="3D3D3D"/>
                </a:solidFill>
                <a:latin typeface="BIZ UDPゴシック"/>
                <a:ea typeface="BIZ UDPゴシック"/>
              </a:rPr>
              <a:t>モデル入力から除外</a:t>
            </a:r>
          </a:p>
        </p:txBody>
      </p:sp>
      <p:sp>
        <p:nvSpPr>
          <p:cNvPr id="60" name="S60"/>
          <p:cNvSpPr/>
          <p:nvPr/>
        </p:nvSpPr>
        <p:spPr>
          <a:xfrm>
            <a:off x="457200" y="5080000"/>
            <a:ext cx="11277600" cy="889000"/>
          </a:xfrm>
          <a:prstGeom prst="roundRect">
            <a:avLst/>
          </a:prstGeom>
          <a:solidFill>
            <a:srgbClr val="F2F0ED"/>
          </a:solidFill>
          <a:ln>
            <a:noFill/>
          </a:ln>
        </p:spPr>
        <p:txBody>
          <a:bodyPr wrap="square" lIns="91440" tIns="45720" rIns="91440" bIns="45720" anchor="ctr"/>
          <a:lstStyle/>
          <a:p>
            <a:pPr algn="ctr"/>
            <a:r>
              <a:rPr lang="ja-JP" sz="1100" dirty="0">
                <a:solidFill>
                  <a:srgbClr val="4A4A4A"/>
                </a:solidFill>
                <a:latin typeface="BIZ UDPゴシック"/>
                <a:ea typeface="BIZ UDPゴシック"/>
              </a:rPr>
              <a:t>再現可能性を重視し、標準実装の範囲で実施。現時点の初期情報上は欠損値0件であるが、分析実行時に再確認の上で上記ルールを適用する</a:t>
            </a:r>
          </a:p>
        </p:txBody>
      </p:sp>
      <p:sp>
        <p:nvSpPr>
          <p:cNvPr id="3" name="PageNumber">
            <a:extLst>
              <a:ext uri="{FF2B5EF4-FFF2-40B4-BE49-F238E27FC236}">
                <a16:creationId xmlns:a16="http://schemas.microsoft.com/office/drawing/2014/main" id="{C9FAD733-78E1-46E5-8337-F90BCAAF44E9}"/>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7</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977522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08E384-AEAB-1B1D-0D78-083E62E481B3}"/>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4.3-4.4 特徴量設計・モデル構築</a:t>
            </a:r>
          </a:p>
        </p:txBody>
      </p:sp>
      <p:sp>
        <p:nvSpPr>
          <p:cNvPr id="10" name="S10"/>
          <p:cNvSpPr/>
          <p:nvPr/>
        </p:nvSpPr>
        <p:spPr>
          <a:xfrm>
            <a:off x="457200" y="1841500"/>
            <a:ext cx="5588000" cy="406400"/>
          </a:xfrm>
          <a:prstGeom prst="rect">
            <a:avLst/>
          </a:prstGeom>
          <a:solidFill>
            <a:srgbClr val="8B2500"/>
          </a:solidFill>
          <a:ln>
            <a:noFill/>
          </a:ln>
        </p:spPr>
        <p:txBody>
          <a:bodyPr wrap="square" lIns="91440" tIns="45720" rIns="91440" bIns="45720" anchor="ctr"/>
          <a:lstStyle/>
          <a:p>
            <a:pPr algn="l"/>
            <a:r>
              <a:rPr lang="ja-JP" sz="1400" b="1" dirty="0">
                <a:solidFill>
                  <a:srgbClr val="FFFFFF"/>
                </a:solidFill>
                <a:latin typeface="BIZ UDPゴシック"/>
                <a:ea typeface="BIZ UDPゴシック"/>
              </a:rPr>
              <a:t>4.3 特徴量設計方針</a:t>
            </a:r>
          </a:p>
        </p:txBody>
      </p:sp>
      <p:sp>
        <p:nvSpPr>
          <p:cNvPr id="11" name="S11"/>
          <p:cNvSpPr/>
          <p:nvPr/>
        </p:nvSpPr>
        <p:spPr>
          <a:xfrm>
            <a:off x="457200" y="2349500"/>
            <a:ext cx="1524000" cy="609600"/>
          </a:xfrm>
          <a:prstGeom prst="roundRect">
            <a:avLst/>
          </a:prstGeom>
          <a:solidFill>
            <a:srgbClr val="8B2500"/>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時間帯要因</a:t>
            </a:r>
          </a:p>
        </p:txBody>
      </p:sp>
      <p:sp>
        <p:nvSpPr>
          <p:cNvPr id="12" name="S12"/>
          <p:cNvSpPr/>
          <p:nvPr/>
        </p:nvSpPr>
        <p:spPr>
          <a:xfrm>
            <a:off x="2044700" y="2349500"/>
            <a:ext cx="4000500" cy="609600"/>
          </a:xfrm>
          <a:prstGeom prst="rect">
            <a:avLst/>
          </a:prstGeom>
          <a:solidFill>
            <a:srgbClr val="F2F0ED"/>
          </a:solidFill>
          <a:ln>
            <a:noFill/>
          </a:ln>
        </p:spPr>
        <p:txBody>
          <a:bodyPr wrap="square" lIns="91440" tIns="45720" rIns="91440" bIns="45720" anchor="ctr"/>
          <a:lstStyle/>
          <a:p>
            <a:pPr algn="l"/>
            <a:r>
              <a:rPr lang="en-US" sz="1100" dirty="0">
                <a:solidFill>
                  <a:srgbClr val="3D3D3D"/>
                </a:solidFill>
                <a:latin typeface="BIZ UDPゴシック"/>
                <a:ea typeface="BIZ UDPゴシック"/>
              </a:rPr>
              <a:t>hr</a:t>
            </a:r>
          </a:p>
        </p:txBody>
      </p:sp>
      <p:sp>
        <p:nvSpPr>
          <p:cNvPr id="13" name="S13"/>
          <p:cNvSpPr/>
          <p:nvPr/>
        </p:nvSpPr>
        <p:spPr>
          <a:xfrm>
            <a:off x="457200" y="3048000"/>
            <a:ext cx="1524000" cy="609600"/>
          </a:xfrm>
          <a:prstGeom prst="roundRect">
            <a:avLst/>
          </a:prstGeom>
          <a:solidFill>
            <a:srgbClr val="A03000"/>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カレンダー要因</a:t>
            </a:r>
          </a:p>
        </p:txBody>
      </p:sp>
      <p:sp>
        <p:nvSpPr>
          <p:cNvPr id="14" name="S14"/>
          <p:cNvSpPr/>
          <p:nvPr/>
        </p:nvSpPr>
        <p:spPr>
          <a:xfrm>
            <a:off x="2044700" y="3048000"/>
            <a:ext cx="4000500" cy="609600"/>
          </a:xfrm>
          <a:prstGeom prst="rect">
            <a:avLst/>
          </a:prstGeom>
          <a:solidFill>
            <a:srgbClr val="F2F0ED"/>
          </a:solidFill>
          <a:ln>
            <a:noFill/>
          </a:ln>
        </p:spPr>
        <p:txBody>
          <a:bodyPr wrap="square" lIns="91440" tIns="45720" rIns="91440" bIns="45720" anchor="ctr"/>
          <a:lstStyle/>
          <a:p>
            <a:pPr algn="l"/>
            <a:r>
              <a:rPr lang="en-US" sz="1100" dirty="0">
                <a:solidFill>
                  <a:srgbClr val="3D3D3D"/>
                </a:solidFill>
                <a:latin typeface="BIZ UDPゴシック"/>
                <a:ea typeface="BIZ UDPゴシック"/>
              </a:rPr>
              <a:t>weekday, holiday, workingday,
mnth, season, yr</a:t>
            </a:r>
          </a:p>
        </p:txBody>
      </p:sp>
      <p:sp>
        <p:nvSpPr>
          <p:cNvPr id="15" name="S15"/>
          <p:cNvSpPr/>
          <p:nvPr/>
        </p:nvSpPr>
        <p:spPr>
          <a:xfrm>
            <a:off x="457200" y="3746500"/>
            <a:ext cx="1524000" cy="609600"/>
          </a:xfrm>
          <a:prstGeom prst="roundRect">
            <a:avLst/>
          </a:prstGeom>
          <a:solidFill>
            <a:srgbClr val="B53800"/>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日付由来要因</a:t>
            </a:r>
          </a:p>
        </p:txBody>
      </p:sp>
      <p:sp>
        <p:nvSpPr>
          <p:cNvPr id="16" name="S16"/>
          <p:cNvSpPr/>
          <p:nvPr/>
        </p:nvSpPr>
        <p:spPr>
          <a:xfrm>
            <a:off x="2044700" y="3746500"/>
            <a:ext cx="4000500" cy="609600"/>
          </a:xfrm>
          <a:prstGeom prst="rect">
            <a:avLst/>
          </a:prstGeom>
          <a:solidFill>
            <a:srgbClr val="F2F0ED"/>
          </a:solidFill>
          <a:ln>
            <a:noFill/>
          </a:ln>
        </p:spPr>
        <p:txBody>
          <a:bodyPr wrap="square" lIns="91440" tIns="45720" rIns="91440" bIns="45720" anchor="ctr"/>
          <a:lstStyle/>
          <a:p>
            <a:pPr algn="l"/>
            <a:r>
              <a:rPr lang="en-US" sz="1100" dirty="0">
                <a:solidFill>
                  <a:srgbClr val="3D3D3D"/>
                </a:solidFill>
                <a:latin typeface="BIZ UDPゴシック"/>
                <a:ea typeface="BIZ UDPゴシック"/>
              </a:rPr>
              <a:t>dteday から生成可能な
基本的な日付属性</a:t>
            </a:r>
          </a:p>
        </p:txBody>
      </p:sp>
      <p:sp>
        <p:nvSpPr>
          <p:cNvPr id="17" name="S17"/>
          <p:cNvSpPr/>
          <p:nvPr/>
        </p:nvSpPr>
        <p:spPr>
          <a:xfrm>
            <a:off x="457200" y="4445000"/>
            <a:ext cx="1524000" cy="6096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気象要因</a:t>
            </a:r>
          </a:p>
        </p:txBody>
      </p:sp>
      <p:sp>
        <p:nvSpPr>
          <p:cNvPr id="18" name="S18"/>
          <p:cNvSpPr/>
          <p:nvPr/>
        </p:nvSpPr>
        <p:spPr>
          <a:xfrm>
            <a:off x="2044700" y="4445000"/>
            <a:ext cx="4000500" cy="609600"/>
          </a:xfrm>
          <a:prstGeom prst="rect">
            <a:avLst/>
          </a:prstGeom>
          <a:solidFill>
            <a:srgbClr val="F2F0ED"/>
          </a:solidFill>
          <a:ln>
            <a:noFill/>
          </a:ln>
        </p:spPr>
        <p:txBody>
          <a:bodyPr wrap="square" lIns="91440" tIns="45720" rIns="91440" bIns="45720" anchor="ctr"/>
          <a:lstStyle/>
          <a:p>
            <a:pPr algn="l"/>
            <a:r>
              <a:rPr lang="en-US" sz="1100" dirty="0">
                <a:solidFill>
                  <a:srgbClr val="3D3D3D"/>
                </a:solidFill>
                <a:latin typeface="BIZ UDPゴシック"/>
                <a:ea typeface="BIZ UDPゴシック"/>
              </a:rPr>
              <a:t>weathersit, temp, atemp,
hum, windspeed</a:t>
            </a:r>
          </a:p>
        </p:txBody>
      </p:sp>
      <p:sp>
        <p:nvSpPr>
          <p:cNvPr id="30" name="S30"/>
          <p:cNvSpPr/>
          <p:nvPr/>
        </p:nvSpPr>
        <p:spPr>
          <a:xfrm>
            <a:off x="6223000" y="1841500"/>
            <a:ext cx="5588000" cy="406400"/>
          </a:xfrm>
          <a:prstGeom prst="rect">
            <a:avLst/>
          </a:prstGeom>
          <a:solidFill>
            <a:srgbClr val="4A4A4A"/>
          </a:solidFill>
          <a:ln>
            <a:noFill/>
          </a:ln>
        </p:spPr>
        <p:txBody>
          <a:bodyPr wrap="square" lIns="91440" tIns="45720" rIns="91440" bIns="45720" anchor="ctr"/>
          <a:lstStyle/>
          <a:p>
            <a:pPr algn="l"/>
            <a:r>
              <a:rPr lang="ja-JP" sz="1400" b="1" dirty="0">
                <a:solidFill>
                  <a:srgbClr val="FFFFFF"/>
                </a:solidFill>
                <a:latin typeface="BIZ UDPゴシック"/>
                <a:ea typeface="BIZ UDPゴシック"/>
              </a:rPr>
              <a:t>4.4 モデル構築・評価フロー</a:t>
            </a:r>
          </a:p>
        </p:txBody>
      </p:sp>
      <p:sp>
        <p:nvSpPr>
          <p:cNvPr id="31" name="N0"/>
          <p:cNvSpPr/>
          <p:nvPr/>
        </p:nvSpPr>
        <p:spPr>
          <a:xfrm>
            <a:off x="6286500" y="2413000"/>
            <a:ext cx="355600" cy="355600"/>
          </a:xfrm>
          <a:prstGeom prst="ellipse">
            <a:avLst/>
          </a:prstGeom>
          <a:solidFill>
            <a:srgbClr val="8B2500"/>
          </a:solidFill>
          <a:ln>
            <a:noFill/>
          </a:ln>
        </p:spPr>
        <p:txBody>
          <a:bodyPr wrap="none" lIns="0" tIns="0" rIns="0" bIns="0" anchor="ctr"/>
          <a:lstStyle/>
          <a:p>
            <a:pPr algn="ctr"/>
            <a:r>
              <a:rPr lang="ja-JP" sz="1400" b="1" dirty="0">
                <a:solidFill>
                  <a:srgbClr val="FFFFFF"/>
                </a:solidFill>
                <a:latin typeface="BIZ UDPゴシック"/>
                <a:ea typeface="BIZ UDPゴシック"/>
              </a:rPr>
              <a:t>1</a:t>
            </a:r>
          </a:p>
        </p:txBody>
      </p:sp>
      <p:sp>
        <p:nvSpPr>
          <p:cNvPr id="32" name="S32"/>
          <p:cNvSpPr/>
          <p:nvPr/>
        </p:nvSpPr>
        <p:spPr>
          <a:xfrm>
            <a:off x="6731000" y="2349500"/>
            <a:ext cx="5016500" cy="444500"/>
          </a:xfrm>
          <a:prstGeom prst="rect">
            <a:avLst/>
          </a:prstGeom>
          <a:noFill/>
          <a:ln>
            <a:noFill/>
          </a:ln>
        </p:spPr>
        <p:txBody>
          <a:bodyPr wrap="square" lIns="91440" tIns="45720" rIns="91440" bIns="45720" anchor="ctr"/>
          <a:lstStyle/>
          <a:p>
            <a:pPr algn="l"/>
            <a:r>
              <a:rPr lang="ja-JP" sz="1100" dirty="0">
                <a:solidFill>
                  <a:srgbClr val="3D3D3D"/>
                </a:solidFill>
                <a:latin typeface="BIZ UDPゴシック"/>
                <a:ea typeface="BIZ UDPゴシック"/>
              </a:rPr>
              <a:t>ベースラインモデルを構築し、予測可能性を確認</a:t>
            </a:r>
          </a:p>
        </p:txBody>
      </p:sp>
      <p:sp>
        <p:nvSpPr>
          <p:cNvPr id="33" name="N1"/>
          <p:cNvSpPr/>
          <p:nvPr/>
        </p:nvSpPr>
        <p:spPr>
          <a:xfrm>
            <a:off x="6286500" y="2946400"/>
            <a:ext cx="355600" cy="355600"/>
          </a:xfrm>
          <a:prstGeom prst="ellipse">
            <a:avLst/>
          </a:prstGeom>
          <a:solidFill>
            <a:srgbClr val="8B2500"/>
          </a:solidFill>
          <a:ln>
            <a:noFill/>
          </a:ln>
        </p:spPr>
        <p:txBody>
          <a:bodyPr wrap="none" lIns="0" tIns="0" rIns="0" bIns="0" anchor="ctr"/>
          <a:lstStyle/>
          <a:p>
            <a:pPr algn="ctr"/>
            <a:r>
              <a:rPr lang="ja-JP" sz="1400" b="1" dirty="0">
                <a:solidFill>
                  <a:srgbClr val="FFFFFF"/>
                </a:solidFill>
                <a:latin typeface="BIZ UDPゴシック"/>
                <a:ea typeface="BIZ UDPゴシック"/>
              </a:rPr>
              <a:t>2</a:t>
            </a:r>
          </a:p>
        </p:txBody>
      </p:sp>
      <p:sp>
        <p:nvSpPr>
          <p:cNvPr id="34" name="S34"/>
          <p:cNvSpPr/>
          <p:nvPr/>
        </p:nvSpPr>
        <p:spPr>
          <a:xfrm>
            <a:off x="6731000" y="2882900"/>
            <a:ext cx="5016500" cy="444500"/>
          </a:xfrm>
          <a:prstGeom prst="rect">
            <a:avLst/>
          </a:prstGeom>
          <a:noFill/>
          <a:ln>
            <a:noFill/>
          </a:ln>
        </p:spPr>
        <p:txBody>
          <a:bodyPr wrap="square" lIns="91440" tIns="45720" rIns="91440" bIns="45720" anchor="ctr"/>
          <a:lstStyle/>
          <a:p>
            <a:pPr algn="l"/>
            <a:r>
              <a:rPr lang="ja-JP" sz="1100" dirty="0">
                <a:solidFill>
                  <a:srgbClr val="3D3D3D"/>
                </a:solidFill>
                <a:latin typeface="BIZ UDPゴシック"/>
                <a:ea typeface="BIZ UDPゴシック"/>
              </a:rPr>
              <a:t>改善候補モデルを構築し、精度および解釈性を比較</a:t>
            </a:r>
          </a:p>
        </p:txBody>
      </p:sp>
      <p:sp>
        <p:nvSpPr>
          <p:cNvPr id="35" name="N2"/>
          <p:cNvSpPr/>
          <p:nvPr/>
        </p:nvSpPr>
        <p:spPr>
          <a:xfrm>
            <a:off x="6286500" y="3479800"/>
            <a:ext cx="355600" cy="355600"/>
          </a:xfrm>
          <a:prstGeom prst="ellipse">
            <a:avLst/>
          </a:prstGeom>
          <a:solidFill>
            <a:srgbClr val="8B2500"/>
          </a:solidFill>
          <a:ln>
            <a:noFill/>
          </a:ln>
        </p:spPr>
        <p:txBody>
          <a:bodyPr wrap="none" lIns="0" tIns="0" rIns="0" bIns="0" anchor="ctr"/>
          <a:lstStyle/>
          <a:p>
            <a:pPr algn="ctr"/>
            <a:r>
              <a:rPr lang="ja-JP" sz="1400" b="1" dirty="0">
                <a:solidFill>
                  <a:srgbClr val="FFFFFF"/>
                </a:solidFill>
                <a:latin typeface="BIZ UDPゴシック"/>
                <a:ea typeface="BIZ UDPゴシック"/>
              </a:rPr>
              <a:t>3</a:t>
            </a:r>
          </a:p>
        </p:txBody>
      </p:sp>
      <p:sp>
        <p:nvSpPr>
          <p:cNvPr id="36" name="S36"/>
          <p:cNvSpPr/>
          <p:nvPr/>
        </p:nvSpPr>
        <p:spPr>
          <a:xfrm>
            <a:off x="6731000" y="3416300"/>
            <a:ext cx="5016500" cy="444500"/>
          </a:xfrm>
          <a:prstGeom prst="rect">
            <a:avLst/>
          </a:prstGeom>
          <a:noFill/>
          <a:ln>
            <a:noFill/>
          </a:ln>
        </p:spPr>
        <p:txBody>
          <a:bodyPr wrap="square" lIns="91440" tIns="45720" rIns="91440" bIns="45720" anchor="ctr"/>
          <a:lstStyle/>
          <a:p>
            <a:pPr algn="l"/>
            <a:r>
              <a:rPr lang="ja-JP" sz="1100" dirty="0">
                <a:solidFill>
                  <a:srgbClr val="3D3D3D"/>
                </a:solidFill>
                <a:latin typeface="BIZ UDPゴシック"/>
                <a:ea typeface="BIZ UDPゴシック"/>
              </a:rPr>
              <a:t>評価結果を定量的に整理し、差分を報告</a:t>
            </a:r>
          </a:p>
        </p:txBody>
      </p:sp>
      <p:sp>
        <p:nvSpPr>
          <p:cNvPr id="37" name="N3"/>
          <p:cNvSpPr/>
          <p:nvPr/>
        </p:nvSpPr>
        <p:spPr>
          <a:xfrm>
            <a:off x="6286500" y="4013200"/>
            <a:ext cx="355600" cy="355600"/>
          </a:xfrm>
          <a:prstGeom prst="ellipse">
            <a:avLst/>
          </a:prstGeom>
          <a:solidFill>
            <a:srgbClr val="8B2500"/>
          </a:solidFill>
          <a:ln>
            <a:noFill/>
          </a:ln>
        </p:spPr>
        <p:txBody>
          <a:bodyPr wrap="none" lIns="0" tIns="0" rIns="0" bIns="0" anchor="ctr"/>
          <a:lstStyle/>
          <a:p>
            <a:pPr algn="ctr"/>
            <a:r>
              <a:rPr lang="ja-JP" sz="1400" b="1" dirty="0">
                <a:solidFill>
                  <a:srgbClr val="FFFFFF"/>
                </a:solidFill>
                <a:latin typeface="BIZ UDPゴシック"/>
                <a:ea typeface="BIZ UDPゴシック"/>
              </a:rPr>
              <a:t>4</a:t>
            </a:r>
          </a:p>
        </p:txBody>
      </p:sp>
      <p:sp>
        <p:nvSpPr>
          <p:cNvPr id="38" name="S38"/>
          <p:cNvSpPr/>
          <p:nvPr/>
        </p:nvSpPr>
        <p:spPr>
          <a:xfrm>
            <a:off x="6731000" y="3949700"/>
            <a:ext cx="5016500" cy="444500"/>
          </a:xfrm>
          <a:prstGeom prst="rect">
            <a:avLst/>
          </a:prstGeom>
          <a:noFill/>
          <a:ln>
            <a:noFill/>
          </a:ln>
        </p:spPr>
        <p:txBody>
          <a:bodyPr wrap="square" lIns="91440" tIns="45720" rIns="91440" bIns="45720" anchor="ctr"/>
          <a:lstStyle/>
          <a:p>
            <a:pPr algn="l"/>
            <a:r>
              <a:rPr lang="ja-JP" sz="1100" dirty="0">
                <a:solidFill>
                  <a:srgbClr val="3D3D3D"/>
                </a:solidFill>
                <a:latin typeface="BIZ UDPゴシック"/>
                <a:ea typeface="BIZ UDPゴシック"/>
              </a:rPr>
              <a:t>重要因子分析を通じて、需要変動の主要因を解釈</a:t>
            </a:r>
          </a:p>
        </p:txBody>
      </p:sp>
      <p:sp>
        <p:nvSpPr>
          <p:cNvPr id="39" name="N4"/>
          <p:cNvSpPr/>
          <p:nvPr/>
        </p:nvSpPr>
        <p:spPr>
          <a:xfrm>
            <a:off x="6286500" y="4546600"/>
            <a:ext cx="355600" cy="355600"/>
          </a:xfrm>
          <a:prstGeom prst="ellipse">
            <a:avLst/>
          </a:prstGeom>
          <a:solidFill>
            <a:srgbClr val="8B2500"/>
          </a:solidFill>
          <a:ln>
            <a:noFill/>
          </a:ln>
        </p:spPr>
        <p:txBody>
          <a:bodyPr wrap="none" lIns="0" tIns="0" rIns="0" bIns="0" anchor="ctr"/>
          <a:lstStyle/>
          <a:p>
            <a:pPr algn="ctr"/>
            <a:r>
              <a:rPr lang="ja-JP" sz="1400" b="1" dirty="0">
                <a:solidFill>
                  <a:srgbClr val="FFFFFF"/>
                </a:solidFill>
                <a:latin typeface="BIZ UDPゴシック"/>
                <a:ea typeface="BIZ UDPゴシック"/>
              </a:rPr>
              <a:t>5</a:t>
            </a:r>
          </a:p>
        </p:txBody>
      </p:sp>
      <p:sp>
        <p:nvSpPr>
          <p:cNvPr id="40" name="S40"/>
          <p:cNvSpPr/>
          <p:nvPr/>
        </p:nvSpPr>
        <p:spPr>
          <a:xfrm>
            <a:off x="6731000" y="4483100"/>
            <a:ext cx="5016500" cy="444500"/>
          </a:xfrm>
          <a:prstGeom prst="rect">
            <a:avLst/>
          </a:prstGeom>
          <a:noFill/>
          <a:ln>
            <a:noFill/>
          </a:ln>
        </p:spPr>
        <p:txBody>
          <a:bodyPr wrap="square" lIns="91440" tIns="45720" rIns="91440" bIns="45720" anchor="ctr"/>
          <a:lstStyle/>
          <a:p>
            <a:pPr algn="l"/>
            <a:r>
              <a:rPr lang="ja-JP" sz="1100" dirty="0">
                <a:solidFill>
                  <a:srgbClr val="3D3D3D"/>
                </a:solidFill>
                <a:latin typeface="BIZ UDPゴシック"/>
                <a:ea typeface="BIZ UDPゴシック"/>
              </a:rPr>
              <a:t>時間帯別・曜日別・天候別の需要傾向を可視化</a:t>
            </a:r>
          </a:p>
        </p:txBody>
      </p:sp>
      <p:sp>
        <p:nvSpPr>
          <p:cNvPr id="50" name="S50"/>
          <p:cNvSpPr/>
          <p:nvPr/>
        </p:nvSpPr>
        <p:spPr>
          <a:xfrm>
            <a:off x="457200" y="5334000"/>
            <a:ext cx="11277600" cy="825500"/>
          </a:xfrm>
          <a:prstGeom prst="roundRect">
            <a:avLst/>
          </a:prstGeom>
          <a:solidFill>
            <a:srgbClr val="F2F0ED"/>
          </a:solidFill>
          <a:ln>
            <a:noFill/>
          </a:ln>
        </p:spPr>
        <p:txBody>
          <a:bodyPr wrap="square" lIns="91440" tIns="45720" rIns="91440" bIns="45720" anchor="ctr"/>
          <a:lstStyle/>
          <a:p>
            <a:pPr algn="ctr"/>
            <a:r>
              <a:rPr lang="ja-JP" sz="1100" b="1" dirty="0">
                <a:solidFill>
                  <a:srgbClr val="8B2500"/>
                </a:solidFill>
                <a:latin typeface="BIZ UDPゴシック"/>
                <a:ea typeface="BIZ UDPゴシック"/>
              </a:rPr>
              <a:t>評価方針：</a:t>
            </a:r>
            <a:r>
              <a:rPr lang="ja-JP" sz="1100" dirty="0">
                <a:solidFill>
                  <a:srgbClr val="3D3D3D"/>
                </a:solidFill>
                <a:latin typeface="BIZ UDPゴシック"/>
                <a:ea typeface="BIZ UDPゴシック"/>
              </a:rPr>
              <a:t>単一の精度指標のみではなく、ベースラインとの差分、需要傾向の説明可能性、業務活用上の妥当性を合わせて確認する</a:t>
            </a:r>
          </a:p>
          <a:p>
            <a:pPr algn="ctr">
              <a:spcBef>
                <a:spcPts val="200"/>
              </a:spcBef>
            </a:pPr>
            <a:r>
              <a:rPr lang="ja-JP" sz="1000" dirty="0">
                <a:solidFill>
                  <a:srgbClr val="7A7A7A"/>
                </a:solidFill>
                <a:latin typeface="BIZ UDPゴシック"/>
                <a:ea typeface="BIZ UDPゴシック"/>
              </a:rPr>
              <a:t>※ ドメイン固有の高度な手作業特徴量や未提供データを前提とした派生変数は本スコープに含めない</a:t>
            </a:r>
          </a:p>
        </p:txBody>
      </p:sp>
      <p:sp>
        <p:nvSpPr>
          <p:cNvPr id="3" name="PageNumber">
            <a:extLst>
              <a:ext uri="{FF2B5EF4-FFF2-40B4-BE49-F238E27FC236}">
                <a16:creationId xmlns:a16="http://schemas.microsoft.com/office/drawing/2014/main" id="{1CAA030C-5D59-4C4F-899F-67D968F3004C}"/>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8</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3418049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72F235-B538-FE9C-EB5E-4E4571F16397}"/>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4.5 業務接続の進め方</a:t>
            </a:r>
          </a:p>
        </p:txBody>
      </p:sp>
      <p:sp>
        <p:nvSpPr>
          <p:cNvPr id="10" name="S10"/>
          <p:cNvSpPr/>
          <p:nvPr/>
        </p:nvSpPr>
        <p:spPr>
          <a:xfrm>
            <a:off x="457200" y="1778000"/>
            <a:ext cx="11277600" cy="317500"/>
          </a:xfrm>
          <a:prstGeom prst="rect">
            <a:avLst/>
          </a:prstGeom>
          <a:noFill/>
          <a:ln>
            <a:noFill/>
          </a:ln>
        </p:spPr>
        <p:txBody>
          <a:bodyPr wrap="square" lIns="91440" tIns="45720" rIns="91440" bIns="45720" anchor="ctr"/>
          <a:lstStyle/>
          <a:p>
            <a:pPr algn="l"/>
            <a:r>
              <a:rPr lang="ja-JP" sz="1200" dirty="0">
                <a:solidFill>
                  <a:srgbClr val="4A4A4A"/>
                </a:solidFill>
                <a:latin typeface="BIZ UDPゴシック"/>
                <a:ea typeface="BIZ UDPゴシック"/>
              </a:rPr>
              <a:t>分析結果は単なる精度報告にとどめず、以下の観点で業務接続する</a:t>
            </a:r>
          </a:p>
        </p:txBody>
      </p:sp>
      <p:sp>
        <p:nvSpPr>
          <p:cNvPr id="20" name="S20"/>
          <p:cNvSpPr/>
          <p:nvPr/>
        </p:nvSpPr>
        <p:spPr>
          <a:xfrm>
            <a:off x="4572000" y="2222500"/>
            <a:ext cx="3048000" cy="635000"/>
          </a:xfrm>
          <a:prstGeom prst="roundRect">
            <a:avLst/>
          </a:prstGeom>
          <a:solidFill>
            <a:srgbClr val="8B2500"/>
          </a:solidFill>
          <a:ln>
            <a:noFill/>
          </a:ln>
        </p:spPr>
        <p:txBody>
          <a:bodyPr wrap="square" lIns="91440" tIns="45720" rIns="91440" bIns="45720" anchor="ctr"/>
          <a:lstStyle/>
          <a:p>
            <a:pPr algn="ctr"/>
            <a:r>
              <a:rPr lang="ja-JP" sz="1600" b="1" dirty="0">
                <a:solidFill>
                  <a:srgbClr val="FFFFFF"/>
                </a:solidFill>
                <a:latin typeface="BIZ UDPゴシック"/>
                <a:ea typeface="BIZ UDPゴシック"/>
              </a:rPr>
              <a:t>分析結果</a:t>
            </a:r>
          </a:p>
        </p:txBody>
      </p:sp>
      <p:sp>
        <p:nvSpPr>
          <p:cNvPr id="30" name="S30"/>
          <p:cNvSpPr/>
          <p:nvPr/>
        </p:nvSpPr>
        <p:spPr>
          <a:xfrm>
            <a:off x="457200" y="3429000"/>
            <a:ext cx="2159000" cy="635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需要ピーク
時間帯の把握</a:t>
            </a:r>
          </a:p>
        </p:txBody>
      </p:sp>
      <p:sp>
        <p:nvSpPr>
          <p:cNvPr id="40" name="S40"/>
          <p:cNvSpPr/>
          <p:nvPr/>
        </p:nvSpPr>
        <p:spPr>
          <a:xfrm>
            <a:off x="457200" y="4191000"/>
            <a:ext cx="2159000" cy="1016000"/>
          </a:xfrm>
          <a:prstGeom prst="rect">
            <a:avLst/>
          </a:prstGeom>
          <a:solidFill>
            <a:srgbClr val="F2F0ED"/>
          </a:solidFill>
          <a:ln>
            <a:noFill/>
          </a:ln>
        </p:spPr>
        <p:txBody>
          <a:bodyPr wrap="square" lIns="91440" tIns="45720" rIns="91440" bIns="45720" anchor="ctr"/>
          <a:lstStyle/>
          <a:p>
            <a:pPr algn="ctr"/>
            <a:r>
              <a:rPr lang="ja-JP" sz="1000" dirty="0">
                <a:solidFill>
                  <a:srgbClr val="3D3D3D"/>
                </a:solidFill>
                <a:latin typeface="BIZ UDPゴシック"/>
                <a:ea typeface="BIZ UDPゴシック"/>
              </a:rPr>
              <a:t>ピーク時間帯を特定し、
リソース配分の判断材料とする</a:t>
            </a:r>
          </a:p>
        </p:txBody>
      </p:sp>
      <p:sp>
        <p:nvSpPr>
          <p:cNvPr id="50" name="Arr0"/>
          <p:cNvSpPr/>
          <p:nvPr/>
        </p:nvSpPr>
        <p:spPr>
          <a:xfrm>
            <a:off x="1460500" y="2946400"/>
            <a:ext cx="177800" cy="381000"/>
          </a:xfrm>
          <a:prstGeom prst="downArrow">
            <a:avLst/>
          </a:prstGeom>
          <a:solidFill>
            <a:srgbClr val="8B2500">
              <a:alpha val="40000"/>
            </a:srgbClr>
          </a:solidFill>
          <a:ln>
            <a:noFill/>
          </a:ln>
        </p:spPr>
        <p:txBody>
          <a:bodyPr/>
          <a:lstStyle/>
          <a:p>
            <a:endParaRPr lang="ja-JP"/>
          </a:p>
        </p:txBody>
      </p:sp>
      <p:sp>
        <p:nvSpPr>
          <p:cNvPr id="31" name="S31"/>
          <p:cNvSpPr/>
          <p:nvPr/>
        </p:nvSpPr>
        <p:spPr>
          <a:xfrm>
            <a:off x="2730500" y="3429000"/>
            <a:ext cx="2159000" cy="635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外生要因の
影響整理</a:t>
            </a:r>
          </a:p>
        </p:txBody>
      </p:sp>
      <p:sp>
        <p:nvSpPr>
          <p:cNvPr id="41" name="S41"/>
          <p:cNvSpPr/>
          <p:nvPr/>
        </p:nvSpPr>
        <p:spPr>
          <a:xfrm>
            <a:off x="2730500" y="4191000"/>
            <a:ext cx="2159000" cy="1016000"/>
          </a:xfrm>
          <a:prstGeom prst="rect">
            <a:avLst/>
          </a:prstGeom>
          <a:solidFill>
            <a:srgbClr val="F2F0ED"/>
          </a:solidFill>
          <a:ln>
            <a:noFill/>
          </a:ln>
        </p:spPr>
        <p:txBody>
          <a:bodyPr wrap="square" lIns="91440" tIns="45720" rIns="91440" bIns="45720" anchor="ctr"/>
          <a:lstStyle/>
          <a:p>
            <a:pPr algn="ctr"/>
            <a:r>
              <a:rPr lang="ja-JP" sz="1000" dirty="0">
                <a:solidFill>
                  <a:srgbClr val="3D3D3D"/>
                </a:solidFill>
                <a:latin typeface="BIZ UDPゴシック"/>
                <a:ea typeface="BIZ UDPゴシック"/>
              </a:rPr>
              <a:t>天候・季節等の需要増減
要因を体系的に整理する</a:t>
            </a:r>
          </a:p>
        </p:txBody>
      </p:sp>
      <p:sp>
        <p:nvSpPr>
          <p:cNvPr id="51" name="Arr1"/>
          <p:cNvSpPr/>
          <p:nvPr/>
        </p:nvSpPr>
        <p:spPr>
          <a:xfrm>
            <a:off x="3733800" y="2946400"/>
            <a:ext cx="177800" cy="381000"/>
          </a:xfrm>
          <a:prstGeom prst="downArrow">
            <a:avLst/>
          </a:prstGeom>
          <a:solidFill>
            <a:srgbClr val="8B2500">
              <a:alpha val="40000"/>
            </a:srgbClr>
          </a:solidFill>
          <a:ln>
            <a:noFill/>
          </a:ln>
        </p:spPr>
        <p:txBody>
          <a:bodyPr/>
          <a:lstStyle/>
          <a:p>
            <a:endParaRPr lang="ja-JP"/>
          </a:p>
        </p:txBody>
      </p:sp>
      <p:sp>
        <p:nvSpPr>
          <p:cNvPr id="32" name="S32"/>
          <p:cNvSpPr/>
          <p:nvPr/>
        </p:nvSpPr>
        <p:spPr>
          <a:xfrm>
            <a:off x="5003800" y="3429000"/>
            <a:ext cx="2159000" cy="635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アセット配分
最適化示唆</a:t>
            </a:r>
          </a:p>
        </p:txBody>
      </p:sp>
      <p:sp>
        <p:nvSpPr>
          <p:cNvPr id="42" name="S42"/>
          <p:cNvSpPr/>
          <p:nvPr/>
        </p:nvSpPr>
        <p:spPr>
          <a:xfrm>
            <a:off x="5003800" y="4191000"/>
            <a:ext cx="2159000" cy="1016000"/>
          </a:xfrm>
          <a:prstGeom prst="rect">
            <a:avLst/>
          </a:prstGeom>
          <a:solidFill>
            <a:srgbClr val="F2F0ED"/>
          </a:solidFill>
          <a:ln>
            <a:noFill/>
          </a:ln>
        </p:spPr>
        <p:txBody>
          <a:bodyPr wrap="square" lIns="91440" tIns="45720" rIns="91440" bIns="45720" anchor="ctr"/>
          <a:lstStyle/>
          <a:p>
            <a:pPr algn="ctr"/>
            <a:r>
              <a:rPr lang="ja-JP" sz="1000" dirty="0">
                <a:solidFill>
                  <a:srgbClr val="3D3D3D"/>
                </a:solidFill>
                <a:latin typeface="BIZ UDPゴシック"/>
                <a:ea typeface="BIZ UDPゴシック"/>
              </a:rPr>
              <a:t>車両配置の効率化に
向けた具体的示唆を提示する</a:t>
            </a:r>
          </a:p>
        </p:txBody>
      </p:sp>
      <p:sp>
        <p:nvSpPr>
          <p:cNvPr id="52" name="Arr2"/>
          <p:cNvSpPr/>
          <p:nvPr/>
        </p:nvSpPr>
        <p:spPr>
          <a:xfrm>
            <a:off x="6007100" y="2946400"/>
            <a:ext cx="177800" cy="381000"/>
          </a:xfrm>
          <a:prstGeom prst="downArrow">
            <a:avLst/>
          </a:prstGeom>
          <a:solidFill>
            <a:srgbClr val="8B2500">
              <a:alpha val="40000"/>
            </a:srgbClr>
          </a:solidFill>
          <a:ln>
            <a:noFill/>
          </a:ln>
        </p:spPr>
        <p:txBody>
          <a:bodyPr/>
          <a:lstStyle/>
          <a:p>
            <a:endParaRPr lang="ja-JP"/>
          </a:p>
        </p:txBody>
      </p:sp>
      <p:sp>
        <p:nvSpPr>
          <p:cNvPr id="33" name="S33"/>
          <p:cNvSpPr/>
          <p:nvPr/>
        </p:nvSpPr>
        <p:spPr>
          <a:xfrm>
            <a:off x="7277100" y="3429000"/>
            <a:ext cx="2159000" cy="635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サービス可用性
改善材料</a:t>
            </a:r>
          </a:p>
        </p:txBody>
      </p:sp>
      <p:sp>
        <p:nvSpPr>
          <p:cNvPr id="43" name="S43"/>
          <p:cNvSpPr/>
          <p:nvPr/>
        </p:nvSpPr>
        <p:spPr>
          <a:xfrm>
            <a:off x="7277100" y="4191000"/>
            <a:ext cx="2159000" cy="1016000"/>
          </a:xfrm>
          <a:prstGeom prst="rect">
            <a:avLst/>
          </a:prstGeom>
          <a:solidFill>
            <a:srgbClr val="F2F0ED"/>
          </a:solidFill>
          <a:ln>
            <a:noFill/>
          </a:ln>
        </p:spPr>
        <p:txBody>
          <a:bodyPr wrap="square" lIns="91440" tIns="45720" rIns="91440" bIns="45720" anchor="ctr"/>
          <a:lstStyle/>
          <a:p>
            <a:pPr algn="ctr"/>
            <a:r>
              <a:rPr lang="ja-JP" sz="1000" dirty="0">
                <a:solidFill>
                  <a:srgbClr val="3D3D3D"/>
                </a:solidFill>
                <a:latin typeface="BIZ UDPゴシック"/>
                <a:ea typeface="BIZ UDPゴシック"/>
              </a:rPr>
              <a:t>需要予測に基づく
サービス改善の方向性を示す</a:t>
            </a:r>
          </a:p>
        </p:txBody>
      </p:sp>
      <p:sp>
        <p:nvSpPr>
          <p:cNvPr id="53" name="Arr3"/>
          <p:cNvSpPr/>
          <p:nvPr/>
        </p:nvSpPr>
        <p:spPr>
          <a:xfrm>
            <a:off x="8280400" y="2946400"/>
            <a:ext cx="177800" cy="381000"/>
          </a:xfrm>
          <a:prstGeom prst="downArrow">
            <a:avLst/>
          </a:prstGeom>
          <a:solidFill>
            <a:srgbClr val="8B2500">
              <a:alpha val="40000"/>
            </a:srgbClr>
          </a:solidFill>
          <a:ln>
            <a:noFill/>
          </a:ln>
        </p:spPr>
        <p:txBody>
          <a:bodyPr/>
          <a:lstStyle/>
          <a:p>
            <a:endParaRPr lang="ja-JP"/>
          </a:p>
        </p:txBody>
      </p:sp>
      <p:sp>
        <p:nvSpPr>
          <p:cNvPr id="34" name="S34"/>
          <p:cNvSpPr/>
          <p:nvPr/>
        </p:nvSpPr>
        <p:spPr>
          <a:xfrm>
            <a:off x="9550400" y="3429000"/>
            <a:ext cx="2159000" cy="635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追加データ
優先順位付</a:t>
            </a:r>
          </a:p>
        </p:txBody>
      </p:sp>
      <p:sp>
        <p:nvSpPr>
          <p:cNvPr id="44" name="S44"/>
          <p:cNvSpPr/>
          <p:nvPr/>
        </p:nvSpPr>
        <p:spPr>
          <a:xfrm>
            <a:off x="9550400" y="4191000"/>
            <a:ext cx="2159000" cy="1016000"/>
          </a:xfrm>
          <a:prstGeom prst="rect">
            <a:avLst/>
          </a:prstGeom>
          <a:solidFill>
            <a:srgbClr val="F2F0ED"/>
          </a:solidFill>
          <a:ln>
            <a:noFill/>
          </a:ln>
        </p:spPr>
        <p:txBody>
          <a:bodyPr wrap="square" lIns="91440" tIns="45720" rIns="91440" bIns="45720" anchor="ctr"/>
          <a:lstStyle/>
          <a:p>
            <a:pPr algn="ctr"/>
            <a:r>
              <a:rPr lang="ja-JP" sz="1000" dirty="0">
                <a:solidFill>
                  <a:srgbClr val="3D3D3D"/>
                </a:solidFill>
                <a:latin typeface="BIZ UDPゴシック"/>
                <a:ea typeface="BIZ UDPゴシック"/>
              </a:rPr>
              <a:t>次フェーズで取得すべき
データ項目を優先度付きで整理する</a:t>
            </a:r>
          </a:p>
        </p:txBody>
      </p:sp>
      <p:sp>
        <p:nvSpPr>
          <p:cNvPr id="54" name="Arr4"/>
          <p:cNvSpPr/>
          <p:nvPr/>
        </p:nvSpPr>
        <p:spPr>
          <a:xfrm>
            <a:off x="10553700" y="2946400"/>
            <a:ext cx="177800" cy="381000"/>
          </a:xfrm>
          <a:prstGeom prst="downArrow">
            <a:avLst/>
          </a:prstGeom>
          <a:solidFill>
            <a:srgbClr val="8B2500">
              <a:alpha val="40000"/>
            </a:srgbClr>
          </a:solidFill>
          <a:ln>
            <a:noFill/>
          </a:ln>
        </p:spPr>
        <p:txBody>
          <a:bodyPr/>
          <a:lstStyle/>
          <a:p>
            <a:endParaRPr lang="ja-JP"/>
          </a:p>
        </p:txBody>
      </p:sp>
      <p:sp>
        <p:nvSpPr>
          <p:cNvPr id="3" name="PageNumber">
            <a:extLst>
              <a:ext uri="{FF2B5EF4-FFF2-40B4-BE49-F238E27FC236}">
                <a16:creationId xmlns:a16="http://schemas.microsoft.com/office/drawing/2014/main" id="{D754EA68-80EF-4EEA-B801-578DA78B963D}"/>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9</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1538291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457176-321B-0778-FEAF-43C4F3D7AC25}"/>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5. 実施体制</a:t>
            </a:r>
          </a:p>
        </p:txBody>
      </p:sp>
      <p:graphicFrame>
        <p:nvGraphicFramePr>
          <p:cNvPr id="4" name="表 3">
            <a:extLst>
              <a:ext uri="{FF2B5EF4-FFF2-40B4-BE49-F238E27FC236}">
                <a16:creationId xmlns:a16="http://schemas.microsoft.com/office/drawing/2014/main" id="{680D3C03-3612-4AEF-BC18-F93C5D2EAE4E}"/>
              </a:ext>
            </a:extLst>
          </p:cNvPr>
          <p:cNvGraphicFramePr>
            <a:graphicFrameLocks noGrp="1"/>
          </p:cNvGraphicFramePr>
          <p:nvPr>
            <p:extLst>
              <p:ext uri="{D42A27DB-BD31-4B8C-83A1-F6EECF244321}">
                <p14:modId xmlns:p14="http://schemas.microsoft.com/office/powerpoint/2010/main" val="311185578"/>
              </p:ext>
            </p:extLst>
          </p:nvPr>
        </p:nvGraphicFramePr>
        <p:xfrm>
          <a:off x="457200" y="2133600"/>
          <a:ext cx="6985000" cy="23469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622249916"/>
                    </a:ext>
                  </a:extLst>
                </a:gridCol>
                <a:gridCol w="1270000">
                  <a:extLst>
                    <a:ext uri="{9D8B030D-6E8A-4147-A177-3AD203B41FA5}">
                      <a16:colId xmlns:a16="http://schemas.microsoft.com/office/drawing/2014/main" val="323274603"/>
                    </a:ext>
                  </a:extLst>
                </a:gridCol>
                <a:gridCol w="3429000">
                  <a:extLst>
                    <a:ext uri="{9D8B030D-6E8A-4147-A177-3AD203B41FA5}">
                      <a16:colId xmlns:a16="http://schemas.microsoft.com/office/drawing/2014/main" val="2986575098"/>
                    </a:ext>
                  </a:extLst>
                </a:gridCol>
              </a:tblGrid>
              <a:tr h="279400">
                <a:tc>
                  <a:txBody>
                    <a:bodyPr/>
                    <a:lstStyle/>
                    <a:p>
                      <a:pPr algn="ctr"/>
                      <a:r>
                        <a:rPr lang="ja-JP" altLang="en-US" sz="1400" b="1">
                          <a:solidFill>
                            <a:srgbClr val="FFFFFF"/>
                          </a:solidFill>
                          <a:latin typeface="BIZ UDPゴシック"/>
                          <a:ea typeface="BIZ UDPゴシック"/>
                        </a:rPr>
                        <a:t>役割</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氏名</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主担当</a:t>
                      </a:r>
                    </a:p>
                  </a:txBody>
                  <a:tcPr anchor="ctr">
                    <a:solidFill>
                      <a:srgbClr val="8B2500"/>
                    </a:solidFill>
                  </a:tcPr>
                </a:tc>
                <a:extLst>
                  <a:ext uri="{0D108BD9-81ED-4DB2-BD59-A6C34878D82A}">
                    <a16:rowId xmlns:a16="http://schemas.microsoft.com/office/drawing/2014/main" val="191839582"/>
                  </a:ext>
                </a:extLst>
              </a:tr>
              <a:tr h="279400">
                <a:tc>
                  <a:txBody>
                    <a:bodyPr/>
                    <a:lstStyle/>
                    <a:p>
                      <a:pPr algn="l"/>
                      <a:r>
                        <a:rPr lang="ja-JP" altLang="en-US" sz="1400">
                          <a:solidFill>
                            <a:srgbClr val="3D3D3D"/>
                          </a:solidFill>
                          <a:latin typeface="BIZ UDPゴシック"/>
                          <a:ea typeface="BIZ UDPゴシック"/>
                        </a:rPr>
                        <a:t>エグゼクティブスポンサー</a:t>
                      </a:r>
                    </a:p>
                  </a:txBody>
                  <a:tcPr anchor="ctr">
                    <a:solidFill>
                      <a:srgbClr val="F2F0ED"/>
                    </a:solidFill>
                  </a:tcPr>
                </a:tc>
                <a:tc>
                  <a:txBody>
                    <a:bodyPr/>
                    <a:lstStyle/>
                    <a:p>
                      <a:pPr algn="l"/>
                      <a:r>
                        <a:rPr lang="ja-JP" altLang="en-US" sz="1400">
                          <a:solidFill>
                            <a:srgbClr val="3D3D3D"/>
                          </a:solidFill>
                          <a:latin typeface="BIZ UDPゴシック"/>
                          <a:ea typeface="BIZ UDPゴシック"/>
                        </a:rPr>
                        <a:t>中村 誠</a:t>
                      </a:r>
                    </a:p>
                  </a:txBody>
                  <a:tcPr anchor="ctr">
                    <a:solidFill>
                      <a:srgbClr val="F2F0ED"/>
                    </a:solidFill>
                  </a:tcPr>
                </a:tc>
                <a:tc>
                  <a:txBody>
                    <a:bodyPr/>
                    <a:lstStyle/>
                    <a:p>
                      <a:pPr algn="l"/>
                      <a:r>
                        <a:rPr lang="ja-JP" altLang="en-US" sz="1400">
                          <a:solidFill>
                            <a:srgbClr val="3D3D3D"/>
                          </a:solidFill>
                          <a:latin typeface="BIZ UDPゴシック"/>
                          <a:ea typeface="BIZ UDPゴシック"/>
                        </a:rPr>
                        <a:t>全体統括、重要意思決定支援</a:t>
                      </a:r>
                    </a:p>
                  </a:txBody>
                  <a:tcPr anchor="ctr">
                    <a:solidFill>
                      <a:srgbClr val="F2F0ED"/>
                    </a:solidFill>
                  </a:tcPr>
                </a:tc>
                <a:extLst>
                  <a:ext uri="{0D108BD9-81ED-4DB2-BD59-A6C34878D82A}">
                    <a16:rowId xmlns:a16="http://schemas.microsoft.com/office/drawing/2014/main" val="1744171259"/>
                  </a:ext>
                </a:extLst>
              </a:tr>
              <a:tr h="279400">
                <a:tc>
                  <a:txBody>
                    <a:bodyPr/>
                    <a:lstStyle/>
                    <a:p>
                      <a:pPr algn="l"/>
                      <a:r>
                        <a:rPr lang="ja-JP" altLang="en-US" sz="1400">
                          <a:solidFill>
                            <a:srgbClr val="3D3D3D"/>
                          </a:solidFill>
                          <a:latin typeface="BIZ UDPゴシック"/>
                          <a:ea typeface="BIZ UDPゴシック"/>
                        </a:rPr>
                        <a:t>プロジェクトマネージャー</a:t>
                      </a:r>
                    </a:p>
                  </a:txBody>
                  <a:tcPr anchor="ctr">
                    <a:solidFill>
                      <a:srgbClr val="FFFFFF"/>
                    </a:solidFill>
                  </a:tcPr>
                </a:tc>
                <a:tc>
                  <a:txBody>
                    <a:bodyPr/>
                    <a:lstStyle/>
                    <a:p>
                      <a:pPr algn="l"/>
                      <a:r>
                        <a:rPr lang="ja-JP" altLang="en-US" sz="1400">
                          <a:solidFill>
                            <a:srgbClr val="3D3D3D"/>
                          </a:solidFill>
                          <a:latin typeface="BIZ UDPゴシック"/>
                          <a:ea typeface="BIZ UDPゴシック"/>
                        </a:rPr>
                        <a:t>伊藤 翔太</a:t>
                      </a:r>
                    </a:p>
                  </a:txBody>
                  <a:tcPr anchor="ctr">
                    <a:solidFill>
                      <a:srgbClr val="FFFFFF"/>
                    </a:solidFill>
                  </a:tcPr>
                </a:tc>
                <a:tc>
                  <a:txBody>
                    <a:bodyPr/>
                    <a:lstStyle/>
                    <a:p>
                      <a:pPr algn="l"/>
                      <a:r>
                        <a:rPr lang="ja-JP" altLang="en-US" sz="1400">
                          <a:solidFill>
                            <a:srgbClr val="3D3D3D"/>
                          </a:solidFill>
                          <a:latin typeface="BIZ UDPゴシック"/>
                          <a:ea typeface="BIZ UDPゴシック"/>
                        </a:rPr>
                        <a:t>進行管理、課題管理、対外窓口</a:t>
                      </a:r>
                    </a:p>
                  </a:txBody>
                  <a:tcPr anchor="ctr">
                    <a:solidFill>
                      <a:srgbClr val="FFFFFF"/>
                    </a:solidFill>
                  </a:tcPr>
                </a:tc>
                <a:extLst>
                  <a:ext uri="{0D108BD9-81ED-4DB2-BD59-A6C34878D82A}">
                    <a16:rowId xmlns:a16="http://schemas.microsoft.com/office/drawing/2014/main" val="3716532702"/>
                  </a:ext>
                </a:extLst>
              </a:tr>
              <a:tr h="279400">
                <a:tc>
                  <a:txBody>
                    <a:bodyPr/>
                    <a:lstStyle/>
                    <a:p>
                      <a:pPr algn="l"/>
                      <a:r>
                        <a:rPr lang="ja-JP" altLang="en-US" sz="1400">
                          <a:solidFill>
                            <a:srgbClr val="3D3D3D"/>
                          </a:solidFill>
                          <a:latin typeface="BIZ UDPゴシック"/>
                          <a:ea typeface="BIZ UDPゴシック"/>
                        </a:rPr>
                        <a:t>リードデータサイエンティスト</a:t>
                      </a:r>
                    </a:p>
                  </a:txBody>
                  <a:tcPr anchor="ctr">
                    <a:solidFill>
                      <a:srgbClr val="F2F0ED"/>
                    </a:solidFill>
                  </a:tcPr>
                </a:tc>
                <a:tc>
                  <a:txBody>
                    <a:bodyPr/>
                    <a:lstStyle/>
                    <a:p>
                      <a:pPr algn="l"/>
                      <a:r>
                        <a:rPr lang="ja-JP" altLang="en-US" sz="1400">
                          <a:solidFill>
                            <a:srgbClr val="3D3D3D"/>
                          </a:solidFill>
                          <a:latin typeface="BIZ UDPゴシック"/>
                          <a:ea typeface="BIZ UDPゴシック"/>
                        </a:rPr>
                        <a:t>鈴木 美咲</a:t>
                      </a:r>
                    </a:p>
                  </a:txBody>
                  <a:tcPr anchor="ctr">
                    <a:solidFill>
                      <a:srgbClr val="F2F0ED"/>
                    </a:solidFill>
                  </a:tcPr>
                </a:tc>
                <a:tc>
                  <a:txBody>
                    <a:bodyPr/>
                    <a:lstStyle/>
                    <a:p>
                      <a:pPr algn="l"/>
                      <a:r>
                        <a:rPr lang="ja-JP" altLang="en-US" sz="1400">
                          <a:solidFill>
                            <a:srgbClr val="3D3D3D"/>
                          </a:solidFill>
                          <a:latin typeface="BIZ UDPゴシック"/>
                          <a:ea typeface="BIZ UDPゴシック"/>
                        </a:rPr>
                        <a:t>分析設計、モデル構築、結果解釈</a:t>
                      </a:r>
                    </a:p>
                  </a:txBody>
                  <a:tcPr anchor="ctr">
                    <a:solidFill>
                      <a:srgbClr val="F2F0ED"/>
                    </a:solidFill>
                  </a:tcPr>
                </a:tc>
                <a:extLst>
                  <a:ext uri="{0D108BD9-81ED-4DB2-BD59-A6C34878D82A}">
                    <a16:rowId xmlns:a16="http://schemas.microsoft.com/office/drawing/2014/main" val="3679854633"/>
                  </a:ext>
                </a:extLst>
              </a:tr>
              <a:tr h="279400">
                <a:tc>
                  <a:txBody>
                    <a:bodyPr/>
                    <a:lstStyle/>
                    <a:p>
                      <a:pPr algn="l"/>
                      <a:r>
                        <a:rPr lang="ja-JP" altLang="en-US" sz="1400">
                          <a:solidFill>
                            <a:srgbClr val="3D3D3D"/>
                          </a:solidFill>
                          <a:latin typeface="BIZ UDPゴシック"/>
                          <a:ea typeface="BIZ UDPゴシック"/>
                        </a:rPr>
                        <a:t>データエンジニア</a:t>
                      </a:r>
                    </a:p>
                  </a:txBody>
                  <a:tcPr anchor="ctr">
                    <a:solidFill>
                      <a:srgbClr val="FFFFFF"/>
                    </a:solidFill>
                  </a:tcPr>
                </a:tc>
                <a:tc>
                  <a:txBody>
                    <a:bodyPr/>
                    <a:lstStyle/>
                    <a:p>
                      <a:pPr algn="l"/>
                      <a:r>
                        <a:rPr lang="ja-JP" altLang="en-US" sz="1400">
                          <a:solidFill>
                            <a:srgbClr val="3D3D3D"/>
                          </a:solidFill>
                          <a:latin typeface="BIZ UDPゴシック"/>
                          <a:ea typeface="BIZ UDPゴシック"/>
                        </a:rPr>
                        <a:t>木村 拓海</a:t>
                      </a:r>
                    </a:p>
                  </a:txBody>
                  <a:tcPr anchor="ctr">
                    <a:solidFill>
                      <a:srgbClr val="FFFFFF"/>
                    </a:solidFill>
                  </a:tcPr>
                </a:tc>
                <a:tc>
                  <a:txBody>
                    <a:bodyPr/>
                    <a:lstStyle/>
                    <a:p>
                      <a:pPr algn="l"/>
                      <a:r>
                        <a:rPr lang="ja-JP" altLang="en-US" sz="1400">
                          <a:solidFill>
                            <a:srgbClr val="3D3D3D"/>
                          </a:solidFill>
                          <a:latin typeface="BIZ UDPゴシック"/>
                          <a:ea typeface="BIZ UDPゴシック"/>
                        </a:rPr>
                        <a:t>データ整備、前処理、分析実行環境整備</a:t>
                      </a:r>
                    </a:p>
                  </a:txBody>
                  <a:tcPr anchor="ctr">
                    <a:solidFill>
                      <a:srgbClr val="FFFFFF"/>
                    </a:solidFill>
                  </a:tcPr>
                </a:tc>
                <a:extLst>
                  <a:ext uri="{0D108BD9-81ED-4DB2-BD59-A6C34878D82A}">
                    <a16:rowId xmlns:a16="http://schemas.microsoft.com/office/drawing/2014/main" val="620460597"/>
                  </a:ext>
                </a:extLst>
              </a:tr>
              <a:tr h="279400">
                <a:tc>
                  <a:txBody>
                    <a:bodyPr/>
                    <a:lstStyle/>
                    <a:p>
                      <a:pPr algn="l"/>
                      <a:r>
                        <a:rPr lang="ja-JP" altLang="en-US" sz="1400">
                          <a:solidFill>
                            <a:srgbClr val="3D3D3D"/>
                          </a:solidFill>
                          <a:latin typeface="BIZ UDPゴシック"/>
                          <a:ea typeface="BIZ UDPゴシック"/>
                        </a:rPr>
                        <a:t>ビジネスアナリスト</a:t>
                      </a:r>
                    </a:p>
                  </a:txBody>
                  <a:tcPr anchor="ctr">
                    <a:solidFill>
                      <a:srgbClr val="F2F0ED"/>
                    </a:solidFill>
                  </a:tcPr>
                </a:tc>
                <a:tc>
                  <a:txBody>
                    <a:bodyPr/>
                    <a:lstStyle/>
                    <a:p>
                      <a:pPr algn="l"/>
                      <a:r>
                        <a:rPr lang="ja-JP" altLang="en-US" sz="1400">
                          <a:solidFill>
                            <a:srgbClr val="3D3D3D"/>
                          </a:solidFill>
                          <a:latin typeface="BIZ UDPゴシック"/>
                          <a:ea typeface="BIZ UDPゴシック"/>
                        </a:rPr>
                        <a:t>藤田 彩</a:t>
                      </a:r>
                    </a:p>
                  </a:txBody>
                  <a:tcPr anchor="ctr">
                    <a:solidFill>
                      <a:srgbClr val="F2F0ED"/>
                    </a:solidFill>
                  </a:tcPr>
                </a:tc>
                <a:tc>
                  <a:txBody>
                    <a:bodyPr/>
                    <a:lstStyle/>
                    <a:p>
                      <a:pPr algn="l"/>
                      <a:r>
                        <a:rPr lang="ja-JP" altLang="en-US" sz="1400">
                          <a:solidFill>
                            <a:srgbClr val="3D3D3D"/>
                          </a:solidFill>
                          <a:latin typeface="BIZ UDPゴシック"/>
                          <a:ea typeface="BIZ UDPゴシック"/>
                        </a:rPr>
                        <a:t>業務論点整理、示唆整理、報告資料作成</a:t>
                      </a:r>
                    </a:p>
                  </a:txBody>
                  <a:tcPr anchor="ctr">
                    <a:solidFill>
                      <a:srgbClr val="F2F0ED"/>
                    </a:solidFill>
                  </a:tcPr>
                </a:tc>
                <a:extLst>
                  <a:ext uri="{0D108BD9-81ED-4DB2-BD59-A6C34878D82A}">
                    <a16:rowId xmlns:a16="http://schemas.microsoft.com/office/drawing/2014/main" val="1249251125"/>
                  </a:ext>
                </a:extLst>
              </a:tr>
              <a:tr h="279400">
                <a:tc>
                  <a:txBody>
                    <a:bodyPr/>
                    <a:lstStyle/>
                    <a:p>
                      <a:pPr algn="l"/>
                      <a:r>
                        <a:rPr lang="ja-JP" altLang="en-US" sz="1400">
                          <a:solidFill>
                            <a:srgbClr val="3D3D3D"/>
                          </a:solidFill>
                          <a:latin typeface="BIZ UDPゴシック"/>
                          <a:ea typeface="BIZ UDPゴシック"/>
                        </a:rPr>
                        <a:t>QAレビューア</a:t>
                      </a:r>
                    </a:p>
                  </a:txBody>
                  <a:tcPr anchor="ctr">
                    <a:solidFill>
                      <a:srgbClr val="FFFFFF"/>
                    </a:solidFill>
                  </a:tcPr>
                </a:tc>
                <a:tc>
                  <a:txBody>
                    <a:bodyPr/>
                    <a:lstStyle/>
                    <a:p>
                      <a:pPr algn="l"/>
                      <a:r>
                        <a:rPr lang="ja-JP" altLang="en-US" sz="1400">
                          <a:solidFill>
                            <a:srgbClr val="3D3D3D"/>
                          </a:solidFill>
                          <a:latin typeface="BIZ UDPゴシック"/>
                          <a:ea typeface="BIZ UDPゴシック"/>
                        </a:rPr>
                        <a:t>池田 直哉</a:t>
                      </a:r>
                    </a:p>
                  </a:txBody>
                  <a:tcPr anchor="ctr">
                    <a:solidFill>
                      <a:srgbClr val="FFFFFF"/>
                    </a:solidFill>
                  </a:tcPr>
                </a:tc>
                <a:tc>
                  <a:txBody>
                    <a:bodyPr/>
                    <a:lstStyle/>
                    <a:p>
                      <a:pPr algn="l"/>
                      <a:r>
                        <a:rPr lang="ja-JP" altLang="en-US" sz="1400">
                          <a:solidFill>
                            <a:srgbClr val="3D3D3D"/>
                          </a:solidFill>
                          <a:latin typeface="BIZ UDPゴシック"/>
                          <a:ea typeface="BIZ UDPゴシック"/>
                        </a:rPr>
                        <a:t>成果物レビュー、整合性確認</a:t>
                      </a:r>
                    </a:p>
                  </a:txBody>
                  <a:tcPr anchor="ctr">
                    <a:solidFill>
                      <a:srgbClr val="FFFFFF"/>
                    </a:solidFill>
                  </a:tcPr>
                </a:tc>
                <a:extLst>
                  <a:ext uri="{0D108BD9-81ED-4DB2-BD59-A6C34878D82A}">
                    <a16:rowId xmlns:a16="http://schemas.microsoft.com/office/drawing/2014/main" val="1290653615"/>
                  </a:ext>
                </a:extLst>
              </a:tr>
            </a:tbl>
          </a:graphicData>
        </a:graphic>
      </p:graphicFrame>
      <p:graphicFrame>
        <p:nvGraphicFramePr>
          <p:cNvPr id="6" name="表 5">
            <a:extLst>
              <a:ext uri="{FF2B5EF4-FFF2-40B4-BE49-F238E27FC236}">
                <a16:creationId xmlns:a16="http://schemas.microsoft.com/office/drawing/2014/main" id="{52AF773C-EA55-4A8D-A5E7-472895752A72}"/>
              </a:ext>
            </a:extLst>
          </p:cNvPr>
          <p:cNvGraphicFramePr>
            <a:graphicFrameLocks noGrp="1"/>
          </p:cNvGraphicFramePr>
          <p:nvPr>
            <p:extLst>
              <p:ext uri="{D42A27DB-BD31-4B8C-83A1-F6EECF244321}">
                <p14:modId xmlns:p14="http://schemas.microsoft.com/office/powerpoint/2010/main" val="325097836"/>
              </p:ext>
            </p:extLst>
          </p:nvPr>
        </p:nvGraphicFramePr>
        <p:xfrm>
          <a:off x="457200" y="5372100"/>
          <a:ext cx="6985000" cy="822960"/>
        </p:xfrm>
        <a:graphic>
          <a:graphicData uri="http://schemas.openxmlformats.org/drawingml/2006/table">
            <a:tbl>
              <a:tblPr firstRow="1" bandRow="1">
                <a:tableStyleId>{5C22544A-7EE6-4342-B048-85BDC9FD1C3A}</a:tableStyleId>
              </a:tblPr>
              <a:tblGrid>
                <a:gridCol w="2328333">
                  <a:extLst>
                    <a:ext uri="{9D8B030D-6E8A-4147-A177-3AD203B41FA5}">
                      <a16:colId xmlns:a16="http://schemas.microsoft.com/office/drawing/2014/main" val="417406738"/>
                    </a:ext>
                  </a:extLst>
                </a:gridCol>
                <a:gridCol w="2328333">
                  <a:extLst>
                    <a:ext uri="{9D8B030D-6E8A-4147-A177-3AD203B41FA5}">
                      <a16:colId xmlns:a16="http://schemas.microsoft.com/office/drawing/2014/main" val="750146093"/>
                    </a:ext>
                  </a:extLst>
                </a:gridCol>
                <a:gridCol w="2328334">
                  <a:extLst>
                    <a:ext uri="{9D8B030D-6E8A-4147-A177-3AD203B41FA5}">
                      <a16:colId xmlns:a16="http://schemas.microsoft.com/office/drawing/2014/main" val="4099830242"/>
                    </a:ext>
                  </a:extLst>
                </a:gridCol>
              </a:tblGrid>
              <a:tr h="235185">
                <a:tc>
                  <a:txBody>
                    <a:bodyPr/>
                    <a:lstStyle/>
                    <a:p>
                      <a:pPr algn="ctr"/>
                      <a:r>
                        <a:rPr lang="ja-JP" altLang="en-US" sz="1400" b="1">
                          <a:solidFill>
                            <a:srgbClr val="FFFFFF"/>
                          </a:solidFill>
                          <a:latin typeface="BIZ UDPゴシック"/>
                          <a:ea typeface="BIZ UDPゴシック"/>
                        </a:rPr>
                        <a:t>役割</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氏名</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所属</a:t>
                      </a:r>
                    </a:p>
                  </a:txBody>
                  <a:tcPr anchor="ctr">
                    <a:solidFill>
                      <a:srgbClr val="4A4A4A"/>
                    </a:solidFill>
                  </a:tcPr>
                </a:tc>
                <a:extLst>
                  <a:ext uri="{0D108BD9-81ED-4DB2-BD59-A6C34878D82A}">
                    <a16:rowId xmlns:a16="http://schemas.microsoft.com/office/drawing/2014/main" val="653542108"/>
                  </a:ext>
                </a:extLst>
              </a:tr>
              <a:tr h="399815">
                <a:tc>
                  <a:txBody>
                    <a:bodyPr/>
                    <a:lstStyle/>
                    <a:p>
                      <a:r>
                        <a:rPr lang="ja-JP" altLang="en-US" sz="1400">
                          <a:solidFill>
                            <a:srgbClr val="3D3D3D"/>
                          </a:solidFill>
                          <a:latin typeface="BIZ UDPゴシック"/>
                          <a:ea typeface="BIZ UDPゴシック"/>
                        </a:rPr>
                        <a:t>主担当</a:t>
                      </a:r>
                    </a:p>
                  </a:txBody>
                  <a:tcPr anchor="ctr">
                    <a:solidFill>
                      <a:srgbClr val="F2F0ED"/>
                    </a:solidFill>
                  </a:tcPr>
                </a:tc>
                <a:tc>
                  <a:txBody>
                    <a:bodyPr/>
                    <a:lstStyle/>
                    <a:p>
                      <a:r>
                        <a:rPr lang="ja-JP" altLang="en-US" sz="1400">
                          <a:solidFill>
                            <a:srgbClr val="3D3D3D"/>
                          </a:solidFill>
                          <a:latin typeface="BIZ UDPゴシック"/>
                          <a:ea typeface="BIZ UDPゴシック"/>
                        </a:rPr>
                        <a:t>高山 拓海</a:t>
                      </a:r>
                    </a:p>
                  </a:txBody>
                  <a:tcPr anchor="ctr">
                    <a:solidFill>
                      <a:srgbClr val="F2F0ED"/>
                    </a:solidFill>
                  </a:tcPr>
                </a:tc>
                <a:tc>
                  <a:txBody>
                    <a:bodyPr/>
                    <a:lstStyle/>
                    <a:p>
                      <a:r>
                        <a:rPr lang="ja-JP" altLang="en-US" sz="1400">
                          <a:solidFill>
                            <a:srgbClr val="3D3D3D"/>
                          </a:solidFill>
                          <a:latin typeface="BIZ UDPゴシック"/>
                          <a:ea typeface="BIZ UDPゴシック"/>
                        </a:rPr>
                        <a:t>事業企画本部 オペレーション戦略部</a:t>
                      </a:r>
                    </a:p>
                  </a:txBody>
                  <a:tcPr anchor="ctr">
                    <a:solidFill>
                      <a:srgbClr val="F2F0ED"/>
                    </a:solidFill>
                  </a:tcPr>
                </a:tc>
                <a:extLst>
                  <a:ext uri="{0D108BD9-81ED-4DB2-BD59-A6C34878D82A}">
                    <a16:rowId xmlns:a16="http://schemas.microsoft.com/office/drawing/2014/main" val="1425848297"/>
                  </a:ext>
                </a:extLst>
              </a:tr>
            </a:tbl>
          </a:graphicData>
        </a:graphic>
      </p:graphicFrame>
      <p:sp>
        <p:nvSpPr>
          <p:cNvPr id="60" name="S60"/>
          <p:cNvSpPr/>
          <p:nvPr/>
        </p:nvSpPr>
        <p:spPr>
          <a:xfrm>
            <a:off x="457200" y="1778000"/>
            <a:ext cx="5588000" cy="304800"/>
          </a:xfrm>
          <a:prstGeom prst="rect">
            <a:avLst/>
          </a:prstGeom>
          <a:noFill/>
          <a:ln>
            <a:noFill/>
          </a:ln>
        </p:spPr>
        <p:txBody>
          <a:bodyPr wrap="square" lIns="91440" tIns="45720" rIns="91440" bIns="45720" anchor="ctr"/>
          <a:lstStyle/>
          <a:p>
            <a:pPr algn="l"/>
            <a:r>
              <a:rPr lang="ja-JP" sz="1400" b="1" dirty="0">
                <a:solidFill>
                  <a:srgbClr val="8B2500"/>
                </a:solidFill>
                <a:latin typeface="BIZ UDPゴシック"/>
                <a:ea typeface="BIZ UDPゴシック"/>
              </a:rPr>
              <a:t>5.1 受託者体制（株式会社データアステル）</a:t>
            </a:r>
          </a:p>
        </p:txBody>
      </p:sp>
      <p:sp>
        <p:nvSpPr>
          <p:cNvPr id="61" name="S61"/>
          <p:cNvSpPr/>
          <p:nvPr/>
        </p:nvSpPr>
        <p:spPr>
          <a:xfrm>
            <a:off x="457200" y="5016500"/>
            <a:ext cx="5588000" cy="304800"/>
          </a:xfrm>
          <a:prstGeom prst="rect">
            <a:avLst/>
          </a:prstGeom>
          <a:noFill/>
          <a:ln>
            <a:noFill/>
          </a:ln>
        </p:spPr>
        <p:txBody>
          <a:bodyPr wrap="square" lIns="91440" tIns="45720" rIns="91440" bIns="45720" anchor="ctr"/>
          <a:lstStyle/>
          <a:p>
            <a:pPr algn="l"/>
            <a:r>
              <a:rPr lang="ja-JP" sz="1400" b="1" dirty="0">
                <a:solidFill>
                  <a:srgbClr val="4A4A4A"/>
                </a:solidFill>
                <a:latin typeface="BIZ UDPゴシック"/>
                <a:ea typeface="BIZ UDPゴシック"/>
              </a:rPr>
              <a:t>5.2 発注者体制（株式会社青潮モビリティサービス）</a:t>
            </a:r>
          </a:p>
        </p:txBody>
      </p:sp>
      <p:sp>
        <p:nvSpPr>
          <p:cNvPr id="70" name="S70"/>
          <p:cNvSpPr/>
          <p:nvPr/>
        </p:nvSpPr>
        <p:spPr>
          <a:xfrm>
            <a:off x="7747000" y="1778000"/>
            <a:ext cx="3987800" cy="304800"/>
          </a:xfrm>
          <a:prstGeom prst="rect">
            <a:avLst/>
          </a:prstGeom>
          <a:noFill/>
          <a:ln>
            <a:noFill/>
          </a:ln>
        </p:spPr>
        <p:txBody>
          <a:bodyPr wrap="square" lIns="91440" tIns="45720" rIns="91440" bIns="45720" anchor="ctr"/>
          <a:lstStyle/>
          <a:p>
            <a:pPr algn="l"/>
            <a:r>
              <a:rPr lang="ja-JP" sz="1400" b="1" dirty="0">
                <a:solidFill>
                  <a:srgbClr val="4A4A4A"/>
                </a:solidFill>
                <a:latin typeface="BIZ UDPゴシック"/>
                <a:ea typeface="BIZ UDPゴシック"/>
              </a:rPr>
              <a:t>5.3 コミュニケーション運営</a:t>
            </a:r>
          </a:p>
        </p:txBody>
      </p:sp>
      <p:sp>
        <p:nvSpPr>
          <p:cNvPr id="71" name="S71"/>
          <p:cNvSpPr/>
          <p:nvPr/>
        </p:nvSpPr>
        <p:spPr>
          <a:xfrm>
            <a:off x="7747000" y="2159000"/>
            <a:ext cx="3987800" cy="825500"/>
          </a:xfrm>
          <a:prstGeom prst="round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週次定例を基本とする</a:t>
            </a:r>
          </a:p>
        </p:txBody>
      </p:sp>
      <p:sp>
        <p:nvSpPr>
          <p:cNvPr id="72" name="S72"/>
          <p:cNvSpPr/>
          <p:nvPr/>
        </p:nvSpPr>
        <p:spPr>
          <a:xfrm>
            <a:off x="7747000" y="3073400"/>
            <a:ext cx="3987800" cy="825500"/>
          </a:xfrm>
          <a:prstGeom prst="round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重要事項は議事録に記録し、合意事項を明確化する</a:t>
            </a:r>
          </a:p>
        </p:txBody>
      </p:sp>
      <p:sp>
        <p:nvSpPr>
          <p:cNvPr id="73" name="S73"/>
          <p:cNvSpPr/>
          <p:nvPr/>
        </p:nvSpPr>
        <p:spPr>
          <a:xfrm>
            <a:off x="7747000" y="3987800"/>
            <a:ext cx="3987800" cy="825500"/>
          </a:xfrm>
          <a:prstGeom prst="round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定義差異、追加確認事項、分析前提は課題管理表で管理する</a:t>
            </a:r>
          </a:p>
        </p:txBody>
      </p:sp>
      <p:sp>
        <p:nvSpPr>
          <p:cNvPr id="74" name="S74"/>
          <p:cNvSpPr/>
          <p:nvPr/>
        </p:nvSpPr>
        <p:spPr>
          <a:xfrm>
            <a:off x="7747000" y="4902200"/>
            <a:ext cx="3987800" cy="825500"/>
          </a:xfrm>
          <a:prstGeom prst="roundRect">
            <a:avLst/>
          </a:prstGeom>
          <a:solidFill>
            <a:srgbClr val="F2F0ED"/>
          </a:solidFill>
          <a:ln>
            <a:noFill/>
          </a:ln>
        </p:spPr>
        <p:txBody>
          <a:bodyPr wrap="square" lIns="91440" tIns="45720" rIns="91440" bIns="45720" anchor="ctr"/>
          <a:lstStyle/>
          <a:p>
            <a:pPr algn="l"/>
            <a:r>
              <a:rPr lang="ja-JP" sz="1100" dirty="0">
                <a:solidFill>
                  <a:srgbClr val="8B2500"/>
                </a:solidFill>
                <a:latin typeface="BIZ UDPゴシック"/>
                <a:ea typeface="BIZ UDPゴシック"/>
              </a:rPr>
              <a:t>✓  </a:t>
            </a:r>
            <a:r>
              <a:rPr lang="ja-JP" sz="1100" dirty="0">
                <a:solidFill>
                  <a:srgbClr val="3D3D3D"/>
                </a:solidFill>
                <a:latin typeface="BIZ UDPゴシック"/>
                <a:ea typeface="BIZ UDPゴシック"/>
              </a:rPr>
              <a:t>中間報告時点で、精度見通し、制約、追加要望の要否を整理する</a:t>
            </a:r>
          </a:p>
        </p:txBody>
      </p:sp>
      <p:sp>
        <p:nvSpPr>
          <p:cNvPr id="3" name="PageNumber">
            <a:extLst>
              <a:ext uri="{FF2B5EF4-FFF2-40B4-BE49-F238E27FC236}">
                <a16:creationId xmlns:a16="http://schemas.microsoft.com/office/drawing/2014/main" id="{899E1D65-3066-42CB-9CE0-DE58AF004B97}"/>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10</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1053161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D7BDE2-C55E-5E43-08A6-F4F4B89D121A}"/>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6. スケジュール案</a:t>
            </a:r>
          </a:p>
        </p:txBody>
      </p:sp>
      <p:sp>
        <p:nvSpPr>
          <p:cNvPr id="10" name="S10"/>
          <p:cNvSpPr/>
          <p:nvPr/>
        </p:nvSpPr>
        <p:spPr>
          <a:xfrm>
            <a:off x="457200" y="1778000"/>
            <a:ext cx="11277600" cy="304800"/>
          </a:xfrm>
          <a:prstGeom prst="rect">
            <a:avLst/>
          </a:prstGeom>
          <a:noFill/>
          <a:ln>
            <a:noFill/>
          </a:ln>
        </p:spPr>
        <p:txBody>
          <a:bodyPr wrap="square" lIns="72000" tIns="27000" rIns="72000" bIns="27000" anchor="ctr"/>
          <a:lstStyle/>
          <a:p>
            <a:pPr algn="l"/>
            <a:r>
              <a:rPr lang="ja-JP" sz="1200" dirty="0">
                <a:solidFill>
                  <a:srgbClr val="4A4A4A"/>
                </a:solidFill>
                <a:latin typeface="BIZ UDPゴシック"/>
                <a:ea typeface="BIZ UDPゴシック"/>
              </a:rPr>
              <a:t>契約開始日：2025-07-23 ｜ 期間：5週間</a:t>
            </a:r>
          </a:p>
        </p:txBody>
      </p:sp>
      <p:sp>
        <p:nvSpPr>
          <p:cNvPr id="20" name="S20"/>
          <p:cNvSpPr/>
          <p:nvPr/>
        </p:nvSpPr>
        <p:spPr>
          <a:xfrm>
            <a:off x="3048000" y="2159000"/>
            <a:ext cx="1778000" cy="355600"/>
          </a:xfrm>
          <a:prstGeom prst="rect">
            <a:avLst/>
          </a:prstGeom>
          <a:solidFill>
            <a:srgbClr val="4A4A4A"/>
          </a:solidFill>
          <a:ln>
            <a:noFill/>
          </a:ln>
        </p:spPr>
        <p:txBody>
          <a:bodyPr wrap="square" lIns="72000" tIns="27000" rIns="72000" bIns="27000" anchor="ctr"/>
          <a:lstStyle/>
          <a:p>
            <a:pPr algn="ctr"/>
            <a:r>
              <a:rPr lang="ja-JP" sz="1100" b="1" dirty="0">
                <a:solidFill>
                  <a:srgbClr val="FFFFFF"/>
                </a:solidFill>
                <a:latin typeface="BIZ UDPゴシック"/>
                <a:ea typeface="BIZ UDPゴシック"/>
              </a:rPr>
              <a:t>Week 1</a:t>
            </a:r>
          </a:p>
        </p:txBody>
      </p:sp>
      <p:sp>
        <p:nvSpPr>
          <p:cNvPr id="21" name="S21"/>
          <p:cNvSpPr/>
          <p:nvPr/>
        </p:nvSpPr>
        <p:spPr>
          <a:xfrm>
            <a:off x="4851400" y="2159000"/>
            <a:ext cx="1778000" cy="355600"/>
          </a:xfrm>
          <a:prstGeom prst="rect">
            <a:avLst/>
          </a:prstGeom>
          <a:solidFill>
            <a:srgbClr val="4A4A4A"/>
          </a:solidFill>
          <a:ln>
            <a:noFill/>
          </a:ln>
        </p:spPr>
        <p:txBody>
          <a:bodyPr wrap="square" lIns="72000" tIns="27000" rIns="72000" bIns="27000" anchor="ctr"/>
          <a:lstStyle/>
          <a:p>
            <a:pPr algn="ctr"/>
            <a:r>
              <a:rPr lang="ja-JP" sz="1100" b="1" dirty="0">
                <a:solidFill>
                  <a:srgbClr val="FFFFFF"/>
                </a:solidFill>
                <a:latin typeface="BIZ UDPゴシック"/>
                <a:ea typeface="BIZ UDPゴシック"/>
              </a:rPr>
              <a:t>Week 2</a:t>
            </a:r>
          </a:p>
        </p:txBody>
      </p:sp>
      <p:sp>
        <p:nvSpPr>
          <p:cNvPr id="22" name="S22"/>
          <p:cNvSpPr/>
          <p:nvPr/>
        </p:nvSpPr>
        <p:spPr>
          <a:xfrm>
            <a:off x="6654800" y="2159000"/>
            <a:ext cx="1778000" cy="355600"/>
          </a:xfrm>
          <a:prstGeom prst="rect">
            <a:avLst/>
          </a:prstGeom>
          <a:solidFill>
            <a:srgbClr val="4A4A4A"/>
          </a:solidFill>
          <a:ln>
            <a:noFill/>
          </a:ln>
        </p:spPr>
        <p:txBody>
          <a:bodyPr wrap="square" lIns="72000" tIns="27000" rIns="72000" bIns="27000" anchor="ctr"/>
          <a:lstStyle/>
          <a:p>
            <a:pPr algn="ctr"/>
            <a:r>
              <a:rPr lang="ja-JP" sz="1100" b="1" dirty="0">
                <a:solidFill>
                  <a:srgbClr val="FFFFFF"/>
                </a:solidFill>
                <a:latin typeface="BIZ UDPゴシック"/>
                <a:ea typeface="BIZ UDPゴシック"/>
              </a:rPr>
              <a:t>Week 3</a:t>
            </a:r>
          </a:p>
        </p:txBody>
      </p:sp>
      <p:sp>
        <p:nvSpPr>
          <p:cNvPr id="23" name="S23"/>
          <p:cNvSpPr/>
          <p:nvPr/>
        </p:nvSpPr>
        <p:spPr>
          <a:xfrm>
            <a:off x="8458200" y="2159000"/>
            <a:ext cx="1778000" cy="355600"/>
          </a:xfrm>
          <a:prstGeom prst="rect">
            <a:avLst/>
          </a:prstGeom>
          <a:solidFill>
            <a:srgbClr val="4A4A4A"/>
          </a:solidFill>
          <a:ln>
            <a:noFill/>
          </a:ln>
        </p:spPr>
        <p:txBody>
          <a:bodyPr wrap="square" lIns="72000" tIns="27000" rIns="72000" bIns="27000" anchor="ctr"/>
          <a:lstStyle/>
          <a:p>
            <a:pPr algn="ctr"/>
            <a:r>
              <a:rPr lang="ja-JP" sz="1100" b="1" dirty="0">
                <a:solidFill>
                  <a:srgbClr val="FFFFFF"/>
                </a:solidFill>
                <a:latin typeface="BIZ UDPゴシック"/>
                <a:ea typeface="BIZ UDPゴシック"/>
              </a:rPr>
              <a:t>Week 4</a:t>
            </a:r>
          </a:p>
        </p:txBody>
      </p:sp>
      <p:sp>
        <p:nvSpPr>
          <p:cNvPr id="24" name="S24"/>
          <p:cNvSpPr/>
          <p:nvPr/>
        </p:nvSpPr>
        <p:spPr>
          <a:xfrm>
            <a:off x="10261600" y="2159000"/>
            <a:ext cx="1778000" cy="355600"/>
          </a:xfrm>
          <a:prstGeom prst="rect">
            <a:avLst/>
          </a:prstGeom>
          <a:solidFill>
            <a:srgbClr val="4A4A4A"/>
          </a:solidFill>
          <a:ln>
            <a:noFill/>
          </a:ln>
        </p:spPr>
        <p:txBody>
          <a:bodyPr wrap="square" lIns="72000" tIns="27000" rIns="72000" bIns="27000" anchor="ctr"/>
          <a:lstStyle/>
          <a:p>
            <a:pPr algn="ctr"/>
            <a:r>
              <a:rPr lang="ja-JP" sz="1100" b="1" dirty="0">
                <a:solidFill>
                  <a:srgbClr val="FFFFFF"/>
                </a:solidFill>
                <a:latin typeface="BIZ UDPゴシック"/>
                <a:ea typeface="BIZ UDPゴシック"/>
              </a:rPr>
              <a:t>Week 5</a:t>
            </a:r>
          </a:p>
        </p:txBody>
      </p:sp>
      <p:sp>
        <p:nvSpPr>
          <p:cNvPr id="30" name="S30"/>
          <p:cNvSpPr/>
          <p:nvPr/>
        </p:nvSpPr>
        <p:spPr>
          <a:xfrm>
            <a:off x="457200" y="2565400"/>
            <a:ext cx="2476500" cy="660400"/>
          </a:xfrm>
          <a:prstGeom prst="rect">
            <a:avLst/>
          </a:prstGeom>
          <a:solidFill>
            <a:srgbClr val="F2F0ED"/>
          </a:solidFill>
          <a:ln>
            <a:noFill/>
          </a:ln>
        </p:spPr>
        <p:txBody>
          <a:bodyPr wrap="square" lIns="72000" tIns="27000" rIns="72000" bIns="27000" anchor="ctr"/>
          <a:lstStyle/>
          <a:p>
            <a:pPr algn="l"/>
            <a:r>
              <a:rPr lang="ja-JP" sz="1100" b="1" dirty="0">
                <a:solidFill>
                  <a:srgbClr val="1A1A1A"/>
                </a:solidFill>
                <a:latin typeface="BIZ UDPゴシック"/>
                <a:ea typeface="BIZ UDPゴシック"/>
              </a:rPr>
              <a:t>立上げ・定義確認・初期EDA</a:t>
            </a:r>
          </a:p>
        </p:txBody>
      </p:sp>
      <p:sp>
        <p:nvSpPr>
          <p:cNvPr id="31" name="S31"/>
          <p:cNvSpPr/>
          <p:nvPr/>
        </p:nvSpPr>
        <p:spPr>
          <a:xfrm>
            <a:off x="3048000" y="2565400"/>
            <a:ext cx="1778000" cy="660400"/>
          </a:xfrm>
          <a:prstGeom prst="roundRect">
            <a:avLst/>
          </a:prstGeom>
          <a:solidFill>
            <a:srgbClr val="8B2500"/>
          </a:solidFill>
          <a:ln>
            <a:noFill/>
          </a:ln>
        </p:spPr>
        <p:txBody>
          <a:bodyPr wrap="square" lIns="72000" tIns="27000" rIns="72000" bIns="27000" anchor="ctr"/>
          <a:lstStyle/>
          <a:p>
            <a:pPr algn="l"/>
            <a:r>
              <a:rPr lang="ja-JP" sz="900" dirty="0">
                <a:solidFill>
                  <a:srgbClr val="FFFFFF"/>
                </a:solidFill>
                <a:latin typeface="BIZ UDPゴシック"/>
                <a:ea typeface="BIZ UDPゴシック"/>
              </a:rPr>
              <a:t>キックオフ、データ読込確認、
カラム定義確認、欠損・型・値域確認、初期EDA</a:t>
            </a:r>
          </a:p>
        </p:txBody>
      </p:sp>
      <p:sp>
        <p:nvSpPr>
          <p:cNvPr id="33" name="S33"/>
          <p:cNvSpPr/>
          <p:nvPr/>
        </p:nvSpPr>
        <p:spPr>
          <a:xfrm>
            <a:off x="457200" y="3276600"/>
            <a:ext cx="2476500" cy="660400"/>
          </a:xfrm>
          <a:prstGeom prst="rect">
            <a:avLst/>
          </a:prstGeom>
          <a:solidFill>
            <a:srgbClr val="F2F0ED"/>
          </a:solidFill>
          <a:ln>
            <a:noFill/>
          </a:ln>
        </p:spPr>
        <p:txBody>
          <a:bodyPr wrap="square" lIns="72000" tIns="27000" rIns="72000" bIns="27000" anchor="ctr"/>
          <a:lstStyle/>
          <a:p>
            <a:pPr algn="l"/>
            <a:r>
              <a:rPr lang="ja-JP" sz="1100" b="1" dirty="0">
                <a:solidFill>
                  <a:srgbClr val="1A1A1A"/>
                </a:solidFill>
                <a:latin typeface="BIZ UDPゴシック"/>
                <a:ea typeface="BIZ UDPゴシック"/>
              </a:rPr>
              <a:t>前処理設計・ベースライン構築</a:t>
            </a:r>
          </a:p>
        </p:txBody>
      </p:sp>
      <p:sp>
        <p:nvSpPr>
          <p:cNvPr id="34" name="S34"/>
          <p:cNvSpPr/>
          <p:nvPr/>
        </p:nvSpPr>
        <p:spPr>
          <a:xfrm>
            <a:off x="4851400" y="3276600"/>
            <a:ext cx="1778000" cy="660400"/>
          </a:xfrm>
          <a:prstGeom prst="roundRect">
            <a:avLst/>
          </a:prstGeom>
          <a:solidFill>
            <a:srgbClr val="A03000"/>
          </a:solidFill>
          <a:ln>
            <a:noFill/>
          </a:ln>
        </p:spPr>
        <p:txBody>
          <a:bodyPr wrap="square" lIns="72000" tIns="27000" rIns="72000" bIns="27000" anchor="ctr"/>
          <a:lstStyle/>
          <a:p>
            <a:pPr algn="l"/>
            <a:r>
              <a:rPr lang="ja-JP" sz="900" dirty="0">
                <a:solidFill>
                  <a:srgbClr val="FFFFFF"/>
                </a:solidFill>
                <a:latin typeface="BIZ UDPゴシック"/>
                <a:ea typeface="BIZ UDPゴシック"/>
              </a:rPr>
              <a:t>前処理方針確定、日付由来特徴量作成、
カテゴリ処理方針整理、ベースラインモデル構築</a:t>
            </a:r>
          </a:p>
        </p:txBody>
      </p:sp>
      <p:sp>
        <p:nvSpPr>
          <p:cNvPr id="36" name="S36"/>
          <p:cNvSpPr/>
          <p:nvPr/>
        </p:nvSpPr>
        <p:spPr>
          <a:xfrm>
            <a:off x="457200" y="3987800"/>
            <a:ext cx="2476500" cy="660400"/>
          </a:xfrm>
          <a:prstGeom prst="rect">
            <a:avLst/>
          </a:prstGeom>
          <a:solidFill>
            <a:srgbClr val="F2F0ED"/>
          </a:solidFill>
          <a:ln>
            <a:noFill/>
          </a:ln>
        </p:spPr>
        <p:txBody>
          <a:bodyPr wrap="square" lIns="72000" tIns="27000" rIns="72000" bIns="27000" anchor="ctr"/>
          <a:lstStyle/>
          <a:p>
            <a:pPr algn="l"/>
            <a:r>
              <a:rPr lang="ja-JP" sz="1100" b="1" dirty="0">
                <a:solidFill>
                  <a:srgbClr val="1A1A1A"/>
                </a:solidFill>
                <a:latin typeface="BIZ UDPゴシック"/>
                <a:ea typeface="BIZ UDPゴシック"/>
              </a:rPr>
              <a:t>改善分析・要因把握</a:t>
            </a:r>
          </a:p>
        </p:txBody>
      </p:sp>
      <p:sp>
        <p:nvSpPr>
          <p:cNvPr id="37" name="S37"/>
          <p:cNvSpPr/>
          <p:nvPr/>
        </p:nvSpPr>
        <p:spPr>
          <a:xfrm>
            <a:off x="6654800" y="3987800"/>
            <a:ext cx="1778000" cy="660400"/>
          </a:xfrm>
          <a:prstGeom prst="roundRect">
            <a:avLst/>
          </a:prstGeom>
          <a:solidFill>
            <a:srgbClr val="B53800"/>
          </a:solidFill>
          <a:ln>
            <a:noFill/>
          </a:ln>
        </p:spPr>
        <p:txBody>
          <a:bodyPr wrap="square" lIns="72000" tIns="27000" rIns="72000" bIns="27000" anchor="ctr"/>
          <a:lstStyle/>
          <a:p>
            <a:pPr algn="l"/>
            <a:r>
              <a:rPr lang="ja-JP" sz="900" dirty="0">
                <a:solidFill>
                  <a:srgbClr val="FFFFFF"/>
                </a:solidFill>
                <a:latin typeface="BIZ UDPゴシック"/>
                <a:ea typeface="BIZ UDPゴシック"/>
              </a:rPr>
              <a:t>改善候補モデル構築、モデル比較、
重要因子分析、需要傾向可視化、中間報告準備</a:t>
            </a:r>
          </a:p>
        </p:txBody>
      </p:sp>
      <p:sp>
        <p:nvSpPr>
          <p:cNvPr id="39" name="S39"/>
          <p:cNvSpPr/>
          <p:nvPr/>
        </p:nvSpPr>
        <p:spPr>
          <a:xfrm>
            <a:off x="457200" y="4699000"/>
            <a:ext cx="2476500" cy="660400"/>
          </a:xfrm>
          <a:prstGeom prst="rect">
            <a:avLst/>
          </a:prstGeom>
          <a:solidFill>
            <a:srgbClr val="F2F0ED"/>
          </a:solidFill>
          <a:ln>
            <a:noFill/>
          </a:ln>
        </p:spPr>
        <p:txBody>
          <a:bodyPr wrap="square" lIns="72000" tIns="27000" rIns="72000" bIns="27000" anchor="ctr"/>
          <a:lstStyle/>
          <a:p>
            <a:pPr algn="l"/>
            <a:r>
              <a:rPr lang="ja-JP" sz="1100" b="1" dirty="0">
                <a:solidFill>
                  <a:srgbClr val="1A1A1A"/>
                </a:solidFill>
                <a:latin typeface="BIZ UDPゴシック"/>
                <a:ea typeface="BIZ UDPゴシック"/>
              </a:rPr>
              <a:t>示唆整理・報告書作成</a:t>
            </a:r>
          </a:p>
        </p:txBody>
      </p:sp>
      <p:sp>
        <p:nvSpPr>
          <p:cNvPr id="40" name="S40"/>
          <p:cNvSpPr/>
          <p:nvPr/>
        </p:nvSpPr>
        <p:spPr>
          <a:xfrm>
            <a:off x="8458200" y="4699000"/>
            <a:ext cx="1778000" cy="660400"/>
          </a:xfrm>
          <a:prstGeom prst="roundRect">
            <a:avLst/>
          </a:prstGeom>
          <a:solidFill>
            <a:srgbClr val="C04000"/>
          </a:solidFill>
          <a:ln>
            <a:noFill/>
          </a:ln>
        </p:spPr>
        <p:txBody>
          <a:bodyPr wrap="square" lIns="72000" tIns="27000" rIns="72000" bIns="27000" anchor="ctr"/>
          <a:lstStyle/>
          <a:p>
            <a:pPr algn="l"/>
            <a:r>
              <a:rPr lang="ja-JP" sz="900" dirty="0">
                <a:solidFill>
                  <a:srgbClr val="FFFFFF"/>
                </a:solidFill>
                <a:latin typeface="BIZ UDPゴシック"/>
                <a:ea typeface="BIZ UDPゴシック"/>
              </a:rPr>
              <a:t>業務示唆整理、追加データ要件整理、
最終報告書ドラフト作成</a:t>
            </a:r>
          </a:p>
        </p:txBody>
      </p:sp>
      <p:sp>
        <p:nvSpPr>
          <p:cNvPr id="42" name="S42"/>
          <p:cNvSpPr/>
          <p:nvPr/>
        </p:nvSpPr>
        <p:spPr>
          <a:xfrm>
            <a:off x="457200" y="5410200"/>
            <a:ext cx="2476500" cy="660400"/>
          </a:xfrm>
          <a:prstGeom prst="rect">
            <a:avLst/>
          </a:prstGeom>
          <a:solidFill>
            <a:srgbClr val="F2F0ED"/>
          </a:solidFill>
          <a:ln>
            <a:noFill/>
          </a:ln>
        </p:spPr>
        <p:txBody>
          <a:bodyPr wrap="square" lIns="72000" tIns="27000" rIns="72000" bIns="27000" anchor="ctr"/>
          <a:lstStyle/>
          <a:p>
            <a:pPr algn="l"/>
            <a:r>
              <a:rPr lang="ja-JP" sz="1100" b="1" dirty="0">
                <a:solidFill>
                  <a:srgbClr val="1A1A1A"/>
                </a:solidFill>
                <a:latin typeface="BIZ UDPゴシック"/>
                <a:ea typeface="BIZ UDPゴシック"/>
              </a:rPr>
              <a:t>最終化・検収対応</a:t>
            </a:r>
          </a:p>
        </p:txBody>
      </p:sp>
      <p:sp>
        <p:nvSpPr>
          <p:cNvPr id="43" name="S43"/>
          <p:cNvSpPr/>
          <p:nvPr/>
        </p:nvSpPr>
        <p:spPr>
          <a:xfrm>
            <a:off x="10261600" y="5410200"/>
            <a:ext cx="1778000" cy="660400"/>
          </a:xfrm>
          <a:prstGeom prst="roundRect">
            <a:avLst/>
          </a:prstGeom>
          <a:solidFill>
            <a:srgbClr val="4A4A4A"/>
          </a:solidFill>
          <a:ln>
            <a:noFill/>
          </a:ln>
        </p:spPr>
        <p:txBody>
          <a:bodyPr wrap="square" lIns="72000" tIns="27000" rIns="72000" bIns="27000" anchor="ctr"/>
          <a:lstStyle/>
          <a:p>
            <a:pPr algn="l"/>
            <a:r>
              <a:rPr lang="ja-JP" sz="900" dirty="0">
                <a:solidFill>
                  <a:srgbClr val="FFFFFF"/>
                </a:solidFill>
                <a:latin typeface="BIZ UDPゴシック"/>
                <a:ea typeface="BIZ UDPゴシック"/>
              </a:rPr>
              <a:t>最終報告、レビュー反映、
成果物最終化、検収対応、次フェーズ論点整理</a:t>
            </a:r>
          </a:p>
        </p:txBody>
      </p:sp>
      <p:sp>
        <p:nvSpPr>
          <p:cNvPr id="80" name="S80"/>
          <p:cNvSpPr/>
          <p:nvPr/>
        </p:nvSpPr>
        <p:spPr>
          <a:xfrm>
            <a:off x="8496300" y="4445000"/>
            <a:ext cx="1397000" cy="203200"/>
          </a:xfrm>
          <a:prstGeom prst="rect">
            <a:avLst/>
          </a:prstGeom>
          <a:noFill/>
          <a:ln>
            <a:noFill/>
          </a:ln>
        </p:spPr>
        <p:txBody>
          <a:bodyPr wrap="square" lIns="72000" tIns="27000" rIns="72000" bIns="27000" anchor="ctr"/>
          <a:lstStyle/>
          <a:p>
            <a:pPr algn="ctr"/>
            <a:r>
              <a:rPr lang="ja-JP" sz="1000" b="1" dirty="0">
                <a:solidFill>
                  <a:srgbClr val="8B2500"/>
                </a:solidFill>
                <a:latin typeface="BIZ UDPゴシック"/>
                <a:ea typeface="BIZ UDPゴシック"/>
              </a:rPr>
              <a:t>▲ 中間報告</a:t>
            </a:r>
          </a:p>
        </p:txBody>
      </p:sp>
      <p:sp>
        <p:nvSpPr>
          <p:cNvPr id="81" name="S81"/>
          <p:cNvSpPr/>
          <p:nvPr/>
        </p:nvSpPr>
        <p:spPr>
          <a:xfrm>
            <a:off x="10261600" y="6057900"/>
            <a:ext cx="1778000" cy="203200"/>
          </a:xfrm>
          <a:prstGeom prst="rect">
            <a:avLst/>
          </a:prstGeom>
          <a:noFill/>
          <a:ln>
            <a:noFill/>
          </a:ln>
        </p:spPr>
        <p:txBody>
          <a:bodyPr wrap="square" lIns="72000" tIns="27000" rIns="72000" bIns="27000" anchor="ctr"/>
          <a:lstStyle/>
          <a:p>
            <a:pPr algn="ctr"/>
            <a:r>
              <a:rPr lang="ja-JP" sz="1000" b="1" dirty="0">
                <a:solidFill>
                  <a:srgbClr val="8B2500"/>
                </a:solidFill>
                <a:latin typeface="BIZ UDPゴシック"/>
                <a:ea typeface="BIZ UDPゴシック"/>
              </a:rPr>
              <a:t>▲ 最終報告・検収</a:t>
            </a:r>
          </a:p>
        </p:txBody>
      </p:sp>
      <p:sp>
        <p:nvSpPr>
          <p:cNvPr id="3" name="PageNumber">
            <a:extLst>
              <a:ext uri="{FF2B5EF4-FFF2-40B4-BE49-F238E27FC236}">
                <a16:creationId xmlns:a16="http://schemas.microsoft.com/office/drawing/2014/main" id="{5DCA4749-60F3-4609-898D-81198D3909B3}"/>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11</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1687225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813345-8032-D5CF-2220-4CA68A9F6FC5}"/>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7. 成果物定義</a:t>
            </a:r>
          </a:p>
        </p:txBody>
      </p:sp>
      <p:graphicFrame>
        <p:nvGraphicFramePr>
          <p:cNvPr id="4" name="表 3">
            <a:extLst>
              <a:ext uri="{FF2B5EF4-FFF2-40B4-BE49-F238E27FC236}">
                <a16:creationId xmlns:a16="http://schemas.microsoft.com/office/drawing/2014/main" id="{04858467-D017-4220-87E2-687FCB0F9AAB}"/>
              </a:ext>
            </a:extLst>
          </p:cNvPr>
          <p:cNvGraphicFramePr>
            <a:graphicFrameLocks noGrp="1"/>
          </p:cNvGraphicFramePr>
          <p:nvPr>
            <p:extLst>
              <p:ext uri="{D42A27DB-BD31-4B8C-83A1-F6EECF244321}">
                <p14:modId xmlns:p14="http://schemas.microsoft.com/office/powerpoint/2010/main" val="2257697349"/>
              </p:ext>
            </p:extLst>
          </p:nvPr>
        </p:nvGraphicFramePr>
        <p:xfrm>
          <a:off x="457200" y="1841500"/>
          <a:ext cx="11277600" cy="2803555"/>
        </p:xfrm>
        <a:graphic>
          <a:graphicData uri="http://schemas.openxmlformats.org/drawingml/2006/table">
            <a:tbl>
              <a:tblPr firstRow="1" bandRow="1">
                <a:tableStyleId>{5C22544A-7EE6-4342-B048-85BDC9FD1C3A}</a:tableStyleId>
              </a:tblPr>
              <a:tblGrid>
                <a:gridCol w="5638800">
                  <a:extLst>
                    <a:ext uri="{9D8B030D-6E8A-4147-A177-3AD203B41FA5}">
                      <a16:colId xmlns:a16="http://schemas.microsoft.com/office/drawing/2014/main" val="424387608"/>
                    </a:ext>
                  </a:extLst>
                </a:gridCol>
                <a:gridCol w="5638800">
                  <a:extLst>
                    <a:ext uri="{9D8B030D-6E8A-4147-A177-3AD203B41FA5}">
                      <a16:colId xmlns:a16="http://schemas.microsoft.com/office/drawing/2014/main" val="1917782795"/>
                    </a:ext>
                  </a:extLst>
                </a:gridCol>
              </a:tblGrid>
              <a:tr h="457079">
                <a:tc>
                  <a:txBody>
                    <a:bodyPr/>
                    <a:lstStyle/>
                    <a:p>
                      <a:pPr algn="ctr"/>
                      <a:r>
                        <a:rPr lang="ja-JP" altLang="en-US" sz="1400" b="1">
                          <a:solidFill>
                            <a:srgbClr val="FFFFFF"/>
                          </a:solidFill>
                          <a:latin typeface="BIZ UDPゴシック"/>
                          <a:ea typeface="BIZ UDPゴシック"/>
                        </a:rPr>
                        <a:t>成果物</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8B2500"/>
                    </a:solidFill>
                  </a:tcPr>
                </a:tc>
                <a:extLst>
                  <a:ext uri="{0D108BD9-81ED-4DB2-BD59-A6C34878D82A}">
                    <a16:rowId xmlns:a16="http://schemas.microsoft.com/office/drawing/2014/main" val="3415599522"/>
                  </a:ext>
                </a:extLst>
              </a:tr>
              <a:tr h="457079">
                <a:tc>
                  <a:txBody>
                    <a:bodyPr/>
                    <a:lstStyle/>
                    <a:p>
                      <a:r>
                        <a:rPr lang="ja-JP" altLang="en-US" sz="1400" b="1">
                          <a:solidFill>
                            <a:srgbClr val="1A1A1A"/>
                          </a:solidFill>
                          <a:latin typeface="BIZ UDPゴシック"/>
                          <a:ea typeface="BIZ UDPゴシック"/>
                        </a:rPr>
                        <a:t>プロジェクト概要書</a:t>
                      </a:r>
                    </a:p>
                  </a:txBody>
                  <a:tcPr anchor="ctr">
                    <a:solidFill>
                      <a:srgbClr val="F2F0ED"/>
                    </a:solidFill>
                  </a:tcPr>
                </a:tc>
                <a:tc>
                  <a:txBody>
                    <a:bodyPr/>
                    <a:lstStyle/>
                    <a:p>
                      <a:r>
                        <a:rPr lang="ja-JP" altLang="en-US" sz="1400">
                          <a:solidFill>
                            <a:srgbClr val="3D3D3D"/>
                          </a:solidFill>
                          <a:latin typeface="BIZ UDPゴシック"/>
                          <a:ea typeface="BIZ UDPゴシック"/>
                        </a:rPr>
                        <a:t>プロジェクトの前提、目的、スコープ、進め方を定義する基準文書</a:t>
                      </a:r>
                    </a:p>
                  </a:txBody>
                  <a:tcPr anchor="ctr">
                    <a:solidFill>
                      <a:srgbClr val="F2F0ED"/>
                    </a:solidFill>
                  </a:tcPr>
                </a:tc>
                <a:extLst>
                  <a:ext uri="{0D108BD9-81ED-4DB2-BD59-A6C34878D82A}">
                    <a16:rowId xmlns:a16="http://schemas.microsoft.com/office/drawing/2014/main" val="3792931329"/>
                  </a:ext>
                </a:extLst>
              </a:tr>
              <a:tr h="457079">
                <a:tc>
                  <a:txBody>
                    <a:bodyPr/>
                    <a:lstStyle/>
                    <a:p>
                      <a:r>
                        <a:rPr lang="ja-JP" altLang="en-US" sz="1400" b="1">
                          <a:solidFill>
                            <a:srgbClr val="1A1A1A"/>
                          </a:solidFill>
                          <a:latin typeface="BIZ UDPゴシック"/>
                          <a:ea typeface="BIZ UDPゴシック"/>
                        </a:rPr>
                        <a:t>スケジュール</a:t>
                      </a:r>
                    </a:p>
                  </a:txBody>
                  <a:tcPr anchor="ctr">
                    <a:solidFill>
                      <a:srgbClr val="FFFFFF"/>
                    </a:solidFill>
                  </a:tcPr>
                </a:tc>
                <a:tc>
                  <a:txBody>
                    <a:bodyPr/>
                    <a:lstStyle/>
                    <a:p>
                      <a:r>
                        <a:rPr lang="ja-JP" altLang="en-US" sz="1400">
                          <a:solidFill>
                            <a:srgbClr val="3D3D3D"/>
                          </a:solidFill>
                          <a:latin typeface="BIZ UDPゴシック"/>
                          <a:ea typeface="BIZ UDPゴシック"/>
                        </a:rPr>
                        <a:t>週次作業計画、マイルストン、レビュー計画</a:t>
                      </a:r>
                    </a:p>
                  </a:txBody>
                  <a:tcPr anchor="ctr">
                    <a:solidFill>
                      <a:srgbClr val="FFFFFF"/>
                    </a:solidFill>
                  </a:tcPr>
                </a:tc>
                <a:extLst>
                  <a:ext uri="{0D108BD9-81ED-4DB2-BD59-A6C34878D82A}">
                    <a16:rowId xmlns:a16="http://schemas.microsoft.com/office/drawing/2014/main" val="3091414657"/>
                  </a:ext>
                </a:extLst>
              </a:tr>
              <a:tr h="457079">
                <a:tc>
                  <a:txBody>
                    <a:bodyPr/>
                    <a:lstStyle/>
                    <a:p>
                      <a:r>
                        <a:rPr lang="ja-JP" altLang="en-US" sz="1400" b="1">
                          <a:solidFill>
                            <a:srgbClr val="1A1A1A"/>
                          </a:solidFill>
                          <a:latin typeface="BIZ UDPゴシック"/>
                          <a:ea typeface="BIZ UDPゴシック"/>
                        </a:rPr>
                        <a:t>議事録</a:t>
                      </a:r>
                    </a:p>
                  </a:txBody>
                  <a:tcPr anchor="ctr">
                    <a:solidFill>
                      <a:srgbClr val="F2F0ED"/>
                    </a:solidFill>
                  </a:tcPr>
                </a:tc>
                <a:tc>
                  <a:txBody>
                    <a:bodyPr/>
                    <a:lstStyle/>
                    <a:p>
                      <a:r>
                        <a:rPr lang="ja-JP" altLang="en-US" sz="1400">
                          <a:solidFill>
                            <a:srgbClr val="3D3D3D"/>
                          </a:solidFill>
                          <a:latin typeface="BIZ UDPゴシック"/>
                          <a:ea typeface="BIZ UDPゴシック"/>
                        </a:rPr>
                        <a:t>定例・レビュー・合意事項・課題事項の記録</a:t>
                      </a:r>
                    </a:p>
                  </a:txBody>
                  <a:tcPr anchor="ctr">
                    <a:solidFill>
                      <a:srgbClr val="F2F0ED"/>
                    </a:solidFill>
                  </a:tcPr>
                </a:tc>
                <a:extLst>
                  <a:ext uri="{0D108BD9-81ED-4DB2-BD59-A6C34878D82A}">
                    <a16:rowId xmlns:a16="http://schemas.microsoft.com/office/drawing/2014/main" val="4120177595"/>
                  </a:ext>
                </a:extLst>
              </a:tr>
              <a:tr h="457079">
                <a:tc>
                  <a:txBody>
                    <a:bodyPr/>
                    <a:lstStyle/>
                    <a:p>
                      <a:r>
                        <a:rPr lang="ja-JP" altLang="en-US" sz="1400" b="1">
                          <a:solidFill>
                            <a:srgbClr val="1A1A1A"/>
                          </a:solidFill>
                          <a:latin typeface="BIZ UDPゴシック"/>
                          <a:ea typeface="BIZ UDPゴシック"/>
                        </a:rPr>
                        <a:t>中間報告書</a:t>
                      </a:r>
                    </a:p>
                  </a:txBody>
                  <a:tcPr anchor="ctr">
                    <a:solidFill>
                      <a:srgbClr val="FFFFFF"/>
                    </a:solidFill>
                  </a:tcPr>
                </a:tc>
                <a:tc>
                  <a:txBody>
                    <a:bodyPr/>
                    <a:lstStyle/>
                    <a:p>
                      <a:r>
                        <a:rPr lang="ja-JP" altLang="en-US" sz="1400">
                          <a:solidFill>
                            <a:srgbClr val="3D3D3D"/>
                          </a:solidFill>
                          <a:latin typeface="BIZ UDPゴシック"/>
                          <a:ea typeface="BIZ UDPゴシック"/>
                        </a:rPr>
                        <a:t>初期EDA、データ確認結果、ベースライン評価、主要論点の整理</a:t>
                      </a:r>
                    </a:p>
                  </a:txBody>
                  <a:tcPr anchor="ctr">
                    <a:solidFill>
                      <a:srgbClr val="FFFFFF"/>
                    </a:solidFill>
                  </a:tcPr>
                </a:tc>
                <a:extLst>
                  <a:ext uri="{0D108BD9-81ED-4DB2-BD59-A6C34878D82A}">
                    <a16:rowId xmlns:a16="http://schemas.microsoft.com/office/drawing/2014/main" val="463333167"/>
                  </a:ext>
                </a:extLst>
              </a:tr>
              <a:tr h="508605">
                <a:tc>
                  <a:txBody>
                    <a:bodyPr/>
                    <a:lstStyle/>
                    <a:p>
                      <a:r>
                        <a:rPr lang="ja-JP" altLang="en-US" sz="1400" b="1">
                          <a:solidFill>
                            <a:srgbClr val="1A1A1A"/>
                          </a:solidFill>
                          <a:latin typeface="BIZ UDPゴシック"/>
                          <a:ea typeface="BIZ UDPゴシック"/>
                        </a:rPr>
                        <a:t>最終報告書</a:t>
                      </a:r>
                    </a:p>
                  </a:txBody>
                  <a:tcPr anchor="ctr">
                    <a:solidFill>
                      <a:srgbClr val="F2F0ED"/>
                    </a:solidFill>
                  </a:tcPr>
                </a:tc>
                <a:tc>
                  <a:txBody>
                    <a:bodyPr/>
                    <a:lstStyle/>
                    <a:p>
                      <a:r>
                        <a:rPr lang="ja-JP" altLang="en-US" sz="1400" dirty="0">
                          <a:solidFill>
                            <a:srgbClr val="3D3D3D"/>
                          </a:solidFill>
                          <a:latin typeface="BIZ UDPゴシック"/>
                          <a:ea typeface="BIZ UDPゴシック"/>
                        </a:rPr>
                        <a:t>モデル評価結果、重要因子、需要傾向可視化、業務示唆、制約、次フェーズ提案</a:t>
                      </a:r>
                    </a:p>
                  </a:txBody>
                  <a:tcPr anchor="ctr">
                    <a:solidFill>
                      <a:srgbClr val="F2F0ED"/>
                    </a:solidFill>
                  </a:tcPr>
                </a:tc>
                <a:extLst>
                  <a:ext uri="{0D108BD9-81ED-4DB2-BD59-A6C34878D82A}">
                    <a16:rowId xmlns:a16="http://schemas.microsoft.com/office/drawing/2014/main" val="2379168251"/>
                  </a:ext>
                </a:extLst>
              </a:tr>
            </a:tbl>
          </a:graphicData>
        </a:graphic>
      </p:graphicFrame>
      <p:sp>
        <p:nvSpPr>
          <p:cNvPr id="20" name="S20"/>
          <p:cNvSpPr/>
          <p:nvPr/>
        </p:nvSpPr>
        <p:spPr>
          <a:xfrm>
            <a:off x="457200" y="4826000"/>
            <a:ext cx="11277600" cy="406400"/>
          </a:xfrm>
          <a:prstGeom prst="rect">
            <a:avLst/>
          </a:prstGeom>
          <a:solidFill>
            <a:srgbClr val="4A4A4A"/>
          </a:solidFill>
          <a:ln>
            <a:noFill/>
          </a:ln>
        </p:spPr>
        <p:txBody>
          <a:bodyPr wrap="square" lIns="91440" tIns="45720" rIns="91440" bIns="45720" anchor="ctr"/>
          <a:lstStyle/>
          <a:p>
            <a:pPr algn="l"/>
            <a:r>
              <a:rPr lang="ja-JP" sz="1200" b="1" dirty="0">
                <a:solidFill>
                  <a:srgbClr val="FFFFFF"/>
                </a:solidFill>
                <a:latin typeface="BIZ UDPゴシック"/>
                <a:ea typeface="BIZ UDPゴシック"/>
              </a:rPr>
              <a:t>最終報告書の補足資料（必要に応じて含める）</a:t>
            </a:r>
          </a:p>
        </p:txBody>
      </p:sp>
      <p:sp>
        <p:nvSpPr>
          <p:cNvPr id="21" name="S21"/>
          <p:cNvSpPr/>
          <p:nvPr/>
        </p:nvSpPr>
        <p:spPr>
          <a:xfrm>
            <a:off x="457200" y="5334000"/>
            <a:ext cx="2692400" cy="698500"/>
          </a:xfrm>
          <a:prstGeom prst="roundRect">
            <a:avLst/>
          </a:prstGeom>
          <a:solidFill>
            <a:srgbClr val="F2F0ED"/>
          </a:solidFill>
          <a:ln>
            <a:noFill/>
          </a:ln>
        </p:spPr>
        <p:txBody>
          <a:bodyPr wrap="square" lIns="91440" tIns="45720" rIns="91440" bIns="45720" anchor="ctr"/>
          <a:lstStyle/>
          <a:p>
            <a:pPr algn="ctr"/>
            <a:r>
              <a:rPr lang="ja-JP" sz="1200" dirty="0">
                <a:solidFill>
                  <a:srgbClr val="3D3D3D"/>
                </a:solidFill>
                <a:latin typeface="BIZ UDPゴシック"/>
                <a:ea typeface="BIZ UDPゴシック"/>
              </a:rPr>
              <a:t>分析用図表一覧</a:t>
            </a:r>
          </a:p>
        </p:txBody>
      </p:sp>
      <p:sp>
        <p:nvSpPr>
          <p:cNvPr id="22" name="S22"/>
          <p:cNvSpPr/>
          <p:nvPr/>
        </p:nvSpPr>
        <p:spPr>
          <a:xfrm>
            <a:off x="3276600" y="5334000"/>
            <a:ext cx="2692400" cy="698500"/>
          </a:xfrm>
          <a:prstGeom prst="roundRect">
            <a:avLst/>
          </a:prstGeom>
          <a:solidFill>
            <a:srgbClr val="F2F0ED"/>
          </a:solidFill>
          <a:ln>
            <a:noFill/>
          </a:ln>
        </p:spPr>
        <p:txBody>
          <a:bodyPr wrap="square" lIns="91440" tIns="45720" rIns="91440" bIns="45720" anchor="ctr"/>
          <a:lstStyle/>
          <a:p>
            <a:pPr algn="ctr"/>
            <a:r>
              <a:rPr lang="ja-JP" sz="1200" dirty="0">
                <a:solidFill>
                  <a:srgbClr val="3D3D3D"/>
                </a:solidFill>
                <a:latin typeface="BIZ UDPゴシック"/>
                <a:ea typeface="BIZ UDPゴシック"/>
              </a:rPr>
              <a:t>特徴量一覧</a:t>
            </a:r>
          </a:p>
        </p:txBody>
      </p:sp>
      <p:sp>
        <p:nvSpPr>
          <p:cNvPr id="23" name="S23"/>
          <p:cNvSpPr/>
          <p:nvPr/>
        </p:nvSpPr>
        <p:spPr>
          <a:xfrm>
            <a:off x="6096000" y="5334000"/>
            <a:ext cx="2692400" cy="698500"/>
          </a:xfrm>
          <a:prstGeom prst="roundRect">
            <a:avLst/>
          </a:prstGeom>
          <a:solidFill>
            <a:srgbClr val="F2F0ED"/>
          </a:solidFill>
          <a:ln>
            <a:noFill/>
          </a:ln>
        </p:spPr>
        <p:txBody>
          <a:bodyPr wrap="square" lIns="91440" tIns="45720" rIns="91440" bIns="45720" anchor="ctr"/>
          <a:lstStyle/>
          <a:p>
            <a:pPr algn="ctr"/>
            <a:r>
              <a:rPr lang="ja-JP" sz="1200" dirty="0">
                <a:solidFill>
                  <a:srgbClr val="3D3D3D"/>
                </a:solidFill>
                <a:latin typeface="BIZ UDPゴシック"/>
                <a:ea typeface="BIZ UDPゴシック"/>
              </a:rPr>
              <a:t>モデル比較表</a:t>
            </a:r>
          </a:p>
        </p:txBody>
      </p:sp>
      <p:sp>
        <p:nvSpPr>
          <p:cNvPr id="24" name="S24"/>
          <p:cNvSpPr/>
          <p:nvPr/>
        </p:nvSpPr>
        <p:spPr>
          <a:xfrm>
            <a:off x="8915400" y="5334000"/>
            <a:ext cx="2692400" cy="698500"/>
          </a:xfrm>
          <a:prstGeom prst="roundRect">
            <a:avLst/>
          </a:prstGeom>
          <a:solidFill>
            <a:srgbClr val="F2F0ED"/>
          </a:solidFill>
          <a:ln>
            <a:noFill/>
          </a:ln>
        </p:spPr>
        <p:txBody>
          <a:bodyPr wrap="square" lIns="91440" tIns="45720" rIns="91440" bIns="45720" anchor="ctr"/>
          <a:lstStyle/>
          <a:p>
            <a:pPr algn="ctr"/>
            <a:r>
              <a:rPr lang="ja-JP" sz="1200" dirty="0">
                <a:solidFill>
                  <a:srgbClr val="3D3D3D"/>
                </a:solidFill>
                <a:latin typeface="BIZ UDPゴシック"/>
                <a:ea typeface="BIZ UDPゴシック"/>
              </a:rPr>
              <a:t>追加データ要件一覧</a:t>
            </a:r>
          </a:p>
        </p:txBody>
      </p:sp>
      <p:sp>
        <p:nvSpPr>
          <p:cNvPr id="3" name="PageNumber">
            <a:extLst>
              <a:ext uri="{FF2B5EF4-FFF2-40B4-BE49-F238E27FC236}">
                <a16:creationId xmlns:a16="http://schemas.microsoft.com/office/drawing/2014/main" id="{4B538437-A598-43F8-BC70-70526A1D8F9B}"/>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12</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1826748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9F6DBC-BC15-4161-8F7B-C1D16CCE9BD1}"/>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8. 費用見積</a:t>
            </a:r>
          </a:p>
        </p:txBody>
      </p:sp>
      <p:graphicFrame>
        <p:nvGraphicFramePr>
          <p:cNvPr id="4" name="表 3">
            <a:extLst>
              <a:ext uri="{FF2B5EF4-FFF2-40B4-BE49-F238E27FC236}">
                <a16:creationId xmlns:a16="http://schemas.microsoft.com/office/drawing/2014/main" id="{608B5C05-59A2-48FA-BDCC-06F9FE595FD6}"/>
              </a:ext>
            </a:extLst>
          </p:cNvPr>
          <p:cNvGraphicFramePr>
            <a:graphicFrameLocks noGrp="1"/>
          </p:cNvGraphicFramePr>
          <p:nvPr>
            <p:extLst>
              <p:ext uri="{D42A27DB-BD31-4B8C-83A1-F6EECF244321}">
                <p14:modId xmlns:p14="http://schemas.microsoft.com/office/powerpoint/2010/main" val="4058229353"/>
              </p:ext>
            </p:extLst>
          </p:nvPr>
        </p:nvGraphicFramePr>
        <p:xfrm>
          <a:off x="457200" y="4381500"/>
          <a:ext cx="11277600" cy="1115537"/>
        </p:xfrm>
        <a:graphic>
          <a:graphicData uri="http://schemas.openxmlformats.org/drawingml/2006/table">
            <a:tbl>
              <a:tblPr firstRow="1" bandRow="1">
                <a:tableStyleId>{5C22544A-7EE6-4342-B048-85BDC9FD1C3A}</a:tableStyleId>
              </a:tblPr>
              <a:tblGrid>
                <a:gridCol w="1879600">
                  <a:extLst>
                    <a:ext uri="{9D8B030D-6E8A-4147-A177-3AD203B41FA5}">
                      <a16:colId xmlns:a16="http://schemas.microsoft.com/office/drawing/2014/main" val="284611118"/>
                    </a:ext>
                  </a:extLst>
                </a:gridCol>
                <a:gridCol w="1879600">
                  <a:extLst>
                    <a:ext uri="{9D8B030D-6E8A-4147-A177-3AD203B41FA5}">
                      <a16:colId xmlns:a16="http://schemas.microsoft.com/office/drawing/2014/main" val="465592488"/>
                    </a:ext>
                  </a:extLst>
                </a:gridCol>
                <a:gridCol w="1879600">
                  <a:extLst>
                    <a:ext uri="{9D8B030D-6E8A-4147-A177-3AD203B41FA5}">
                      <a16:colId xmlns:a16="http://schemas.microsoft.com/office/drawing/2014/main" val="4828270"/>
                    </a:ext>
                  </a:extLst>
                </a:gridCol>
                <a:gridCol w="1879600">
                  <a:extLst>
                    <a:ext uri="{9D8B030D-6E8A-4147-A177-3AD203B41FA5}">
                      <a16:colId xmlns:a16="http://schemas.microsoft.com/office/drawing/2014/main" val="1959047494"/>
                    </a:ext>
                  </a:extLst>
                </a:gridCol>
                <a:gridCol w="1879600">
                  <a:extLst>
                    <a:ext uri="{9D8B030D-6E8A-4147-A177-3AD203B41FA5}">
                      <a16:colId xmlns:a16="http://schemas.microsoft.com/office/drawing/2014/main" val="1884017075"/>
                    </a:ext>
                  </a:extLst>
                </a:gridCol>
                <a:gridCol w="1879600">
                  <a:extLst>
                    <a:ext uri="{9D8B030D-6E8A-4147-A177-3AD203B41FA5}">
                      <a16:colId xmlns:a16="http://schemas.microsoft.com/office/drawing/2014/main" val="142472295"/>
                    </a:ext>
                  </a:extLst>
                </a:gridCol>
              </a:tblGrid>
              <a:tr h="384017">
                <a:tc>
                  <a:txBody>
                    <a:bodyPr/>
                    <a:lstStyle/>
                    <a:p>
                      <a:pPr algn="ctr"/>
                      <a:r>
                        <a:rPr lang="ja-JP" altLang="en-US" sz="1400" b="1">
                          <a:solidFill>
                            <a:srgbClr val="FFFFFF"/>
                          </a:solidFill>
                          <a:latin typeface="BIZ UDPゴシック"/>
                          <a:ea typeface="BIZ UDPゴシック"/>
                        </a:rPr>
                        <a:t>支払回</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比率</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支払条件</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金額（税抜）</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消費税額</a:t>
                      </a:r>
                    </a:p>
                  </a:txBody>
                  <a:tcPr anchor="ctr">
                    <a:solidFill>
                      <a:srgbClr val="4A4A4A"/>
                    </a:solidFill>
                  </a:tcPr>
                </a:tc>
                <a:tc>
                  <a:txBody>
                    <a:bodyPr/>
                    <a:lstStyle/>
                    <a:p>
                      <a:pPr algn="ctr"/>
                      <a:r>
                        <a:rPr lang="ja-JP" altLang="en-US" sz="1400" b="1">
                          <a:solidFill>
                            <a:srgbClr val="FFFFFF"/>
                          </a:solidFill>
                          <a:latin typeface="BIZ UDPゴシック"/>
                          <a:ea typeface="BIZ UDPゴシック"/>
                        </a:rPr>
                        <a:t>金額（税込）</a:t>
                      </a:r>
                    </a:p>
                  </a:txBody>
                  <a:tcPr anchor="ctr">
                    <a:solidFill>
                      <a:srgbClr val="4A4A4A"/>
                    </a:solidFill>
                  </a:tcPr>
                </a:tc>
                <a:extLst>
                  <a:ext uri="{0D108BD9-81ED-4DB2-BD59-A6C34878D82A}">
                    <a16:rowId xmlns:a16="http://schemas.microsoft.com/office/drawing/2014/main" val="3011247788"/>
                  </a:ext>
                </a:extLst>
              </a:tr>
              <a:tr h="631983">
                <a:tc>
                  <a:txBody>
                    <a:bodyPr/>
                    <a:lstStyle/>
                    <a:p>
                      <a:pPr algn="ctr"/>
                      <a:r>
                        <a:rPr lang="ja-JP" altLang="en-US" sz="1400">
                          <a:solidFill>
                            <a:srgbClr val="3D3D3D"/>
                          </a:solidFill>
                          <a:latin typeface="BIZ UDPゴシック"/>
                          <a:ea typeface="BIZ UDPゴシック"/>
                        </a:rPr>
                        <a:t>1</a:t>
                      </a:r>
                    </a:p>
                  </a:txBody>
                  <a:tcPr anchor="ctr">
                    <a:solidFill>
                      <a:srgbClr val="F2F0ED"/>
                    </a:solidFill>
                  </a:tcPr>
                </a:tc>
                <a:tc>
                  <a:txBody>
                    <a:bodyPr/>
                    <a:lstStyle/>
                    <a:p>
                      <a:pPr algn="ctr"/>
                      <a:r>
                        <a:rPr lang="ja-JP" altLang="en-US" sz="1400">
                          <a:solidFill>
                            <a:srgbClr val="3D3D3D"/>
                          </a:solidFill>
                          <a:latin typeface="BIZ UDPゴシック"/>
                          <a:ea typeface="BIZ UDPゴシック"/>
                        </a:rPr>
                        <a:t>100%</a:t>
                      </a:r>
                    </a:p>
                  </a:txBody>
                  <a:tcPr anchor="ctr">
                    <a:solidFill>
                      <a:srgbClr val="F2F0ED"/>
                    </a:solidFill>
                  </a:tcPr>
                </a:tc>
                <a:tc>
                  <a:txBody>
                    <a:bodyPr/>
                    <a:lstStyle/>
                    <a:p>
                      <a:pPr algn="ctr"/>
                      <a:r>
                        <a:rPr lang="ja-JP" altLang="en-US" sz="1400">
                          <a:solidFill>
                            <a:srgbClr val="3D3D3D"/>
                          </a:solidFill>
                          <a:latin typeface="BIZ UDPゴシック"/>
                          <a:ea typeface="BIZ UDPゴシック"/>
                        </a:rPr>
                        <a:t>最終成果物の検収完了後
5営業日以内</a:t>
                      </a:r>
                    </a:p>
                  </a:txBody>
                  <a:tcPr anchor="ctr">
                    <a:solidFill>
                      <a:srgbClr val="F2F0ED"/>
                    </a:solidFill>
                  </a:tcPr>
                </a:tc>
                <a:tc>
                  <a:txBody>
                    <a:bodyPr/>
                    <a:lstStyle/>
                    <a:p>
                      <a:pPr algn="ctr"/>
                      <a:r>
                        <a:rPr lang="ja-JP" altLang="en-US" sz="1400">
                          <a:solidFill>
                            <a:srgbClr val="3D3D3D"/>
                          </a:solidFill>
                          <a:latin typeface="BIZ UDPゴシック"/>
                          <a:ea typeface="BIZ UDPゴシック"/>
                        </a:rPr>
                        <a:t>4,250,000円</a:t>
                      </a:r>
                    </a:p>
                  </a:txBody>
                  <a:tcPr anchor="ctr">
                    <a:solidFill>
                      <a:srgbClr val="F2F0ED"/>
                    </a:solidFill>
                  </a:tcPr>
                </a:tc>
                <a:tc>
                  <a:txBody>
                    <a:bodyPr/>
                    <a:lstStyle/>
                    <a:p>
                      <a:pPr algn="ctr"/>
                      <a:r>
                        <a:rPr lang="ja-JP" altLang="en-US" sz="1400">
                          <a:solidFill>
                            <a:srgbClr val="3D3D3D"/>
                          </a:solidFill>
                          <a:latin typeface="BIZ UDPゴシック"/>
                          <a:ea typeface="BIZ UDPゴシック"/>
                        </a:rPr>
                        <a:t>425,000円</a:t>
                      </a:r>
                    </a:p>
                  </a:txBody>
                  <a:tcPr anchor="ctr">
                    <a:solidFill>
                      <a:srgbClr val="F2F0ED"/>
                    </a:solidFill>
                  </a:tcPr>
                </a:tc>
                <a:tc>
                  <a:txBody>
                    <a:bodyPr/>
                    <a:lstStyle/>
                    <a:p>
                      <a:pPr algn="ctr"/>
                      <a:r>
                        <a:rPr lang="ja-JP" altLang="en-US" sz="1400">
                          <a:solidFill>
                            <a:srgbClr val="3D3D3D"/>
                          </a:solidFill>
                          <a:latin typeface="BIZ UDPゴシック"/>
                          <a:ea typeface="BIZ UDPゴシック"/>
                        </a:rPr>
                        <a:t>4,675,000円</a:t>
                      </a:r>
                    </a:p>
                  </a:txBody>
                  <a:tcPr anchor="ctr">
                    <a:solidFill>
                      <a:srgbClr val="F2F0ED"/>
                    </a:solidFill>
                  </a:tcPr>
                </a:tc>
                <a:extLst>
                  <a:ext uri="{0D108BD9-81ED-4DB2-BD59-A6C34878D82A}">
                    <a16:rowId xmlns:a16="http://schemas.microsoft.com/office/drawing/2014/main" val="1073077044"/>
                  </a:ext>
                </a:extLst>
              </a:tr>
            </a:tbl>
          </a:graphicData>
        </a:graphic>
      </p:graphicFrame>
      <p:sp>
        <p:nvSpPr>
          <p:cNvPr id="10" name="S10"/>
          <p:cNvSpPr/>
          <p:nvPr/>
        </p:nvSpPr>
        <p:spPr>
          <a:xfrm>
            <a:off x="457200" y="1841500"/>
            <a:ext cx="11277600" cy="406400"/>
          </a:xfrm>
          <a:prstGeom prst="rect">
            <a:avLst/>
          </a:prstGeom>
          <a:solidFill>
            <a:srgbClr val="8B2500"/>
          </a:solidFill>
          <a:ln>
            <a:noFill/>
          </a:ln>
        </p:spPr>
        <p:txBody>
          <a:bodyPr wrap="square" lIns="91440" tIns="45720" rIns="91440" bIns="45720" anchor="ctr"/>
          <a:lstStyle/>
          <a:p>
            <a:pPr algn="l"/>
            <a:r>
              <a:rPr lang="ja-JP" sz="1400" b="1" dirty="0">
                <a:solidFill>
                  <a:srgbClr val="FFFFFF"/>
                </a:solidFill>
                <a:latin typeface="BIZ UDPゴシック"/>
                <a:ea typeface="BIZ UDPゴシック"/>
              </a:rPr>
              <a:t>8.1 契約条件 ／ 8.2 見積条件</a:t>
            </a:r>
          </a:p>
        </p:txBody>
      </p:sp>
      <p:sp>
        <p:nvSpPr>
          <p:cNvPr id="11" name="S11"/>
          <p:cNvSpPr/>
          <p:nvPr/>
        </p:nvSpPr>
        <p:spPr>
          <a:xfrm>
            <a:off x="457200" y="2349500"/>
            <a:ext cx="2692400" cy="1270000"/>
          </a:xfrm>
          <a:prstGeom prst="roundRect">
            <a:avLst/>
          </a:prstGeom>
          <a:solidFill>
            <a:srgbClr val="F2F0ED"/>
          </a:solidFill>
          <a:ln>
            <a:noFill/>
          </a:ln>
        </p:spPr>
        <p:txBody>
          <a:bodyPr wrap="square" lIns="91440" tIns="45720" rIns="91440" bIns="45720" anchor="ctr"/>
          <a:lstStyle/>
          <a:p>
            <a:pPr algn="ctr"/>
            <a:r>
              <a:rPr lang="ja-JP" sz="1100" dirty="0">
                <a:solidFill>
                  <a:srgbClr val="7A7A7A"/>
                </a:solidFill>
                <a:latin typeface="BIZ UDPゴシック"/>
                <a:ea typeface="BIZ UDPゴシック"/>
              </a:rPr>
              <a:t>契約形態</a:t>
            </a:r>
          </a:p>
          <a:p>
            <a:pPr algn="ctr">
              <a:spcBef>
                <a:spcPts val="400"/>
              </a:spcBef>
            </a:pPr>
            <a:r>
              <a:rPr lang="ja-JP" sz="2400" b="1" dirty="0">
                <a:solidFill>
                  <a:srgbClr val="8B2500"/>
                </a:solidFill>
                <a:latin typeface="BIZ UDPゴシック"/>
                <a:ea typeface="BIZ UDPゴシック"/>
              </a:rPr>
              <a:t>Time &amp; Materials</a:t>
            </a:r>
          </a:p>
          <a:p>
            <a:pPr algn="ctr">
              <a:spcBef>
                <a:spcPts val="200"/>
              </a:spcBef>
            </a:pPr>
            <a:r>
              <a:rPr lang="ja-JP" sz="1000" dirty="0">
                <a:solidFill>
                  <a:srgbClr val="7A7A7A"/>
                </a:solidFill>
                <a:latin typeface="BIZ UDPゴシック"/>
                <a:ea typeface="BIZ UDPゴシック"/>
              </a:rPr>
              <a:t>実績工数ベース</a:t>
            </a:r>
          </a:p>
        </p:txBody>
      </p:sp>
      <p:sp>
        <p:nvSpPr>
          <p:cNvPr id="12" name="S12"/>
          <p:cNvSpPr/>
          <p:nvPr/>
        </p:nvSpPr>
        <p:spPr>
          <a:xfrm>
            <a:off x="3276600" y="2349500"/>
            <a:ext cx="2692400" cy="1270000"/>
          </a:xfrm>
          <a:prstGeom prst="roundRect">
            <a:avLst/>
          </a:prstGeom>
          <a:solidFill>
            <a:srgbClr val="F2F0ED"/>
          </a:solidFill>
          <a:ln>
            <a:noFill/>
          </a:ln>
        </p:spPr>
        <p:txBody>
          <a:bodyPr wrap="square" lIns="91440" tIns="45720" rIns="91440" bIns="45720" anchor="ctr"/>
          <a:lstStyle/>
          <a:p>
            <a:pPr algn="ctr"/>
            <a:r>
              <a:rPr lang="ja-JP" sz="1100" dirty="0">
                <a:solidFill>
                  <a:srgbClr val="7A7A7A"/>
                </a:solidFill>
                <a:latin typeface="BIZ UDPゴシック"/>
                <a:ea typeface="BIZ UDPゴシック"/>
              </a:rPr>
              <a:t>時間単価</a:t>
            </a:r>
          </a:p>
          <a:p>
            <a:pPr algn="ctr">
              <a:spcBef>
                <a:spcPts val="400"/>
              </a:spcBef>
            </a:pPr>
            <a:r>
              <a:rPr lang="ja-JP" sz="2400" b="1" dirty="0">
                <a:solidFill>
                  <a:srgbClr val="8B2500"/>
                </a:solidFill>
                <a:latin typeface="BIZ UDPゴシック"/>
                <a:ea typeface="BIZ UDPゴシック"/>
              </a:rPr>
              <a:t>¥25,000</a:t>
            </a:r>
          </a:p>
          <a:p>
            <a:pPr algn="ctr">
              <a:spcBef>
                <a:spcPts val="200"/>
              </a:spcBef>
            </a:pPr>
            <a:r>
              <a:rPr lang="ja-JP" sz="1000" dirty="0">
                <a:solidFill>
                  <a:srgbClr val="7A7A7A"/>
                </a:solidFill>
                <a:latin typeface="BIZ UDPゴシック"/>
                <a:ea typeface="BIZ UDPゴシック"/>
              </a:rPr>
              <a:t>/ 時間（税抜）</a:t>
            </a:r>
          </a:p>
        </p:txBody>
      </p:sp>
      <p:sp>
        <p:nvSpPr>
          <p:cNvPr id="13" name="S13"/>
          <p:cNvSpPr/>
          <p:nvPr/>
        </p:nvSpPr>
        <p:spPr>
          <a:xfrm>
            <a:off x="6096000" y="2349500"/>
            <a:ext cx="2692400" cy="1270000"/>
          </a:xfrm>
          <a:prstGeom prst="roundRect">
            <a:avLst/>
          </a:prstGeom>
          <a:solidFill>
            <a:srgbClr val="F2F0ED"/>
          </a:solidFill>
          <a:ln>
            <a:noFill/>
          </a:ln>
        </p:spPr>
        <p:txBody>
          <a:bodyPr wrap="square" lIns="91440" tIns="45720" rIns="91440" bIns="45720" anchor="ctr"/>
          <a:lstStyle/>
          <a:p>
            <a:pPr algn="ctr"/>
            <a:r>
              <a:rPr lang="ja-JP" sz="1100" dirty="0">
                <a:solidFill>
                  <a:srgbClr val="7A7A7A"/>
                </a:solidFill>
                <a:latin typeface="BIZ UDPゴシック"/>
                <a:ea typeface="BIZ UDPゴシック"/>
              </a:rPr>
              <a:t>見込工数</a:t>
            </a:r>
          </a:p>
          <a:p>
            <a:pPr algn="ctr">
              <a:spcBef>
                <a:spcPts val="400"/>
              </a:spcBef>
            </a:pPr>
            <a:r>
              <a:rPr lang="ja-JP" sz="2400" b="1" dirty="0">
                <a:solidFill>
                  <a:srgbClr val="8B2500"/>
                </a:solidFill>
                <a:latin typeface="BIZ UDPゴシック"/>
                <a:ea typeface="BIZ UDPゴシック"/>
              </a:rPr>
              <a:t>170 時間</a:t>
            </a:r>
          </a:p>
          <a:p>
            <a:pPr algn="ctr">
              <a:spcBef>
                <a:spcPts val="200"/>
              </a:spcBef>
            </a:pPr>
            <a:r>
              <a:rPr lang="ja-JP" sz="1000" dirty="0">
                <a:solidFill>
                  <a:srgbClr val="7A7A7A"/>
                </a:solidFill>
                <a:latin typeface="BIZ UDPゴシック"/>
                <a:ea typeface="BIZ UDPゴシック"/>
              </a:rPr>
              <a:t>30分単位で計上</a:t>
            </a:r>
          </a:p>
        </p:txBody>
      </p:sp>
      <p:sp>
        <p:nvSpPr>
          <p:cNvPr id="14" name="S14"/>
          <p:cNvSpPr/>
          <p:nvPr/>
        </p:nvSpPr>
        <p:spPr>
          <a:xfrm>
            <a:off x="8915400" y="2349500"/>
            <a:ext cx="2692400" cy="1270000"/>
          </a:xfrm>
          <a:prstGeom prst="roundRect">
            <a:avLst/>
          </a:prstGeom>
          <a:solidFill>
            <a:srgbClr val="F2F0ED"/>
          </a:solidFill>
          <a:ln>
            <a:noFill/>
          </a:ln>
        </p:spPr>
        <p:txBody>
          <a:bodyPr wrap="square" lIns="91440" tIns="45720" rIns="91440" bIns="45720" anchor="ctr"/>
          <a:lstStyle/>
          <a:p>
            <a:pPr algn="ctr"/>
            <a:r>
              <a:rPr lang="ja-JP" sz="1100" dirty="0">
                <a:solidFill>
                  <a:srgbClr val="7A7A7A"/>
                </a:solidFill>
                <a:latin typeface="BIZ UDPゴシック"/>
                <a:ea typeface="BIZ UDPゴシック"/>
              </a:rPr>
              <a:t>見込金額</a:t>
            </a:r>
          </a:p>
          <a:p>
            <a:pPr algn="ctr">
              <a:spcBef>
                <a:spcPts val="400"/>
              </a:spcBef>
            </a:pPr>
            <a:r>
              <a:rPr lang="ja-JP" sz="2400" b="1" dirty="0">
                <a:solidFill>
                  <a:srgbClr val="8B2500"/>
                </a:solidFill>
                <a:latin typeface="BIZ UDPゴシック"/>
                <a:ea typeface="BIZ UDPゴシック"/>
              </a:rPr>
              <a:t>¥4,675,000</a:t>
            </a:r>
          </a:p>
          <a:p>
            <a:pPr algn="ctr">
              <a:spcBef>
                <a:spcPts val="200"/>
              </a:spcBef>
            </a:pPr>
            <a:r>
              <a:rPr lang="ja-JP" sz="1000" dirty="0">
                <a:solidFill>
                  <a:srgbClr val="7A7A7A"/>
                </a:solidFill>
                <a:latin typeface="BIZ UDPゴシック"/>
                <a:ea typeface="BIZ UDPゴシック"/>
              </a:rPr>
              <a:t>（税込）</a:t>
            </a:r>
          </a:p>
        </p:txBody>
      </p:sp>
      <p:sp>
        <p:nvSpPr>
          <p:cNvPr id="20" name="S20"/>
          <p:cNvSpPr/>
          <p:nvPr/>
        </p:nvSpPr>
        <p:spPr>
          <a:xfrm>
            <a:off x="457200" y="3810000"/>
            <a:ext cx="11277600" cy="406400"/>
          </a:xfrm>
          <a:prstGeom prst="rect">
            <a:avLst/>
          </a:prstGeom>
          <a:solidFill>
            <a:srgbClr val="4A4A4A"/>
          </a:solidFill>
          <a:ln>
            <a:noFill/>
          </a:ln>
        </p:spPr>
        <p:txBody>
          <a:bodyPr wrap="square" lIns="91440" tIns="45720" rIns="91440" bIns="45720" anchor="ctr"/>
          <a:lstStyle/>
          <a:p>
            <a:pPr algn="l"/>
            <a:r>
              <a:rPr lang="ja-JP" sz="1400" b="1" dirty="0">
                <a:solidFill>
                  <a:srgbClr val="FFFFFF"/>
                </a:solidFill>
                <a:latin typeface="BIZ UDPゴシック"/>
                <a:ea typeface="BIZ UDPゴシック"/>
              </a:rPr>
              <a:t>8.3 精算ルール ／ 8.4 支払条件</a:t>
            </a:r>
          </a:p>
        </p:txBody>
      </p:sp>
      <p:sp>
        <p:nvSpPr>
          <p:cNvPr id="30" name="S30"/>
          <p:cNvSpPr/>
          <p:nvPr/>
        </p:nvSpPr>
        <p:spPr>
          <a:xfrm>
            <a:off x="457200" y="5588000"/>
            <a:ext cx="11277600" cy="571500"/>
          </a:xfrm>
          <a:prstGeom prst="rect">
            <a:avLst/>
          </a:prstGeom>
          <a:noFill/>
          <a:ln>
            <a:noFill/>
          </a:ln>
        </p:spPr>
        <p:txBody>
          <a:bodyPr wrap="square" lIns="91440" tIns="45720" rIns="91440" bIns="45720" anchor="ctr"/>
          <a:lstStyle/>
          <a:p>
            <a:pPr algn="l"/>
            <a:r>
              <a:rPr lang="ja-JP" sz="1100" dirty="0">
                <a:solidFill>
                  <a:srgbClr val="7A7A7A"/>
                </a:solidFill>
                <a:latin typeface="BIZ UDPゴシック"/>
                <a:ea typeface="BIZ UDPゴシック"/>
              </a:rPr>
              <a:t>※ 上記金額は見込値である。実績工数に基づき、案件完了後に最終成果物の検収を経て一括精算する。工数は30分単位で計上する。</a:t>
            </a:r>
          </a:p>
        </p:txBody>
      </p:sp>
      <p:sp>
        <p:nvSpPr>
          <p:cNvPr id="3" name="PageNumber">
            <a:extLst>
              <a:ext uri="{FF2B5EF4-FFF2-40B4-BE49-F238E27FC236}">
                <a16:creationId xmlns:a16="http://schemas.microsoft.com/office/drawing/2014/main" id="{1E9E24EB-CD11-448D-BE02-B39315E60FDD}"/>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13</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3596392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4FB2FF-DF07-23C4-6FC2-BCCDEC965086}"/>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9. リスクと対応策</a:t>
            </a:r>
          </a:p>
        </p:txBody>
      </p:sp>
      <p:graphicFrame>
        <p:nvGraphicFramePr>
          <p:cNvPr id="4" name="表 3">
            <a:extLst>
              <a:ext uri="{FF2B5EF4-FFF2-40B4-BE49-F238E27FC236}">
                <a16:creationId xmlns:a16="http://schemas.microsoft.com/office/drawing/2014/main" id="{16BD0F52-882E-4C10-B164-E2F9D2A17FE5}"/>
              </a:ext>
            </a:extLst>
          </p:cNvPr>
          <p:cNvGraphicFramePr>
            <a:graphicFrameLocks noGrp="1"/>
          </p:cNvGraphicFramePr>
          <p:nvPr>
            <p:extLst>
              <p:ext uri="{D42A27DB-BD31-4B8C-83A1-F6EECF244321}">
                <p14:modId xmlns:p14="http://schemas.microsoft.com/office/powerpoint/2010/main" val="1213135184"/>
              </p:ext>
            </p:extLst>
          </p:nvPr>
        </p:nvGraphicFramePr>
        <p:xfrm>
          <a:off x="457200" y="1841500"/>
          <a:ext cx="11277600" cy="4445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1923505380"/>
                    </a:ext>
                  </a:extLst>
                </a:gridCol>
                <a:gridCol w="3759200">
                  <a:extLst>
                    <a:ext uri="{9D8B030D-6E8A-4147-A177-3AD203B41FA5}">
                      <a16:colId xmlns:a16="http://schemas.microsoft.com/office/drawing/2014/main" val="1210746374"/>
                    </a:ext>
                  </a:extLst>
                </a:gridCol>
                <a:gridCol w="3759200">
                  <a:extLst>
                    <a:ext uri="{9D8B030D-6E8A-4147-A177-3AD203B41FA5}">
                      <a16:colId xmlns:a16="http://schemas.microsoft.com/office/drawing/2014/main" val="948207589"/>
                    </a:ext>
                  </a:extLst>
                </a:gridCol>
              </a:tblGrid>
              <a:tr h="635000">
                <a:tc>
                  <a:txBody>
                    <a:bodyPr/>
                    <a:lstStyle/>
                    <a:p>
                      <a:pPr algn="ctr"/>
                      <a:r>
                        <a:rPr lang="ja-JP" altLang="en-US" sz="1400" b="1">
                          <a:solidFill>
                            <a:srgbClr val="FFFFFF"/>
                          </a:solidFill>
                          <a:latin typeface="BIZ UDPゴシック"/>
                          <a:ea typeface="BIZ UDPゴシック"/>
                        </a:rPr>
                        <a:t>リスク</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対応策</a:t>
                      </a:r>
                    </a:p>
                  </a:txBody>
                  <a:tcPr anchor="ctr">
                    <a:solidFill>
                      <a:srgbClr val="8B2500"/>
                    </a:solidFill>
                  </a:tcPr>
                </a:tc>
                <a:extLst>
                  <a:ext uri="{0D108BD9-81ED-4DB2-BD59-A6C34878D82A}">
                    <a16:rowId xmlns:a16="http://schemas.microsoft.com/office/drawing/2014/main" val="1910219466"/>
                  </a:ext>
                </a:extLst>
              </a:tr>
              <a:tr h="635000">
                <a:tc>
                  <a:txBody>
                    <a:bodyPr/>
                    <a:lstStyle/>
                    <a:p>
                      <a:r>
                        <a:rPr lang="ja-JP" altLang="en-US" sz="1400" b="1">
                          <a:solidFill>
                            <a:srgbClr val="1A1A1A"/>
                          </a:solidFill>
                          <a:latin typeface="BIZ UDPゴシック"/>
                          <a:ea typeface="BIZ UDPゴシック"/>
                        </a:rPr>
                        <a:t>天候・季節依存</a:t>
                      </a:r>
                    </a:p>
                  </a:txBody>
                  <a:tcPr anchor="ctr">
                    <a:solidFill>
                      <a:srgbClr val="F2F0ED"/>
                    </a:solidFill>
                  </a:tcPr>
                </a:tc>
                <a:tc>
                  <a:txBody>
                    <a:bodyPr/>
                    <a:lstStyle/>
                    <a:p>
                      <a:r>
                        <a:rPr lang="ja-JP" altLang="en-US" sz="1400">
                          <a:solidFill>
                            <a:srgbClr val="3D3D3D"/>
                          </a:solidFill>
                          <a:latin typeface="BIZ UDPゴシック"/>
                          <a:ea typeface="BIZ UDPゴシック"/>
                        </a:rPr>
                        <a:t>需要が外生要因に強く依存し、対象期間の偏りにより汎化性が低下する可能性</a:t>
                      </a:r>
                    </a:p>
                  </a:txBody>
                  <a:tcPr anchor="ctr">
                    <a:solidFill>
                      <a:srgbClr val="F2F0ED"/>
                    </a:solidFill>
                  </a:tcPr>
                </a:tc>
                <a:tc>
                  <a:txBody>
                    <a:bodyPr/>
                    <a:lstStyle/>
                    <a:p>
                      <a:r>
                        <a:rPr lang="ja-JP" altLang="en-US" sz="1400">
                          <a:solidFill>
                            <a:srgbClr val="3D3D3D"/>
                          </a:solidFill>
                          <a:latin typeface="BIZ UDPゴシック"/>
                          <a:ea typeface="BIZ UDPゴシック"/>
                        </a:rPr>
                        <a:t>外生要因前提を成果物に明記し、評価結果の解釈条件を明確化</a:t>
                      </a:r>
                    </a:p>
                  </a:txBody>
                  <a:tcPr anchor="ctr">
                    <a:solidFill>
                      <a:srgbClr val="F2F0ED"/>
                    </a:solidFill>
                  </a:tcPr>
                </a:tc>
                <a:extLst>
                  <a:ext uri="{0D108BD9-81ED-4DB2-BD59-A6C34878D82A}">
                    <a16:rowId xmlns:a16="http://schemas.microsoft.com/office/drawing/2014/main" val="1782719866"/>
                  </a:ext>
                </a:extLst>
              </a:tr>
              <a:tr h="635000">
                <a:tc>
                  <a:txBody>
                    <a:bodyPr/>
                    <a:lstStyle/>
                    <a:p>
                      <a:r>
                        <a:rPr lang="ja-JP" altLang="en-US" sz="1400" b="1">
                          <a:solidFill>
                            <a:srgbClr val="1A1A1A"/>
                          </a:solidFill>
                          <a:latin typeface="BIZ UDPゴシック"/>
                          <a:ea typeface="BIZ UDPゴシック"/>
                        </a:rPr>
                        <a:t>データ定義不整合</a:t>
                      </a:r>
                    </a:p>
                  </a:txBody>
                  <a:tcPr anchor="ctr">
                    <a:solidFill>
                      <a:srgbClr val="FFFFFF"/>
                    </a:solidFill>
                  </a:tcPr>
                </a:tc>
                <a:tc>
                  <a:txBody>
                    <a:bodyPr/>
                    <a:lstStyle/>
                    <a:p>
                      <a:r>
                        <a:rPr lang="ja-JP" altLang="en-US" sz="1400">
                          <a:solidFill>
                            <a:srgbClr val="3D3D3D"/>
                          </a:solidFill>
                          <a:latin typeface="BIZ UDPゴシック"/>
                          <a:ea typeface="BIZ UDPゴシック"/>
                        </a:rPr>
                        <a:t>yr, workingday 等にデータ辞書との差異がある可能性</a:t>
                      </a:r>
                    </a:p>
                  </a:txBody>
                  <a:tcPr anchor="ctr">
                    <a:solidFill>
                      <a:srgbClr val="FFFFFF"/>
                    </a:solidFill>
                  </a:tcPr>
                </a:tc>
                <a:tc>
                  <a:txBody>
                    <a:bodyPr/>
                    <a:lstStyle/>
                    <a:p>
                      <a:r>
                        <a:rPr lang="ja-JP" altLang="en-US" sz="1400">
                          <a:solidFill>
                            <a:srgbClr val="3D3D3D"/>
                          </a:solidFill>
                          <a:latin typeface="BIZ UDPゴシック"/>
                          <a:ea typeface="BIZ UDPゴシック"/>
                        </a:rPr>
                        <a:t>Week 1で定義確認を実施し、分析前提を文書化して合意形成</a:t>
                      </a:r>
                    </a:p>
                  </a:txBody>
                  <a:tcPr anchor="ctr">
                    <a:solidFill>
                      <a:srgbClr val="FFFFFF"/>
                    </a:solidFill>
                  </a:tcPr>
                </a:tc>
                <a:extLst>
                  <a:ext uri="{0D108BD9-81ED-4DB2-BD59-A6C34878D82A}">
                    <a16:rowId xmlns:a16="http://schemas.microsoft.com/office/drawing/2014/main" val="3640310632"/>
                  </a:ext>
                </a:extLst>
              </a:tr>
              <a:tr h="635000">
                <a:tc>
                  <a:txBody>
                    <a:bodyPr/>
                    <a:lstStyle/>
                    <a:p>
                      <a:r>
                        <a:rPr lang="ja-JP" altLang="en-US" sz="1400" b="1">
                          <a:solidFill>
                            <a:srgbClr val="1A1A1A"/>
                          </a:solidFill>
                          <a:latin typeface="BIZ UDPゴシック"/>
                          <a:ea typeface="BIZ UDPゴシック"/>
                        </a:rPr>
                        <a:t>粒度制約</a:t>
                      </a:r>
                    </a:p>
                  </a:txBody>
                  <a:tcPr anchor="ctr">
                    <a:solidFill>
                      <a:srgbClr val="F2F0ED"/>
                    </a:solidFill>
                  </a:tcPr>
                </a:tc>
                <a:tc>
                  <a:txBody>
                    <a:bodyPr/>
                    <a:lstStyle/>
                    <a:p>
                      <a:r>
                        <a:rPr lang="ja-JP" altLang="en-US" sz="1400">
                          <a:solidFill>
                            <a:srgbClr val="3D3D3D"/>
                          </a:solidFill>
                          <a:latin typeface="BIZ UDPゴシック"/>
                          <a:ea typeface="BIZ UDPゴシック"/>
                        </a:rPr>
                        <a:t>拠点別・位置別・車両別の分析ができない</a:t>
                      </a:r>
                    </a:p>
                  </a:txBody>
                  <a:tcPr anchor="ctr">
                    <a:solidFill>
                      <a:srgbClr val="F2F0ED"/>
                    </a:solidFill>
                  </a:tcPr>
                </a:tc>
                <a:tc>
                  <a:txBody>
                    <a:bodyPr/>
                    <a:lstStyle/>
                    <a:p>
                      <a:r>
                        <a:rPr lang="ja-JP" altLang="en-US" sz="1400">
                          <a:solidFill>
                            <a:srgbClr val="3D3D3D"/>
                          </a:solidFill>
                          <a:latin typeface="BIZ UDPゴシック"/>
                          <a:ea typeface="BIZ UDPゴシック"/>
                        </a:rPr>
                        <a:t>全体需要の時間別予測に目的を限定し、次フェーズの追加データ要件として整理</a:t>
                      </a:r>
                    </a:p>
                  </a:txBody>
                  <a:tcPr anchor="ctr">
                    <a:solidFill>
                      <a:srgbClr val="F2F0ED"/>
                    </a:solidFill>
                  </a:tcPr>
                </a:tc>
                <a:extLst>
                  <a:ext uri="{0D108BD9-81ED-4DB2-BD59-A6C34878D82A}">
                    <a16:rowId xmlns:a16="http://schemas.microsoft.com/office/drawing/2014/main" val="4019782542"/>
                  </a:ext>
                </a:extLst>
              </a:tr>
              <a:tr h="635000">
                <a:tc>
                  <a:txBody>
                    <a:bodyPr/>
                    <a:lstStyle/>
                    <a:p>
                      <a:r>
                        <a:rPr lang="ja-JP" altLang="en-US" sz="1400" b="1">
                          <a:solidFill>
                            <a:srgbClr val="1A1A1A"/>
                          </a:solidFill>
                          <a:latin typeface="BIZ UDPゴシック"/>
                          <a:ea typeface="BIZ UDPゴシック"/>
                        </a:rPr>
                        <a:t>イベント要因未反映</a:t>
                      </a:r>
                    </a:p>
                  </a:txBody>
                  <a:tcPr anchor="ctr">
                    <a:solidFill>
                      <a:srgbClr val="FFFFFF"/>
                    </a:solidFill>
                  </a:tcPr>
                </a:tc>
                <a:tc>
                  <a:txBody>
                    <a:bodyPr/>
                    <a:lstStyle/>
                    <a:p>
                      <a:r>
                        <a:rPr lang="ja-JP" altLang="en-US" sz="1400">
                          <a:solidFill>
                            <a:srgbClr val="3D3D3D"/>
                          </a:solidFill>
                          <a:latin typeface="BIZ UDPゴシック"/>
                          <a:ea typeface="BIZ UDPゴシック"/>
                        </a:rPr>
                        <a:t>祝日以外のイベント影響を十分に説明できない可能性</a:t>
                      </a:r>
                    </a:p>
                  </a:txBody>
                  <a:tcPr anchor="ctr">
                    <a:solidFill>
                      <a:srgbClr val="FFFFFF"/>
                    </a:solidFill>
                  </a:tcPr>
                </a:tc>
                <a:tc>
                  <a:txBody>
                    <a:bodyPr/>
                    <a:lstStyle/>
                    <a:p>
                      <a:r>
                        <a:rPr lang="ja-JP" altLang="en-US" sz="1400">
                          <a:solidFill>
                            <a:srgbClr val="3D3D3D"/>
                          </a:solidFill>
                          <a:latin typeface="BIZ UDPゴシック"/>
                          <a:ea typeface="BIZ UDPゴシック"/>
                        </a:rPr>
                        <a:t>未反映要因を明示し、追加取得が望ましいデータとして提案</a:t>
                      </a:r>
                    </a:p>
                  </a:txBody>
                  <a:tcPr anchor="ctr">
                    <a:solidFill>
                      <a:srgbClr val="FFFFFF"/>
                    </a:solidFill>
                  </a:tcPr>
                </a:tc>
                <a:extLst>
                  <a:ext uri="{0D108BD9-81ED-4DB2-BD59-A6C34878D82A}">
                    <a16:rowId xmlns:a16="http://schemas.microsoft.com/office/drawing/2014/main" val="4087345992"/>
                  </a:ext>
                </a:extLst>
              </a:tr>
              <a:tr h="635000">
                <a:tc>
                  <a:txBody>
                    <a:bodyPr/>
                    <a:lstStyle/>
                    <a:p>
                      <a:r>
                        <a:rPr lang="ja-JP" altLang="en-US" sz="1400" b="1">
                          <a:solidFill>
                            <a:srgbClr val="1A1A1A"/>
                          </a:solidFill>
                          <a:latin typeface="BIZ UDPゴシック"/>
                          <a:ea typeface="BIZ UDPゴシック"/>
                        </a:rPr>
                        <a:t>短期案件による深度制約</a:t>
                      </a:r>
                    </a:p>
                  </a:txBody>
                  <a:tcPr anchor="ctr">
                    <a:solidFill>
                      <a:srgbClr val="F2F0ED"/>
                    </a:solidFill>
                  </a:tcPr>
                </a:tc>
                <a:tc>
                  <a:txBody>
                    <a:bodyPr/>
                    <a:lstStyle/>
                    <a:p>
                      <a:r>
                        <a:rPr lang="ja-JP" altLang="en-US" sz="1400">
                          <a:solidFill>
                            <a:srgbClr val="3D3D3D"/>
                          </a:solidFill>
                          <a:latin typeface="BIZ UDPゴシック"/>
                          <a:ea typeface="BIZ UDPゴシック"/>
                        </a:rPr>
                        <a:t>5週間・170時間のため高度実装や広範囲検証に制約</a:t>
                      </a:r>
                    </a:p>
                  </a:txBody>
                  <a:tcPr anchor="ctr">
                    <a:solidFill>
                      <a:srgbClr val="F2F0ED"/>
                    </a:solidFill>
                  </a:tcPr>
                </a:tc>
                <a:tc>
                  <a:txBody>
                    <a:bodyPr/>
                    <a:lstStyle/>
                    <a:p>
                      <a:r>
                        <a:rPr lang="ja-JP" altLang="en-US" sz="1400">
                          <a:solidFill>
                            <a:srgbClr val="3D3D3D"/>
                          </a:solidFill>
                          <a:latin typeface="BIZ UDPゴシック"/>
                          <a:ea typeface="BIZ UDPゴシック"/>
                        </a:rPr>
                        <a:t>ベースライン先行で進め、説明可能性と業務示唆を優先した実施計画とする</a:t>
                      </a:r>
                    </a:p>
                  </a:txBody>
                  <a:tcPr anchor="ctr">
                    <a:solidFill>
                      <a:srgbClr val="F2F0ED"/>
                    </a:solidFill>
                  </a:tcPr>
                </a:tc>
                <a:extLst>
                  <a:ext uri="{0D108BD9-81ED-4DB2-BD59-A6C34878D82A}">
                    <a16:rowId xmlns:a16="http://schemas.microsoft.com/office/drawing/2014/main" val="890078347"/>
                  </a:ext>
                </a:extLst>
              </a:tr>
              <a:tr h="635000">
                <a:tc>
                  <a:txBody>
                    <a:bodyPr/>
                    <a:lstStyle/>
                    <a:p>
                      <a:r>
                        <a:rPr lang="ja-JP" altLang="en-US" sz="1400" b="1">
                          <a:solidFill>
                            <a:srgbClr val="1A1A1A"/>
                          </a:solidFill>
                          <a:latin typeface="BIZ UDPゴシック"/>
                          <a:ea typeface="BIZ UDPゴシック"/>
                        </a:rPr>
                        <a:t>追加要望の発生</a:t>
                      </a:r>
                    </a:p>
                  </a:txBody>
                  <a:tcPr anchor="ctr">
                    <a:solidFill>
                      <a:srgbClr val="FFFFFF"/>
                    </a:solidFill>
                  </a:tcPr>
                </a:tc>
                <a:tc>
                  <a:txBody>
                    <a:bodyPr/>
                    <a:lstStyle/>
                    <a:p>
                      <a:r>
                        <a:rPr lang="ja-JP" altLang="en-US" sz="1400">
                          <a:solidFill>
                            <a:srgbClr val="3D3D3D"/>
                          </a:solidFill>
                          <a:latin typeface="BIZ UDPゴシック"/>
                          <a:ea typeface="BIZ UDPゴシック"/>
                        </a:rPr>
                        <a:t>分析過程で追加論点や追加作業が発生する可能性</a:t>
                      </a:r>
                    </a:p>
                  </a:txBody>
                  <a:tcPr anchor="ctr">
                    <a:solidFill>
                      <a:srgbClr val="FFFFFF"/>
                    </a:solidFill>
                  </a:tcPr>
                </a:tc>
                <a:tc>
                  <a:txBody>
                    <a:bodyPr/>
                    <a:lstStyle/>
                    <a:p>
                      <a:r>
                        <a:rPr lang="ja-JP" altLang="en-US" sz="1400">
                          <a:solidFill>
                            <a:srgbClr val="3D3D3D"/>
                          </a:solidFill>
                          <a:latin typeface="BIZ UDPゴシック"/>
                          <a:ea typeface="BIZ UDPゴシック"/>
                        </a:rPr>
                        <a:t>追加対応は別途見積または追加発注として管理し、既存スコープへの影響を明確化</a:t>
                      </a:r>
                    </a:p>
                  </a:txBody>
                  <a:tcPr anchor="ctr">
                    <a:solidFill>
                      <a:srgbClr val="FFFFFF"/>
                    </a:solidFill>
                  </a:tcPr>
                </a:tc>
                <a:extLst>
                  <a:ext uri="{0D108BD9-81ED-4DB2-BD59-A6C34878D82A}">
                    <a16:rowId xmlns:a16="http://schemas.microsoft.com/office/drawing/2014/main" val="3155163266"/>
                  </a:ext>
                </a:extLst>
              </a:tr>
            </a:tbl>
          </a:graphicData>
        </a:graphic>
      </p:graphicFrame>
      <p:sp>
        <p:nvSpPr>
          <p:cNvPr id="3" name="PageNumber">
            <a:extLst>
              <a:ext uri="{FF2B5EF4-FFF2-40B4-BE49-F238E27FC236}">
                <a16:creationId xmlns:a16="http://schemas.microsoft.com/office/drawing/2014/main" id="{7B2F2A2C-945F-4F5A-9E63-33287739A8A9}"/>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14</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599739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97C30A-A46F-6DA3-7204-6D96DC59FEF0}"/>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10. 前提条件と除外事項</a:t>
            </a:r>
          </a:p>
        </p:txBody>
      </p:sp>
      <p:sp>
        <p:nvSpPr>
          <p:cNvPr id="10" name="S10"/>
          <p:cNvSpPr/>
          <p:nvPr/>
        </p:nvSpPr>
        <p:spPr>
          <a:xfrm>
            <a:off x="457200" y="1841500"/>
            <a:ext cx="3683000" cy="406400"/>
          </a:xfrm>
          <a:prstGeom prst="rect">
            <a:avLst/>
          </a:prstGeom>
          <a:solidFill>
            <a:srgbClr val="8B2500"/>
          </a:solidFill>
          <a:ln>
            <a:noFill/>
          </a:ln>
        </p:spPr>
        <p:txBody>
          <a:bodyPr wrap="square" lIns="91440" tIns="36000" rIns="91440" bIns="36000" anchor="t"/>
          <a:lstStyle/>
          <a:p>
            <a:pPr algn="l"/>
            <a:r>
              <a:rPr lang="ja-JP" sz="1400" b="1" dirty="0">
                <a:solidFill>
                  <a:srgbClr val="FFFFFF"/>
                </a:solidFill>
                <a:latin typeface="BIZ UDPゴシック"/>
                <a:ea typeface="BIZ UDPゴシック"/>
              </a:rPr>
              <a:t>10.1 前提条件</a:t>
            </a:r>
          </a:p>
        </p:txBody>
      </p:sp>
      <p:sp>
        <p:nvSpPr>
          <p:cNvPr id="11" name="S11"/>
          <p:cNvSpPr/>
          <p:nvPr/>
        </p:nvSpPr>
        <p:spPr>
          <a:xfrm>
            <a:off x="457200" y="2311400"/>
            <a:ext cx="3683000" cy="3810000"/>
          </a:xfrm>
          <a:prstGeom prst="rect">
            <a:avLst/>
          </a:prstGeom>
          <a:solidFill>
            <a:srgbClr val="F2F0ED"/>
          </a:solidFill>
          <a:ln>
            <a:noFill/>
          </a:ln>
        </p:spPr>
        <p:txBody>
          <a:bodyPr wrap="square" lIns="91440" tIns="36000" rIns="91440" bIns="36000" anchor="t"/>
          <a:lstStyle/>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学習データの正本は train.tsv</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目的変数は cnt</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分析粒度は日付×時間の1時間単位</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実データとの不整合は実データを優先</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yr, workingday の定義整合性は初期確認事項</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規格化済み気象変数はそのまま利用</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外生要因前提は成果物で明示</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運用事実と需要仮説は分離して記載</a:t>
            </a:r>
          </a:p>
        </p:txBody>
      </p:sp>
      <p:sp>
        <p:nvSpPr>
          <p:cNvPr id="20" name="S20"/>
          <p:cNvSpPr/>
          <p:nvPr/>
        </p:nvSpPr>
        <p:spPr>
          <a:xfrm>
            <a:off x="4254500" y="1841500"/>
            <a:ext cx="3683000" cy="406400"/>
          </a:xfrm>
          <a:prstGeom prst="rect">
            <a:avLst/>
          </a:prstGeom>
          <a:solidFill>
            <a:srgbClr val="4A4A4A"/>
          </a:solidFill>
          <a:ln>
            <a:noFill/>
          </a:ln>
        </p:spPr>
        <p:txBody>
          <a:bodyPr wrap="square" lIns="91440" tIns="36000" rIns="91440" bIns="36000" anchor="t"/>
          <a:lstStyle/>
          <a:p>
            <a:pPr algn="l"/>
            <a:r>
              <a:rPr lang="ja-JP" sz="1400" b="1" dirty="0">
                <a:solidFill>
                  <a:srgbClr val="FFFFFF"/>
                </a:solidFill>
                <a:latin typeface="BIZ UDPゴシック"/>
                <a:ea typeface="BIZ UDPゴシック"/>
              </a:rPr>
              <a:t>10.2 除外事項</a:t>
            </a:r>
          </a:p>
        </p:txBody>
      </p:sp>
      <p:sp>
        <p:nvSpPr>
          <p:cNvPr id="21" name="S21"/>
          <p:cNvSpPr/>
          <p:nvPr/>
        </p:nvSpPr>
        <p:spPr>
          <a:xfrm>
            <a:off x="4254500" y="2311400"/>
            <a:ext cx="3683000" cy="3810000"/>
          </a:xfrm>
          <a:prstGeom prst="rect">
            <a:avLst/>
          </a:prstGeom>
          <a:solidFill>
            <a:srgbClr val="F2F0ED"/>
          </a:solidFill>
          <a:ln>
            <a:noFill/>
          </a:ln>
        </p:spPr>
        <p:txBody>
          <a:bodyPr wrap="square" lIns="91440" tIns="36000" rIns="91440" bIns="36000" anchor="t"/>
          <a:lstStyle/>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本番システム実装、API化、バッチ化、MLOps構築</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空間分析、位置情報分析、移動履歴分析</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配車最適化、再配置最適化の実装</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外部データとの本番連携</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本番運用精度保証</a:t>
            </a:r>
          </a:p>
          <a:p>
            <a:pPr algn="l">
              <a:lnSpc>
                <a:spcPts val="1500"/>
              </a:lnSpc>
            </a:pPr>
            <a:r>
              <a:rPr lang="ja-JP" sz="1000" dirty="0">
                <a:solidFill>
                  <a:srgbClr val="8B2500"/>
                </a:solidFill>
                <a:latin typeface="BIZ UDPゴシック"/>
                <a:ea typeface="BIZ UDPゴシック"/>
              </a:rPr>
              <a:t>✗ </a:t>
            </a:r>
            <a:r>
              <a:rPr lang="ja-JP" sz="1000" dirty="0">
                <a:solidFill>
                  <a:srgbClr val="3D3D3D"/>
                </a:solidFill>
                <a:latin typeface="BIZ UDPゴシック"/>
                <a:ea typeface="BIZ UDPゴシック"/>
              </a:rPr>
              <a:t>オペレーション変更の実行支援</a:t>
            </a:r>
          </a:p>
        </p:txBody>
      </p:sp>
      <p:sp>
        <p:nvSpPr>
          <p:cNvPr id="30" name="S30"/>
          <p:cNvSpPr/>
          <p:nvPr/>
        </p:nvSpPr>
        <p:spPr>
          <a:xfrm>
            <a:off x="8051800" y="1841500"/>
            <a:ext cx="3683000" cy="406400"/>
          </a:xfrm>
          <a:prstGeom prst="rect">
            <a:avLst/>
          </a:prstGeom>
          <a:solidFill>
            <a:srgbClr val="7A7A7A"/>
          </a:solidFill>
          <a:ln>
            <a:noFill/>
          </a:ln>
        </p:spPr>
        <p:txBody>
          <a:bodyPr wrap="square" lIns="91440" tIns="36000" rIns="91440" bIns="36000" anchor="t"/>
          <a:lstStyle/>
          <a:p>
            <a:pPr algn="l"/>
            <a:r>
              <a:rPr lang="ja-JP" sz="1400" b="1" dirty="0">
                <a:solidFill>
                  <a:srgbClr val="FFFFFF"/>
                </a:solidFill>
                <a:latin typeface="BIZ UDPゴシック"/>
                <a:ea typeface="BIZ UDPゴシック"/>
              </a:rPr>
              <a:t>10.3 変更管理方針</a:t>
            </a:r>
          </a:p>
        </p:txBody>
      </p:sp>
      <p:sp>
        <p:nvSpPr>
          <p:cNvPr id="31" name="S31"/>
          <p:cNvSpPr/>
          <p:nvPr/>
        </p:nvSpPr>
        <p:spPr>
          <a:xfrm>
            <a:off x="8051800" y="2311400"/>
            <a:ext cx="3683000" cy="3810000"/>
          </a:xfrm>
          <a:prstGeom prst="rect">
            <a:avLst/>
          </a:prstGeom>
          <a:solidFill>
            <a:srgbClr val="F2F0ED"/>
          </a:solidFill>
          <a:ln>
            <a:noFill/>
          </a:ln>
        </p:spPr>
        <p:txBody>
          <a:bodyPr wrap="square" lIns="91440" tIns="36000" rIns="91440" bIns="36000" anchor="t"/>
          <a:lstStyle/>
          <a:p>
            <a:pPr algn="l">
              <a:lnSpc>
                <a:spcPts val="1600"/>
              </a:lnSpc>
            </a:pPr>
            <a:r>
              <a:rPr lang="ja-JP" sz="1000" b="1" dirty="0">
                <a:solidFill>
                  <a:srgbClr val="8B2500"/>
                </a:solidFill>
                <a:latin typeface="BIZ UDPゴシック"/>
                <a:ea typeface="BIZ UDPゴシック"/>
              </a:rPr>
              <a:t>基本方針</a:t>
            </a:r>
          </a:p>
          <a:p>
            <a:pPr algn="l">
              <a:lnSpc>
                <a:spcPts val="1500"/>
              </a:lnSpc>
            </a:pPr>
            <a:r>
              <a:rPr lang="ja-JP" sz="1000" dirty="0">
                <a:solidFill>
                  <a:srgbClr val="3D3D3D"/>
                </a:solidFill>
                <a:latin typeface="BIZ UDPゴシック"/>
                <a:ea typeface="BIZ UDPゴシック"/>
              </a:rPr>
              <a:t>追加対応は時間単価ベースで別途見積または追加発注として扱う</a:t>
            </a:r>
          </a:p>
          <a:p>
            <a:pPr algn="l">
              <a:lnSpc>
                <a:spcPts val="1600"/>
              </a:lnSpc>
              <a:spcBef>
                <a:spcPts val="600"/>
              </a:spcBef>
            </a:pPr>
            <a:r>
              <a:rPr lang="ja-JP" sz="1000" b="1" dirty="0">
                <a:solidFill>
                  <a:srgbClr val="8B2500"/>
                </a:solidFill>
                <a:latin typeface="BIZ UDPゴシック"/>
                <a:ea typeface="BIZ UDPゴシック"/>
              </a:rPr>
              <a:t>前提</a:t>
            </a:r>
          </a:p>
          <a:p>
            <a:pPr algn="l">
              <a:lnSpc>
                <a:spcPts val="1500"/>
              </a:lnSpc>
            </a:pPr>
            <a:r>
              <a:rPr lang="ja-JP" sz="1000" dirty="0">
                <a:solidFill>
                  <a:srgbClr val="3D3D3D"/>
                </a:solidFill>
                <a:latin typeface="BIZ UDPゴシック"/>
                <a:ea typeface="BIZ UDPゴシック"/>
              </a:rPr>
              <a:t>追加対応が発生しない前提は置かない</a:t>
            </a:r>
          </a:p>
          <a:p>
            <a:pPr algn="l">
              <a:lnSpc>
                <a:spcPts val="1600"/>
              </a:lnSpc>
              <a:spcBef>
                <a:spcPts val="600"/>
              </a:spcBef>
            </a:pPr>
            <a:r>
              <a:rPr lang="ja-JP" sz="1000" b="1" dirty="0">
                <a:solidFill>
                  <a:srgbClr val="8B2500"/>
                </a:solidFill>
                <a:latin typeface="BIZ UDPゴシック"/>
                <a:ea typeface="BIZ UDPゴシック"/>
              </a:rPr>
              <a:t>対象</a:t>
            </a:r>
          </a:p>
          <a:p>
            <a:pPr algn="l">
              <a:lnSpc>
                <a:spcPts val="1500"/>
              </a:lnSpc>
            </a:pPr>
            <a:r>
              <a:rPr lang="ja-JP" sz="1000" dirty="0">
                <a:solidFill>
                  <a:srgbClr val="3D3D3D"/>
                </a:solidFill>
                <a:latin typeface="BIZ UDPゴシック"/>
                <a:ea typeface="BIZ UDPゴシック"/>
              </a:rPr>
              <a:t>スコープ外の分析、成果物追加、レビュー回数の増加、データ追加対応等が発生した場合は、影響範囲を確認のうえ、別途協議・見積の対象とする</a:t>
            </a:r>
          </a:p>
        </p:txBody>
      </p:sp>
      <p:sp>
        <p:nvSpPr>
          <p:cNvPr id="3" name="PageNumber">
            <a:extLst>
              <a:ext uri="{FF2B5EF4-FFF2-40B4-BE49-F238E27FC236}">
                <a16:creationId xmlns:a16="http://schemas.microsoft.com/office/drawing/2014/main" id="{AFA3F158-0CBA-466D-BAA9-4F16DB6E3148}"/>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15</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1794542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CA28D3-1D1F-88B8-F52A-6DA20624101E}"/>
              </a:ext>
            </a:extLst>
          </p:cNvPr>
          <p:cNvSpPr>
            <a:spLocks noGrp="1"/>
          </p:cNvSpPr>
          <p:nvPr>
            <p:ph type="title"/>
          </p:nvPr>
        </p:nvSpPr>
        <p:spPr/>
        <p:txBody>
          <a:bodyPr/>
          <a:lstStyle/>
          <a:p>
            <a:pPr algn="l">
              <a:buNone/>
            </a:pPr>
            <a:r>
              <a:rPr lang="ja-JP" sz="2800" b="1" dirty="0">
                <a:solidFill>
                  <a:srgbClr val="1A1A1A"/>
                </a:solidFill>
                <a:latin typeface="BIZ UDPゴシック"/>
                <a:ea typeface="BIZ UDPゴシック"/>
              </a:rPr>
              <a:t>11. 次アクション</a:t>
            </a:r>
          </a:p>
        </p:txBody>
      </p:sp>
      <p:sp>
        <p:nvSpPr>
          <p:cNvPr id="10" name="S10"/>
          <p:cNvSpPr/>
          <p:nvPr/>
        </p:nvSpPr>
        <p:spPr>
          <a:xfrm>
            <a:off x="457200" y="1778000"/>
            <a:ext cx="11277600" cy="304800"/>
          </a:xfrm>
          <a:prstGeom prst="rect">
            <a:avLst/>
          </a:prstGeom>
          <a:noFill/>
          <a:ln>
            <a:noFill/>
          </a:ln>
        </p:spPr>
        <p:txBody>
          <a:bodyPr wrap="square" lIns="91440" tIns="45720" rIns="91440" bIns="45720" anchor="ctr"/>
          <a:lstStyle/>
          <a:p>
            <a:pPr algn="l"/>
            <a:r>
              <a:rPr lang="ja-JP" sz="1200" dirty="0">
                <a:solidFill>
                  <a:srgbClr val="4A4A4A"/>
                </a:solidFill>
                <a:latin typeface="BIZ UDPゴシック"/>
                <a:ea typeface="BIZ UDPゴシック"/>
              </a:rPr>
              <a:t>契約締結後、以下の順で着手する</a:t>
            </a:r>
          </a:p>
        </p:txBody>
      </p:sp>
      <p:sp>
        <p:nvSpPr>
          <p:cNvPr id="20" name="Num0"/>
          <p:cNvSpPr/>
          <p:nvPr/>
        </p:nvSpPr>
        <p:spPr>
          <a:xfrm>
            <a:off x="533400" y="2286000"/>
            <a:ext cx="457200" cy="457200"/>
          </a:xfrm>
          <a:prstGeom prst="ellipse">
            <a:avLst/>
          </a:prstGeom>
          <a:solidFill>
            <a:srgbClr val="8B2500"/>
          </a:solidFill>
          <a:ln>
            <a:noFill/>
          </a:ln>
        </p:spPr>
        <p:txBody>
          <a:bodyPr wrap="none" lIns="0" tIns="0" rIns="0" bIns="0" anchor="ctr"/>
          <a:lstStyle/>
          <a:p>
            <a:pPr algn="ctr"/>
            <a:r>
              <a:rPr lang="ja-JP" sz="2000" b="1" dirty="0">
                <a:solidFill>
                  <a:srgbClr val="FFFFFF"/>
                </a:solidFill>
                <a:latin typeface="BIZ UDPゴシック"/>
                <a:ea typeface="BIZ UDPゴシック"/>
              </a:rPr>
              <a:t>1</a:t>
            </a:r>
          </a:p>
        </p:txBody>
      </p:sp>
      <p:sp>
        <p:nvSpPr>
          <p:cNvPr id="21" name="S21"/>
          <p:cNvSpPr/>
          <p:nvPr/>
        </p:nvSpPr>
        <p:spPr>
          <a:xfrm>
            <a:off x="1143000" y="2222500"/>
            <a:ext cx="3048000" cy="571500"/>
          </a:xfrm>
          <a:prstGeom prst="rect">
            <a:avLst/>
          </a:prstGeom>
          <a:solidFill>
            <a:srgbClr val="F2F0ED"/>
          </a:solidFill>
          <a:ln>
            <a:noFill/>
          </a:ln>
        </p:spPr>
        <p:txBody>
          <a:bodyPr wrap="square" lIns="91440" tIns="45720" rIns="91440" bIns="45720" anchor="ctr"/>
          <a:lstStyle/>
          <a:p>
            <a:pPr algn="l"/>
            <a:r>
              <a:rPr lang="ja-JP" sz="1400" b="1" dirty="0">
                <a:solidFill>
                  <a:srgbClr val="1A1A1A"/>
                </a:solidFill>
                <a:latin typeface="BIZ UDPゴシック"/>
                <a:ea typeface="BIZ UDPゴシック"/>
              </a:rPr>
              <a:t>キックオフ会議の実施</a:t>
            </a:r>
          </a:p>
        </p:txBody>
      </p:sp>
      <p:sp>
        <p:nvSpPr>
          <p:cNvPr id="22" name="S22"/>
          <p:cNvSpPr/>
          <p:nvPr/>
        </p:nvSpPr>
        <p:spPr>
          <a:xfrm>
            <a:off x="4381500" y="2222500"/>
            <a:ext cx="7366000" cy="571500"/>
          </a:xfrm>
          <a:prstGeom prst="rect">
            <a:avLst/>
          </a:prstGeom>
          <a:noFill/>
          <a:ln>
            <a:noFill/>
          </a:ln>
        </p:spPr>
        <p:txBody>
          <a:bodyPr wrap="square" lIns="91440" tIns="45720" rIns="91440" bIns="45720" anchor="ctr"/>
          <a:lstStyle/>
          <a:p>
            <a:pPr algn="l"/>
            <a:r>
              <a:rPr lang="ja-JP" sz="1200" dirty="0">
                <a:solidFill>
                  <a:srgbClr val="3D3D3D"/>
                </a:solidFill>
                <a:latin typeface="BIZ UDPゴシック"/>
                <a:ea typeface="BIZ UDPゴシック"/>
              </a:rPr>
              <a:t>プロジェクト関係者全員で目的・スコープ・進め方を共有し、合意する</a:t>
            </a:r>
          </a:p>
        </p:txBody>
      </p:sp>
      <p:sp>
        <p:nvSpPr>
          <p:cNvPr id="50" name="Line0"/>
          <p:cNvSpPr/>
          <p:nvPr/>
        </p:nvSpPr>
        <p:spPr>
          <a:xfrm>
            <a:off x="711200" y="2794000"/>
            <a:ext cx="101600" cy="127000"/>
          </a:xfrm>
          <a:prstGeom prst="downArrow">
            <a:avLst/>
          </a:prstGeom>
          <a:solidFill>
            <a:srgbClr val="B0A8A0"/>
          </a:solidFill>
          <a:ln>
            <a:noFill/>
          </a:ln>
        </p:spPr>
        <p:txBody>
          <a:bodyPr/>
          <a:lstStyle/>
          <a:p>
            <a:endParaRPr lang="ja-JP"/>
          </a:p>
        </p:txBody>
      </p:sp>
      <p:sp>
        <p:nvSpPr>
          <p:cNvPr id="23" name="Num1"/>
          <p:cNvSpPr/>
          <p:nvPr/>
        </p:nvSpPr>
        <p:spPr>
          <a:xfrm>
            <a:off x="533400" y="2984500"/>
            <a:ext cx="457200" cy="457200"/>
          </a:xfrm>
          <a:prstGeom prst="ellipse">
            <a:avLst/>
          </a:prstGeom>
          <a:solidFill>
            <a:srgbClr val="8B2500"/>
          </a:solidFill>
          <a:ln>
            <a:noFill/>
          </a:ln>
        </p:spPr>
        <p:txBody>
          <a:bodyPr wrap="none" lIns="0" tIns="0" rIns="0" bIns="0" anchor="ctr"/>
          <a:lstStyle/>
          <a:p>
            <a:pPr algn="ctr"/>
            <a:r>
              <a:rPr lang="ja-JP" sz="2000" b="1" dirty="0">
                <a:solidFill>
                  <a:srgbClr val="FFFFFF"/>
                </a:solidFill>
                <a:latin typeface="BIZ UDPゴシック"/>
                <a:ea typeface="BIZ UDPゴシック"/>
              </a:rPr>
              <a:t>2</a:t>
            </a:r>
          </a:p>
        </p:txBody>
      </p:sp>
      <p:sp>
        <p:nvSpPr>
          <p:cNvPr id="24" name="S24"/>
          <p:cNvSpPr/>
          <p:nvPr/>
        </p:nvSpPr>
        <p:spPr>
          <a:xfrm>
            <a:off x="1143000" y="2921000"/>
            <a:ext cx="3048000" cy="571500"/>
          </a:xfrm>
          <a:prstGeom prst="rect">
            <a:avLst/>
          </a:prstGeom>
          <a:solidFill>
            <a:srgbClr val="F2F0ED"/>
          </a:solidFill>
          <a:ln>
            <a:noFill/>
          </a:ln>
        </p:spPr>
        <p:txBody>
          <a:bodyPr wrap="square" lIns="91440" tIns="45720" rIns="91440" bIns="45720" anchor="ctr"/>
          <a:lstStyle/>
          <a:p>
            <a:pPr algn="l"/>
            <a:r>
              <a:rPr lang="ja-JP" sz="1400" b="1" dirty="0">
                <a:solidFill>
                  <a:srgbClr val="1A1A1A"/>
                </a:solidFill>
                <a:latin typeface="BIZ UDPゴシック"/>
                <a:ea typeface="BIZ UDPゴシック"/>
              </a:rPr>
              <a:t>train.tsv の受領・読込確認</a:t>
            </a:r>
          </a:p>
        </p:txBody>
      </p:sp>
      <p:sp>
        <p:nvSpPr>
          <p:cNvPr id="25" name="S25"/>
          <p:cNvSpPr/>
          <p:nvPr/>
        </p:nvSpPr>
        <p:spPr>
          <a:xfrm>
            <a:off x="4381500" y="2921000"/>
            <a:ext cx="7366000" cy="571500"/>
          </a:xfrm>
          <a:prstGeom prst="rect">
            <a:avLst/>
          </a:prstGeom>
          <a:noFill/>
          <a:ln>
            <a:noFill/>
          </a:ln>
        </p:spPr>
        <p:txBody>
          <a:bodyPr wrap="square" lIns="91440" tIns="45720" rIns="91440" bIns="45720" anchor="ctr"/>
          <a:lstStyle/>
          <a:p>
            <a:pPr algn="l"/>
            <a:r>
              <a:rPr lang="ja-JP" sz="1200" dirty="0">
                <a:solidFill>
                  <a:srgbClr val="3D3D3D"/>
                </a:solidFill>
                <a:latin typeface="BIZ UDPゴシック"/>
                <a:ea typeface="BIZ UDPゴシック"/>
              </a:rPr>
              <a:t>データファイルを受領し、読込可能であることを確認する</a:t>
            </a:r>
          </a:p>
        </p:txBody>
      </p:sp>
      <p:sp>
        <p:nvSpPr>
          <p:cNvPr id="51" name="Line1"/>
          <p:cNvSpPr/>
          <p:nvPr/>
        </p:nvSpPr>
        <p:spPr>
          <a:xfrm>
            <a:off x="711200" y="3492500"/>
            <a:ext cx="101600" cy="127000"/>
          </a:xfrm>
          <a:prstGeom prst="downArrow">
            <a:avLst/>
          </a:prstGeom>
          <a:solidFill>
            <a:srgbClr val="B0A8A0"/>
          </a:solidFill>
          <a:ln>
            <a:noFill/>
          </a:ln>
        </p:spPr>
        <p:txBody>
          <a:bodyPr/>
          <a:lstStyle/>
          <a:p>
            <a:endParaRPr lang="ja-JP"/>
          </a:p>
        </p:txBody>
      </p:sp>
      <p:sp>
        <p:nvSpPr>
          <p:cNvPr id="26" name="Num2"/>
          <p:cNvSpPr/>
          <p:nvPr/>
        </p:nvSpPr>
        <p:spPr>
          <a:xfrm>
            <a:off x="533400" y="3683000"/>
            <a:ext cx="457200" cy="457200"/>
          </a:xfrm>
          <a:prstGeom prst="ellipse">
            <a:avLst/>
          </a:prstGeom>
          <a:solidFill>
            <a:srgbClr val="8B2500"/>
          </a:solidFill>
          <a:ln>
            <a:noFill/>
          </a:ln>
        </p:spPr>
        <p:txBody>
          <a:bodyPr wrap="none" lIns="0" tIns="0" rIns="0" bIns="0" anchor="ctr"/>
          <a:lstStyle/>
          <a:p>
            <a:pPr algn="ctr"/>
            <a:r>
              <a:rPr lang="ja-JP" sz="2000" b="1" dirty="0">
                <a:solidFill>
                  <a:srgbClr val="FFFFFF"/>
                </a:solidFill>
                <a:latin typeface="BIZ UDPゴシック"/>
                <a:ea typeface="BIZ UDPゴシック"/>
              </a:rPr>
              <a:t>3</a:t>
            </a:r>
          </a:p>
        </p:txBody>
      </p:sp>
      <p:sp>
        <p:nvSpPr>
          <p:cNvPr id="27" name="S27"/>
          <p:cNvSpPr/>
          <p:nvPr/>
        </p:nvSpPr>
        <p:spPr>
          <a:xfrm>
            <a:off x="1143000" y="3619500"/>
            <a:ext cx="3048000" cy="571500"/>
          </a:xfrm>
          <a:prstGeom prst="rect">
            <a:avLst/>
          </a:prstGeom>
          <a:solidFill>
            <a:srgbClr val="F2F0ED"/>
          </a:solidFill>
          <a:ln>
            <a:noFill/>
          </a:ln>
        </p:spPr>
        <p:txBody>
          <a:bodyPr wrap="square" lIns="91440" tIns="45720" rIns="91440" bIns="45720" anchor="ctr"/>
          <a:lstStyle/>
          <a:p>
            <a:pPr algn="l"/>
            <a:r>
              <a:rPr lang="ja-JP" sz="1400" b="1" dirty="0">
                <a:solidFill>
                  <a:srgbClr val="1A1A1A"/>
                </a:solidFill>
                <a:latin typeface="BIZ UDPゴシック"/>
                <a:ea typeface="BIZ UDPゴシック"/>
              </a:rPr>
              <a:t>データ定義差異の初期確認</a:t>
            </a:r>
          </a:p>
        </p:txBody>
      </p:sp>
      <p:sp>
        <p:nvSpPr>
          <p:cNvPr id="28" name="S28"/>
          <p:cNvSpPr/>
          <p:nvPr/>
        </p:nvSpPr>
        <p:spPr>
          <a:xfrm>
            <a:off x="4381500" y="3619500"/>
            <a:ext cx="7366000" cy="571500"/>
          </a:xfrm>
          <a:prstGeom prst="rect">
            <a:avLst/>
          </a:prstGeom>
          <a:noFill/>
          <a:ln>
            <a:noFill/>
          </a:ln>
        </p:spPr>
        <p:txBody>
          <a:bodyPr wrap="square" lIns="91440" tIns="45720" rIns="91440" bIns="45720" anchor="ctr"/>
          <a:lstStyle/>
          <a:p>
            <a:pPr algn="l"/>
            <a:r>
              <a:rPr lang="ja-JP" sz="1200" dirty="0">
                <a:solidFill>
                  <a:srgbClr val="3D3D3D"/>
                </a:solidFill>
                <a:latin typeface="BIZ UDPゴシック"/>
                <a:ea typeface="BIZ UDPゴシック"/>
              </a:rPr>
              <a:t>yr, workingday 等の定義差異が疑われる項目を優先的に検証する</a:t>
            </a:r>
          </a:p>
        </p:txBody>
      </p:sp>
      <p:sp>
        <p:nvSpPr>
          <p:cNvPr id="52" name="Line2"/>
          <p:cNvSpPr/>
          <p:nvPr/>
        </p:nvSpPr>
        <p:spPr>
          <a:xfrm>
            <a:off x="711200" y="4191000"/>
            <a:ext cx="101600" cy="127000"/>
          </a:xfrm>
          <a:prstGeom prst="downArrow">
            <a:avLst/>
          </a:prstGeom>
          <a:solidFill>
            <a:srgbClr val="B0A8A0"/>
          </a:solidFill>
          <a:ln>
            <a:noFill/>
          </a:ln>
        </p:spPr>
        <p:txBody>
          <a:bodyPr/>
          <a:lstStyle/>
          <a:p>
            <a:endParaRPr lang="ja-JP"/>
          </a:p>
        </p:txBody>
      </p:sp>
      <p:sp>
        <p:nvSpPr>
          <p:cNvPr id="29" name="Num3"/>
          <p:cNvSpPr/>
          <p:nvPr/>
        </p:nvSpPr>
        <p:spPr>
          <a:xfrm>
            <a:off x="533400" y="4381500"/>
            <a:ext cx="457200" cy="457200"/>
          </a:xfrm>
          <a:prstGeom prst="ellipse">
            <a:avLst/>
          </a:prstGeom>
          <a:solidFill>
            <a:srgbClr val="8B2500"/>
          </a:solidFill>
          <a:ln>
            <a:noFill/>
          </a:ln>
        </p:spPr>
        <p:txBody>
          <a:bodyPr wrap="none" lIns="0" tIns="0" rIns="0" bIns="0" anchor="ctr"/>
          <a:lstStyle/>
          <a:p>
            <a:pPr algn="ctr"/>
            <a:r>
              <a:rPr lang="ja-JP" sz="2000" b="1" dirty="0">
                <a:solidFill>
                  <a:srgbClr val="FFFFFF"/>
                </a:solidFill>
                <a:latin typeface="BIZ UDPゴシック"/>
                <a:ea typeface="BIZ UDPゴシック"/>
              </a:rPr>
              <a:t>4</a:t>
            </a:r>
          </a:p>
        </p:txBody>
      </p:sp>
      <p:sp>
        <p:nvSpPr>
          <p:cNvPr id="30" name="S30"/>
          <p:cNvSpPr/>
          <p:nvPr/>
        </p:nvSpPr>
        <p:spPr>
          <a:xfrm>
            <a:off x="1143000" y="4318000"/>
            <a:ext cx="3048000" cy="571500"/>
          </a:xfrm>
          <a:prstGeom prst="rect">
            <a:avLst/>
          </a:prstGeom>
          <a:solidFill>
            <a:srgbClr val="F2F0ED"/>
          </a:solidFill>
          <a:ln>
            <a:noFill/>
          </a:ln>
        </p:spPr>
        <p:txBody>
          <a:bodyPr wrap="square" lIns="91440" tIns="45720" rIns="91440" bIns="45720" anchor="ctr"/>
          <a:lstStyle/>
          <a:p>
            <a:pPr algn="l"/>
            <a:r>
              <a:rPr lang="ja-JP" sz="1400" b="1" dirty="0">
                <a:solidFill>
                  <a:srgbClr val="1A1A1A"/>
                </a:solidFill>
                <a:latin typeface="BIZ UDPゴシック"/>
                <a:ea typeface="BIZ UDPゴシック"/>
              </a:rPr>
              <a:t>Week 1 作業計画の合意</a:t>
            </a:r>
          </a:p>
        </p:txBody>
      </p:sp>
      <p:sp>
        <p:nvSpPr>
          <p:cNvPr id="31" name="S31"/>
          <p:cNvSpPr/>
          <p:nvPr/>
        </p:nvSpPr>
        <p:spPr>
          <a:xfrm>
            <a:off x="4381500" y="4318000"/>
            <a:ext cx="7366000" cy="571500"/>
          </a:xfrm>
          <a:prstGeom prst="rect">
            <a:avLst/>
          </a:prstGeom>
          <a:noFill/>
          <a:ln>
            <a:noFill/>
          </a:ln>
        </p:spPr>
        <p:txBody>
          <a:bodyPr wrap="square" lIns="91440" tIns="45720" rIns="91440" bIns="45720" anchor="ctr"/>
          <a:lstStyle/>
          <a:p>
            <a:pPr algn="l"/>
            <a:r>
              <a:rPr lang="ja-JP" sz="1200" dirty="0">
                <a:solidFill>
                  <a:srgbClr val="3D3D3D"/>
                </a:solidFill>
                <a:latin typeface="BIZ UDPゴシック"/>
                <a:ea typeface="BIZ UDPゴシック"/>
              </a:rPr>
              <a:t>初週の詳細作業計画を策定し、発注者と合意する</a:t>
            </a:r>
          </a:p>
        </p:txBody>
      </p:sp>
      <p:sp>
        <p:nvSpPr>
          <p:cNvPr id="53" name="Line3"/>
          <p:cNvSpPr/>
          <p:nvPr/>
        </p:nvSpPr>
        <p:spPr>
          <a:xfrm>
            <a:off x="711200" y="4889500"/>
            <a:ext cx="101600" cy="127000"/>
          </a:xfrm>
          <a:prstGeom prst="downArrow">
            <a:avLst/>
          </a:prstGeom>
          <a:solidFill>
            <a:srgbClr val="B0A8A0"/>
          </a:solidFill>
          <a:ln>
            <a:noFill/>
          </a:ln>
        </p:spPr>
        <p:txBody>
          <a:bodyPr/>
          <a:lstStyle/>
          <a:p>
            <a:endParaRPr lang="ja-JP"/>
          </a:p>
        </p:txBody>
      </p:sp>
      <p:sp>
        <p:nvSpPr>
          <p:cNvPr id="32" name="Num4"/>
          <p:cNvSpPr/>
          <p:nvPr/>
        </p:nvSpPr>
        <p:spPr>
          <a:xfrm>
            <a:off x="533400" y="5080000"/>
            <a:ext cx="457200" cy="457200"/>
          </a:xfrm>
          <a:prstGeom prst="ellipse">
            <a:avLst/>
          </a:prstGeom>
          <a:solidFill>
            <a:srgbClr val="8B2500"/>
          </a:solidFill>
          <a:ln>
            <a:noFill/>
          </a:ln>
        </p:spPr>
        <p:txBody>
          <a:bodyPr wrap="none" lIns="0" tIns="0" rIns="0" bIns="0" anchor="ctr"/>
          <a:lstStyle/>
          <a:p>
            <a:pPr algn="ctr"/>
            <a:r>
              <a:rPr lang="ja-JP" sz="2000" b="1" dirty="0">
                <a:solidFill>
                  <a:srgbClr val="FFFFFF"/>
                </a:solidFill>
                <a:latin typeface="BIZ UDPゴシック"/>
                <a:ea typeface="BIZ UDPゴシック"/>
              </a:rPr>
              <a:t>5</a:t>
            </a:r>
          </a:p>
        </p:txBody>
      </p:sp>
      <p:sp>
        <p:nvSpPr>
          <p:cNvPr id="33" name="S33"/>
          <p:cNvSpPr/>
          <p:nvPr/>
        </p:nvSpPr>
        <p:spPr>
          <a:xfrm>
            <a:off x="1143000" y="5016500"/>
            <a:ext cx="3048000" cy="571500"/>
          </a:xfrm>
          <a:prstGeom prst="rect">
            <a:avLst/>
          </a:prstGeom>
          <a:solidFill>
            <a:srgbClr val="F2F0ED"/>
          </a:solidFill>
          <a:ln>
            <a:noFill/>
          </a:ln>
        </p:spPr>
        <p:txBody>
          <a:bodyPr wrap="square" lIns="91440" tIns="45720" rIns="91440" bIns="45720" anchor="ctr"/>
          <a:lstStyle/>
          <a:p>
            <a:pPr algn="l"/>
            <a:r>
              <a:rPr lang="ja-JP" sz="1400" b="1" dirty="0">
                <a:solidFill>
                  <a:srgbClr val="1A1A1A"/>
                </a:solidFill>
                <a:latin typeface="BIZ UDPゴシック"/>
                <a:ea typeface="BIZ UDPゴシック"/>
              </a:rPr>
              <a:t>週次定例運営の開始</a:t>
            </a:r>
          </a:p>
        </p:txBody>
      </p:sp>
      <p:sp>
        <p:nvSpPr>
          <p:cNvPr id="34" name="S34"/>
          <p:cNvSpPr/>
          <p:nvPr/>
        </p:nvSpPr>
        <p:spPr>
          <a:xfrm>
            <a:off x="4381500" y="5016500"/>
            <a:ext cx="7366000" cy="571500"/>
          </a:xfrm>
          <a:prstGeom prst="rect">
            <a:avLst/>
          </a:prstGeom>
          <a:noFill/>
          <a:ln>
            <a:noFill/>
          </a:ln>
        </p:spPr>
        <p:txBody>
          <a:bodyPr wrap="square" lIns="91440" tIns="45720" rIns="91440" bIns="45720" anchor="ctr"/>
          <a:lstStyle/>
          <a:p>
            <a:pPr algn="l"/>
            <a:r>
              <a:rPr lang="ja-JP" sz="1200" dirty="0">
                <a:solidFill>
                  <a:srgbClr val="3D3D3D"/>
                </a:solidFill>
                <a:latin typeface="BIZ UDPゴシック"/>
                <a:ea typeface="BIZ UDPゴシック"/>
              </a:rPr>
              <a:t>定例会議体を立ち上げ、継続的なコミュニケーション体制を確立する</a:t>
            </a:r>
          </a:p>
        </p:txBody>
      </p:sp>
      <p:sp>
        <p:nvSpPr>
          <p:cNvPr id="60" name="S60"/>
          <p:cNvSpPr/>
          <p:nvPr/>
        </p:nvSpPr>
        <p:spPr>
          <a:xfrm>
            <a:off x="457200" y="5842000"/>
            <a:ext cx="11277600" cy="571500"/>
          </a:xfrm>
          <a:prstGeom prst="roundRect">
            <a:avLst/>
          </a:prstGeom>
          <a:solidFill>
            <a:srgbClr val="4A4A4A"/>
          </a:solidFill>
          <a:ln>
            <a:noFill/>
          </a:ln>
        </p:spPr>
        <p:txBody>
          <a:bodyPr wrap="square" lIns="91440" tIns="45720" rIns="91440" bIns="45720" anchor="ctr"/>
          <a:lstStyle/>
          <a:p>
            <a:pPr algn="ctr"/>
            <a:r>
              <a:rPr lang="ja-JP" sz="1200" dirty="0">
                <a:solidFill>
                  <a:srgbClr val="FFFFFF"/>
                </a:solidFill>
                <a:latin typeface="BIZ UDPゴシック"/>
                <a:ea typeface="BIZ UDPゴシック"/>
              </a:rPr>
              <a:t>以上の内容にて、株式会社データアステルは、株式会社青潮モビリティサービス向け</a:t>
            </a:r>
          </a:p>
          <a:p>
            <a:pPr algn="ctr"/>
            <a:r>
              <a:rPr lang="ja-JP" sz="1200" b="1" dirty="0">
                <a:solidFill>
                  <a:srgbClr val="FFFFFF"/>
                </a:solidFill>
                <a:latin typeface="BIZ UDPゴシック"/>
                <a:ea typeface="BIZ UDPゴシック"/>
              </a:rPr>
              <a:t>「モビリティ需要予測分析プロジェクト」</a:t>
            </a:r>
            <a:r>
              <a:rPr lang="ja-JP" sz="1200" dirty="0">
                <a:solidFill>
                  <a:srgbClr val="FFFFFF"/>
                </a:solidFill>
                <a:latin typeface="BIZ UDPゴシック"/>
                <a:ea typeface="BIZ UDPゴシック"/>
              </a:rPr>
              <a:t>を提案いたします</a:t>
            </a:r>
          </a:p>
        </p:txBody>
      </p:sp>
      <p:sp>
        <p:nvSpPr>
          <p:cNvPr id="3" name="PageNumber">
            <a:extLst>
              <a:ext uri="{FF2B5EF4-FFF2-40B4-BE49-F238E27FC236}">
                <a16:creationId xmlns:a16="http://schemas.microsoft.com/office/drawing/2014/main" id="{DE10F15D-40AA-4AFD-9167-AB398A203174}"/>
              </a:ext>
            </a:extLst>
          </p:cNvPr>
          <p:cNvSpPr txBox="1"/>
          <p:nvPr/>
        </p:nvSpPr>
        <p:spPr>
          <a:xfrm>
            <a:off x="11303000" y="6413500"/>
            <a:ext cx="635000" cy="254000"/>
          </a:xfrm>
          <a:prstGeom prst="rect">
            <a:avLst/>
          </a:prstGeom>
          <a:noFill/>
        </p:spPr>
        <p:txBody>
          <a:bodyPr vertOverflow="overflow" vert="horz" wrap="square" rtlCol="0" anchor="t">
            <a:spAutoFit/>
          </a:bodyPr>
          <a:lstStyle/>
          <a:p>
            <a:pPr algn="l"/>
            <a:r>
              <a:rPr lang="en-US" altLang="ja-JP" sz="1400">
                <a:solidFill>
                  <a:srgbClr val="7A7A7A"/>
                </a:solidFill>
                <a:latin typeface="BIZ UDPゴシック"/>
                <a:ea typeface="BIZ UDPゴシック"/>
              </a:rPr>
              <a:t>16</a:t>
            </a:r>
            <a:endParaRPr lang="ja-JP" altLang="en-US" sz="1400">
              <a:solidFill>
                <a:srgbClr val="7A7A7A"/>
              </a:solidFill>
              <a:latin typeface="BIZ UDPゴシック"/>
              <a:ea typeface="BIZ UDPゴシック"/>
            </a:endParaRPr>
          </a:p>
        </p:txBody>
      </p:sp>
    </p:spTree>
    <p:extLst>
      <p:ext uri="{BB962C8B-B14F-4D97-AF65-F5344CB8AC3E}">
        <p14:creationId xmlns:p14="http://schemas.microsoft.com/office/powerpoint/2010/main" val="1817310613"/>
      </p:ext>
    </p:extLst>
  </p:cSld>
  <p:clrMapOvr>
    <a:masterClrMapping/>
  </p:clrMapOvr>
</p:sld>
</file>

<file path=ppt/theme/theme1.xml><?xml version="1.0" encoding="utf-8"?>
<a:theme xmlns:a="http://schemas.openxmlformats.org/drawingml/2006/main" name="Office テーマ [1774521956724]">
  <a:themeElements>
    <a:clrScheme name="Proposal Monotone">
      <a:dk1>
        <a:srgbClr val="1A1A1A"/>
      </a:dk1>
      <a:lt1>
        <a:srgbClr val="FFFFFF"/>
      </a:lt1>
      <a:dk2>
        <a:srgbClr val="3D3D3D"/>
      </a:dk2>
      <a:lt2>
        <a:srgbClr val="F2F0ED"/>
      </a:lt2>
      <a:accent1>
        <a:srgbClr val="8B2500"/>
      </a:accent1>
      <a:accent2>
        <a:srgbClr val="4A4A4A"/>
      </a:accent2>
      <a:accent3>
        <a:srgbClr val="7A7A7A"/>
      </a:accent3>
      <a:accent4>
        <a:srgbClr val="B0A8A0"/>
      </a:accent4>
      <a:accent5>
        <a:srgbClr val="C0392B"/>
      </a:accent5>
      <a:accent6>
        <a:srgbClr val="2C2C2C"/>
      </a:accent6>
      <a:hlink>
        <a:srgbClr val="467886"/>
      </a:hlink>
      <a:folHlink>
        <a:srgbClr val="96607D"/>
      </a:folHlink>
    </a:clrScheme>
    <a:fontScheme name="BIZ UDP Gothic">
      <a:majorFont>
        <a:latin typeface="BIZ UDPゴシック" panose="02110004020202020204"/>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panose="02110004020202020204"/>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78CF78-2322-4533-ADDE-789CAB0C7CA8}">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TotalTime>
  <Words>2299</Words>
  <Application>Microsoft Office PowerPoint</Application>
  <PresentationFormat>ワイド画面</PresentationFormat>
  <Paragraphs>335</Paragraphs>
  <Slides>16</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16</vt:i4>
      </vt:variant>
    </vt:vector>
  </HeadingPairs>
  <TitlesOfParts>
    <vt:vector size="19" baseType="lpstr">
      <vt:lpstr>BIZ UDPゴシック</vt:lpstr>
      <vt:lpstr>Arial</vt:lpstr>
      <vt:lpstr>Office テーマ [1774521956724]</vt:lpstr>
      <vt:lpstr>データ分析プロジェクト提案書 モビリティ需要予測分析 プロジェクト</vt:lpstr>
      <vt:lpstr>1. 背景</vt:lpstr>
      <vt:lpstr>2. プロジェクト目的</vt:lpstr>
      <vt:lpstr>3. スコープ ― 対象範囲</vt:lpstr>
      <vt:lpstr>3. スコープ ― 対象外</vt:lpstr>
      <vt:lpstr>4. 分析アプローチ ― 全体像</vt:lpstr>
      <vt:lpstr>4.1-4.2 データ確認・前処理方針</vt:lpstr>
      <vt:lpstr>4.3-4.4 特徴量設計・モデル構築</vt:lpstr>
      <vt:lpstr>4.5 業務接続の進め方</vt:lpstr>
      <vt:lpstr>5. 実施体制</vt:lpstr>
      <vt:lpstr>6. スケジュール案</vt:lpstr>
      <vt:lpstr>7. 成果物定義</vt:lpstr>
      <vt:lpstr>8. 費用見積</vt:lpstr>
      <vt:lpstr>9. リスクと対応策</vt:lpstr>
      <vt:lpstr>10. 前提条件と除外事項</vt:lpstr>
      <vt:lpstr>11. 次アクション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3</cp:revision>
  <dcterms:created xsi:type="dcterms:W3CDTF">2026-03-26T10:43:56Z</dcterms:created>
  <dcterms:modified xsi:type="dcterms:W3CDTF">2026-03-26T11:32:13Z</dcterms:modified>
</cp:coreProperties>
</file>