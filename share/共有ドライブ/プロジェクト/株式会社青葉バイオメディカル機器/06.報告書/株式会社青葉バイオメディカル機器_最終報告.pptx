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3" d="100"/>
          <a:sy n="133" d="100"/>
        </p:scale>
        <p:origin x="90" y="50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0B1C2F-8FB3-C8CC-3826-7A707DAB1A0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D8C9014-CC5A-8231-F460-C8EE8601F953}"/>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0146BB5-5E64-41E2-5708-C9704E46CA30}"/>
              </a:ext>
            </a:extLst>
          </p:cNvPr>
          <p:cNvSpPr>
            <a:spLocks noGrp="1"/>
          </p:cNvSpPr>
          <p:nvPr>
            <p:ph type="dt" sz="half" idx="10"/>
          </p:nvPr>
        </p:nvSpPr>
        <p:spPr/>
        <p:txBody>
          <a:bodyPr/>
          <a:lstStyle/>
          <a:p>
            <a:fld id="{B1F2108F-B80F-4B72-A646-075BC0425FA2}" type="datetimeFigureOut">
              <a:rPr kumimoji="1" lang="ja-JP" altLang="en-US" smtClean="0"/>
              <a:t>2026/4/8</a:t>
            </a:fld>
            <a:endParaRPr kumimoji="1" lang="ja-JP" altLang="en-US"/>
          </a:p>
        </p:txBody>
      </p:sp>
      <p:sp>
        <p:nvSpPr>
          <p:cNvPr id="5" name="フッター プレースホルダー 4">
            <a:extLst>
              <a:ext uri="{FF2B5EF4-FFF2-40B4-BE49-F238E27FC236}">
                <a16:creationId xmlns:a16="http://schemas.microsoft.com/office/drawing/2014/main" id="{8C1DFBAA-6617-A9AC-4860-89193614E27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51385D5-6250-7E6B-2437-51D112DECE2A}"/>
              </a:ext>
            </a:extLst>
          </p:cNvPr>
          <p:cNvSpPr>
            <a:spLocks noGrp="1"/>
          </p:cNvSpPr>
          <p:nvPr>
            <p:ph type="sldNum" sz="quarter" idx="12"/>
          </p:nvPr>
        </p:nvSpPr>
        <p:spPr/>
        <p:txBody>
          <a:bodyPr/>
          <a:lstStyle/>
          <a:p>
            <a:fld id="{B706FA2F-3797-4767-BE24-74975C520162}" type="slidenum">
              <a:rPr kumimoji="1" lang="ja-JP" altLang="en-US" smtClean="0"/>
              <a:t>‹#›</a:t>
            </a:fld>
            <a:endParaRPr kumimoji="1" lang="ja-JP" altLang="en-US"/>
          </a:p>
        </p:txBody>
      </p:sp>
    </p:spTree>
    <p:extLst>
      <p:ext uri="{BB962C8B-B14F-4D97-AF65-F5344CB8AC3E}">
        <p14:creationId xmlns:p14="http://schemas.microsoft.com/office/powerpoint/2010/main" val="406596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211A2D1-3004-EE8D-DF94-44DE3C61AE09}"/>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DC89CDE-4C01-7320-B490-D4FB42902FF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49F9C06E-62B3-2DEC-E08E-3B5CFD778E5F}"/>
              </a:ext>
            </a:extLst>
          </p:cNvPr>
          <p:cNvSpPr>
            <a:spLocks noGrp="1"/>
          </p:cNvSpPr>
          <p:nvPr>
            <p:ph type="dt" sz="half" idx="10"/>
          </p:nvPr>
        </p:nvSpPr>
        <p:spPr/>
        <p:txBody>
          <a:bodyPr/>
          <a:lstStyle/>
          <a:p>
            <a:fld id="{B1F2108F-B80F-4B72-A646-075BC0425FA2}" type="datetimeFigureOut">
              <a:rPr kumimoji="1" lang="ja-JP" altLang="en-US" smtClean="0"/>
              <a:t>2026/4/8</a:t>
            </a:fld>
            <a:endParaRPr kumimoji="1" lang="ja-JP" altLang="en-US"/>
          </a:p>
        </p:txBody>
      </p:sp>
      <p:sp>
        <p:nvSpPr>
          <p:cNvPr id="5" name="フッター プレースホルダー 4">
            <a:extLst>
              <a:ext uri="{FF2B5EF4-FFF2-40B4-BE49-F238E27FC236}">
                <a16:creationId xmlns:a16="http://schemas.microsoft.com/office/drawing/2014/main" id="{5D2F9677-30E8-A60A-67E4-ECE35135D46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19F573B-420D-453A-91F3-34C8BE12A5C5}"/>
              </a:ext>
            </a:extLst>
          </p:cNvPr>
          <p:cNvSpPr>
            <a:spLocks noGrp="1"/>
          </p:cNvSpPr>
          <p:nvPr>
            <p:ph type="sldNum" sz="quarter" idx="12"/>
          </p:nvPr>
        </p:nvSpPr>
        <p:spPr/>
        <p:txBody>
          <a:bodyPr/>
          <a:lstStyle/>
          <a:p>
            <a:fld id="{B706FA2F-3797-4767-BE24-74975C520162}" type="slidenum">
              <a:rPr kumimoji="1" lang="ja-JP" altLang="en-US" smtClean="0"/>
              <a:t>‹#›</a:t>
            </a:fld>
            <a:endParaRPr kumimoji="1" lang="ja-JP" altLang="en-US"/>
          </a:p>
        </p:txBody>
      </p:sp>
    </p:spTree>
    <p:extLst>
      <p:ext uri="{BB962C8B-B14F-4D97-AF65-F5344CB8AC3E}">
        <p14:creationId xmlns:p14="http://schemas.microsoft.com/office/powerpoint/2010/main" val="10675470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2C34E9-0AB0-86A4-C58C-C566D789DA2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1EFB88E-09CD-2F18-BFA0-2D294145EE53}"/>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2C9755FE-2457-88B0-D370-D7EB8F28C543}"/>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14AD858B-F447-DDF8-D29A-B755368008A6}"/>
              </a:ext>
            </a:extLst>
          </p:cNvPr>
          <p:cNvSpPr>
            <a:spLocks noGrp="1"/>
          </p:cNvSpPr>
          <p:nvPr>
            <p:ph type="dt" sz="half" idx="10"/>
          </p:nvPr>
        </p:nvSpPr>
        <p:spPr/>
        <p:txBody>
          <a:bodyPr/>
          <a:lstStyle/>
          <a:p>
            <a:fld id="{B1F2108F-B80F-4B72-A646-075BC0425FA2}" type="datetimeFigureOut">
              <a:rPr kumimoji="1" lang="ja-JP" altLang="en-US" smtClean="0"/>
              <a:t>2026/4/8</a:t>
            </a:fld>
            <a:endParaRPr kumimoji="1" lang="ja-JP" altLang="en-US"/>
          </a:p>
        </p:txBody>
      </p:sp>
      <p:sp>
        <p:nvSpPr>
          <p:cNvPr id="6" name="フッター プレースホルダー 5">
            <a:extLst>
              <a:ext uri="{FF2B5EF4-FFF2-40B4-BE49-F238E27FC236}">
                <a16:creationId xmlns:a16="http://schemas.microsoft.com/office/drawing/2014/main" id="{67DFC5A2-1A9B-680D-1F4A-69CEAD314FD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7CAE2CE-E6A0-1B50-DCCE-1504E26EE2FB}"/>
              </a:ext>
            </a:extLst>
          </p:cNvPr>
          <p:cNvSpPr>
            <a:spLocks noGrp="1"/>
          </p:cNvSpPr>
          <p:nvPr>
            <p:ph type="sldNum" sz="quarter" idx="12"/>
          </p:nvPr>
        </p:nvSpPr>
        <p:spPr/>
        <p:txBody>
          <a:bodyPr/>
          <a:lstStyle/>
          <a:p>
            <a:fld id="{B706FA2F-3797-4767-BE24-74975C520162}" type="slidenum">
              <a:rPr kumimoji="1" lang="ja-JP" altLang="en-US" smtClean="0"/>
              <a:t>‹#›</a:t>
            </a:fld>
            <a:endParaRPr kumimoji="1" lang="ja-JP" altLang="en-US"/>
          </a:p>
        </p:txBody>
      </p:sp>
    </p:spTree>
    <p:extLst>
      <p:ext uri="{BB962C8B-B14F-4D97-AF65-F5344CB8AC3E}">
        <p14:creationId xmlns:p14="http://schemas.microsoft.com/office/powerpoint/2010/main" val="1640513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E846272-E652-DBFC-9170-B940FA6F090F}"/>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AC2E497-A206-0575-83E5-E4BA4C9F74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B6A950B1-E933-93F9-8E6D-3B8751262694}"/>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654ED477-68A4-5C15-0EEE-4A80420A40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B1831D68-8D8D-82B0-3C8A-4279CA379CCE}"/>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5B867EF9-E58B-C797-5D97-20AB8446A189}"/>
              </a:ext>
            </a:extLst>
          </p:cNvPr>
          <p:cNvSpPr>
            <a:spLocks noGrp="1"/>
          </p:cNvSpPr>
          <p:nvPr>
            <p:ph type="dt" sz="half" idx="10"/>
          </p:nvPr>
        </p:nvSpPr>
        <p:spPr/>
        <p:txBody>
          <a:bodyPr/>
          <a:lstStyle/>
          <a:p>
            <a:fld id="{B1F2108F-B80F-4B72-A646-075BC0425FA2}" type="datetimeFigureOut">
              <a:rPr kumimoji="1" lang="ja-JP" altLang="en-US" smtClean="0"/>
              <a:t>2026/4/8</a:t>
            </a:fld>
            <a:endParaRPr kumimoji="1" lang="ja-JP" altLang="en-US"/>
          </a:p>
        </p:txBody>
      </p:sp>
      <p:sp>
        <p:nvSpPr>
          <p:cNvPr id="8" name="フッター プレースホルダー 7">
            <a:extLst>
              <a:ext uri="{FF2B5EF4-FFF2-40B4-BE49-F238E27FC236}">
                <a16:creationId xmlns:a16="http://schemas.microsoft.com/office/drawing/2014/main" id="{1E4A4FAC-EA73-A192-6B49-12C5E9C25F8C}"/>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6F741047-14A8-7B8D-FE2A-4C86BBA62D44}"/>
              </a:ext>
            </a:extLst>
          </p:cNvPr>
          <p:cNvSpPr>
            <a:spLocks noGrp="1"/>
          </p:cNvSpPr>
          <p:nvPr>
            <p:ph type="sldNum" sz="quarter" idx="12"/>
          </p:nvPr>
        </p:nvSpPr>
        <p:spPr/>
        <p:txBody>
          <a:bodyPr/>
          <a:lstStyle/>
          <a:p>
            <a:fld id="{B706FA2F-3797-4767-BE24-74975C520162}" type="slidenum">
              <a:rPr kumimoji="1" lang="ja-JP" altLang="en-US" smtClean="0"/>
              <a:t>‹#›</a:t>
            </a:fld>
            <a:endParaRPr kumimoji="1" lang="ja-JP" altLang="en-US"/>
          </a:p>
        </p:txBody>
      </p:sp>
    </p:spTree>
    <p:extLst>
      <p:ext uri="{BB962C8B-B14F-4D97-AF65-F5344CB8AC3E}">
        <p14:creationId xmlns:p14="http://schemas.microsoft.com/office/powerpoint/2010/main" val="35460840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BC7DA2A-22F9-2E2F-6D8A-CA52F763EFF0}"/>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45D07CFB-A8AE-AA92-3A56-41B456FC6659}"/>
              </a:ext>
            </a:extLst>
          </p:cNvPr>
          <p:cNvSpPr>
            <a:spLocks noGrp="1"/>
          </p:cNvSpPr>
          <p:nvPr>
            <p:ph type="dt" sz="half" idx="10"/>
          </p:nvPr>
        </p:nvSpPr>
        <p:spPr/>
        <p:txBody>
          <a:bodyPr/>
          <a:lstStyle/>
          <a:p>
            <a:fld id="{B1F2108F-B80F-4B72-A646-075BC0425FA2}" type="datetimeFigureOut">
              <a:rPr kumimoji="1" lang="ja-JP" altLang="en-US" smtClean="0"/>
              <a:t>2026/4/8</a:t>
            </a:fld>
            <a:endParaRPr kumimoji="1" lang="ja-JP" altLang="en-US"/>
          </a:p>
        </p:txBody>
      </p:sp>
      <p:sp>
        <p:nvSpPr>
          <p:cNvPr id="4" name="フッター プレースホルダー 3">
            <a:extLst>
              <a:ext uri="{FF2B5EF4-FFF2-40B4-BE49-F238E27FC236}">
                <a16:creationId xmlns:a16="http://schemas.microsoft.com/office/drawing/2014/main" id="{27E2E55F-938D-129B-CBD2-EEDAAF71F595}"/>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9E66B52B-4769-BAE2-195B-0F5C3F0D1E98}"/>
              </a:ext>
            </a:extLst>
          </p:cNvPr>
          <p:cNvSpPr>
            <a:spLocks noGrp="1"/>
          </p:cNvSpPr>
          <p:nvPr>
            <p:ph type="sldNum" sz="quarter" idx="12"/>
          </p:nvPr>
        </p:nvSpPr>
        <p:spPr/>
        <p:txBody>
          <a:bodyPr/>
          <a:lstStyle/>
          <a:p>
            <a:fld id="{B706FA2F-3797-4767-BE24-74975C520162}" type="slidenum">
              <a:rPr kumimoji="1" lang="ja-JP" altLang="en-US" smtClean="0"/>
              <a:t>‹#›</a:t>
            </a:fld>
            <a:endParaRPr kumimoji="1" lang="ja-JP" altLang="en-US"/>
          </a:p>
        </p:txBody>
      </p:sp>
    </p:spTree>
    <p:extLst>
      <p:ext uri="{BB962C8B-B14F-4D97-AF65-F5344CB8AC3E}">
        <p14:creationId xmlns:p14="http://schemas.microsoft.com/office/powerpoint/2010/main" val="2220902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B921F12-16C0-8EF3-24FF-A1B6F21319AE}"/>
              </a:ext>
            </a:extLst>
          </p:cNvPr>
          <p:cNvSpPr>
            <a:spLocks noGrp="1"/>
          </p:cNvSpPr>
          <p:nvPr>
            <p:ph type="dt" sz="half" idx="10"/>
          </p:nvPr>
        </p:nvSpPr>
        <p:spPr/>
        <p:txBody>
          <a:bodyPr/>
          <a:lstStyle/>
          <a:p>
            <a:fld id="{B1F2108F-B80F-4B72-A646-075BC0425FA2}" type="datetimeFigureOut">
              <a:rPr kumimoji="1" lang="ja-JP" altLang="en-US" smtClean="0"/>
              <a:t>2026/4/8</a:t>
            </a:fld>
            <a:endParaRPr kumimoji="1" lang="ja-JP" altLang="en-US"/>
          </a:p>
        </p:txBody>
      </p:sp>
      <p:sp>
        <p:nvSpPr>
          <p:cNvPr id="3" name="フッター プレースホルダー 2">
            <a:extLst>
              <a:ext uri="{FF2B5EF4-FFF2-40B4-BE49-F238E27FC236}">
                <a16:creationId xmlns:a16="http://schemas.microsoft.com/office/drawing/2014/main" id="{27582062-FCDF-80A1-1313-0926F6C60E9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66C5C01-C09E-9B9F-7BEA-830214508219}"/>
              </a:ext>
            </a:extLst>
          </p:cNvPr>
          <p:cNvSpPr>
            <a:spLocks noGrp="1"/>
          </p:cNvSpPr>
          <p:nvPr>
            <p:ph type="sldNum" sz="quarter" idx="12"/>
          </p:nvPr>
        </p:nvSpPr>
        <p:spPr/>
        <p:txBody>
          <a:bodyPr/>
          <a:lstStyle/>
          <a:p>
            <a:fld id="{B706FA2F-3797-4767-BE24-74975C520162}" type="slidenum">
              <a:rPr kumimoji="1" lang="ja-JP" altLang="en-US" smtClean="0"/>
              <a:t>‹#›</a:t>
            </a:fld>
            <a:endParaRPr kumimoji="1" lang="ja-JP" altLang="en-US"/>
          </a:p>
        </p:txBody>
      </p:sp>
    </p:spTree>
    <p:extLst>
      <p:ext uri="{BB962C8B-B14F-4D97-AF65-F5344CB8AC3E}">
        <p14:creationId xmlns:p14="http://schemas.microsoft.com/office/powerpoint/2010/main" val="1876801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CF1DA2-E68D-960C-E36F-1BDBF3EC508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06A95E3-8139-F7E7-D578-915443D91D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72F6330E-A759-7230-2E82-906C251314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31B9C76-557D-8ACF-C6F7-E6F8779100CE}"/>
              </a:ext>
            </a:extLst>
          </p:cNvPr>
          <p:cNvSpPr>
            <a:spLocks noGrp="1"/>
          </p:cNvSpPr>
          <p:nvPr>
            <p:ph type="dt" sz="half" idx="10"/>
          </p:nvPr>
        </p:nvSpPr>
        <p:spPr/>
        <p:txBody>
          <a:bodyPr/>
          <a:lstStyle/>
          <a:p>
            <a:fld id="{B1F2108F-B80F-4B72-A646-075BC0425FA2}" type="datetimeFigureOut">
              <a:rPr kumimoji="1" lang="ja-JP" altLang="en-US" smtClean="0"/>
              <a:t>2026/4/8</a:t>
            </a:fld>
            <a:endParaRPr kumimoji="1" lang="ja-JP" altLang="en-US"/>
          </a:p>
        </p:txBody>
      </p:sp>
      <p:sp>
        <p:nvSpPr>
          <p:cNvPr id="6" name="フッター プレースホルダー 5">
            <a:extLst>
              <a:ext uri="{FF2B5EF4-FFF2-40B4-BE49-F238E27FC236}">
                <a16:creationId xmlns:a16="http://schemas.microsoft.com/office/drawing/2014/main" id="{C3AEEFB4-9736-EE4F-B789-0EF4F48AEFD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0F09AA1-DE63-A4B7-C347-76BC0008ACF7}"/>
              </a:ext>
            </a:extLst>
          </p:cNvPr>
          <p:cNvSpPr>
            <a:spLocks noGrp="1"/>
          </p:cNvSpPr>
          <p:nvPr>
            <p:ph type="sldNum" sz="quarter" idx="12"/>
          </p:nvPr>
        </p:nvSpPr>
        <p:spPr/>
        <p:txBody>
          <a:bodyPr/>
          <a:lstStyle/>
          <a:p>
            <a:fld id="{B706FA2F-3797-4767-BE24-74975C520162}" type="slidenum">
              <a:rPr kumimoji="1" lang="ja-JP" altLang="en-US" smtClean="0"/>
              <a:t>‹#›</a:t>
            </a:fld>
            <a:endParaRPr kumimoji="1" lang="ja-JP" altLang="en-US"/>
          </a:p>
        </p:txBody>
      </p:sp>
    </p:spTree>
    <p:extLst>
      <p:ext uri="{BB962C8B-B14F-4D97-AF65-F5344CB8AC3E}">
        <p14:creationId xmlns:p14="http://schemas.microsoft.com/office/powerpoint/2010/main" val="586189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F2AF261-2C9F-2DD1-14F8-55FF0D689D2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B04B21C8-C363-E835-B4BD-A717637A67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EB9EFAC-C8CB-B0AE-2D74-51649FD313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61E2F0B-DDA0-3039-F826-F484DD219B2E}"/>
              </a:ext>
            </a:extLst>
          </p:cNvPr>
          <p:cNvSpPr>
            <a:spLocks noGrp="1"/>
          </p:cNvSpPr>
          <p:nvPr>
            <p:ph type="dt" sz="half" idx="10"/>
          </p:nvPr>
        </p:nvSpPr>
        <p:spPr/>
        <p:txBody>
          <a:bodyPr/>
          <a:lstStyle/>
          <a:p>
            <a:fld id="{B1F2108F-B80F-4B72-A646-075BC0425FA2}" type="datetimeFigureOut">
              <a:rPr kumimoji="1" lang="ja-JP" altLang="en-US" smtClean="0"/>
              <a:t>2026/4/8</a:t>
            </a:fld>
            <a:endParaRPr kumimoji="1" lang="ja-JP" altLang="en-US"/>
          </a:p>
        </p:txBody>
      </p:sp>
      <p:sp>
        <p:nvSpPr>
          <p:cNvPr id="6" name="フッター プレースホルダー 5">
            <a:extLst>
              <a:ext uri="{FF2B5EF4-FFF2-40B4-BE49-F238E27FC236}">
                <a16:creationId xmlns:a16="http://schemas.microsoft.com/office/drawing/2014/main" id="{54AF2D07-3C7E-C160-1C01-742747F86C8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6DD2E8F-9856-99B7-6F42-3447DF643BE2}"/>
              </a:ext>
            </a:extLst>
          </p:cNvPr>
          <p:cNvSpPr>
            <a:spLocks noGrp="1"/>
          </p:cNvSpPr>
          <p:nvPr>
            <p:ph type="sldNum" sz="quarter" idx="12"/>
          </p:nvPr>
        </p:nvSpPr>
        <p:spPr/>
        <p:txBody>
          <a:bodyPr/>
          <a:lstStyle/>
          <a:p>
            <a:fld id="{B706FA2F-3797-4767-BE24-74975C520162}" type="slidenum">
              <a:rPr kumimoji="1" lang="ja-JP" altLang="en-US" smtClean="0"/>
              <a:t>‹#›</a:t>
            </a:fld>
            <a:endParaRPr kumimoji="1" lang="ja-JP" altLang="en-US"/>
          </a:p>
        </p:txBody>
      </p:sp>
    </p:spTree>
    <p:extLst>
      <p:ext uri="{BB962C8B-B14F-4D97-AF65-F5344CB8AC3E}">
        <p14:creationId xmlns:p14="http://schemas.microsoft.com/office/powerpoint/2010/main" val="39495713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F7753B6-908B-8E93-BA2E-C26B2B977506}"/>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D4DEFB8-ACD7-DD46-50C0-0360EE018D91}"/>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D4EDB66-08EC-9001-9774-9F2BA6D2F3FA}"/>
              </a:ext>
            </a:extLst>
          </p:cNvPr>
          <p:cNvSpPr>
            <a:spLocks noGrp="1"/>
          </p:cNvSpPr>
          <p:nvPr>
            <p:ph type="dt" sz="half" idx="10"/>
          </p:nvPr>
        </p:nvSpPr>
        <p:spPr/>
        <p:txBody>
          <a:bodyPr/>
          <a:lstStyle/>
          <a:p>
            <a:fld id="{B1F2108F-B80F-4B72-A646-075BC0425FA2}" type="datetimeFigureOut">
              <a:rPr kumimoji="1" lang="ja-JP" altLang="en-US" smtClean="0"/>
              <a:t>2026/4/8</a:t>
            </a:fld>
            <a:endParaRPr kumimoji="1" lang="ja-JP" altLang="en-US"/>
          </a:p>
        </p:txBody>
      </p:sp>
      <p:sp>
        <p:nvSpPr>
          <p:cNvPr id="5" name="フッター プレースホルダー 4">
            <a:extLst>
              <a:ext uri="{FF2B5EF4-FFF2-40B4-BE49-F238E27FC236}">
                <a16:creationId xmlns:a16="http://schemas.microsoft.com/office/drawing/2014/main" id="{94DD889A-074A-F55F-4206-C28467CEC92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65C38AA-7E42-C085-4BBE-906F4A95EB75}"/>
              </a:ext>
            </a:extLst>
          </p:cNvPr>
          <p:cNvSpPr>
            <a:spLocks noGrp="1"/>
          </p:cNvSpPr>
          <p:nvPr>
            <p:ph type="sldNum" sz="quarter" idx="12"/>
          </p:nvPr>
        </p:nvSpPr>
        <p:spPr/>
        <p:txBody>
          <a:bodyPr/>
          <a:lstStyle/>
          <a:p>
            <a:fld id="{B706FA2F-3797-4767-BE24-74975C520162}" type="slidenum">
              <a:rPr kumimoji="1" lang="ja-JP" altLang="en-US" smtClean="0"/>
              <a:t>‹#›</a:t>
            </a:fld>
            <a:endParaRPr kumimoji="1" lang="ja-JP" altLang="en-US"/>
          </a:p>
        </p:txBody>
      </p:sp>
    </p:spTree>
    <p:extLst>
      <p:ext uri="{BB962C8B-B14F-4D97-AF65-F5344CB8AC3E}">
        <p14:creationId xmlns:p14="http://schemas.microsoft.com/office/powerpoint/2010/main" val="3925018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F710CA66-48F9-E11A-5406-0BE69A2698CA}"/>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F740C2A-DBBB-1AAA-E75D-46767C856F2D}"/>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5F40E62-1AAA-284B-9D00-8A2A51CE8A1A}"/>
              </a:ext>
            </a:extLst>
          </p:cNvPr>
          <p:cNvSpPr>
            <a:spLocks noGrp="1"/>
          </p:cNvSpPr>
          <p:nvPr>
            <p:ph type="dt" sz="half" idx="10"/>
          </p:nvPr>
        </p:nvSpPr>
        <p:spPr/>
        <p:txBody>
          <a:bodyPr/>
          <a:lstStyle/>
          <a:p>
            <a:fld id="{B1F2108F-B80F-4B72-A646-075BC0425FA2}" type="datetimeFigureOut">
              <a:rPr kumimoji="1" lang="ja-JP" altLang="en-US" smtClean="0"/>
              <a:t>2026/4/8</a:t>
            </a:fld>
            <a:endParaRPr kumimoji="1" lang="ja-JP" altLang="en-US"/>
          </a:p>
        </p:txBody>
      </p:sp>
      <p:sp>
        <p:nvSpPr>
          <p:cNvPr id="5" name="フッター プレースホルダー 4">
            <a:extLst>
              <a:ext uri="{FF2B5EF4-FFF2-40B4-BE49-F238E27FC236}">
                <a16:creationId xmlns:a16="http://schemas.microsoft.com/office/drawing/2014/main" id="{D9A69750-47E2-3644-65C0-E38659E0A9F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58BFBE0-45FC-59B8-16AE-8DD74121D43C}"/>
              </a:ext>
            </a:extLst>
          </p:cNvPr>
          <p:cNvSpPr>
            <a:spLocks noGrp="1"/>
          </p:cNvSpPr>
          <p:nvPr>
            <p:ph type="sldNum" sz="quarter" idx="12"/>
          </p:nvPr>
        </p:nvSpPr>
        <p:spPr/>
        <p:txBody>
          <a:bodyPr/>
          <a:lstStyle/>
          <a:p>
            <a:fld id="{B706FA2F-3797-4767-BE24-74975C520162}" type="slidenum">
              <a:rPr kumimoji="1" lang="ja-JP" altLang="en-US" smtClean="0"/>
              <a:t>‹#›</a:t>
            </a:fld>
            <a:endParaRPr kumimoji="1" lang="ja-JP" altLang="en-US"/>
          </a:p>
        </p:txBody>
      </p:sp>
    </p:spTree>
    <p:extLst>
      <p:ext uri="{BB962C8B-B14F-4D97-AF65-F5344CB8AC3E}">
        <p14:creationId xmlns:p14="http://schemas.microsoft.com/office/powerpoint/2010/main" val="4264617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0D2C903-F9A7-835B-4653-D0E43E06BF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23A7C37-DC25-749D-D5D4-3C60C9A3A8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1E4E505-0EA8-83E3-ACAA-9599FE135D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1F2108F-B80F-4B72-A646-075BC0425FA2}" type="datetimeFigureOut">
              <a:rPr kumimoji="1" lang="ja-JP" altLang="en-US" smtClean="0"/>
              <a:t>2026/4/8</a:t>
            </a:fld>
            <a:endParaRPr kumimoji="1" lang="ja-JP" altLang="en-US"/>
          </a:p>
        </p:txBody>
      </p:sp>
      <p:sp>
        <p:nvSpPr>
          <p:cNvPr id="5" name="フッター プレースホルダー 4">
            <a:extLst>
              <a:ext uri="{FF2B5EF4-FFF2-40B4-BE49-F238E27FC236}">
                <a16:creationId xmlns:a16="http://schemas.microsoft.com/office/drawing/2014/main" id="{F1F46728-BB8C-441C-8B69-9AC15F426D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14A7193-E1E0-8250-567E-04385AC60F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706FA2F-3797-4767-BE24-74975C520162}" type="slidenum">
              <a:rPr kumimoji="1" lang="ja-JP" altLang="en-US" smtClean="0"/>
              <a:t>‹#›</a:t>
            </a:fld>
            <a:endParaRPr kumimoji="1" lang="ja-JP" altLang="en-US"/>
          </a:p>
        </p:txBody>
      </p:sp>
      <p:sp>
        <p:nvSpPr>
          <p:cNvPr id="9990" name="BottomAccent"/>
          <p:cNvSpPr/>
          <p:nvPr userDrawn="1"/>
        </p:nvSpPr>
        <p:spPr>
          <a:xfrm>
            <a:off x="0" y="6673850"/>
            <a:ext cx="12192000" cy="184150"/>
          </a:xfrm>
          <a:prstGeom prst="rect">
            <a:avLst/>
          </a:prstGeom>
          <a:solidFill>
            <a:srgbClr val="8B3A2F"/>
          </a:solidFill>
          <a:ln w="0">
            <a:noFill/>
          </a:ln>
        </p:spPr>
        <p:txBody>
          <a:bodyPr/>
          <a:lstStyle/>
          <a:p>
            <a:endParaRPr lang="ja-JP"/>
          </a:p>
        </p:txBody>
      </p:sp>
      <p:sp>
        <p:nvSpPr>
          <p:cNvPr id="9991" name="LeftAccent"/>
          <p:cNvSpPr/>
          <p:nvPr userDrawn="1"/>
        </p:nvSpPr>
        <p:spPr>
          <a:xfrm>
            <a:off x="0" y="0"/>
            <a:ext cx="76200" cy="6858000"/>
          </a:xfrm>
          <a:prstGeom prst="rect">
            <a:avLst/>
          </a:prstGeom>
          <a:solidFill>
            <a:srgbClr val="8B3A2F"/>
          </a:solidFill>
          <a:ln w="0">
            <a:noFill/>
          </a:ln>
        </p:spPr>
        <p:txBody>
          <a:bodyPr/>
          <a:lstStyle/>
          <a:p>
            <a:endParaRPr lang="ja-JP"/>
          </a:p>
        </p:txBody>
      </p:sp>
    </p:spTree>
    <p:extLst>
      <p:ext uri="{BB962C8B-B14F-4D97-AF65-F5344CB8AC3E}">
        <p14:creationId xmlns:p14="http://schemas.microsoft.com/office/powerpoint/2010/main" val="2798051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Lst>
  <p:txStyles>
    <p:titleStyle>
      <a:lvl1pPr algn="l" defTabSz="914400" rtl="0" eaLnBrk="1" latinLnBrk="0" hangingPunct="1">
        <a:lnSpc>
          <a:spcPct val="90000"/>
        </a:lnSpc>
        <a:spcBef>
          <a:spcPct val="0"/>
        </a:spcBef>
        <a:buNone/>
        <a:defRPr kumimoji="1" sz="4400" kern="1200">
          <a:solidFill>
            <a:srgbClr val="1A1A1A"/>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rgbClr val="3D3D3D"/>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rgbClr val="3D3D3D"/>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rgbClr val="3D3D3D"/>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3D3D3D"/>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3D3D3D"/>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rgbClr val="3D3D3D"/>
          </a:solidFill>
          <a:latin typeface="+mn-lt"/>
          <a:ea typeface="+mn-ea"/>
          <a:cs typeface="+mn-cs"/>
        </a:defRPr>
      </a:lvl1pPr>
      <a:lvl2pPr marL="457200" algn="l" defTabSz="914400" rtl="0" eaLnBrk="1" latinLnBrk="0" hangingPunct="1">
        <a:defRPr kumimoji="1" sz="1800" kern="1200">
          <a:solidFill>
            <a:srgbClr val="3D3D3D"/>
          </a:solidFill>
          <a:latin typeface="+mn-lt"/>
          <a:ea typeface="+mn-ea"/>
          <a:cs typeface="+mn-cs"/>
        </a:defRPr>
      </a:lvl2pPr>
      <a:lvl3pPr marL="914400" algn="l" defTabSz="914400" rtl="0" eaLnBrk="1" latinLnBrk="0" hangingPunct="1">
        <a:defRPr kumimoji="1" sz="1800" kern="1200">
          <a:solidFill>
            <a:srgbClr val="3D3D3D"/>
          </a:solidFill>
          <a:latin typeface="+mn-lt"/>
          <a:ea typeface="+mn-ea"/>
          <a:cs typeface="+mn-cs"/>
        </a:defRPr>
      </a:lvl3pPr>
      <a:lvl4pPr marL="1371600" algn="l" defTabSz="914400" rtl="0" eaLnBrk="1" latinLnBrk="0" hangingPunct="1">
        <a:defRPr kumimoji="1" sz="1800" kern="1200">
          <a:solidFill>
            <a:srgbClr val="3D3D3D"/>
          </a:solidFill>
          <a:latin typeface="+mn-lt"/>
          <a:ea typeface="+mn-ea"/>
          <a:cs typeface="+mn-cs"/>
        </a:defRPr>
      </a:lvl4pPr>
      <a:lvl5pPr marL="1828800" algn="l" defTabSz="914400" rtl="0" eaLnBrk="1" latinLnBrk="0" hangingPunct="1">
        <a:defRPr kumimoji="1" sz="1800" kern="1200">
          <a:solidFill>
            <a:srgbClr val="3D3D3D"/>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9A61405E-92E9-4DA4-B586-DF3396AB4338}"/>
              </a:ext>
            </a:extLst>
          </p:cNvPr>
          <p:cNvSpPr/>
          <p:nvPr/>
        </p:nvSpPr>
        <p:spPr>
          <a:xfrm>
            <a:off x="0" y="0"/>
            <a:ext cx="12192000" cy="2540000"/>
          </a:xfrm>
          <a:prstGeom prst="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 name="テキスト ボックス 4">
            <a:extLst>
              <a:ext uri="{FF2B5EF4-FFF2-40B4-BE49-F238E27FC236}">
                <a16:creationId xmlns:a16="http://schemas.microsoft.com/office/drawing/2014/main" id="{FEEEC5FB-04E8-489F-B2DB-DD60BA5F7DAB}"/>
              </a:ext>
            </a:extLst>
          </p:cNvPr>
          <p:cNvSpPr txBox="1"/>
          <p:nvPr/>
        </p:nvSpPr>
        <p:spPr>
          <a:xfrm>
            <a:off x="762000" y="381000"/>
            <a:ext cx="10668000" cy="1016000"/>
          </a:xfrm>
          <a:prstGeom prst="rect">
            <a:avLst/>
          </a:prstGeom>
          <a:noFill/>
        </p:spPr>
        <p:txBody>
          <a:bodyPr vertOverflow="overflow" vert="horz" wrap="square" rtlCol="0" anchor="t">
            <a:spAutoFit/>
          </a:bodyPr>
          <a:lstStyle/>
          <a:p>
            <a:pPr algn="l"/>
            <a:r>
              <a:rPr lang="zh-TW" altLang="en-US" sz="3600" b="1">
                <a:solidFill>
                  <a:srgbClr val="FFFFFF"/>
                </a:solidFill>
                <a:latin typeface="BIZ UDPGothic"/>
                <a:ea typeface="BIZ UDPGothic"/>
              </a:rPr>
              <a:t>最終分析報告書</a:t>
            </a:r>
            <a:endParaRPr lang="ja-JP" altLang="en-US" sz="3600" b="1">
              <a:solidFill>
                <a:srgbClr val="FFFFFF"/>
              </a:solidFill>
              <a:latin typeface="BIZ UDPGothic"/>
              <a:ea typeface="BIZ UDPGothic"/>
            </a:endParaRPr>
          </a:p>
        </p:txBody>
      </p:sp>
      <p:sp>
        <p:nvSpPr>
          <p:cNvPr id="6" name="テキスト ボックス 5">
            <a:extLst>
              <a:ext uri="{FF2B5EF4-FFF2-40B4-BE49-F238E27FC236}">
                <a16:creationId xmlns:a16="http://schemas.microsoft.com/office/drawing/2014/main" id="{C1E41634-DB4E-4D32-84D9-2109B6445ADA}"/>
              </a:ext>
            </a:extLst>
          </p:cNvPr>
          <p:cNvSpPr txBox="1"/>
          <p:nvPr/>
        </p:nvSpPr>
        <p:spPr>
          <a:xfrm>
            <a:off x="762000" y="1524000"/>
            <a:ext cx="10668000" cy="635000"/>
          </a:xfrm>
          <a:prstGeom prst="rect">
            <a:avLst/>
          </a:prstGeom>
          <a:noFill/>
        </p:spPr>
        <p:txBody>
          <a:bodyPr vertOverflow="overflow" vert="horz" wrap="square" rtlCol="0" anchor="t">
            <a:spAutoFit/>
          </a:bodyPr>
          <a:lstStyle/>
          <a:p>
            <a:pPr algn="l"/>
            <a:r>
              <a:rPr lang="ja-JP" altLang="en-US">
                <a:solidFill>
                  <a:srgbClr val="F2F0ED"/>
                </a:solidFill>
                <a:latin typeface="BIZ UDPGothic"/>
                <a:ea typeface="BIZ UDPGothic"/>
              </a:rPr>
              <a:t>従業員離職要因分析および離職リスク検知 初期分析</a:t>
            </a:r>
          </a:p>
        </p:txBody>
      </p:sp>
      <p:sp>
        <p:nvSpPr>
          <p:cNvPr id="7" name="正方形/長方形 6">
            <a:extLst>
              <a:ext uri="{FF2B5EF4-FFF2-40B4-BE49-F238E27FC236}">
                <a16:creationId xmlns:a16="http://schemas.microsoft.com/office/drawing/2014/main" id="{BC59C49D-3A13-4D3D-AA7D-84B39BA6820B}"/>
              </a:ext>
            </a:extLst>
          </p:cNvPr>
          <p:cNvSpPr/>
          <p:nvPr/>
        </p:nvSpPr>
        <p:spPr>
          <a:xfrm>
            <a:off x="762000" y="2222500"/>
            <a:ext cx="2540000" cy="38100"/>
          </a:xfrm>
          <a:prstGeom prst="rect">
            <a:avLst/>
          </a:prstGeom>
          <a:solidFill>
            <a:srgbClr val="D4C5B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8" name="テキスト ボックス 7">
            <a:extLst>
              <a:ext uri="{FF2B5EF4-FFF2-40B4-BE49-F238E27FC236}">
                <a16:creationId xmlns:a16="http://schemas.microsoft.com/office/drawing/2014/main" id="{0E1B6986-8455-4B61-889E-C92DF0503141}"/>
              </a:ext>
            </a:extLst>
          </p:cNvPr>
          <p:cNvSpPr txBox="1"/>
          <p:nvPr/>
        </p:nvSpPr>
        <p:spPr>
          <a:xfrm>
            <a:off x="762000" y="3048000"/>
            <a:ext cx="6350000" cy="762000"/>
          </a:xfrm>
          <a:prstGeom prst="rect">
            <a:avLst/>
          </a:prstGeom>
          <a:noFill/>
        </p:spPr>
        <p:txBody>
          <a:bodyPr vertOverflow="overflow" vert="horz" wrap="square" rtlCol="0" anchor="t">
            <a:spAutoFit/>
          </a:bodyPr>
          <a:lstStyle/>
          <a:p>
            <a:pPr algn="l"/>
            <a:r>
              <a:rPr lang="ja-JP" altLang="en-US">
                <a:solidFill>
                  <a:srgbClr val="1A1A1A"/>
                </a:solidFill>
                <a:latin typeface="BIZ UDPGothic"/>
                <a:ea typeface="BIZ UDPGothic"/>
              </a:rPr>
              <a:t>株式会社青葉バイオメディカル機器
人事本部 人材戦略部</a:t>
            </a:r>
          </a:p>
        </p:txBody>
      </p:sp>
      <p:sp>
        <p:nvSpPr>
          <p:cNvPr id="9" name="テキスト ボックス 8">
            <a:extLst>
              <a:ext uri="{FF2B5EF4-FFF2-40B4-BE49-F238E27FC236}">
                <a16:creationId xmlns:a16="http://schemas.microsoft.com/office/drawing/2014/main" id="{EF5EAD28-B858-4353-A732-9AB9F6BA629E}"/>
              </a:ext>
            </a:extLst>
          </p:cNvPr>
          <p:cNvSpPr txBox="1"/>
          <p:nvPr/>
        </p:nvSpPr>
        <p:spPr>
          <a:xfrm>
            <a:off x="762000" y="4191000"/>
            <a:ext cx="7620000" cy="1016000"/>
          </a:xfrm>
          <a:prstGeom prst="rect">
            <a:avLst/>
          </a:prstGeom>
          <a:noFill/>
        </p:spPr>
        <p:txBody>
          <a:bodyPr vertOverflow="overflow" vert="horz" wrap="square" rtlCol="0" anchor="t">
            <a:spAutoFit/>
          </a:bodyPr>
          <a:lstStyle/>
          <a:p>
            <a:pPr algn="l"/>
            <a:r>
              <a:rPr lang="ja-JP" altLang="en-US" sz="1400">
                <a:solidFill>
                  <a:srgbClr val="4A4A4A"/>
                </a:solidFill>
                <a:latin typeface="BIZ UDPGothic"/>
                <a:ea typeface="BIZ UDPGothic"/>
              </a:rPr>
              <a:t>プロジェクト期間：</a:t>
            </a:r>
            <a:r>
              <a:rPr lang="en-US" altLang="ja-JP" sz="1400">
                <a:solidFill>
                  <a:srgbClr val="4A4A4A"/>
                </a:solidFill>
                <a:latin typeface="BIZ UDPGothic"/>
                <a:ea typeface="BIZ UDPGothic"/>
              </a:rPr>
              <a:t>2025</a:t>
            </a:r>
            <a:r>
              <a:rPr lang="ja-JP" altLang="en-US" sz="1400">
                <a:solidFill>
                  <a:srgbClr val="4A4A4A"/>
                </a:solidFill>
                <a:latin typeface="BIZ UDPGothic"/>
                <a:ea typeface="BIZ UDPGothic"/>
              </a:rPr>
              <a:t>年</a:t>
            </a:r>
            <a:r>
              <a:rPr lang="en-US" altLang="ja-JP" sz="1400">
                <a:solidFill>
                  <a:srgbClr val="4A4A4A"/>
                </a:solidFill>
                <a:latin typeface="BIZ UDPGothic"/>
                <a:ea typeface="BIZ UDPGothic"/>
              </a:rPr>
              <a:t>6</a:t>
            </a:r>
            <a:r>
              <a:rPr lang="ja-JP" altLang="en-US" sz="1400">
                <a:solidFill>
                  <a:srgbClr val="4A4A4A"/>
                </a:solidFill>
                <a:latin typeface="BIZ UDPGothic"/>
                <a:ea typeface="BIZ UDPGothic"/>
              </a:rPr>
              <a:t>月</a:t>
            </a:r>
            <a:r>
              <a:rPr lang="en-US" altLang="ja-JP" sz="1400">
                <a:solidFill>
                  <a:srgbClr val="4A4A4A"/>
                </a:solidFill>
                <a:latin typeface="BIZ UDPGothic"/>
                <a:ea typeface="BIZ UDPGothic"/>
              </a:rPr>
              <a:t>23</a:t>
            </a:r>
            <a:r>
              <a:rPr lang="ja-JP" altLang="en-US" sz="1400">
                <a:solidFill>
                  <a:srgbClr val="4A4A4A"/>
                </a:solidFill>
                <a:latin typeface="BIZ UDPGothic"/>
                <a:ea typeface="BIZ UDPGothic"/>
              </a:rPr>
              <a:t>日 ～ </a:t>
            </a:r>
            <a:r>
              <a:rPr lang="en-US" altLang="ja-JP" sz="1400">
                <a:solidFill>
                  <a:srgbClr val="4A4A4A"/>
                </a:solidFill>
                <a:latin typeface="BIZ UDPGothic"/>
                <a:ea typeface="BIZ UDPGothic"/>
              </a:rPr>
              <a:t>2025</a:t>
            </a:r>
            <a:r>
              <a:rPr lang="ja-JP" altLang="en-US" sz="1400">
                <a:solidFill>
                  <a:srgbClr val="4A4A4A"/>
                </a:solidFill>
                <a:latin typeface="BIZ UDPGothic"/>
                <a:ea typeface="BIZ UDPGothic"/>
              </a:rPr>
              <a:t>年</a:t>
            </a:r>
            <a:r>
              <a:rPr lang="en-US" altLang="ja-JP" sz="1400">
                <a:solidFill>
                  <a:srgbClr val="4A4A4A"/>
                </a:solidFill>
                <a:latin typeface="BIZ UDPGothic"/>
                <a:ea typeface="BIZ UDPGothic"/>
              </a:rPr>
              <a:t>7</a:t>
            </a:r>
            <a:r>
              <a:rPr lang="ja-JP" altLang="en-US" sz="1400">
                <a:solidFill>
                  <a:srgbClr val="4A4A4A"/>
                </a:solidFill>
                <a:latin typeface="BIZ UDPGothic"/>
                <a:ea typeface="BIZ UDPGothic"/>
              </a:rPr>
              <a:t>月</a:t>
            </a:r>
            <a:r>
              <a:rPr lang="en-US" altLang="ja-JP" sz="1400">
                <a:solidFill>
                  <a:srgbClr val="4A4A4A"/>
                </a:solidFill>
                <a:latin typeface="BIZ UDPGothic"/>
                <a:ea typeface="BIZ UDPGothic"/>
              </a:rPr>
              <a:t>28</a:t>
            </a:r>
            <a:r>
              <a:rPr lang="ja-JP" altLang="en-US" sz="1400">
                <a:solidFill>
                  <a:srgbClr val="4A4A4A"/>
                </a:solidFill>
                <a:latin typeface="BIZ UDPGothic"/>
                <a:ea typeface="BIZ UDPGothic"/>
              </a:rPr>
              <a:t>日（</a:t>
            </a:r>
            <a:r>
              <a:rPr lang="en-US" altLang="ja-JP" sz="1400">
                <a:solidFill>
                  <a:srgbClr val="4A4A4A"/>
                </a:solidFill>
                <a:latin typeface="BIZ UDPGothic"/>
                <a:ea typeface="BIZ UDPGothic"/>
              </a:rPr>
              <a:t>5</a:t>
            </a:r>
            <a:r>
              <a:rPr lang="ja-JP" altLang="en-US" sz="1400">
                <a:solidFill>
                  <a:srgbClr val="4A4A4A"/>
                </a:solidFill>
                <a:latin typeface="BIZ UDPGothic"/>
                <a:ea typeface="BIZ UDPGothic"/>
              </a:rPr>
              <a:t>週間）
契約形態：</a:t>
            </a:r>
            <a:r>
              <a:rPr lang="en-US" altLang="ja-JP" sz="1400">
                <a:solidFill>
                  <a:srgbClr val="4A4A4A"/>
                </a:solidFill>
                <a:latin typeface="BIZ UDPGothic"/>
                <a:ea typeface="BIZ UDPGothic"/>
              </a:rPr>
              <a:t>Time and Materials
</a:t>
            </a:r>
            <a:r>
              <a:rPr lang="ja-JP" altLang="en-US" sz="1400">
                <a:solidFill>
                  <a:srgbClr val="4A4A4A"/>
                </a:solidFill>
                <a:latin typeface="BIZ UDPGothic"/>
                <a:ea typeface="BIZ UDPGothic"/>
              </a:rPr>
              <a:t>目的変数：</a:t>
            </a:r>
            <a:r>
              <a:rPr lang="en-US" altLang="ja-JP" sz="1400">
                <a:solidFill>
                  <a:srgbClr val="4A4A4A"/>
                </a:solidFill>
                <a:latin typeface="BIZ UDPGothic"/>
                <a:ea typeface="BIZ UDPGothic"/>
              </a:rPr>
              <a:t>Attrition</a:t>
            </a:r>
            <a:r>
              <a:rPr lang="ja-JP" altLang="en-US" sz="1400">
                <a:solidFill>
                  <a:srgbClr val="4A4A4A"/>
                </a:solidFill>
                <a:latin typeface="BIZ UDPGothic"/>
                <a:ea typeface="BIZ UDPGothic"/>
              </a:rPr>
              <a:t>（従業員離職）</a:t>
            </a:r>
          </a:p>
        </p:txBody>
      </p:sp>
      <p:sp>
        <p:nvSpPr>
          <p:cNvPr id="10" name="正方形/長方形 9">
            <a:extLst>
              <a:ext uri="{FF2B5EF4-FFF2-40B4-BE49-F238E27FC236}">
                <a16:creationId xmlns:a16="http://schemas.microsoft.com/office/drawing/2014/main" id="{34FA9C6E-E734-45F7-B6FA-55BD437A1B11}"/>
              </a:ext>
            </a:extLst>
          </p:cNvPr>
          <p:cNvSpPr/>
          <p:nvPr/>
        </p:nvSpPr>
        <p:spPr>
          <a:xfrm>
            <a:off x="11176000" y="2794000"/>
            <a:ext cx="50800" cy="3556000"/>
          </a:xfrm>
          <a:prstGeom prst="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四角形: 角を丸くする 10">
            <a:extLst>
              <a:ext uri="{FF2B5EF4-FFF2-40B4-BE49-F238E27FC236}">
                <a16:creationId xmlns:a16="http://schemas.microsoft.com/office/drawing/2014/main" id="{880FC552-7766-4A78-A933-58AA272AA415}"/>
              </a:ext>
            </a:extLst>
          </p:cNvPr>
          <p:cNvSpPr/>
          <p:nvPr/>
        </p:nvSpPr>
        <p:spPr>
          <a:xfrm>
            <a:off x="8382000" y="3175000"/>
            <a:ext cx="2540000" cy="11430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r>
              <a:rPr lang="en-US" altLang="ja-JP" sz="1600">
                <a:solidFill>
                  <a:srgbClr val="1A1A1A"/>
                </a:solidFill>
                <a:latin typeface="BIZ UDPGothic"/>
                <a:ea typeface="BIZ UDPGothic"/>
              </a:rPr>
              <a:t>735</a:t>
            </a:r>
            <a:r>
              <a:rPr lang="ja-JP" altLang="en-US" sz="1600">
                <a:solidFill>
                  <a:srgbClr val="1A1A1A"/>
                </a:solidFill>
                <a:latin typeface="BIZ UDPGothic"/>
                <a:ea typeface="BIZ UDPGothic"/>
              </a:rPr>
              <a:t>行 </a:t>
            </a:r>
            <a:r>
              <a:rPr lang="en-US" altLang="ja-JP" sz="1600">
                <a:solidFill>
                  <a:srgbClr val="1A1A1A"/>
                </a:solidFill>
                <a:latin typeface="BIZ UDPGothic"/>
                <a:ea typeface="BIZ UDPGothic"/>
              </a:rPr>
              <a:t>× 33</a:t>
            </a:r>
            <a:r>
              <a:rPr lang="ja-JP" altLang="en-US" sz="1600">
                <a:solidFill>
                  <a:srgbClr val="1A1A1A"/>
                </a:solidFill>
                <a:latin typeface="BIZ UDPGothic"/>
                <a:ea typeface="BIZ UDPGothic"/>
              </a:rPr>
              <a:t>列
対象データ</a:t>
            </a:r>
          </a:p>
        </p:txBody>
      </p:sp>
      <p:sp>
        <p:nvSpPr>
          <p:cNvPr id="12" name="テキスト ボックス 11">
            <a:extLst>
              <a:ext uri="{FF2B5EF4-FFF2-40B4-BE49-F238E27FC236}">
                <a16:creationId xmlns:a16="http://schemas.microsoft.com/office/drawing/2014/main" id="{9410C2A2-19F0-4800-AFAC-370009AB880E}"/>
              </a:ext>
            </a:extLst>
          </p:cNvPr>
          <p:cNvSpPr txBox="1"/>
          <p:nvPr/>
        </p:nvSpPr>
        <p:spPr>
          <a:xfrm>
            <a:off x="762000" y="5969000"/>
            <a:ext cx="5080000" cy="381000"/>
          </a:xfrm>
          <a:prstGeom prst="rect">
            <a:avLst/>
          </a:prstGeom>
          <a:noFill/>
        </p:spPr>
        <p:txBody>
          <a:bodyPr vertOverflow="overflow" vert="horz" wrap="square" rtlCol="0" anchor="t">
            <a:spAutoFit/>
          </a:bodyPr>
          <a:lstStyle/>
          <a:p>
            <a:pPr algn="l"/>
            <a:r>
              <a:rPr lang="en-US" altLang="zh-TW" sz="1400">
                <a:solidFill>
                  <a:srgbClr val="6B6B6B"/>
                </a:solidFill>
                <a:latin typeface="BIZ UDPGothic"/>
                <a:ea typeface="BIZ UDPGothic"/>
              </a:rPr>
              <a:t>2025</a:t>
            </a:r>
            <a:r>
              <a:rPr lang="zh-TW" altLang="en-US" sz="1400">
                <a:solidFill>
                  <a:srgbClr val="6B6B6B"/>
                </a:solidFill>
                <a:latin typeface="BIZ UDPGothic"/>
                <a:ea typeface="BIZ UDPGothic"/>
              </a:rPr>
              <a:t>年</a:t>
            </a:r>
            <a:r>
              <a:rPr lang="en-US" altLang="zh-TW" sz="1400">
                <a:solidFill>
                  <a:srgbClr val="6B6B6B"/>
                </a:solidFill>
                <a:latin typeface="BIZ UDPGothic"/>
                <a:ea typeface="BIZ UDPGothic"/>
              </a:rPr>
              <a:t>7</a:t>
            </a:r>
            <a:r>
              <a:rPr lang="zh-TW" altLang="en-US" sz="1400">
                <a:solidFill>
                  <a:srgbClr val="6B6B6B"/>
                </a:solidFill>
                <a:latin typeface="BIZ UDPGothic"/>
                <a:ea typeface="BIZ UDPGothic"/>
              </a:rPr>
              <a:t>月</a:t>
            </a:r>
            <a:r>
              <a:rPr lang="en-US" altLang="zh-TW" sz="1400">
                <a:solidFill>
                  <a:srgbClr val="6B6B6B"/>
                </a:solidFill>
                <a:latin typeface="BIZ UDPGothic"/>
                <a:ea typeface="BIZ UDPGothic"/>
              </a:rPr>
              <a:t>28</a:t>
            </a:r>
            <a:r>
              <a:rPr lang="zh-TW" altLang="en-US" sz="1400">
                <a:solidFill>
                  <a:srgbClr val="6B6B6B"/>
                </a:solidFill>
                <a:latin typeface="BIZ UDPGothic"/>
                <a:ea typeface="BIZ UDPGothic"/>
              </a:rPr>
              <a:t>日 最終成果物提出</a:t>
            </a:r>
            <a:endParaRPr lang="ja-JP" altLang="en-US" sz="1400">
              <a:solidFill>
                <a:srgbClr val="6B6B6B"/>
              </a:solidFill>
              <a:latin typeface="BIZ UDPGothic"/>
              <a:ea typeface="BIZ UDPGothic"/>
            </a:endParaRPr>
          </a:p>
        </p:txBody>
      </p:sp>
    </p:spTree>
    <p:extLst>
      <p:ext uri="{BB962C8B-B14F-4D97-AF65-F5344CB8AC3E}">
        <p14:creationId xmlns:p14="http://schemas.microsoft.com/office/powerpoint/2010/main" val="4083934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四角形: 角を丸くする 2">
            <a:extLst>
              <a:ext uri="{FF2B5EF4-FFF2-40B4-BE49-F238E27FC236}">
                <a16:creationId xmlns:a16="http://schemas.microsoft.com/office/drawing/2014/main" id="{2261FA5D-B2F8-43C2-8ECE-7A82AF66DB05}"/>
              </a:ext>
            </a:extLst>
          </p:cNvPr>
          <p:cNvSpPr/>
          <p:nvPr/>
        </p:nvSpPr>
        <p:spPr>
          <a:xfrm>
            <a:off x="508000" y="1460500"/>
            <a:ext cx="3429000" cy="13970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 name="テキスト ボックス 3">
            <a:extLst>
              <a:ext uri="{FF2B5EF4-FFF2-40B4-BE49-F238E27FC236}">
                <a16:creationId xmlns:a16="http://schemas.microsoft.com/office/drawing/2014/main" id="{390D3365-C425-48D6-A4D5-5504EC725441}"/>
              </a:ext>
            </a:extLst>
          </p:cNvPr>
          <p:cNvSpPr txBox="1"/>
          <p:nvPr/>
        </p:nvSpPr>
        <p:spPr>
          <a:xfrm>
            <a:off x="698500" y="1524000"/>
            <a:ext cx="3048000" cy="304800"/>
          </a:xfrm>
          <a:prstGeom prst="rect">
            <a:avLst/>
          </a:prstGeom>
          <a:noFill/>
        </p:spPr>
        <p:txBody>
          <a:bodyPr vertOverflow="overflow" vert="horz" wrap="square" rtlCol="0" anchor="t">
            <a:spAutoFit/>
          </a:bodyPr>
          <a:lstStyle/>
          <a:p>
            <a:pPr algn="l"/>
            <a:r>
              <a:rPr lang="ja-JP" altLang="en-US" sz="1400">
                <a:solidFill>
                  <a:srgbClr val="6B6B6B"/>
                </a:solidFill>
                <a:latin typeface="BIZ UDPGothic"/>
                <a:ea typeface="BIZ UDPGothic"/>
              </a:rPr>
              <a:t>対象データ</a:t>
            </a:r>
          </a:p>
        </p:txBody>
      </p:sp>
      <p:sp>
        <p:nvSpPr>
          <p:cNvPr id="5" name="テキスト ボックス 4">
            <a:extLst>
              <a:ext uri="{FF2B5EF4-FFF2-40B4-BE49-F238E27FC236}">
                <a16:creationId xmlns:a16="http://schemas.microsoft.com/office/drawing/2014/main" id="{874F0717-58DA-41BC-9F13-6EA435EE9A28}"/>
              </a:ext>
            </a:extLst>
          </p:cNvPr>
          <p:cNvSpPr txBox="1"/>
          <p:nvPr/>
        </p:nvSpPr>
        <p:spPr>
          <a:xfrm>
            <a:off x="698500" y="1816100"/>
            <a:ext cx="3048000" cy="457200"/>
          </a:xfrm>
          <a:prstGeom prst="rect">
            <a:avLst/>
          </a:prstGeom>
          <a:noFill/>
        </p:spPr>
        <p:txBody>
          <a:bodyPr vertOverflow="overflow" vert="horz" wrap="square" rtlCol="0" anchor="t">
            <a:spAutoFit/>
          </a:bodyPr>
          <a:lstStyle/>
          <a:p>
            <a:pPr algn="l"/>
            <a:r>
              <a:rPr lang="en-US" altLang="ja-JP" sz="2200" b="1">
                <a:solidFill>
                  <a:srgbClr val="8B3A2F"/>
                </a:solidFill>
                <a:latin typeface="BIZ UDPGothic"/>
                <a:ea typeface="BIZ UDPGothic"/>
              </a:rPr>
              <a:t>735</a:t>
            </a:r>
            <a:r>
              <a:rPr lang="ja-JP" altLang="en-US" sz="2200" b="1">
                <a:solidFill>
                  <a:srgbClr val="8B3A2F"/>
                </a:solidFill>
                <a:latin typeface="BIZ UDPGothic"/>
                <a:ea typeface="BIZ UDPGothic"/>
              </a:rPr>
              <a:t>行 </a:t>
            </a:r>
            <a:r>
              <a:rPr lang="en-US" altLang="ja-JP" sz="2200" b="1">
                <a:solidFill>
                  <a:srgbClr val="8B3A2F"/>
                </a:solidFill>
                <a:latin typeface="BIZ UDPGothic"/>
                <a:ea typeface="BIZ UDPGothic"/>
              </a:rPr>
              <a:t>× 33</a:t>
            </a:r>
            <a:r>
              <a:rPr lang="ja-JP" altLang="en-US" sz="2200" b="1">
                <a:solidFill>
                  <a:srgbClr val="8B3A2F"/>
                </a:solidFill>
                <a:latin typeface="BIZ UDPGothic"/>
                <a:ea typeface="BIZ UDPGothic"/>
              </a:rPr>
              <a:t>列</a:t>
            </a:r>
          </a:p>
        </p:txBody>
      </p:sp>
      <p:sp>
        <p:nvSpPr>
          <p:cNvPr id="6" name="テキスト ボックス 5">
            <a:extLst>
              <a:ext uri="{FF2B5EF4-FFF2-40B4-BE49-F238E27FC236}">
                <a16:creationId xmlns:a16="http://schemas.microsoft.com/office/drawing/2014/main" id="{DDE019EB-F58F-44CD-AC26-647D9F7E13ED}"/>
              </a:ext>
            </a:extLst>
          </p:cNvPr>
          <p:cNvSpPr txBox="1"/>
          <p:nvPr/>
        </p:nvSpPr>
        <p:spPr>
          <a:xfrm>
            <a:off x="698500" y="2324100"/>
            <a:ext cx="3048000" cy="304800"/>
          </a:xfrm>
          <a:prstGeom prst="rect">
            <a:avLst/>
          </a:prstGeom>
          <a:noFill/>
        </p:spPr>
        <p:txBody>
          <a:bodyPr vertOverflow="overflow" vert="horz" wrap="square" rtlCol="0" anchor="t">
            <a:spAutoFit/>
          </a:bodyPr>
          <a:lstStyle/>
          <a:p>
            <a:pPr algn="l"/>
            <a:r>
              <a:rPr lang="zh-TW" altLang="en-US" sz="1400">
                <a:solidFill>
                  <a:srgbClr val="4A4A4A"/>
                </a:solidFill>
                <a:latin typeface="BIZ UDPGothic"/>
                <a:ea typeface="BIZ UDPGothic"/>
              </a:rPr>
              <a:t>欠損値：全列</a:t>
            </a:r>
            <a:r>
              <a:rPr lang="en-US" altLang="zh-TW" sz="1400">
                <a:solidFill>
                  <a:srgbClr val="4A4A4A"/>
                </a:solidFill>
                <a:latin typeface="BIZ UDPGothic"/>
                <a:ea typeface="BIZ UDPGothic"/>
              </a:rPr>
              <a:t>0</a:t>
            </a:r>
            <a:r>
              <a:rPr lang="zh-TW" altLang="en-US" sz="1400">
                <a:solidFill>
                  <a:srgbClr val="4A4A4A"/>
                </a:solidFill>
                <a:latin typeface="BIZ UDPGothic"/>
                <a:ea typeface="BIZ UDPGothic"/>
              </a:rPr>
              <a:t>件</a:t>
            </a:r>
            <a:endParaRPr lang="ja-JP" altLang="en-US" sz="1400">
              <a:solidFill>
                <a:srgbClr val="4A4A4A"/>
              </a:solidFill>
              <a:latin typeface="BIZ UDPGothic"/>
              <a:ea typeface="BIZ UDPGothic"/>
            </a:endParaRPr>
          </a:p>
        </p:txBody>
      </p:sp>
      <p:sp>
        <p:nvSpPr>
          <p:cNvPr id="7" name="四角形: 角を丸くする 6">
            <a:extLst>
              <a:ext uri="{FF2B5EF4-FFF2-40B4-BE49-F238E27FC236}">
                <a16:creationId xmlns:a16="http://schemas.microsoft.com/office/drawing/2014/main" id="{5E377F72-BD7C-4CF5-ACA4-64086DED5AB2}"/>
              </a:ext>
            </a:extLst>
          </p:cNvPr>
          <p:cNvSpPr/>
          <p:nvPr/>
        </p:nvSpPr>
        <p:spPr>
          <a:xfrm>
            <a:off x="4318000" y="1460500"/>
            <a:ext cx="3429000" cy="13970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8" name="テキスト ボックス 7">
            <a:extLst>
              <a:ext uri="{FF2B5EF4-FFF2-40B4-BE49-F238E27FC236}">
                <a16:creationId xmlns:a16="http://schemas.microsoft.com/office/drawing/2014/main" id="{B81F2A55-FAE2-4D8B-817E-D995366773C9}"/>
              </a:ext>
            </a:extLst>
          </p:cNvPr>
          <p:cNvSpPr txBox="1"/>
          <p:nvPr/>
        </p:nvSpPr>
        <p:spPr>
          <a:xfrm>
            <a:off x="4508500" y="1524000"/>
            <a:ext cx="3048000" cy="304800"/>
          </a:xfrm>
          <a:prstGeom prst="rect">
            <a:avLst/>
          </a:prstGeom>
          <a:noFill/>
        </p:spPr>
        <p:txBody>
          <a:bodyPr vertOverflow="overflow" vert="horz" wrap="square" rtlCol="0" anchor="t">
            <a:spAutoFit/>
          </a:bodyPr>
          <a:lstStyle/>
          <a:p>
            <a:pPr algn="l"/>
            <a:r>
              <a:rPr lang="ja-JP" altLang="en-US" sz="1400">
                <a:solidFill>
                  <a:srgbClr val="6B6B6B"/>
                </a:solidFill>
                <a:latin typeface="BIZ UDPGothic"/>
                <a:ea typeface="BIZ UDPGothic"/>
              </a:rPr>
              <a:t>目的変数</a:t>
            </a:r>
          </a:p>
        </p:txBody>
      </p:sp>
      <p:sp>
        <p:nvSpPr>
          <p:cNvPr id="9" name="テキスト ボックス 8">
            <a:extLst>
              <a:ext uri="{FF2B5EF4-FFF2-40B4-BE49-F238E27FC236}">
                <a16:creationId xmlns:a16="http://schemas.microsoft.com/office/drawing/2014/main" id="{755C313C-BFAD-4651-A7D1-EA7A612EEAB3}"/>
              </a:ext>
            </a:extLst>
          </p:cNvPr>
          <p:cNvSpPr txBox="1"/>
          <p:nvPr/>
        </p:nvSpPr>
        <p:spPr>
          <a:xfrm>
            <a:off x="4508500" y="1816100"/>
            <a:ext cx="3048000" cy="457200"/>
          </a:xfrm>
          <a:prstGeom prst="rect">
            <a:avLst/>
          </a:prstGeom>
          <a:noFill/>
        </p:spPr>
        <p:txBody>
          <a:bodyPr vertOverflow="overflow" vert="horz" wrap="square" rtlCol="0" anchor="t">
            <a:spAutoFit/>
          </a:bodyPr>
          <a:lstStyle/>
          <a:p>
            <a:pPr algn="l"/>
            <a:r>
              <a:rPr lang="en-US" altLang="ja-JP" sz="2200" b="1">
                <a:solidFill>
                  <a:srgbClr val="8B3A2F"/>
                </a:solidFill>
                <a:latin typeface="BIZ UDPGothic"/>
                <a:ea typeface="BIZ UDPGothic"/>
              </a:rPr>
              <a:t>Attrition</a:t>
            </a:r>
            <a:endParaRPr lang="ja-JP" altLang="en-US" sz="2200" b="1">
              <a:solidFill>
                <a:srgbClr val="8B3A2F"/>
              </a:solidFill>
              <a:latin typeface="BIZ UDPGothic"/>
              <a:ea typeface="BIZ UDPGothic"/>
            </a:endParaRPr>
          </a:p>
        </p:txBody>
      </p:sp>
      <p:sp>
        <p:nvSpPr>
          <p:cNvPr id="10" name="テキスト ボックス 9">
            <a:extLst>
              <a:ext uri="{FF2B5EF4-FFF2-40B4-BE49-F238E27FC236}">
                <a16:creationId xmlns:a16="http://schemas.microsoft.com/office/drawing/2014/main" id="{6710195C-3F5B-4838-B358-C4A45E6AB2B1}"/>
              </a:ext>
            </a:extLst>
          </p:cNvPr>
          <p:cNvSpPr txBox="1"/>
          <p:nvPr/>
        </p:nvSpPr>
        <p:spPr>
          <a:xfrm>
            <a:off x="4508500" y="2324100"/>
            <a:ext cx="3048000" cy="304800"/>
          </a:xfrm>
          <a:prstGeom prst="rect">
            <a:avLst/>
          </a:prstGeom>
          <a:noFill/>
        </p:spPr>
        <p:txBody>
          <a:bodyPr vertOverflow="overflow" vert="horz" wrap="square" rtlCol="0" anchor="t">
            <a:spAutoFit/>
          </a:bodyPr>
          <a:lstStyle/>
          <a:p>
            <a:pPr algn="l"/>
            <a:r>
              <a:rPr lang="en-US" altLang="ja-JP" sz="1400">
                <a:solidFill>
                  <a:srgbClr val="4A4A4A"/>
                </a:solidFill>
                <a:latin typeface="BIZ UDPGothic"/>
                <a:ea typeface="BIZ UDPGothic"/>
              </a:rPr>
              <a:t>Yes / No </a:t>
            </a:r>
            <a:r>
              <a:rPr lang="ja-JP" altLang="en-US" sz="1400">
                <a:solidFill>
                  <a:srgbClr val="4A4A4A"/>
                </a:solidFill>
                <a:latin typeface="BIZ UDPGothic"/>
                <a:ea typeface="BIZ UDPGothic"/>
              </a:rPr>
              <a:t>の二値分類</a:t>
            </a:r>
          </a:p>
        </p:txBody>
      </p:sp>
      <p:sp>
        <p:nvSpPr>
          <p:cNvPr id="11" name="四角形: 角を丸くする 10">
            <a:extLst>
              <a:ext uri="{FF2B5EF4-FFF2-40B4-BE49-F238E27FC236}">
                <a16:creationId xmlns:a16="http://schemas.microsoft.com/office/drawing/2014/main" id="{90BB6BB8-42EA-4C31-AAC2-7558848FA560}"/>
              </a:ext>
            </a:extLst>
          </p:cNvPr>
          <p:cNvSpPr/>
          <p:nvPr/>
        </p:nvSpPr>
        <p:spPr>
          <a:xfrm>
            <a:off x="8128000" y="1460500"/>
            <a:ext cx="3429000" cy="13970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2" name="テキスト ボックス 11">
            <a:extLst>
              <a:ext uri="{FF2B5EF4-FFF2-40B4-BE49-F238E27FC236}">
                <a16:creationId xmlns:a16="http://schemas.microsoft.com/office/drawing/2014/main" id="{3384D28A-31A5-404B-85E2-E31027081DF6}"/>
              </a:ext>
            </a:extLst>
          </p:cNvPr>
          <p:cNvSpPr txBox="1"/>
          <p:nvPr/>
        </p:nvSpPr>
        <p:spPr>
          <a:xfrm>
            <a:off x="8318500" y="1524000"/>
            <a:ext cx="3048000" cy="304800"/>
          </a:xfrm>
          <a:prstGeom prst="rect">
            <a:avLst/>
          </a:prstGeom>
          <a:noFill/>
        </p:spPr>
        <p:txBody>
          <a:bodyPr vertOverflow="overflow" vert="horz" wrap="square" rtlCol="0" anchor="t">
            <a:spAutoFit/>
          </a:bodyPr>
          <a:lstStyle/>
          <a:p>
            <a:pPr algn="l"/>
            <a:r>
              <a:rPr lang="ja-JP" altLang="en-US" sz="1400">
                <a:solidFill>
                  <a:srgbClr val="6B6B6B"/>
                </a:solidFill>
                <a:latin typeface="BIZ UDPGothic"/>
                <a:ea typeface="BIZ UDPGothic"/>
              </a:rPr>
              <a:t>モデル手法</a:t>
            </a:r>
          </a:p>
        </p:txBody>
      </p:sp>
      <p:sp>
        <p:nvSpPr>
          <p:cNvPr id="13" name="テキスト ボックス 12">
            <a:extLst>
              <a:ext uri="{FF2B5EF4-FFF2-40B4-BE49-F238E27FC236}">
                <a16:creationId xmlns:a16="http://schemas.microsoft.com/office/drawing/2014/main" id="{A35B8387-8EFD-47A3-AB17-2143B6DA4D4F}"/>
              </a:ext>
            </a:extLst>
          </p:cNvPr>
          <p:cNvSpPr txBox="1"/>
          <p:nvPr/>
        </p:nvSpPr>
        <p:spPr>
          <a:xfrm>
            <a:off x="8318500" y="1816100"/>
            <a:ext cx="3048000" cy="457200"/>
          </a:xfrm>
          <a:prstGeom prst="rect">
            <a:avLst/>
          </a:prstGeom>
          <a:noFill/>
        </p:spPr>
        <p:txBody>
          <a:bodyPr vertOverflow="overflow" vert="horz" wrap="square" rtlCol="0" anchor="t">
            <a:spAutoFit/>
          </a:bodyPr>
          <a:lstStyle/>
          <a:p>
            <a:pPr algn="l"/>
            <a:r>
              <a:rPr lang="en-US" altLang="ja-JP" sz="2200" b="1">
                <a:solidFill>
                  <a:srgbClr val="8B3A2F"/>
                </a:solidFill>
                <a:latin typeface="BIZ UDPGothic"/>
                <a:ea typeface="BIZ UDPGothic"/>
              </a:rPr>
              <a:t>Extra Trees</a:t>
            </a:r>
            <a:endParaRPr lang="ja-JP" altLang="en-US" sz="2200" b="1">
              <a:solidFill>
                <a:srgbClr val="8B3A2F"/>
              </a:solidFill>
              <a:latin typeface="BIZ UDPGothic"/>
              <a:ea typeface="BIZ UDPGothic"/>
            </a:endParaRPr>
          </a:p>
        </p:txBody>
      </p:sp>
      <p:sp>
        <p:nvSpPr>
          <p:cNvPr id="14" name="テキスト ボックス 13">
            <a:extLst>
              <a:ext uri="{FF2B5EF4-FFF2-40B4-BE49-F238E27FC236}">
                <a16:creationId xmlns:a16="http://schemas.microsoft.com/office/drawing/2014/main" id="{0DC5FEED-1F40-4FF1-A679-5EDA25ED1274}"/>
              </a:ext>
            </a:extLst>
          </p:cNvPr>
          <p:cNvSpPr txBox="1"/>
          <p:nvPr/>
        </p:nvSpPr>
        <p:spPr>
          <a:xfrm>
            <a:off x="8318500" y="2324100"/>
            <a:ext cx="3048000" cy="304800"/>
          </a:xfrm>
          <a:prstGeom prst="rect">
            <a:avLst/>
          </a:prstGeom>
          <a:noFill/>
        </p:spPr>
        <p:txBody>
          <a:bodyPr vertOverflow="overflow" vert="horz" wrap="square" rtlCol="0" anchor="t">
            <a:spAutoFit/>
          </a:bodyPr>
          <a:lstStyle/>
          <a:p>
            <a:pPr algn="l"/>
            <a:r>
              <a:rPr lang="en-US" altLang="ja-JP" sz="1400">
                <a:solidFill>
                  <a:srgbClr val="4A4A4A"/>
                </a:solidFill>
                <a:latin typeface="BIZ UDPGothic"/>
                <a:ea typeface="BIZ UDPGothic"/>
              </a:rPr>
              <a:t>n_estimators=500, max_depth=10</a:t>
            </a:r>
            <a:endParaRPr lang="ja-JP" altLang="en-US" sz="1400">
              <a:solidFill>
                <a:srgbClr val="4A4A4A"/>
              </a:solidFill>
              <a:latin typeface="BIZ UDPGothic"/>
              <a:ea typeface="BIZ UDPGothic"/>
            </a:endParaRPr>
          </a:p>
        </p:txBody>
      </p:sp>
      <p:sp>
        <p:nvSpPr>
          <p:cNvPr id="15" name="テキスト ボックス 14">
            <a:extLst>
              <a:ext uri="{FF2B5EF4-FFF2-40B4-BE49-F238E27FC236}">
                <a16:creationId xmlns:a16="http://schemas.microsoft.com/office/drawing/2014/main" id="{9FE8DF18-EB3C-42A5-8A8E-6FDE69F43D22}"/>
              </a:ext>
            </a:extLst>
          </p:cNvPr>
          <p:cNvSpPr txBox="1"/>
          <p:nvPr/>
        </p:nvSpPr>
        <p:spPr>
          <a:xfrm>
            <a:off x="508000" y="3111500"/>
            <a:ext cx="11176000" cy="355600"/>
          </a:xfrm>
          <a:prstGeom prst="rect">
            <a:avLst/>
          </a:prstGeom>
          <a:noFill/>
        </p:spPr>
        <p:txBody>
          <a:bodyPr vertOverflow="overflow" vert="horz" wrap="square" rtlCol="0" anchor="t">
            <a:spAutoFit/>
          </a:bodyPr>
          <a:lstStyle/>
          <a:p>
            <a:pPr algn="l"/>
            <a:r>
              <a:rPr lang="ja-JP" altLang="en-US" sz="1600" b="1">
                <a:solidFill>
                  <a:srgbClr val="1A1A1A"/>
                </a:solidFill>
                <a:latin typeface="BIZ UDPGothic"/>
                <a:ea typeface="BIZ UDPGothic"/>
              </a:rPr>
              <a:t>モデル評価指標</a:t>
            </a:r>
          </a:p>
        </p:txBody>
      </p:sp>
      <p:sp>
        <p:nvSpPr>
          <p:cNvPr id="16" name="正方形/長方形 15">
            <a:extLst>
              <a:ext uri="{FF2B5EF4-FFF2-40B4-BE49-F238E27FC236}">
                <a16:creationId xmlns:a16="http://schemas.microsoft.com/office/drawing/2014/main" id="{5080A2B9-74E9-444D-BAB1-CC5623B43492}"/>
              </a:ext>
            </a:extLst>
          </p:cNvPr>
          <p:cNvSpPr/>
          <p:nvPr/>
        </p:nvSpPr>
        <p:spPr>
          <a:xfrm>
            <a:off x="508000" y="3467100"/>
            <a:ext cx="11176000" cy="25400"/>
          </a:xfrm>
          <a:prstGeom prst="rect">
            <a:avLst/>
          </a:prstGeom>
          <a:solidFill>
            <a:srgbClr val="D4C5B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正方形/長方形 16">
            <a:extLst>
              <a:ext uri="{FF2B5EF4-FFF2-40B4-BE49-F238E27FC236}">
                <a16:creationId xmlns:a16="http://schemas.microsoft.com/office/drawing/2014/main" id="{CBF60ABD-16DA-484D-B957-18C1AA42BBDD}"/>
              </a:ext>
            </a:extLst>
          </p:cNvPr>
          <p:cNvSpPr/>
          <p:nvPr/>
        </p:nvSpPr>
        <p:spPr>
          <a:xfrm>
            <a:off x="508000" y="3644900"/>
            <a:ext cx="3429000" cy="965200"/>
          </a:xfrm>
          <a:prstGeom prst="rect">
            <a:avLst/>
          </a:prstGeom>
          <a:solidFill>
            <a:srgbClr val="FFFFFF"/>
          </a:solidFill>
          <a:ln w="12700" cap="flat" cmpd="sng" algn="ctr">
            <a:solidFill>
              <a:srgbClr val="D4C5B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8" name="テキスト ボックス 17">
            <a:extLst>
              <a:ext uri="{FF2B5EF4-FFF2-40B4-BE49-F238E27FC236}">
                <a16:creationId xmlns:a16="http://schemas.microsoft.com/office/drawing/2014/main" id="{D498AD21-188E-43A7-9A57-E6FFF558C6A8}"/>
              </a:ext>
            </a:extLst>
          </p:cNvPr>
          <p:cNvSpPr txBox="1"/>
          <p:nvPr/>
        </p:nvSpPr>
        <p:spPr>
          <a:xfrm>
            <a:off x="660400" y="3746500"/>
            <a:ext cx="3124200" cy="279400"/>
          </a:xfrm>
          <a:prstGeom prst="rect">
            <a:avLst/>
          </a:prstGeom>
          <a:noFill/>
        </p:spPr>
        <p:txBody>
          <a:bodyPr vertOverflow="overflow" vert="horz" wrap="square" rtlCol="0" anchor="t">
            <a:spAutoFit/>
          </a:bodyPr>
          <a:lstStyle/>
          <a:p>
            <a:pPr algn="l"/>
            <a:r>
              <a:rPr lang="en-US" altLang="ja-JP" sz="1400">
                <a:solidFill>
                  <a:srgbClr val="6B6B6B"/>
                </a:solidFill>
                <a:latin typeface="BIZ UDPGothic"/>
                <a:ea typeface="BIZ UDPGothic"/>
              </a:rPr>
              <a:t>Accuracy</a:t>
            </a:r>
            <a:endParaRPr lang="ja-JP" altLang="en-US" sz="1400">
              <a:solidFill>
                <a:srgbClr val="6B6B6B"/>
              </a:solidFill>
              <a:latin typeface="BIZ UDPGothic"/>
              <a:ea typeface="BIZ UDPGothic"/>
            </a:endParaRPr>
          </a:p>
        </p:txBody>
      </p:sp>
      <p:sp>
        <p:nvSpPr>
          <p:cNvPr id="19" name="テキスト ボックス 18">
            <a:extLst>
              <a:ext uri="{FF2B5EF4-FFF2-40B4-BE49-F238E27FC236}">
                <a16:creationId xmlns:a16="http://schemas.microsoft.com/office/drawing/2014/main" id="{96A2A9B7-8D01-45CF-BF73-F13B947C3EAC}"/>
              </a:ext>
            </a:extLst>
          </p:cNvPr>
          <p:cNvSpPr txBox="1"/>
          <p:nvPr/>
        </p:nvSpPr>
        <p:spPr>
          <a:xfrm>
            <a:off x="660400" y="4051300"/>
            <a:ext cx="3124200" cy="431800"/>
          </a:xfrm>
          <a:prstGeom prst="rect">
            <a:avLst/>
          </a:prstGeom>
          <a:noFill/>
        </p:spPr>
        <p:txBody>
          <a:bodyPr vertOverflow="overflow" vert="horz" wrap="square" rtlCol="0" anchor="t">
            <a:spAutoFit/>
          </a:bodyPr>
          <a:lstStyle/>
          <a:p>
            <a:pPr algn="l"/>
            <a:r>
              <a:rPr lang="en-US" altLang="ja-JP" sz="2400" b="1">
                <a:solidFill>
                  <a:srgbClr val="1A1A1A"/>
                </a:solidFill>
                <a:latin typeface="BIZ UDPGothic"/>
                <a:ea typeface="BIZ UDPGothic"/>
              </a:rPr>
              <a:t>0.8231</a:t>
            </a:r>
            <a:endParaRPr lang="ja-JP" altLang="en-US" sz="2400" b="1">
              <a:solidFill>
                <a:srgbClr val="1A1A1A"/>
              </a:solidFill>
              <a:latin typeface="BIZ UDPGothic"/>
              <a:ea typeface="BIZ UDPGothic"/>
            </a:endParaRPr>
          </a:p>
        </p:txBody>
      </p:sp>
      <p:sp>
        <p:nvSpPr>
          <p:cNvPr id="20" name="正方形/長方形 19">
            <a:extLst>
              <a:ext uri="{FF2B5EF4-FFF2-40B4-BE49-F238E27FC236}">
                <a16:creationId xmlns:a16="http://schemas.microsoft.com/office/drawing/2014/main" id="{B551362B-F928-4D1B-85F6-06FF22BBD0AB}"/>
              </a:ext>
            </a:extLst>
          </p:cNvPr>
          <p:cNvSpPr/>
          <p:nvPr/>
        </p:nvSpPr>
        <p:spPr>
          <a:xfrm>
            <a:off x="4318000" y="3644900"/>
            <a:ext cx="3429000" cy="965200"/>
          </a:xfrm>
          <a:prstGeom prst="rect">
            <a:avLst/>
          </a:prstGeom>
          <a:solidFill>
            <a:srgbClr val="FFFFFF"/>
          </a:solidFill>
          <a:ln w="12700" cap="flat" cmpd="sng" algn="ctr">
            <a:solidFill>
              <a:srgbClr val="D4C5B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1" name="テキスト ボックス 20">
            <a:extLst>
              <a:ext uri="{FF2B5EF4-FFF2-40B4-BE49-F238E27FC236}">
                <a16:creationId xmlns:a16="http://schemas.microsoft.com/office/drawing/2014/main" id="{B7E901D9-00BF-400B-BC38-164130D2F23B}"/>
              </a:ext>
            </a:extLst>
          </p:cNvPr>
          <p:cNvSpPr txBox="1"/>
          <p:nvPr/>
        </p:nvSpPr>
        <p:spPr>
          <a:xfrm>
            <a:off x="4470400" y="3746500"/>
            <a:ext cx="3124200" cy="279400"/>
          </a:xfrm>
          <a:prstGeom prst="rect">
            <a:avLst/>
          </a:prstGeom>
          <a:noFill/>
        </p:spPr>
        <p:txBody>
          <a:bodyPr vertOverflow="overflow" vert="horz" wrap="square" rtlCol="0" anchor="t">
            <a:spAutoFit/>
          </a:bodyPr>
          <a:lstStyle/>
          <a:p>
            <a:pPr algn="l"/>
            <a:r>
              <a:rPr lang="en-US" altLang="ja-JP" sz="1400">
                <a:solidFill>
                  <a:srgbClr val="6B6B6B"/>
                </a:solidFill>
                <a:latin typeface="BIZ UDPGothic"/>
                <a:ea typeface="BIZ UDPGothic"/>
              </a:rPr>
              <a:t>F1-macro</a:t>
            </a:r>
            <a:endParaRPr lang="ja-JP" altLang="en-US" sz="1400">
              <a:solidFill>
                <a:srgbClr val="6B6B6B"/>
              </a:solidFill>
              <a:latin typeface="BIZ UDPGothic"/>
              <a:ea typeface="BIZ UDPGothic"/>
            </a:endParaRPr>
          </a:p>
        </p:txBody>
      </p:sp>
      <p:sp>
        <p:nvSpPr>
          <p:cNvPr id="22" name="テキスト ボックス 21">
            <a:extLst>
              <a:ext uri="{FF2B5EF4-FFF2-40B4-BE49-F238E27FC236}">
                <a16:creationId xmlns:a16="http://schemas.microsoft.com/office/drawing/2014/main" id="{43E9A7FE-F615-490B-A216-629DCB471E1C}"/>
              </a:ext>
            </a:extLst>
          </p:cNvPr>
          <p:cNvSpPr txBox="1"/>
          <p:nvPr/>
        </p:nvSpPr>
        <p:spPr>
          <a:xfrm>
            <a:off x="4470400" y="4051300"/>
            <a:ext cx="3124200" cy="431800"/>
          </a:xfrm>
          <a:prstGeom prst="rect">
            <a:avLst/>
          </a:prstGeom>
          <a:noFill/>
        </p:spPr>
        <p:txBody>
          <a:bodyPr vertOverflow="overflow" vert="horz" wrap="square" rtlCol="0" anchor="t">
            <a:spAutoFit/>
          </a:bodyPr>
          <a:lstStyle/>
          <a:p>
            <a:pPr algn="l"/>
            <a:r>
              <a:rPr lang="en-US" altLang="ja-JP" sz="2400" b="1">
                <a:solidFill>
                  <a:srgbClr val="1A1A1A"/>
                </a:solidFill>
                <a:latin typeface="BIZ UDPGothic"/>
                <a:ea typeface="BIZ UDPGothic"/>
              </a:rPr>
              <a:t>0.6525</a:t>
            </a:r>
            <a:endParaRPr lang="ja-JP" altLang="en-US" sz="2400" b="1">
              <a:solidFill>
                <a:srgbClr val="1A1A1A"/>
              </a:solidFill>
              <a:latin typeface="BIZ UDPGothic"/>
              <a:ea typeface="BIZ UDPGothic"/>
            </a:endParaRPr>
          </a:p>
        </p:txBody>
      </p:sp>
      <p:sp>
        <p:nvSpPr>
          <p:cNvPr id="23" name="正方形/長方形 22">
            <a:extLst>
              <a:ext uri="{FF2B5EF4-FFF2-40B4-BE49-F238E27FC236}">
                <a16:creationId xmlns:a16="http://schemas.microsoft.com/office/drawing/2014/main" id="{44633A49-08D2-4F90-90AB-EBD2477BBC58}"/>
              </a:ext>
            </a:extLst>
          </p:cNvPr>
          <p:cNvSpPr/>
          <p:nvPr/>
        </p:nvSpPr>
        <p:spPr>
          <a:xfrm>
            <a:off x="8128000" y="3644900"/>
            <a:ext cx="3429000" cy="965200"/>
          </a:xfrm>
          <a:prstGeom prst="rect">
            <a:avLst/>
          </a:prstGeom>
          <a:solidFill>
            <a:srgbClr val="FFFFFF"/>
          </a:solidFill>
          <a:ln w="12700" cap="flat" cmpd="sng" algn="ctr">
            <a:solidFill>
              <a:srgbClr val="D4C5B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4" name="テキスト ボックス 23">
            <a:extLst>
              <a:ext uri="{FF2B5EF4-FFF2-40B4-BE49-F238E27FC236}">
                <a16:creationId xmlns:a16="http://schemas.microsoft.com/office/drawing/2014/main" id="{7228089B-BEC6-4B91-A62A-3EA678E32709}"/>
              </a:ext>
            </a:extLst>
          </p:cNvPr>
          <p:cNvSpPr txBox="1"/>
          <p:nvPr/>
        </p:nvSpPr>
        <p:spPr>
          <a:xfrm>
            <a:off x="8280400" y="3746500"/>
            <a:ext cx="3124200" cy="279400"/>
          </a:xfrm>
          <a:prstGeom prst="rect">
            <a:avLst/>
          </a:prstGeom>
          <a:noFill/>
        </p:spPr>
        <p:txBody>
          <a:bodyPr vertOverflow="overflow" vert="horz" wrap="square" rtlCol="0" anchor="t">
            <a:spAutoFit/>
          </a:bodyPr>
          <a:lstStyle/>
          <a:p>
            <a:pPr algn="l"/>
            <a:r>
              <a:rPr lang="en-US" altLang="ja-JP" sz="1400">
                <a:solidFill>
                  <a:srgbClr val="6B6B6B"/>
                </a:solidFill>
                <a:latin typeface="BIZ UDPGothic"/>
                <a:ea typeface="BIZ UDPGothic"/>
              </a:rPr>
              <a:t>ROC-AUC</a:t>
            </a:r>
            <a:endParaRPr lang="ja-JP" altLang="en-US" sz="1400">
              <a:solidFill>
                <a:srgbClr val="6B6B6B"/>
              </a:solidFill>
              <a:latin typeface="BIZ UDPGothic"/>
              <a:ea typeface="BIZ UDPGothic"/>
            </a:endParaRPr>
          </a:p>
        </p:txBody>
      </p:sp>
      <p:sp>
        <p:nvSpPr>
          <p:cNvPr id="25" name="テキスト ボックス 24">
            <a:extLst>
              <a:ext uri="{FF2B5EF4-FFF2-40B4-BE49-F238E27FC236}">
                <a16:creationId xmlns:a16="http://schemas.microsoft.com/office/drawing/2014/main" id="{01E71917-6160-48DF-8992-EA5EA5DB6C69}"/>
              </a:ext>
            </a:extLst>
          </p:cNvPr>
          <p:cNvSpPr txBox="1"/>
          <p:nvPr/>
        </p:nvSpPr>
        <p:spPr>
          <a:xfrm>
            <a:off x="8280400" y="4051300"/>
            <a:ext cx="3124200" cy="431800"/>
          </a:xfrm>
          <a:prstGeom prst="rect">
            <a:avLst/>
          </a:prstGeom>
          <a:noFill/>
        </p:spPr>
        <p:txBody>
          <a:bodyPr vertOverflow="overflow" vert="horz" wrap="square" rtlCol="0" anchor="t">
            <a:spAutoFit/>
          </a:bodyPr>
          <a:lstStyle/>
          <a:p>
            <a:pPr algn="l"/>
            <a:r>
              <a:rPr lang="en-US" altLang="ja-JP" sz="2400" b="1">
                <a:solidFill>
                  <a:srgbClr val="1A1A1A"/>
                </a:solidFill>
                <a:latin typeface="BIZ UDPGothic"/>
                <a:ea typeface="BIZ UDPGothic"/>
              </a:rPr>
              <a:t>0.7121</a:t>
            </a:r>
            <a:endParaRPr lang="ja-JP" altLang="en-US" sz="2400" b="1">
              <a:solidFill>
                <a:srgbClr val="1A1A1A"/>
              </a:solidFill>
              <a:latin typeface="BIZ UDPGothic"/>
              <a:ea typeface="BIZ UDPGothic"/>
            </a:endParaRPr>
          </a:p>
        </p:txBody>
      </p:sp>
      <p:sp>
        <p:nvSpPr>
          <p:cNvPr id="26" name="正方形/長方形 25">
            <a:extLst>
              <a:ext uri="{FF2B5EF4-FFF2-40B4-BE49-F238E27FC236}">
                <a16:creationId xmlns:a16="http://schemas.microsoft.com/office/drawing/2014/main" id="{56FF9DEB-6F25-484D-BF65-9C17F7F2CA46}"/>
              </a:ext>
            </a:extLst>
          </p:cNvPr>
          <p:cNvSpPr/>
          <p:nvPr/>
        </p:nvSpPr>
        <p:spPr>
          <a:xfrm>
            <a:off x="508000" y="4787900"/>
            <a:ext cx="3429000" cy="965200"/>
          </a:xfrm>
          <a:prstGeom prst="rect">
            <a:avLst/>
          </a:prstGeom>
          <a:solidFill>
            <a:srgbClr val="FFFFFF"/>
          </a:solidFill>
          <a:ln w="12700" cap="flat" cmpd="sng" algn="ctr">
            <a:solidFill>
              <a:srgbClr val="D4C5B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7" name="テキスト ボックス 26">
            <a:extLst>
              <a:ext uri="{FF2B5EF4-FFF2-40B4-BE49-F238E27FC236}">
                <a16:creationId xmlns:a16="http://schemas.microsoft.com/office/drawing/2014/main" id="{09FE2D33-868B-4111-B503-868C89ACB674}"/>
              </a:ext>
            </a:extLst>
          </p:cNvPr>
          <p:cNvSpPr txBox="1"/>
          <p:nvPr/>
        </p:nvSpPr>
        <p:spPr>
          <a:xfrm>
            <a:off x="660400" y="4889500"/>
            <a:ext cx="3124200" cy="279400"/>
          </a:xfrm>
          <a:prstGeom prst="rect">
            <a:avLst/>
          </a:prstGeom>
          <a:noFill/>
        </p:spPr>
        <p:txBody>
          <a:bodyPr vertOverflow="overflow" vert="horz" wrap="square" rtlCol="0" anchor="t">
            <a:spAutoFit/>
          </a:bodyPr>
          <a:lstStyle/>
          <a:p>
            <a:pPr algn="l"/>
            <a:r>
              <a:rPr lang="en-US" altLang="ja-JP" sz="1400">
                <a:solidFill>
                  <a:srgbClr val="6B6B6B"/>
                </a:solidFill>
                <a:latin typeface="BIZ UDPGothic"/>
                <a:ea typeface="BIZ UDPGothic"/>
              </a:rPr>
              <a:t>Brier Score</a:t>
            </a:r>
            <a:endParaRPr lang="ja-JP" altLang="en-US" sz="1400">
              <a:solidFill>
                <a:srgbClr val="6B6B6B"/>
              </a:solidFill>
              <a:latin typeface="BIZ UDPGothic"/>
              <a:ea typeface="BIZ UDPGothic"/>
            </a:endParaRPr>
          </a:p>
        </p:txBody>
      </p:sp>
      <p:sp>
        <p:nvSpPr>
          <p:cNvPr id="28" name="テキスト ボックス 27">
            <a:extLst>
              <a:ext uri="{FF2B5EF4-FFF2-40B4-BE49-F238E27FC236}">
                <a16:creationId xmlns:a16="http://schemas.microsoft.com/office/drawing/2014/main" id="{B253E0FA-464C-4C74-8C68-A4240BD4060D}"/>
              </a:ext>
            </a:extLst>
          </p:cNvPr>
          <p:cNvSpPr txBox="1"/>
          <p:nvPr/>
        </p:nvSpPr>
        <p:spPr>
          <a:xfrm>
            <a:off x="660400" y="5194300"/>
            <a:ext cx="3124200" cy="431800"/>
          </a:xfrm>
          <a:prstGeom prst="rect">
            <a:avLst/>
          </a:prstGeom>
          <a:noFill/>
        </p:spPr>
        <p:txBody>
          <a:bodyPr vertOverflow="overflow" vert="horz" wrap="square" rtlCol="0" anchor="t">
            <a:spAutoFit/>
          </a:bodyPr>
          <a:lstStyle/>
          <a:p>
            <a:pPr algn="l"/>
            <a:r>
              <a:rPr lang="en-US" altLang="ja-JP" sz="2400" b="1">
                <a:solidFill>
                  <a:srgbClr val="1A1A1A"/>
                </a:solidFill>
                <a:latin typeface="BIZ UDPGothic"/>
                <a:ea typeface="BIZ UDPGothic"/>
              </a:rPr>
              <a:t>0.1508</a:t>
            </a:r>
            <a:endParaRPr lang="ja-JP" altLang="en-US" sz="2400" b="1">
              <a:solidFill>
                <a:srgbClr val="1A1A1A"/>
              </a:solidFill>
              <a:latin typeface="BIZ UDPGothic"/>
              <a:ea typeface="BIZ UDPGothic"/>
            </a:endParaRPr>
          </a:p>
        </p:txBody>
      </p:sp>
      <p:sp>
        <p:nvSpPr>
          <p:cNvPr id="29" name="正方形/長方形 28">
            <a:extLst>
              <a:ext uri="{FF2B5EF4-FFF2-40B4-BE49-F238E27FC236}">
                <a16:creationId xmlns:a16="http://schemas.microsoft.com/office/drawing/2014/main" id="{AF2A5981-12EC-438D-B09A-4FD92C496E95}"/>
              </a:ext>
            </a:extLst>
          </p:cNvPr>
          <p:cNvSpPr/>
          <p:nvPr/>
        </p:nvSpPr>
        <p:spPr>
          <a:xfrm>
            <a:off x="4318000" y="4787900"/>
            <a:ext cx="3429000" cy="965200"/>
          </a:xfrm>
          <a:prstGeom prst="rect">
            <a:avLst/>
          </a:prstGeom>
          <a:solidFill>
            <a:srgbClr val="FFFFFF"/>
          </a:solidFill>
          <a:ln w="12700" cap="flat" cmpd="sng" algn="ctr">
            <a:solidFill>
              <a:srgbClr val="D4C5B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0" name="テキスト ボックス 29">
            <a:extLst>
              <a:ext uri="{FF2B5EF4-FFF2-40B4-BE49-F238E27FC236}">
                <a16:creationId xmlns:a16="http://schemas.microsoft.com/office/drawing/2014/main" id="{9675046F-D21F-4ABC-B04D-02A2A669A61E}"/>
              </a:ext>
            </a:extLst>
          </p:cNvPr>
          <p:cNvSpPr txBox="1"/>
          <p:nvPr/>
        </p:nvSpPr>
        <p:spPr>
          <a:xfrm>
            <a:off x="4470400" y="4889500"/>
            <a:ext cx="3124200" cy="279400"/>
          </a:xfrm>
          <a:prstGeom prst="rect">
            <a:avLst/>
          </a:prstGeom>
          <a:noFill/>
        </p:spPr>
        <p:txBody>
          <a:bodyPr vertOverflow="overflow" vert="horz" wrap="square" rtlCol="0" anchor="t">
            <a:spAutoFit/>
          </a:bodyPr>
          <a:lstStyle/>
          <a:p>
            <a:pPr algn="l"/>
            <a:r>
              <a:rPr lang="en-US" altLang="ja-JP" sz="1400">
                <a:solidFill>
                  <a:srgbClr val="6B6B6B"/>
                </a:solidFill>
                <a:latin typeface="BIZ UDPGothic"/>
                <a:ea typeface="BIZ UDPGothic"/>
              </a:rPr>
              <a:t>Precision@Top10%</a:t>
            </a:r>
            <a:endParaRPr lang="ja-JP" altLang="en-US" sz="1400">
              <a:solidFill>
                <a:srgbClr val="6B6B6B"/>
              </a:solidFill>
              <a:latin typeface="BIZ UDPGothic"/>
              <a:ea typeface="BIZ UDPGothic"/>
            </a:endParaRPr>
          </a:p>
        </p:txBody>
      </p:sp>
      <p:sp>
        <p:nvSpPr>
          <p:cNvPr id="31" name="テキスト ボックス 30">
            <a:extLst>
              <a:ext uri="{FF2B5EF4-FFF2-40B4-BE49-F238E27FC236}">
                <a16:creationId xmlns:a16="http://schemas.microsoft.com/office/drawing/2014/main" id="{D1367B12-8FD8-49D2-8BD2-B28B24757B5F}"/>
              </a:ext>
            </a:extLst>
          </p:cNvPr>
          <p:cNvSpPr txBox="1"/>
          <p:nvPr/>
        </p:nvSpPr>
        <p:spPr>
          <a:xfrm>
            <a:off x="4470400" y="5194300"/>
            <a:ext cx="3124200" cy="431800"/>
          </a:xfrm>
          <a:prstGeom prst="rect">
            <a:avLst/>
          </a:prstGeom>
          <a:noFill/>
        </p:spPr>
        <p:txBody>
          <a:bodyPr vertOverflow="overflow" vert="horz" wrap="square" rtlCol="0" anchor="t">
            <a:spAutoFit/>
          </a:bodyPr>
          <a:lstStyle/>
          <a:p>
            <a:pPr algn="l"/>
            <a:r>
              <a:rPr lang="en-US" altLang="ja-JP" sz="2400" b="1">
                <a:solidFill>
                  <a:srgbClr val="1A1A1A"/>
                </a:solidFill>
                <a:latin typeface="BIZ UDPGothic"/>
                <a:ea typeface="BIZ UDPGothic"/>
              </a:rPr>
              <a:t>0.4667</a:t>
            </a:r>
            <a:endParaRPr lang="ja-JP" altLang="en-US" sz="2400" b="1">
              <a:solidFill>
                <a:srgbClr val="1A1A1A"/>
              </a:solidFill>
              <a:latin typeface="BIZ UDPGothic"/>
              <a:ea typeface="BIZ UDPGothic"/>
            </a:endParaRPr>
          </a:p>
        </p:txBody>
      </p:sp>
      <p:sp>
        <p:nvSpPr>
          <p:cNvPr id="32" name="正方形/長方形 31">
            <a:extLst>
              <a:ext uri="{FF2B5EF4-FFF2-40B4-BE49-F238E27FC236}">
                <a16:creationId xmlns:a16="http://schemas.microsoft.com/office/drawing/2014/main" id="{90CE0193-C760-4538-8A3E-679AD1C2E267}"/>
              </a:ext>
            </a:extLst>
          </p:cNvPr>
          <p:cNvSpPr/>
          <p:nvPr/>
        </p:nvSpPr>
        <p:spPr>
          <a:xfrm>
            <a:off x="8128000" y="4787900"/>
            <a:ext cx="3429000" cy="965200"/>
          </a:xfrm>
          <a:prstGeom prst="rect">
            <a:avLst/>
          </a:prstGeom>
          <a:solidFill>
            <a:srgbClr val="FFFFFF"/>
          </a:solidFill>
          <a:ln w="12700" cap="flat" cmpd="sng" algn="ctr">
            <a:solidFill>
              <a:srgbClr val="D4C5B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3" name="テキスト ボックス 32">
            <a:extLst>
              <a:ext uri="{FF2B5EF4-FFF2-40B4-BE49-F238E27FC236}">
                <a16:creationId xmlns:a16="http://schemas.microsoft.com/office/drawing/2014/main" id="{92A3A774-8A08-4D79-A1F3-7D22EAA98216}"/>
              </a:ext>
            </a:extLst>
          </p:cNvPr>
          <p:cNvSpPr txBox="1"/>
          <p:nvPr/>
        </p:nvSpPr>
        <p:spPr>
          <a:xfrm>
            <a:off x="8280400" y="4889500"/>
            <a:ext cx="3124200" cy="279400"/>
          </a:xfrm>
          <a:prstGeom prst="rect">
            <a:avLst/>
          </a:prstGeom>
          <a:noFill/>
        </p:spPr>
        <p:txBody>
          <a:bodyPr vertOverflow="overflow" vert="horz" wrap="square" rtlCol="0" anchor="t">
            <a:spAutoFit/>
          </a:bodyPr>
          <a:lstStyle/>
          <a:p>
            <a:pPr algn="l"/>
            <a:r>
              <a:rPr lang="ja-JP" altLang="en-US" sz="1400">
                <a:solidFill>
                  <a:srgbClr val="6B6B6B"/>
                </a:solidFill>
                <a:latin typeface="BIZ UDPGothic"/>
                <a:ea typeface="BIZ UDPGothic"/>
              </a:rPr>
              <a:t>特徴量数</a:t>
            </a:r>
          </a:p>
        </p:txBody>
      </p:sp>
      <p:sp>
        <p:nvSpPr>
          <p:cNvPr id="34" name="テキスト ボックス 33">
            <a:extLst>
              <a:ext uri="{FF2B5EF4-FFF2-40B4-BE49-F238E27FC236}">
                <a16:creationId xmlns:a16="http://schemas.microsoft.com/office/drawing/2014/main" id="{BB2A3C16-1FD0-49B6-997D-5DC40CCDC9FF}"/>
              </a:ext>
            </a:extLst>
          </p:cNvPr>
          <p:cNvSpPr txBox="1"/>
          <p:nvPr/>
        </p:nvSpPr>
        <p:spPr>
          <a:xfrm>
            <a:off x="8280400" y="5194300"/>
            <a:ext cx="3124200" cy="431800"/>
          </a:xfrm>
          <a:prstGeom prst="rect">
            <a:avLst/>
          </a:prstGeom>
          <a:noFill/>
        </p:spPr>
        <p:txBody>
          <a:bodyPr vertOverflow="overflow" vert="horz" wrap="square" rtlCol="0" anchor="t">
            <a:spAutoFit/>
          </a:bodyPr>
          <a:lstStyle/>
          <a:p>
            <a:pPr algn="l"/>
            <a:r>
              <a:rPr lang="en-US" altLang="ja-JP" sz="2400" b="1">
                <a:solidFill>
                  <a:srgbClr val="1A1A1A"/>
                </a:solidFill>
                <a:latin typeface="BIZ UDPGothic"/>
                <a:ea typeface="BIZ UDPGothic"/>
              </a:rPr>
              <a:t>36</a:t>
            </a:r>
            <a:endParaRPr lang="ja-JP" altLang="en-US" sz="2400" b="1">
              <a:solidFill>
                <a:srgbClr val="1A1A1A"/>
              </a:solidFill>
              <a:latin typeface="BIZ UDPGothic"/>
              <a:ea typeface="BIZ UDPGothic"/>
            </a:endParaRPr>
          </a:p>
        </p:txBody>
      </p:sp>
      <p:sp>
        <p:nvSpPr>
          <p:cNvPr id="35" name="テキスト ボックス 34">
            <a:extLst>
              <a:ext uri="{FF2B5EF4-FFF2-40B4-BE49-F238E27FC236}">
                <a16:creationId xmlns:a16="http://schemas.microsoft.com/office/drawing/2014/main" id="{24DDE490-94FF-4F15-864A-76E38CA80AA8}"/>
              </a:ext>
            </a:extLst>
          </p:cNvPr>
          <p:cNvSpPr txBox="1"/>
          <p:nvPr/>
        </p:nvSpPr>
        <p:spPr>
          <a:xfrm>
            <a:off x="508000" y="6096000"/>
            <a:ext cx="11176000" cy="304800"/>
          </a:xfrm>
          <a:prstGeom prst="rect">
            <a:avLst/>
          </a:prstGeom>
          <a:noFill/>
        </p:spPr>
        <p:txBody>
          <a:bodyPr vertOverflow="overflow" vert="horz" wrap="square" rtlCol="0" anchor="t">
            <a:spAutoFit/>
          </a:bodyPr>
          <a:lstStyle/>
          <a:p>
            <a:pPr algn="l"/>
            <a:r>
              <a:rPr lang="en-US" altLang="ja-JP" sz="1400">
                <a:solidFill>
                  <a:srgbClr val="6B6B6B"/>
                </a:solidFill>
                <a:latin typeface="BIZ UDPGothic"/>
                <a:ea typeface="BIZ UDPGothic"/>
              </a:rPr>
              <a:t>※ </a:t>
            </a:r>
            <a:r>
              <a:rPr lang="ja-JP" altLang="en-US" sz="1400">
                <a:solidFill>
                  <a:srgbClr val="6B6B6B"/>
                </a:solidFill>
                <a:latin typeface="BIZ UDPGothic"/>
                <a:ea typeface="BIZ UDPGothic"/>
              </a:rPr>
              <a:t>除外特徴量：</a:t>
            </a:r>
            <a:r>
              <a:rPr lang="en-US" altLang="ja-JP" sz="1400">
                <a:solidFill>
                  <a:srgbClr val="6B6B6B"/>
                </a:solidFill>
                <a:latin typeface="BIZ UDPGothic"/>
                <a:ea typeface="BIZ UDPGothic"/>
              </a:rPr>
              <a:t>id</a:t>
            </a:r>
            <a:r>
              <a:rPr lang="ja-JP" altLang="en-US" sz="1400">
                <a:solidFill>
                  <a:srgbClr val="6B6B6B"/>
                </a:solidFill>
                <a:latin typeface="BIZ UDPGothic"/>
                <a:ea typeface="BIZ UDPGothic"/>
              </a:rPr>
              <a:t>（</a:t>
            </a:r>
            <a:r>
              <a:rPr lang="en-US" altLang="ja-JP" sz="1400">
                <a:solidFill>
                  <a:srgbClr val="6B6B6B"/>
                </a:solidFill>
                <a:latin typeface="BIZ UDPGothic"/>
                <a:ea typeface="BIZ UDPGothic"/>
              </a:rPr>
              <a:t>1</a:t>
            </a:r>
            <a:r>
              <a:rPr lang="ja-JP" altLang="en-US" sz="1400">
                <a:solidFill>
                  <a:srgbClr val="6B6B6B"/>
                </a:solidFill>
                <a:latin typeface="BIZ UDPGothic"/>
                <a:ea typeface="BIZ UDPGothic"/>
              </a:rPr>
              <a:t>列のみ）  </a:t>
            </a:r>
            <a:r>
              <a:rPr lang="en-US" altLang="ja-JP" sz="1400">
                <a:solidFill>
                  <a:srgbClr val="6B6B6B"/>
                </a:solidFill>
                <a:latin typeface="BIZ UDPGothic"/>
                <a:ea typeface="BIZ UDPGothic"/>
              </a:rPr>
              <a:t>|  </a:t>
            </a:r>
            <a:r>
              <a:rPr lang="ja-JP" altLang="en-US" sz="1400">
                <a:solidFill>
                  <a:srgbClr val="6B6B6B"/>
                </a:solidFill>
                <a:latin typeface="BIZ UDPGothic"/>
                <a:ea typeface="BIZ UDPGothic"/>
              </a:rPr>
              <a:t>定数列：</a:t>
            </a:r>
            <a:r>
              <a:rPr lang="en-US" altLang="ja-JP" sz="1400">
                <a:solidFill>
                  <a:srgbClr val="6B6B6B"/>
                </a:solidFill>
                <a:latin typeface="BIZ UDPGothic"/>
                <a:ea typeface="BIZ UDPGothic"/>
              </a:rPr>
              <a:t>Over18, StandardHours  |  </a:t>
            </a:r>
            <a:r>
              <a:rPr lang="ja-JP" altLang="en-US" sz="1400">
                <a:solidFill>
                  <a:srgbClr val="6B6B6B"/>
                </a:solidFill>
                <a:latin typeface="BIZ UDPGothic"/>
                <a:ea typeface="BIZ UDPGothic"/>
              </a:rPr>
              <a:t>検証サイズ：</a:t>
            </a:r>
            <a:r>
              <a:rPr lang="en-US" altLang="ja-JP" sz="1400">
                <a:solidFill>
                  <a:srgbClr val="6B6B6B"/>
                </a:solidFill>
                <a:latin typeface="BIZ UDPGothic"/>
                <a:ea typeface="BIZ UDPGothic"/>
              </a:rPr>
              <a:t>0.1</a:t>
            </a:r>
            <a:r>
              <a:rPr lang="ja-JP" altLang="en-US" sz="1400">
                <a:solidFill>
                  <a:srgbClr val="6B6B6B"/>
                </a:solidFill>
                <a:latin typeface="BIZ UDPGothic"/>
                <a:ea typeface="BIZ UDPGothic"/>
              </a:rPr>
              <a:t>（</a:t>
            </a:r>
            <a:r>
              <a:rPr lang="en-US" altLang="ja-JP" sz="1400">
                <a:solidFill>
                  <a:srgbClr val="6B6B6B"/>
                </a:solidFill>
                <a:latin typeface="BIZ UDPGothic"/>
                <a:ea typeface="BIZ UDPGothic"/>
              </a:rPr>
              <a:t>random_holdout</a:t>
            </a:r>
            <a:r>
              <a:rPr lang="ja-JP" altLang="en-US" sz="1400">
                <a:solidFill>
                  <a:srgbClr val="6B6B6B"/>
                </a:solidFill>
                <a:latin typeface="BIZ UDPGothic"/>
                <a:ea typeface="BIZ UDPGothic"/>
              </a:rPr>
              <a:t>）</a:t>
            </a:r>
          </a:p>
        </p:txBody>
      </p:sp>
      <p:sp>
        <p:nvSpPr>
          <p:cNvPr id="36" name="テキスト ボックス 35">
            <a:extLst>
              <a:ext uri="{FF2B5EF4-FFF2-40B4-BE49-F238E27FC236}">
                <a16:creationId xmlns:a16="http://schemas.microsoft.com/office/drawing/2014/main" id="{4CB1C33C-96E4-43B0-975C-B3DB6D46BBC8}"/>
              </a:ext>
            </a:extLst>
          </p:cNvPr>
          <p:cNvSpPr txBox="1"/>
          <p:nvPr/>
        </p:nvSpPr>
        <p:spPr>
          <a:xfrm>
            <a:off x="508000" y="254000"/>
            <a:ext cx="11176000" cy="508000"/>
          </a:xfrm>
          <a:prstGeom prst="rect">
            <a:avLst/>
          </a:prstGeom>
          <a:noFill/>
        </p:spPr>
        <p:txBody>
          <a:bodyPr vertOverflow="overflow" vert="horz" wrap="square" rtlCol="0" anchor="t">
            <a:noAutofit/>
          </a:bodyPr>
          <a:lstStyle/>
          <a:p>
            <a:pPr algn="l"/>
            <a:r>
              <a:rPr lang="en-US" altLang="ja-JP" sz="2400" b="1">
                <a:solidFill>
                  <a:srgbClr val="1A1A1A"/>
                </a:solidFill>
                <a:latin typeface="BIZ UDPGothic"/>
                <a:ea typeface="BIZ UDPGothic"/>
              </a:rPr>
              <a:t>1. </a:t>
            </a:r>
            <a:r>
              <a:rPr lang="ja-JP" altLang="en-US" sz="2400" b="1">
                <a:solidFill>
                  <a:srgbClr val="1A1A1A"/>
                </a:solidFill>
                <a:latin typeface="BIZ UDPGothic"/>
                <a:ea typeface="BIZ UDPGothic"/>
              </a:rPr>
              <a:t>エグゼクティブサマリ </a:t>
            </a:r>
            <a:r>
              <a:rPr lang="en-US" altLang="ja-JP" sz="2400" b="1">
                <a:solidFill>
                  <a:srgbClr val="1A1A1A"/>
                </a:solidFill>
                <a:latin typeface="BIZ UDPGothic"/>
                <a:ea typeface="BIZ UDPGothic"/>
              </a:rPr>
              <a:t>— </a:t>
            </a:r>
            <a:r>
              <a:rPr lang="ja-JP" altLang="en-US" sz="2400" b="1">
                <a:solidFill>
                  <a:srgbClr val="1A1A1A"/>
                </a:solidFill>
                <a:latin typeface="BIZ UDPGothic"/>
                <a:ea typeface="BIZ UDPGothic"/>
              </a:rPr>
              <a:t>確認済み事項</a:t>
            </a:r>
          </a:p>
        </p:txBody>
      </p:sp>
      <p:sp>
        <p:nvSpPr>
          <p:cNvPr id="37" name="正方形/長方形 36">
            <a:extLst>
              <a:ext uri="{FF2B5EF4-FFF2-40B4-BE49-F238E27FC236}">
                <a16:creationId xmlns:a16="http://schemas.microsoft.com/office/drawing/2014/main" id="{E1DCA6F3-0D36-4562-944E-334D4C7807BA}"/>
              </a:ext>
            </a:extLst>
          </p:cNvPr>
          <p:cNvSpPr/>
          <p:nvPr/>
        </p:nvSpPr>
        <p:spPr>
          <a:xfrm>
            <a:off x="508000" y="787400"/>
            <a:ext cx="1270000" cy="38100"/>
          </a:xfrm>
          <a:prstGeom prst="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Tree>
    <p:extLst>
      <p:ext uri="{BB962C8B-B14F-4D97-AF65-F5344CB8AC3E}">
        <p14:creationId xmlns:p14="http://schemas.microsoft.com/office/powerpoint/2010/main" val="19537163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四角形: 角を丸くする 2">
            <a:extLst>
              <a:ext uri="{FF2B5EF4-FFF2-40B4-BE49-F238E27FC236}">
                <a16:creationId xmlns:a16="http://schemas.microsoft.com/office/drawing/2014/main" id="{4585A0B0-33CF-4674-A7F0-193229AF0451}"/>
              </a:ext>
            </a:extLst>
          </p:cNvPr>
          <p:cNvSpPr/>
          <p:nvPr/>
        </p:nvSpPr>
        <p:spPr>
          <a:xfrm>
            <a:off x="508000" y="1460500"/>
            <a:ext cx="5334000" cy="457200"/>
          </a:xfrm>
          <a:prstGeom prst="round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600" b="1">
                <a:solidFill>
                  <a:srgbClr val="FFFFFF"/>
                </a:solidFill>
                <a:latin typeface="BIZ UDPGothic"/>
                <a:ea typeface="BIZ UDPGothic"/>
              </a:rPr>
              <a:t>業務成果</a:t>
            </a:r>
          </a:p>
        </p:txBody>
      </p:sp>
      <p:sp>
        <p:nvSpPr>
          <p:cNvPr id="4" name="楕円 3">
            <a:extLst>
              <a:ext uri="{FF2B5EF4-FFF2-40B4-BE49-F238E27FC236}">
                <a16:creationId xmlns:a16="http://schemas.microsoft.com/office/drawing/2014/main" id="{3A3955DB-8A80-4AE2-AC3C-6DFCCA91554A}"/>
              </a:ext>
            </a:extLst>
          </p:cNvPr>
          <p:cNvSpPr/>
          <p:nvPr/>
        </p:nvSpPr>
        <p:spPr>
          <a:xfrm>
            <a:off x="635000" y="2120900"/>
            <a:ext cx="355600" cy="355600"/>
          </a:xfrm>
          <a:prstGeom prst="ellips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400" b="1">
                <a:solidFill>
                  <a:srgbClr val="FFFFFF"/>
                </a:solidFill>
                <a:latin typeface="BIZ UDPGothic"/>
                <a:ea typeface="BIZ UDPGothic"/>
              </a:rPr>
              <a:t>1</a:t>
            </a:r>
            <a:endParaRPr lang="ja-JP" altLang="en-US" sz="1400" b="1">
              <a:solidFill>
                <a:srgbClr val="FFFFFF"/>
              </a:solidFill>
              <a:latin typeface="BIZ UDPGothic"/>
              <a:ea typeface="BIZ UDPGothic"/>
            </a:endParaRPr>
          </a:p>
        </p:txBody>
      </p:sp>
      <p:sp>
        <p:nvSpPr>
          <p:cNvPr id="5" name="テキスト ボックス 4">
            <a:extLst>
              <a:ext uri="{FF2B5EF4-FFF2-40B4-BE49-F238E27FC236}">
                <a16:creationId xmlns:a16="http://schemas.microsoft.com/office/drawing/2014/main" id="{A304D225-FA49-4984-A109-558A33937F06}"/>
              </a:ext>
            </a:extLst>
          </p:cNvPr>
          <p:cNvSpPr txBox="1"/>
          <p:nvPr/>
        </p:nvSpPr>
        <p:spPr>
          <a:xfrm>
            <a:off x="1092200" y="2070100"/>
            <a:ext cx="4699000" cy="7620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離職傾向の全体像を、属人的判断ではなくデータに基づいて説明可能な状態にした</a:t>
            </a:r>
          </a:p>
        </p:txBody>
      </p:sp>
      <p:sp>
        <p:nvSpPr>
          <p:cNvPr id="6" name="楕円 5">
            <a:extLst>
              <a:ext uri="{FF2B5EF4-FFF2-40B4-BE49-F238E27FC236}">
                <a16:creationId xmlns:a16="http://schemas.microsoft.com/office/drawing/2014/main" id="{EBE38CDC-09BA-4992-8760-F64C88AB0368}"/>
              </a:ext>
            </a:extLst>
          </p:cNvPr>
          <p:cNvSpPr/>
          <p:nvPr/>
        </p:nvSpPr>
        <p:spPr>
          <a:xfrm>
            <a:off x="635000" y="3035300"/>
            <a:ext cx="355600" cy="355600"/>
          </a:xfrm>
          <a:prstGeom prst="ellips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400" b="1">
                <a:solidFill>
                  <a:srgbClr val="FFFFFF"/>
                </a:solidFill>
                <a:latin typeface="BIZ UDPGothic"/>
                <a:ea typeface="BIZ UDPGothic"/>
              </a:rPr>
              <a:t>2</a:t>
            </a:r>
            <a:endParaRPr lang="ja-JP" altLang="en-US" sz="1400" b="1">
              <a:solidFill>
                <a:srgbClr val="FFFFFF"/>
              </a:solidFill>
              <a:latin typeface="BIZ UDPGothic"/>
              <a:ea typeface="BIZ UDPGothic"/>
            </a:endParaRPr>
          </a:p>
        </p:txBody>
      </p:sp>
      <p:sp>
        <p:nvSpPr>
          <p:cNvPr id="7" name="テキスト ボックス 6">
            <a:extLst>
              <a:ext uri="{FF2B5EF4-FFF2-40B4-BE49-F238E27FC236}">
                <a16:creationId xmlns:a16="http://schemas.microsoft.com/office/drawing/2014/main" id="{92F087DA-E2CA-4B36-B23B-E0DEAAF21892}"/>
              </a:ext>
            </a:extLst>
          </p:cNvPr>
          <p:cNvSpPr txBox="1"/>
          <p:nvPr/>
        </p:nvSpPr>
        <p:spPr>
          <a:xfrm>
            <a:off x="1092200" y="2984500"/>
            <a:ext cx="4699000" cy="7620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報酬水準、働き方、所属・職務、勤続・昇進、満足度・関係性を優先論点として整理した</a:t>
            </a:r>
          </a:p>
        </p:txBody>
      </p:sp>
      <p:sp>
        <p:nvSpPr>
          <p:cNvPr id="8" name="楕円 7">
            <a:extLst>
              <a:ext uri="{FF2B5EF4-FFF2-40B4-BE49-F238E27FC236}">
                <a16:creationId xmlns:a16="http://schemas.microsoft.com/office/drawing/2014/main" id="{8BA3FF18-83B9-44AE-A1EA-D84B95208D21}"/>
              </a:ext>
            </a:extLst>
          </p:cNvPr>
          <p:cNvSpPr/>
          <p:nvPr/>
        </p:nvSpPr>
        <p:spPr>
          <a:xfrm>
            <a:off x="635000" y="3949700"/>
            <a:ext cx="355600" cy="355600"/>
          </a:xfrm>
          <a:prstGeom prst="ellips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400" b="1">
                <a:solidFill>
                  <a:srgbClr val="FFFFFF"/>
                </a:solidFill>
                <a:latin typeface="BIZ UDPGothic"/>
                <a:ea typeface="BIZ UDPGothic"/>
              </a:rPr>
              <a:t>3</a:t>
            </a:r>
            <a:endParaRPr lang="ja-JP" altLang="en-US" sz="1400" b="1">
              <a:solidFill>
                <a:srgbClr val="FFFFFF"/>
              </a:solidFill>
              <a:latin typeface="BIZ UDPGothic"/>
              <a:ea typeface="BIZ UDPGothic"/>
            </a:endParaRPr>
          </a:p>
        </p:txBody>
      </p:sp>
      <p:sp>
        <p:nvSpPr>
          <p:cNvPr id="9" name="テキスト ボックス 8">
            <a:extLst>
              <a:ext uri="{FF2B5EF4-FFF2-40B4-BE49-F238E27FC236}">
                <a16:creationId xmlns:a16="http://schemas.microsoft.com/office/drawing/2014/main" id="{DB93F060-DD28-4C71-AFC8-6F9790862FCD}"/>
              </a:ext>
            </a:extLst>
          </p:cNvPr>
          <p:cNvSpPr txBox="1"/>
          <p:nvPr/>
        </p:nvSpPr>
        <p:spPr>
          <a:xfrm>
            <a:off x="1092200" y="3898900"/>
            <a:ext cx="4699000" cy="7620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集計ベース・セグメントベースの示唆整理方針を確立した</a:t>
            </a:r>
          </a:p>
        </p:txBody>
      </p:sp>
      <p:sp>
        <p:nvSpPr>
          <p:cNvPr id="10" name="楕円 9">
            <a:extLst>
              <a:ext uri="{FF2B5EF4-FFF2-40B4-BE49-F238E27FC236}">
                <a16:creationId xmlns:a16="http://schemas.microsoft.com/office/drawing/2014/main" id="{96304A70-FB6C-4821-AC86-6899842E407F}"/>
              </a:ext>
            </a:extLst>
          </p:cNvPr>
          <p:cNvSpPr/>
          <p:nvPr/>
        </p:nvSpPr>
        <p:spPr>
          <a:xfrm>
            <a:off x="635000" y="4864100"/>
            <a:ext cx="355600" cy="355600"/>
          </a:xfrm>
          <a:prstGeom prst="ellips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400" b="1">
                <a:solidFill>
                  <a:srgbClr val="FFFFFF"/>
                </a:solidFill>
                <a:latin typeface="BIZ UDPGothic"/>
                <a:ea typeface="BIZ UDPGothic"/>
              </a:rPr>
              <a:t>4</a:t>
            </a:r>
            <a:endParaRPr lang="ja-JP" altLang="en-US" sz="1400" b="1">
              <a:solidFill>
                <a:srgbClr val="FFFFFF"/>
              </a:solidFill>
              <a:latin typeface="BIZ UDPGothic"/>
              <a:ea typeface="BIZ UDPGothic"/>
            </a:endParaRPr>
          </a:p>
        </p:txBody>
      </p:sp>
      <p:sp>
        <p:nvSpPr>
          <p:cNvPr id="11" name="テキスト ボックス 10">
            <a:extLst>
              <a:ext uri="{FF2B5EF4-FFF2-40B4-BE49-F238E27FC236}">
                <a16:creationId xmlns:a16="http://schemas.microsoft.com/office/drawing/2014/main" id="{A706226C-B037-4312-B780-A1F767BC417A}"/>
              </a:ext>
            </a:extLst>
          </p:cNvPr>
          <p:cNvSpPr txBox="1"/>
          <p:nvPr/>
        </p:nvSpPr>
        <p:spPr>
          <a:xfrm>
            <a:off x="1092200" y="4813300"/>
            <a:ext cx="4699000" cy="7620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属性利用に関する公平性配慮、対象外利用、因果誤認防止の運用前提を整備した</a:t>
            </a:r>
          </a:p>
        </p:txBody>
      </p:sp>
      <p:sp>
        <p:nvSpPr>
          <p:cNvPr id="12" name="四角形: 角を丸くする 11">
            <a:extLst>
              <a:ext uri="{FF2B5EF4-FFF2-40B4-BE49-F238E27FC236}">
                <a16:creationId xmlns:a16="http://schemas.microsoft.com/office/drawing/2014/main" id="{60E96F04-21CE-4930-BC7D-83C8082BCF4B}"/>
              </a:ext>
            </a:extLst>
          </p:cNvPr>
          <p:cNvSpPr/>
          <p:nvPr/>
        </p:nvSpPr>
        <p:spPr>
          <a:xfrm>
            <a:off x="6350000" y="1460500"/>
            <a:ext cx="5334000" cy="457200"/>
          </a:xfrm>
          <a:prstGeom prst="roundRect">
            <a:avLst/>
          </a:prstGeom>
          <a:solidFill>
            <a:srgbClr val="4A4A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600" b="1">
                <a:solidFill>
                  <a:srgbClr val="FFFFFF"/>
                </a:solidFill>
                <a:latin typeface="BIZ UDPGothic"/>
                <a:ea typeface="BIZ UDPGothic"/>
              </a:rPr>
              <a:t>分析成果</a:t>
            </a:r>
          </a:p>
        </p:txBody>
      </p:sp>
      <p:sp>
        <p:nvSpPr>
          <p:cNvPr id="13" name="楕円 12">
            <a:extLst>
              <a:ext uri="{FF2B5EF4-FFF2-40B4-BE49-F238E27FC236}">
                <a16:creationId xmlns:a16="http://schemas.microsoft.com/office/drawing/2014/main" id="{D8D11CE5-92AA-4125-9C98-D888C36C0067}"/>
              </a:ext>
            </a:extLst>
          </p:cNvPr>
          <p:cNvSpPr/>
          <p:nvPr/>
        </p:nvSpPr>
        <p:spPr>
          <a:xfrm>
            <a:off x="6477000" y="2120900"/>
            <a:ext cx="355600" cy="355600"/>
          </a:xfrm>
          <a:prstGeom prst="ellipse">
            <a:avLst/>
          </a:prstGeom>
          <a:solidFill>
            <a:srgbClr val="4A4A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400" b="1">
                <a:solidFill>
                  <a:srgbClr val="FFFFFF"/>
                </a:solidFill>
                <a:latin typeface="BIZ UDPGothic"/>
                <a:ea typeface="BIZ UDPGothic"/>
              </a:rPr>
              <a:t>1</a:t>
            </a:r>
            <a:endParaRPr lang="ja-JP" altLang="en-US" sz="1400" b="1">
              <a:solidFill>
                <a:srgbClr val="FFFFFF"/>
              </a:solidFill>
              <a:latin typeface="BIZ UDPGothic"/>
              <a:ea typeface="BIZ UDPGothic"/>
            </a:endParaRPr>
          </a:p>
        </p:txBody>
      </p:sp>
      <p:sp>
        <p:nvSpPr>
          <p:cNvPr id="14" name="テキスト ボックス 13">
            <a:extLst>
              <a:ext uri="{FF2B5EF4-FFF2-40B4-BE49-F238E27FC236}">
                <a16:creationId xmlns:a16="http://schemas.microsoft.com/office/drawing/2014/main" id="{5DC915E7-E132-4772-9B28-AF2DFA8E877C}"/>
              </a:ext>
            </a:extLst>
          </p:cNvPr>
          <p:cNvSpPr txBox="1"/>
          <p:nvPr/>
        </p:nvSpPr>
        <p:spPr>
          <a:xfrm>
            <a:off x="6934200" y="2070100"/>
            <a:ext cx="4699000" cy="7620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全</a:t>
            </a:r>
            <a:r>
              <a:rPr lang="en-US" altLang="ja-JP" sz="1400">
                <a:solidFill>
                  <a:srgbClr val="3D3D3D"/>
                </a:solidFill>
                <a:latin typeface="BIZ UDPGothic"/>
                <a:ea typeface="BIZ UDPGothic"/>
              </a:rPr>
              <a:t>33</a:t>
            </a:r>
            <a:r>
              <a:rPr lang="ja-JP" altLang="en-US" sz="1400">
                <a:solidFill>
                  <a:srgbClr val="3D3D3D"/>
                </a:solidFill>
                <a:latin typeface="BIZ UDPGothic"/>
                <a:ea typeface="BIZ UDPGothic"/>
              </a:rPr>
              <a:t>列の定義・役割・利用可否整理が概ね完了</a:t>
            </a:r>
          </a:p>
        </p:txBody>
      </p:sp>
      <p:sp>
        <p:nvSpPr>
          <p:cNvPr id="15" name="楕円 14">
            <a:extLst>
              <a:ext uri="{FF2B5EF4-FFF2-40B4-BE49-F238E27FC236}">
                <a16:creationId xmlns:a16="http://schemas.microsoft.com/office/drawing/2014/main" id="{F7BD201E-007A-4736-A891-5799CDE06205}"/>
              </a:ext>
            </a:extLst>
          </p:cNvPr>
          <p:cNvSpPr/>
          <p:nvPr/>
        </p:nvSpPr>
        <p:spPr>
          <a:xfrm>
            <a:off x="6477000" y="3035300"/>
            <a:ext cx="355600" cy="355600"/>
          </a:xfrm>
          <a:prstGeom prst="ellipse">
            <a:avLst/>
          </a:prstGeom>
          <a:solidFill>
            <a:srgbClr val="4A4A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400" b="1">
                <a:solidFill>
                  <a:srgbClr val="FFFFFF"/>
                </a:solidFill>
                <a:latin typeface="BIZ UDPGothic"/>
                <a:ea typeface="BIZ UDPGothic"/>
              </a:rPr>
              <a:t>2</a:t>
            </a:r>
            <a:endParaRPr lang="ja-JP" altLang="en-US" sz="1400" b="1">
              <a:solidFill>
                <a:srgbClr val="FFFFFF"/>
              </a:solidFill>
              <a:latin typeface="BIZ UDPGothic"/>
              <a:ea typeface="BIZ UDPGothic"/>
            </a:endParaRPr>
          </a:p>
        </p:txBody>
      </p:sp>
      <p:sp>
        <p:nvSpPr>
          <p:cNvPr id="16" name="テキスト ボックス 15">
            <a:extLst>
              <a:ext uri="{FF2B5EF4-FFF2-40B4-BE49-F238E27FC236}">
                <a16:creationId xmlns:a16="http://schemas.microsoft.com/office/drawing/2014/main" id="{E570BCF4-F315-486F-9FE5-5A11FF27815E}"/>
              </a:ext>
            </a:extLst>
          </p:cNvPr>
          <p:cNvSpPr txBox="1"/>
          <p:nvPr/>
        </p:nvSpPr>
        <p:spPr>
          <a:xfrm>
            <a:off x="6934200" y="2984500"/>
            <a:ext cx="4699000" cy="7620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主要因子候補の抽出と分類性能指標の提示を達成</a:t>
            </a:r>
          </a:p>
        </p:txBody>
      </p:sp>
      <p:sp>
        <p:nvSpPr>
          <p:cNvPr id="17" name="楕円 16">
            <a:extLst>
              <a:ext uri="{FF2B5EF4-FFF2-40B4-BE49-F238E27FC236}">
                <a16:creationId xmlns:a16="http://schemas.microsoft.com/office/drawing/2014/main" id="{101A7481-087D-44D9-8900-BCE61D04D878}"/>
              </a:ext>
            </a:extLst>
          </p:cNvPr>
          <p:cNvSpPr/>
          <p:nvPr/>
        </p:nvSpPr>
        <p:spPr>
          <a:xfrm>
            <a:off x="6477000" y="3949700"/>
            <a:ext cx="355600" cy="355600"/>
          </a:xfrm>
          <a:prstGeom prst="ellipse">
            <a:avLst/>
          </a:prstGeom>
          <a:solidFill>
            <a:srgbClr val="4A4A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400" b="1">
                <a:solidFill>
                  <a:srgbClr val="FFFFFF"/>
                </a:solidFill>
                <a:latin typeface="BIZ UDPGothic"/>
                <a:ea typeface="BIZ UDPGothic"/>
              </a:rPr>
              <a:t>3</a:t>
            </a:r>
            <a:endParaRPr lang="ja-JP" altLang="en-US" sz="1400" b="1">
              <a:solidFill>
                <a:srgbClr val="FFFFFF"/>
              </a:solidFill>
              <a:latin typeface="BIZ UDPGothic"/>
              <a:ea typeface="BIZ UDPGothic"/>
            </a:endParaRPr>
          </a:p>
        </p:txBody>
      </p:sp>
      <p:sp>
        <p:nvSpPr>
          <p:cNvPr id="18" name="テキスト ボックス 17">
            <a:extLst>
              <a:ext uri="{FF2B5EF4-FFF2-40B4-BE49-F238E27FC236}">
                <a16:creationId xmlns:a16="http://schemas.microsoft.com/office/drawing/2014/main" id="{869CFD62-6BB7-464E-99F4-E3A00389BA17}"/>
              </a:ext>
            </a:extLst>
          </p:cNvPr>
          <p:cNvSpPr txBox="1"/>
          <p:nvPr/>
        </p:nvSpPr>
        <p:spPr>
          <a:xfrm>
            <a:off x="6934200" y="3898900"/>
            <a:ext cx="4699000" cy="7620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中間報告の線形ベースライン試行を上回る最終分析指標を取得</a:t>
            </a:r>
          </a:p>
        </p:txBody>
      </p:sp>
      <p:sp>
        <p:nvSpPr>
          <p:cNvPr id="19" name="楕円 18">
            <a:extLst>
              <a:ext uri="{FF2B5EF4-FFF2-40B4-BE49-F238E27FC236}">
                <a16:creationId xmlns:a16="http://schemas.microsoft.com/office/drawing/2014/main" id="{239BD689-37CF-4599-BAC9-19CA1AD00D55}"/>
              </a:ext>
            </a:extLst>
          </p:cNvPr>
          <p:cNvSpPr/>
          <p:nvPr/>
        </p:nvSpPr>
        <p:spPr>
          <a:xfrm>
            <a:off x="6477000" y="4864100"/>
            <a:ext cx="355600" cy="355600"/>
          </a:xfrm>
          <a:prstGeom prst="ellipse">
            <a:avLst/>
          </a:prstGeom>
          <a:solidFill>
            <a:srgbClr val="4A4A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400" b="1">
                <a:solidFill>
                  <a:srgbClr val="FFFFFF"/>
                </a:solidFill>
                <a:latin typeface="BIZ UDPGothic"/>
                <a:ea typeface="BIZ UDPGothic"/>
              </a:rPr>
              <a:t>4</a:t>
            </a:r>
            <a:endParaRPr lang="ja-JP" altLang="en-US" sz="1400" b="1">
              <a:solidFill>
                <a:srgbClr val="FFFFFF"/>
              </a:solidFill>
              <a:latin typeface="BIZ UDPGothic"/>
              <a:ea typeface="BIZ UDPGothic"/>
            </a:endParaRPr>
          </a:p>
        </p:txBody>
      </p:sp>
      <p:sp>
        <p:nvSpPr>
          <p:cNvPr id="20" name="テキスト ボックス 19">
            <a:extLst>
              <a:ext uri="{FF2B5EF4-FFF2-40B4-BE49-F238E27FC236}">
                <a16:creationId xmlns:a16="http://schemas.microsoft.com/office/drawing/2014/main" id="{9EDB781F-FF3D-4B6F-AD8A-16763845879F}"/>
              </a:ext>
            </a:extLst>
          </p:cNvPr>
          <p:cNvSpPr txBox="1"/>
          <p:nvPr/>
        </p:nvSpPr>
        <p:spPr>
          <a:xfrm>
            <a:off x="6934200" y="4813300"/>
            <a:ext cx="4699000" cy="7620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初期リスク検知ロジックとして一定の判別力を確認</a:t>
            </a:r>
          </a:p>
        </p:txBody>
      </p:sp>
      <p:sp>
        <p:nvSpPr>
          <p:cNvPr id="21" name="テキスト ボックス 20">
            <a:extLst>
              <a:ext uri="{FF2B5EF4-FFF2-40B4-BE49-F238E27FC236}">
                <a16:creationId xmlns:a16="http://schemas.microsoft.com/office/drawing/2014/main" id="{8CDEA7DD-6828-4E57-B1FE-24F2026C4F59}"/>
              </a:ext>
            </a:extLst>
          </p:cNvPr>
          <p:cNvSpPr txBox="1"/>
          <p:nvPr/>
        </p:nvSpPr>
        <p:spPr>
          <a:xfrm>
            <a:off x="508000" y="254000"/>
            <a:ext cx="11176000" cy="508000"/>
          </a:xfrm>
          <a:prstGeom prst="rect">
            <a:avLst/>
          </a:prstGeom>
          <a:noFill/>
        </p:spPr>
        <p:txBody>
          <a:bodyPr vertOverflow="overflow" vert="horz" wrap="square" rtlCol="0" anchor="t">
            <a:noAutofit/>
          </a:bodyPr>
          <a:lstStyle/>
          <a:p>
            <a:pPr algn="l"/>
            <a:r>
              <a:rPr lang="en-US" altLang="ja-JP" sz="2400" b="1">
                <a:solidFill>
                  <a:srgbClr val="1A1A1A"/>
                </a:solidFill>
                <a:latin typeface="BIZ UDPGothic"/>
                <a:ea typeface="BIZ UDPGothic"/>
              </a:rPr>
              <a:t>1. </a:t>
            </a:r>
            <a:r>
              <a:rPr lang="ja-JP" altLang="en-US" sz="2400" b="1">
                <a:solidFill>
                  <a:srgbClr val="1A1A1A"/>
                </a:solidFill>
                <a:latin typeface="BIZ UDPGothic"/>
                <a:ea typeface="BIZ UDPGothic"/>
              </a:rPr>
              <a:t>エグゼクティブサマリ </a:t>
            </a:r>
            <a:r>
              <a:rPr lang="en-US" altLang="ja-JP" sz="2400" b="1">
                <a:solidFill>
                  <a:srgbClr val="1A1A1A"/>
                </a:solidFill>
                <a:latin typeface="BIZ UDPGothic"/>
                <a:ea typeface="BIZ UDPGothic"/>
              </a:rPr>
              <a:t>— </a:t>
            </a:r>
            <a:r>
              <a:rPr lang="ja-JP" altLang="en-US" sz="2400" b="1">
                <a:solidFill>
                  <a:srgbClr val="1A1A1A"/>
                </a:solidFill>
                <a:latin typeface="BIZ UDPGothic"/>
                <a:ea typeface="BIZ UDPGothic"/>
              </a:rPr>
              <a:t>業務成果・分析成果</a:t>
            </a:r>
          </a:p>
        </p:txBody>
      </p:sp>
      <p:sp>
        <p:nvSpPr>
          <p:cNvPr id="22" name="正方形/長方形 21">
            <a:extLst>
              <a:ext uri="{FF2B5EF4-FFF2-40B4-BE49-F238E27FC236}">
                <a16:creationId xmlns:a16="http://schemas.microsoft.com/office/drawing/2014/main" id="{95CB0DC9-E925-4DED-BAE1-48127B8654D6}"/>
              </a:ext>
            </a:extLst>
          </p:cNvPr>
          <p:cNvSpPr/>
          <p:nvPr/>
        </p:nvSpPr>
        <p:spPr>
          <a:xfrm>
            <a:off x="508000" y="787400"/>
            <a:ext cx="1270000" cy="38100"/>
          </a:xfrm>
          <a:prstGeom prst="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Tree>
    <p:extLst>
      <p:ext uri="{BB962C8B-B14F-4D97-AF65-F5344CB8AC3E}">
        <p14:creationId xmlns:p14="http://schemas.microsoft.com/office/powerpoint/2010/main" val="3594551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四角形: 角を丸くする 2">
            <a:extLst>
              <a:ext uri="{FF2B5EF4-FFF2-40B4-BE49-F238E27FC236}">
                <a16:creationId xmlns:a16="http://schemas.microsoft.com/office/drawing/2014/main" id="{C5E3C15D-2027-4B95-B5C9-2B44D5460F2D}"/>
              </a:ext>
            </a:extLst>
          </p:cNvPr>
          <p:cNvSpPr/>
          <p:nvPr/>
        </p:nvSpPr>
        <p:spPr>
          <a:xfrm>
            <a:off x="508000" y="1460500"/>
            <a:ext cx="11176000" cy="1016000"/>
          </a:xfrm>
          <a:prstGeom prst="round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2000" b="1">
                <a:solidFill>
                  <a:srgbClr val="FFFFFF"/>
                </a:solidFill>
                <a:latin typeface="BIZ UDPGothic"/>
                <a:ea typeface="BIZ UDPGothic"/>
              </a:rPr>
              <a:t>本成果は、人事施策の優先順位付け支援には有効である</a:t>
            </a:r>
          </a:p>
        </p:txBody>
      </p:sp>
      <p:sp>
        <p:nvSpPr>
          <p:cNvPr id="4" name="四角形: 角を丸くする 3">
            <a:extLst>
              <a:ext uri="{FF2B5EF4-FFF2-40B4-BE49-F238E27FC236}">
                <a16:creationId xmlns:a16="http://schemas.microsoft.com/office/drawing/2014/main" id="{DE2019D6-8376-48DA-AC5A-7A8A8904E474}"/>
              </a:ext>
            </a:extLst>
          </p:cNvPr>
          <p:cNvSpPr/>
          <p:nvPr/>
        </p:nvSpPr>
        <p:spPr>
          <a:xfrm>
            <a:off x="508000" y="2730500"/>
            <a:ext cx="5334000" cy="406400"/>
          </a:xfrm>
          <a:prstGeom prst="roundRect">
            <a:avLst/>
          </a:prstGeom>
          <a:solidFill>
            <a:srgbClr val="4A7A4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500" b="1">
                <a:solidFill>
                  <a:srgbClr val="FFFFFF"/>
                </a:solidFill>
                <a:latin typeface="BIZ UDPGothic"/>
                <a:ea typeface="BIZ UDPGothic"/>
              </a:rPr>
              <a:t>○  有効な利用範囲</a:t>
            </a:r>
          </a:p>
        </p:txBody>
      </p:sp>
      <p:sp>
        <p:nvSpPr>
          <p:cNvPr id="5" name="テキスト ボックス 4">
            <a:extLst>
              <a:ext uri="{FF2B5EF4-FFF2-40B4-BE49-F238E27FC236}">
                <a16:creationId xmlns:a16="http://schemas.microsoft.com/office/drawing/2014/main" id="{E6A09960-6AEE-4DD7-A6D3-632B2D2B27CC}"/>
              </a:ext>
            </a:extLst>
          </p:cNvPr>
          <p:cNvSpPr txBox="1"/>
          <p:nvPr/>
        </p:nvSpPr>
        <p:spPr>
          <a:xfrm>
            <a:off x="635000" y="3238500"/>
            <a:ext cx="5080000" cy="1524000"/>
          </a:xfrm>
          <a:prstGeom prst="rect">
            <a:avLst/>
          </a:prstGeom>
          <a:noFill/>
        </p:spPr>
        <p:txBody>
          <a:bodyPr vertOverflow="overflow" vert="horz" wrap="square" rtlCol="0" anchor="t">
            <a:spAutoFit/>
          </a:bodyPr>
          <a:lstStyle/>
          <a:p>
            <a:pPr algn="l"/>
            <a:r>
              <a:rPr lang="en-US" altLang="ja-JP" sz="1500">
                <a:solidFill>
                  <a:srgbClr val="3D3D3D"/>
                </a:solidFill>
                <a:latin typeface="BIZ UDPGothic"/>
                <a:ea typeface="BIZ UDPGothic"/>
              </a:rPr>
              <a:t>• </a:t>
            </a:r>
            <a:r>
              <a:rPr lang="ja-JP" altLang="en-US" sz="1500">
                <a:solidFill>
                  <a:srgbClr val="3D3D3D"/>
                </a:solidFill>
                <a:latin typeface="BIZ UDPGothic"/>
                <a:ea typeface="BIZ UDPGothic"/>
              </a:rPr>
              <a:t>人事施策の優先順位付け支援
</a:t>
            </a:r>
            <a:r>
              <a:rPr lang="en-US" altLang="ja-JP" sz="1500">
                <a:solidFill>
                  <a:srgbClr val="3D3D3D"/>
                </a:solidFill>
                <a:latin typeface="BIZ UDPGothic"/>
                <a:ea typeface="BIZ UDPGothic"/>
              </a:rPr>
              <a:t>• </a:t>
            </a:r>
            <a:r>
              <a:rPr lang="ja-JP" altLang="en-US" sz="1500">
                <a:solidFill>
                  <a:srgbClr val="3D3D3D"/>
                </a:solidFill>
                <a:latin typeface="BIZ UDPGothic"/>
                <a:ea typeface="BIZ UDPGothic"/>
              </a:rPr>
              <a:t>集計単位でのモニタリング運用
</a:t>
            </a:r>
            <a:r>
              <a:rPr lang="en-US" altLang="ja-JP" sz="1500">
                <a:solidFill>
                  <a:srgbClr val="3D3D3D"/>
                </a:solidFill>
                <a:latin typeface="BIZ UDPGothic"/>
                <a:ea typeface="BIZ UDPGothic"/>
              </a:rPr>
              <a:t>• </a:t>
            </a:r>
            <a:r>
              <a:rPr lang="ja-JP" altLang="en-US" sz="1500">
                <a:solidFill>
                  <a:srgbClr val="3D3D3D"/>
                </a:solidFill>
                <a:latin typeface="BIZ UDPGothic"/>
                <a:ea typeface="BIZ UDPGothic"/>
              </a:rPr>
              <a:t>追加データを用いた分析の精緻化
</a:t>
            </a:r>
            <a:r>
              <a:rPr lang="en-US" altLang="ja-JP" sz="1500">
                <a:solidFill>
                  <a:srgbClr val="3D3D3D"/>
                </a:solidFill>
                <a:latin typeface="BIZ UDPGothic"/>
                <a:ea typeface="BIZ UDPGothic"/>
              </a:rPr>
              <a:t>• </a:t>
            </a:r>
            <a:r>
              <a:rPr lang="ja-JP" altLang="en-US" sz="1500">
                <a:solidFill>
                  <a:srgbClr val="3D3D3D"/>
                </a:solidFill>
                <a:latin typeface="BIZ UDPGothic"/>
                <a:ea typeface="BIZ UDPGothic"/>
              </a:rPr>
              <a:t>施策効果検証設計の基盤</a:t>
            </a:r>
          </a:p>
        </p:txBody>
      </p:sp>
      <p:sp>
        <p:nvSpPr>
          <p:cNvPr id="6" name="四角形: 角を丸くする 5">
            <a:extLst>
              <a:ext uri="{FF2B5EF4-FFF2-40B4-BE49-F238E27FC236}">
                <a16:creationId xmlns:a16="http://schemas.microsoft.com/office/drawing/2014/main" id="{8D664606-383E-4B6A-94F1-C551474334DC}"/>
              </a:ext>
            </a:extLst>
          </p:cNvPr>
          <p:cNvSpPr/>
          <p:nvPr/>
        </p:nvSpPr>
        <p:spPr>
          <a:xfrm>
            <a:off x="6350000" y="2730500"/>
            <a:ext cx="5334000" cy="406400"/>
          </a:xfrm>
          <a:prstGeom prst="round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ja-JP" sz="1500" b="1">
                <a:solidFill>
                  <a:srgbClr val="FFFFFF"/>
                </a:solidFill>
                <a:latin typeface="BIZ UDPGothic"/>
                <a:ea typeface="BIZ UDPGothic"/>
              </a:rPr>
              <a:t>×  </a:t>
            </a:r>
            <a:r>
              <a:rPr lang="ja-JP" altLang="en-US" sz="1500" b="1">
                <a:solidFill>
                  <a:srgbClr val="FFFFFF"/>
                </a:solidFill>
                <a:latin typeface="BIZ UDPGothic"/>
                <a:ea typeface="BIZ UDPGothic"/>
              </a:rPr>
              <a:t>禁止される利用</a:t>
            </a:r>
          </a:p>
        </p:txBody>
      </p:sp>
      <p:sp>
        <p:nvSpPr>
          <p:cNvPr id="7" name="テキスト ボックス 6">
            <a:extLst>
              <a:ext uri="{FF2B5EF4-FFF2-40B4-BE49-F238E27FC236}">
                <a16:creationId xmlns:a16="http://schemas.microsoft.com/office/drawing/2014/main" id="{44F15BEE-CA8D-40E3-BD65-A90236052A93}"/>
              </a:ext>
            </a:extLst>
          </p:cNvPr>
          <p:cNvSpPr txBox="1"/>
          <p:nvPr/>
        </p:nvSpPr>
        <p:spPr>
          <a:xfrm>
            <a:off x="6477000" y="3238500"/>
            <a:ext cx="5080000" cy="1524000"/>
          </a:xfrm>
          <a:prstGeom prst="rect">
            <a:avLst/>
          </a:prstGeom>
          <a:noFill/>
        </p:spPr>
        <p:txBody>
          <a:bodyPr vertOverflow="overflow" vert="horz" wrap="square" rtlCol="0" anchor="t">
            <a:spAutoFit/>
          </a:bodyPr>
          <a:lstStyle/>
          <a:p>
            <a:pPr algn="l"/>
            <a:r>
              <a:rPr lang="en-US" altLang="ja-JP" sz="1500">
                <a:solidFill>
                  <a:srgbClr val="3D3D3D"/>
                </a:solidFill>
                <a:latin typeface="BIZ UDPGothic"/>
                <a:ea typeface="BIZ UDPGothic"/>
              </a:rPr>
              <a:t>• </a:t>
            </a:r>
            <a:r>
              <a:rPr lang="ja-JP" altLang="en-US" sz="1500">
                <a:solidFill>
                  <a:srgbClr val="3D3D3D"/>
                </a:solidFill>
                <a:latin typeface="BIZ UDPGothic"/>
                <a:ea typeface="BIZ UDPGothic"/>
              </a:rPr>
              <a:t>個人単位の処遇決定
</a:t>
            </a:r>
            <a:r>
              <a:rPr lang="en-US" altLang="ja-JP" sz="1500">
                <a:solidFill>
                  <a:srgbClr val="3D3D3D"/>
                </a:solidFill>
                <a:latin typeface="BIZ UDPGothic"/>
                <a:ea typeface="BIZ UDPGothic"/>
              </a:rPr>
              <a:t>• </a:t>
            </a:r>
            <a:r>
              <a:rPr lang="ja-JP" altLang="en-US" sz="1500">
                <a:solidFill>
                  <a:srgbClr val="3D3D3D"/>
                </a:solidFill>
                <a:latin typeface="BIZ UDPGothic"/>
                <a:ea typeface="BIZ UDPGothic"/>
              </a:rPr>
              <a:t>自動査定・自動選別
</a:t>
            </a:r>
            <a:r>
              <a:rPr lang="en-US" altLang="ja-JP" sz="1500">
                <a:solidFill>
                  <a:srgbClr val="3D3D3D"/>
                </a:solidFill>
                <a:latin typeface="BIZ UDPGothic"/>
                <a:ea typeface="BIZ UDPGothic"/>
              </a:rPr>
              <a:t>• </a:t>
            </a:r>
            <a:r>
              <a:rPr lang="ja-JP" altLang="en-US" sz="1500">
                <a:solidFill>
                  <a:srgbClr val="3D3D3D"/>
                </a:solidFill>
                <a:latin typeface="BIZ UDPGothic"/>
                <a:ea typeface="BIZ UDPGothic"/>
              </a:rPr>
              <a:t>人事判断の自動化
</a:t>
            </a:r>
            <a:r>
              <a:rPr lang="en-US" altLang="ja-JP" sz="1500">
                <a:solidFill>
                  <a:srgbClr val="3D3D3D"/>
                </a:solidFill>
                <a:latin typeface="BIZ UDPGothic"/>
                <a:ea typeface="BIZ UDPGothic"/>
              </a:rPr>
              <a:t>• </a:t>
            </a:r>
            <a:r>
              <a:rPr lang="ja-JP" altLang="en-US" sz="1500">
                <a:solidFill>
                  <a:srgbClr val="3D3D3D"/>
                </a:solidFill>
                <a:latin typeface="BIZ UDPGothic"/>
                <a:ea typeface="BIZ UDPGothic"/>
              </a:rPr>
              <a:t>因果関係の断定</a:t>
            </a:r>
          </a:p>
        </p:txBody>
      </p:sp>
      <p:sp>
        <p:nvSpPr>
          <p:cNvPr id="8" name="テキスト ボックス 7">
            <a:extLst>
              <a:ext uri="{FF2B5EF4-FFF2-40B4-BE49-F238E27FC236}">
                <a16:creationId xmlns:a16="http://schemas.microsoft.com/office/drawing/2014/main" id="{710479E4-11C7-4580-87FF-381CD3F234E6}"/>
              </a:ext>
            </a:extLst>
          </p:cNvPr>
          <p:cNvSpPr txBox="1"/>
          <p:nvPr/>
        </p:nvSpPr>
        <p:spPr>
          <a:xfrm>
            <a:off x="508000" y="4991100"/>
            <a:ext cx="11176000" cy="355600"/>
          </a:xfrm>
          <a:prstGeom prst="rect">
            <a:avLst/>
          </a:prstGeom>
          <a:noFill/>
        </p:spPr>
        <p:txBody>
          <a:bodyPr vertOverflow="overflow" vert="horz" wrap="square" rtlCol="0" anchor="t">
            <a:spAutoFit/>
          </a:bodyPr>
          <a:lstStyle/>
          <a:p>
            <a:pPr algn="l"/>
            <a:r>
              <a:rPr lang="ja-JP" altLang="en-US" sz="1600" b="1">
                <a:solidFill>
                  <a:srgbClr val="1A1A1A"/>
                </a:solidFill>
                <a:latin typeface="BIZ UDPGothic"/>
                <a:ea typeface="BIZ UDPGothic"/>
              </a:rPr>
              <a:t>今後の推奨ステップ</a:t>
            </a:r>
          </a:p>
        </p:txBody>
      </p:sp>
      <p:sp>
        <p:nvSpPr>
          <p:cNvPr id="9" name="矢印: 五方向 8">
            <a:extLst>
              <a:ext uri="{FF2B5EF4-FFF2-40B4-BE49-F238E27FC236}">
                <a16:creationId xmlns:a16="http://schemas.microsoft.com/office/drawing/2014/main" id="{7DE8516F-CA92-4FAC-BCC0-2A1AA3695FB6}"/>
              </a:ext>
            </a:extLst>
          </p:cNvPr>
          <p:cNvSpPr/>
          <p:nvPr/>
        </p:nvSpPr>
        <p:spPr>
          <a:xfrm>
            <a:off x="508000" y="5448300"/>
            <a:ext cx="3302000" cy="762000"/>
          </a:xfrm>
          <a:prstGeom prst="homePlat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400" b="1">
                <a:solidFill>
                  <a:srgbClr val="FFFFFF"/>
                </a:solidFill>
                <a:latin typeface="BIZ UDPGothic"/>
                <a:ea typeface="BIZ UDPGothic"/>
              </a:rPr>
              <a:t>集計単位での
モニタリング運用</a:t>
            </a:r>
          </a:p>
        </p:txBody>
      </p:sp>
      <p:sp>
        <p:nvSpPr>
          <p:cNvPr id="10" name="矢印: 五方向 9">
            <a:extLst>
              <a:ext uri="{FF2B5EF4-FFF2-40B4-BE49-F238E27FC236}">
                <a16:creationId xmlns:a16="http://schemas.microsoft.com/office/drawing/2014/main" id="{527E07D6-FA96-41E7-9BAE-E4B98005680E}"/>
              </a:ext>
            </a:extLst>
          </p:cNvPr>
          <p:cNvSpPr/>
          <p:nvPr/>
        </p:nvSpPr>
        <p:spPr>
          <a:xfrm>
            <a:off x="4191000" y="5448300"/>
            <a:ext cx="3302000" cy="762000"/>
          </a:xfrm>
          <a:prstGeom prst="homePlate">
            <a:avLst/>
          </a:prstGeom>
          <a:solidFill>
            <a:srgbClr val="A2615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400" b="1">
                <a:solidFill>
                  <a:srgbClr val="FFFFFF"/>
                </a:solidFill>
                <a:latin typeface="BIZ UDPGothic"/>
                <a:ea typeface="BIZ UDPGothic"/>
              </a:rPr>
              <a:t>追加データを用いた
分析の精緻化</a:t>
            </a:r>
          </a:p>
        </p:txBody>
      </p:sp>
      <p:sp>
        <p:nvSpPr>
          <p:cNvPr id="11" name="矢印: 五方向 10">
            <a:extLst>
              <a:ext uri="{FF2B5EF4-FFF2-40B4-BE49-F238E27FC236}">
                <a16:creationId xmlns:a16="http://schemas.microsoft.com/office/drawing/2014/main" id="{4D17CD0A-3288-4FEF-8653-825A9E32D388}"/>
              </a:ext>
            </a:extLst>
          </p:cNvPr>
          <p:cNvSpPr/>
          <p:nvPr/>
        </p:nvSpPr>
        <p:spPr>
          <a:xfrm>
            <a:off x="7874000" y="5448300"/>
            <a:ext cx="3302000" cy="762000"/>
          </a:xfrm>
          <a:prstGeom prst="homePlat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zh-TW" altLang="en-US" sz="1400" b="1">
                <a:solidFill>
                  <a:srgbClr val="FFFFFF"/>
                </a:solidFill>
                <a:latin typeface="BIZ UDPGothic"/>
                <a:ea typeface="BIZ UDPGothic"/>
              </a:rPr>
              <a:t>施策効果検証
設計</a:t>
            </a:r>
            <a:endParaRPr lang="ja-JP" altLang="en-US" sz="1400" b="1">
              <a:solidFill>
                <a:srgbClr val="FFFFFF"/>
              </a:solidFill>
              <a:latin typeface="BIZ UDPGothic"/>
              <a:ea typeface="BIZ UDPGothic"/>
            </a:endParaRPr>
          </a:p>
        </p:txBody>
      </p:sp>
      <p:sp>
        <p:nvSpPr>
          <p:cNvPr id="12" name="テキスト ボックス 11">
            <a:extLst>
              <a:ext uri="{FF2B5EF4-FFF2-40B4-BE49-F238E27FC236}">
                <a16:creationId xmlns:a16="http://schemas.microsoft.com/office/drawing/2014/main" id="{C658E030-3C95-485B-8207-BBE42CFC61B3}"/>
              </a:ext>
            </a:extLst>
          </p:cNvPr>
          <p:cNvSpPr txBox="1"/>
          <p:nvPr/>
        </p:nvSpPr>
        <p:spPr>
          <a:xfrm>
            <a:off x="508000" y="254000"/>
            <a:ext cx="11176000" cy="508000"/>
          </a:xfrm>
          <a:prstGeom prst="rect">
            <a:avLst/>
          </a:prstGeom>
          <a:noFill/>
        </p:spPr>
        <p:txBody>
          <a:bodyPr vertOverflow="overflow" vert="horz" wrap="square" rtlCol="0" anchor="t">
            <a:noAutofit/>
          </a:bodyPr>
          <a:lstStyle/>
          <a:p>
            <a:pPr algn="l"/>
            <a:r>
              <a:rPr lang="en-US" altLang="ja-JP" sz="2400" b="1">
                <a:solidFill>
                  <a:srgbClr val="1A1A1A"/>
                </a:solidFill>
                <a:latin typeface="BIZ UDPGothic"/>
                <a:ea typeface="BIZ UDPGothic"/>
              </a:rPr>
              <a:t>1. </a:t>
            </a:r>
            <a:r>
              <a:rPr lang="ja-JP" altLang="en-US" sz="2400" b="1">
                <a:solidFill>
                  <a:srgbClr val="1A1A1A"/>
                </a:solidFill>
                <a:latin typeface="BIZ UDPGothic"/>
                <a:ea typeface="BIZ UDPGothic"/>
              </a:rPr>
              <a:t>エグゼクティブサマリ </a:t>
            </a:r>
            <a:r>
              <a:rPr lang="en-US" altLang="ja-JP" sz="2400" b="1">
                <a:solidFill>
                  <a:srgbClr val="1A1A1A"/>
                </a:solidFill>
                <a:latin typeface="BIZ UDPGothic"/>
                <a:ea typeface="BIZ UDPGothic"/>
              </a:rPr>
              <a:t>— </a:t>
            </a:r>
            <a:r>
              <a:rPr lang="ja-JP" altLang="en-US" sz="2400" b="1">
                <a:solidFill>
                  <a:srgbClr val="1A1A1A"/>
                </a:solidFill>
                <a:latin typeface="BIZ UDPGothic"/>
                <a:ea typeface="BIZ UDPGothic"/>
              </a:rPr>
              <a:t>運用上の結論</a:t>
            </a:r>
          </a:p>
        </p:txBody>
      </p:sp>
      <p:sp>
        <p:nvSpPr>
          <p:cNvPr id="13" name="正方形/長方形 12">
            <a:extLst>
              <a:ext uri="{FF2B5EF4-FFF2-40B4-BE49-F238E27FC236}">
                <a16:creationId xmlns:a16="http://schemas.microsoft.com/office/drawing/2014/main" id="{13C9E5C5-3E26-490E-B803-BF7693EBAE4B}"/>
              </a:ext>
            </a:extLst>
          </p:cNvPr>
          <p:cNvSpPr/>
          <p:nvPr/>
        </p:nvSpPr>
        <p:spPr>
          <a:xfrm>
            <a:off x="508000" y="787400"/>
            <a:ext cx="1270000" cy="38100"/>
          </a:xfrm>
          <a:prstGeom prst="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Tree>
    <p:extLst>
      <p:ext uri="{BB962C8B-B14F-4D97-AF65-F5344CB8AC3E}">
        <p14:creationId xmlns:p14="http://schemas.microsoft.com/office/powerpoint/2010/main" val="3908982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78D22ABA-3C7F-4CF8-B5CE-ADE5290F05B2}"/>
              </a:ext>
            </a:extLst>
          </p:cNvPr>
          <p:cNvSpPr txBox="1"/>
          <p:nvPr/>
        </p:nvSpPr>
        <p:spPr>
          <a:xfrm>
            <a:off x="508000" y="1397000"/>
            <a:ext cx="11176000" cy="635000"/>
          </a:xfrm>
          <a:prstGeom prst="rect">
            <a:avLst/>
          </a:prstGeom>
          <a:noFill/>
        </p:spPr>
        <p:txBody>
          <a:bodyPr vertOverflow="overflow" vert="horz" wrap="square" rtlCol="0" anchor="t">
            <a:spAutoFit/>
          </a:bodyPr>
          <a:lstStyle/>
          <a:p>
            <a:pPr algn="l"/>
            <a:r>
              <a:rPr lang="en-US" altLang="ja-JP" sz="1500">
                <a:solidFill>
                  <a:srgbClr val="3D3D3D"/>
                </a:solidFill>
                <a:latin typeface="BIZ UDPGothic"/>
                <a:ea typeface="BIZ UDPGothic"/>
              </a:rPr>
              <a:t>Attrition</a:t>
            </a:r>
            <a:r>
              <a:rPr lang="ja-JP" altLang="en-US" sz="1500">
                <a:solidFill>
                  <a:srgbClr val="3D3D3D"/>
                </a:solidFill>
                <a:latin typeface="BIZ UDPGothic"/>
                <a:ea typeface="BIZ UDPGothic"/>
              </a:rPr>
              <a:t>を目的変数として、従業員離職の主要因を定量把握し、
人事本部 人材戦略部が次の人事施策を実行可能な状態を整備する</a:t>
            </a:r>
          </a:p>
        </p:txBody>
      </p:sp>
      <p:sp>
        <p:nvSpPr>
          <p:cNvPr id="4" name="四角形: 角を丸くする 3">
            <a:extLst>
              <a:ext uri="{FF2B5EF4-FFF2-40B4-BE49-F238E27FC236}">
                <a16:creationId xmlns:a16="http://schemas.microsoft.com/office/drawing/2014/main" id="{C3674802-45BD-4407-A5B7-CC6BAC93710D}"/>
              </a:ext>
            </a:extLst>
          </p:cNvPr>
          <p:cNvSpPr/>
          <p:nvPr/>
        </p:nvSpPr>
        <p:spPr>
          <a:xfrm>
            <a:off x="508000" y="2222500"/>
            <a:ext cx="2108200" cy="16510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 name="楕円 4">
            <a:extLst>
              <a:ext uri="{FF2B5EF4-FFF2-40B4-BE49-F238E27FC236}">
                <a16:creationId xmlns:a16="http://schemas.microsoft.com/office/drawing/2014/main" id="{77FCD203-0A1C-4A48-B38A-D57C0E79C177}"/>
              </a:ext>
            </a:extLst>
          </p:cNvPr>
          <p:cNvSpPr/>
          <p:nvPr/>
        </p:nvSpPr>
        <p:spPr>
          <a:xfrm>
            <a:off x="1308100" y="2324100"/>
            <a:ext cx="508000" cy="508000"/>
          </a:xfrm>
          <a:prstGeom prst="ellips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b="1">
                <a:solidFill>
                  <a:srgbClr val="FFFFFF"/>
                </a:solidFill>
                <a:latin typeface="BIZ UDPGothic"/>
                <a:ea typeface="BIZ UDPGothic"/>
              </a:rPr>
              <a:t>1</a:t>
            </a:r>
            <a:endParaRPr lang="ja-JP" altLang="en-US" b="1">
              <a:solidFill>
                <a:srgbClr val="FFFFFF"/>
              </a:solidFill>
              <a:latin typeface="BIZ UDPGothic"/>
              <a:ea typeface="BIZ UDPGothic"/>
            </a:endParaRPr>
          </a:p>
        </p:txBody>
      </p:sp>
      <p:sp>
        <p:nvSpPr>
          <p:cNvPr id="6" name="テキスト ボックス 5">
            <a:extLst>
              <a:ext uri="{FF2B5EF4-FFF2-40B4-BE49-F238E27FC236}">
                <a16:creationId xmlns:a16="http://schemas.microsoft.com/office/drawing/2014/main" id="{D38FF579-7CB0-4E26-881C-18F84DC6EA6E}"/>
              </a:ext>
            </a:extLst>
          </p:cNvPr>
          <p:cNvSpPr txBox="1"/>
          <p:nvPr/>
        </p:nvSpPr>
        <p:spPr>
          <a:xfrm>
            <a:off x="609600" y="2933700"/>
            <a:ext cx="1905000" cy="7620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離職傾向の全体像
を可視化する</a:t>
            </a:r>
          </a:p>
        </p:txBody>
      </p:sp>
      <p:sp>
        <p:nvSpPr>
          <p:cNvPr id="7" name="四角形: 角を丸くする 6">
            <a:extLst>
              <a:ext uri="{FF2B5EF4-FFF2-40B4-BE49-F238E27FC236}">
                <a16:creationId xmlns:a16="http://schemas.microsoft.com/office/drawing/2014/main" id="{1DC1E7D4-0080-4A61-8826-5602DD947526}"/>
              </a:ext>
            </a:extLst>
          </p:cNvPr>
          <p:cNvSpPr/>
          <p:nvPr/>
        </p:nvSpPr>
        <p:spPr>
          <a:xfrm>
            <a:off x="2794000" y="2222500"/>
            <a:ext cx="2108200" cy="16510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8" name="楕円 7">
            <a:extLst>
              <a:ext uri="{FF2B5EF4-FFF2-40B4-BE49-F238E27FC236}">
                <a16:creationId xmlns:a16="http://schemas.microsoft.com/office/drawing/2014/main" id="{93BDF7B7-54FD-4D72-86CE-8BF4D08F63CF}"/>
              </a:ext>
            </a:extLst>
          </p:cNvPr>
          <p:cNvSpPr/>
          <p:nvPr/>
        </p:nvSpPr>
        <p:spPr>
          <a:xfrm>
            <a:off x="3594100" y="2324100"/>
            <a:ext cx="508000" cy="508000"/>
          </a:xfrm>
          <a:prstGeom prst="ellips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b="1">
                <a:solidFill>
                  <a:srgbClr val="FFFFFF"/>
                </a:solidFill>
                <a:latin typeface="BIZ UDPGothic"/>
                <a:ea typeface="BIZ UDPGothic"/>
              </a:rPr>
              <a:t>2</a:t>
            </a:r>
            <a:endParaRPr lang="ja-JP" altLang="en-US" b="1">
              <a:solidFill>
                <a:srgbClr val="FFFFFF"/>
              </a:solidFill>
              <a:latin typeface="BIZ UDPGothic"/>
              <a:ea typeface="BIZ UDPGothic"/>
            </a:endParaRPr>
          </a:p>
        </p:txBody>
      </p:sp>
      <p:sp>
        <p:nvSpPr>
          <p:cNvPr id="9" name="テキスト ボックス 8">
            <a:extLst>
              <a:ext uri="{FF2B5EF4-FFF2-40B4-BE49-F238E27FC236}">
                <a16:creationId xmlns:a16="http://schemas.microsoft.com/office/drawing/2014/main" id="{8B688F9F-5190-4B86-BE06-47C60DD6CDFD}"/>
              </a:ext>
            </a:extLst>
          </p:cNvPr>
          <p:cNvSpPr txBox="1"/>
          <p:nvPr/>
        </p:nvSpPr>
        <p:spPr>
          <a:xfrm>
            <a:off x="2895600" y="2933700"/>
            <a:ext cx="1905000" cy="7620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離職に関連する主要
説明変数を抽出する</a:t>
            </a:r>
          </a:p>
        </p:txBody>
      </p:sp>
      <p:sp>
        <p:nvSpPr>
          <p:cNvPr id="10" name="四角形: 角を丸くする 9">
            <a:extLst>
              <a:ext uri="{FF2B5EF4-FFF2-40B4-BE49-F238E27FC236}">
                <a16:creationId xmlns:a16="http://schemas.microsoft.com/office/drawing/2014/main" id="{CAA437DD-3B05-43BB-9AAB-1BC9DB7457DF}"/>
              </a:ext>
            </a:extLst>
          </p:cNvPr>
          <p:cNvSpPr/>
          <p:nvPr/>
        </p:nvSpPr>
        <p:spPr>
          <a:xfrm>
            <a:off x="5080000" y="2222500"/>
            <a:ext cx="2108200" cy="16510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楕円 10">
            <a:extLst>
              <a:ext uri="{FF2B5EF4-FFF2-40B4-BE49-F238E27FC236}">
                <a16:creationId xmlns:a16="http://schemas.microsoft.com/office/drawing/2014/main" id="{2CE336E4-1A98-44A8-81C2-80548712D355}"/>
              </a:ext>
            </a:extLst>
          </p:cNvPr>
          <p:cNvSpPr/>
          <p:nvPr/>
        </p:nvSpPr>
        <p:spPr>
          <a:xfrm>
            <a:off x="5880100" y="2324100"/>
            <a:ext cx="508000" cy="508000"/>
          </a:xfrm>
          <a:prstGeom prst="ellips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b="1">
                <a:solidFill>
                  <a:srgbClr val="FFFFFF"/>
                </a:solidFill>
                <a:latin typeface="BIZ UDPGothic"/>
                <a:ea typeface="BIZ UDPGothic"/>
              </a:rPr>
              <a:t>3</a:t>
            </a:r>
            <a:endParaRPr lang="ja-JP" altLang="en-US" b="1">
              <a:solidFill>
                <a:srgbClr val="FFFFFF"/>
              </a:solidFill>
              <a:latin typeface="BIZ UDPGothic"/>
              <a:ea typeface="BIZ UDPGothic"/>
            </a:endParaRPr>
          </a:p>
        </p:txBody>
      </p:sp>
      <p:sp>
        <p:nvSpPr>
          <p:cNvPr id="12" name="テキスト ボックス 11">
            <a:extLst>
              <a:ext uri="{FF2B5EF4-FFF2-40B4-BE49-F238E27FC236}">
                <a16:creationId xmlns:a16="http://schemas.microsoft.com/office/drawing/2014/main" id="{37477176-20A6-4ED9-A817-080118573B1A}"/>
              </a:ext>
            </a:extLst>
          </p:cNvPr>
          <p:cNvSpPr txBox="1"/>
          <p:nvPr/>
        </p:nvSpPr>
        <p:spPr>
          <a:xfrm>
            <a:off x="5181600" y="2933700"/>
            <a:ext cx="1905000" cy="7620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初期的な離職リスク
判定ロジックの作成</a:t>
            </a:r>
          </a:p>
        </p:txBody>
      </p:sp>
      <p:sp>
        <p:nvSpPr>
          <p:cNvPr id="13" name="四角形: 角を丸くする 12">
            <a:extLst>
              <a:ext uri="{FF2B5EF4-FFF2-40B4-BE49-F238E27FC236}">
                <a16:creationId xmlns:a16="http://schemas.microsoft.com/office/drawing/2014/main" id="{670DE146-C98F-48C2-AE2E-DF3A15F1086E}"/>
              </a:ext>
            </a:extLst>
          </p:cNvPr>
          <p:cNvSpPr/>
          <p:nvPr/>
        </p:nvSpPr>
        <p:spPr>
          <a:xfrm>
            <a:off x="7366000" y="2222500"/>
            <a:ext cx="2108200" cy="16510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4" name="楕円 13">
            <a:extLst>
              <a:ext uri="{FF2B5EF4-FFF2-40B4-BE49-F238E27FC236}">
                <a16:creationId xmlns:a16="http://schemas.microsoft.com/office/drawing/2014/main" id="{53BDE8C5-D750-4306-81D0-A30D94196788}"/>
              </a:ext>
            </a:extLst>
          </p:cNvPr>
          <p:cNvSpPr/>
          <p:nvPr/>
        </p:nvSpPr>
        <p:spPr>
          <a:xfrm>
            <a:off x="8166100" y="2324100"/>
            <a:ext cx="508000" cy="508000"/>
          </a:xfrm>
          <a:prstGeom prst="ellips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b="1">
                <a:solidFill>
                  <a:srgbClr val="FFFFFF"/>
                </a:solidFill>
                <a:latin typeface="BIZ UDPGothic"/>
                <a:ea typeface="BIZ UDPGothic"/>
              </a:rPr>
              <a:t>4</a:t>
            </a:r>
            <a:endParaRPr lang="ja-JP" altLang="en-US" b="1">
              <a:solidFill>
                <a:srgbClr val="FFFFFF"/>
              </a:solidFill>
              <a:latin typeface="BIZ UDPGothic"/>
              <a:ea typeface="BIZ UDPGothic"/>
            </a:endParaRPr>
          </a:p>
        </p:txBody>
      </p:sp>
      <p:sp>
        <p:nvSpPr>
          <p:cNvPr id="15" name="テキスト ボックス 14">
            <a:extLst>
              <a:ext uri="{FF2B5EF4-FFF2-40B4-BE49-F238E27FC236}">
                <a16:creationId xmlns:a16="http://schemas.microsoft.com/office/drawing/2014/main" id="{37FEB8D7-4101-489D-B52A-0FFA27D9E521}"/>
              </a:ext>
            </a:extLst>
          </p:cNvPr>
          <p:cNvSpPr txBox="1"/>
          <p:nvPr/>
        </p:nvSpPr>
        <p:spPr>
          <a:xfrm>
            <a:off x="7467600" y="2933700"/>
            <a:ext cx="1905000" cy="7620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部門・職種・勤続層等
の示唆を提示する</a:t>
            </a:r>
          </a:p>
        </p:txBody>
      </p:sp>
      <p:sp>
        <p:nvSpPr>
          <p:cNvPr id="16" name="四角形: 角を丸くする 15">
            <a:extLst>
              <a:ext uri="{FF2B5EF4-FFF2-40B4-BE49-F238E27FC236}">
                <a16:creationId xmlns:a16="http://schemas.microsoft.com/office/drawing/2014/main" id="{32094934-261D-4A25-B837-3243BF4B7D18}"/>
              </a:ext>
            </a:extLst>
          </p:cNvPr>
          <p:cNvSpPr/>
          <p:nvPr/>
        </p:nvSpPr>
        <p:spPr>
          <a:xfrm>
            <a:off x="9652000" y="2222500"/>
            <a:ext cx="2108200" cy="16510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楕円 16">
            <a:extLst>
              <a:ext uri="{FF2B5EF4-FFF2-40B4-BE49-F238E27FC236}">
                <a16:creationId xmlns:a16="http://schemas.microsoft.com/office/drawing/2014/main" id="{2AEEDDA8-F092-4E25-B20A-5F795E5C0DEE}"/>
              </a:ext>
            </a:extLst>
          </p:cNvPr>
          <p:cNvSpPr/>
          <p:nvPr/>
        </p:nvSpPr>
        <p:spPr>
          <a:xfrm>
            <a:off x="10452100" y="2324100"/>
            <a:ext cx="508000" cy="508000"/>
          </a:xfrm>
          <a:prstGeom prst="ellips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b="1">
                <a:solidFill>
                  <a:srgbClr val="FFFFFF"/>
                </a:solidFill>
                <a:latin typeface="BIZ UDPGothic"/>
                <a:ea typeface="BIZ UDPGothic"/>
              </a:rPr>
              <a:t>5</a:t>
            </a:r>
            <a:endParaRPr lang="ja-JP" altLang="en-US" b="1">
              <a:solidFill>
                <a:srgbClr val="FFFFFF"/>
              </a:solidFill>
              <a:latin typeface="BIZ UDPGothic"/>
              <a:ea typeface="BIZ UDPGothic"/>
            </a:endParaRPr>
          </a:p>
        </p:txBody>
      </p:sp>
      <p:sp>
        <p:nvSpPr>
          <p:cNvPr id="18" name="テキスト ボックス 17">
            <a:extLst>
              <a:ext uri="{FF2B5EF4-FFF2-40B4-BE49-F238E27FC236}">
                <a16:creationId xmlns:a16="http://schemas.microsoft.com/office/drawing/2014/main" id="{7595D628-7E5B-47F6-8191-7B70FAE8F84F}"/>
              </a:ext>
            </a:extLst>
          </p:cNvPr>
          <p:cNvSpPr txBox="1"/>
          <p:nvPr/>
        </p:nvSpPr>
        <p:spPr>
          <a:xfrm>
            <a:off x="9753600" y="2933700"/>
            <a:ext cx="1905000" cy="7620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公平性・運用注意点
を明文化する</a:t>
            </a:r>
          </a:p>
        </p:txBody>
      </p:sp>
      <p:sp>
        <p:nvSpPr>
          <p:cNvPr id="19" name="テキスト ボックス 18">
            <a:extLst>
              <a:ext uri="{FF2B5EF4-FFF2-40B4-BE49-F238E27FC236}">
                <a16:creationId xmlns:a16="http://schemas.microsoft.com/office/drawing/2014/main" id="{5DDCC2C2-2267-4D11-BF10-49E98F2ACCD1}"/>
              </a:ext>
            </a:extLst>
          </p:cNvPr>
          <p:cNvSpPr txBox="1"/>
          <p:nvPr/>
        </p:nvSpPr>
        <p:spPr>
          <a:xfrm>
            <a:off x="508000" y="4127500"/>
            <a:ext cx="11176000" cy="355600"/>
          </a:xfrm>
          <a:prstGeom prst="rect">
            <a:avLst/>
          </a:prstGeom>
          <a:noFill/>
        </p:spPr>
        <p:txBody>
          <a:bodyPr vertOverflow="overflow" vert="horz" wrap="square" rtlCol="0" anchor="t">
            <a:spAutoFit/>
          </a:bodyPr>
          <a:lstStyle/>
          <a:p>
            <a:pPr algn="l"/>
            <a:r>
              <a:rPr lang="ja-JP" altLang="en-US" sz="1600" b="1">
                <a:solidFill>
                  <a:srgbClr val="1A1A1A"/>
                </a:solidFill>
                <a:latin typeface="BIZ UDPGothic"/>
                <a:ea typeface="BIZ UDPGothic"/>
              </a:rPr>
              <a:t>事実と前提の分離</a:t>
            </a:r>
          </a:p>
        </p:txBody>
      </p:sp>
      <p:sp>
        <p:nvSpPr>
          <p:cNvPr id="20" name="正方形/長方形 19">
            <a:extLst>
              <a:ext uri="{FF2B5EF4-FFF2-40B4-BE49-F238E27FC236}">
                <a16:creationId xmlns:a16="http://schemas.microsoft.com/office/drawing/2014/main" id="{B6926A2B-D88E-40FD-AA95-60D3FD71BFB2}"/>
              </a:ext>
            </a:extLst>
          </p:cNvPr>
          <p:cNvSpPr/>
          <p:nvPr/>
        </p:nvSpPr>
        <p:spPr>
          <a:xfrm>
            <a:off x="508000" y="4483100"/>
            <a:ext cx="11176000" cy="25400"/>
          </a:xfrm>
          <a:prstGeom prst="rect">
            <a:avLst/>
          </a:prstGeom>
          <a:solidFill>
            <a:srgbClr val="D4C5B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1" name="四角形: 角を丸くする 20">
            <a:extLst>
              <a:ext uri="{FF2B5EF4-FFF2-40B4-BE49-F238E27FC236}">
                <a16:creationId xmlns:a16="http://schemas.microsoft.com/office/drawing/2014/main" id="{AA0A317E-F27A-4C17-8CD4-84B31D3E14A8}"/>
              </a:ext>
            </a:extLst>
          </p:cNvPr>
          <p:cNvSpPr/>
          <p:nvPr/>
        </p:nvSpPr>
        <p:spPr>
          <a:xfrm>
            <a:off x="508000" y="4635500"/>
            <a:ext cx="5334000" cy="355600"/>
          </a:xfrm>
          <a:prstGeom prst="roundRect">
            <a:avLst/>
          </a:prstGeom>
          <a:solidFill>
            <a:srgbClr val="4A4A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400" b="1">
                <a:solidFill>
                  <a:srgbClr val="FFFFFF"/>
                </a:solidFill>
                <a:latin typeface="BIZ UDPGothic"/>
                <a:ea typeface="BIZ UDPGothic"/>
              </a:rPr>
              <a:t>確認済み事項</a:t>
            </a:r>
          </a:p>
        </p:txBody>
      </p:sp>
      <p:sp>
        <p:nvSpPr>
          <p:cNvPr id="22" name="テキスト ボックス 21">
            <a:extLst>
              <a:ext uri="{FF2B5EF4-FFF2-40B4-BE49-F238E27FC236}">
                <a16:creationId xmlns:a16="http://schemas.microsoft.com/office/drawing/2014/main" id="{1F0A7D8D-EC07-4CCF-A610-097C6D94AC49}"/>
              </a:ext>
            </a:extLst>
          </p:cNvPr>
          <p:cNvSpPr txBox="1"/>
          <p:nvPr/>
        </p:nvSpPr>
        <p:spPr>
          <a:xfrm>
            <a:off x="635000" y="5092700"/>
            <a:ext cx="5080000" cy="1270000"/>
          </a:xfrm>
          <a:prstGeom prst="rect">
            <a:avLst/>
          </a:prstGeom>
          <a:noFill/>
        </p:spPr>
        <p:txBody>
          <a:bodyPr vertOverflow="overflow" vert="horz" wrap="square" rtlCol="0" anchor="t">
            <a:spAutoFit/>
          </a:bodyPr>
          <a:lstStyle/>
          <a:p>
            <a:pPr algn="l"/>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初期分析案件である
</a:t>
            </a:r>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契約期間は</a:t>
            </a:r>
            <a:r>
              <a:rPr lang="en-US" altLang="ja-JP" sz="1400">
                <a:solidFill>
                  <a:srgbClr val="3D3D3D"/>
                </a:solidFill>
                <a:latin typeface="BIZ UDPGothic"/>
                <a:ea typeface="BIZ UDPGothic"/>
              </a:rPr>
              <a:t>5</a:t>
            </a:r>
            <a:r>
              <a:rPr lang="ja-JP" altLang="en-US" sz="1400">
                <a:solidFill>
                  <a:srgbClr val="3D3D3D"/>
                </a:solidFill>
                <a:latin typeface="BIZ UDPGothic"/>
                <a:ea typeface="BIZ UDPGothic"/>
              </a:rPr>
              <a:t>週間
</a:t>
            </a:r>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単一時点の従業員スナップショット
</a:t>
            </a:r>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契約形態は </a:t>
            </a:r>
            <a:r>
              <a:rPr lang="en-US" altLang="ja-JP" sz="1400">
                <a:solidFill>
                  <a:srgbClr val="3D3D3D"/>
                </a:solidFill>
                <a:latin typeface="BIZ UDPGothic"/>
                <a:ea typeface="BIZ UDPGothic"/>
              </a:rPr>
              <a:t>time_and_materials</a:t>
            </a:r>
            <a:endParaRPr lang="ja-JP" altLang="en-US" sz="1400">
              <a:solidFill>
                <a:srgbClr val="3D3D3D"/>
              </a:solidFill>
              <a:latin typeface="BIZ UDPGothic"/>
              <a:ea typeface="BIZ UDPGothic"/>
            </a:endParaRPr>
          </a:p>
        </p:txBody>
      </p:sp>
      <p:sp>
        <p:nvSpPr>
          <p:cNvPr id="23" name="四角形: 角を丸くする 22">
            <a:extLst>
              <a:ext uri="{FF2B5EF4-FFF2-40B4-BE49-F238E27FC236}">
                <a16:creationId xmlns:a16="http://schemas.microsoft.com/office/drawing/2014/main" id="{CB698609-757E-40D1-B176-8B86784C8562}"/>
              </a:ext>
            </a:extLst>
          </p:cNvPr>
          <p:cNvSpPr/>
          <p:nvPr/>
        </p:nvSpPr>
        <p:spPr>
          <a:xfrm>
            <a:off x="6350000" y="4635500"/>
            <a:ext cx="5334000" cy="355600"/>
          </a:xfrm>
          <a:prstGeom prst="roundRect">
            <a:avLst/>
          </a:prstGeom>
          <a:solidFill>
            <a:srgbClr val="A0522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400" b="1">
                <a:solidFill>
                  <a:srgbClr val="FFFFFF"/>
                </a:solidFill>
                <a:latin typeface="BIZ UDPGothic"/>
                <a:ea typeface="BIZ UDPGothic"/>
              </a:rPr>
              <a:t>前提・解釈</a:t>
            </a:r>
          </a:p>
        </p:txBody>
      </p:sp>
      <p:sp>
        <p:nvSpPr>
          <p:cNvPr id="24" name="テキスト ボックス 23">
            <a:extLst>
              <a:ext uri="{FF2B5EF4-FFF2-40B4-BE49-F238E27FC236}">
                <a16:creationId xmlns:a16="http://schemas.microsoft.com/office/drawing/2014/main" id="{EC37740C-1C1E-491F-ABB3-89DF2C95B36C}"/>
              </a:ext>
            </a:extLst>
          </p:cNvPr>
          <p:cNvSpPr txBox="1"/>
          <p:nvPr/>
        </p:nvSpPr>
        <p:spPr>
          <a:xfrm>
            <a:off x="6477000" y="5092700"/>
            <a:ext cx="5080000" cy="1270000"/>
          </a:xfrm>
          <a:prstGeom prst="rect">
            <a:avLst/>
          </a:prstGeom>
          <a:noFill/>
        </p:spPr>
        <p:txBody>
          <a:bodyPr vertOverflow="overflow" vert="horz" wrap="square" rtlCol="0" anchor="t">
            <a:spAutoFit/>
          </a:bodyPr>
          <a:lstStyle/>
          <a:p>
            <a:pPr algn="l"/>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分析結果は人事施策検討の参考情報であり、
  単独での人事判断には用いない
</a:t>
            </a:r>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従業員データは重複なく記録されている
</a:t>
            </a:r>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提示示唆は「関連」「傾向」に基づくもの</a:t>
            </a:r>
          </a:p>
        </p:txBody>
      </p:sp>
      <p:sp>
        <p:nvSpPr>
          <p:cNvPr id="25" name="テキスト ボックス 24">
            <a:extLst>
              <a:ext uri="{FF2B5EF4-FFF2-40B4-BE49-F238E27FC236}">
                <a16:creationId xmlns:a16="http://schemas.microsoft.com/office/drawing/2014/main" id="{D959818E-B0F4-470A-91DD-79B70A2933A7}"/>
              </a:ext>
            </a:extLst>
          </p:cNvPr>
          <p:cNvSpPr txBox="1"/>
          <p:nvPr/>
        </p:nvSpPr>
        <p:spPr>
          <a:xfrm>
            <a:off x="508000" y="254000"/>
            <a:ext cx="11176000" cy="508000"/>
          </a:xfrm>
          <a:prstGeom prst="rect">
            <a:avLst/>
          </a:prstGeom>
          <a:noFill/>
        </p:spPr>
        <p:txBody>
          <a:bodyPr vertOverflow="overflow" vert="horz" wrap="square" rtlCol="0" anchor="t">
            <a:noAutofit/>
          </a:bodyPr>
          <a:lstStyle/>
          <a:p>
            <a:pPr algn="l"/>
            <a:r>
              <a:rPr lang="en-US" altLang="ja-JP" sz="2400" b="1">
                <a:solidFill>
                  <a:srgbClr val="1A1A1A"/>
                </a:solidFill>
                <a:latin typeface="BIZ UDPGothic"/>
                <a:ea typeface="BIZ UDPGothic"/>
              </a:rPr>
              <a:t>2. </a:t>
            </a:r>
            <a:r>
              <a:rPr lang="ja-JP" altLang="en-US" sz="2400" b="1">
                <a:solidFill>
                  <a:srgbClr val="1A1A1A"/>
                </a:solidFill>
                <a:latin typeface="BIZ UDPGothic"/>
                <a:ea typeface="BIZ UDPGothic"/>
              </a:rPr>
              <a:t>プロジェクト目的</a:t>
            </a:r>
          </a:p>
        </p:txBody>
      </p:sp>
      <p:sp>
        <p:nvSpPr>
          <p:cNvPr id="26" name="正方形/長方形 25">
            <a:extLst>
              <a:ext uri="{FF2B5EF4-FFF2-40B4-BE49-F238E27FC236}">
                <a16:creationId xmlns:a16="http://schemas.microsoft.com/office/drawing/2014/main" id="{844BB85A-85B0-41A6-BF78-7742E6742AF7}"/>
              </a:ext>
            </a:extLst>
          </p:cNvPr>
          <p:cNvSpPr/>
          <p:nvPr/>
        </p:nvSpPr>
        <p:spPr>
          <a:xfrm>
            <a:off x="508000" y="787400"/>
            <a:ext cx="1270000" cy="38100"/>
          </a:xfrm>
          <a:prstGeom prst="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Tree>
    <p:extLst>
      <p:ext uri="{BB962C8B-B14F-4D97-AF65-F5344CB8AC3E}">
        <p14:creationId xmlns:p14="http://schemas.microsoft.com/office/powerpoint/2010/main" val="2704821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四角形: 角を丸くする 2">
            <a:extLst>
              <a:ext uri="{FF2B5EF4-FFF2-40B4-BE49-F238E27FC236}">
                <a16:creationId xmlns:a16="http://schemas.microsoft.com/office/drawing/2014/main" id="{685C75D5-E147-49A8-B0FB-7EA7643E6AD0}"/>
              </a:ext>
            </a:extLst>
          </p:cNvPr>
          <p:cNvSpPr/>
          <p:nvPr/>
        </p:nvSpPr>
        <p:spPr>
          <a:xfrm>
            <a:off x="508000" y="1397000"/>
            <a:ext cx="5334000" cy="406400"/>
          </a:xfrm>
          <a:prstGeom prst="roundRect">
            <a:avLst/>
          </a:prstGeom>
          <a:solidFill>
            <a:srgbClr val="4A7A4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500" b="1">
                <a:solidFill>
                  <a:srgbClr val="FFFFFF"/>
                </a:solidFill>
                <a:latin typeface="BIZ UDPGothic"/>
                <a:ea typeface="BIZ UDPGothic"/>
              </a:rPr>
              <a:t>スコープ内</a:t>
            </a:r>
          </a:p>
        </p:txBody>
      </p:sp>
      <p:sp>
        <p:nvSpPr>
          <p:cNvPr id="4" name="楕円 3">
            <a:extLst>
              <a:ext uri="{FF2B5EF4-FFF2-40B4-BE49-F238E27FC236}">
                <a16:creationId xmlns:a16="http://schemas.microsoft.com/office/drawing/2014/main" id="{ECDF5E84-70AF-4784-B863-F9D7055FB4F4}"/>
              </a:ext>
            </a:extLst>
          </p:cNvPr>
          <p:cNvSpPr/>
          <p:nvPr/>
        </p:nvSpPr>
        <p:spPr>
          <a:xfrm>
            <a:off x="635000" y="1968500"/>
            <a:ext cx="254000" cy="254000"/>
          </a:xfrm>
          <a:prstGeom prst="ellipse">
            <a:avLst/>
          </a:prstGeom>
          <a:solidFill>
            <a:srgbClr val="4A7A4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1400">
                <a:solidFill>
                  <a:srgbClr val="FFFFFF"/>
                </a:solidFill>
              </a:rPr>
              <a:t>✓</a:t>
            </a:r>
          </a:p>
        </p:txBody>
      </p:sp>
      <p:sp>
        <p:nvSpPr>
          <p:cNvPr id="5" name="テキスト ボックス 4">
            <a:extLst>
              <a:ext uri="{FF2B5EF4-FFF2-40B4-BE49-F238E27FC236}">
                <a16:creationId xmlns:a16="http://schemas.microsoft.com/office/drawing/2014/main" id="{A8306077-F374-41A1-A597-FCA86B2386AE}"/>
              </a:ext>
            </a:extLst>
          </p:cNvPr>
          <p:cNvSpPr txBox="1"/>
          <p:nvPr/>
        </p:nvSpPr>
        <p:spPr>
          <a:xfrm>
            <a:off x="990600" y="1917700"/>
            <a:ext cx="4775200" cy="431800"/>
          </a:xfrm>
          <a:prstGeom prst="rect">
            <a:avLst/>
          </a:prstGeom>
          <a:noFill/>
        </p:spPr>
        <p:txBody>
          <a:bodyPr vertOverflow="overflow" vert="horz" wrap="square" rtlCol="0" anchor="t">
            <a:spAutoFit/>
          </a:bodyPr>
          <a:lstStyle/>
          <a:p>
            <a:pPr algn="l"/>
            <a:r>
              <a:rPr lang="en-US" altLang="ja-JP" sz="1400">
                <a:solidFill>
                  <a:srgbClr val="3D3D3D"/>
                </a:solidFill>
                <a:latin typeface="BIZ UDPGothic"/>
                <a:ea typeface="BIZ UDPGothic"/>
              </a:rPr>
              <a:t>train.csv</a:t>
            </a:r>
            <a:r>
              <a:rPr lang="ja-JP" altLang="en-US" sz="1400">
                <a:solidFill>
                  <a:srgbClr val="3D3D3D"/>
                </a:solidFill>
                <a:latin typeface="BIZ UDPGothic"/>
                <a:ea typeface="BIZ UDPGothic"/>
              </a:rPr>
              <a:t>を用いた離職要因分析</a:t>
            </a:r>
          </a:p>
        </p:txBody>
      </p:sp>
      <p:sp>
        <p:nvSpPr>
          <p:cNvPr id="6" name="楕円 5">
            <a:extLst>
              <a:ext uri="{FF2B5EF4-FFF2-40B4-BE49-F238E27FC236}">
                <a16:creationId xmlns:a16="http://schemas.microsoft.com/office/drawing/2014/main" id="{8FC0EB51-168E-463F-B870-D967DF52E078}"/>
              </a:ext>
            </a:extLst>
          </p:cNvPr>
          <p:cNvSpPr/>
          <p:nvPr/>
        </p:nvSpPr>
        <p:spPr>
          <a:xfrm>
            <a:off x="635000" y="2476500"/>
            <a:ext cx="254000" cy="254000"/>
          </a:xfrm>
          <a:prstGeom prst="ellipse">
            <a:avLst/>
          </a:prstGeom>
          <a:solidFill>
            <a:srgbClr val="4A7A4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1400">
                <a:solidFill>
                  <a:srgbClr val="FFFFFF"/>
                </a:solidFill>
              </a:rPr>
              <a:t>✓</a:t>
            </a:r>
          </a:p>
        </p:txBody>
      </p:sp>
      <p:sp>
        <p:nvSpPr>
          <p:cNvPr id="7" name="テキスト ボックス 6">
            <a:extLst>
              <a:ext uri="{FF2B5EF4-FFF2-40B4-BE49-F238E27FC236}">
                <a16:creationId xmlns:a16="http://schemas.microsoft.com/office/drawing/2014/main" id="{EC9A1B95-FF06-4DA3-AA7C-8DFD5644A3F1}"/>
              </a:ext>
            </a:extLst>
          </p:cNvPr>
          <p:cNvSpPr txBox="1"/>
          <p:nvPr/>
        </p:nvSpPr>
        <p:spPr>
          <a:xfrm>
            <a:off x="990600" y="2425700"/>
            <a:ext cx="4775200" cy="431800"/>
          </a:xfrm>
          <a:prstGeom prst="rect">
            <a:avLst/>
          </a:prstGeom>
          <a:noFill/>
        </p:spPr>
        <p:txBody>
          <a:bodyPr vertOverflow="overflow" vert="horz" wrap="square" rtlCol="0" anchor="t">
            <a:spAutoFit/>
          </a:bodyPr>
          <a:lstStyle/>
          <a:p>
            <a:pPr algn="l"/>
            <a:r>
              <a:rPr lang="en-US" altLang="ja-JP" sz="1400">
                <a:solidFill>
                  <a:srgbClr val="3D3D3D"/>
                </a:solidFill>
                <a:latin typeface="BIZ UDPGothic"/>
                <a:ea typeface="BIZ UDPGothic"/>
              </a:rPr>
              <a:t>Attrition</a:t>
            </a:r>
            <a:r>
              <a:rPr lang="ja-JP" altLang="en-US" sz="1400">
                <a:solidFill>
                  <a:srgbClr val="3D3D3D"/>
                </a:solidFill>
                <a:latin typeface="BIZ UDPGothic"/>
                <a:ea typeface="BIZ UDPGothic"/>
              </a:rPr>
              <a:t>を目的変数とした二値分類の初期モデル作成</a:t>
            </a:r>
          </a:p>
        </p:txBody>
      </p:sp>
      <p:sp>
        <p:nvSpPr>
          <p:cNvPr id="8" name="楕円 7">
            <a:extLst>
              <a:ext uri="{FF2B5EF4-FFF2-40B4-BE49-F238E27FC236}">
                <a16:creationId xmlns:a16="http://schemas.microsoft.com/office/drawing/2014/main" id="{4059075A-547D-4750-BF3B-E6A849C440CF}"/>
              </a:ext>
            </a:extLst>
          </p:cNvPr>
          <p:cNvSpPr/>
          <p:nvPr/>
        </p:nvSpPr>
        <p:spPr>
          <a:xfrm>
            <a:off x="635000" y="2984500"/>
            <a:ext cx="254000" cy="254000"/>
          </a:xfrm>
          <a:prstGeom prst="ellipse">
            <a:avLst/>
          </a:prstGeom>
          <a:solidFill>
            <a:srgbClr val="4A7A4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1400">
                <a:solidFill>
                  <a:srgbClr val="FFFFFF"/>
                </a:solidFill>
              </a:rPr>
              <a:t>✓</a:t>
            </a:r>
          </a:p>
        </p:txBody>
      </p:sp>
      <p:sp>
        <p:nvSpPr>
          <p:cNvPr id="9" name="テキスト ボックス 8">
            <a:extLst>
              <a:ext uri="{FF2B5EF4-FFF2-40B4-BE49-F238E27FC236}">
                <a16:creationId xmlns:a16="http://schemas.microsoft.com/office/drawing/2014/main" id="{94358DD7-2B05-4547-81C0-7551C7E64B7D}"/>
              </a:ext>
            </a:extLst>
          </p:cNvPr>
          <p:cNvSpPr txBox="1"/>
          <p:nvPr/>
        </p:nvSpPr>
        <p:spPr>
          <a:xfrm>
            <a:off x="990600" y="2933700"/>
            <a:ext cx="4775200" cy="4318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変数分布、クロス集計、関連性確認を含む</a:t>
            </a:r>
            <a:r>
              <a:rPr lang="en-US" altLang="ja-JP" sz="1400">
                <a:solidFill>
                  <a:srgbClr val="3D3D3D"/>
                </a:solidFill>
                <a:latin typeface="BIZ UDPGothic"/>
                <a:ea typeface="BIZ UDPGothic"/>
              </a:rPr>
              <a:t>EDA</a:t>
            </a:r>
            <a:endParaRPr lang="ja-JP" altLang="en-US" sz="1400">
              <a:solidFill>
                <a:srgbClr val="3D3D3D"/>
              </a:solidFill>
              <a:latin typeface="BIZ UDPGothic"/>
              <a:ea typeface="BIZ UDPGothic"/>
            </a:endParaRPr>
          </a:p>
        </p:txBody>
      </p:sp>
      <p:sp>
        <p:nvSpPr>
          <p:cNvPr id="10" name="楕円 9">
            <a:extLst>
              <a:ext uri="{FF2B5EF4-FFF2-40B4-BE49-F238E27FC236}">
                <a16:creationId xmlns:a16="http://schemas.microsoft.com/office/drawing/2014/main" id="{813AAE29-12AE-477F-BABE-1E8463CA3772}"/>
              </a:ext>
            </a:extLst>
          </p:cNvPr>
          <p:cNvSpPr/>
          <p:nvPr/>
        </p:nvSpPr>
        <p:spPr>
          <a:xfrm>
            <a:off x="635000" y="3492500"/>
            <a:ext cx="254000" cy="254000"/>
          </a:xfrm>
          <a:prstGeom prst="ellipse">
            <a:avLst/>
          </a:prstGeom>
          <a:solidFill>
            <a:srgbClr val="4A7A4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1400">
                <a:solidFill>
                  <a:srgbClr val="FFFFFF"/>
                </a:solidFill>
              </a:rPr>
              <a:t>✓</a:t>
            </a:r>
          </a:p>
        </p:txBody>
      </p:sp>
      <p:sp>
        <p:nvSpPr>
          <p:cNvPr id="11" name="テキスト ボックス 10">
            <a:extLst>
              <a:ext uri="{FF2B5EF4-FFF2-40B4-BE49-F238E27FC236}">
                <a16:creationId xmlns:a16="http://schemas.microsoft.com/office/drawing/2014/main" id="{F06F49B9-B1BB-4AF3-8913-0DE6357AA40B}"/>
              </a:ext>
            </a:extLst>
          </p:cNvPr>
          <p:cNvSpPr txBox="1"/>
          <p:nvPr/>
        </p:nvSpPr>
        <p:spPr>
          <a:xfrm>
            <a:off x="990600" y="3441700"/>
            <a:ext cx="4775200" cy="4318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離職高リスク層の特徴整理</a:t>
            </a:r>
          </a:p>
        </p:txBody>
      </p:sp>
      <p:sp>
        <p:nvSpPr>
          <p:cNvPr id="12" name="楕円 11">
            <a:extLst>
              <a:ext uri="{FF2B5EF4-FFF2-40B4-BE49-F238E27FC236}">
                <a16:creationId xmlns:a16="http://schemas.microsoft.com/office/drawing/2014/main" id="{E3DBA2B4-40E2-4716-A358-05E4F1DDBAC4}"/>
              </a:ext>
            </a:extLst>
          </p:cNvPr>
          <p:cNvSpPr/>
          <p:nvPr/>
        </p:nvSpPr>
        <p:spPr>
          <a:xfrm>
            <a:off x="635000" y="4000500"/>
            <a:ext cx="254000" cy="254000"/>
          </a:xfrm>
          <a:prstGeom prst="ellipse">
            <a:avLst/>
          </a:prstGeom>
          <a:solidFill>
            <a:srgbClr val="4A7A4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1400">
                <a:solidFill>
                  <a:srgbClr val="FFFFFF"/>
                </a:solidFill>
              </a:rPr>
              <a:t>✓</a:t>
            </a:r>
          </a:p>
        </p:txBody>
      </p:sp>
      <p:sp>
        <p:nvSpPr>
          <p:cNvPr id="13" name="テキスト ボックス 12">
            <a:extLst>
              <a:ext uri="{FF2B5EF4-FFF2-40B4-BE49-F238E27FC236}">
                <a16:creationId xmlns:a16="http://schemas.microsoft.com/office/drawing/2014/main" id="{2761095E-8A42-443C-A665-2D53827F6950}"/>
              </a:ext>
            </a:extLst>
          </p:cNvPr>
          <p:cNvSpPr txBox="1"/>
          <p:nvPr/>
        </p:nvSpPr>
        <p:spPr>
          <a:xfrm>
            <a:off x="990600" y="3949700"/>
            <a:ext cx="4775200" cy="4318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人事施策に接続する仮説整理</a:t>
            </a:r>
          </a:p>
        </p:txBody>
      </p:sp>
      <p:sp>
        <p:nvSpPr>
          <p:cNvPr id="14" name="楕円 13">
            <a:extLst>
              <a:ext uri="{FF2B5EF4-FFF2-40B4-BE49-F238E27FC236}">
                <a16:creationId xmlns:a16="http://schemas.microsoft.com/office/drawing/2014/main" id="{A48EAAF6-190F-47B0-87AF-CDFCADC81BE7}"/>
              </a:ext>
            </a:extLst>
          </p:cNvPr>
          <p:cNvSpPr/>
          <p:nvPr/>
        </p:nvSpPr>
        <p:spPr>
          <a:xfrm>
            <a:off x="635000" y="4508500"/>
            <a:ext cx="254000" cy="254000"/>
          </a:xfrm>
          <a:prstGeom prst="ellipse">
            <a:avLst/>
          </a:prstGeom>
          <a:solidFill>
            <a:srgbClr val="4A7A4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1400">
                <a:solidFill>
                  <a:srgbClr val="FFFFFF"/>
                </a:solidFill>
              </a:rPr>
              <a:t>✓</a:t>
            </a:r>
          </a:p>
        </p:txBody>
      </p:sp>
      <p:sp>
        <p:nvSpPr>
          <p:cNvPr id="15" name="テキスト ボックス 14">
            <a:extLst>
              <a:ext uri="{FF2B5EF4-FFF2-40B4-BE49-F238E27FC236}">
                <a16:creationId xmlns:a16="http://schemas.microsoft.com/office/drawing/2014/main" id="{4E6B0016-1037-4739-8E61-C7DE10248AC6}"/>
              </a:ext>
            </a:extLst>
          </p:cNvPr>
          <p:cNvSpPr txBox="1"/>
          <p:nvPr/>
        </p:nvSpPr>
        <p:spPr>
          <a:xfrm>
            <a:off x="990600" y="4457700"/>
            <a:ext cx="4775200" cy="4318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公平性・属性利用上の留意点整理</a:t>
            </a:r>
          </a:p>
        </p:txBody>
      </p:sp>
      <p:sp>
        <p:nvSpPr>
          <p:cNvPr id="16" name="楕円 15">
            <a:extLst>
              <a:ext uri="{FF2B5EF4-FFF2-40B4-BE49-F238E27FC236}">
                <a16:creationId xmlns:a16="http://schemas.microsoft.com/office/drawing/2014/main" id="{4C0BD3D4-CE3A-46F6-AB60-60F3F233630D}"/>
              </a:ext>
            </a:extLst>
          </p:cNvPr>
          <p:cNvSpPr/>
          <p:nvPr/>
        </p:nvSpPr>
        <p:spPr>
          <a:xfrm>
            <a:off x="635000" y="5016500"/>
            <a:ext cx="254000" cy="254000"/>
          </a:xfrm>
          <a:prstGeom prst="ellipse">
            <a:avLst/>
          </a:prstGeom>
          <a:solidFill>
            <a:srgbClr val="4A7A4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1400">
                <a:solidFill>
                  <a:srgbClr val="FFFFFF"/>
                </a:solidFill>
              </a:rPr>
              <a:t>✓</a:t>
            </a:r>
          </a:p>
        </p:txBody>
      </p:sp>
      <p:sp>
        <p:nvSpPr>
          <p:cNvPr id="17" name="テキスト ボックス 16">
            <a:extLst>
              <a:ext uri="{FF2B5EF4-FFF2-40B4-BE49-F238E27FC236}">
                <a16:creationId xmlns:a16="http://schemas.microsoft.com/office/drawing/2014/main" id="{20D69B83-A520-4FBC-AEC3-1EFC509EC885}"/>
              </a:ext>
            </a:extLst>
          </p:cNvPr>
          <p:cNvSpPr txBox="1"/>
          <p:nvPr/>
        </p:nvSpPr>
        <p:spPr>
          <a:xfrm>
            <a:off x="990600" y="4965700"/>
            <a:ext cx="4775200" cy="4318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中間報告書および最終報告書の作成</a:t>
            </a:r>
          </a:p>
        </p:txBody>
      </p:sp>
      <p:sp>
        <p:nvSpPr>
          <p:cNvPr id="18" name="楕円 17">
            <a:extLst>
              <a:ext uri="{FF2B5EF4-FFF2-40B4-BE49-F238E27FC236}">
                <a16:creationId xmlns:a16="http://schemas.microsoft.com/office/drawing/2014/main" id="{8605DAF5-CD17-4486-A56D-B9A546C7A786}"/>
              </a:ext>
            </a:extLst>
          </p:cNvPr>
          <p:cNvSpPr/>
          <p:nvPr/>
        </p:nvSpPr>
        <p:spPr>
          <a:xfrm>
            <a:off x="635000" y="5524500"/>
            <a:ext cx="254000" cy="254000"/>
          </a:xfrm>
          <a:prstGeom prst="ellipse">
            <a:avLst/>
          </a:prstGeom>
          <a:solidFill>
            <a:srgbClr val="4A7A4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1400">
                <a:solidFill>
                  <a:srgbClr val="FFFFFF"/>
                </a:solidFill>
              </a:rPr>
              <a:t>✓</a:t>
            </a:r>
          </a:p>
        </p:txBody>
      </p:sp>
      <p:sp>
        <p:nvSpPr>
          <p:cNvPr id="19" name="テキスト ボックス 18">
            <a:extLst>
              <a:ext uri="{FF2B5EF4-FFF2-40B4-BE49-F238E27FC236}">
                <a16:creationId xmlns:a16="http://schemas.microsoft.com/office/drawing/2014/main" id="{C1922F86-BCA7-4FC9-8197-EE24D782B5C8}"/>
              </a:ext>
            </a:extLst>
          </p:cNvPr>
          <p:cNvSpPr txBox="1"/>
          <p:nvPr/>
        </p:nvSpPr>
        <p:spPr>
          <a:xfrm>
            <a:off x="990600" y="5473700"/>
            <a:ext cx="4775200" cy="4318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議事録、スケジュール管理、レビュー運営</a:t>
            </a:r>
          </a:p>
        </p:txBody>
      </p:sp>
      <p:sp>
        <p:nvSpPr>
          <p:cNvPr id="20" name="四角形: 角を丸くする 19">
            <a:extLst>
              <a:ext uri="{FF2B5EF4-FFF2-40B4-BE49-F238E27FC236}">
                <a16:creationId xmlns:a16="http://schemas.microsoft.com/office/drawing/2014/main" id="{5FD576AA-3404-4697-8CA0-4922DC1C448F}"/>
              </a:ext>
            </a:extLst>
          </p:cNvPr>
          <p:cNvSpPr/>
          <p:nvPr/>
        </p:nvSpPr>
        <p:spPr>
          <a:xfrm>
            <a:off x="6350000" y="1397000"/>
            <a:ext cx="5334000" cy="406400"/>
          </a:xfrm>
          <a:prstGeom prst="round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500" b="1">
                <a:solidFill>
                  <a:srgbClr val="FFFFFF"/>
                </a:solidFill>
                <a:latin typeface="BIZ UDPGothic"/>
                <a:ea typeface="BIZ UDPGothic"/>
              </a:rPr>
              <a:t>スコープ外</a:t>
            </a:r>
          </a:p>
        </p:txBody>
      </p:sp>
      <p:sp>
        <p:nvSpPr>
          <p:cNvPr id="21" name="楕円 20">
            <a:extLst>
              <a:ext uri="{FF2B5EF4-FFF2-40B4-BE49-F238E27FC236}">
                <a16:creationId xmlns:a16="http://schemas.microsoft.com/office/drawing/2014/main" id="{C6F5FD28-CD73-4111-85D9-3A8A432C1532}"/>
              </a:ext>
            </a:extLst>
          </p:cNvPr>
          <p:cNvSpPr/>
          <p:nvPr/>
        </p:nvSpPr>
        <p:spPr>
          <a:xfrm>
            <a:off x="6477000" y="1968500"/>
            <a:ext cx="254000" cy="254000"/>
          </a:xfrm>
          <a:prstGeom prst="ellips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400">
                <a:solidFill>
                  <a:srgbClr val="FFFFFF"/>
                </a:solidFill>
              </a:rPr>
              <a:t>×</a:t>
            </a:r>
            <a:endParaRPr lang="ja-JP" altLang="en-US" sz="1400">
              <a:solidFill>
                <a:srgbClr val="FFFFFF"/>
              </a:solidFill>
            </a:endParaRPr>
          </a:p>
        </p:txBody>
      </p:sp>
      <p:sp>
        <p:nvSpPr>
          <p:cNvPr id="22" name="テキスト ボックス 21">
            <a:extLst>
              <a:ext uri="{FF2B5EF4-FFF2-40B4-BE49-F238E27FC236}">
                <a16:creationId xmlns:a16="http://schemas.microsoft.com/office/drawing/2014/main" id="{6E14C598-6DEA-44C3-B498-61716950D917}"/>
              </a:ext>
            </a:extLst>
          </p:cNvPr>
          <p:cNvSpPr txBox="1"/>
          <p:nvPr/>
        </p:nvSpPr>
        <p:spPr>
          <a:xfrm>
            <a:off x="6832600" y="1917700"/>
            <a:ext cx="4775200" cy="4318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本番システム実装、</a:t>
            </a:r>
            <a:r>
              <a:rPr lang="en-US" altLang="ja-JP" sz="1400">
                <a:solidFill>
                  <a:srgbClr val="3D3D3D"/>
                </a:solidFill>
                <a:latin typeface="BIZ UDPGothic"/>
                <a:ea typeface="BIZ UDPGothic"/>
              </a:rPr>
              <a:t>API</a:t>
            </a:r>
            <a:r>
              <a:rPr lang="ja-JP" altLang="en-US" sz="1400">
                <a:solidFill>
                  <a:srgbClr val="3D3D3D"/>
                </a:solidFill>
                <a:latin typeface="BIZ UDPGothic"/>
                <a:ea typeface="BIZ UDPGothic"/>
              </a:rPr>
              <a:t>化、バッチ運用化</a:t>
            </a:r>
          </a:p>
        </p:txBody>
      </p:sp>
      <p:sp>
        <p:nvSpPr>
          <p:cNvPr id="23" name="楕円 22">
            <a:extLst>
              <a:ext uri="{FF2B5EF4-FFF2-40B4-BE49-F238E27FC236}">
                <a16:creationId xmlns:a16="http://schemas.microsoft.com/office/drawing/2014/main" id="{71FCE4CE-9597-4234-B3CB-FFBE455EEA01}"/>
              </a:ext>
            </a:extLst>
          </p:cNvPr>
          <p:cNvSpPr/>
          <p:nvPr/>
        </p:nvSpPr>
        <p:spPr>
          <a:xfrm>
            <a:off x="6477000" y="2476500"/>
            <a:ext cx="254000" cy="254000"/>
          </a:xfrm>
          <a:prstGeom prst="ellips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400">
                <a:solidFill>
                  <a:srgbClr val="FFFFFF"/>
                </a:solidFill>
              </a:rPr>
              <a:t>×</a:t>
            </a:r>
            <a:endParaRPr lang="ja-JP" altLang="en-US" sz="1400">
              <a:solidFill>
                <a:srgbClr val="FFFFFF"/>
              </a:solidFill>
            </a:endParaRPr>
          </a:p>
        </p:txBody>
      </p:sp>
      <p:sp>
        <p:nvSpPr>
          <p:cNvPr id="24" name="テキスト ボックス 23">
            <a:extLst>
              <a:ext uri="{FF2B5EF4-FFF2-40B4-BE49-F238E27FC236}">
                <a16:creationId xmlns:a16="http://schemas.microsoft.com/office/drawing/2014/main" id="{CA0E516A-89D2-4E4E-BC3D-08AEF8231FDD}"/>
              </a:ext>
            </a:extLst>
          </p:cNvPr>
          <p:cNvSpPr txBox="1"/>
          <p:nvPr/>
        </p:nvSpPr>
        <p:spPr>
          <a:xfrm>
            <a:off x="6832600" y="2425700"/>
            <a:ext cx="4775200" cy="4318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人事システムとのデータ連携開発</a:t>
            </a:r>
          </a:p>
        </p:txBody>
      </p:sp>
      <p:sp>
        <p:nvSpPr>
          <p:cNvPr id="25" name="楕円 24">
            <a:extLst>
              <a:ext uri="{FF2B5EF4-FFF2-40B4-BE49-F238E27FC236}">
                <a16:creationId xmlns:a16="http://schemas.microsoft.com/office/drawing/2014/main" id="{D98235F1-0C24-4854-86AC-E957ABA7680C}"/>
              </a:ext>
            </a:extLst>
          </p:cNvPr>
          <p:cNvSpPr/>
          <p:nvPr/>
        </p:nvSpPr>
        <p:spPr>
          <a:xfrm>
            <a:off x="6477000" y="2984500"/>
            <a:ext cx="254000" cy="254000"/>
          </a:xfrm>
          <a:prstGeom prst="ellips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400">
                <a:solidFill>
                  <a:srgbClr val="FFFFFF"/>
                </a:solidFill>
              </a:rPr>
              <a:t>×</a:t>
            </a:r>
            <a:endParaRPr lang="ja-JP" altLang="en-US" sz="1400">
              <a:solidFill>
                <a:srgbClr val="FFFFFF"/>
              </a:solidFill>
            </a:endParaRPr>
          </a:p>
        </p:txBody>
      </p:sp>
      <p:sp>
        <p:nvSpPr>
          <p:cNvPr id="26" name="テキスト ボックス 25">
            <a:extLst>
              <a:ext uri="{FF2B5EF4-FFF2-40B4-BE49-F238E27FC236}">
                <a16:creationId xmlns:a16="http://schemas.microsoft.com/office/drawing/2014/main" id="{80554010-8EED-498B-810A-A27A4340BAE7}"/>
              </a:ext>
            </a:extLst>
          </p:cNvPr>
          <p:cNvSpPr txBox="1"/>
          <p:nvPr/>
        </p:nvSpPr>
        <p:spPr>
          <a:xfrm>
            <a:off x="6832600" y="2933700"/>
            <a:ext cx="4775200" cy="4318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個人単位の処遇決定、自動査定への利用</a:t>
            </a:r>
          </a:p>
        </p:txBody>
      </p:sp>
      <p:sp>
        <p:nvSpPr>
          <p:cNvPr id="27" name="楕円 26">
            <a:extLst>
              <a:ext uri="{FF2B5EF4-FFF2-40B4-BE49-F238E27FC236}">
                <a16:creationId xmlns:a16="http://schemas.microsoft.com/office/drawing/2014/main" id="{F50DB4D8-E07E-4D0F-B58F-E63668D46C3D}"/>
              </a:ext>
            </a:extLst>
          </p:cNvPr>
          <p:cNvSpPr/>
          <p:nvPr/>
        </p:nvSpPr>
        <p:spPr>
          <a:xfrm>
            <a:off x="6477000" y="3492500"/>
            <a:ext cx="254000" cy="254000"/>
          </a:xfrm>
          <a:prstGeom prst="ellips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400">
                <a:solidFill>
                  <a:srgbClr val="FFFFFF"/>
                </a:solidFill>
              </a:rPr>
              <a:t>×</a:t>
            </a:r>
            <a:endParaRPr lang="ja-JP" altLang="en-US" sz="1400">
              <a:solidFill>
                <a:srgbClr val="FFFFFF"/>
              </a:solidFill>
            </a:endParaRPr>
          </a:p>
        </p:txBody>
      </p:sp>
      <p:sp>
        <p:nvSpPr>
          <p:cNvPr id="28" name="テキスト ボックス 27">
            <a:extLst>
              <a:ext uri="{FF2B5EF4-FFF2-40B4-BE49-F238E27FC236}">
                <a16:creationId xmlns:a16="http://schemas.microsoft.com/office/drawing/2014/main" id="{AC104257-242E-41B7-A167-BAF4225BBFB0}"/>
              </a:ext>
            </a:extLst>
          </p:cNvPr>
          <p:cNvSpPr txBox="1"/>
          <p:nvPr/>
        </p:nvSpPr>
        <p:spPr>
          <a:xfrm>
            <a:off x="6832600" y="3441700"/>
            <a:ext cx="4775200" cy="4318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法務判断、労務判断の代替</a:t>
            </a:r>
          </a:p>
        </p:txBody>
      </p:sp>
      <p:sp>
        <p:nvSpPr>
          <p:cNvPr id="29" name="楕円 28">
            <a:extLst>
              <a:ext uri="{FF2B5EF4-FFF2-40B4-BE49-F238E27FC236}">
                <a16:creationId xmlns:a16="http://schemas.microsoft.com/office/drawing/2014/main" id="{B8899074-5128-4341-A572-1AE7DC2EE5C8}"/>
              </a:ext>
            </a:extLst>
          </p:cNvPr>
          <p:cNvSpPr/>
          <p:nvPr/>
        </p:nvSpPr>
        <p:spPr>
          <a:xfrm>
            <a:off x="6477000" y="4000500"/>
            <a:ext cx="254000" cy="254000"/>
          </a:xfrm>
          <a:prstGeom prst="ellips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400">
                <a:solidFill>
                  <a:srgbClr val="FFFFFF"/>
                </a:solidFill>
              </a:rPr>
              <a:t>×</a:t>
            </a:r>
            <a:endParaRPr lang="ja-JP" altLang="en-US" sz="1400">
              <a:solidFill>
                <a:srgbClr val="FFFFFF"/>
              </a:solidFill>
            </a:endParaRPr>
          </a:p>
        </p:txBody>
      </p:sp>
      <p:sp>
        <p:nvSpPr>
          <p:cNvPr id="30" name="テキスト ボックス 29">
            <a:extLst>
              <a:ext uri="{FF2B5EF4-FFF2-40B4-BE49-F238E27FC236}">
                <a16:creationId xmlns:a16="http://schemas.microsoft.com/office/drawing/2014/main" id="{5C98524E-2624-4A6E-8FD9-65C8F1DF5701}"/>
              </a:ext>
            </a:extLst>
          </p:cNvPr>
          <p:cNvSpPr txBox="1"/>
          <p:nvPr/>
        </p:nvSpPr>
        <p:spPr>
          <a:xfrm>
            <a:off x="6832600" y="3949700"/>
            <a:ext cx="4775200" cy="431800"/>
          </a:xfrm>
          <a:prstGeom prst="rect">
            <a:avLst/>
          </a:prstGeom>
          <a:noFill/>
        </p:spPr>
        <p:txBody>
          <a:bodyPr vertOverflow="overflow" vert="horz" wrap="square" rtlCol="0" anchor="t">
            <a:spAutoFit/>
          </a:bodyPr>
          <a:lstStyle/>
          <a:p>
            <a:pPr algn="l"/>
            <a:r>
              <a:rPr lang="zh-TW" altLang="en-US" sz="1400">
                <a:solidFill>
                  <a:srgbClr val="3D3D3D"/>
                </a:solidFill>
                <a:latin typeface="BIZ UDPGothic"/>
                <a:ea typeface="BIZ UDPGothic"/>
              </a:rPr>
              <a:t>時系列予測、退職時期予測</a:t>
            </a:r>
            <a:endParaRPr lang="ja-JP" altLang="en-US" sz="1400">
              <a:solidFill>
                <a:srgbClr val="3D3D3D"/>
              </a:solidFill>
              <a:latin typeface="BIZ UDPGothic"/>
              <a:ea typeface="BIZ UDPGothic"/>
            </a:endParaRPr>
          </a:p>
        </p:txBody>
      </p:sp>
      <p:sp>
        <p:nvSpPr>
          <p:cNvPr id="31" name="楕円 30">
            <a:extLst>
              <a:ext uri="{FF2B5EF4-FFF2-40B4-BE49-F238E27FC236}">
                <a16:creationId xmlns:a16="http://schemas.microsoft.com/office/drawing/2014/main" id="{4C63C57A-375F-4966-860A-845235DCC65C}"/>
              </a:ext>
            </a:extLst>
          </p:cNvPr>
          <p:cNvSpPr/>
          <p:nvPr/>
        </p:nvSpPr>
        <p:spPr>
          <a:xfrm>
            <a:off x="6477000" y="4508500"/>
            <a:ext cx="254000" cy="254000"/>
          </a:xfrm>
          <a:prstGeom prst="ellips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400">
                <a:solidFill>
                  <a:srgbClr val="FFFFFF"/>
                </a:solidFill>
              </a:rPr>
              <a:t>×</a:t>
            </a:r>
            <a:endParaRPr lang="ja-JP" altLang="en-US" sz="1400">
              <a:solidFill>
                <a:srgbClr val="FFFFFF"/>
              </a:solidFill>
            </a:endParaRPr>
          </a:p>
        </p:txBody>
      </p:sp>
      <p:sp>
        <p:nvSpPr>
          <p:cNvPr id="32" name="テキスト ボックス 31">
            <a:extLst>
              <a:ext uri="{FF2B5EF4-FFF2-40B4-BE49-F238E27FC236}">
                <a16:creationId xmlns:a16="http://schemas.microsoft.com/office/drawing/2014/main" id="{A3167EF8-4163-48CA-8970-3C775A31CB63}"/>
              </a:ext>
            </a:extLst>
          </p:cNvPr>
          <p:cNvSpPr txBox="1"/>
          <p:nvPr/>
        </p:nvSpPr>
        <p:spPr>
          <a:xfrm>
            <a:off x="6832600" y="4457700"/>
            <a:ext cx="4775200" cy="431800"/>
          </a:xfrm>
          <a:prstGeom prst="rect">
            <a:avLst/>
          </a:prstGeom>
          <a:noFill/>
        </p:spPr>
        <p:txBody>
          <a:bodyPr vertOverflow="overflow" vert="horz" wrap="square" rtlCol="0" anchor="t">
            <a:spAutoFit/>
          </a:bodyPr>
          <a:lstStyle/>
          <a:p>
            <a:pPr algn="l"/>
            <a:r>
              <a:rPr lang="en-US" altLang="ja-JP" sz="1400">
                <a:solidFill>
                  <a:srgbClr val="3D3D3D"/>
                </a:solidFill>
                <a:latin typeface="BIZ UDPGothic"/>
                <a:ea typeface="BIZ UDPGothic"/>
              </a:rPr>
              <a:t>train.csv</a:t>
            </a:r>
            <a:r>
              <a:rPr lang="ja-JP" altLang="en-US" sz="1400">
                <a:solidFill>
                  <a:srgbClr val="3D3D3D"/>
                </a:solidFill>
                <a:latin typeface="BIZ UDPGothic"/>
                <a:ea typeface="BIZ UDPGothic"/>
              </a:rPr>
              <a:t>以外の追加データ分析</a:t>
            </a:r>
          </a:p>
        </p:txBody>
      </p:sp>
      <p:sp>
        <p:nvSpPr>
          <p:cNvPr id="33" name="楕円 32">
            <a:extLst>
              <a:ext uri="{FF2B5EF4-FFF2-40B4-BE49-F238E27FC236}">
                <a16:creationId xmlns:a16="http://schemas.microsoft.com/office/drawing/2014/main" id="{D3B15D4F-B29B-4CB6-94DD-F0F107D39480}"/>
              </a:ext>
            </a:extLst>
          </p:cNvPr>
          <p:cNvSpPr/>
          <p:nvPr/>
        </p:nvSpPr>
        <p:spPr>
          <a:xfrm>
            <a:off x="6477000" y="5016500"/>
            <a:ext cx="254000" cy="254000"/>
          </a:xfrm>
          <a:prstGeom prst="ellips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400">
                <a:solidFill>
                  <a:srgbClr val="FFFFFF"/>
                </a:solidFill>
              </a:rPr>
              <a:t>×</a:t>
            </a:r>
            <a:endParaRPr lang="ja-JP" altLang="en-US" sz="1400">
              <a:solidFill>
                <a:srgbClr val="FFFFFF"/>
              </a:solidFill>
            </a:endParaRPr>
          </a:p>
        </p:txBody>
      </p:sp>
      <p:sp>
        <p:nvSpPr>
          <p:cNvPr id="34" name="テキスト ボックス 33">
            <a:extLst>
              <a:ext uri="{FF2B5EF4-FFF2-40B4-BE49-F238E27FC236}">
                <a16:creationId xmlns:a16="http://schemas.microsoft.com/office/drawing/2014/main" id="{A36A9952-BC71-4C7E-AE0E-62E46108D710}"/>
              </a:ext>
            </a:extLst>
          </p:cNvPr>
          <p:cNvSpPr txBox="1"/>
          <p:nvPr/>
        </p:nvSpPr>
        <p:spPr>
          <a:xfrm>
            <a:off x="6832600" y="4965700"/>
            <a:ext cx="4775200" cy="4318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因果関係の断定</a:t>
            </a:r>
          </a:p>
        </p:txBody>
      </p:sp>
      <p:sp>
        <p:nvSpPr>
          <p:cNvPr id="35" name="楕円 34">
            <a:extLst>
              <a:ext uri="{FF2B5EF4-FFF2-40B4-BE49-F238E27FC236}">
                <a16:creationId xmlns:a16="http://schemas.microsoft.com/office/drawing/2014/main" id="{63B41D5B-4A6F-46EE-BF5C-D263CF77E529}"/>
              </a:ext>
            </a:extLst>
          </p:cNvPr>
          <p:cNvSpPr/>
          <p:nvPr/>
        </p:nvSpPr>
        <p:spPr>
          <a:xfrm>
            <a:off x="6477000" y="5524500"/>
            <a:ext cx="254000" cy="254000"/>
          </a:xfrm>
          <a:prstGeom prst="ellips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400">
                <a:solidFill>
                  <a:srgbClr val="FFFFFF"/>
                </a:solidFill>
              </a:rPr>
              <a:t>×</a:t>
            </a:r>
            <a:endParaRPr lang="ja-JP" altLang="en-US" sz="1400">
              <a:solidFill>
                <a:srgbClr val="FFFFFF"/>
              </a:solidFill>
            </a:endParaRPr>
          </a:p>
        </p:txBody>
      </p:sp>
      <p:sp>
        <p:nvSpPr>
          <p:cNvPr id="36" name="テキスト ボックス 35">
            <a:extLst>
              <a:ext uri="{FF2B5EF4-FFF2-40B4-BE49-F238E27FC236}">
                <a16:creationId xmlns:a16="http://schemas.microsoft.com/office/drawing/2014/main" id="{8708C4D3-3B5D-4830-9881-A5271347C7CA}"/>
              </a:ext>
            </a:extLst>
          </p:cNvPr>
          <p:cNvSpPr txBox="1"/>
          <p:nvPr/>
        </p:nvSpPr>
        <p:spPr>
          <a:xfrm>
            <a:off x="6832600" y="5473700"/>
            <a:ext cx="4775200" cy="4318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採用・配置・昇進・報酬ポリシーの最終決定</a:t>
            </a:r>
          </a:p>
        </p:txBody>
      </p:sp>
      <p:sp>
        <p:nvSpPr>
          <p:cNvPr id="37" name="テキスト ボックス 36">
            <a:extLst>
              <a:ext uri="{FF2B5EF4-FFF2-40B4-BE49-F238E27FC236}">
                <a16:creationId xmlns:a16="http://schemas.microsoft.com/office/drawing/2014/main" id="{BF6299EB-4F18-4984-BFED-AAC4698AB36F}"/>
              </a:ext>
            </a:extLst>
          </p:cNvPr>
          <p:cNvSpPr txBox="1"/>
          <p:nvPr/>
        </p:nvSpPr>
        <p:spPr>
          <a:xfrm>
            <a:off x="508000" y="254000"/>
            <a:ext cx="11176000" cy="508000"/>
          </a:xfrm>
          <a:prstGeom prst="rect">
            <a:avLst/>
          </a:prstGeom>
          <a:noFill/>
        </p:spPr>
        <p:txBody>
          <a:bodyPr vertOverflow="overflow" vert="horz" wrap="square" rtlCol="0" anchor="t">
            <a:noAutofit/>
          </a:bodyPr>
          <a:lstStyle/>
          <a:p>
            <a:pPr algn="l"/>
            <a:r>
              <a:rPr lang="en-US" altLang="ja-JP" sz="2400" b="1">
                <a:solidFill>
                  <a:srgbClr val="1A1A1A"/>
                </a:solidFill>
                <a:latin typeface="BIZ UDPGothic"/>
                <a:ea typeface="BIZ UDPGothic"/>
              </a:rPr>
              <a:t>2. </a:t>
            </a:r>
            <a:r>
              <a:rPr lang="ja-JP" altLang="en-US" sz="2400" b="1">
                <a:solidFill>
                  <a:srgbClr val="1A1A1A"/>
                </a:solidFill>
                <a:latin typeface="BIZ UDPGothic"/>
                <a:ea typeface="BIZ UDPGothic"/>
              </a:rPr>
              <a:t>スコープ</a:t>
            </a:r>
          </a:p>
        </p:txBody>
      </p:sp>
      <p:sp>
        <p:nvSpPr>
          <p:cNvPr id="38" name="正方形/長方形 37">
            <a:extLst>
              <a:ext uri="{FF2B5EF4-FFF2-40B4-BE49-F238E27FC236}">
                <a16:creationId xmlns:a16="http://schemas.microsoft.com/office/drawing/2014/main" id="{D51D8D0C-8797-4354-B444-505767456F7B}"/>
              </a:ext>
            </a:extLst>
          </p:cNvPr>
          <p:cNvSpPr/>
          <p:nvPr/>
        </p:nvSpPr>
        <p:spPr>
          <a:xfrm>
            <a:off x="508000" y="787400"/>
            <a:ext cx="1270000" cy="38100"/>
          </a:xfrm>
          <a:prstGeom prst="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Tree>
    <p:extLst>
      <p:ext uri="{BB962C8B-B14F-4D97-AF65-F5344CB8AC3E}">
        <p14:creationId xmlns:p14="http://schemas.microsoft.com/office/powerpoint/2010/main" val="1641718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5DA5631F-C819-4F82-BCCD-0F3EC88921EB}"/>
              </a:ext>
            </a:extLst>
          </p:cNvPr>
          <p:cNvGraphicFramePr>
            <a:graphicFrameLocks noGrp="1"/>
          </p:cNvGraphicFramePr>
          <p:nvPr>
            <p:extLst>
              <p:ext uri="{D42A27DB-BD31-4B8C-83A1-F6EECF244321}">
                <p14:modId xmlns:p14="http://schemas.microsoft.com/office/powerpoint/2010/main" val="2524992278"/>
              </p:ext>
            </p:extLst>
          </p:nvPr>
        </p:nvGraphicFramePr>
        <p:xfrm>
          <a:off x="508000" y="1397000"/>
          <a:ext cx="11176000" cy="4953000"/>
        </p:xfrm>
        <a:graphic>
          <a:graphicData uri="http://schemas.openxmlformats.org/drawingml/2006/table">
            <a:tbl>
              <a:tblPr firstRow="1" bandRow="1">
                <a:tableStyleId>{5C22544A-7EE6-4342-B048-85BDC9FD1C3A}</a:tableStyleId>
              </a:tblPr>
              <a:tblGrid>
                <a:gridCol w="1778000">
                  <a:extLst>
                    <a:ext uri="{9D8B030D-6E8A-4147-A177-3AD203B41FA5}">
                      <a16:colId xmlns:a16="http://schemas.microsoft.com/office/drawing/2014/main" val="789277842"/>
                    </a:ext>
                  </a:extLst>
                </a:gridCol>
                <a:gridCol w="2540000">
                  <a:extLst>
                    <a:ext uri="{9D8B030D-6E8A-4147-A177-3AD203B41FA5}">
                      <a16:colId xmlns:a16="http://schemas.microsoft.com/office/drawing/2014/main" val="1594313593"/>
                    </a:ext>
                  </a:extLst>
                </a:gridCol>
                <a:gridCol w="6858000">
                  <a:extLst>
                    <a:ext uri="{9D8B030D-6E8A-4147-A177-3AD203B41FA5}">
                      <a16:colId xmlns:a16="http://schemas.microsoft.com/office/drawing/2014/main" val="2373865285"/>
                    </a:ext>
                  </a:extLst>
                </a:gridCol>
              </a:tblGrid>
              <a:tr h="412750">
                <a:tc>
                  <a:txBody>
                    <a:bodyPr/>
                    <a:lstStyle/>
                    <a:p>
                      <a:pPr algn="ctr"/>
                      <a:r>
                        <a:rPr lang="ja-JP" altLang="en-US" sz="1400" b="1">
                          <a:solidFill>
                            <a:srgbClr val="FFFFFF"/>
                          </a:solidFill>
                          <a:latin typeface="BIZ UDPGothic"/>
                          <a:ea typeface="BIZ UDPGothic"/>
                        </a:rPr>
                        <a:t>日付</a:t>
                      </a:r>
                    </a:p>
                  </a:txBody>
                  <a:tcPr anchor="ctr">
                    <a:solidFill>
                      <a:srgbClr val="8B3A2F"/>
                    </a:solidFill>
                  </a:tcPr>
                </a:tc>
                <a:tc>
                  <a:txBody>
                    <a:bodyPr/>
                    <a:lstStyle/>
                    <a:p>
                      <a:pPr algn="ctr"/>
                      <a:r>
                        <a:rPr lang="ja-JP" altLang="en-US" sz="1400" b="1">
                          <a:solidFill>
                            <a:srgbClr val="FFFFFF"/>
                          </a:solidFill>
                          <a:latin typeface="BIZ UDPGothic"/>
                          <a:ea typeface="BIZ UDPGothic"/>
                        </a:rPr>
                        <a:t>マイルストーン</a:t>
                      </a:r>
                    </a:p>
                  </a:txBody>
                  <a:tcPr anchor="ctr">
                    <a:solidFill>
                      <a:srgbClr val="8B3A2F"/>
                    </a:solidFill>
                  </a:tcPr>
                </a:tc>
                <a:tc>
                  <a:txBody>
                    <a:bodyPr/>
                    <a:lstStyle/>
                    <a:p>
                      <a:pPr algn="ctr"/>
                      <a:r>
                        <a:rPr lang="ja-JP" altLang="en-US" sz="1400" b="1">
                          <a:solidFill>
                            <a:srgbClr val="FFFFFF"/>
                          </a:solidFill>
                          <a:latin typeface="BIZ UDPGothic"/>
                          <a:ea typeface="BIZ UDPGothic"/>
                        </a:rPr>
                        <a:t>内容</a:t>
                      </a:r>
                    </a:p>
                  </a:txBody>
                  <a:tcPr anchor="ctr">
                    <a:solidFill>
                      <a:srgbClr val="8B3A2F"/>
                    </a:solidFill>
                  </a:tcPr>
                </a:tc>
                <a:extLst>
                  <a:ext uri="{0D108BD9-81ED-4DB2-BD59-A6C34878D82A}">
                    <a16:rowId xmlns:a16="http://schemas.microsoft.com/office/drawing/2014/main" val="2332022533"/>
                  </a:ext>
                </a:extLst>
              </a:tr>
              <a:tr h="412750">
                <a:tc>
                  <a:txBody>
                    <a:bodyPr/>
                    <a:lstStyle/>
                    <a:p>
                      <a:pPr algn="ctr"/>
                      <a:r>
                        <a:rPr lang="ja-JP" altLang="en-US" sz="1400" b="1">
                          <a:solidFill>
                            <a:srgbClr val="8B3A2F"/>
                          </a:solidFill>
                          <a:latin typeface="BIZ UDPGothic"/>
                          <a:ea typeface="BIZ UDPGothic"/>
                        </a:rPr>
                        <a:t>06-23</a:t>
                      </a:r>
                    </a:p>
                  </a:txBody>
                  <a:tcPr anchor="ctr"/>
                </a:tc>
                <a:tc>
                  <a:txBody>
                    <a:bodyPr/>
                    <a:lstStyle/>
                    <a:p>
                      <a:pPr algn="ctr"/>
                      <a:r>
                        <a:rPr lang="ja-JP" altLang="en-US" sz="1400" b="1">
                          <a:solidFill>
                            <a:srgbClr val="8B3A2F"/>
                          </a:solidFill>
                          <a:latin typeface="BIZ UDPGothic"/>
                          <a:ea typeface="BIZ UDPGothic"/>
                        </a:rPr>
                        <a:t>M01 / MS1</a:t>
                      </a:r>
                    </a:p>
                  </a:txBody>
                  <a:tcPr anchor="ctr"/>
                </a:tc>
                <a:tc>
                  <a:txBody>
                    <a:bodyPr/>
                    <a:lstStyle/>
                    <a:p>
                      <a:pPr algn="l"/>
                      <a:r>
                        <a:rPr lang="ja-JP" altLang="en-US" sz="1400" b="1">
                          <a:solidFill>
                            <a:srgbClr val="8B3A2F"/>
                          </a:solidFill>
                          <a:latin typeface="BIZ UDPGothic"/>
                          <a:ea typeface="BIZ UDPGothic"/>
                        </a:rPr>
                        <a:t>契約開始・キックオフ</a:t>
                      </a:r>
                    </a:p>
                  </a:txBody>
                  <a:tcPr anchor="ctr"/>
                </a:tc>
                <a:extLst>
                  <a:ext uri="{0D108BD9-81ED-4DB2-BD59-A6C34878D82A}">
                    <a16:rowId xmlns:a16="http://schemas.microsoft.com/office/drawing/2014/main" val="2712679103"/>
                  </a:ext>
                </a:extLst>
              </a:tr>
              <a:tr h="412750">
                <a:tc>
                  <a:txBody>
                    <a:bodyPr/>
                    <a:lstStyle/>
                    <a:p>
                      <a:pPr algn="ctr"/>
                      <a:r>
                        <a:rPr lang="ja-JP" altLang="en-US" sz="1400">
                          <a:solidFill>
                            <a:srgbClr val="3D3D3D"/>
                          </a:solidFill>
                          <a:latin typeface="BIZ UDPGothic"/>
                          <a:ea typeface="BIZ UDPGothic"/>
                        </a:rPr>
                        <a:t>06-24〜26</a:t>
                      </a:r>
                    </a:p>
                  </a:txBody>
                  <a:tcPr anchor="ctr">
                    <a:solidFill>
                      <a:srgbClr val="F2F0ED"/>
                    </a:solidFill>
                  </a:tcPr>
                </a:tc>
                <a:tc>
                  <a:txBody>
                    <a:bodyPr/>
                    <a:lstStyle/>
                    <a:p>
                      <a:pPr algn="ctr"/>
                      <a:r>
                        <a:rPr lang="ja-JP" altLang="en-US" sz="1400">
                          <a:solidFill>
                            <a:srgbClr val="3D3D3D"/>
                          </a:solidFill>
                          <a:latin typeface="BIZ UDPGothic"/>
                          <a:ea typeface="BIZ UDPGothic"/>
                        </a:rPr>
                        <a:t>T04</a:t>
                      </a:r>
                    </a:p>
                  </a:txBody>
                  <a:tcPr anchor="ctr">
                    <a:solidFill>
                      <a:srgbClr val="F2F0ED"/>
                    </a:solidFill>
                  </a:tcPr>
                </a:tc>
                <a:tc>
                  <a:txBody>
                    <a:bodyPr/>
                    <a:lstStyle/>
                    <a:p>
                      <a:pPr algn="l"/>
                      <a:r>
                        <a:rPr lang="ja-JP" altLang="en-US" sz="1400">
                          <a:solidFill>
                            <a:srgbClr val="3D3D3D"/>
                          </a:solidFill>
                          <a:latin typeface="BIZ UDPGothic"/>
                          <a:ea typeface="BIZ UDPGothic"/>
                        </a:rPr>
                        <a:t>定義差分整理・分析前提確定</a:t>
                      </a:r>
                    </a:p>
                  </a:txBody>
                  <a:tcPr anchor="ctr">
                    <a:solidFill>
                      <a:srgbClr val="F2F0ED"/>
                    </a:solidFill>
                  </a:tcPr>
                </a:tc>
                <a:extLst>
                  <a:ext uri="{0D108BD9-81ED-4DB2-BD59-A6C34878D82A}">
                    <a16:rowId xmlns:a16="http://schemas.microsoft.com/office/drawing/2014/main" val="2944411802"/>
                  </a:ext>
                </a:extLst>
              </a:tr>
              <a:tr h="412750">
                <a:tc>
                  <a:txBody>
                    <a:bodyPr/>
                    <a:lstStyle/>
                    <a:p>
                      <a:pPr algn="ctr"/>
                      <a:r>
                        <a:rPr lang="ja-JP" altLang="en-US" sz="1400">
                          <a:solidFill>
                            <a:srgbClr val="3D3D3D"/>
                          </a:solidFill>
                          <a:latin typeface="BIZ UDPGothic"/>
                          <a:ea typeface="BIZ UDPGothic"/>
                        </a:rPr>
                        <a:t>06-25〜30</a:t>
                      </a:r>
                    </a:p>
                  </a:txBody>
                  <a:tcPr anchor="ctr"/>
                </a:tc>
                <a:tc>
                  <a:txBody>
                    <a:bodyPr/>
                    <a:lstStyle/>
                    <a:p>
                      <a:pPr algn="ctr"/>
                      <a:r>
                        <a:rPr lang="ja-JP" altLang="en-US" sz="1400">
                          <a:solidFill>
                            <a:srgbClr val="3D3D3D"/>
                          </a:solidFill>
                          <a:latin typeface="BIZ UDPGothic"/>
                          <a:ea typeface="BIZ UDPGothic"/>
                        </a:rPr>
                        <a:t>T06</a:t>
                      </a:r>
                    </a:p>
                  </a:txBody>
                  <a:tcPr anchor="ctr"/>
                </a:tc>
                <a:tc>
                  <a:txBody>
                    <a:bodyPr/>
                    <a:lstStyle/>
                    <a:p>
                      <a:pPr algn="l"/>
                      <a:r>
                        <a:rPr lang="ja-JP" altLang="en-US" sz="1400">
                          <a:solidFill>
                            <a:srgbClr val="3D3D3D"/>
                          </a:solidFill>
                          <a:latin typeface="BIZ UDPGothic"/>
                          <a:ea typeface="BIZ UDPGothic"/>
                        </a:rPr>
                        <a:t>初期品質確認・再現環境整備</a:t>
                      </a:r>
                    </a:p>
                  </a:txBody>
                  <a:tcPr anchor="ctr"/>
                </a:tc>
                <a:extLst>
                  <a:ext uri="{0D108BD9-81ED-4DB2-BD59-A6C34878D82A}">
                    <a16:rowId xmlns:a16="http://schemas.microsoft.com/office/drawing/2014/main" val="1222113985"/>
                  </a:ext>
                </a:extLst>
              </a:tr>
              <a:tr h="412750">
                <a:tc>
                  <a:txBody>
                    <a:bodyPr/>
                    <a:lstStyle/>
                    <a:p>
                      <a:pPr algn="ctr"/>
                      <a:r>
                        <a:rPr lang="ja-JP" altLang="en-US" sz="1400">
                          <a:solidFill>
                            <a:srgbClr val="3D3D3D"/>
                          </a:solidFill>
                          <a:latin typeface="BIZ UDPGothic"/>
                          <a:ea typeface="BIZ UDPGothic"/>
                        </a:rPr>
                        <a:t>06-30〜07-07</a:t>
                      </a:r>
                    </a:p>
                  </a:txBody>
                  <a:tcPr anchor="ctr">
                    <a:solidFill>
                      <a:srgbClr val="F2F0ED"/>
                    </a:solidFill>
                  </a:tcPr>
                </a:tc>
                <a:tc>
                  <a:txBody>
                    <a:bodyPr/>
                    <a:lstStyle/>
                    <a:p>
                      <a:pPr algn="ctr"/>
                      <a:r>
                        <a:rPr lang="ja-JP" altLang="en-US" sz="1400">
                          <a:solidFill>
                            <a:srgbClr val="3D3D3D"/>
                          </a:solidFill>
                          <a:latin typeface="BIZ UDPGothic"/>
                          <a:ea typeface="BIZ UDPGothic"/>
                        </a:rPr>
                        <a:t>T07</a:t>
                      </a:r>
                    </a:p>
                  </a:txBody>
                  <a:tcPr anchor="ctr">
                    <a:solidFill>
                      <a:srgbClr val="F2F0ED"/>
                    </a:solidFill>
                  </a:tcPr>
                </a:tc>
                <a:tc>
                  <a:txBody>
                    <a:bodyPr/>
                    <a:lstStyle/>
                    <a:p>
                      <a:pPr algn="l"/>
                      <a:r>
                        <a:rPr lang="ja-JP" altLang="en-US" sz="1400">
                          <a:solidFill>
                            <a:srgbClr val="3D3D3D"/>
                          </a:solidFill>
                          <a:latin typeface="BIZ UDPGothic"/>
                          <a:ea typeface="BIZ UDPGothic"/>
                        </a:rPr>
                        <a:t>EDA実施</a:t>
                      </a:r>
                    </a:p>
                  </a:txBody>
                  <a:tcPr anchor="ctr">
                    <a:solidFill>
                      <a:srgbClr val="F2F0ED"/>
                    </a:solidFill>
                  </a:tcPr>
                </a:tc>
                <a:extLst>
                  <a:ext uri="{0D108BD9-81ED-4DB2-BD59-A6C34878D82A}">
                    <a16:rowId xmlns:a16="http://schemas.microsoft.com/office/drawing/2014/main" val="1416661482"/>
                  </a:ext>
                </a:extLst>
              </a:tr>
              <a:tr h="412750">
                <a:tc>
                  <a:txBody>
                    <a:bodyPr/>
                    <a:lstStyle/>
                    <a:p>
                      <a:pPr algn="ctr"/>
                      <a:r>
                        <a:rPr lang="ja-JP" altLang="en-US" sz="1400">
                          <a:solidFill>
                            <a:srgbClr val="3D3D3D"/>
                          </a:solidFill>
                          <a:latin typeface="BIZ UDPGothic"/>
                          <a:ea typeface="BIZ UDPGothic"/>
                        </a:rPr>
                        <a:t>07-07〜10</a:t>
                      </a:r>
                    </a:p>
                  </a:txBody>
                  <a:tcPr anchor="ctr"/>
                </a:tc>
                <a:tc>
                  <a:txBody>
                    <a:bodyPr/>
                    <a:lstStyle/>
                    <a:p>
                      <a:pPr algn="ctr"/>
                      <a:r>
                        <a:rPr lang="ja-JP" altLang="en-US" sz="1400">
                          <a:solidFill>
                            <a:srgbClr val="3D3D3D"/>
                          </a:solidFill>
                          <a:latin typeface="BIZ UDPGothic"/>
                          <a:ea typeface="BIZ UDPGothic"/>
                        </a:rPr>
                        <a:t>T10</a:t>
                      </a:r>
                    </a:p>
                  </a:txBody>
                  <a:tcPr anchor="ctr"/>
                </a:tc>
                <a:tc>
                  <a:txBody>
                    <a:bodyPr/>
                    <a:lstStyle/>
                    <a:p>
                      <a:pPr algn="l"/>
                      <a:r>
                        <a:rPr lang="ja-JP" altLang="en-US" sz="1400">
                          <a:solidFill>
                            <a:srgbClr val="3D3D3D"/>
                          </a:solidFill>
                          <a:latin typeface="BIZ UDPGothic"/>
                          <a:ea typeface="BIZ UDPGothic"/>
                        </a:rPr>
                        <a:t>初期モデル作成・評価</a:t>
                      </a:r>
                    </a:p>
                  </a:txBody>
                  <a:tcPr anchor="ctr"/>
                </a:tc>
                <a:extLst>
                  <a:ext uri="{0D108BD9-81ED-4DB2-BD59-A6C34878D82A}">
                    <a16:rowId xmlns:a16="http://schemas.microsoft.com/office/drawing/2014/main" val="1233464898"/>
                  </a:ext>
                </a:extLst>
              </a:tr>
              <a:tr h="412750">
                <a:tc>
                  <a:txBody>
                    <a:bodyPr/>
                    <a:lstStyle/>
                    <a:p>
                      <a:pPr algn="ctr"/>
                      <a:r>
                        <a:rPr lang="ja-JP" altLang="en-US" sz="1400" b="1">
                          <a:solidFill>
                            <a:srgbClr val="8B3A2F"/>
                          </a:solidFill>
                          <a:latin typeface="BIZ UDPGothic"/>
                          <a:ea typeface="BIZ UDPGothic"/>
                        </a:rPr>
                        <a:t>07-11</a:t>
                      </a:r>
                    </a:p>
                  </a:txBody>
                  <a:tcPr anchor="ctr">
                    <a:solidFill>
                      <a:srgbClr val="F2F0ED"/>
                    </a:solidFill>
                  </a:tcPr>
                </a:tc>
                <a:tc>
                  <a:txBody>
                    <a:bodyPr/>
                    <a:lstStyle/>
                    <a:p>
                      <a:pPr algn="ctr"/>
                      <a:r>
                        <a:rPr lang="ja-JP" altLang="en-US" sz="1400" b="1">
                          <a:solidFill>
                            <a:srgbClr val="8B3A2F"/>
                          </a:solidFill>
                          <a:latin typeface="BIZ UDPGothic"/>
                          <a:ea typeface="BIZ UDPGothic"/>
                        </a:rPr>
                        <a:t>M02 / MS3</a:t>
                      </a:r>
                    </a:p>
                  </a:txBody>
                  <a:tcPr anchor="ctr">
                    <a:solidFill>
                      <a:srgbClr val="F2F0ED"/>
                    </a:solidFill>
                  </a:tcPr>
                </a:tc>
                <a:tc>
                  <a:txBody>
                    <a:bodyPr/>
                    <a:lstStyle/>
                    <a:p>
                      <a:pPr algn="l"/>
                      <a:r>
                        <a:rPr lang="ja-JP" altLang="en-US" sz="1400" b="1">
                          <a:solidFill>
                            <a:srgbClr val="8B3A2F"/>
                          </a:solidFill>
                          <a:latin typeface="BIZ UDPGothic"/>
                          <a:ea typeface="BIZ UDPGothic"/>
                        </a:rPr>
                        <a:t>EDAレビュー・中間報告</a:t>
                      </a:r>
                    </a:p>
                  </a:txBody>
                  <a:tcPr anchor="ctr">
                    <a:solidFill>
                      <a:srgbClr val="F2F0ED"/>
                    </a:solidFill>
                  </a:tcPr>
                </a:tc>
                <a:extLst>
                  <a:ext uri="{0D108BD9-81ED-4DB2-BD59-A6C34878D82A}">
                    <a16:rowId xmlns:a16="http://schemas.microsoft.com/office/drawing/2014/main" val="1010938320"/>
                  </a:ext>
                </a:extLst>
              </a:tr>
              <a:tr h="412750">
                <a:tc>
                  <a:txBody>
                    <a:bodyPr/>
                    <a:lstStyle/>
                    <a:p>
                      <a:pPr algn="ctr"/>
                      <a:r>
                        <a:rPr lang="ja-JP" altLang="en-US" sz="1400">
                          <a:solidFill>
                            <a:srgbClr val="3D3D3D"/>
                          </a:solidFill>
                          <a:latin typeface="BIZ UDPGothic"/>
                          <a:ea typeface="BIZ UDPGothic"/>
                        </a:rPr>
                        <a:t>07-14</a:t>
                      </a:r>
                    </a:p>
                  </a:txBody>
                  <a:tcPr anchor="ctr"/>
                </a:tc>
                <a:tc>
                  <a:txBody>
                    <a:bodyPr/>
                    <a:lstStyle/>
                    <a:p>
                      <a:pPr algn="ctr"/>
                      <a:r>
                        <a:rPr lang="ja-JP" altLang="en-US" sz="1400">
                          <a:solidFill>
                            <a:srgbClr val="3D3D3D"/>
                          </a:solidFill>
                          <a:latin typeface="BIZ UDPGothic"/>
                          <a:ea typeface="BIZ UDPGothic"/>
                        </a:rPr>
                        <a:t>T13/T14 / MS4</a:t>
                      </a:r>
                    </a:p>
                  </a:txBody>
                  <a:tcPr anchor="ctr"/>
                </a:tc>
                <a:tc>
                  <a:txBody>
                    <a:bodyPr/>
                    <a:lstStyle/>
                    <a:p>
                      <a:pPr algn="l"/>
                      <a:r>
                        <a:rPr lang="ja-JP" altLang="en-US" sz="1400">
                          <a:solidFill>
                            <a:srgbClr val="3D3D3D"/>
                          </a:solidFill>
                          <a:latin typeface="BIZ UDPGothic"/>
                          <a:ea typeface="BIZ UDPGothic"/>
                        </a:rPr>
                        <a:t>変更要求整理・変更管理チェックポイント</a:t>
                      </a:r>
                    </a:p>
                  </a:txBody>
                  <a:tcPr anchor="ctr"/>
                </a:tc>
                <a:extLst>
                  <a:ext uri="{0D108BD9-81ED-4DB2-BD59-A6C34878D82A}">
                    <a16:rowId xmlns:a16="http://schemas.microsoft.com/office/drawing/2014/main" val="3518416067"/>
                  </a:ext>
                </a:extLst>
              </a:tr>
              <a:tr h="412750">
                <a:tc>
                  <a:txBody>
                    <a:bodyPr/>
                    <a:lstStyle/>
                    <a:p>
                      <a:pPr algn="ctr"/>
                      <a:r>
                        <a:rPr lang="ja-JP" altLang="en-US" sz="1400">
                          <a:solidFill>
                            <a:srgbClr val="3D3D3D"/>
                          </a:solidFill>
                          <a:latin typeface="BIZ UDPGothic"/>
                          <a:ea typeface="BIZ UDPGothic"/>
                        </a:rPr>
                        <a:t>07-14〜18</a:t>
                      </a:r>
                    </a:p>
                  </a:txBody>
                  <a:tcPr anchor="ctr">
                    <a:solidFill>
                      <a:srgbClr val="F2F0ED"/>
                    </a:solidFill>
                  </a:tcPr>
                </a:tc>
                <a:tc>
                  <a:txBody>
                    <a:bodyPr/>
                    <a:lstStyle/>
                    <a:p>
                      <a:pPr algn="ctr"/>
                      <a:r>
                        <a:rPr lang="ja-JP" altLang="en-US" sz="1400">
                          <a:solidFill>
                            <a:srgbClr val="3D3D3D"/>
                          </a:solidFill>
                          <a:latin typeface="BIZ UDPGothic"/>
                          <a:ea typeface="BIZ UDPGothic"/>
                        </a:rPr>
                        <a:t>T15/T16</a:t>
                      </a:r>
                    </a:p>
                  </a:txBody>
                  <a:tcPr anchor="ctr">
                    <a:solidFill>
                      <a:srgbClr val="F2F0ED"/>
                    </a:solidFill>
                  </a:tcPr>
                </a:tc>
                <a:tc>
                  <a:txBody>
                    <a:bodyPr/>
                    <a:lstStyle/>
                    <a:p>
                      <a:pPr algn="l"/>
                      <a:r>
                        <a:rPr lang="ja-JP" altLang="en-US" sz="1400">
                          <a:solidFill>
                            <a:srgbClr val="3D3D3D"/>
                          </a:solidFill>
                          <a:latin typeface="BIZ UDPGothic"/>
                          <a:ea typeface="BIZ UDPGothic"/>
                        </a:rPr>
                        <a:t>セグメント分析・公平性レビュー</a:t>
                      </a:r>
                    </a:p>
                  </a:txBody>
                  <a:tcPr anchor="ctr">
                    <a:solidFill>
                      <a:srgbClr val="F2F0ED"/>
                    </a:solidFill>
                  </a:tcPr>
                </a:tc>
                <a:extLst>
                  <a:ext uri="{0D108BD9-81ED-4DB2-BD59-A6C34878D82A}">
                    <a16:rowId xmlns:a16="http://schemas.microsoft.com/office/drawing/2014/main" val="1116484872"/>
                  </a:ext>
                </a:extLst>
              </a:tr>
              <a:tr h="412750">
                <a:tc>
                  <a:txBody>
                    <a:bodyPr/>
                    <a:lstStyle/>
                    <a:p>
                      <a:pPr algn="ctr"/>
                      <a:r>
                        <a:rPr lang="ja-JP" altLang="en-US" sz="1400">
                          <a:solidFill>
                            <a:srgbClr val="3D3D3D"/>
                          </a:solidFill>
                          <a:latin typeface="BIZ UDPGothic"/>
                          <a:ea typeface="BIZ UDPGothic"/>
                        </a:rPr>
                        <a:t>07-17〜22</a:t>
                      </a:r>
                    </a:p>
                  </a:txBody>
                  <a:tcPr anchor="ctr"/>
                </a:tc>
                <a:tc>
                  <a:txBody>
                    <a:bodyPr/>
                    <a:lstStyle/>
                    <a:p>
                      <a:pPr algn="ctr"/>
                      <a:r>
                        <a:rPr lang="ja-JP" altLang="en-US" sz="1400">
                          <a:solidFill>
                            <a:srgbClr val="3D3D3D"/>
                          </a:solidFill>
                          <a:latin typeface="BIZ UDPGothic"/>
                          <a:ea typeface="BIZ UDPGothic"/>
                        </a:rPr>
                        <a:t>T17</a:t>
                      </a:r>
                    </a:p>
                  </a:txBody>
                  <a:tcPr anchor="ctr"/>
                </a:tc>
                <a:tc>
                  <a:txBody>
                    <a:bodyPr/>
                    <a:lstStyle/>
                    <a:p>
                      <a:pPr algn="l"/>
                      <a:r>
                        <a:rPr lang="ja-JP" altLang="en-US" sz="1400">
                          <a:solidFill>
                            <a:srgbClr val="3D3D3D"/>
                          </a:solidFill>
                          <a:latin typeface="BIZ UDPGothic"/>
                          <a:ea typeface="BIZ UDPGothic"/>
                        </a:rPr>
                        <a:t>最終報告ドラフト作成</a:t>
                      </a:r>
                    </a:p>
                  </a:txBody>
                  <a:tcPr anchor="ctr"/>
                </a:tc>
                <a:extLst>
                  <a:ext uri="{0D108BD9-81ED-4DB2-BD59-A6C34878D82A}">
                    <a16:rowId xmlns:a16="http://schemas.microsoft.com/office/drawing/2014/main" val="303609396"/>
                  </a:ext>
                </a:extLst>
              </a:tr>
              <a:tr h="412750">
                <a:tc>
                  <a:txBody>
                    <a:bodyPr/>
                    <a:lstStyle/>
                    <a:p>
                      <a:pPr algn="ctr"/>
                      <a:r>
                        <a:rPr lang="ja-JP" altLang="en-US" sz="1400" b="1">
                          <a:solidFill>
                            <a:srgbClr val="8B3A2F"/>
                          </a:solidFill>
                          <a:latin typeface="BIZ UDPGothic"/>
                          <a:ea typeface="BIZ UDPGothic"/>
                        </a:rPr>
                        <a:t>07-25</a:t>
                      </a:r>
                    </a:p>
                  </a:txBody>
                  <a:tcPr anchor="ctr">
                    <a:solidFill>
                      <a:srgbClr val="F2F0ED"/>
                    </a:solidFill>
                  </a:tcPr>
                </a:tc>
                <a:tc>
                  <a:txBody>
                    <a:bodyPr/>
                    <a:lstStyle/>
                    <a:p>
                      <a:pPr algn="ctr"/>
                      <a:r>
                        <a:rPr lang="ja-JP" altLang="en-US" sz="1400" b="1">
                          <a:solidFill>
                            <a:srgbClr val="8B3A2F"/>
                          </a:solidFill>
                          <a:latin typeface="BIZ UDPGothic"/>
                          <a:ea typeface="BIZ UDPGothic"/>
                        </a:rPr>
                        <a:t>M03 / MS6</a:t>
                      </a:r>
                    </a:p>
                  </a:txBody>
                  <a:tcPr anchor="ctr">
                    <a:solidFill>
                      <a:srgbClr val="F2F0ED"/>
                    </a:solidFill>
                  </a:tcPr>
                </a:tc>
                <a:tc>
                  <a:txBody>
                    <a:bodyPr/>
                    <a:lstStyle/>
                    <a:p>
                      <a:pPr algn="l"/>
                      <a:r>
                        <a:rPr lang="ja-JP" altLang="en-US" sz="1400" b="1">
                          <a:solidFill>
                            <a:srgbClr val="8B3A2F"/>
                          </a:solidFill>
                          <a:latin typeface="BIZ UDPGothic"/>
                          <a:ea typeface="BIZ UDPGothic"/>
                        </a:rPr>
                        <a:t>最終報告・検収会</a:t>
                      </a:r>
                    </a:p>
                  </a:txBody>
                  <a:tcPr anchor="ctr">
                    <a:solidFill>
                      <a:srgbClr val="F2F0ED"/>
                    </a:solidFill>
                  </a:tcPr>
                </a:tc>
                <a:extLst>
                  <a:ext uri="{0D108BD9-81ED-4DB2-BD59-A6C34878D82A}">
                    <a16:rowId xmlns:a16="http://schemas.microsoft.com/office/drawing/2014/main" val="1487039349"/>
                  </a:ext>
                </a:extLst>
              </a:tr>
              <a:tr h="412750">
                <a:tc>
                  <a:txBody>
                    <a:bodyPr/>
                    <a:lstStyle/>
                    <a:p>
                      <a:pPr algn="ctr"/>
                      <a:r>
                        <a:rPr lang="ja-JP" altLang="en-US" sz="1400" b="1">
                          <a:solidFill>
                            <a:srgbClr val="8B3A2F"/>
                          </a:solidFill>
                          <a:latin typeface="BIZ UDPGothic"/>
                          <a:ea typeface="BIZ UDPGothic"/>
                        </a:rPr>
                        <a:t>07-28</a:t>
                      </a:r>
                    </a:p>
                  </a:txBody>
                  <a:tcPr anchor="ctr"/>
                </a:tc>
                <a:tc>
                  <a:txBody>
                    <a:bodyPr/>
                    <a:lstStyle/>
                    <a:p>
                      <a:pPr algn="ctr"/>
                      <a:r>
                        <a:rPr lang="ja-JP" altLang="en-US" sz="1400" b="1">
                          <a:solidFill>
                            <a:srgbClr val="8B3A2F"/>
                          </a:solidFill>
                          <a:latin typeface="BIZ UDPGothic"/>
                          <a:ea typeface="BIZ UDPGothic"/>
                        </a:rPr>
                        <a:t>MS7</a:t>
                      </a:r>
                    </a:p>
                  </a:txBody>
                  <a:tcPr anchor="ctr"/>
                </a:tc>
                <a:tc>
                  <a:txBody>
                    <a:bodyPr/>
                    <a:lstStyle/>
                    <a:p>
                      <a:pPr algn="l"/>
                      <a:r>
                        <a:rPr lang="ja-JP" altLang="en-US" sz="1400" b="1">
                          <a:solidFill>
                            <a:srgbClr val="8B3A2F"/>
                          </a:solidFill>
                          <a:latin typeface="BIZ UDPGothic"/>
                          <a:ea typeface="BIZ UDPGothic"/>
                        </a:rPr>
                        <a:t>最終成果物提出</a:t>
                      </a:r>
                    </a:p>
                  </a:txBody>
                  <a:tcPr anchor="ctr"/>
                </a:tc>
                <a:extLst>
                  <a:ext uri="{0D108BD9-81ED-4DB2-BD59-A6C34878D82A}">
                    <a16:rowId xmlns:a16="http://schemas.microsoft.com/office/drawing/2014/main" val="3482056381"/>
                  </a:ext>
                </a:extLst>
              </a:tr>
            </a:tbl>
          </a:graphicData>
        </a:graphic>
      </p:graphicFrame>
      <p:sp>
        <p:nvSpPr>
          <p:cNvPr id="5" name="テキスト ボックス 4">
            <a:extLst>
              <a:ext uri="{FF2B5EF4-FFF2-40B4-BE49-F238E27FC236}">
                <a16:creationId xmlns:a16="http://schemas.microsoft.com/office/drawing/2014/main" id="{1A41424A-0887-4E37-AE3E-217CF6BF93C0}"/>
              </a:ext>
            </a:extLst>
          </p:cNvPr>
          <p:cNvSpPr txBox="1"/>
          <p:nvPr/>
        </p:nvSpPr>
        <p:spPr>
          <a:xfrm>
            <a:off x="508000" y="254000"/>
            <a:ext cx="11176000" cy="508000"/>
          </a:xfrm>
          <a:prstGeom prst="rect">
            <a:avLst/>
          </a:prstGeom>
          <a:noFill/>
        </p:spPr>
        <p:txBody>
          <a:bodyPr vertOverflow="overflow" vert="horz" wrap="square" rtlCol="0" anchor="t">
            <a:noAutofit/>
          </a:bodyPr>
          <a:lstStyle/>
          <a:p>
            <a:pPr algn="l"/>
            <a:r>
              <a:rPr lang="en-US" altLang="ja-JP" sz="2400" b="1">
                <a:solidFill>
                  <a:srgbClr val="1A1A1A"/>
                </a:solidFill>
                <a:latin typeface="BIZ UDPGothic"/>
                <a:ea typeface="BIZ UDPGothic"/>
              </a:rPr>
              <a:t>3. </a:t>
            </a:r>
            <a:r>
              <a:rPr lang="ja-JP" altLang="en-US" sz="2400" b="1">
                <a:solidFill>
                  <a:srgbClr val="1A1A1A"/>
                </a:solidFill>
                <a:latin typeface="BIZ UDPGothic"/>
                <a:ea typeface="BIZ UDPGothic"/>
              </a:rPr>
              <a:t>進行経緯</a:t>
            </a:r>
          </a:p>
        </p:txBody>
      </p:sp>
      <p:sp>
        <p:nvSpPr>
          <p:cNvPr id="6" name="正方形/長方形 5">
            <a:extLst>
              <a:ext uri="{FF2B5EF4-FFF2-40B4-BE49-F238E27FC236}">
                <a16:creationId xmlns:a16="http://schemas.microsoft.com/office/drawing/2014/main" id="{1F0A2053-27ED-4BB7-9BFD-694004233244}"/>
              </a:ext>
            </a:extLst>
          </p:cNvPr>
          <p:cNvSpPr/>
          <p:nvPr/>
        </p:nvSpPr>
        <p:spPr>
          <a:xfrm>
            <a:off x="508000" y="787400"/>
            <a:ext cx="1270000" cy="38100"/>
          </a:xfrm>
          <a:prstGeom prst="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Tree>
    <p:extLst>
      <p:ext uri="{BB962C8B-B14F-4D97-AF65-F5344CB8AC3E}">
        <p14:creationId xmlns:p14="http://schemas.microsoft.com/office/powerpoint/2010/main" val="3465200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四角形: 角を丸くする 2">
            <a:extLst>
              <a:ext uri="{FF2B5EF4-FFF2-40B4-BE49-F238E27FC236}">
                <a16:creationId xmlns:a16="http://schemas.microsoft.com/office/drawing/2014/main" id="{27712244-D400-4275-8679-5B6603401381}"/>
              </a:ext>
            </a:extLst>
          </p:cNvPr>
          <p:cNvSpPr/>
          <p:nvPr/>
        </p:nvSpPr>
        <p:spPr>
          <a:xfrm>
            <a:off x="508000" y="1460500"/>
            <a:ext cx="3429000" cy="13970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 name="正方形/長方形 3">
            <a:extLst>
              <a:ext uri="{FF2B5EF4-FFF2-40B4-BE49-F238E27FC236}">
                <a16:creationId xmlns:a16="http://schemas.microsoft.com/office/drawing/2014/main" id="{FC5AC784-1902-4E1A-8F77-C05985C88FD3}"/>
              </a:ext>
            </a:extLst>
          </p:cNvPr>
          <p:cNvSpPr/>
          <p:nvPr/>
        </p:nvSpPr>
        <p:spPr>
          <a:xfrm>
            <a:off x="508000" y="1460500"/>
            <a:ext cx="3429000" cy="76200"/>
          </a:xfrm>
          <a:prstGeom prst="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 name="テキスト ボックス 4">
            <a:extLst>
              <a:ext uri="{FF2B5EF4-FFF2-40B4-BE49-F238E27FC236}">
                <a16:creationId xmlns:a16="http://schemas.microsoft.com/office/drawing/2014/main" id="{51A38D76-2134-42DF-9354-2BD0B9FC7101}"/>
              </a:ext>
            </a:extLst>
          </p:cNvPr>
          <p:cNvSpPr txBox="1"/>
          <p:nvPr/>
        </p:nvSpPr>
        <p:spPr>
          <a:xfrm>
            <a:off x="698500" y="1663700"/>
            <a:ext cx="3048000" cy="304800"/>
          </a:xfrm>
          <a:prstGeom prst="rect">
            <a:avLst/>
          </a:prstGeom>
          <a:noFill/>
        </p:spPr>
        <p:txBody>
          <a:bodyPr vertOverflow="overflow" vert="horz" wrap="square" rtlCol="0" anchor="t">
            <a:spAutoFit/>
          </a:bodyPr>
          <a:lstStyle/>
          <a:p>
            <a:pPr algn="l"/>
            <a:r>
              <a:rPr lang="ja-JP" altLang="en-US" sz="1400">
                <a:solidFill>
                  <a:srgbClr val="6B6B6B"/>
                </a:solidFill>
                <a:latin typeface="BIZ UDPGothic"/>
                <a:ea typeface="BIZ UDPGothic"/>
              </a:rPr>
              <a:t>データ行数</a:t>
            </a:r>
          </a:p>
        </p:txBody>
      </p:sp>
      <p:sp>
        <p:nvSpPr>
          <p:cNvPr id="6" name="テキスト ボックス 5">
            <a:extLst>
              <a:ext uri="{FF2B5EF4-FFF2-40B4-BE49-F238E27FC236}">
                <a16:creationId xmlns:a16="http://schemas.microsoft.com/office/drawing/2014/main" id="{B72960B1-AD9F-4471-8A87-86018D425424}"/>
              </a:ext>
            </a:extLst>
          </p:cNvPr>
          <p:cNvSpPr txBox="1"/>
          <p:nvPr/>
        </p:nvSpPr>
        <p:spPr>
          <a:xfrm>
            <a:off x="698500" y="1993900"/>
            <a:ext cx="3048000" cy="635000"/>
          </a:xfrm>
          <a:prstGeom prst="rect">
            <a:avLst/>
          </a:prstGeom>
          <a:noFill/>
        </p:spPr>
        <p:txBody>
          <a:bodyPr vertOverflow="overflow" vert="horz" wrap="square" rtlCol="0" anchor="t">
            <a:spAutoFit/>
          </a:bodyPr>
          <a:lstStyle/>
          <a:p>
            <a:pPr algn="l"/>
            <a:r>
              <a:rPr lang="en-US" altLang="ja-JP" sz="2200" b="1">
                <a:solidFill>
                  <a:srgbClr val="8B3A2F"/>
                </a:solidFill>
                <a:latin typeface="BIZ UDPGothic"/>
                <a:ea typeface="BIZ UDPGothic"/>
              </a:rPr>
              <a:t>735</a:t>
            </a:r>
            <a:r>
              <a:rPr lang="ja-JP" altLang="en-US" sz="2200" b="1">
                <a:solidFill>
                  <a:srgbClr val="8B3A2F"/>
                </a:solidFill>
                <a:latin typeface="BIZ UDPGothic"/>
                <a:ea typeface="BIZ UDPGothic"/>
              </a:rPr>
              <a:t>行</a:t>
            </a:r>
          </a:p>
        </p:txBody>
      </p:sp>
      <p:sp>
        <p:nvSpPr>
          <p:cNvPr id="7" name="四角形: 角を丸くする 6">
            <a:extLst>
              <a:ext uri="{FF2B5EF4-FFF2-40B4-BE49-F238E27FC236}">
                <a16:creationId xmlns:a16="http://schemas.microsoft.com/office/drawing/2014/main" id="{35F541EB-C31F-4B36-87E5-158951FB2A24}"/>
              </a:ext>
            </a:extLst>
          </p:cNvPr>
          <p:cNvSpPr/>
          <p:nvPr/>
        </p:nvSpPr>
        <p:spPr>
          <a:xfrm>
            <a:off x="4318000" y="1460500"/>
            <a:ext cx="3429000" cy="13970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8" name="正方形/長方形 7">
            <a:extLst>
              <a:ext uri="{FF2B5EF4-FFF2-40B4-BE49-F238E27FC236}">
                <a16:creationId xmlns:a16="http://schemas.microsoft.com/office/drawing/2014/main" id="{DA520013-3E58-44B0-BC26-F0B611E7B9BF}"/>
              </a:ext>
            </a:extLst>
          </p:cNvPr>
          <p:cNvSpPr/>
          <p:nvPr/>
        </p:nvSpPr>
        <p:spPr>
          <a:xfrm>
            <a:off x="4318000" y="1460500"/>
            <a:ext cx="3429000" cy="76200"/>
          </a:xfrm>
          <a:prstGeom prst="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9" name="テキスト ボックス 8">
            <a:extLst>
              <a:ext uri="{FF2B5EF4-FFF2-40B4-BE49-F238E27FC236}">
                <a16:creationId xmlns:a16="http://schemas.microsoft.com/office/drawing/2014/main" id="{EC31A994-3815-4780-B8AF-D05E6DD8C690}"/>
              </a:ext>
            </a:extLst>
          </p:cNvPr>
          <p:cNvSpPr txBox="1"/>
          <p:nvPr/>
        </p:nvSpPr>
        <p:spPr>
          <a:xfrm>
            <a:off x="4508500" y="1663700"/>
            <a:ext cx="3048000" cy="304800"/>
          </a:xfrm>
          <a:prstGeom prst="rect">
            <a:avLst/>
          </a:prstGeom>
          <a:noFill/>
        </p:spPr>
        <p:txBody>
          <a:bodyPr vertOverflow="overflow" vert="horz" wrap="square" rtlCol="0" anchor="t">
            <a:spAutoFit/>
          </a:bodyPr>
          <a:lstStyle/>
          <a:p>
            <a:pPr algn="l"/>
            <a:r>
              <a:rPr lang="ja-JP" altLang="en-US" sz="1400">
                <a:solidFill>
                  <a:srgbClr val="6B6B6B"/>
                </a:solidFill>
                <a:latin typeface="BIZ UDPGothic"/>
                <a:ea typeface="BIZ UDPGothic"/>
              </a:rPr>
              <a:t>データ列数</a:t>
            </a:r>
          </a:p>
        </p:txBody>
      </p:sp>
      <p:sp>
        <p:nvSpPr>
          <p:cNvPr id="10" name="テキスト ボックス 9">
            <a:extLst>
              <a:ext uri="{FF2B5EF4-FFF2-40B4-BE49-F238E27FC236}">
                <a16:creationId xmlns:a16="http://schemas.microsoft.com/office/drawing/2014/main" id="{0D633997-FD76-49C5-A483-BBED3BF53F83}"/>
              </a:ext>
            </a:extLst>
          </p:cNvPr>
          <p:cNvSpPr txBox="1"/>
          <p:nvPr/>
        </p:nvSpPr>
        <p:spPr>
          <a:xfrm>
            <a:off x="4508500" y="1993900"/>
            <a:ext cx="3048000" cy="635000"/>
          </a:xfrm>
          <a:prstGeom prst="rect">
            <a:avLst/>
          </a:prstGeom>
          <a:noFill/>
        </p:spPr>
        <p:txBody>
          <a:bodyPr vertOverflow="overflow" vert="horz" wrap="square" rtlCol="0" anchor="t">
            <a:spAutoFit/>
          </a:bodyPr>
          <a:lstStyle/>
          <a:p>
            <a:pPr algn="l"/>
            <a:r>
              <a:rPr lang="en-US" altLang="ja-JP" sz="2200" b="1">
                <a:solidFill>
                  <a:srgbClr val="8B3A2F"/>
                </a:solidFill>
                <a:latin typeface="BIZ UDPGothic"/>
                <a:ea typeface="BIZ UDPGothic"/>
              </a:rPr>
              <a:t>33</a:t>
            </a:r>
            <a:r>
              <a:rPr lang="ja-JP" altLang="en-US" sz="2200" b="1">
                <a:solidFill>
                  <a:srgbClr val="8B3A2F"/>
                </a:solidFill>
                <a:latin typeface="BIZ UDPGothic"/>
                <a:ea typeface="BIZ UDPGothic"/>
              </a:rPr>
              <a:t>列</a:t>
            </a:r>
          </a:p>
        </p:txBody>
      </p:sp>
      <p:sp>
        <p:nvSpPr>
          <p:cNvPr id="11" name="四角形: 角を丸くする 10">
            <a:extLst>
              <a:ext uri="{FF2B5EF4-FFF2-40B4-BE49-F238E27FC236}">
                <a16:creationId xmlns:a16="http://schemas.microsoft.com/office/drawing/2014/main" id="{66CE73C1-8A42-4255-A767-A4EA12528F22}"/>
              </a:ext>
            </a:extLst>
          </p:cNvPr>
          <p:cNvSpPr/>
          <p:nvPr/>
        </p:nvSpPr>
        <p:spPr>
          <a:xfrm>
            <a:off x="8128000" y="1460500"/>
            <a:ext cx="3429000" cy="13970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2" name="正方形/長方形 11">
            <a:extLst>
              <a:ext uri="{FF2B5EF4-FFF2-40B4-BE49-F238E27FC236}">
                <a16:creationId xmlns:a16="http://schemas.microsoft.com/office/drawing/2014/main" id="{A26DB721-AAF8-4E99-AA4E-78CBC04F8B35}"/>
              </a:ext>
            </a:extLst>
          </p:cNvPr>
          <p:cNvSpPr/>
          <p:nvPr/>
        </p:nvSpPr>
        <p:spPr>
          <a:xfrm>
            <a:off x="8128000" y="1460500"/>
            <a:ext cx="3429000" cy="76200"/>
          </a:xfrm>
          <a:prstGeom prst="rect">
            <a:avLst/>
          </a:prstGeom>
          <a:solidFill>
            <a:srgbClr val="4A7A4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3" name="テキスト ボックス 12">
            <a:extLst>
              <a:ext uri="{FF2B5EF4-FFF2-40B4-BE49-F238E27FC236}">
                <a16:creationId xmlns:a16="http://schemas.microsoft.com/office/drawing/2014/main" id="{B0CAD89C-88E5-4EBF-869B-C91A1ABC40E3}"/>
              </a:ext>
            </a:extLst>
          </p:cNvPr>
          <p:cNvSpPr txBox="1"/>
          <p:nvPr/>
        </p:nvSpPr>
        <p:spPr>
          <a:xfrm>
            <a:off x="8318500" y="1663700"/>
            <a:ext cx="3048000" cy="304800"/>
          </a:xfrm>
          <a:prstGeom prst="rect">
            <a:avLst/>
          </a:prstGeom>
          <a:noFill/>
        </p:spPr>
        <p:txBody>
          <a:bodyPr vertOverflow="overflow" vert="horz" wrap="square" rtlCol="0" anchor="t">
            <a:spAutoFit/>
          </a:bodyPr>
          <a:lstStyle/>
          <a:p>
            <a:pPr algn="l"/>
            <a:r>
              <a:rPr lang="ja-JP" altLang="en-US" sz="1400">
                <a:solidFill>
                  <a:srgbClr val="6B6B6B"/>
                </a:solidFill>
                <a:latin typeface="BIZ UDPGothic"/>
                <a:ea typeface="BIZ UDPGothic"/>
              </a:rPr>
              <a:t>欠損値</a:t>
            </a:r>
          </a:p>
        </p:txBody>
      </p:sp>
      <p:sp>
        <p:nvSpPr>
          <p:cNvPr id="14" name="テキスト ボックス 13">
            <a:extLst>
              <a:ext uri="{FF2B5EF4-FFF2-40B4-BE49-F238E27FC236}">
                <a16:creationId xmlns:a16="http://schemas.microsoft.com/office/drawing/2014/main" id="{031F8DF2-08F1-40DC-81D7-374391F04C20}"/>
              </a:ext>
            </a:extLst>
          </p:cNvPr>
          <p:cNvSpPr txBox="1"/>
          <p:nvPr/>
        </p:nvSpPr>
        <p:spPr>
          <a:xfrm>
            <a:off x="8318500" y="1993900"/>
            <a:ext cx="3048000" cy="635000"/>
          </a:xfrm>
          <a:prstGeom prst="rect">
            <a:avLst/>
          </a:prstGeom>
          <a:noFill/>
        </p:spPr>
        <p:txBody>
          <a:bodyPr vertOverflow="overflow" vert="horz" wrap="square" rtlCol="0" anchor="t">
            <a:spAutoFit/>
          </a:bodyPr>
          <a:lstStyle/>
          <a:p>
            <a:pPr algn="l"/>
            <a:r>
              <a:rPr lang="ja-JP" altLang="en-US" sz="2200" b="1">
                <a:solidFill>
                  <a:srgbClr val="4A7A48"/>
                </a:solidFill>
                <a:latin typeface="BIZ UDPGothic"/>
                <a:ea typeface="BIZ UDPGothic"/>
              </a:rPr>
              <a:t>全列 </a:t>
            </a:r>
            <a:r>
              <a:rPr lang="en-US" altLang="ja-JP" sz="2200" b="1">
                <a:solidFill>
                  <a:srgbClr val="4A7A48"/>
                </a:solidFill>
                <a:latin typeface="BIZ UDPGothic"/>
                <a:ea typeface="BIZ UDPGothic"/>
              </a:rPr>
              <a:t>0</a:t>
            </a:r>
            <a:r>
              <a:rPr lang="ja-JP" altLang="en-US" sz="2200" b="1">
                <a:solidFill>
                  <a:srgbClr val="4A7A48"/>
                </a:solidFill>
                <a:latin typeface="BIZ UDPGothic"/>
                <a:ea typeface="BIZ UDPGothic"/>
              </a:rPr>
              <a:t>件</a:t>
            </a:r>
          </a:p>
        </p:txBody>
      </p:sp>
      <p:sp>
        <p:nvSpPr>
          <p:cNvPr id="15" name="四角形: 角を丸くする 14">
            <a:extLst>
              <a:ext uri="{FF2B5EF4-FFF2-40B4-BE49-F238E27FC236}">
                <a16:creationId xmlns:a16="http://schemas.microsoft.com/office/drawing/2014/main" id="{28F2B15A-AA77-425A-9278-ACEFEA6A420E}"/>
              </a:ext>
            </a:extLst>
          </p:cNvPr>
          <p:cNvSpPr/>
          <p:nvPr/>
        </p:nvSpPr>
        <p:spPr>
          <a:xfrm>
            <a:off x="508000" y="3111500"/>
            <a:ext cx="3429000" cy="13970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正方形/長方形 15">
            <a:extLst>
              <a:ext uri="{FF2B5EF4-FFF2-40B4-BE49-F238E27FC236}">
                <a16:creationId xmlns:a16="http://schemas.microsoft.com/office/drawing/2014/main" id="{BC99E6E5-1185-4724-9A49-12DADB5EAC81}"/>
              </a:ext>
            </a:extLst>
          </p:cNvPr>
          <p:cNvSpPr/>
          <p:nvPr/>
        </p:nvSpPr>
        <p:spPr>
          <a:xfrm>
            <a:off x="508000" y="3111500"/>
            <a:ext cx="3429000" cy="76200"/>
          </a:xfrm>
          <a:prstGeom prst="rect">
            <a:avLst/>
          </a:prstGeom>
          <a:solidFill>
            <a:srgbClr val="A0522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テキスト ボックス 16">
            <a:extLst>
              <a:ext uri="{FF2B5EF4-FFF2-40B4-BE49-F238E27FC236}">
                <a16:creationId xmlns:a16="http://schemas.microsoft.com/office/drawing/2014/main" id="{40E5A4DE-1408-4E6B-B97C-57879568DCE5}"/>
              </a:ext>
            </a:extLst>
          </p:cNvPr>
          <p:cNvSpPr txBox="1"/>
          <p:nvPr/>
        </p:nvSpPr>
        <p:spPr>
          <a:xfrm>
            <a:off x="698500" y="3314700"/>
            <a:ext cx="3048000" cy="304800"/>
          </a:xfrm>
          <a:prstGeom prst="rect">
            <a:avLst/>
          </a:prstGeom>
          <a:noFill/>
        </p:spPr>
        <p:txBody>
          <a:bodyPr vertOverflow="overflow" vert="horz" wrap="square" rtlCol="0" anchor="t">
            <a:spAutoFit/>
          </a:bodyPr>
          <a:lstStyle/>
          <a:p>
            <a:pPr algn="l"/>
            <a:r>
              <a:rPr lang="ja-JP" altLang="en-US" sz="1400">
                <a:solidFill>
                  <a:srgbClr val="6B6B6B"/>
                </a:solidFill>
                <a:latin typeface="BIZ UDPGothic"/>
                <a:ea typeface="BIZ UDPGothic"/>
              </a:rPr>
              <a:t>定数列</a:t>
            </a:r>
          </a:p>
        </p:txBody>
      </p:sp>
      <p:sp>
        <p:nvSpPr>
          <p:cNvPr id="18" name="テキスト ボックス 17">
            <a:extLst>
              <a:ext uri="{FF2B5EF4-FFF2-40B4-BE49-F238E27FC236}">
                <a16:creationId xmlns:a16="http://schemas.microsoft.com/office/drawing/2014/main" id="{23312570-506B-481E-9D80-420ACA16AC62}"/>
              </a:ext>
            </a:extLst>
          </p:cNvPr>
          <p:cNvSpPr txBox="1"/>
          <p:nvPr/>
        </p:nvSpPr>
        <p:spPr>
          <a:xfrm>
            <a:off x="698500" y="3644900"/>
            <a:ext cx="3048000" cy="635000"/>
          </a:xfrm>
          <a:prstGeom prst="rect">
            <a:avLst/>
          </a:prstGeom>
          <a:noFill/>
        </p:spPr>
        <p:txBody>
          <a:bodyPr vertOverflow="overflow" vert="horz" wrap="square" rtlCol="0" anchor="t">
            <a:spAutoFit/>
          </a:bodyPr>
          <a:lstStyle/>
          <a:p>
            <a:pPr algn="l"/>
            <a:r>
              <a:rPr lang="en-US" altLang="ja-JP" sz="2200" b="1">
                <a:solidFill>
                  <a:srgbClr val="A0522D"/>
                </a:solidFill>
                <a:latin typeface="BIZ UDPGothic"/>
                <a:ea typeface="BIZ UDPGothic"/>
              </a:rPr>
              <a:t>Over18,
StandardHours</a:t>
            </a:r>
            <a:endParaRPr lang="ja-JP" altLang="en-US" sz="2200" b="1">
              <a:solidFill>
                <a:srgbClr val="A0522D"/>
              </a:solidFill>
              <a:latin typeface="BIZ UDPGothic"/>
              <a:ea typeface="BIZ UDPGothic"/>
            </a:endParaRPr>
          </a:p>
        </p:txBody>
      </p:sp>
      <p:sp>
        <p:nvSpPr>
          <p:cNvPr id="19" name="四角形: 角を丸くする 18">
            <a:extLst>
              <a:ext uri="{FF2B5EF4-FFF2-40B4-BE49-F238E27FC236}">
                <a16:creationId xmlns:a16="http://schemas.microsoft.com/office/drawing/2014/main" id="{F186B342-D0E4-4EAD-8562-9FCC6CF5AA9B}"/>
              </a:ext>
            </a:extLst>
          </p:cNvPr>
          <p:cNvSpPr/>
          <p:nvPr/>
        </p:nvSpPr>
        <p:spPr>
          <a:xfrm>
            <a:off x="4318000" y="3111500"/>
            <a:ext cx="3429000" cy="13970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0" name="正方形/長方形 19">
            <a:extLst>
              <a:ext uri="{FF2B5EF4-FFF2-40B4-BE49-F238E27FC236}">
                <a16:creationId xmlns:a16="http://schemas.microsoft.com/office/drawing/2014/main" id="{7B907791-FE05-4831-985F-97D57596C1DE}"/>
              </a:ext>
            </a:extLst>
          </p:cNvPr>
          <p:cNvSpPr/>
          <p:nvPr/>
        </p:nvSpPr>
        <p:spPr>
          <a:xfrm>
            <a:off x="4318000" y="3111500"/>
            <a:ext cx="3429000" cy="76200"/>
          </a:xfrm>
          <a:prstGeom prst="rect">
            <a:avLst/>
          </a:prstGeom>
          <a:solidFill>
            <a:srgbClr val="4A4A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1" name="テキスト ボックス 20">
            <a:extLst>
              <a:ext uri="{FF2B5EF4-FFF2-40B4-BE49-F238E27FC236}">
                <a16:creationId xmlns:a16="http://schemas.microsoft.com/office/drawing/2014/main" id="{DB5B5400-F82E-4050-8295-4A390DBD5456}"/>
              </a:ext>
            </a:extLst>
          </p:cNvPr>
          <p:cNvSpPr txBox="1"/>
          <p:nvPr/>
        </p:nvSpPr>
        <p:spPr>
          <a:xfrm>
            <a:off x="4508500" y="3314700"/>
            <a:ext cx="3048000" cy="304800"/>
          </a:xfrm>
          <a:prstGeom prst="rect">
            <a:avLst/>
          </a:prstGeom>
          <a:noFill/>
        </p:spPr>
        <p:txBody>
          <a:bodyPr vertOverflow="overflow" vert="horz" wrap="square" rtlCol="0" anchor="t">
            <a:spAutoFit/>
          </a:bodyPr>
          <a:lstStyle/>
          <a:p>
            <a:pPr algn="l"/>
            <a:r>
              <a:rPr lang="ja-JP" altLang="en-US" sz="1400">
                <a:solidFill>
                  <a:srgbClr val="6B6B6B"/>
                </a:solidFill>
                <a:latin typeface="BIZ UDPGothic"/>
                <a:ea typeface="BIZ UDPGothic"/>
              </a:rPr>
              <a:t>識別子列</a:t>
            </a:r>
          </a:p>
        </p:txBody>
      </p:sp>
      <p:sp>
        <p:nvSpPr>
          <p:cNvPr id="22" name="テキスト ボックス 21">
            <a:extLst>
              <a:ext uri="{FF2B5EF4-FFF2-40B4-BE49-F238E27FC236}">
                <a16:creationId xmlns:a16="http://schemas.microsoft.com/office/drawing/2014/main" id="{A7ECAC1E-0E9E-4AA7-8054-6ECEAE369DF2}"/>
              </a:ext>
            </a:extLst>
          </p:cNvPr>
          <p:cNvSpPr txBox="1"/>
          <p:nvPr/>
        </p:nvSpPr>
        <p:spPr>
          <a:xfrm>
            <a:off x="4508500" y="3644900"/>
            <a:ext cx="3048000" cy="635000"/>
          </a:xfrm>
          <a:prstGeom prst="rect">
            <a:avLst/>
          </a:prstGeom>
          <a:noFill/>
        </p:spPr>
        <p:txBody>
          <a:bodyPr vertOverflow="overflow" vert="horz" wrap="square" rtlCol="0" anchor="t">
            <a:spAutoFit/>
          </a:bodyPr>
          <a:lstStyle/>
          <a:p>
            <a:pPr algn="l"/>
            <a:r>
              <a:rPr lang="en-US" altLang="ja-JP" sz="2200" b="1">
                <a:solidFill>
                  <a:srgbClr val="4A4A4A"/>
                </a:solidFill>
                <a:latin typeface="BIZ UDPGothic"/>
                <a:ea typeface="BIZ UDPGothic"/>
              </a:rPr>
              <a:t>id</a:t>
            </a:r>
            <a:r>
              <a:rPr lang="ja-JP" altLang="en-US" sz="2200" b="1">
                <a:solidFill>
                  <a:srgbClr val="4A4A4A"/>
                </a:solidFill>
                <a:latin typeface="BIZ UDPGothic"/>
                <a:ea typeface="BIZ UDPGothic"/>
              </a:rPr>
              <a:t>（除外）</a:t>
            </a:r>
          </a:p>
        </p:txBody>
      </p:sp>
      <p:sp>
        <p:nvSpPr>
          <p:cNvPr id="23" name="四角形: 角を丸くする 22">
            <a:extLst>
              <a:ext uri="{FF2B5EF4-FFF2-40B4-BE49-F238E27FC236}">
                <a16:creationId xmlns:a16="http://schemas.microsoft.com/office/drawing/2014/main" id="{82E9F71A-1477-4162-A437-B5A8AE5B1C45}"/>
              </a:ext>
            </a:extLst>
          </p:cNvPr>
          <p:cNvSpPr/>
          <p:nvPr/>
        </p:nvSpPr>
        <p:spPr>
          <a:xfrm>
            <a:off x="8128000" y="3111500"/>
            <a:ext cx="3429000" cy="13970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4" name="正方形/長方形 23">
            <a:extLst>
              <a:ext uri="{FF2B5EF4-FFF2-40B4-BE49-F238E27FC236}">
                <a16:creationId xmlns:a16="http://schemas.microsoft.com/office/drawing/2014/main" id="{916ADB3E-41D2-404E-AAEA-91C96F0D6AC1}"/>
              </a:ext>
            </a:extLst>
          </p:cNvPr>
          <p:cNvSpPr/>
          <p:nvPr/>
        </p:nvSpPr>
        <p:spPr>
          <a:xfrm>
            <a:off x="8128000" y="3111500"/>
            <a:ext cx="3429000" cy="76200"/>
          </a:xfrm>
          <a:prstGeom prst="rect">
            <a:avLst/>
          </a:prstGeom>
          <a:solidFill>
            <a:srgbClr val="6B6B6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5" name="テキスト ボックス 24">
            <a:extLst>
              <a:ext uri="{FF2B5EF4-FFF2-40B4-BE49-F238E27FC236}">
                <a16:creationId xmlns:a16="http://schemas.microsoft.com/office/drawing/2014/main" id="{FFB88601-0E84-4840-8973-D2D8851EF060}"/>
              </a:ext>
            </a:extLst>
          </p:cNvPr>
          <p:cNvSpPr txBox="1"/>
          <p:nvPr/>
        </p:nvSpPr>
        <p:spPr>
          <a:xfrm>
            <a:off x="8318500" y="3314700"/>
            <a:ext cx="3048000" cy="304800"/>
          </a:xfrm>
          <a:prstGeom prst="rect">
            <a:avLst/>
          </a:prstGeom>
          <a:noFill/>
        </p:spPr>
        <p:txBody>
          <a:bodyPr vertOverflow="overflow" vert="horz" wrap="square" rtlCol="0" anchor="t">
            <a:spAutoFit/>
          </a:bodyPr>
          <a:lstStyle/>
          <a:p>
            <a:pPr algn="l"/>
            <a:r>
              <a:rPr lang="ja-JP" altLang="en-US" sz="1400">
                <a:solidFill>
                  <a:srgbClr val="6B6B6B"/>
                </a:solidFill>
                <a:latin typeface="BIZ UDPGothic"/>
                <a:ea typeface="BIZ UDPGothic"/>
              </a:rPr>
              <a:t>日付列・時系列列</a:t>
            </a:r>
          </a:p>
        </p:txBody>
      </p:sp>
      <p:sp>
        <p:nvSpPr>
          <p:cNvPr id="26" name="テキスト ボックス 25">
            <a:extLst>
              <a:ext uri="{FF2B5EF4-FFF2-40B4-BE49-F238E27FC236}">
                <a16:creationId xmlns:a16="http://schemas.microsoft.com/office/drawing/2014/main" id="{795864AD-76C7-4F26-B0AD-7AFD415A23C8}"/>
              </a:ext>
            </a:extLst>
          </p:cNvPr>
          <p:cNvSpPr txBox="1"/>
          <p:nvPr/>
        </p:nvSpPr>
        <p:spPr>
          <a:xfrm>
            <a:off x="8318500" y="3644900"/>
            <a:ext cx="3048000" cy="635000"/>
          </a:xfrm>
          <a:prstGeom prst="rect">
            <a:avLst/>
          </a:prstGeom>
          <a:noFill/>
        </p:spPr>
        <p:txBody>
          <a:bodyPr vertOverflow="overflow" vert="horz" wrap="square" rtlCol="0" anchor="t">
            <a:spAutoFit/>
          </a:bodyPr>
          <a:lstStyle/>
          <a:p>
            <a:pPr algn="l"/>
            <a:r>
              <a:rPr lang="ja-JP" altLang="en-US" sz="2200" b="1">
                <a:solidFill>
                  <a:srgbClr val="6B6B6B"/>
                </a:solidFill>
                <a:latin typeface="BIZ UDPGothic"/>
                <a:ea typeface="BIZ UDPGothic"/>
              </a:rPr>
              <a:t>存在しない</a:t>
            </a:r>
          </a:p>
        </p:txBody>
      </p:sp>
      <p:sp>
        <p:nvSpPr>
          <p:cNvPr id="27" name="テキスト ボックス 26">
            <a:extLst>
              <a:ext uri="{FF2B5EF4-FFF2-40B4-BE49-F238E27FC236}">
                <a16:creationId xmlns:a16="http://schemas.microsoft.com/office/drawing/2014/main" id="{62F44658-879F-4719-B604-9C18983AC0EF}"/>
              </a:ext>
            </a:extLst>
          </p:cNvPr>
          <p:cNvSpPr txBox="1"/>
          <p:nvPr/>
        </p:nvSpPr>
        <p:spPr>
          <a:xfrm>
            <a:off x="508000" y="5016500"/>
            <a:ext cx="11176000" cy="304800"/>
          </a:xfrm>
          <a:prstGeom prst="rect">
            <a:avLst/>
          </a:prstGeom>
          <a:noFill/>
        </p:spPr>
        <p:txBody>
          <a:bodyPr vertOverflow="overflow" vert="horz" wrap="square" rtlCol="0" anchor="t">
            <a:spAutoFit/>
          </a:bodyPr>
          <a:lstStyle/>
          <a:p>
            <a:pPr algn="l"/>
            <a:r>
              <a:rPr lang="en-US" altLang="ja-JP" sz="1400">
                <a:solidFill>
                  <a:srgbClr val="6B6B6B"/>
                </a:solidFill>
                <a:latin typeface="BIZ UDPGothic"/>
                <a:ea typeface="BIZ UDPGothic"/>
              </a:rPr>
              <a:t>※ </a:t>
            </a:r>
            <a:r>
              <a:rPr lang="ja-JP" altLang="en-US" sz="1400">
                <a:solidFill>
                  <a:srgbClr val="6B6B6B"/>
                </a:solidFill>
                <a:latin typeface="BIZ UDPGothic"/>
                <a:ea typeface="BIZ UDPGothic"/>
              </a:rPr>
              <a:t>実データ表現は説明書と一部差異があり、実データ値を正として扱った</a:t>
            </a:r>
          </a:p>
        </p:txBody>
      </p:sp>
      <p:sp>
        <p:nvSpPr>
          <p:cNvPr id="28" name="テキスト ボックス 27">
            <a:extLst>
              <a:ext uri="{FF2B5EF4-FFF2-40B4-BE49-F238E27FC236}">
                <a16:creationId xmlns:a16="http://schemas.microsoft.com/office/drawing/2014/main" id="{593739B7-E8F1-4DF9-91EF-09014FFF9DD2}"/>
              </a:ext>
            </a:extLst>
          </p:cNvPr>
          <p:cNvSpPr txBox="1"/>
          <p:nvPr/>
        </p:nvSpPr>
        <p:spPr>
          <a:xfrm>
            <a:off x="508000" y="5448300"/>
            <a:ext cx="11176000" cy="355600"/>
          </a:xfrm>
          <a:prstGeom prst="rect">
            <a:avLst/>
          </a:prstGeom>
          <a:noFill/>
        </p:spPr>
        <p:txBody>
          <a:bodyPr vertOverflow="overflow" vert="horz" wrap="square" rtlCol="0" anchor="t">
            <a:spAutoFit/>
          </a:bodyPr>
          <a:lstStyle/>
          <a:p>
            <a:pPr algn="l"/>
            <a:r>
              <a:rPr lang="ja-JP" altLang="en-US" sz="1600" b="1">
                <a:solidFill>
                  <a:srgbClr val="1A1A1A"/>
                </a:solidFill>
                <a:latin typeface="BIZ UDPGothic"/>
                <a:ea typeface="BIZ UDPGothic"/>
              </a:rPr>
              <a:t>分析アプローチ（再現可能性と説明可能性重視）</a:t>
            </a:r>
          </a:p>
        </p:txBody>
      </p:sp>
      <p:sp>
        <p:nvSpPr>
          <p:cNvPr id="29" name="矢印: 五方向 28">
            <a:extLst>
              <a:ext uri="{FF2B5EF4-FFF2-40B4-BE49-F238E27FC236}">
                <a16:creationId xmlns:a16="http://schemas.microsoft.com/office/drawing/2014/main" id="{4B2DB6C8-78A7-4ACE-9B31-6BC145B92797}"/>
              </a:ext>
            </a:extLst>
          </p:cNvPr>
          <p:cNvSpPr/>
          <p:nvPr/>
        </p:nvSpPr>
        <p:spPr>
          <a:xfrm>
            <a:off x="508000" y="5880100"/>
            <a:ext cx="1714500" cy="584200"/>
          </a:xfrm>
          <a:prstGeom prst="homePlate">
            <a:avLst/>
          </a:prstGeom>
          <a:solidFill>
            <a:srgbClr val="C9A7A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400">
                <a:solidFill>
                  <a:srgbClr val="3D3D3D"/>
                </a:solidFill>
                <a:latin typeface="BIZ UDPGothic"/>
                <a:ea typeface="BIZ UDPGothic"/>
              </a:rPr>
              <a:t>データ理解
品質確認</a:t>
            </a:r>
          </a:p>
        </p:txBody>
      </p:sp>
      <p:sp>
        <p:nvSpPr>
          <p:cNvPr id="30" name="矢印: 五方向 29">
            <a:extLst>
              <a:ext uri="{FF2B5EF4-FFF2-40B4-BE49-F238E27FC236}">
                <a16:creationId xmlns:a16="http://schemas.microsoft.com/office/drawing/2014/main" id="{3F3A38D4-D1CB-469F-8B95-673E9C10628A}"/>
              </a:ext>
            </a:extLst>
          </p:cNvPr>
          <p:cNvSpPr/>
          <p:nvPr/>
        </p:nvSpPr>
        <p:spPr>
          <a:xfrm>
            <a:off x="2349500" y="5880100"/>
            <a:ext cx="1714500" cy="584200"/>
          </a:xfrm>
          <a:prstGeom prst="homePlat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ja-JP" sz="1400">
                <a:solidFill>
                  <a:srgbClr val="FFFFFF"/>
                </a:solidFill>
                <a:latin typeface="BIZ UDPGothic"/>
                <a:ea typeface="BIZ UDPGothic"/>
              </a:rPr>
              <a:t>EDA
</a:t>
            </a:r>
            <a:r>
              <a:rPr lang="ja-JP" altLang="en-US" sz="1400">
                <a:solidFill>
                  <a:srgbClr val="FFFFFF"/>
                </a:solidFill>
                <a:latin typeface="BIZ UDPGothic"/>
                <a:ea typeface="BIZ UDPGothic"/>
              </a:rPr>
              <a:t>分布・集計</a:t>
            </a:r>
          </a:p>
        </p:txBody>
      </p:sp>
      <p:sp>
        <p:nvSpPr>
          <p:cNvPr id="31" name="矢印: 五方向 30">
            <a:extLst>
              <a:ext uri="{FF2B5EF4-FFF2-40B4-BE49-F238E27FC236}">
                <a16:creationId xmlns:a16="http://schemas.microsoft.com/office/drawing/2014/main" id="{0EDF9346-9E25-4ACB-951C-8A5BD5503865}"/>
              </a:ext>
            </a:extLst>
          </p:cNvPr>
          <p:cNvSpPr/>
          <p:nvPr/>
        </p:nvSpPr>
        <p:spPr>
          <a:xfrm>
            <a:off x="4191000" y="5880100"/>
            <a:ext cx="1714500" cy="584200"/>
          </a:xfrm>
          <a:prstGeom prst="homePlate">
            <a:avLst/>
          </a:prstGeom>
          <a:solidFill>
            <a:srgbClr val="7A332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zh-TW" altLang="en-US" sz="1400">
                <a:solidFill>
                  <a:srgbClr val="FFFFFF"/>
                </a:solidFill>
                <a:latin typeface="BIZ UDPGothic"/>
                <a:ea typeface="BIZ UDPGothic"/>
              </a:rPr>
              <a:t>前処理方針
整理</a:t>
            </a:r>
            <a:endParaRPr lang="ja-JP" altLang="en-US" sz="1400">
              <a:solidFill>
                <a:srgbClr val="FFFFFF"/>
              </a:solidFill>
              <a:latin typeface="BIZ UDPGothic"/>
              <a:ea typeface="BIZ UDPGothic"/>
            </a:endParaRPr>
          </a:p>
        </p:txBody>
      </p:sp>
      <p:sp>
        <p:nvSpPr>
          <p:cNvPr id="32" name="矢印: 五方向 31">
            <a:extLst>
              <a:ext uri="{FF2B5EF4-FFF2-40B4-BE49-F238E27FC236}">
                <a16:creationId xmlns:a16="http://schemas.microsoft.com/office/drawing/2014/main" id="{FD97B821-4781-4171-B115-EC5265259B69}"/>
              </a:ext>
            </a:extLst>
          </p:cNvPr>
          <p:cNvSpPr/>
          <p:nvPr/>
        </p:nvSpPr>
        <p:spPr>
          <a:xfrm>
            <a:off x="6032500" y="5880100"/>
            <a:ext cx="1714500" cy="584200"/>
          </a:xfrm>
          <a:prstGeom prst="homePlate">
            <a:avLst/>
          </a:prstGeom>
          <a:solidFill>
            <a:srgbClr val="A4665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400">
                <a:solidFill>
                  <a:srgbClr val="FFFFFF"/>
                </a:solidFill>
                <a:latin typeface="BIZ UDPGothic"/>
                <a:ea typeface="BIZ UDPGothic"/>
              </a:rPr>
              <a:t>初期モデル
作成・評価</a:t>
            </a:r>
          </a:p>
        </p:txBody>
      </p:sp>
      <p:sp>
        <p:nvSpPr>
          <p:cNvPr id="33" name="矢印: 五方向 32">
            <a:extLst>
              <a:ext uri="{FF2B5EF4-FFF2-40B4-BE49-F238E27FC236}">
                <a16:creationId xmlns:a16="http://schemas.microsoft.com/office/drawing/2014/main" id="{1BE1454F-8F32-4AD3-BD31-A245FFDC383B}"/>
              </a:ext>
            </a:extLst>
          </p:cNvPr>
          <p:cNvSpPr/>
          <p:nvPr/>
        </p:nvSpPr>
        <p:spPr>
          <a:xfrm>
            <a:off x="7874000" y="5880100"/>
            <a:ext cx="1714500" cy="584200"/>
          </a:xfrm>
          <a:prstGeom prst="homePlate">
            <a:avLst/>
          </a:prstGeom>
          <a:solidFill>
            <a:srgbClr val="97504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400">
                <a:solidFill>
                  <a:srgbClr val="FFFFFF"/>
                </a:solidFill>
                <a:latin typeface="BIZ UDPGothic"/>
                <a:ea typeface="BIZ UDPGothic"/>
              </a:rPr>
              <a:t>解釈・示唆
整理</a:t>
            </a:r>
          </a:p>
        </p:txBody>
      </p:sp>
      <p:sp>
        <p:nvSpPr>
          <p:cNvPr id="34" name="矢印: 五方向 33">
            <a:extLst>
              <a:ext uri="{FF2B5EF4-FFF2-40B4-BE49-F238E27FC236}">
                <a16:creationId xmlns:a16="http://schemas.microsoft.com/office/drawing/2014/main" id="{8B9A439B-B531-4973-B53B-7C2189DFF7CB}"/>
              </a:ext>
            </a:extLst>
          </p:cNvPr>
          <p:cNvSpPr/>
          <p:nvPr/>
        </p:nvSpPr>
        <p:spPr>
          <a:xfrm>
            <a:off x="9715500" y="5880100"/>
            <a:ext cx="1714500" cy="584200"/>
          </a:xfrm>
          <a:prstGeom prst="homePlat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400">
                <a:solidFill>
                  <a:srgbClr val="FFFFFF"/>
                </a:solidFill>
                <a:latin typeface="BIZ UDPGothic"/>
                <a:ea typeface="BIZ UDPGothic"/>
              </a:rPr>
              <a:t>公平性
レビュー</a:t>
            </a:r>
          </a:p>
        </p:txBody>
      </p:sp>
      <p:sp>
        <p:nvSpPr>
          <p:cNvPr id="35" name="テキスト ボックス 34">
            <a:extLst>
              <a:ext uri="{FF2B5EF4-FFF2-40B4-BE49-F238E27FC236}">
                <a16:creationId xmlns:a16="http://schemas.microsoft.com/office/drawing/2014/main" id="{F646D526-8F8E-421E-AA37-0CC1351BEAD0}"/>
              </a:ext>
            </a:extLst>
          </p:cNvPr>
          <p:cNvSpPr txBox="1"/>
          <p:nvPr/>
        </p:nvSpPr>
        <p:spPr>
          <a:xfrm>
            <a:off x="508000" y="254000"/>
            <a:ext cx="11176000" cy="508000"/>
          </a:xfrm>
          <a:prstGeom prst="rect">
            <a:avLst/>
          </a:prstGeom>
          <a:noFill/>
        </p:spPr>
        <p:txBody>
          <a:bodyPr vertOverflow="overflow" vert="horz" wrap="square" rtlCol="0" anchor="t">
            <a:noAutofit/>
          </a:bodyPr>
          <a:lstStyle/>
          <a:p>
            <a:pPr algn="l"/>
            <a:r>
              <a:rPr lang="en-US" altLang="ja-JP" sz="2400" b="1">
                <a:solidFill>
                  <a:srgbClr val="1A1A1A"/>
                </a:solidFill>
                <a:latin typeface="BIZ UDPGothic"/>
                <a:ea typeface="BIZ UDPGothic"/>
              </a:rPr>
              <a:t>3. </a:t>
            </a:r>
            <a:r>
              <a:rPr lang="ja-JP" altLang="en-US" sz="2400" b="1">
                <a:solidFill>
                  <a:srgbClr val="1A1A1A"/>
                </a:solidFill>
                <a:latin typeface="BIZ UDPGothic"/>
                <a:ea typeface="BIZ UDPGothic"/>
              </a:rPr>
              <a:t>データ理解・品質確認</a:t>
            </a:r>
          </a:p>
        </p:txBody>
      </p:sp>
      <p:sp>
        <p:nvSpPr>
          <p:cNvPr id="36" name="正方形/長方形 35">
            <a:extLst>
              <a:ext uri="{FF2B5EF4-FFF2-40B4-BE49-F238E27FC236}">
                <a16:creationId xmlns:a16="http://schemas.microsoft.com/office/drawing/2014/main" id="{10C21071-F6E1-40FB-B64D-B290D25398A5}"/>
              </a:ext>
            </a:extLst>
          </p:cNvPr>
          <p:cNvSpPr/>
          <p:nvPr/>
        </p:nvSpPr>
        <p:spPr>
          <a:xfrm>
            <a:off x="508000" y="787400"/>
            <a:ext cx="1270000" cy="38100"/>
          </a:xfrm>
          <a:prstGeom prst="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Tree>
    <p:extLst>
      <p:ext uri="{BB962C8B-B14F-4D97-AF65-F5344CB8AC3E}">
        <p14:creationId xmlns:p14="http://schemas.microsoft.com/office/powerpoint/2010/main" val="7562079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四角形: 角を丸くする 2">
            <a:extLst>
              <a:ext uri="{FF2B5EF4-FFF2-40B4-BE49-F238E27FC236}">
                <a16:creationId xmlns:a16="http://schemas.microsoft.com/office/drawing/2014/main" id="{D77B1A26-6076-4F3C-A6A3-EE163EF95145}"/>
              </a:ext>
            </a:extLst>
          </p:cNvPr>
          <p:cNvSpPr/>
          <p:nvPr/>
        </p:nvSpPr>
        <p:spPr>
          <a:xfrm>
            <a:off x="508000" y="1397000"/>
            <a:ext cx="5080000" cy="25400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 name="テキスト ボックス 3">
            <a:extLst>
              <a:ext uri="{FF2B5EF4-FFF2-40B4-BE49-F238E27FC236}">
                <a16:creationId xmlns:a16="http://schemas.microsoft.com/office/drawing/2014/main" id="{D37E25FD-4E14-470A-A8C5-E88ED4A430BC}"/>
              </a:ext>
            </a:extLst>
          </p:cNvPr>
          <p:cNvSpPr txBox="1"/>
          <p:nvPr/>
        </p:nvSpPr>
        <p:spPr>
          <a:xfrm>
            <a:off x="698500" y="1460500"/>
            <a:ext cx="4699000" cy="355600"/>
          </a:xfrm>
          <a:prstGeom prst="rect">
            <a:avLst/>
          </a:prstGeom>
          <a:noFill/>
        </p:spPr>
        <p:txBody>
          <a:bodyPr vertOverflow="overflow" vert="horz" wrap="square" rtlCol="0" anchor="t">
            <a:spAutoFit/>
          </a:bodyPr>
          <a:lstStyle/>
          <a:p>
            <a:pPr algn="l"/>
            <a:r>
              <a:rPr lang="en-US" altLang="ja-JP" sz="1600" b="1">
                <a:solidFill>
                  <a:srgbClr val="8B3A2F"/>
                </a:solidFill>
                <a:latin typeface="BIZ UDPGothic"/>
                <a:ea typeface="BIZ UDPGothic"/>
              </a:rPr>
              <a:t>Extra Trees </a:t>
            </a:r>
            <a:r>
              <a:rPr lang="ja-JP" altLang="en-US" sz="1600" b="1">
                <a:solidFill>
                  <a:srgbClr val="8B3A2F"/>
                </a:solidFill>
                <a:latin typeface="BIZ UDPGothic"/>
                <a:ea typeface="BIZ UDPGothic"/>
              </a:rPr>
              <a:t>モデル構成</a:t>
            </a:r>
          </a:p>
        </p:txBody>
      </p:sp>
      <p:graphicFrame>
        <p:nvGraphicFramePr>
          <p:cNvPr id="6" name="表 5">
            <a:extLst>
              <a:ext uri="{FF2B5EF4-FFF2-40B4-BE49-F238E27FC236}">
                <a16:creationId xmlns:a16="http://schemas.microsoft.com/office/drawing/2014/main" id="{33BFC80C-48A0-4B9A-A402-B73E1E8CF0CB}"/>
              </a:ext>
            </a:extLst>
          </p:cNvPr>
          <p:cNvGraphicFramePr>
            <a:graphicFrameLocks noGrp="1"/>
          </p:cNvGraphicFramePr>
          <p:nvPr>
            <p:extLst>
              <p:ext uri="{D42A27DB-BD31-4B8C-83A1-F6EECF244321}">
                <p14:modId xmlns:p14="http://schemas.microsoft.com/office/powerpoint/2010/main" val="2294068841"/>
              </p:ext>
            </p:extLst>
          </p:nvPr>
        </p:nvGraphicFramePr>
        <p:xfrm>
          <a:off x="698500" y="1841500"/>
          <a:ext cx="4699000" cy="1968498"/>
        </p:xfrm>
        <a:graphic>
          <a:graphicData uri="http://schemas.openxmlformats.org/drawingml/2006/table">
            <a:tbl>
              <a:tblPr/>
              <a:tblGrid>
                <a:gridCol w="2540000">
                  <a:extLst>
                    <a:ext uri="{9D8B030D-6E8A-4147-A177-3AD203B41FA5}">
                      <a16:colId xmlns:a16="http://schemas.microsoft.com/office/drawing/2014/main" val="1007583117"/>
                    </a:ext>
                  </a:extLst>
                </a:gridCol>
                <a:gridCol w="2159000">
                  <a:extLst>
                    <a:ext uri="{9D8B030D-6E8A-4147-A177-3AD203B41FA5}">
                      <a16:colId xmlns:a16="http://schemas.microsoft.com/office/drawing/2014/main" val="2717609832"/>
                    </a:ext>
                  </a:extLst>
                </a:gridCol>
              </a:tblGrid>
              <a:tr h="328083">
                <a:tc>
                  <a:txBody>
                    <a:bodyPr/>
                    <a:lstStyle/>
                    <a:p>
                      <a:pPr algn="ctr"/>
                      <a:r>
                        <a:rPr lang="ja-JP" altLang="en-US" sz="1400" b="1">
                          <a:solidFill>
                            <a:srgbClr val="FFFFFF"/>
                          </a:solidFill>
                          <a:latin typeface="BIZ UDPGothic"/>
                          <a:ea typeface="BIZ UDPGothic"/>
                        </a:rPr>
                        <a:t>パラメータ</a:t>
                      </a:r>
                    </a:p>
                  </a:txBody>
                  <a:tcPr marT="37042" marB="37042">
                    <a:lnL w="0"/>
                    <a:lnR w="0"/>
                    <a:lnT w="0"/>
                    <a:lnB w="0"/>
                    <a:lnTlToBr w="0"/>
                    <a:lnBlToTr w="0"/>
                    <a:solidFill>
                      <a:srgbClr val="8B3A2F"/>
                    </a:solidFill>
                  </a:tcPr>
                </a:tc>
                <a:tc>
                  <a:txBody>
                    <a:bodyPr/>
                    <a:lstStyle/>
                    <a:p>
                      <a:pPr algn="ctr"/>
                      <a:r>
                        <a:rPr lang="ja-JP" altLang="en-US" sz="1400" b="1">
                          <a:solidFill>
                            <a:srgbClr val="FFFFFF"/>
                          </a:solidFill>
                          <a:latin typeface="BIZ UDPGothic"/>
                          <a:ea typeface="BIZ UDPGothic"/>
                        </a:rPr>
                        <a:t>設定値</a:t>
                      </a:r>
                    </a:p>
                  </a:txBody>
                  <a:tcPr marT="37042" marB="37042">
                    <a:lnL w="0"/>
                    <a:lnR w="0"/>
                    <a:lnT w="0"/>
                    <a:lnB w="0"/>
                    <a:lnTlToBr w="0"/>
                    <a:lnBlToTr w="0"/>
                    <a:solidFill>
                      <a:srgbClr val="8B3A2F"/>
                    </a:solidFill>
                  </a:tcPr>
                </a:tc>
                <a:extLst>
                  <a:ext uri="{0D108BD9-81ED-4DB2-BD59-A6C34878D82A}">
                    <a16:rowId xmlns:a16="http://schemas.microsoft.com/office/drawing/2014/main" val="2957495586"/>
                  </a:ext>
                </a:extLst>
              </a:tr>
              <a:tr h="328083">
                <a:tc>
                  <a:txBody>
                    <a:bodyPr/>
                    <a:lstStyle/>
                    <a:p>
                      <a:pPr algn="ctr"/>
                      <a:r>
                        <a:rPr lang="ja-JP" altLang="en-US" sz="1400">
                          <a:solidFill>
                            <a:srgbClr val="3D3D3D"/>
                          </a:solidFill>
                          <a:latin typeface="BIZ UDPGothic"/>
                          <a:ea typeface="BIZ UDPGothic"/>
                        </a:rPr>
                        <a:t>n_estimators</a:t>
                      </a:r>
                    </a:p>
                  </a:txBody>
                  <a:tcPr marT="37042" marB="37042">
                    <a:lnL w="0"/>
                    <a:lnR w="0"/>
                    <a:lnT w="0"/>
                    <a:lnB w="0"/>
                    <a:lnTlToBr w="0"/>
                    <a:lnBlToTr w="0"/>
                  </a:tcPr>
                </a:tc>
                <a:tc>
                  <a:txBody>
                    <a:bodyPr/>
                    <a:lstStyle/>
                    <a:p>
                      <a:pPr algn="ctr"/>
                      <a:r>
                        <a:rPr lang="ja-JP" altLang="en-US" sz="1400">
                          <a:solidFill>
                            <a:srgbClr val="3D3D3D"/>
                          </a:solidFill>
                          <a:latin typeface="BIZ UDPGothic"/>
                          <a:ea typeface="BIZ UDPGothic"/>
                        </a:rPr>
                        <a:t>500</a:t>
                      </a:r>
                    </a:p>
                  </a:txBody>
                  <a:tcPr marT="37042" marB="37042">
                    <a:lnL w="0"/>
                    <a:lnR w="0"/>
                    <a:lnT w="0"/>
                    <a:lnB w="0"/>
                    <a:lnTlToBr w="0"/>
                    <a:lnBlToTr w="0"/>
                  </a:tcPr>
                </a:tc>
                <a:extLst>
                  <a:ext uri="{0D108BD9-81ED-4DB2-BD59-A6C34878D82A}">
                    <a16:rowId xmlns:a16="http://schemas.microsoft.com/office/drawing/2014/main" val="3250052304"/>
                  </a:ext>
                </a:extLst>
              </a:tr>
              <a:tr h="328083">
                <a:tc>
                  <a:txBody>
                    <a:bodyPr/>
                    <a:lstStyle/>
                    <a:p>
                      <a:pPr algn="ctr"/>
                      <a:r>
                        <a:rPr lang="ja-JP" altLang="en-US" sz="1400">
                          <a:solidFill>
                            <a:srgbClr val="3D3D3D"/>
                          </a:solidFill>
                          <a:latin typeface="BIZ UDPGothic"/>
                          <a:ea typeface="BIZ UDPGothic"/>
                        </a:rPr>
                        <a:t>max_depth</a:t>
                      </a:r>
                    </a:p>
                  </a:txBody>
                  <a:tcPr marT="37042" marB="37042">
                    <a:lnL w="0"/>
                    <a:lnR w="0"/>
                    <a:lnT w="0"/>
                    <a:lnB w="0"/>
                    <a:lnTlToBr w="0"/>
                    <a:lnBlToTr w="0"/>
                    <a:solidFill>
                      <a:srgbClr val="F2F0ED"/>
                    </a:solidFill>
                  </a:tcPr>
                </a:tc>
                <a:tc>
                  <a:txBody>
                    <a:bodyPr/>
                    <a:lstStyle/>
                    <a:p>
                      <a:pPr algn="ctr"/>
                      <a:r>
                        <a:rPr lang="ja-JP" altLang="en-US" sz="1400">
                          <a:solidFill>
                            <a:srgbClr val="3D3D3D"/>
                          </a:solidFill>
                          <a:latin typeface="BIZ UDPGothic"/>
                          <a:ea typeface="BIZ UDPGothic"/>
                        </a:rPr>
                        <a:t>10</a:t>
                      </a:r>
                    </a:p>
                  </a:txBody>
                  <a:tcPr marT="37042" marB="37042">
                    <a:lnL w="0"/>
                    <a:lnR w="0"/>
                    <a:lnT w="0"/>
                    <a:lnB w="0"/>
                    <a:lnTlToBr w="0"/>
                    <a:lnBlToTr w="0"/>
                    <a:solidFill>
                      <a:srgbClr val="F2F0ED"/>
                    </a:solidFill>
                  </a:tcPr>
                </a:tc>
                <a:extLst>
                  <a:ext uri="{0D108BD9-81ED-4DB2-BD59-A6C34878D82A}">
                    <a16:rowId xmlns:a16="http://schemas.microsoft.com/office/drawing/2014/main" val="1808692704"/>
                  </a:ext>
                </a:extLst>
              </a:tr>
              <a:tr h="328083">
                <a:tc>
                  <a:txBody>
                    <a:bodyPr/>
                    <a:lstStyle/>
                    <a:p>
                      <a:pPr algn="ctr"/>
                      <a:r>
                        <a:rPr lang="ja-JP" altLang="en-US" sz="1400">
                          <a:solidFill>
                            <a:srgbClr val="3D3D3D"/>
                          </a:solidFill>
                          <a:latin typeface="BIZ UDPGothic"/>
                          <a:ea typeface="BIZ UDPGothic"/>
                        </a:rPr>
                        <a:t>min_samples_leaf</a:t>
                      </a:r>
                    </a:p>
                  </a:txBody>
                  <a:tcPr marT="37042" marB="37042">
                    <a:lnL w="0"/>
                    <a:lnR w="0"/>
                    <a:lnT w="0"/>
                    <a:lnB w="0"/>
                    <a:lnTlToBr w="0"/>
                    <a:lnBlToTr w="0"/>
                  </a:tcPr>
                </a:tc>
                <a:tc>
                  <a:txBody>
                    <a:bodyPr/>
                    <a:lstStyle/>
                    <a:p>
                      <a:pPr algn="ctr"/>
                      <a:r>
                        <a:rPr lang="ja-JP" altLang="en-US" sz="1400">
                          <a:solidFill>
                            <a:srgbClr val="3D3D3D"/>
                          </a:solidFill>
                          <a:latin typeface="BIZ UDPGothic"/>
                          <a:ea typeface="BIZ UDPGothic"/>
                        </a:rPr>
                        <a:t>8</a:t>
                      </a:r>
                    </a:p>
                  </a:txBody>
                  <a:tcPr marT="37042" marB="37042">
                    <a:lnL w="0"/>
                    <a:lnR w="0"/>
                    <a:lnT w="0"/>
                    <a:lnB w="0"/>
                    <a:lnTlToBr w="0"/>
                    <a:lnBlToTr w="0"/>
                  </a:tcPr>
                </a:tc>
                <a:extLst>
                  <a:ext uri="{0D108BD9-81ED-4DB2-BD59-A6C34878D82A}">
                    <a16:rowId xmlns:a16="http://schemas.microsoft.com/office/drawing/2014/main" val="328562842"/>
                  </a:ext>
                </a:extLst>
              </a:tr>
              <a:tr h="328083">
                <a:tc>
                  <a:txBody>
                    <a:bodyPr/>
                    <a:lstStyle/>
                    <a:p>
                      <a:pPr algn="ctr"/>
                      <a:r>
                        <a:rPr lang="ja-JP" altLang="en-US" sz="1400">
                          <a:solidFill>
                            <a:srgbClr val="3D3D3D"/>
                          </a:solidFill>
                          <a:latin typeface="BIZ UDPGothic"/>
                          <a:ea typeface="BIZ UDPGothic"/>
                        </a:rPr>
                        <a:t>class_weight</a:t>
                      </a:r>
                    </a:p>
                  </a:txBody>
                  <a:tcPr marT="37042" marB="37042">
                    <a:lnL w="0"/>
                    <a:lnR w="0"/>
                    <a:lnT w="0"/>
                    <a:lnB w="0"/>
                    <a:lnTlToBr w="0"/>
                    <a:lnBlToTr w="0"/>
                    <a:solidFill>
                      <a:srgbClr val="F2F0ED"/>
                    </a:solidFill>
                  </a:tcPr>
                </a:tc>
                <a:tc>
                  <a:txBody>
                    <a:bodyPr/>
                    <a:lstStyle/>
                    <a:p>
                      <a:pPr algn="ctr"/>
                      <a:r>
                        <a:rPr lang="ja-JP" altLang="en-US" sz="1400">
                          <a:solidFill>
                            <a:srgbClr val="3D3D3D"/>
                          </a:solidFill>
                          <a:latin typeface="BIZ UDPGothic"/>
                          <a:ea typeface="BIZ UDPGothic"/>
                        </a:rPr>
                        <a:t>balanced</a:t>
                      </a:r>
                    </a:p>
                  </a:txBody>
                  <a:tcPr marT="37042" marB="37042">
                    <a:lnL w="0"/>
                    <a:lnR w="0"/>
                    <a:lnT w="0"/>
                    <a:lnB w="0"/>
                    <a:lnTlToBr w="0"/>
                    <a:lnBlToTr w="0"/>
                    <a:solidFill>
                      <a:srgbClr val="F2F0ED"/>
                    </a:solidFill>
                  </a:tcPr>
                </a:tc>
                <a:extLst>
                  <a:ext uri="{0D108BD9-81ED-4DB2-BD59-A6C34878D82A}">
                    <a16:rowId xmlns:a16="http://schemas.microsoft.com/office/drawing/2014/main" val="1021212101"/>
                  </a:ext>
                </a:extLst>
              </a:tr>
              <a:tr h="328083">
                <a:tc>
                  <a:txBody>
                    <a:bodyPr/>
                    <a:lstStyle/>
                    <a:p>
                      <a:pPr algn="ctr"/>
                      <a:r>
                        <a:rPr lang="ja-JP" altLang="en-US" sz="1400">
                          <a:solidFill>
                            <a:srgbClr val="3D3D3D"/>
                          </a:solidFill>
                          <a:latin typeface="BIZ UDPGothic"/>
                          <a:ea typeface="BIZ UDPGothic"/>
                        </a:rPr>
                        <a:t>max_features</a:t>
                      </a:r>
                    </a:p>
                  </a:txBody>
                  <a:tcPr marT="37042" marB="37042">
                    <a:lnL w="0"/>
                    <a:lnR w="0"/>
                    <a:lnT w="0"/>
                    <a:lnB w="0"/>
                    <a:lnTlToBr w="0"/>
                    <a:lnBlToTr w="0"/>
                  </a:tcPr>
                </a:tc>
                <a:tc>
                  <a:txBody>
                    <a:bodyPr/>
                    <a:lstStyle/>
                    <a:p>
                      <a:pPr algn="ctr"/>
                      <a:r>
                        <a:rPr lang="ja-JP" altLang="en-US" sz="1400">
                          <a:solidFill>
                            <a:srgbClr val="3D3D3D"/>
                          </a:solidFill>
                          <a:latin typeface="BIZ UDPGothic"/>
                          <a:ea typeface="BIZ UDPGothic"/>
                        </a:rPr>
                        <a:t>sqrt</a:t>
                      </a:r>
                    </a:p>
                  </a:txBody>
                  <a:tcPr marT="37042" marB="37042">
                    <a:lnL w="0"/>
                    <a:lnR w="0"/>
                    <a:lnT w="0"/>
                    <a:lnB w="0"/>
                    <a:lnTlToBr w="0"/>
                    <a:lnBlToTr w="0"/>
                  </a:tcPr>
                </a:tc>
                <a:extLst>
                  <a:ext uri="{0D108BD9-81ED-4DB2-BD59-A6C34878D82A}">
                    <a16:rowId xmlns:a16="http://schemas.microsoft.com/office/drawing/2014/main" val="2040962521"/>
                  </a:ext>
                </a:extLst>
              </a:tr>
            </a:tbl>
          </a:graphicData>
        </a:graphic>
      </p:graphicFrame>
      <p:sp>
        <p:nvSpPr>
          <p:cNvPr id="7" name="四角形: 角を丸くする 6">
            <a:extLst>
              <a:ext uri="{FF2B5EF4-FFF2-40B4-BE49-F238E27FC236}">
                <a16:creationId xmlns:a16="http://schemas.microsoft.com/office/drawing/2014/main" id="{5C5FAB66-AB4B-42B4-BC45-C20B611E2337}"/>
              </a:ext>
            </a:extLst>
          </p:cNvPr>
          <p:cNvSpPr/>
          <p:nvPr/>
        </p:nvSpPr>
        <p:spPr>
          <a:xfrm>
            <a:off x="5969000" y="1397000"/>
            <a:ext cx="5715000" cy="25400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8" name="テキスト ボックス 7">
            <a:extLst>
              <a:ext uri="{FF2B5EF4-FFF2-40B4-BE49-F238E27FC236}">
                <a16:creationId xmlns:a16="http://schemas.microsoft.com/office/drawing/2014/main" id="{65FD9460-F521-4E44-B4F7-F21006DA40BF}"/>
              </a:ext>
            </a:extLst>
          </p:cNvPr>
          <p:cNvSpPr txBox="1"/>
          <p:nvPr/>
        </p:nvSpPr>
        <p:spPr>
          <a:xfrm>
            <a:off x="6159500" y="1460500"/>
            <a:ext cx="5334000" cy="355600"/>
          </a:xfrm>
          <a:prstGeom prst="rect">
            <a:avLst/>
          </a:prstGeom>
          <a:noFill/>
        </p:spPr>
        <p:txBody>
          <a:bodyPr vertOverflow="overflow" vert="horz" wrap="square" rtlCol="0" anchor="t">
            <a:spAutoFit/>
          </a:bodyPr>
          <a:lstStyle/>
          <a:p>
            <a:pPr algn="l"/>
            <a:r>
              <a:rPr lang="ja-JP" altLang="en-US" sz="1600" b="1">
                <a:solidFill>
                  <a:srgbClr val="8B3A2F"/>
                </a:solidFill>
                <a:latin typeface="BIZ UDPGothic"/>
                <a:ea typeface="BIZ UDPGothic"/>
              </a:rPr>
              <a:t>特徴量方針</a:t>
            </a:r>
          </a:p>
        </p:txBody>
      </p:sp>
      <p:sp>
        <p:nvSpPr>
          <p:cNvPr id="9" name="テキスト ボックス 8">
            <a:extLst>
              <a:ext uri="{FF2B5EF4-FFF2-40B4-BE49-F238E27FC236}">
                <a16:creationId xmlns:a16="http://schemas.microsoft.com/office/drawing/2014/main" id="{A33766C9-756B-47E2-943F-598AF64487D5}"/>
              </a:ext>
            </a:extLst>
          </p:cNvPr>
          <p:cNvSpPr txBox="1"/>
          <p:nvPr/>
        </p:nvSpPr>
        <p:spPr>
          <a:xfrm>
            <a:off x="6159500" y="1866900"/>
            <a:ext cx="5334000" cy="1905000"/>
          </a:xfrm>
          <a:prstGeom prst="rect">
            <a:avLst/>
          </a:prstGeom>
          <a:noFill/>
        </p:spPr>
        <p:txBody>
          <a:bodyPr vertOverflow="overflow" vert="horz" wrap="square" rtlCol="0" anchor="t">
            <a:spAutoFit/>
          </a:bodyPr>
          <a:lstStyle/>
          <a:p>
            <a:pPr algn="l"/>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選択特徴量数：</a:t>
            </a:r>
            <a:r>
              <a:rPr lang="en-US" altLang="ja-JP" sz="1400">
                <a:solidFill>
                  <a:srgbClr val="3D3D3D"/>
                </a:solidFill>
                <a:latin typeface="BIZ UDPGothic"/>
                <a:ea typeface="BIZ UDPGothic"/>
              </a:rPr>
              <a:t>36
• </a:t>
            </a:r>
            <a:r>
              <a:rPr lang="ja-JP" altLang="en-US" sz="1400">
                <a:solidFill>
                  <a:srgbClr val="3D3D3D"/>
                </a:solidFill>
                <a:latin typeface="BIZ UDPGothic"/>
                <a:ea typeface="BIZ UDPGothic"/>
              </a:rPr>
              <a:t>除外列：</a:t>
            </a:r>
            <a:r>
              <a:rPr lang="en-US" altLang="ja-JP" sz="1400">
                <a:solidFill>
                  <a:srgbClr val="3D3D3D"/>
                </a:solidFill>
                <a:latin typeface="BIZ UDPGothic"/>
                <a:ea typeface="BIZ UDPGothic"/>
              </a:rPr>
              <a:t>id</a:t>
            </a:r>
            <a:r>
              <a:rPr lang="ja-JP" altLang="en-US" sz="1400">
                <a:solidFill>
                  <a:srgbClr val="3D3D3D"/>
                </a:solidFill>
                <a:latin typeface="BIZ UDPGothic"/>
                <a:ea typeface="BIZ UDPGothic"/>
              </a:rPr>
              <a:t>（</a:t>
            </a:r>
            <a:r>
              <a:rPr lang="en-US" altLang="ja-JP" sz="1400">
                <a:solidFill>
                  <a:srgbClr val="3D3D3D"/>
                </a:solidFill>
                <a:latin typeface="BIZ UDPGothic"/>
                <a:ea typeface="BIZ UDPGothic"/>
              </a:rPr>
              <a:t>1</a:t>
            </a:r>
            <a:r>
              <a:rPr lang="ja-JP" altLang="en-US" sz="1400">
                <a:solidFill>
                  <a:srgbClr val="3D3D3D"/>
                </a:solidFill>
                <a:latin typeface="BIZ UDPGothic"/>
                <a:ea typeface="BIZ UDPGothic"/>
              </a:rPr>
              <a:t>列のみ）
</a:t>
            </a:r>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分割方法：</a:t>
            </a:r>
            <a:r>
              <a:rPr lang="en-US" altLang="ja-JP" sz="1400">
                <a:solidFill>
                  <a:srgbClr val="3D3D3D"/>
                </a:solidFill>
                <a:latin typeface="BIZ UDPGothic"/>
                <a:ea typeface="BIZ UDPGothic"/>
              </a:rPr>
              <a:t>random_holdout
• </a:t>
            </a:r>
            <a:r>
              <a:rPr lang="ja-JP" altLang="en-US" sz="1400">
                <a:solidFill>
                  <a:srgbClr val="3D3D3D"/>
                </a:solidFill>
                <a:latin typeface="BIZ UDPGothic"/>
                <a:ea typeface="BIZ UDPGothic"/>
              </a:rPr>
              <a:t>検証サイズ：</a:t>
            </a:r>
            <a:r>
              <a:rPr lang="en-US" altLang="ja-JP" sz="1400">
                <a:solidFill>
                  <a:srgbClr val="3D3D3D"/>
                </a:solidFill>
                <a:latin typeface="BIZ UDPGothic"/>
                <a:ea typeface="BIZ UDPGothic"/>
              </a:rPr>
              <a:t>0.1
• use_date_features=true </a:t>
            </a:r>
            <a:r>
              <a:rPr lang="ja-JP" altLang="en-US" sz="1400">
                <a:solidFill>
                  <a:srgbClr val="3D3D3D"/>
                </a:solidFill>
                <a:latin typeface="BIZ UDPGothic"/>
                <a:ea typeface="BIZ UDPGothic"/>
              </a:rPr>
              <a:t>の設定が存在するが、
  日付列がないため実質未使用と解釈</a:t>
            </a:r>
          </a:p>
        </p:txBody>
      </p:sp>
      <p:sp>
        <p:nvSpPr>
          <p:cNvPr id="10" name="テキスト ボックス 9">
            <a:extLst>
              <a:ext uri="{FF2B5EF4-FFF2-40B4-BE49-F238E27FC236}">
                <a16:creationId xmlns:a16="http://schemas.microsoft.com/office/drawing/2014/main" id="{CF3C5736-D3B8-490B-809D-53D00633B081}"/>
              </a:ext>
            </a:extLst>
          </p:cNvPr>
          <p:cNvSpPr txBox="1"/>
          <p:nvPr/>
        </p:nvSpPr>
        <p:spPr>
          <a:xfrm>
            <a:off x="508000" y="4127500"/>
            <a:ext cx="11176000" cy="355600"/>
          </a:xfrm>
          <a:prstGeom prst="rect">
            <a:avLst/>
          </a:prstGeom>
          <a:noFill/>
        </p:spPr>
        <p:txBody>
          <a:bodyPr vertOverflow="overflow" vert="horz" wrap="square" rtlCol="0" anchor="t">
            <a:spAutoFit/>
          </a:bodyPr>
          <a:lstStyle/>
          <a:p>
            <a:pPr algn="l"/>
            <a:r>
              <a:rPr lang="ja-JP" altLang="en-US" sz="1600" b="1">
                <a:solidFill>
                  <a:srgbClr val="1A1A1A"/>
                </a:solidFill>
                <a:latin typeface="BIZ UDPGothic"/>
                <a:ea typeface="BIZ UDPGothic"/>
              </a:rPr>
              <a:t>モデル手法の変遷</a:t>
            </a:r>
          </a:p>
        </p:txBody>
      </p:sp>
      <p:sp>
        <p:nvSpPr>
          <p:cNvPr id="11" name="正方形/長方形 10">
            <a:extLst>
              <a:ext uri="{FF2B5EF4-FFF2-40B4-BE49-F238E27FC236}">
                <a16:creationId xmlns:a16="http://schemas.microsoft.com/office/drawing/2014/main" id="{8383782E-87BE-4848-9A18-9A8D331D1CD7}"/>
              </a:ext>
            </a:extLst>
          </p:cNvPr>
          <p:cNvSpPr/>
          <p:nvPr/>
        </p:nvSpPr>
        <p:spPr>
          <a:xfrm>
            <a:off x="508000" y="4483100"/>
            <a:ext cx="11176000" cy="25400"/>
          </a:xfrm>
          <a:prstGeom prst="rect">
            <a:avLst/>
          </a:prstGeom>
          <a:solidFill>
            <a:srgbClr val="D4C5B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2" name="四角形: 角を丸くする 11">
            <a:extLst>
              <a:ext uri="{FF2B5EF4-FFF2-40B4-BE49-F238E27FC236}">
                <a16:creationId xmlns:a16="http://schemas.microsoft.com/office/drawing/2014/main" id="{72D50D01-2687-4401-8F5E-BCC6DC301CAC}"/>
              </a:ext>
            </a:extLst>
          </p:cNvPr>
          <p:cNvSpPr/>
          <p:nvPr/>
        </p:nvSpPr>
        <p:spPr>
          <a:xfrm>
            <a:off x="508000" y="4635500"/>
            <a:ext cx="3429000" cy="381000"/>
          </a:xfrm>
          <a:prstGeom prst="roundRect">
            <a:avLst/>
          </a:prstGeom>
          <a:solidFill>
            <a:srgbClr val="6B6B6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400" b="1">
                <a:solidFill>
                  <a:srgbClr val="FFFFFF"/>
                </a:solidFill>
                <a:latin typeface="BIZ UDPGothic"/>
                <a:ea typeface="BIZ UDPGothic"/>
              </a:rPr>
              <a:t>提案時点</a:t>
            </a:r>
          </a:p>
        </p:txBody>
      </p:sp>
      <p:sp>
        <p:nvSpPr>
          <p:cNvPr id="13" name="テキスト ボックス 12">
            <a:extLst>
              <a:ext uri="{FF2B5EF4-FFF2-40B4-BE49-F238E27FC236}">
                <a16:creationId xmlns:a16="http://schemas.microsoft.com/office/drawing/2014/main" id="{30A5CD87-66F7-4301-811F-B6FFAEDA8F02}"/>
              </a:ext>
            </a:extLst>
          </p:cNvPr>
          <p:cNvSpPr txBox="1"/>
          <p:nvPr/>
        </p:nvSpPr>
        <p:spPr>
          <a:xfrm>
            <a:off x="635000" y="5118100"/>
            <a:ext cx="3175000" cy="10160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初期的な離職リスク
判定ロジックまたは
予測モデル（手法未固定）</a:t>
            </a:r>
          </a:p>
        </p:txBody>
      </p:sp>
      <p:sp>
        <p:nvSpPr>
          <p:cNvPr id="14" name="矢印: 右 13">
            <a:extLst>
              <a:ext uri="{FF2B5EF4-FFF2-40B4-BE49-F238E27FC236}">
                <a16:creationId xmlns:a16="http://schemas.microsoft.com/office/drawing/2014/main" id="{FF4D74EE-03AC-4150-AEF9-8D3959552B2D}"/>
              </a:ext>
            </a:extLst>
          </p:cNvPr>
          <p:cNvSpPr/>
          <p:nvPr/>
        </p:nvSpPr>
        <p:spPr>
          <a:xfrm>
            <a:off x="4038600" y="5270500"/>
            <a:ext cx="254000" cy="254000"/>
          </a:xfrm>
          <a:prstGeom prst="rightArrow">
            <a:avLst/>
          </a:prstGeom>
          <a:solidFill>
            <a:srgbClr val="D4C5B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5" name="四角形: 角を丸くする 14">
            <a:extLst>
              <a:ext uri="{FF2B5EF4-FFF2-40B4-BE49-F238E27FC236}">
                <a16:creationId xmlns:a16="http://schemas.microsoft.com/office/drawing/2014/main" id="{CD43C8C4-4BD1-48DA-9B36-14D3A2B09C89}"/>
              </a:ext>
            </a:extLst>
          </p:cNvPr>
          <p:cNvSpPr/>
          <p:nvPr/>
        </p:nvSpPr>
        <p:spPr>
          <a:xfrm>
            <a:off x="4318000" y="4635500"/>
            <a:ext cx="3429000" cy="381000"/>
          </a:xfrm>
          <a:prstGeom prst="roundRect">
            <a:avLst/>
          </a:prstGeom>
          <a:solidFill>
            <a:srgbClr val="A0522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400" b="1">
                <a:solidFill>
                  <a:srgbClr val="FFFFFF"/>
                </a:solidFill>
                <a:latin typeface="BIZ UDPGothic"/>
                <a:ea typeface="BIZ UDPGothic"/>
              </a:rPr>
              <a:t>中間報告</a:t>
            </a:r>
          </a:p>
        </p:txBody>
      </p:sp>
      <p:sp>
        <p:nvSpPr>
          <p:cNvPr id="16" name="テキスト ボックス 15">
            <a:extLst>
              <a:ext uri="{FF2B5EF4-FFF2-40B4-BE49-F238E27FC236}">
                <a16:creationId xmlns:a16="http://schemas.microsoft.com/office/drawing/2014/main" id="{7C62800D-7E57-427C-B4F4-6DFB300C8342}"/>
              </a:ext>
            </a:extLst>
          </p:cNvPr>
          <p:cNvSpPr txBox="1"/>
          <p:nvPr/>
        </p:nvSpPr>
        <p:spPr>
          <a:xfrm>
            <a:off x="4445000" y="5118100"/>
            <a:ext cx="3175000" cy="10160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線形ベースライン
（</a:t>
            </a:r>
            <a:r>
              <a:rPr lang="en-US" altLang="ja-JP" sz="1400">
                <a:solidFill>
                  <a:srgbClr val="3D3D3D"/>
                </a:solidFill>
                <a:latin typeface="BIZ UDPGothic"/>
                <a:ea typeface="BIZ UDPGothic"/>
              </a:rPr>
              <a:t>Trial 1</a:t>
            </a:r>
            <a:r>
              <a:rPr lang="ja-JP" altLang="en-US" sz="1400">
                <a:solidFill>
                  <a:srgbClr val="3D3D3D"/>
                </a:solidFill>
                <a:latin typeface="BIZ UDPGothic"/>
                <a:ea typeface="BIZ UDPGothic"/>
              </a:rPr>
              <a:t>）を
可視試行の代表とした</a:t>
            </a:r>
          </a:p>
        </p:txBody>
      </p:sp>
      <p:sp>
        <p:nvSpPr>
          <p:cNvPr id="17" name="矢印: 右 16">
            <a:extLst>
              <a:ext uri="{FF2B5EF4-FFF2-40B4-BE49-F238E27FC236}">
                <a16:creationId xmlns:a16="http://schemas.microsoft.com/office/drawing/2014/main" id="{45EE6837-CCB4-45E3-85A6-6877B7132025}"/>
              </a:ext>
            </a:extLst>
          </p:cNvPr>
          <p:cNvSpPr/>
          <p:nvPr/>
        </p:nvSpPr>
        <p:spPr>
          <a:xfrm>
            <a:off x="7848600" y="5270500"/>
            <a:ext cx="254000" cy="254000"/>
          </a:xfrm>
          <a:prstGeom prst="rightArrow">
            <a:avLst/>
          </a:prstGeom>
          <a:solidFill>
            <a:srgbClr val="D4C5B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8" name="四角形: 角を丸くする 17">
            <a:extLst>
              <a:ext uri="{FF2B5EF4-FFF2-40B4-BE49-F238E27FC236}">
                <a16:creationId xmlns:a16="http://schemas.microsoft.com/office/drawing/2014/main" id="{19F846DE-3C3C-46BF-A5CA-AACBE52EFCB0}"/>
              </a:ext>
            </a:extLst>
          </p:cNvPr>
          <p:cNvSpPr/>
          <p:nvPr/>
        </p:nvSpPr>
        <p:spPr>
          <a:xfrm>
            <a:off x="8128000" y="4635500"/>
            <a:ext cx="3429000" cy="381000"/>
          </a:xfrm>
          <a:prstGeom prst="round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400" b="1">
                <a:solidFill>
                  <a:srgbClr val="FFFFFF"/>
                </a:solidFill>
                <a:latin typeface="BIZ UDPGothic"/>
                <a:ea typeface="BIZ UDPGothic"/>
              </a:rPr>
              <a:t>最終分析</a:t>
            </a:r>
          </a:p>
        </p:txBody>
      </p:sp>
      <p:sp>
        <p:nvSpPr>
          <p:cNvPr id="19" name="テキスト ボックス 18">
            <a:extLst>
              <a:ext uri="{FF2B5EF4-FFF2-40B4-BE49-F238E27FC236}">
                <a16:creationId xmlns:a16="http://schemas.microsoft.com/office/drawing/2014/main" id="{BB47D657-F4A5-49E1-98BD-841609DD5187}"/>
              </a:ext>
            </a:extLst>
          </p:cNvPr>
          <p:cNvSpPr txBox="1"/>
          <p:nvPr/>
        </p:nvSpPr>
        <p:spPr>
          <a:xfrm>
            <a:off x="8255000" y="5118100"/>
            <a:ext cx="3175000" cy="1016000"/>
          </a:xfrm>
          <a:prstGeom prst="rect">
            <a:avLst/>
          </a:prstGeom>
          <a:noFill/>
        </p:spPr>
        <p:txBody>
          <a:bodyPr vertOverflow="overflow" vert="horz" wrap="square" rtlCol="0" anchor="t">
            <a:spAutoFit/>
          </a:bodyPr>
          <a:lstStyle/>
          <a:p>
            <a:pPr algn="l"/>
            <a:r>
              <a:rPr lang="en-US" altLang="ja-JP" sz="1400">
                <a:solidFill>
                  <a:srgbClr val="3D3D3D"/>
                </a:solidFill>
                <a:latin typeface="BIZ UDPGothic"/>
                <a:ea typeface="BIZ UDPGothic"/>
              </a:rPr>
              <a:t>Extra Trees </a:t>
            </a:r>
            <a:r>
              <a:rPr lang="ja-JP" altLang="en-US" sz="1400">
                <a:solidFill>
                  <a:srgbClr val="3D3D3D"/>
                </a:solidFill>
                <a:latin typeface="BIZ UDPGothic"/>
                <a:ea typeface="BIZ UDPGothic"/>
              </a:rPr>
              <a:t>による
性能評価結果が
採用候補として確認</a:t>
            </a:r>
          </a:p>
        </p:txBody>
      </p:sp>
      <p:sp>
        <p:nvSpPr>
          <p:cNvPr id="20" name="テキスト ボックス 19">
            <a:extLst>
              <a:ext uri="{FF2B5EF4-FFF2-40B4-BE49-F238E27FC236}">
                <a16:creationId xmlns:a16="http://schemas.microsoft.com/office/drawing/2014/main" id="{E2946CF5-F055-4EE0-8BD9-B47C4C50B314}"/>
              </a:ext>
            </a:extLst>
          </p:cNvPr>
          <p:cNvSpPr txBox="1"/>
          <p:nvPr/>
        </p:nvSpPr>
        <p:spPr>
          <a:xfrm>
            <a:off x="508000" y="254000"/>
            <a:ext cx="11176000" cy="508000"/>
          </a:xfrm>
          <a:prstGeom prst="rect">
            <a:avLst/>
          </a:prstGeom>
          <a:noFill/>
        </p:spPr>
        <p:txBody>
          <a:bodyPr vertOverflow="overflow" vert="horz" wrap="square" rtlCol="0" anchor="t">
            <a:noAutofit/>
          </a:bodyPr>
          <a:lstStyle/>
          <a:p>
            <a:pPr algn="l"/>
            <a:r>
              <a:rPr lang="en-US" altLang="ja-JP" sz="2400" b="1">
                <a:solidFill>
                  <a:srgbClr val="1A1A1A"/>
                </a:solidFill>
                <a:latin typeface="BIZ UDPGothic"/>
                <a:ea typeface="BIZ UDPGothic"/>
              </a:rPr>
              <a:t>3. </a:t>
            </a:r>
            <a:r>
              <a:rPr lang="ja-JP" altLang="en-US" sz="2400" b="1">
                <a:solidFill>
                  <a:srgbClr val="1A1A1A"/>
                </a:solidFill>
                <a:latin typeface="BIZ UDPGothic"/>
                <a:ea typeface="BIZ UDPGothic"/>
              </a:rPr>
              <a:t>モデル・特徴量方針</a:t>
            </a:r>
          </a:p>
        </p:txBody>
      </p:sp>
      <p:sp>
        <p:nvSpPr>
          <p:cNvPr id="21" name="正方形/長方形 20">
            <a:extLst>
              <a:ext uri="{FF2B5EF4-FFF2-40B4-BE49-F238E27FC236}">
                <a16:creationId xmlns:a16="http://schemas.microsoft.com/office/drawing/2014/main" id="{AB597985-CEBC-4BBC-A903-4B7A5AF94EB1}"/>
              </a:ext>
            </a:extLst>
          </p:cNvPr>
          <p:cNvSpPr/>
          <p:nvPr/>
        </p:nvSpPr>
        <p:spPr>
          <a:xfrm>
            <a:off x="508000" y="787400"/>
            <a:ext cx="1270000" cy="38100"/>
          </a:xfrm>
          <a:prstGeom prst="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Tree>
    <p:extLst>
      <p:ext uri="{BB962C8B-B14F-4D97-AF65-F5344CB8AC3E}">
        <p14:creationId xmlns:p14="http://schemas.microsoft.com/office/powerpoint/2010/main" val="2868496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909FFAFC-8C90-43F0-A824-640C422542ED}"/>
              </a:ext>
            </a:extLst>
          </p:cNvPr>
          <p:cNvGraphicFramePr>
            <a:graphicFrameLocks noGrp="1"/>
          </p:cNvGraphicFramePr>
          <p:nvPr>
            <p:extLst>
              <p:ext uri="{D42A27DB-BD31-4B8C-83A1-F6EECF244321}">
                <p14:modId xmlns:p14="http://schemas.microsoft.com/office/powerpoint/2010/main" val="2228376867"/>
              </p:ext>
            </p:extLst>
          </p:nvPr>
        </p:nvGraphicFramePr>
        <p:xfrm>
          <a:off x="508000" y="1397000"/>
          <a:ext cx="11176000" cy="3301998"/>
        </p:xfrm>
        <a:graphic>
          <a:graphicData uri="http://schemas.openxmlformats.org/drawingml/2006/table">
            <a:tbl>
              <a:tblPr firstRow="1" bandRow="1">
                <a:tableStyleId>{5C22544A-7EE6-4342-B048-85BDC9FD1C3A}</a:tableStyleId>
              </a:tblPr>
              <a:tblGrid>
                <a:gridCol w="1651000">
                  <a:extLst>
                    <a:ext uri="{9D8B030D-6E8A-4147-A177-3AD203B41FA5}">
                      <a16:colId xmlns:a16="http://schemas.microsoft.com/office/drawing/2014/main" val="599598568"/>
                    </a:ext>
                  </a:extLst>
                </a:gridCol>
                <a:gridCol w="3810000">
                  <a:extLst>
                    <a:ext uri="{9D8B030D-6E8A-4147-A177-3AD203B41FA5}">
                      <a16:colId xmlns:a16="http://schemas.microsoft.com/office/drawing/2014/main" val="3776148906"/>
                    </a:ext>
                  </a:extLst>
                </a:gridCol>
                <a:gridCol w="4064000">
                  <a:extLst>
                    <a:ext uri="{9D8B030D-6E8A-4147-A177-3AD203B41FA5}">
                      <a16:colId xmlns:a16="http://schemas.microsoft.com/office/drawing/2014/main" val="473579532"/>
                    </a:ext>
                  </a:extLst>
                </a:gridCol>
                <a:gridCol w="1651000">
                  <a:extLst>
                    <a:ext uri="{9D8B030D-6E8A-4147-A177-3AD203B41FA5}">
                      <a16:colId xmlns:a16="http://schemas.microsoft.com/office/drawing/2014/main" val="2920224315"/>
                    </a:ext>
                  </a:extLst>
                </a:gridCol>
              </a:tblGrid>
              <a:tr h="471714">
                <a:tc>
                  <a:txBody>
                    <a:bodyPr/>
                    <a:lstStyle/>
                    <a:p>
                      <a:pPr algn="ctr"/>
                      <a:r>
                        <a:rPr lang="ja-JP" altLang="en-US" sz="1400" b="1">
                          <a:solidFill>
                            <a:srgbClr val="FFFFFF"/>
                          </a:solidFill>
                          <a:latin typeface="BIZ UDPGothic"/>
                          <a:ea typeface="BIZ UDPGothic"/>
                        </a:rPr>
                        <a:t>KPI分類</a:t>
                      </a:r>
                    </a:p>
                  </a:txBody>
                  <a:tcPr anchor="ctr">
                    <a:solidFill>
                      <a:srgbClr val="8B3A2F"/>
                    </a:solidFill>
                  </a:tcPr>
                </a:tc>
                <a:tc>
                  <a:txBody>
                    <a:bodyPr/>
                    <a:lstStyle/>
                    <a:p>
                      <a:pPr algn="ctr"/>
                      <a:r>
                        <a:rPr lang="ja-JP" altLang="en-US" sz="1400" b="1">
                          <a:solidFill>
                            <a:srgbClr val="FFFFFF"/>
                          </a:solidFill>
                          <a:latin typeface="BIZ UDPGothic"/>
                          <a:ea typeface="BIZ UDPGothic"/>
                        </a:rPr>
                        <a:t>判定基準</a:t>
                      </a:r>
                    </a:p>
                  </a:txBody>
                  <a:tcPr anchor="ctr">
                    <a:solidFill>
                      <a:srgbClr val="8B3A2F"/>
                    </a:solidFill>
                  </a:tcPr>
                </a:tc>
                <a:tc>
                  <a:txBody>
                    <a:bodyPr/>
                    <a:lstStyle/>
                    <a:p>
                      <a:pPr algn="ctr"/>
                      <a:r>
                        <a:rPr lang="ja-JP" altLang="en-US" sz="1400" b="1">
                          <a:solidFill>
                            <a:srgbClr val="FFFFFF"/>
                          </a:solidFill>
                          <a:latin typeface="BIZ UDPGothic"/>
                          <a:ea typeface="BIZ UDPGothic"/>
                        </a:rPr>
                        <a:t>結果</a:t>
                      </a:r>
                    </a:p>
                  </a:txBody>
                  <a:tcPr anchor="ctr">
                    <a:solidFill>
                      <a:srgbClr val="8B3A2F"/>
                    </a:solidFill>
                  </a:tcPr>
                </a:tc>
                <a:tc>
                  <a:txBody>
                    <a:bodyPr/>
                    <a:lstStyle/>
                    <a:p>
                      <a:pPr algn="ctr"/>
                      <a:r>
                        <a:rPr lang="ja-JP" altLang="en-US" sz="1400" b="1">
                          <a:solidFill>
                            <a:srgbClr val="FFFFFF"/>
                          </a:solidFill>
                          <a:latin typeface="BIZ UDPGothic"/>
                          <a:ea typeface="BIZ UDPGothic"/>
                        </a:rPr>
                        <a:t>評価</a:t>
                      </a:r>
                    </a:p>
                  </a:txBody>
                  <a:tcPr anchor="ctr">
                    <a:solidFill>
                      <a:srgbClr val="8B3A2F"/>
                    </a:solidFill>
                  </a:tcPr>
                </a:tc>
                <a:extLst>
                  <a:ext uri="{0D108BD9-81ED-4DB2-BD59-A6C34878D82A}">
                    <a16:rowId xmlns:a16="http://schemas.microsoft.com/office/drawing/2014/main" val="2921879449"/>
                  </a:ext>
                </a:extLst>
              </a:tr>
              <a:tr h="471714">
                <a:tc>
                  <a:txBody>
                    <a:bodyPr/>
                    <a:lstStyle/>
                    <a:p>
                      <a:r>
                        <a:rPr lang="ja-JP" altLang="en-US" sz="1400">
                          <a:solidFill>
                            <a:srgbClr val="3D3D3D"/>
                          </a:solidFill>
                          <a:latin typeface="BIZ UDPGothic"/>
                          <a:ea typeface="BIZ UDPGothic"/>
                        </a:rPr>
                        <a:t>データ理解</a:t>
                      </a:r>
                    </a:p>
                  </a:txBody>
                  <a:tcPr anchor="ctr"/>
                </a:tc>
                <a:tc>
                  <a:txBody>
                    <a:bodyPr/>
                    <a:lstStyle/>
                    <a:p>
                      <a:r>
                        <a:rPr lang="ja-JP" altLang="en-US" sz="1400">
                          <a:solidFill>
                            <a:srgbClr val="3D3D3D"/>
                          </a:solidFill>
                          <a:latin typeface="BIZ UDPGothic"/>
                          <a:ea typeface="BIZ UDPGothic"/>
                        </a:rPr>
                        <a:t>全33列の役割・型・注意点整理</a:t>
                      </a:r>
                    </a:p>
                  </a:txBody>
                  <a:tcPr anchor="ctr"/>
                </a:tc>
                <a:tc>
                  <a:txBody>
                    <a:bodyPr/>
                    <a:lstStyle/>
                    <a:p>
                      <a:r>
                        <a:rPr lang="ja-JP" altLang="en-US" sz="1400">
                          <a:solidFill>
                            <a:srgbClr val="3D3D3D"/>
                          </a:solidFill>
                          <a:latin typeface="BIZ UDPGothic"/>
                          <a:ea typeface="BIZ UDPGothic"/>
                        </a:rPr>
                        <a:t>概ね完了</a:t>
                      </a:r>
                    </a:p>
                  </a:txBody>
                  <a:tcPr anchor="ctr"/>
                </a:tc>
                <a:tc>
                  <a:txBody>
                    <a:bodyPr/>
                    <a:lstStyle/>
                    <a:p>
                      <a:pPr algn="ctr"/>
                      <a:r>
                        <a:rPr lang="ja-JP" altLang="en-US" sz="1400" b="1">
                          <a:solidFill>
                            <a:srgbClr val="4A7A48"/>
                          </a:solidFill>
                          <a:latin typeface="BIZ UDPGothic"/>
                          <a:ea typeface="BIZ UDPGothic"/>
                        </a:rPr>
                        <a:t>達成</a:t>
                      </a:r>
                    </a:p>
                  </a:txBody>
                  <a:tcPr anchor="ctr"/>
                </a:tc>
                <a:extLst>
                  <a:ext uri="{0D108BD9-81ED-4DB2-BD59-A6C34878D82A}">
                    <a16:rowId xmlns:a16="http://schemas.microsoft.com/office/drawing/2014/main" val="1669290584"/>
                  </a:ext>
                </a:extLst>
              </a:tr>
              <a:tr h="471714">
                <a:tc>
                  <a:txBody>
                    <a:bodyPr/>
                    <a:lstStyle/>
                    <a:p>
                      <a:r>
                        <a:rPr lang="ja-JP" altLang="en-US" sz="1400">
                          <a:solidFill>
                            <a:srgbClr val="3D3D3D"/>
                          </a:solidFill>
                          <a:latin typeface="BIZ UDPGothic"/>
                          <a:ea typeface="BIZ UDPGothic"/>
                        </a:rPr>
                        <a:t>要因把握</a:t>
                      </a:r>
                    </a:p>
                  </a:txBody>
                  <a:tcPr anchor="ctr">
                    <a:solidFill>
                      <a:srgbClr val="F2F0ED"/>
                    </a:solidFill>
                  </a:tcPr>
                </a:tc>
                <a:tc>
                  <a:txBody>
                    <a:bodyPr/>
                    <a:lstStyle/>
                    <a:p>
                      <a:r>
                        <a:rPr lang="ja-JP" altLang="en-US" sz="1400">
                          <a:solidFill>
                            <a:srgbClr val="3D3D3D"/>
                          </a:solidFill>
                          <a:latin typeface="BIZ UDPGothic"/>
                          <a:ea typeface="BIZ UDPGothic"/>
                        </a:rPr>
                        <a:t>上位5〜10変数の方向性提示</a:t>
                      </a:r>
                    </a:p>
                  </a:txBody>
                  <a:tcPr anchor="ctr">
                    <a:solidFill>
                      <a:srgbClr val="F2F0ED"/>
                    </a:solidFill>
                  </a:tcPr>
                </a:tc>
                <a:tc>
                  <a:txBody>
                    <a:bodyPr/>
                    <a:lstStyle/>
                    <a:p>
                      <a:r>
                        <a:rPr lang="ja-JP" altLang="en-US" sz="1400">
                          <a:solidFill>
                            <a:srgbClr val="3D3D3D"/>
                          </a:solidFill>
                          <a:latin typeface="BIZ UDPGothic"/>
                          <a:ea typeface="BIZ UDPGothic"/>
                        </a:rPr>
                        <a:t>主要論点群を整理</a:t>
                      </a:r>
                    </a:p>
                  </a:txBody>
                  <a:tcPr anchor="ctr">
                    <a:solidFill>
                      <a:srgbClr val="F2F0ED"/>
                    </a:solidFill>
                  </a:tcPr>
                </a:tc>
                <a:tc>
                  <a:txBody>
                    <a:bodyPr/>
                    <a:lstStyle/>
                    <a:p>
                      <a:pPr algn="ctr"/>
                      <a:r>
                        <a:rPr lang="ja-JP" altLang="en-US" sz="1400" b="1">
                          <a:solidFill>
                            <a:srgbClr val="4A7A48"/>
                          </a:solidFill>
                          <a:latin typeface="BIZ UDPGothic"/>
                          <a:ea typeface="BIZ UDPGothic"/>
                        </a:rPr>
                        <a:t>達成</a:t>
                      </a:r>
                    </a:p>
                  </a:txBody>
                  <a:tcPr anchor="ctr">
                    <a:solidFill>
                      <a:srgbClr val="F2F0ED"/>
                    </a:solidFill>
                  </a:tcPr>
                </a:tc>
                <a:extLst>
                  <a:ext uri="{0D108BD9-81ED-4DB2-BD59-A6C34878D82A}">
                    <a16:rowId xmlns:a16="http://schemas.microsoft.com/office/drawing/2014/main" val="2093746545"/>
                  </a:ext>
                </a:extLst>
              </a:tr>
              <a:tr h="471714">
                <a:tc>
                  <a:txBody>
                    <a:bodyPr/>
                    <a:lstStyle/>
                    <a:p>
                      <a:r>
                        <a:rPr lang="ja-JP" altLang="en-US" sz="1400">
                          <a:solidFill>
                            <a:srgbClr val="3D3D3D"/>
                          </a:solidFill>
                          <a:latin typeface="BIZ UDPGothic"/>
                          <a:ea typeface="BIZ UDPGothic"/>
                        </a:rPr>
                        <a:t>モデル評価</a:t>
                      </a:r>
                    </a:p>
                  </a:txBody>
                  <a:tcPr anchor="ctr"/>
                </a:tc>
                <a:tc>
                  <a:txBody>
                    <a:bodyPr/>
                    <a:lstStyle/>
                    <a:p>
                      <a:r>
                        <a:rPr lang="ja-JP" altLang="en-US" sz="1400">
                          <a:solidFill>
                            <a:srgbClr val="3D3D3D"/>
                          </a:solidFill>
                          <a:latin typeface="BIZ UDPGothic"/>
                          <a:ea typeface="BIZ UDPGothic"/>
                        </a:rPr>
                        <a:t>学習・検証手順と性能指標提示</a:t>
                      </a:r>
                    </a:p>
                  </a:txBody>
                  <a:tcPr anchor="ctr"/>
                </a:tc>
                <a:tc>
                  <a:txBody>
                    <a:bodyPr/>
                    <a:lstStyle/>
                    <a:p>
                      <a:r>
                        <a:rPr lang="ja-JP" altLang="en-US" sz="1400">
                          <a:solidFill>
                            <a:srgbClr val="3D3D3D"/>
                          </a:solidFill>
                          <a:latin typeface="BIZ UDPGothic"/>
                          <a:ea typeface="BIZ UDPGothic"/>
                        </a:rPr>
                        <a:t>Accuracy/F1/ROC-AUC等を提示</a:t>
                      </a:r>
                    </a:p>
                  </a:txBody>
                  <a:tcPr anchor="ctr"/>
                </a:tc>
                <a:tc>
                  <a:txBody>
                    <a:bodyPr/>
                    <a:lstStyle/>
                    <a:p>
                      <a:pPr algn="ctr"/>
                      <a:r>
                        <a:rPr lang="ja-JP" altLang="en-US" sz="1400" b="1">
                          <a:solidFill>
                            <a:srgbClr val="4A7A48"/>
                          </a:solidFill>
                          <a:latin typeface="BIZ UDPGothic"/>
                          <a:ea typeface="BIZ UDPGothic"/>
                        </a:rPr>
                        <a:t>達成</a:t>
                      </a:r>
                    </a:p>
                  </a:txBody>
                  <a:tcPr anchor="ctr"/>
                </a:tc>
                <a:extLst>
                  <a:ext uri="{0D108BD9-81ED-4DB2-BD59-A6C34878D82A}">
                    <a16:rowId xmlns:a16="http://schemas.microsoft.com/office/drawing/2014/main" val="312622016"/>
                  </a:ext>
                </a:extLst>
              </a:tr>
              <a:tr h="471714">
                <a:tc>
                  <a:txBody>
                    <a:bodyPr/>
                    <a:lstStyle/>
                    <a:p>
                      <a:r>
                        <a:rPr lang="ja-JP" altLang="en-US" sz="1400">
                          <a:solidFill>
                            <a:srgbClr val="3D3D3D"/>
                          </a:solidFill>
                          <a:latin typeface="BIZ UDPGothic"/>
                          <a:ea typeface="BIZ UDPGothic"/>
                        </a:rPr>
                        <a:t>説明可能性</a:t>
                      </a:r>
                    </a:p>
                  </a:txBody>
                  <a:tcPr anchor="ctr">
                    <a:solidFill>
                      <a:srgbClr val="F2F0ED"/>
                    </a:solidFill>
                  </a:tcPr>
                </a:tc>
                <a:tc>
                  <a:txBody>
                    <a:bodyPr/>
                    <a:lstStyle/>
                    <a:p>
                      <a:r>
                        <a:rPr lang="ja-JP" altLang="en-US" sz="1400">
                          <a:solidFill>
                            <a:srgbClr val="3D3D3D"/>
                          </a:solidFill>
                          <a:latin typeface="BIZ UDPGothic"/>
                          <a:ea typeface="BIZ UDPGothic"/>
                        </a:rPr>
                        <a:t>集計ベースで人事向け説明資料化</a:t>
                      </a:r>
                    </a:p>
                  </a:txBody>
                  <a:tcPr anchor="ctr">
                    <a:solidFill>
                      <a:srgbClr val="F2F0ED"/>
                    </a:solidFill>
                  </a:tcPr>
                </a:tc>
                <a:tc>
                  <a:txBody>
                    <a:bodyPr/>
                    <a:lstStyle/>
                    <a:p>
                      <a:r>
                        <a:rPr lang="ja-JP" altLang="en-US" sz="1400">
                          <a:solidFill>
                            <a:srgbClr val="3D3D3D"/>
                          </a:solidFill>
                          <a:latin typeface="BIZ UDPGothic"/>
                          <a:ea typeface="BIZ UDPGothic"/>
                        </a:rPr>
                        <a:t>方針・資料化実施</a:t>
                      </a:r>
                    </a:p>
                  </a:txBody>
                  <a:tcPr anchor="ctr">
                    <a:solidFill>
                      <a:srgbClr val="F2F0ED"/>
                    </a:solidFill>
                  </a:tcPr>
                </a:tc>
                <a:tc>
                  <a:txBody>
                    <a:bodyPr/>
                    <a:lstStyle/>
                    <a:p>
                      <a:pPr algn="ctr"/>
                      <a:r>
                        <a:rPr lang="ja-JP" altLang="en-US" sz="1400" b="1">
                          <a:solidFill>
                            <a:srgbClr val="4A7A48"/>
                          </a:solidFill>
                          <a:latin typeface="BIZ UDPGothic"/>
                          <a:ea typeface="BIZ UDPGothic"/>
                        </a:rPr>
                        <a:t>達成</a:t>
                      </a:r>
                    </a:p>
                  </a:txBody>
                  <a:tcPr anchor="ctr">
                    <a:solidFill>
                      <a:srgbClr val="F2F0ED"/>
                    </a:solidFill>
                  </a:tcPr>
                </a:tc>
                <a:extLst>
                  <a:ext uri="{0D108BD9-81ED-4DB2-BD59-A6C34878D82A}">
                    <a16:rowId xmlns:a16="http://schemas.microsoft.com/office/drawing/2014/main" val="3221723032"/>
                  </a:ext>
                </a:extLst>
              </a:tr>
              <a:tr h="471714">
                <a:tc>
                  <a:txBody>
                    <a:bodyPr/>
                    <a:lstStyle/>
                    <a:p>
                      <a:r>
                        <a:rPr lang="ja-JP" altLang="en-US" sz="1400">
                          <a:solidFill>
                            <a:srgbClr val="3D3D3D"/>
                          </a:solidFill>
                          <a:latin typeface="BIZ UDPGothic"/>
                          <a:ea typeface="BIZ UDPGothic"/>
                        </a:rPr>
                        <a:t>実務接続</a:t>
                      </a:r>
                    </a:p>
                  </a:txBody>
                  <a:tcPr anchor="ctr"/>
                </a:tc>
                <a:tc>
                  <a:txBody>
                    <a:bodyPr/>
                    <a:lstStyle/>
                    <a:p>
                      <a:r>
                        <a:rPr lang="ja-JP" altLang="en-US" sz="1400">
                          <a:solidFill>
                            <a:srgbClr val="3D3D3D"/>
                          </a:solidFill>
                          <a:latin typeface="BIZ UDPGothic"/>
                          <a:ea typeface="BIZ UDPGothic"/>
                        </a:rPr>
                        <a:t>優先度付き施策仮説3件以上</a:t>
                      </a:r>
                    </a:p>
                  </a:txBody>
                  <a:tcPr anchor="ctr"/>
                </a:tc>
                <a:tc>
                  <a:txBody>
                    <a:bodyPr/>
                    <a:lstStyle/>
                    <a:p>
                      <a:r>
                        <a:rPr lang="ja-JP" altLang="en-US" sz="1400">
                          <a:solidFill>
                            <a:srgbClr val="3D3D3D"/>
                          </a:solidFill>
                          <a:latin typeface="BIZ UDPGothic"/>
                          <a:ea typeface="BIZ UDPGothic"/>
                        </a:rPr>
                        <a:t>提言として整理</a:t>
                      </a:r>
                    </a:p>
                  </a:txBody>
                  <a:tcPr anchor="ctr"/>
                </a:tc>
                <a:tc>
                  <a:txBody>
                    <a:bodyPr/>
                    <a:lstStyle/>
                    <a:p>
                      <a:pPr algn="ctr"/>
                      <a:r>
                        <a:rPr lang="ja-JP" altLang="en-US" sz="1400" b="1">
                          <a:solidFill>
                            <a:srgbClr val="4A7A48"/>
                          </a:solidFill>
                          <a:latin typeface="BIZ UDPGothic"/>
                          <a:ea typeface="BIZ UDPGothic"/>
                        </a:rPr>
                        <a:t>達成</a:t>
                      </a:r>
                    </a:p>
                  </a:txBody>
                  <a:tcPr anchor="ctr"/>
                </a:tc>
                <a:extLst>
                  <a:ext uri="{0D108BD9-81ED-4DB2-BD59-A6C34878D82A}">
                    <a16:rowId xmlns:a16="http://schemas.microsoft.com/office/drawing/2014/main" val="959464400"/>
                  </a:ext>
                </a:extLst>
              </a:tr>
              <a:tr h="471714">
                <a:tc>
                  <a:txBody>
                    <a:bodyPr/>
                    <a:lstStyle/>
                    <a:p>
                      <a:r>
                        <a:rPr lang="ja-JP" altLang="en-US" sz="1400">
                          <a:solidFill>
                            <a:srgbClr val="3D3D3D"/>
                          </a:solidFill>
                          <a:latin typeface="BIZ UDPGothic"/>
                          <a:ea typeface="BIZ UDPGothic"/>
                        </a:rPr>
                        <a:t>ガバナンス</a:t>
                      </a:r>
                    </a:p>
                  </a:txBody>
                  <a:tcPr anchor="ctr">
                    <a:solidFill>
                      <a:srgbClr val="F2F0ED"/>
                    </a:solidFill>
                  </a:tcPr>
                </a:tc>
                <a:tc>
                  <a:txBody>
                    <a:bodyPr/>
                    <a:lstStyle/>
                    <a:p>
                      <a:r>
                        <a:rPr lang="ja-JP" altLang="en-US" sz="1400">
                          <a:solidFill>
                            <a:srgbClr val="3D3D3D"/>
                          </a:solidFill>
                          <a:latin typeface="BIZ UDPGothic"/>
                          <a:ea typeface="BIZ UDPGothic"/>
                        </a:rPr>
                        <a:t>利用制約・公平性留意点明記</a:t>
                      </a:r>
                    </a:p>
                  </a:txBody>
                  <a:tcPr anchor="ctr">
                    <a:solidFill>
                      <a:srgbClr val="F2F0ED"/>
                    </a:solidFill>
                  </a:tcPr>
                </a:tc>
                <a:tc>
                  <a:txBody>
                    <a:bodyPr/>
                    <a:lstStyle/>
                    <a:p>
                      <a:r>
                        <a:rPr lang="ja-JP" altLang="en-US" sz="1400">
                          <a:solidFill>
                            <a:srgbClr val="3D3D3D"/>
                          </a:solidFill>
                          <a:latin typeface="BIZ UDPGothic"/>
                          <a:ea typeface="BIZ UDPGothic"/>
                        </a:rPr>
                        <a:t>明文化</a:t>
                      </a:r>
                    </a:p>
                  </a:txBody>
                  <a:tcPr anchor="ctr">
                    <a:solidFill>
                      <a:srgbClr val="F2F0ED"/>
                    </a:solidFill>
                  </a:tcPr>
                </a:tc>
                <a:tc>
                  <a:txBody>
                    <a:bodyPr/>
                    <a:lstStyle/>
                    <a:p>
                      <a:pPr algn="ctr"/>
                      <a:r>
                        <a:rPr lang="ja-JP" altLang="en-US" sz="1400" b="1">
                          <a:solidFill>
                            <a:srgbClr val="4A7A48"/>
                          </a:solidFill>
                          <a:latin typeface="BIZ UDPGothic"/>
                          <a:ea typeface="BIZ UDPGothic"/>
                        </a:rPr>
                        <a:t>達成</a:t>
                      </a:r>
                    </a:p>
                  </a:txBody>
                  <a:tcPr anchor="ctr">
                    <a:solidFill>
                      <a:srgbClr val="F2F0ED"/>
                    </a:solidFill>
                  </a:tcPr>
                </a:tc>
                <a:extLst>
                  <a:ext uri="{0D108BD9-81ED-4DB2-BD59-A6C34878D82A}">
                    <a16:rowId xmlns:a16="http://schemas.microsoft.com/office/drawing/2014/main" val="3333694564"/>
                  </a:ext>
                </a:extLst>
              </a:tr>
            </a:tbl>
          </a:graphicData>
        </a:graphic>
      </p:graphicFrame>
      <p:sp>
        <p:nvSpPr>
          <p:cNvPr id="5" name="テキスト ボックス 4">
            <a:extLst>
              <a:ext uri="{FF2B5EF4-FFF2-40B4-BE49-F238E27FC236}">
                <a16:creationId xmlns:a16="http://schemas.microsoft.com/office/drawing/2014/main" id="{297C1568-D445-4A23-AA88-CB4305F2E1AD}"/>
              </a:ext>
            </a:extLst>
          </p:cNvPr>
          <p:cNvSpPr txBox="1"/>
          <p:nvPr/>
        </p:nvSpPr>
        <p:spPr>
          <a:xfrm>
            <a:off x="508000" y="4889500"/>
            <a:ext cx="11176000" cy="508000"/>
          </a:xfrm>
          <a:prstGeom prst="rect">
            <a:avLst/>
          </a:prstGeom>
          <a:noFill/>
        </p:spPr>
        <p:txBody>
          <a:bodyPr vertOverflow="overflow" vert="horz" wrap="square" rtlCol="0" anchor="t">
            <a:spAutoFit/>
          </a:bodyPr>
          <a:lstStyle/>
          <a:p>
            <a:pPr algn="l"/>
            <a:r>
              <a:rPr lang="ja-JP" altLang="en-US" sz="1400">
                <a:solidFill>
                  <a:srgbClr val="4A4A4A"/>
                </a:solidFill>
                <a:latin typeface="BIZ UDPGothic"/>
                <a:ea typeface="BIZ UDPGothic"/>
              </a:rPr>
              <a:t>全</a:t>
            </a:r>
            <a:r>
              <a:rPr lang="en-US" altLang="ja-JP" sz="1400">
                <a:solidFill>
                  <a:srgbClr val="4A4A4A"/>
                </a:solidFill>
                <a:latin typeface="BIZ UDPGothic"/>
                <a:ea typeface="BIZ UDPGothic"/>
              </a:rPr>
              <a:t>6</a:t>
            </a:r>
            <a:r>
              <a:rPr lang="ja-JP" altLang="en-US" sz="1400">
                <a:solidFill>
                  <a:srgbClr val="4A4A4A"/>
                </a:solidFill>
                <a:latin typeface="BIZ UDPGothic"/>
                <a:ea typeface="BIZ UDPGothic"/>
              </a:rPr>
              <a:t>項目の</a:t>
            </a:r>
            <a:r>
              <a:rPr lang="en-US" altLang="ja-JP" sz="1400">
                <a:solidFill>
                  <a:srgbClr val="4A4A4A"/>
                </a:solidFill>
                <a:latin typeface="BIZ UDPGothic"/>
                <a:ea typeface="BIZ UDPGothic"/>
              </a:rPr>
              <a:t>KPI</a:t>
            </a:r>
            <a:r>
              <a:rPr lang="ja-JP" altLang="en-US" sz="1400">
                <a:solidFill>
                  <a:srgbClr val="4A4A4A"/>
                </a:solidFill>
                <a:latin typeface="BIZ UDPGothic"/>
                <a:ea typeface="BIZ UDPGothic"/>
              </a:rPr>
              <a:t>において「達成」と評価。変数別の最終重要度順位の確定提示は受入必須要件ではなく、
主要観点整理として提示している。</a:t>
            </a:r>
          </a:p>
        </p:txBody>
      </p:sp>
      <p:sp>
        <p:nvSpPr>
          <p:cNvPr id="6" name="四角形: 角を丸くする 5">
            <a:extLst>
              <a:ext uri="{FF2B5EF4-FFF2-40B4-BE49-F238E27FC236}">
                <a16:creationId xmlns:a16="http://schemas.microsoft.com/office/drawing/2014/main" id="{383A8AE0-47C2-44C4-911B-578172351D29}"/>
              </a:ext>
            </a:extLst>
          </p:cNvPr>
          <p:cNvSpPr/>
          <p:nvPr/>
        </p:nvSpPr>
        <p:spPr>
          <a:xfrm>
            <a:off x="8382000" y="5524500"/>
            <a:ext cx="3302000" cy="762000"/>
          </a:xfrm>
          <a:prstGeom prst="roundRect">
            <a:avLst/>
          </a:prstGeom>
          <a:solidFill>
            <a:srgbClr val="4A7A4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2400" b="1">
                <a:solidFill>
                  <a:srgbClr val="FFFFFF"/>
                </a:solidFill>
                <a:latin typeface="BIZ UDPGothic"/>
                <a:ea typeface="BIZ UDPGothic"/>
              </a:rPr>
              <a:t>全</a:t>
            </a:r>
            <a:r>
              <a:rPr lang="en-US" altLang="ja-JP" sz="2400" b="1">
                <a:solidFill>
                  <a:srgbClr val="FFFFFF"/>
                </a:solidFill>
                <a:latin typeface="BIZ UDPGothic"/>
                <a:ea typeface="BIZ UDPGothic"/>
              </a:rPr>
              <a:t>6</a:t>
            </a:r>
            <a:r>
              <a:rPr lang="ja-JP" altLang="en-US" sz="2400" b="1">
                <a:solidFill>
                  <a:srgbClr val="FFFFFF"/>
                </a:solidFill>
                <a:latin typeface="BIZ UDPGothic"/>
                <a:ea typeface="BIZ UDPGothic"/>
              </a:rPr>
              <a:t>項目 達成</a:t>
            </a:r>
          </a:p>
        </p:txBody>
      </p:sp>
      <p:sp>
        <p:nvSpPr>
          <p:cNvPr id="7" name="テキスト ボックス 6">
            <a:extLst>
              <a:ext uri="{FF2B5EF4-FFF2-40B4-BE49-F238E27FC236}">
                <a16:creationId xmlns:a16="http://schemas.microsoft.com/office/drawing/2014/main" id="{24C011F5-B41C-483F-AAE9-AD7944E045D2}"/>
              </a:ext>
            </a:extLst>
          </p:cNvPr>
          <p:cNvSpPr txBox="1"/>
          <p:nvPr/>
        </p:nvSpPr>
        <p:spPr>
          <a:xfrm>
            <a:off x="508000" y="254000"/>
            <a:ext cx="11176000" cy="508000"/>
          </a:xfrm>
          <a:prstGeom prst="rect">
            <a:avLst/>
          </a:prstGeom>
          <a:noFill/>
        </p:spPr>
        <p:txBody>
          <a:bodyPr vertOverflow="overflow" vert="horz" wrap="square" rtlCol="0" anchor="t">
            <a:noAutofit/>
          </a:bodyPr>
          <a:lstStyle/>
          <a:p>
            <a:pPr algn="l"/>
            <a:r>
              <a:rPr lang="en-US" altLang="ja-JP" sz="2400" b="1">
                <a:solidFill>
                  <a:srgbClr val="1A1A1A"/>
                </a:solidFill>
                <a:latin typeface="BIZ UDPGothic"/>
                <a:ea typeface="BIZ UDPGothic"/>
              </a:rPr>
              <a:t>4. KPI</a:t>
            </a:r>
            <a:r>
              <a:rPr lang="ja-JP" altLang="en-US" sz="2400" b="1">
                <a:solidFill>
                  <a:srgbClr val="1A1A1A"/>
                </a:solidFill>
                <a:latin typeface="BIZ UDPGothic"/>
                <a:ea typeface="BIZ UDPGothic"/>
              </a:rPr>
              <a:t>達成状況</a:t>
            </a:r>
          </a:p>
        </p:txBody>
      </p:sp>
      <p:sp>
        <p:nvSpPr>
          <p:cNvPr id="8" name="正方形/長方形 7">
            <a:extLst>
              <a:ext uri="{FF2B5EF4-FFF2-40B4-BE49-F238E27FC236}">
                <a16:creationId xmlns:a16="http://schemas.microsoft.com/office/drawing/2014/main" id="{CA7BFD6E-20A8-4BF6-92C9-9F0D2AF360F1}"/>
              </a:ext>
            </a:extLst>
          </p:cNvPr>
          <p:cNvSpPr/>
          <p:nvPr/>
        </p:nvSpPr>
        <p:spPr>
          <a:xfrm>
            <a:off x="508000" y="787400"/>
            <a:ext cx="1270000" cy="38100"/>
          </a:xfrm>
          <a:prstGeom prst="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Tree>
    <p:extLst>
      <p:ext uri="{BB962C8B-B14F-4D97-AF65-F5344CB8AC3E}">
        <p14:creationId xmlns:p14="http://schemas.microsoft.com/office/powerpoint/2010/main" val="3111217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13B5783A-AA85-426E-A4BC-E445E7C42899}"/>
              </a:ext>
            </a:extLst>
          </p:cNvPr>
          <p:cNvGraphicFramePr>
            <a:graphicFrameLocks noGrp="1"/>
          </p:cNvGraphicFramePr>
          <p:nvPr>
            <p:extLst>
              <p:ext uri="{D42A27DB-BD31-4B8C-83A1-F6EECF244321}">
                <p14:modId xmlns:p14="http://schemas.microsoft.com/office/powerpoint/2010/main" val="2214247883"/>
              </p:ext>
            </p:extLst>
          </p:nvPr>
        </p:nvGraphicFramePr>
        <p:xfrm>
          <a:off x="508000" y="1397000"/>
          <a:ext cx="5588000" cy="2222500"/>
        </p:xfrm>
        <a:graphic>
          <a:graphicData uri="http://schemas.openxmlformats.org/drawingml/2006/table">
            <a:tbl>
              <a:tblPr firstRow="1" bandRow="1">
                <a:tableStyleId>{5C22544A-7EE6-4342-B048-85BDC9FD1C3A}</a:tableStyleId>
              </a:tblPr>
              <a:tblGrid>
                <a:gridCol w="1778000">
                  <a:extLst>
                    <a:ext uri="{9D8B030D-6E8A-4147-A177-3AD203B41FA5}">
                      <a16:colId xmlns:a16="http://schemas.microsoft.com/office/drawing/2014/main" val="2529515991"/>
                    </a:ext>
                  </a:extLst>
                </a:gridCol>
                <a:gridCol w="1905000">
                  <a:extLst>
                    <a:ext uri="{9D8B030D-6E8A-4147-A177-3AD203B41FA5}">
                      <a16:colId xmlns:a16="http://schemas.microsoft.com/office/drawing/2014/main" val="3649088991"/>
                    </a:ext>
                  </a:extLst>
                </a:gridCol>
                <a:gridCol w="1905000">
                  <a:extLst>
                    <a:ext uri="{9D8B030D-6E8A-4147-A177-3AD203B41FA5}">
                      <a16:colId xmlns:a16="http://schemas.microsoft.com/office/drawing/2014/main" val="665645537"/>
                    </a:ext>
                  </a:extLst>
                </a:gridCol>
              </a:tblGrid>
              <a:tr h="444500">
                <a:tc>
                  <a:txBody>
                    <a:bodyPr/>
                    <a:lstStyle/>
                    <a:p>
                      <a:pPr algn="ctr"/>
                      <a:r>
                        <a:rPr lang="ja-JP" altLang="en-US" sz="1400" b="1">
                          <a:solidFill>
                            <a:srgbClr val="FFFFFF"/>
                          </a:solidFill>
                          <a:latin typeface="BIZ UDPGothic"/>
                          <a:ea typeface="BIZ UDPGothic"/>
                        </a:rPr>
                        <a:t>指標</a:t>
                      </a:r>
                    </a:p>
                  </a:txBody>
                  <a:tcPr>
                    <a:solidFill>
                      <a:srgbClr val="8B3A2F"/>
                    </a:solidFill>
                  </a:tcPr>
                </a:tc>
                <a:tc>
                  <a:txBody>
                    <a:bodyPr/>
                    <a:lstStyle/>
                    <a:p>
                      <a:pPr algn="ctr"/>
                      <a:r>
                        <a:rPr lang="ja-JP" altLang="en-US" sz="1400" b="1">
                          <a:solidFill>
                            <a:srgbClr val="FFFFFF"/>
                          </a:solidFill>
                          <a:latin typeface="BIZ UDPGothic"/>
                          <a:ea typeface="BIZ UDPGothic"/>
                        </a:rPr>
                        <a:t>学習データ</a:t>
                      </a:r>
                    </a:p>
                  </a:txBody>
                  <a:tcPr>
                    <a:solidFill>
                      <a:srgbClr val="8B3A2F"/>
                    </a:solidFill>
                  </a:tcPr>
                </a:tc>
                <a:tc>
                  <a:txBody>
                    <a:bodyPr/>
                    <a:lstStyle/>
                    <a:p>
                      <a:pPr algn="ctr"/>
                      <a:r>
                        <a:rPr lang="ja-JP" altLang="en-US" sz="1400" b="1">
                          <a:solidFill>
                            <a:srgbClr val="FFFFFF"/>
                          </a:solidFill>
                          <a:latin typeface="BIZ UDPGothic"/>
                          <a:ea typeface="BIZ UDPGothic"/>
                        </a:rPr>
                        <a:t>検証データ</a:t>
                      </a:r>
                    </a:p>
                  </a:txBody>
                  <a:tcPr>
                    <a:solidFill>
                      <a:srgbClr val="8B3A2F"/>
                    </a:solidFill>
                  </a:tcPr>
                </a:tc>
                <a:extLst>
                  <a:ext uri="{0D108BD9-81ED-4DB2-BD59-A6C34878D82A}">
                    <a16:rowId xmlns:a16="http://schemas.microsoft.com/office/drawing/2014/main" val="741906414"/>
                  </a:ext>
                </a:extLst>
              </a:tr>
              <a:tr h="444500">
                <a:tc>
                  <a:txBody>
                    <a:bodyPr/>
                    <a:lstStyle/>
                    <a:p>
                      <a:pPr algn="ctr"/>
                      <a:r>
                        <a:rPr lang="ja-JP" altLang="en-US" sz="1400">
                          <a:solidFill>
                            <a:srgbClr val="3D3D3D"/>
                          </a:solidFill>
                          <a:latin typeface="BIZ UDPGothic"/>
                          <a:ea typeface="BIZ UDPGothic"/>
                        </a:rPr>
                        <a:t>Accuracy</a:t>
                      </a:r>
                    </a:p>
                  </a:txBody>
                  <a:tcPr/>
                </a:tc>
                <a:tc>
                  <a:txBody>
                    <a:bodyPr/>
                    <a:lstStyle/>
                    <a:p>
                      <a:pPr algn="ctr"/>
                      <a:r>
                        <a:rPr lang="ja-JP" altLang="en-US" sz="1400">
                          <a:solidFill>
                            <a:srgbClr val="3D3D3D"/>
                          </a:solidFill>
                          <a:latin typeface="BIZ UDPGothic"/>
                          <a:ea typeface="BIZ UDPGothic"/>
                        </a:rPr>
                        <a:t>0.9183</a:t>
                      </a:r>
                    </a:p>
                  </a:txBody>
                  <a:tcPr/>
                </a:tc>
                <a:tc>
                  <a:txBody>
                    <a:bodyPr/>
                    <a:lstStyle/>
                    <a:p>
                      <a:pPr algn="ctr"/>
                      <a:r>
                        <a:rPr lang="ja-JP" altLang="en-US" sz="1400">
                          <a:solidFill>
                            <a:srgbClr val="3D3D3D"/>
                          </a:solidFill>
                          <a:latin typeface="BIZ UDPGothic"/>
                          <a:ea typeface="BIZ UDPGothic"/>
                        </a:rPr>
                        <a:t>0.7838</a:t>
                      </a:r>
                    </a:p>
                  </a:txBody>
                  <a:tcPr/>
                </a:tc>
                <a:extLst>
                  <a:ext uri="{0D108BD9-81ED-4DB2-BD59-A6C34878D82A}">
                    <a16:rowId xmlns:a16="http://schemas.microsoft.com/office/drawing/2014/main" val="2779843533"/>
                  </a:ext>
                </a:extLst>
              </a:tr>
              <a:tr h="444500">
                <a:tc>
                  <a:txBody>
                    <a:bodyPr/>
                    <a:lstStyle/>
                    <a:p>
                      <a:pPr algn="ctr"/>
                      <a:r>
                        <a:rPr lang="ja-JP" altLang="en-US" sz="1400">
                          <a:solidFill>
                            <a:srgbClr val="3D3D3D"/>
                          </a:solidFill>
                          <a:latin typeface="BIZ UDPGothic"/>
                          <a:ea typeface="BIZ UDPGothic"/>
                        </a:rPr>
                        <a:t>F1-macro</a:t>
                      </a:r>
                    </a:p>
                  </a:txBody>
                  <a:tcPr>
                    <a:solidFill>
                      <a:srgbClr val="F2F0ED"/>
                    </a:solidFill>
                  </a:tcPr>
                </a:tc>
                <a:tc>
                  <a:txBody>
                    <a:bodyPr/>
                    <a:lstStyle/>
                    <a:p>
                      <a:pPr algn="ctr"/>
                      <a:r>
                        <a:rPr lang="ja-JP" altLang="en-US" sz="1400">
                          <a:solidFill>
                            <a:srgbClr val="3D3D3D"/>
                          </a:solidFill>
                          <a:latin typeface="BIZ UDPGothic"/>
                          <a:ea typeface="BIZ UDPGothic"/>
                        </a:rPr>
                        <a:t>0.8761</a:t>
                      </a:r>
                    </a:p>
                  </a:txBody>
                  <a:tcPr>
                    <a:solidFill>
                      <a:srgbClr val="F2F0ED"/>
                    </a:solidFill>
                  </a:tcPr>
                </a:tc>
                <a:tc>
                  <a:txBody>
                    <a:bodyPr/>
                    <a:lstStyle/>
                    <a:p>
                      <a:pPr algn="ctr"/>
                      <a:r>
                        <a:rPr lang="ja-JP" altLang="en-US" sz="1400">
                          <a:solidFill>
                            <a:srgbClr val="3D3D3D"/>
                          </a:solidFill>
                          <a:latin typeface="BIZ UDPGothic"/>
                          <a:ea typeface="BIZ UDPGothic"/>
                        </a:rPr>
                        <a:t>0.6476</a:t>
                      </a:r>
                    </a:p>
                  </a:txBody>
                  <a:tcPr>
                    <a:solidFill>
                      <a:srgbClr val="F2F0ED"/>
                    </a:solidFill>
                  </a:tcPr>
                </a:tc>
                <a:extLst>
                  <a:ext uri="{0D108BD9-81ED-4DB2-BD59-A6C34878D82A}">
                    <a16:rowId xmlns:a16="http://schemas.microsoft.com/office/drawing/2014/main" val="2386509161"/>
                  </a:ext>
                </a:extLst>
              </a:tr>
              <a:tr h="444500">
                <a:tc>
                  <a:txBody>
                    <a:bodyPr/>
                    <a:lstStyle/>
                    <a:p>
                      <a:pPr algn="ctr"/>
                      <a:r>
                        <a:rPr lang="ja-JP" altLang="en-US" sz="1400">
                          <a:solidFill>
                            <a:srgbClr val="3D3D3D"/>
                          </a:solidFill>
                          <a:latin typeface="BIZ UDPGothic"/>
                          <a:ea typeface="BIZ UDPGothic"/>
                        </a:rPr>
                        <a:t>ROC-AUC</a:t>
                      </a:r>
                    </a:p>
                  </a:txBody>
                  <a:tcPr/>
                </a:tc>
                <a:tc>
                  <a:txBody>
                    <a:bodyPr/>
                    <a:lstStyle/>
                    <a:p>
                      <a:pPr algn="ctr"/>
                      <a:r>
                        <a:rPr lang="ja-JP" altLang="en-US" sz="1400">
                          <a:solidFill>
                            <a:srgbClr val="3D3D3D"/>
                          </a:solidFill>
                          <a:latin typeface="BIZ UDPGothic"/>
                          <a:ea typeface="BIZ UDPGothic"/>
                        </a:rPr>
                        <a:t>—</a:t>
                      </a:r>
                    </a:p>
                  </a:txBody>
                  <a:tcPr/>
                </a:tc>
                <a:tc>
                  <a:txBody>
                    <a:bodyPr/>
                    <a:lstStyle/>
                    <a:p>
                      <a:pPr algn="ctr"/>
                      <a:r>
                        <a:rPr lang="ja-JP" altLang="en-US" sz="1400">
                          <a:solidFill>
                            <a:srgbClr val="3D3D3D"/>
                          </a:solidFill>
                          <a:latin typeface="BIZ UDPGothic"/>
                          <a:ea typeface="BIZ UDPGothic"/>
                        </a:rPr>
                        <a:t>0.7121</a:t>
                      </a:r>
                    </a:p>
                  </a:txBody>
                  <a:tcPr/>
                </a:tc>
                <a:extLst>
                  <a:ext uri="{0D108BD9-81ED-4DB2-BD59-A6C34878D82A}">
                    <a16:rowId xmlns:a16="http://schemas.microsoft.com/office/drawing/2014/main" val="316813425"/>
                  </a:ext>
                </a:extLst>
              </a:tr>
              <a:tr h="444500">
                <a:tc>
                  <a:txBody>
                    <a:bodyPr/>
                    <a:lstStyle/>
                    <a:p>
                      <a:pPr algn="ctr"/>
                      <a:r>
                        <a:rPr lang="ja-JP" altLang="en-US" sz="1400">
                          <a:solidFill>
                            <a:srgbClr val="3D3D3D"/>
                          </a:solidFill>
                          <a:latin typeface="BIZ UDPGothic"/>
                          <a:ea typeface="BIZ UDPGothic"/>
                        </a:rPr>
                        <a:t>Brier Score</a:t>
                      </a:r>
                    </a:p>
                  </a:txBody>
                  <a:tcPr>
                    <a:solidFill>
                      <a:srgbClr val="F2F0ED"/>
                    </a:solidFill>
                  </a:tcPr>
                </a:tc>
                <a:tc>
                  <a:txBody>
                    <a:bodyPr/>
                    <a:lstStyle/>
                    <a:p>
                      <a:pPr algn="ctr"/>
                      <a:r>
                        <a:rPr lang="ja-JP" altLang="en-US" sz="1400">
                          <a:solidFill>
                            <a:srgbClr val="3D3D3D"/>
                          </a:solidFill>
                          <a:latin typeface="BIZ UDPGothic"/>
                          <a:ea typeface="BIZ UDPGothic"/>
                        </a:rPr>
                        <a:t>—</a:t>
                      </a:r>
                    </a:p>
                  </a:txBody>
                  <a:tcPr>
                    <a:solidFill>
                      <a:srgbClr val="F2F0ED"/>
                    </a:solidFill>
                  </a:tcPr>
                </a:tc>
                <a:tc>
                  <a:txBody>
                    <a:bodyPr/>
                    <a:lstStyle/>
                    <a:p>
                      <a:pPr algn="ctr"/>
                      <a:r>
                        <a:rPr lang="ja-JP" altLang="en-US" sz="1400">
                          <a:solidFill>
                            <a:srgbClr val="3D3D3D"/>
                          </a:solidFill>
                          <a:latin typeface="BIZ UDPGothic"/>
                          <a:ea typeface="BIZ UDPGothic"/>
                        </a:rPr>
                        <a:t>0.1508</a:t>
                      </a:r>
                    </a:p>
                  </a:txBody>
                  <a:tcPr>
                    <a:solidFill>
                      <a:srgbClr val="F2F0ED"/>
                    </a:solidFill>
                  </a:tcPr>
                </a:tc>
                <a:extLst>
                  <a:ext uri="{0D108BD9-81ED-4DB2-BD59-A6C34878D82A}">
                    <a16:rowId xmlns:a16="http://schemas.microsoft.com/office/drawing/2014/main" val="2147233599"/>
                  </a:ext>
                </a:extLst>
              </a:tr>
            </a:tbl>
          </a:graphicData>
        </a:graphic>
      </p:graphicFrame>
      <p:sp>
        <p:nvSpPr>
          <p:cNvPr id="5" name="四角形: 角を丸くする 4">
            <a:extLst>
              <a:ext uri="{FF2B5EF4-FFF2-40B4-BE49-F238E27FC236}">
                <a16:creationId xmlns:a16="http://schemas.microsoft.com/office/drawing/2014/main" id="{1414DE9F-6493-4C92-A01B-7E94964215BA}"/>
              </a:ext>
            </a:extLst>
          </p:cNvPr>
          <p:cNvSpPr/>
          <p:nvPr/>
        </p:nvSpPr>
        <p:spPr>
          <a:xfrm>
            <a:off x="6350000" y="1397000"/>
            <a:ext cx="5334000" cy="9652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E39EAC71-E1D8-4CE4-AEEE-7758443D2319}"/>
              </a:ext>
            </a:extLst>
          </p:cNvPr>
          <p:cNvSpPr txBox="1"/>
          <p:nvPr/>
        </p:nvSpPr>
        <p:spPr>
          <a:xfrm>
            <a:off x="6540500" y="1460500"/>
            <a:ext cx="2540000" cy="304800"/>
          </a:xfrm>
          <a:prstGeom prst="rect">
            <a:avLst/>
          </a:prstGeom>
          <a:noFill/>
        </p:spPr>
        <p:txBody>
          <a:bodyPr vertOverflow="overflow" vert="horz" wrap="square" rtlCol="0" anchor="t">
            <a:spAutoFit/>
          </a:bodyPr>
          <a:lstStyle/>
          <a:p>
            <a:pPr algn="l"/>
            <a:r>
              <a:rPr lang="en-US" altLang="ja-JP" sz="1400">
                <a:solidFill>
                  <a:srgbClr val="6B6B6B"/>
                </a:solidFill>
                <a:latin typeface="BIZ UDPGothic"/>
                <a:ea typeface="BIZ UDPGothic"/>
              </a:rPr>
              <a:t>Precision@Top10%</a:t>
            </a:r>
            <a:endParaRPr lang="ja-JP" altLang="en-US" sz="1400">
              <a:solidFill>
                <a:srgbClr val="6B6B6B"/>
              </a:solidFill>
              <a:latin typeface="BIZ UDPGothic"/>
              <a:ea typeface="BIZ UDPGothic"/>
            </a:endParaRPr>
          </a:p>
        </p:txBody>
      </p:sp>
      <p:sp>
        <p:nvSpPr>
          <p:cNvPr id="7" name="テキスト ボックス 6">
            <a:extLst>
              <a:ext uri="{FF2B5EF4-FFF2-40B4-BE49-F238E27FC236}">
                <a16:creationId xmlns:a16="http://schemas.microsoft.com/office/drawing/2014/main" id="{4D507130-9D4C-42E8-A977-90DC0F037D9C}"/>
              </a:ext>
            </a:extLst>
          </p:cNvPr>
          <p:cNvSpPr txBox="1"/>
          <p:nvPr/>
        </p:nvSpPr>
        <p:spPr>
          <a:xfrm>
            <a:off x="6540500" y="1765300"/>
            <a:ext cx="2540000" cy="457200"/>
          </a:xfrm>
          <a:prstGeom prst="rect">
            <a:avLst/>
          </a:prstGeom>
          <a:noFill/>
        </p:spPr>
        <p:txBody>
          <a:bodyPr vertOverflow="overflow" vert="horz" wrap="square" rtlCol="0" anchor="t">
            <a:spAutoFit/>
          </a:bodyPr>
          <a:lstStyle/>
          <a:p>
            <a:pPr algn="l"/>
            <a:r>
              <a:rPr lang="en-US" altLang="ja-JP" sz="2800" b="1">
                <a:solidFill>
                  <a:srgbClr val="8B3A2F"/>
                </a:solidFill>
                <a:latin typeface="BIZ UDPGothic"/>
                <a:ea typeface="BIZ UDPGothic"/>
              </a:rPr>
              <a:t>0.4667</a:t>
            </a:r>
            <a:endParaRPr lang="ja-JP" altLang="en-US" sz="2800" b="1">
              <a:solidFill>
                <a:srgbClr val="8B3A2F"/>
              </a:solidFill>
              <a:latin typeface="BIZ UDPGothic"/>
              <a:ea typeface="BIZ UDPGothic"/>
            </a:endParaRPr>
          </a:p>
        </p:txBody>
      </p:sp>
      <p:sp>
        <p:nvSpPr>
          <p:cNvPr id="8" name="テキスト ボックス 7">
            <a:extLst>
              <a:ext uri="{FF2B5EF4-FFF2-40B4-BE49-F238E27FC236}">
                <a16:creationId xmlns:a16="http://schemas.microsoft.com/office/drawing/2014/main" id="{1BB6F02B-BAC7-46F7-ACFB-D7A50F40809D}"/>
              </a:ext>
            </a:extLst>
          </p:cNvPr>
          <p:cNvSpPr txBox="1"/>
          <p:nvPr/>
        </p:nvSpPr>
        <p:spPr>
          <a:xfrm>
            <a:off x="9144000" y="1689100"/>
            <a:ext cx="2540000" cy="508000"/>
          </a:xfrm>
          <a:prstGeom prst="rect">
            <a:avLst/>
          </a:prstGeom>
          <a:noFill/>
        </p:spPr>
        <p:txBody>
          <a:bodyPr vertOverflow="overflow" vert="horz" wrap="square" rtlCol="0" anchor="t">
            <a:spAutoFit/>
          </a:bodyPr>
          <a:lstStyle/>
          <a:p>
            <a:pPr algn="l"/>
            <a:r>
              <a:rPr lang="ja-JP" altLang="en-US" sz="1400">
                <a:solidFill>
                  <a:srgbClr val="4A4A4A"/>
                </a:solidFill>
                <a:latin typeface="BIZ UDPGothic"/>
                <a:ea typeface="BIZ UDPGothic"/>
              </a:rPr>
              <a:t>高リスク群に一定の濃縮あり</a:t>
            </a:r>
          </a:p>
        </p:txBody>
      </p:sp>
      <p:sp>
        <p:nvSpPr>
          <p:cNvPr id="9" name="四角形: 角を丸くする 8">
            <a:extLst>
              <a:ext uri="{FF2B5EF4-FFF2-40B4-BE49-F238E27FC236}">
                <a16:creationId xmlns:a16="http://schemas.microsoft.com/office/drawing/2014/main" id="{B2EE11EF-D6D5-4B5D-8C7B-FA10DB44DE6D}"/>
              </a:ext>
            </a:extLst>
          </p:cNvPr>
          <p:cNvSpPr/>
          <p:nvPr/>
        </p:nvSpPr>
        <p:spPr>
          <a:xfrm>
            <a:off x="6350000" y="2540000"/>
            <a:ext cx="5334000" cy="9652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0" name="テキスト ボックス 9">
            <a:extLst>
              <a:ext uri="{FF2B5EF4-FFF2-40B4-BE49-F238E27FC236}">
                <a16:creationId xmlns:a16="http://schemas.microsoft.com/office/drawing/2014/main" id="{B13C4684-51DF-4B4A-9322-05A1A5554370}"/>
              </a:ext>
            </a:extLst>
          </p:cNvPr>
          <p:cNvSpPr txBox="1"/>
          <p:nvPr/>
        </p:nvSpPr>
        <p:spPr>
          <a:xfrm>
            <a:off x="6540500" y="2603500"/>
            <a:ext cx="2540000" cy="304800"/>
          </a:xfrm>
          <a:prstGeom prst="rect">
            <a:avLst/>
          </a:prstGeom>
          <a:noFill/>
        </p:spPr>
        <p:txBody>
          <a:bodyPr vertOverflow="overflow" vert="horz" wrap="square" rtlCol="0" anchor="t">
            <a:spAutoFit/>
          </a:bodyPr>
          <a:lstStyle/>
          <a:p>
            <a:pPr algn="l"/>
            <a:r>
              <a:rPr lang="ja-JP" altLang="en-US" sz="1400">
                <a:solidFill>
                  <a:srgbClr val="6B6B6B"/>
                </a:solidFill>
                <a:latin typeface="BIZ UDPGothic"/>
                <a:ea typeface="BIZ UDPGothic"/>
              </a:rPr>
              <a:t>学習</a:t>
            </a:r>
            <a:r>
              <a:rPr lang="en-US" altLang="ja-JP" sz="1400">
                <a:solidFill>
                  <a:srgbClr val="6B6B6B"/>
                </a:solidFill>
                <a:latin typeface="BIZ UDPGothic"/>
                <a:ea typeface="BIZ UDPGothic"/>
              </a:rPr>
              <a:t>-</a:t>
            </a:r>
            <a:r>
              <a:rPr lang="ja-JP" altLang="en-US" sz="1400">
                <a:solidFill>
                  <a:srgbClr val="6B6B6B"/>
                </a:solidFill>
                <a:latin typeface="BIZ UDPGothic"/>
                <a:ea typeface="BIZ UDPGothic"/>
              </a:rPr>
              <a:t>検証の性能差</a:t>
            </a:r>
          </a:p>
        </p:txBody>
      </p:sp>
      <p:sp>
        <p:nvSpPr>
          <p:cNvPr id="11" name="テキスト ボックス 10">
            <a:extLst>
              <a:ext uri="{FF2B5EF4-FFF2-40B4-BE49-F238E27FC236}">
                <a16:creationId xmlns:a16="http://schemas.microsoft.com/office/drawing/2014/main" id="{24A656F2-7983-47A3-B2C6-2E19B4A66B02}"/>
              </a:ext>
            </a:extLst>
          </p:cNvPr>
          <p:cNvSpPr txBox="1"/>
          <p:nvPr/>
        </p:nvSpPr>
        <p:spPr>
          <a:xfrm>
            <a:off x="6540500" y="2908300"/>
            <a:ext cx="2286000" cy="508000"/>
          </a:xfrm>
          <a:prstGeom prst="rect">
            <a:avLst/>
          </a:prstGeom>
          <a:noFill/>
        </p:spPr>
        <p:txBody>
          <a:bodyPr vertOverflow="overflow" vert="horz" wrap="square" rtlCol="0" anchor="t">
            <a:spAutoFit/>
          </a:bodyPr>
          <a:lstStyle/>
          <a:p>
            <a:pPr algn="l"/>
            <a:r>
              <a:rPr lang="en-US" altLang="ja-JP" sz="1600" b="1">
                <a:solidFill>
                  <a:srgbClr val="A0522D"/>
                </a:solidFill>
                <a:latin typeface="BIZ UDPGothic"/>
                <a:ea typeface="BIZ UDPGothic"/>
              </a:rPr>
              <a:t>Accuracy</a:t>
            </a:r>
            <a:r>
              <a:rPr lang="ja-JP" altLang="en-US" sz="1600" b="1">
                <a:solidFill>
                  <a:srgbClr val="A0522D"/>
                </a:solidFill>
                <a:latin typeface="BIZ UDPGothic"/>
                <a:ea typeface="BIZ UDPGothic"/>
              </a:rPr>
              <a:t>差：</a:t>
            </a:r>
            <a:r>
              <a:rPr lang="en-US" altLang="ja-JP" sz="1600" b="1">
                <a:solidFill>
                  <a:srgbClr val="A0522D"/>
                </a:solidFill>
                <a:latin typeface="BIZ UDPGothic"/>
                <a:ea typeface="BIZ UDPGothic"/>
              </a:rPr>
              <a:t>0.135
F1</a:t>
            </a:r>
            <a:r>
              <a:rPr lang="ja-JP" altLang="en-US" sz="1600" b="1">
                <a:solidFill>
                  <a:srgbClr val="A0522D"/>
                </a:solidFill>
                <a:latin typeface="BIZ UDPGothic"/>
                <a:ea typeface="BIZ UDPGothic"/>
              </a:rPr>
              <a:t>差：</a:t>
            </a:r>
            <a:r>
              <a:rPr lang="en-US" altLang="ja-JP" sz="1600" b="1">
                <a:solidFill>
                  <a:srgbClr val="A0522D"/>
                </a:solidFill>
                <a:latin typeface="BIZ UDPGothic"/>
                <a:ea typeface="BIZ UDPGothic"/>
              </a:rPr>
              <a:t>0.229</a:t>
            </a:r>
            <a:endParaRPr lang="ja-JP" altLang="en-US" sz="1600" b="1">
              <a:solidFill>
                <a:srgbClr val="A0522D"/>
              </a:solidFill>
              <a:latin typeface="BIZ UDPGothic"/>
              <a:ea typeface="BIZ UDPGothic"/>
            </a:endParaRPr>
          </a:p>
        </p:txBody>
      </p:sp>
      <p:sp>
        <p:nvSpPr>
          <p:cNvPr id="12" name="テキスト ボックス 11">
            <a:extLst>
              <a:ext uri="{FF2B5EF4-FFF2-40B4-BE49-F238E27FC236}">
                <a16:creationId xmlns:a16="http://schemas.microsoft.com/office/drawing/2014/main" id="{06356C20-4828-492B-BE7A-3EB032C1815E}"/>
              </a:ext>
            </a:extLst>
          </p:cNvPr>
          <p:cNvSpPr txBox="1"/>
          <p:nvPr/>
        </p:nvSpPr>
        <p:spPr>
          <a:xfrm>
            <a:off x="9144000" y="2832100"/>
            <a:ext cx="2540000" cy="508000"/>
          </a:xfrm>
          <a:prstGeom prst="rect">
            <a:avLst/>
          </a:prstGeom>
          <a:noFill/>
        </p:spPr>
        <p:txBody>
          <a:bodyPr vertOverflow="overflow" vert="horz" wrap="square" rtlCol="0" anchor="t">
            <a:spAutoFit/>
          </a:bodyPr>
          <a:lstStyle/>
          <a:p>
            <a:pPr algn="l"/>
            <a:r>
              <a:rPr lang="ja-JP" altLang="en-US" sz="1400">
                <a:solidFill>
                  <a:srgbClr val="4A4A4A"/>
                </a:solidFill>
                <a:latin typeface="BIZ UDPGothic"/>
                <a:ea typeface="BIZ UDPGothic"/>
              </a:rPr>
              <a:t>過信せずモニタリング
前提で扱う必要がある</a:t>
            </a:r>
          </a:p>
        </p:txBody>
      </p:sp>
      <p:sp>
        <p:nvSpPr>
          <p:cNvPr id="13" name="テキスト ボックス 12">
            <a:extLst>
              <a:ext uri="{FF2B5EF4-FFF2-40B4-BE49-F238E27FC236}">
                <a16:creationId xmlns:a16="http://schemas.microsoft.com/office/drawing/2014/main" id="{0456C166-A514-4440-93DC-6A0C6E1C6F38}"/>
              </a:ext>
            </a:extLst>
          </p:cNvPr>
          <p:cNvSpPr txBox="1"/>
          <p:nvPr/>
        </p:nvSpPr>
        <p:spPr>
          <a:xfrm>
            <a:off x="508000" y="3873500"/>
            <a:ext cx="11176000" cy="355600"/>
          </a:xfrm>
          <a:prstGeom prst="rect">
            <a:avLst/>
          </a:prstGeom>
          <a:noFill/>
        </p:spPr>
        <p:txBody>
          <a:bodyPr vertOverflow="overflow" vert="horz" wrap="square" rtlCol="0" anchor="t">
            <a:spAutoFit/>
          </a:bodyPr>
          <a:lstStyle/>
          <a:p>
            <a:pPr algn="l"/>
            <a:r>
              <a:rPr lang="ja-JP" altLang="en-US" sz="1600" b="1">
                <a:solidFill>
                  <a:srgbClr val="1A1A1A"/>
                </a:solidFill>
                <a:latin typeface="BIZ UDPGothic"/>
                <a:ea typeface="BIZ UDPGothic"/>
              </a:rPr>
              <a:t>解釈</a:t>
            </a:r>
          </a:p>
        </p:txBody>
      </p:sp>
      <p:sp>
        <p:nvSpPr>
          <p:cNvPr id="14" name="正方形/長方形 13">
            <a:extLst>
              <a:ext uri="{FF2B5EF4-FFF2-40B4-BE49-F238E27FC236}">
                <a16:creationId xmlns:a16="http://schemas.microsoft.com/office/drawing/2014/main" id="{CFDAEFDE-1A2E-462B-88CB-26524E37055F}"/>
              </a:ext>
            </a:extLst>
          </p:cNvPr>
          <p:cNvSpPr/>
          <p:nvPr/>
        </p:nvSpPr>
        <p:spPr>
          <a:xfrm>
            <a:off x="508000" y="4229100"/>
            <a:ext cx="11176000" cy="25400"/>
          </a:xfrm>
          <a:prstGeom prst="rect">
            <a:avLst/>
          </a:prstGeom>
          <a:solidFill>
            <a:srgbClr val="D4C5B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5" name="正方形/長方形 14">
            <a:extLst>
              <a:ext uri="{FF2B5EF4-FFF2-40B4-BE49-F238E27FC236}">
                <a16:creationId xmlns:a16="http://schemas.microsoft.com/office/drawing/2014/main" id="{F1571707-F678-43EC-B7FB-49DFB5037483}"/>
              </a:ext>
            </a:extLst>
          </p:cNvPr>
          <p:cNvSpPr/>
          <p:nvPr/>
        </p:nvSpPr>
        <p:spPr>
          <a:xfrm>
            <a:off x="508000" y="4381500"/>
            <a:ext cx="3429000" cy="76200"/>
          </a:xfrm>
          <a:prstGeom prst="rect">
            <a:avLst/>
          </a:prstGeom>
          <a:solidFill>
            <a:srgbClr val="4A7A4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テキスト ボックス 15">
            <a:extLst>
              <a:ext uri="{FF2B5EF4-FFF2-40B4-BE49-F238E27FC236}">
                <a16:creationId xmlns:a16="http://schemas.microsoft.com/office/drawing/2014/main" id="{C743E1A8-46CA-4CE2-9338-EC19BD344F4D}"/>
              </a:ext>
            </a:extLst>
          </p:cNvPr>
          <p:cNvSpPr txBox="1"/>
          <p:nvPr/>
        </p:nvSpPr>
        <p:spPr>
          <a:xfrm>
            <a:off x="571500" y="4533900"/>
            <a:ext cx="3302000" cy="304800"/>
          </a:xfrm>
          <a:prstGeom prst="rect">
            <a:avLst/>
          </a:prstGeom>
          <a:noFill/>
        </p:spPr>
        <p:txBody>
          <a:bodyPr vertOverflow="overflow" vert="horz" wrap="square" rtlCol="0" anchor="t">
            <a:spAutoFit/>
          </a:bodyPr>
          <a:lstStyle/>
          <a:p>
            <a:pPr algn="l"/>
            <a:r>
              <a:rPr lang="ja-JP" altLang="en-US" sz="1400" b="1">
                <a:solidFill>
                  <a:srgbClr val="4A7A48"/>
                </a:solidFill>
                <a:latin typeface="BIZ UDPGothic"/>
                <a:ea typeface="BIZ UDPGothic"/>
              </a:rPr>
              <a:t>施策優先順位付けに有効</a:t>
            </a:r>
          </a:p>
        </p:txBody>
      </p:sp>
      <p:sp>
        <p:nvSpPr>
          <p:cNvPr id="17" name="テキスト ボックス 16">
            <a:extLst>
              <a:ext uri="{FF2B5EF4-FFF2-40B4-BE49-F238E27FC236}">
                <a16:creationId xmlns:a16="http://schemas.microsoft.com/office/drawing/2014/main" id="{E8F2C0A7-30AC-4F3A-95D8-78821D613D7A}"/>
              </a:ext>
            </a:extLst>
          </p:cNvPr>
          <p:cNvSpPr txBox="1"/>
          <p:nvPr/>
        </p:nvSpPr>
        <p:spPr>
          <a:xfrm>
            <a:off x="571500" y="4864100"/>
            <a:ext cx="3302000" cy="13716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離職傾向を完全に予測する水準ではないが、施策対象の優先順位付けや重点観点抽出に使える判別力を確認</a:t>
            </a:r>
          </a:p>
        </p:txBody>
      </p:sp>
      <p:sp>
        <p:nvSpPr>
          <p:cNvPr id="18" name="正方形/長方形 17">
            <a:extLst>
              <a:ext uri="{FF2B5EF4-FFF2-40B4-BE49-F238E27FC236}">
                <a16:creationId xmlns:a16="http://schemas.microsoft.com/office/drawing/2014/main" id="{B7D0ACAC-A27A-4D19-A512-0A05134CDF3F}"/>
              </a:ext>
            </a:extLst>
          </p:cNvPr>
          <p:cNvSpPr/>
          <p:nvPr/>
        </p:nvSpPr>
        <p:spPr>
          <a:xfrm>
            <a:off x="4318000" y="4381500"/>
            <a:ext cx="3429000" cy="76200"/>
          </a:xfrm>
          <a:prstGeom prst="rect">
            <a:avLst/>
          </a:prstGeom>
          <a:solidFill>
            <a:srgbClr val="A0522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9" name="テキスト ボックス 18">
            <a:extLst>
              <a:ext uri="{FF2B5EF4-FFF2-40B4-BE49-F238E27FC236}">
                <a16:creationId xmlns:a16="http://schemas.microsoft.com/office/drawing/2014/main" id="{A9A8E43C-102F-46BF-89A9-F722B03B79EE}"/>
              </a:ext>
            </a:extLst>
          </p:cNvPr>
          <p:cNvSpPr txBox="1"/>
          <p:nvPr/>
        </p:nvSpPr>
        <p:spPr>
          <a:xfrm>
            <a:off x="4381500" y="4533900"/>
            <a:ext cx="3302000" cy="304800"/>
          </a:xfrm>
          <a:prstGeom prst="rect">
            <a:avLst/>
          </a:prstGeom>
          <a:noFill/>
        </p:spPr>
        <p:txBody>
          <a:bodyPr vertOverflow="overflow" vert="horz" wrap="square" rtlCol="0" anchor="t">
            <a:spAutoFit/>
          </a:bodyPr>
          <a:lstStyle/>
          <a:p>
            <a:pPr algn="l"/>
            <a:r>
              <a:rPr lang="ja-JP" altLang="en-US" sz="1400" b="1">
                <a:solidFill>
                  <a:srgbClr val="A0522D"/>
                </a:solidFill>
                <a:latin typeface="BIZ UDPGothic"/>
                <a:ea typeface="BIZ UDPGothic"/>
              </a:rPr>
              <a:t>モニタリング前提の運用</a:t>
            </a:r>
          </a:p>
        </p:txBody>
      </p:sp>
      <p:sp>
        <p:nvSpPr>
          <p:cNvPr id="20" name="テキスト ボックス 19">
            <a:extLst>
              <a:ext uri="{FF2B5EF4-FFF2-40B4-BE49-F238E27FC236}">
                <a16:creationId xmlns:a16="http://schemas.microsoft.com/office/drawing/2014/main" id="{2D15210A-C525-4BD3-B8E3-8D577ACC98E7}"/>
              </a:ext>
            </a:extLst>
          </p:cNvPr>
          <p:cNvSpPr txBox="1"/>
          <p:nvPr/>
        </p:nvSpPr>
        <p:spPr>
          <a:xfrm>
            <a:off x="4381500" y="4864100"/>
            <a:ext cx="3302000" cy="13716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学習と検証の性能差が一定程度あるため、運用時には過信せずモニタリング前提で扱う必要がある</a:t>
            </a:r>
          </a:p>
        </p:txBody>
      </p:sp>
      <p:sp>
        <p:nvSpPr>
          <p:cNvPr id="21" name="正方形/長方形 20">
            <a:extLst>
              <a:ext uri="{FF2B5EF4-FFF2-40B4-BE49-F238E27FC236}">
                <a16:creationId xmlns:a16="http://schemas.microsoft.com/office/drawing/2014/main" id="{C24BA505-5EF9-4116-AC72-BFE9A1FB5680}"/>
              </a:ext>
            </a:extLst>
          </p:cNvPr>
          <p:cNvSpPr/>
          <p:nvPr/>
        </p:nvSpPr>
        <p:spPr>
          <a:xfrm>
            <a:off x="8128000" y="4381500"/>
            <a:ext cx="3429000" cy="76200"/>
          </a:xfrm>
          <a:prstGeom prst="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2" name="テキスト ボックス 21">
            <a:extLst>
              <a:ext uri="{FF2B5EF4-FFF2-40B4-BE49-F238E27FC236}">
                <a16:creationId xmlns:a16="http://schemas.microsoft.com/office/drawing/2014/main" id="{ECD61B48-F58F-43F4-9548-1311E7A1E30D}"/>
              </a:ext>
            </a:extLst>
          </p:cNvPr>
          <p:cNvSpPr txBox="1"/>
          <p:nvPr/>
        </p:nvSpPr>
        <p:spPr>
          <a:xfrm>
            <a:off x="8191500" y="4533900"/>
            <a:ext cx="3302000" cy="304800"/>
          </a:xfrm>
          <a:prstGeom prst="rect">
            <a:avLst/>
          </a:prstGeom>
          <a:noFill/>
        </p:spPr>
        <p:txBody>
          <a:bodyPr vertOverflow="overflow" vert="horz" wrap="square" rtlCol="0" anchor="t">
            <a:spAutoFit/>
          </a:bodyPr>
          <a:lstStyle/>
          <a:p>
            <a:pPr algn="l"/>
            <a:r>
              <a:rPr lang="ja-JP" altLang="en-US" sz="1400" b="1">
                <a:solidFill>
                  <a:srgbClr val="8B3A2F"/>
                </a:solidFill>
                <a:latin typeface="BIZ UDPGothic"/>
                <a:ea typeface="BIZ UDPGothic"/>
              </a:rPr>
              <a:t>個人判定には不適切</a:t>
            </a:r>
          </a:p>
        </p:txBody>
      </p:sp>
      <p:sp>
        <p:nvSpPr>
          <p:cNvPr id="23" name="テキスト ボックス 22">
            <a:extLst>
              <a:ext uri="{FF2B5EF4-FFF2-40B4-BE49-F238E27FC236}">
                <a16:creationId xmlns:a16="http://schemas.microsoft.com/office/drawing/2014/main" id="{1C8CA197-53C6-4A10-B417-09FC1FA00E31}"/>
              </a:ext>
            </a:extLst>
          </p:cNvPr>
          <p:cNvSpPr txBox="1"/>
          <p:nvPr/>
        </p:nvSpPr>
        <p:spPr>
          <a:xfrm>
            <a:off x="8191500" y="4864100"/>
            <a:ext cx="3302000" cy="1371600"/>
          </a:xfrm>
          <a:prstGeom prst="rect">
            <a:avLst/>
          </a:prstGeom>
          <a:noFill/>
        </p:spPr>
        <p:txBody>
          <a:bodyPr vertOverflow="overflow" vert="horz" wrap="square" rtlCol="0" anchor="t">
            <a:spAutoFit/>
          </a:bodyPr>
          <a:lstStyle/>
          <a:p>
            <a:pPr algn="l"/>
            <a:r>
              <a:rPr lang="en-US" altLang="ja-JP" sz="1400">
                <a:solidFill>
                  <a:srgbClr val="3D3D3D"/>
                </a:solidFill>
                <a:latin typeface="BIZ UDPGothic"/>
                <a:ea typeface="BIZ UDPGothic"/>
              </a:rPr>
              <a:t>Top10%</a:t>
            </a:r>
            <a:r>
              <a:rPr lang="ja-JP" altLang="en-US" sz="1400">
                <a:solidFill>
                  <a:srgbClr val="3D3D3D"/>
                </a:solidFill>
                <a:latin typeface="BIZ UDPGothic"/>
                <a:ea typeface="BIZ UDPGothic"/>
              </a:rPr>
              <a:t>の精度が</a:t>
            </a:r>
            <a:r>
              <a:rPr lang="en-US" altLang="ja-JP" sz="1400">
                <a:solidFill>
                  <a:srgbClr val="3D3D3D"/>
                </a:solidFill>
                <a:latin typeface="BIZ UDPGothic"/>
                <a:ea typeface="BIZ UDPGothic"/>
              </a:rPr>
              <a:t>0.4667</a:t>
            </a:r>
            <a:r>
              <a:rPr lang="ja-JP" altLang="en-US" sz="1400">
                <a:solidFill>
                  <a:srgbClr val="3D3D3D"/>
                </a:solidFill>
                <a:latin typeface="BIZ UDPGothic"/>
                <a:ea typeface="BIZ UDPGothic"/>
              </a:rPr>
              <a:t>であり、高リスク群に一定の濃縮は見られるが、個人判定用途には不適切である</a:t>
            </a:r>
          </a:p>
        </p:txBody>
      </p:sp>
      <p:sp>
        <p:nvSpPr>
          <p:cNvPr id="24" name="テキスト ボックス 23">
            <a:extLst>
              <a:ext uri="{FF2B5EF4-FFF2-40B4-BE49-F238E27FC236}">
                <a16:creationId xmlns:a16="http://schemas.microsoft.com/office/drawing/2014/main" id="{C3429F88-59FA-4A8A-9C2C-6BE40B8E869D}"/>
              </a:ext>
            </a:extLst>
          </p:cNvPr>
          <p:cNvSpPr txBox="1"/>
          <p:nvPr/>
        </p:nvSpPr>
        <p:spPr>
          <a:xfrm>
            <a:off x="508000" y="254000"/>
            <a:ext cx="11176000" cy="508000"/>
          </a:xfrm>
          <a:prstGeom prst="rect">
            <a:avLst/>
          </a:prstGeom>
          <a:noFill/>
        </p:spPr>
        <p:txBody>
          <a:bodyPr vertOverflow="overflow" vert="horz" wrap="square" rtlCol="0" anchor="t">
            <a:noAutofit/>
          </a:bodyPr>
          <a:lstStyle/>
          <a:p>
            <a:pPr algn="l"/>
            <a:r>
              <a:rPr lang="en-US" altLang="ja-JP" sz="2400" b="1">
                <a:solidFill>
                  <a:srgbClr val="1A1A1A"/>
                </a:solidFill>
                <a:latin typeface="BIZ UDPGothic"/>
                <a:ea typeface="BIZ UDPGothic"/>
              </a:rPr>
              <a:t>4. </a:t>
            </a:r>
            <a:r>
              <a:rPr lang="ja-JP" altLang="en-US" sz="2400" b="1">
                <a:solidFill>
                  <a:srgbClr val="1A1A1A"/>
                </a:solidFill>
                <a:latin typeface="BIZ UDPGothic"/>
                <a:ea typeface="BIZ UDPGothic"/>
              </a:rPr>
              <a:t>モデル評価結果</a:t>
            </a:r>
          </a:p>
        </p:txBody>
      </p:sp>
      <p:sp>
        <p:nvSpPr>
          <p:cNvPr id="25" name="正方形/長方形 24">
            <a:extLst>
              <a:ext uri="{FF2B5EF4-FFF2-40B4-BE49-F238E27FC236}">
                <a16:creationId xmlns:a16="http://schemas.microsoft.com/office/drawing/2014/main" id="{C4B2D360-6EF2-4FC3-B9D0-1BE83C65092A}"/>
              </a:ext>
            </a:extLst>
          </p:cNvPr>
          <p:cNvSpPr/>
          <p:nvPr/>
        </p:nvSpPr>
        <p:spPr>
          <a:xfrm>
            <a:off x="508000" y="787400"/>
            <a:ext cx="1270000" cy="38100"/>
          </a:xfrm>
          <a:prstGeom prst="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Tree>
    <p:extLst>
      <p:ext uri="{BB962C8B-B14F-4D97-AF65-F5344CB8AC3E}">
        <p14:creationId xmlns:p14="http://schemas.microsoft.com/office/powerpoint/2010/main" val="1478807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四角形: 角を丸くする 2">
            <a:extLst>
              <a:ext uri="{FF2B5EF4-FFF2-40B4-BE49-F238E27FC236}">
                <a16:creationId xmlns:a16="http://schemas.microsoft.com/office/drawing/2014/main" id="{E6E4D3A2-4A48-4BD4-B7B3-540F51D3DD2C}"/>
              </a:ext>
            </a:extLst>
          </p:cNvPr>
          <p:cNvSpPr/>
          <p:nvPr/>
        </p:nvSpPr>
        <p:spPr>
          <a:xfrm>
            <a:off x="381000" y="1460500"/>
            <a:ext cx="2184400" cy="25400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 name="正方形/長方形 3">
            <a:extLst>
              <a:ext uri="{FF2B5EF4-FFF2-40B4-BE49-F238E27FC236}">
                <a16:creationId xmlns:a16="http://schemas.microsoft.com/office/drawing/2014/main" id="{2E57224E-2EE7-405D-BD4D-8C3943A7A3A5}"/>
              </a:ext>
            </a:extLst>
          </p:cNvPr>
          <p:cNvSpPr/>
          <p:nvPr/>
        </p:nvSpPr>
        <p:spPr>
          <a:xfrm>
            <a:off x="381000" y="1460500"/>
            <a:ext cx="2184400" cy="76200"/>
          </a:xfrm>
          <a:prstGeom prst="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 name="正方形/長方形 4">
            <a:extLst>
              <a:ext uri="{FF2B5EF4-FFF2-40B4-BE49-F238E27FC236}">
                <a16:creationId xmlns:a16="http://schemas.microsoft.com/office/drawing/2014/main" id="{186F252F-996E-4980-9532-7ED4DD4EB250}"/>
              </a:ext>
            </a:extLst>
          </p:cNvPr>
          <p:cNvSpPr/>
          <p:nvPr/>
        </p:nvSpPr>
        <p:spPr>
          <a:xfrm>
            <a:off x="381000" y="1612900"/>
            <a:ext cx="2184400" cy="406400"/>
          </a:xfrm>
          <a:prstGeom prst="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400" b="1">
                <a:solidFill>
                  <a:srgbClr val="FFFFFF"/>
                </a:solidFill>
                <a:latin typeface="BIZ UDPGothic"/>
                <a:ea typeface="BIZ UDPGothic"/>
              </a:rPr>
              <a:t>報酬水準</a:t>
            </a:r>
          </a:p>
        </p:txBody>
      </p:sp>
      <p:sp>
        <p:nvSpPr>
          <p:cNvPr id="6" name="テキスト ボックス 5">
            <a:extLst>
              <a:ext uri="{FF2B5EF4-FFF2-40B4-BE49-F238E27FC236}">
                <a16:creationId xmlns:a16="http://schemas.microsoft.com/office/drawing/2014/main" id="{B691A77A-3EBD-41B5-8F2E-506E74C5D245}"/>
              </a:ext>
            </a:extLst>
          </p:cNvPr>
          <p:cNvSpPr txBox="1"/>
          <p:nvPr/>
        </p:nvSpPr>
        <p:spPr>
          <a:xfrm>
            <a:off x="482600" y="2120900"/>
            <a:ext cx="1981200" cy="1752600"/>
          </a:xfrm>
          <a:prstGeom prst="rect">
            <a:avLst/>
          </a:prstGeom>
          <a:noFill/>
        </p:spPr>
        <p:txBody>
          <a:bodyPr vertOverflow="overflow" vert="horz" wrap="square" rtlCol="0" anchor="t">
            <a:spAutoFit/>
          </a:bodyPr>
          <a:lstStyle/>
          <a:p>
            <a:pPr algn="l"/>
            <a:r>
              <a:rPr lang="en-US" altLang="ja-JP" sz="1400">
                <a:solidFill>
                  <a:srgbClr val="3D3D3D"/>
                </a:solidFill>
                <a:latin typeface="BIZ UDPGothic"/>
                <a:ea typeface="BIZ UDPGothic"/>
              </a:rPr>
              <a:t>MonthlyIncome
StockOptionLevel</a:t>
            </a:r>
            <a:endParaRPr lang="ja-JP" altLang="en-US" sz="1400">
              <a:solidFill>
                <a:srgbClr val="3D3D3D"/>
              </a:solidFill>
              <a:latin typeface="BIZ UDPGothic"/>
              <a:ea typeface="BIZ UDPGothic"/>
            </a:endParaRPr>
          </a:p>
        </p:txBody>
      </p:sp>
      <p:sp>
        <p:nvSpPr>
          <p:cNvPr id="7" name="四角形: 角を丸くする 6">
            <a:extLst>
              <a:ext uri="{FF2B5EF4-FFF2-40B4-BE49-F238E27FC236}">
                <a16:creationId xmlns:a16="http://schemas.microsoft.com/office/drawing/2014/main" id="{E142867B-7FE0-4507-B34A-BE584F3E7ECE}"/>
              </a:ext>
            </a:extLst>
          </p:cNvPr>
          <p:cNvSpPr/>
          <p:nvPr/>
        </p:nvSpPr>
        <p:spPr>
          <a:xfrm>
            <a:off x="2717800" y="1460500"/>
            <a:ext cx="2184400" cy="25400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8" name="正方形/長方形 7">
            <a:extLst>
              <a:ext uri="{FF2B5EF4-FFF2-40B4-BE49-F238E27FC236}">
                <a16:creationId xmlns:a16="http://schemas.microsoft.com/office/drawing/2014/main" id="{5140DFE4-46E5-4224-9283-41B1F6D76F87}"/>
              </a:ext>
            </a:extLst>
          </p:cNvPr>
          <p:cNvSpPr/>
          <p:nvPr/>
        </p:nvSpPr>
        <p:spPr>
          <a:xfrm>
            <a:off x="2717800" y="1460500"/>
            <a:ext cx="2184400" cy="76200"/>
          </a:xfrm>
          <a:prstGeom prst="rect">
            <a:avLst/>
          </a:prstGeom>
          <a:solidFill>
            <a:srgbClr val="A0522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9" name="正方形/長方形 8">
            <a:extLst>
              <a:ext uri="{FF2B5EF4-FFF2-40B4-BE49-F238E27FC236}">
                <a16:creationId xmlns:a16="http://schemas.microsoft.com/office/drawing/2014/main" id="{5682CCB4-47CA-4226-AA18-032E4B807CC6}"/>
              </a:ext>
            </a:extLst>
          </p:cNvPr>
          <p:cNvSpPr/>
          <p:nvPr/>
        </p:nvSpPr>
        <p:spPr>
          <a:xfrm>
            <a:off x="2717800" y="1612900"/>
            <a:ext cx="2184400" cy="406400"/>
          </a:xfrm>
          <a:prstGeom prst="rect">
            <a:avLst/>
          </a:prstGeom>
          <a:solidFill>
            <a:srgbClr val="A0522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400" b="1">
                <a:solidFill>
                  <a:srgbClr val="FFFFFF"/>
                </a:solidFill>
                <a:latin typeface="BIZ UDPGothic"/>
                <a:ea typeface="BIZ UDPGothic"/>
              </a:rPr>
              <a:t>働き方</a:t>
            </a:r>
          </a:p>
        </p:txBody>
      </p:sp>
      <p:sp>
        <p:nvSpPr>
          <p:cNvPr id="10" name="テキスト ボックス 9">
            <a:extLst>
              <a:ext uri="{FF2B5EF4-FFF2-40B4-BE49-F238E27FC236}">
                <a16:creationId xmlns:a16="http://schemas.microsoft.com/office/drawing/2014/main" id="{E1531291-7B9D-4D10-9DDF-301B93F2EE31}"/>
              </a:ext>
            </a:extLst>
          </p:cNvPr>
          <p:cNvSpPr txBox="1"/>
          <p:nvPr/>
        </p:nvSpPr>
        <p:spPr>
          <a:xfrm>
            <a:off x="2819400" y="2120900"/>
            <a:ext cx="1981200" cy="1752600"/>
          </a:xfrm>
          <a:prstGeom prst="rect">
            <a:avLst/>
          </a:prstGeom>
          <a:noFill/>
        </p:spPr>
        <p:txBody>
          <a:bodyPr vertOverflow="overflow" vert="horz" wrap="square" rtlCol="0" anchor="t">
            <a:spAutoFit/>
          </a:bodyPr>
          <a:lstStyle/>
          <a:p>
            <a:pPr algn="l"/>
            <a:r>
              <a:rPr lang="en-US" altLang="ja-JP" sz="1400">
                <a:solidFill>
                  <a:srgbClr val="3D3D3D"/>
                </a:solidFill>
                <a:latin typeface="BIZ UDPGothic"/>
                <a:ea typeface="BIZ UDPGothic"/>
              </a:rPr>
              <a:t>OverTime
BusinessTravel
WorkLifeBalance</a:t>
            </a:r>
            <a:endParaRPr lang="ja-JP" altLang="en-US" sz="1400">
              <a:solidFill>
                <a:srgbClr val="3D3D3D"/>
              </a:solidFill>
              <a:latin typeface="BIZ UDPGothic"/>
              <a:ea typeface="BIZ UDPGothic"/>
            </a:endParaRPr>
          </a:p>
        </p:txBody>
      </p:sp>
      <p:sp>
        <p:nvSpPr>
          <p:cNvPr id="11" name="四角形: 角を丸くする 10">
            <a:extLst>
              <a:ext uri="{FF2B5EF4-FFF2-40B4-BE49-F238E27FC236}">
                <a16:creationId xmlns:a16="http://schemas.microsoft.com/office/drawing/2014/main" id="{15C56F13-ECCC-4216-8B12-478D0435FE98}"/>
              </a:ext>
            </a:extLst>
          </p:cNvPr>
          <p:cNvSpPr/>
          <p:nvPr/>
        </p:nvSpPr>
        <p:spPr>
          <a:xfrm>
            <a:off x="5054600" y="1460500"/>
            <a:ext cx="2184400" cy="25400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2" name="正方形/長方形 11">
            <a:extLst>
              <a:ext uri="{FF2B5EF4-FFF2-40B4-BE49-F238E27FC236}">
                <a16:creationId xmlns:a16="http://schemas.microsoft.com/office/drawing/2014/main" id="{F5001A17-CD01-436B-B0BB-84200445A497}"/>
              </a:ext>
            </a:extLst>
          </p:cNvPr>
          <p:cNvSpPr/>
          <p:nvPr/>
        </p:nvSpPr>
        <p:spPr>
          <a:xfrm>
            <a:off x="5054600" y="1460500"/>
            <a:ext cx="2184400" cy="76200"/>
          </a:xfrm>
          <a:prstGeom prst="rect">
            <a:avLst/>
          </a:prstGeom>
          <a:solidFill>
            <a:srgbClr val="4A4A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3" name="正方形/長方形 12">
            <a:extLst>
              <a:ext uri="{FF2B5EF4-FFF2-40B4-BE49-F238E27FC236}">
                <a16:creationId xmlns:a16="http://schemas.microsoft.com/office/drawing/2014/main" id="{FBC325D1-B976-4980-BB88-E5589B705756}"/>
              </a:ext>
            </a:extLst>
          </p:cNvPr>
          <p:cNvSpPr/>
          <p:nvPr/>
        </p:nvSpPr>
        <p:spPr>
          <a:xfrm>
            <a:off x="5054600" y="1612900"/>
            <a:ext cx="2184400" cy="406400"/>
          </a:xfrm>
          <a:prstGeom prst="rect">
            <a:avLst/>
          </a:prstGeom>
          <a:solidFill>
            <a:srgbClr val="4A4A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400" b="1">
                <a:solidFill>
                  <a:srgbClr val="FFFFFF"/>
                </a:solidFill>
                <a:latin typeface="BIZ UDPGothic"/>
                <a:ea typeface="BIZ UDPGothic"/>
              </a:rPr>
              <a:t>所属・職務</a:t>
            </a:r>
          </a:p>
        </p:txBody>
      </p:sp>
      <p:sp>
        <p:nvSpPr>
          <p:cNvPr id="14" name="テキスト ボックス 13">
            <a:extLst>
              <a:ext uri="{FF2B5EF4-FFF2-40B4-BE49-F238E27FC236}">
                <a16:creationId xmlns:a16="http://schemas.microsoft.com/office/drawing/2014/main" id="{F35B651E-59AD-41A1-AAF5-0F66FC635F37}"/>
              </a:ext>
            </a:extLst>
          </p:cNvPr>
          <p:cNvSpPr txBox="1"/>
          <p:nvPr/>
        </p:nvSpPr>
        <p:spPr>
          <a:xfrm>
            <a:off x="5156200" y="2120900"/>
            <a:ext cx="1981200" cy="1752600"/>
          </a:xfrm>
          <a:prstGeom prst="rect">
            <a:avLst/>
          </a:prstGeom>
          <a:noFill/>
        </p:spPr>
        <p:txBody>
          <a:bodyPr vertOverflow="overflow" vert="horz" wrap="square" rtlCol="0" anchor="t">
            <a:spAutoFit/>
          </a:bodyPr>
          <a:lstStyle/>
          <a:p>
            <a:pPr algn="l"/>
            <a:r>
              <a:rPr lang="en-US" altLang="ja-JP" sz="1400">
                <a:solidFill>
                  <a:srgbClr val="3D3D3D"/>
                </a:solidFill>
                <a:latin typeface="BIZ UDPGothic"/>
                <a:ea typeface="BIZ UDPGothic"/>
              </a:rPr>
              <a:t>Department
JobRole
JobLevel</a:t>
            </a:r>
            <a:endParaRPr lang="ja-JP" altLang="en-US" sz="1400">
              <a:solidFill>
                <a:srgbClr val="3D3D3D"/>
              </a:solidFill>
              <a:latin typeface="BIZ UDPGothic"/>
              <a:ea typeface="BIZ UDPGothic"/>
            </a:endParaRPr>
          </a:p>
        </p:txBody>
      </p:sp>
      <p:sp>
        <p:nvSpPr>
          <p:cNvPr id="15" name="四角形: 角を丸くする 14">
            <a:extLst>
              <a:ext uri="{FF2B5EF4-FFF2-40B4-BE49-F238E27FC236}">
                <a16:creationId xmlns:a16="http://schemas.microsoft.com/office/drawing/2014/main" id="{CAACB971-9EB2-459C-86CB-C80BD7310F4A}"/>
              </a:ext>
            </a:extLst>
          </p:cNvPr>
          <p:cNvSpPr/>
          <p:nvPr/>
        </p:nvSpPr>
        <p:spPr>
          <a:xfrm>
            <a:off x="7391400" y="1460500"/>
            <a:ext cx="2184400" cy="25400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正方形/長方形 15">
            <a:extLst>
              <a:ext uri="{FF2B5EF4-FFF2-40B4-BE49-F238E27FC236}">
                <a16:creationId xmlns:a16="http://schemas.microsoft.com/office/drawing/2014/main" id="{18A3C83D-F11E-4532-A079-3228E89BDA08}"/>
              </a:ext>
            </a:extLst>
          </p:cNvPr>
          <p:cNvSpPr/>
          <p:nvPr/>
        </p:nvSpPr>
        <p:spPr>
          <a:xfrm>
            <a:off x="7391400" y="1460500"/>
            <a:ext cx="2184400" cy="76200"/>
          </a:xfrm>
          <a:prstGeom prst="rect">
            <a:avLst/>
          </a:prstGeom>
          <a:solidFill>
            <a:srgbClr val="6B6B6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正方形/長方形 16">
            <a:extLst>
              <a:ext uri="{FF2B5EF4-FFF2-40B4-BE49-F238E27FC236}">
                <a16:creationId xmlns:a16="http://schemas.microsoft.com/office/drawing/2014/main" id="{C4EB061C-C9C3-4E3C-8B25-CF87BBD1E8BD}"/>
              </a:ext>
            </a:extLst>
          </p:cNvPr>
          <p:cNvSpPr/>
          <p:nvPr/>
        </p:nvSpPr>
        <p:spPr>
          <a:xfrm>
            <a:off x="7391400" y="1612900"/>
            <a:ext cx="2184400" cy="406400"/>
          </a:xfrm>
          <a:prstGeom prst="rect">
            <a:avLst/>
          </a:prstGeom>
          <a:solidFill>
            <a:srgbClr val="6B6B6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400" b="1">
                <a:solidFill>
                  <a:srgbClr val="FFFFFF"/>
                </a:solidFill>
                <a:latin typeface="BIZ UDPGothic"/>
                <a:ea typeface="BIZ UDPGothic"/>
              </a:rPr>
              <a:t>勤続・昇進</a:t>
            </a:r>
          </a:p>
        </p:txBody>
      </p:sp>
      <p:sp>
        <p:nvSpPr>
          <p:cNvPr id="18" name="テキスト ボックス 17">
            <a:extLst>
              <a:ext uri="{FF2B5EF4-FFF2-40B4-BE49-F238E27FC236}">
                <a16:creationId xmlns:a16="http://schemas.microsoft.com/office/drawing/2014/main" id="{322D26B9-93F7-40A0-8963-7C955311AB58}"/>
              </a:ext>
            </a:extLst>
          </p:cNvPr>
          <p:cNvSpPr txBox="1"/>
          <p:nvPr/>
        </p:nvSpPr>
        <p:spPr>
          <a:xfrm>
            <a:off x="7493000" y="2120900"/>
            <a:ext cx="1981200" cy="1752600"/>
          </a:xfrm>
          <a:prstGeom prst="rect">
            <a:avLst/>
          </a:prstGeom>
          <a:noFill/>
        </p:spPr>
        <p:txBody>
          <a:bodyPr vertOverflow="overflow" vert="horz" wrap="square" rtlCol="0" anchor="t">
            <a:spAutoFit/>
          </a:bodyPr>
          <a:lstStyle/>
          <a:p>
            <a:pPr algn="l"/>
            <a:r>
              <a:rPr lang="en-US" altLang="ja-JP" sz="1400">
                <a:solidFill>
                  <a:srgbClr val="3D3D3D"/>
                </a:solidFill>
                <a:latin typeface="BIZ UDPGothic"/>
                <a:ea typeface="BIZ UDPGothic"/>
              </a:rPr>
              <a:t>TotalWorkingYears
YearsAtCompany
YearsInCurrentRole
YearsSinceLastPromotion
YearsWithCurrManager</a:t>
            </a:r>
            <a:endParaRPr lang="ja-JP" altLang="en-US" sz="1400">
              <a:solidFill>
                <a:srgbClr val="3D3D3D"/>
              </a:solidFill>
              <a:latin typeface="BIZ UDPGothic"/>
              <a:ea typeface="BIZ UDPGothic"/>
            </a:endParaRPr>
          </a:p>
        </p:txBody>
      </p:sp>
      <p:sp>
        <p:nvSpPr>
          <p:cNvPr id="19" name="四角形: 角を丸くする 18">
            <a:extLst>
              <a:ext uri="{FF2B5EF4-FFF2-40B4-BE49-F238E27FC236}">
                <a16:creationId xmlns:a16="http://schemas.microsoft.com/office/drawing/2014/main" id="{204187AC-BC29-4430-8094-4379375E9434}"/>
              </a:ext>
            </a:extLst>
          </p:cNvPr>
          <p:cNvSpPr/>
          <p:nvPr/>
        </p:nvSpPr>
        <p:spPr>
          <a:xfrm>
            <a:off x="9728200" y="1460500"/>
            <a:ext cx="2184400" cy="25400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0" name="正方形/長方形 19">
            <a:extLst>
              <a:ext uri="{FF2B5EF4-FFF2-40B4-BE49-F238E27FC236}">
                <a16:creationId xmlns:a16="http://schemas.microsoft.com/office/drawing/2014/main" id="{4DE64690-EC1A-4CC2-BFBB-B25CE177DE1C}"/>
              </a:ext>
            </a:extLst>
          </p:cNvPr>
          <p:cNvSpPr/>
          <p:nvPr/>
        </p:nvSpPr>
        <p:spPr>
          <a:xfrm>
            <a:off x="9728200" y="1460500"/>
            <a:ext cx="2184400" cy="76200"/>
          </a:xfrm>
          <a:prstGeom prst="rect">
            <a:avLst/>
          </a:prstGeom>
          <a:solidFill>
            <a:srgbClr val="2C2C2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1" name="正方形/長方形 20">
            <a:extLst>
              <a:ext uri="{FF2B5EF4-FFF2-40B4-BE49-F238E27FC236}">
                <a16:creationId xmlns:a16="http://schemas.microsoft.com/office/drawing/2014/main" id="{D0433EB8-6B9B-4BFB-B4E7-C9C3D018D46B}"/>
              </a:ext>
            </a:extLst>
          </p:cNvPr>
          <p:cNvSpPr/>
          <p:nvPr/>
        </p:nvSpPr>
        <p:spPr>
          <a:xfrm>
            <a:off x="9728200" y="1612900"/>
            <a:ext cx="2184400" cy="406400"/>
          </a:xfrm>
          <a:prstGeom prst="rect">
            <a:avLst/>
          </a:prstGeom>
          <a:solidFill>
            <a:srgbClr val="2C2C2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400" b="1">
                <a:solidFill>
                  <a:srgbClr val="FFFFFF"/>
                </a:solidFill>
                <a:latin typeface="BIZ UDPGothic"/>
                <a:ea typeface="BIZ UDPGothic"/>
              </a:rPr>
              <a:t>満足度・関係性</a:t>
            </a:r>
          </a:p>
        </p:txBody>
      </p:sp>
      <p:sp>
        <p:nvSpPr>
          <p:cNvPr id="22" name="テキスト ボックス 21">
            <a:extLst>
              <a:ext uri="{FF2B5EF4-FFF2-40B4-BE49-F238E27FC236}">
                <a16:creationId xmlns:a16="http://schemas.microsoft.com/office/drawing/2014/main" id="{79179858-14E4-448F-99F1-BBF93BD25DDC}"/>
              </a:ext>
            </a:extLst>
          </p:cNvPr>
          <p:cNvSpPr txBox="1"/>
          <p:nvPr/>
        </p:nvSpPr>
        <p:spPr>
          <a:xfrm>
            <a:off x="9829800" y="2120900"/>
            <a:ext cx="1981200" cy="1752600"/>
          </a:xfrm>
          <a:prstGeom prst="rect">
            <a:avLst/>
          </a:prstGeom>
          <a:noFill/>
        </p:spPr>
        <p:txBody>
          <a:bodyPr vertOverflow="overflow" vert="horz" wrap="square" rtlCol="0" anchor="t">
            <a:spAutoFit/>
          </a:bodyPr>
          <a:lstStyle/>
          <a:p>
            <a:pPr algn="l"/>
            <a:r>
              <a:rPr lang="en-US" altLang="ja-JP" sz="1400">
                <a:solidFill>
                  <a:srgbClr val="3D3D3D"/>
                </a:solidFill>
                <a:latin typeface="BIZ UDPGothic"/>
                <a:ea typeface="BIZ UDPGothic"/>
              </a:rPr>
              <a:t>JobSatisfaction
EnvironmentSatisfaction
RelationshipSatisfaction</a:t>
            </a:r>
            <a:endParaRPr lang="ja-JP" altLang="en-US" sz="1400">
              <a:solidFill>
                <a:srgbClr val="3D3D3D"/>
              </a:solidFill>
              <a:latin typeface="BIZ UDPGothic"/>
              <a:ea typeface="BIZ UDPGothic"/>
            </a:endParaRPr>
          </a:p>
        </p:txBody>
      </p:sp>
      <p:sp>
        <p:nvSpPr>
          <p:cNvPr id="23" name="テキスト ボックス 22">
            <a:extLst>
              <a:ext uri="{FF2B5EF4-FFF2-40B4-BE49-F238E27FC236}">
                <a16:creationId xmlns:a16="http://schemas.microsoft.com/office/drawing/2014/main" id="{57F0C40A-C9ED-4A3C-997D-2DC62B4ABD2A}"/>
              </a:ext>
            </a:extLst>
          </p:cNvPr>
          <p:cNvSpPr txBox="1"/>
          <p:nvPr/>
        </p:nvSpPr>
        <p:spPr>
          <a:xfrm>
            <a:off x="381000" y="4191000"/>
            <a:ext cx="11430000" cy="304800"/>
          </a:xfrm>
          <a:prstGeom prst="rect">
            <a:avLst/>
          </a:prstGeom>
          <a:noFill/>
        </p:spPr>
        <p:txBody>
          <a:bodyPr vertOverflow="overflow" vert="horz" wrap="square" rtlCol="0" anchor="t">
            <a:spAutoFit/>
          </a:bodyPr>
          <a:lstStyle/>
          <a:p>
            <a:pPr algn="l"/>
            <a:r>
              <a:rPr lang="ja-JP" altLang="en-US" sz="1400" b="1">
                <a:solidFill>
                  <a:srgbClr val="6B6B6B"/>
                </a:solidFill>
                <a:latin typeface="BIZ UDPGothic"/>
                <a:ea typeface="BIZ UDPGothic"/>
              </a:rPr>
              <a:t>属性変数（分析対象だが施策利用に注意）</a:t>
            </a:r>
          </a:p>
        </p:txBody>
      </p:sp>
      <p:sp>
        <p:nvSpPr>
          <p:cNvPr id="24" name="テキスト ボックス 23">
            <a:extLst>
              <a:ext uri="{FF2B5EF4-FFF2-40B4-BE49-F238E27FC236}">
                <a16:creationId xmlns:a16="http://schemas.microsoft.com/office/drawing/2014/main" id="{E5FD82ED-4120-49F5-908C-C8B21D46DA9E}"/>
              </a:ext>
            </a:extLst>
          </p:cNvPr>
          <p:cNvSpPr txBox="1"/>
          <p:nvPr/>
        </p:nvSpPr>
        <p:spPr>
          <a:xfrm>
            <a:off x="381000" y="4508500"/>
            <a:ext cx="11430000" cy="304800"/>
          </a:xfrm>
          <a:prstGeom prst="rect">
            <a:avLst/>
          </a:prstGeom>
          <a:noFill/>
        </p:spPr>
        <p:txBody>
          <a:bodyPr vertOverflow="overflow" vert="horz" wrap="square" rtlCol="0" anchor="t">
            <a:spAutoFit/>
          </a:bodyPr>
          <a:lstStyle/>
          <a:p>
            <a:pPr algn="l"/>
            <a:r>
              <a:rPr lang="en-US" altLang="ja-JP" sz="1400">
                <a:solidFill>
                  <a:srgbClr val="6B6B6B"/>
                </a:solidFill>
                <a:latin typeface="BIZ UDPGothic"/>
                <a:ea typeface="BIZ UDPGothic"/>
              </a:rPr>
              <a:t>Age  |  Gender  |  MaritalStatus</a:t>
            </a:r>
            <a:endParaRPr lang="ja-JP" altLang="en-US" sz="1400">
              <a:solidFill>
                <a:srgbClr val="6B6B6B"/>
              </a:solidFill>
              <a:latin typeface="BIZ UDPGothic"/>
              <a:ea typeface="BIZ UDPGothic"/>
            </a:endParaRPr>
          </a:p>
        </p:txBody>
      </p:sp>
      <p:sp>
        <p:nvSpPr>
          <p:cNvPr id="25" name="テキスト ボックス 24">
            <a:extLst>
              <a:ext uri="{FF2B5EF4-FFF2-40B4-BE49-F238E27FC236}">
                <a16:creationId xmlns:a16="http://schemas.microsoft.com/office/drawing/2014/main" id="{40F43926-22F2-4AC0-9EEA-1E6CD71360AE}"/>
              </a:ext>
            </a:extLst>
          </p:cNvPr>
          <p:cNvSpPr txBox="1"/>
          <p:nvPr/>
        </p:nvSpPr>
        <p:spPr>
          <a:xfrm>
            <a:off x="381000" y="4991100"/>
            <a:ext cx="11430000" cy="304800"/>
          </a:xfrm>
          <a:prstGeom prst="rect">
            <a:avLst/>
          </a:prstGeom>
          <a:noFill/>
        </p:spPr>
        <p:txBody>
          <a:bodyPr vertOverflow="overflow" vert="horz" wrap="square" rtlCol="0" anchor="t">
            <a:spAutoFit/>
          </a:bodyPr>
          <a:lstStyle/>
          <a:p>
            <a:pPr algn="l"/>
            <a:r>
              <a:rPr lang="ja-JP" altLang="en-US" sz="1600" b="1">
                <a:solidFill>
                  <a:srgbClr val="1A1A1A"/>
                </a:solidFill>
                <a:latin typeface="BIZ UDPGothic"/>
                <a:ea typeface="BIZ UDPGothic"/>
              </a:rPr>
              <a:t>業務解釈</a:t>
            </a:r>
          </a:p>
        </p:txBody>
      </p:sp>
      <p:sp>
        <p:nvSpPr>
          <p:cNvPr id="26" name="正方形/長方形 25">
            <a:extLst>
              <a:ext uri="{FF2B5EF4-FFF2-40B4-BE49-F238E27FC236}">
                <a16:creationId xmlns:a16="http://schemas.microsoft.com/office/drawing/2014/main" id="{E6CC99F7-562A-4316-A16F-FFEBF2BFCDA7}"/>
              </a:ext>
            </a:extLst>
          </p:cNvPr>
          <p:cNvSpPr/>
          <p:nvPr/>
        </p:nvSpPr>
        <p:spPr>
          <a:xfrm>
            <a:off x="381000" y="5295900"/>
            <a:ext cx="11430000" cy="25400"/>
          </a:xfrm>
          <a:prstGeom prst="rect">
            <a:avLst/>
          </a:prstGeom>
          <a:solidFill>
            <a:srgbClr val="D4C5B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7" name="テキスト ボックス 26">
            <a:extLst>
              <a:ext uri="{FF2B5EF4-FFF2-40B4-BE49-F238E27FC236}">
                <a16:creationId xmlns:a16="http://schemas.microsoft.com/office/drawing/2014/main" id="{4F52F970-13E1-4348-9FF0-3C506383A50F}"/>
              </a:ext>
            </a:extLst>
          </p:cNvPr>
          <p:cNvSpPr txBox="1"/>
          <p:nvPr/>
        </p:nvSpPr>
        <p:spPr>
          <a:xfrm>
            <a:off x="381000" y="5397500"/>
            <a:ext cx="11430000" cy="965200"/>
          </a:xfrm>
          <a:prstGeom prst="rect">
            <a:avLst/>
          </a:prstGeom>
          <a:noFill/>
        </p:spPr>
        <p:txBody>
          <a:bodyPr vertOverflow="overflow" vert="horz" wrap="square" rtlCol="0" anchor="t">
            <a:spAutoFit/>
          </a:bodyPr>
          <a:lstStyle/>
          <a:p>
            <a:pPr algn="l"/>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離職は単一要因ではなく、処遇・働き方・キャリア・所属環境の複合要因として捉えるべきである
</a:t>
            </a:r>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若手層・勤続初期層・役割定着前層・昇進停滞感のある層・残業負荷が高い層でリスクが高まりやすい可能性がある
</a:t>
            </a:r>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ただし、上記は施策仮説であり、追加集計と業務確認で補強すべき内容である</a:t>
            </a:r>
          </a:p>
        </p:txBody>
      </p:sp>
      <p:sp>
        <p:nvSpPr>
          <p:cNvPr id="28" name="テキスト ボックス 27">
            <a:extLst>
              <a:ext uri="{FF2B5EF4-FFF2-40B4-BE49-F238E27FC236}">
                <a16:creationId xmlns:a16="http://schemas.microsoft.com/office/drawing/2014/main" id="{2C4D04A5-E500-466B-950D-0A94EEAD901A}"/>
              </a:ext>
            </a:extLst>
          </p:cNvPr>
          <p:cNvSpPr txBox="1"/>
          <p:nvPr/>
        </p:nvSpPr>
        <p:spPr>
          <a:xfrm>
            <a:off x="508000" y="254000"/>
            <a:ext cx="11176000" cy="508000"/>
          </a:xfrm>
          <a:prstGeom prst="rect">
            <a:avLst/>
          </a:prstGeom>
          <a:noFill/>
        </p:spPr>
        <p:txBody>
          <a:bodyPr vertOverflow="overflow" vert="horz" wrap="square" rtlCol="0" anchor="t">
            <a:noAutofit/>
          </a:bodyPr>
          <a:lstStyle/>
          <a:p>
            <a:pPr algn="l"/>
            <a:r>
              <a:rPr lang="en-US" altLang="ja-JP" sz="2400" b="1">
                <a:solidFill>
                  <a:srgbClr val="1A1A1A"/>
                </a:solidFill>
                <a:latin typeface="BIZ UDPGothic"/>
                <a:ea typeface="BIZ UDPGothic"/>
              </a:rPr>
              <a:t>4. </a:t>
            </a:r>
            <a:r>
              <a:rPr lang="ja-JP" altLang="en-US" sz="2400" b="1">
                <a:solidFill>
                  <a:srgbClr val="1A1A1A"/>
                </a:solidFill>
                <a:latin typeface="BIZ UDPGothic"/>
                <a:ea typeface="BIZ UDPGothic"/>
              </a:rPr>
              <a:t>離職に関連する主要観点</a:t>
            </a:r>
          </a:p>
        </p:txBody>
      </p:sp>
      <p:sp>
        <p:nvSpPr>
          <p:cNvPr id="29" name="正方形/長方形 28">
            <a:extLst>
              <a:ext uri="{FF2B5EF4-FFF2-40B4-BE49-F238E27FC236}">
                <a16:creationId xmlns:a16="http://schemas.microsoft.com/office/drawing/2014/main" id="{99DB1FD1-D02B-4D63-AF0C-9094908F3B1D}"/>
              </a:ext>
            </a:extLst>
          </p:cNvPr>
          <p:cNvSpPr/>
          <p:nvPr/>
        </p:nvSpPr>
        <p:spPr>
          <a:xfrm>
            <a:off x="508000" y="787400"/>
            <a:ext cx="1270000" cy="38100"/>
          </a:xfrm>
          <a:prstGeom prst="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Tree>
    <p:extLst>
      <p:ext uri="{BB962C8B-B14F-4D97-AF65-F5344CB8AC3E}">
        <p14:creationId xmlns:p14="http://schemas.microsoft.com/office/powerpoint/2010/main" val="166000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楕円 2">
            <a:extLst>
              <a:ext uri="{FF2B5EF4-FFF2-40B4-BE49-F238E27FC236}">
                <a16:creationId xmlns:a16="http://schemas.microsoft.com/office/drawing/2014/main" id="{974C2DEF-55F1-4CD2-9BAD-8572F6027606}"/>
              </a:ext>
            </a:extLst>
          </p:cNvPr>
          <p:cNvSpPr/>
          <p:nvPr/>
        </p:nvSpPr>
        <p:spPr>
          <a:xfrm>
            <a:off x="508000" y="1473200"/>
            <a:ext cx="508000" cy="508000"/>
          </a:xfrm>
          <a:prstGeom prst="ellips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2000" b="1">
                <a:solidFill>
                  <a:srgbClr val="FFFFFF"/>
                </a:solidFill>
                <a:latin typeface="BIZ UDPGothic"/>
                <a:ea typeface="BIZ UDPGothic"/>
              </a:rPr>
              <a:t>1</a:t>
            </a:r>
            <a:endParaRPr lang="ja-JP" altLang="en-US" sz="2000" b="1">
              <a:solidFill>
                <a:srgbClr val="FFFFFF"/>
              </a:solidFill>
              <a:latin typeface="BIZ UDPGothic"/>
              <a:ea typeface="BIZ UDPGothic"/>
            </a:endParaRPr>
          </a:p>
        </p:txBody>
      </p:sp>
      <p:sp>
        <p:nvSpPr>
          <p:cNvPr id="4" name="テキスト ボックス 3">
            <a:extLst>
              <a:ext uri="{FF2B5EF4-FFF2-40B4-BE49-F238E27FC236}">
                <a16:creationId xmlns:a16="http://schemas.microsoft.com/office/drawing/2014/main" id="{60DF9160-D465-4D86-A893-1215A57B1D24}"/>
              </a:ext>
            </a:extLst>
          </p:cNvPr>
          <p:cNvSpPr txBox="1"/>
          <p:nvPr/>
        </p:nvSpPr>
        <p:spPr>
          <a:xfrm>
            <a:off x="1143000" y="1397000"/>
            <a:ext cx="10541000" cy="355600"/>
          </a:xfrm>
          <a:prstGeom prst="rect">
            <a:avLst/>
          </a:prstGeom>
          <a:noFill/>
        </p:spPr>
        <p:txBody>
          <a:bodyPr vertOverflow="overflow" vert="horz" wrap="square" rtlCol="0" anchor="t">
            <a:spAutoFit/>
          </a:bodyPr>
          <a:lstStyle/>
          <a:p>
            <a:pPr algn="l"/>
            <a:r>
              <a:rPr lang="ja-JP" altLang="en-US" sz="1600" b="1">
                <a:solidFill>
                  <a:srgbClr val="8B3A2F"/>
                </a:solidFill>
                <a:latin typeface="BIZ UDPGothic"/>
                <a:ea typeface="BIZ UDPGothic"/>
              </a:rPr>
              <a:t>高リスク候補層のモニタリングを集計単位で定着化する</a:t>
            </a:r>
          </a:p>
        </p:txBody>
      </p:sp>
      <p:sp>
        <p:nvSpPr>
          <p:cNvPr id="5" name="正方形/長方形 4">
            <a:extLst>
              <a:ext uri="{FF2B5EF4-FFF2-40B4-BE49-F238E27FC236}">
                <a16:creationId xmlns:a16="http://schemas.microsoft.com/office/drawing/2014/main" id="{0A7B2FCD-D9BD-403C-9CC4-3490697FEA5C}"/>
              </a:ext>
            </a:extLst>
          </p:cNvPr>
          <p:cNvSpPr/>
          <p:nvPr/>
        </p:nvSpPr>
        <p:spPr>
          <a:xfrm>
            <a:off x="1143000" y="1778000"/>
            <a:ext cx="10541000" cy="25400"/>
          </a:xfrm>
          <a:prstGeom prst="rect">
            <a:avLst/>
          </a:prstGeom>
          <a:solidFill>
            <a:srgbClr val="D4C5B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正方形/長方形 5">
            <a:extLst>
              <a:ext uri="{FF2B5EF4-FFF2-40B4-BE49-F238E27FC236}">
                <a16:creationId xmlns:a16="http://schemas.microsoft.com/office/drawing/2014/main" id="{3D701061-9920-4512-ADDA-2A2181B82B20}"/>
              </a:ext>
            </a:extLst>
          </p:cNvPr>
          <p:cNvSpPr/>
          <p:nvPr/>
        </p:nvSpPr>
        <p:spPr>
          <a:xfrm>
            <a:off x="1219200" y="1981200"/>
            <a:ext cx="101600" cy="101600"/>
          </a:xfrm>
          <a:prstGeom prst="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 name="テキスト ボックス 6">
            <a:extLst>
              <a:ext uri="{FF2B5EF4-FFF2-40B4-BE49-F238E27FC236}">
                <a16:creationId xmlns:a16="http://schemas.microsoft.com/office/drawing/2014/main" id="{C8B3C93B-DDD9-47CF-82C3-F3E23AA9409D}"/>
              </a:ext>
            </a:extLst>
          </p:cNvPr>
          <p:cNvSpPr txBox="1"/>
          <p:nvPr/>
        </p:nvSpPr>
        <p:spPr>
          <a:xfrm>
            <a:off x="1422400" y="1879600"/>
            <a:ext cx="10261600" cy="3302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月次</a:t>
            </a:r>
            <a:r>
              <a:rPr lang="en-US" altLang="ja-JP" sz="1400">
                <a:solidFill>
                  <a:srgbClr val="3D3D3D"/>
                </a:solidFill>
                <a:latin typeface="BIZ UDPGothic"/>
                <a:ea typeface="BIZ UDPGothic"/>
              </a:rPr>
              <a:t>/</a:t>
            </a:r>
            <a:r>
              <a:rPr lang="ja-JP" altLang="en-US" sz="1400">
                <a:solidFill>
                  <a:srgbClr val="3D3D3D"/>
                </a:solidFill>
                <a:latin typeface="BIZ UDPGothic"/>
                <a:ea typeface="BIZ UDPGothic"/>
              </a:rPr>
              <a:t>四半期で部門・職種・勤続層・役職層ごとに離職関連指標を可視化</a:t>
            </a:r>
          </a:p>
        </p:txBody>
      </p:sp>
      <p:sp>
        <p:nvSpPr>
          <p:cNvPr id="8" name="正方形/長方形 7">
            <a:extLst>
              <a:ext uri="{FF2B5EF4-FFF2-40B4-BE49-F238E27FC236}">
                <a16:creationId xmlns:a16="http://schemas.microsoft.com/office/drawing/2014/main" id="{BF0F8132-FED1-4C3D-95DA-0E4DFA16BC63}"/>
              </a:ext>
            </a:extLst>
          </p:cNvPr>
          <p:cNvSpPr/>
          <p:nvPr/>
        </p:nvSpPr>
        <p:spPr>
          <a:xfrm>
            <a:off x="1219200" y="2362200"/>
            <a:ext cx="101600" cy="101600"/>
          </a:xfrm>
          <a:prstGeom prst="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9" name="テキスト ボックス 8">
            <a:extLst>
              <a:ext uri="{FF2B5EF4-FFF2-40B4-BE49-F238E27FC236}">
                <a16:creationId xmlns:a16="http://schemas.microsoft.com/office/drawing/2014/main" id="{929F96B2-F358-48A4-8498-2A336ABDF8AF}"/>
              </a:ext>
            </a:extLst>
          </p:cNvPr>
          <p:cNvSpPr txBox="1"/>
          <p:nvPr/>
        </p:nvSpPr>
        <p:spPr>
          <a:xfrm>
            <a:off x="1422400" y="2260600"/>
            <a:ext cx="10261600" cy="3302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初期モデルスコアは組織単位・セグメント単位の注意喚起指標として限定利用</a:t>
            </a:r>
          </a:p>
        </p:txBody>
      </p:sp>
      <p:sp>
        <p:nvSpPr>
          <p:cNvPr id="10" name="正方形/長方形 9">
            <a:extLst>
              <a:ext uri="{FF2B5EF4-FFF2-40B4-BE49-F238E27FC236}">
                <a16:creationId xmlns:a16="http://schemas.microsoft.com/office/drawing/2014/main" id="{8DB90E03-0372-4FBA-9E55-D90557F3FF8C}"/>
              </a:ext>
            </a:extLst>
          </p:cNvPr>
          <p:cNvSpPr/>
          <p:nvPr/>
        </p:nvSpPr>
        <p:spPr>
          <a:xfrm>
            <a:off x="1219200" y="2743200"/>
            <a:ext cx="101600" cy="101600"/>
          </a:xfrm>
          <a:prstGeom prst="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テキスト ボックス 10">
            <a:extLst>
              <a:ext uri="{FF2B5EF4-FFF2-40B4-BE49-F238E27FC236}">
                <a16:creationId xmlns:a16="http://schemas.microsoft.com/office/drawing/2014/main" id="{6A34D875-8EE7-486C-83B7-9D17854CE524}"/>
              </a:ext>
            </a:extLst>
          </p:cNvPr>
          <p:cNvSpPr txBox="1"/>
          <p:nvPr/>
        </p:nvSpPr>
        <p:spPr>
          <a:xfrm>
            <a:off x="1422400" y="2641600"/>
            <a:ext cx="10261600" cy="330200"/>
          </a:xfrm>
          <a:prstGeom prst="rect">
            <a:avLst/>
          </a:prstGeom>
          <a:noFill/>
        </p:spPr>
        <p:txBody>
          <a:bodyPr vertOverflow="overflow" vert="horz" wrap="square" rtlCol="0" anchor="t">
            <a:spAutoFit/>
          </a:bodyPr>
          <a:lstStyle/>
          <a:p>
            <a:pPr algn="l"/>
            <a:r>
              <a:rPr lang="en-US" altLang="ja-JP" sz="1400">
                <a:solidFill>
                  <a:srgbClr val="3D3D3D"/>
                </a:solidFill>
                <a:latin typeface="BIZ UDPGothic"/>
                <a:ea typeface="BIZ UDPGothic"/>
              </a:rPr>
              <a:t>HRBP</a:t>
            </a:r>
            <a:r>
              <a:rPr lang="ja-JP" altLang="en-US" sz="1400">
                <a:solidFill>
                  <a:srgbClr val="3D3D3D"/>
                </a:solidFill>
                <a:latin typeface="BIZ UDPGothic"/>
                <a:ea typeface="BIZ UDPGothic"/>
              </a:rPr>
              <a:t>・人事企画・部門長が共通で見られる粒度に揃える</a:t>
            </a:r>
          </a:p>
        </p:txBody>
      </p:sp>
      <p:sp>
        <p:nvSpPr>
          <p:cNvPr id="12" name="楕円 11">
            <a:extLst>
              <a:ext uri="{FF2B5EF4-FFF2-40B4-BE49-F238E27FC236}">
                <a16:creationId xmlns:a16="http://schemas.microsoft.com/office/drawing/2014/main" id="{1B9C83B1-E739-4D1C-8719-9E09E59DE568}"/>
              </a:ext>
            </a:extLst>
          </p:cNvPr>
          <p:cNvSpPr/>
          <p:nvPr/>
        </p:nvSpPr>
        <p:spPr>
          <a:xfrm>
            <a:off x="508000" y="3251200"/>
            <a:ext cx="508000" cy="508000"/>
          </a:xfrm>
          <a:prstGeom prst="ellipse">
            <a:avLst/>
          </a:prstGeom>
          <a:solidFill>
            <a:srgbClr val="A0522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2000" b="1">
                <a:solidFill>
                  <a:srgbClr val="FFFFFF"/>
                </a:solidFill>
                <a:latin typeface="BIZ UDPGothic"/>
                <a:ea typeface="BIZ UDPGothic"/>
              </a:rPr>
              <a:t>2</a:t>
            </a:r>
            <a:endParaRPr lang="ja-JP" altLang="en-US" sz="2000" b="1">
              <a:solidFill>
                <a:srgbClr val="FFFFFF"/>
              </a:solidFill>
              <a:latin typeface="BIZ UDPGothic"/>
              <a:ea typeface="BIZ UDPGothic"/>
            </a:endParaRPr>
          </a:p>
        </p:txBody>
      </p:sp>
      <p:sp>
        <p:nvSpPr>
          <p:cNvPr id="13" name="テキスト ボックス 12">
            <a:extLst>
              <a:ext uri="{FF2B5EF4-FFF2-40B4-BE49-F238E27FC236}">
                <a16:creationId xmlns:a16="http://schemas.microsoft.com/office/drawing/2014/main" id="{DDFD6007-CEA2-48D6-89D3-FBAB4CF3F1C4}"/>
              </a:ext>
            </a:extLst>
          </p:cNvPr>
          <p:cNvSpPr txBox="1"/>
          <p:nvPr/>
        </p:nvSpPr>
        <p:spPr>
          <a:xfrm>
            <a:off x="1143000" y="3175000"/>
            <a:ext cx="10541000" cy="355600"/>
          </a:xfrm>
          <a:prstGeom prst="rect">
            <a:avLst/>
          </a:prstGeom>
          <a:noFill/>
        </p:spPr>
        <p:txBody>
          <a:bodyPr vertOverflow="overflow" vert="horz" wrap="square" rtlCol="0" anchor="t">
            <a:spAutoFit/>
          </a:bodyPr>
          <a:lstStyle/>
          <a:p>
            <a:pPr algn="l"/>
            <a:r>
              <a:rPr lang="ja-JP" altLang="en-US" sz="1600" b="1">
                <a:solidFill>
                  <a:srgbClr val="A0522D"/>
                </a:solidFill>
                <a:latin typeface="BIZ UDPGothic"/>
                <a:ea typeface="BIZ UDPGothic"/>
              </a:rPr>
              <a:t>残業・働き方と定着施策を連動させる</a:t>
            </a:r>
          </a:p>
        </p:txBody>
      </p:sp>
      <p:sp>
        <p:nvSpPr>
          <p:cNvPr id="14" name="正方形/長方形 13">
            <a:extLst>
              <a:ext uri="{FF2B5EF4-FFF2-40B4-BE49-F238E27FC236}">
                <a16:creationId xmlns:a16="http://schemas.microsoft.com/office/drawing/2014/main" id="{8D74CB3C-6474-4EEF-AEFE-DCE592F2FA74}"/>
              </a:ext>
            </a:extLst>
          </p:cNvPr>
          <p:cNvSpPr/>
          <p:nvPr/>
        </p:nvSpPr>
        <p:spPr>
          <a:xfrm>
            <a:off x="1143000" y="3556000"/>
            <a:ext cx="10541000" cy="25400"/>
          </a:xfrm>
          <a:prstGeom prst="rect">
            <a:avLst/>
          </a:prstGeom>
          <a:solidFill>
            <a:srgbClr val="D4C5B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5" name="正方形/長方形 14">
            <a:extLst>
              <a:ext uri="{FF2B5EF4-FFF2-40B4-BE49-F238E27FC236}">
                <a16:creationId xmlns:a16="http://schemas.microsoft.com/office/drawing/2014/main" id="{5FE8752E-8F60-4899-9295-8846CED4B17E}"/>
              </a:ext>
            </a:extLst>
          </p:cNvPr>
          <p:cNvSpPr/>
          <p:nvPr/>
        </p:nvSpPr>
        <p:spPr>
          <a:xfrm>
            <a:off x="1219200" y="3759200"/>
            <a:ext cx="101600" cy="101600"/>
          </a:xfrm>
          <a:prstGeom prst="rect">
            <a:avLst/>
          </a:prstGeom>
          <a:solidFill>
            <a:srgbClr val="A0522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テキスト ボックス 15">
            <a:extLst>
              <a:ext uri="{FF2B5EF4-FFF2-40B4-BE49-F238E27FC236}">
                <a16:creationId xmlns:a16="http://schemas.microsoft.com/office/drawing/2014/main" id="{55124298-83D3-46BC-843C-5245670683BD}"/>
              </a:ext>
            </a:extLst>
          </p:cNvPr>
          <p:cNvSpPr txBox="1"/>
          <p:nvPr/>
        </p:nvSpPr>
        <p:spPr>
          <a:xfrm>
            <a:off x="1422400" y="3657600"/>
            <a:ext cx="10261600" cy="330200"/>
          </a:xfrm>
          <a:prstGeom prst="rect">
            <a:avLst/>
          </a:prstGeom>
          <a:noFill/>
        </p:spPr>
        <p:txBody>
          <a:bodyPr vertOverflow="overflow" vert="horz" wrap="square" rtlCol="0" anchor="t">
            <a:spAutoFit/>
          </a:bodyPr>
          <a:lstStyle/>
          <a:p>
            <a:pPr algn="l"/>
            <a:r>
              <a:rPr lang="en-US" altLang="ja-JP" sz="1400">
                <a:solidFill>
                  <a:srgbClr val="3D3D3D"/>
                </a:solidFill>
                <a:latin typeface="BIZ UDPGothic"/>
                <a:ea typeface="BIZ UDPGothic"/>
              </a:rPr>
              <a:t>OverTime</a:t>
            </a:r>
            <a:r>
              <a:rPr lang="ja-JP" altLang="en-US" sz="1400">
                <a:solidFill>
                  <a:srgbClr val="3D3D3D"/>
                </a:solidFill>
                <a:latin typeface="BIZ UDPGothic"/>
                <a:ea typeface="BIZ UDPGothic"/>
              </a:rPr>
              <a:t>を含む働き方関連が一貫して論点に上がるため重点確認対象とする</a:t>
            </a:r>
          </a:p>
        </p:txBody>
      </p:sp>
      <p:sp>
        <p:nvSpPr>
          <p:cNvPr id="17" name="正方形/長方形 16">
            <a:extLst>
              <a:ext uri="{FF2B5EF4-FFF2-40B4-BE49-F238E27FC236}">
                <a16:creationId xmlns:a16="http://schemas.microsoft.com/office/drawing/2014/main" id="{1B96DC08-8AB3-470D-881E-CA169B3B3089}"/>
              </a:ext>
            </a:extLst>
          </p:cNvPr>
          <p:cNvSpPr/>
          <p:nvPr/>
        </p:nvSpPr>
        <p:spPr>
          <a:xfrm>
            <a:off x="1219200" y="4140200"/>
            <a:ext cx="101600" cy="101600"/>
          </a:xfrm>
          <a:prstGeom prst="rect">
            <a:avLst/>
          </a:prstGeom>
          <a:solidFill>
            <a:srgbClr val="A0522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8" name="テキスト ボックス 17">
            <a:extLst>
              <a:ext uri="{FF2B5EF4-FFF2-40B4-BE49-F238E27FC236}">
                <a16:creationId xmlns:a16="http://schemas.microsoft.com/office/drawing/2014/main" id="{EF79D4DD-7128-4BFF-B08A-E59958055668}"/>
              </a:ext>
            </a:extLst>
          </p:cNvPr>
          <p:cNvSpPr txBox="1"/>
          <p:nvPr/>
        </p:nvSpPr>
        <p:spPr>
          <a:xfrm>
            <a:off x="1422400" y="4038600"/>
            <a:ext cx="10261600" cy="3302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業務量配分・上司マネジメント・業務設計の観点を人事施策と連携</a:t>
            </a:r>
          </a:p>
        </p:txBody>
      </p:sp>
      <p:sp>
        <p:nvSpPr>
          <p:cNvPr id="19" name="正方形/長方形 18">
            <a:extLst>
              <a:ext uri="{FF2B5EF4-FFF2-40B4-BE49-F238E27FC236}">
                <a16:creationId xmlns:a16="http://schemas.microsoft.com/office/drawing/2014/main" id="{B2DB4B41-5289-4F51-9B8C-3CD4E3A4DD52}"/>
              </a:ext>
            </a:extLst>
          </p:cNvPr>
          <p:cNvSpPr/>
          <p:nvPr/>
        </p:nvSpPr>
        <p:spPr>
          <a:xfrm>
            <a:off x="1219200" y="4521200"/>
            <a:ext cx="101600" cy="101600"/>
          </a:xfrm>
          <a:prstGeom prst="rect">
            <a:avLst/>
          </a:prstGeom>
          <a:solidFill>
            <a:srgbClr val="A0522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0" name="テキスト ボックス 19">
            <a:extLst>
              <a:ext uri="{FF2B5EF4-FFF2-40B4-BE49-F238E27FC236}">
                <a16:creationId xmlns:a16="http://schemas.microsoft.com/office/drawing/2014/main" id="{9DE2FF0F-1165-400E-8975-74331B499176}"/>
              </a:ext>
            </a:extLst>
          </p:cNvPr>
          <p:cNvSpPr txBox="1"/>
          <p:nvPr/>
        </p:nvSpPr>
        <p:spPr>
          <a:xfrm>
            <a:off x="1422400" y="4419600"/>
            <a:ext cx="10261600" cy="3302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「離職リスクが高まりやすい職場条件」を是正する方向で施策を設計</a:t>
            </a:r>
          </a:p>
        </p:txBody>
      </p:sp>
      <p:sp>
        <p:nvSpPr>
          <p:cNvPr id="21" name="楕円 20">
            <a:extLst>
              <a:ext uri="{FF2B5EF4-FFF2-40B4-BE49-F238E27FC236}">
                <a16:creationId xmlns:a16="http://schemas.microsoft.com/office/drawing/2014/main" id="{9A848F28-6811-4A8F-8113-ADCCCD4C7FB0}"/>
              </a:ext>
            </a:extLst>
          </p:cNvPr>
          <p:cNvSpPr/>
          <p:nvPr/>
        </p:nvSpPr>
        <p:spPr>
          <a:xfrm>
            <a:off x="508000" y="5029200"/>
            <a:ext cx="508000" cy="508000"/>
          </a:xfrm>
          <a:prstGeom prst="ellipse">
            <a:avLst/>
          </a:prstGeom>
          <a:solidFill>
            <a:srgbClr val="4A4A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2000" b="1">
                <a:solidFill>
                  <a:srgbClr val="FFFFFF"/>
                </a:solidFill>
                <a:latin typeface="BIZ UDPGothic"/>
                <a:ea typeface="BIZ UDPGothic"/>
              </a:rPr>
              <a:t>3</a:t>
            </a:r>
            <a:endParaRPr lang="ja-JP" altLang="en-US" sz="2000" b="1">
              <a:solidFill>
                <a:srgbClr val="FFFFFF"/>
              </a:solidFill>
              <a:latin typeface="BIZ UDPGothic"/>
              <a:ea typeface="BIZ UDPGothic"/>
            </a:endParaRPr>
          </a:p>
        </p:txBody>
      </p:sp>
      <p:sp>
        <p:nvSpPr>
          <p:cNvPr id="22" name="テキスト ボックス 21">
            <a:extLst>
              <a:ext uri="{FF2B5EF4-FFF2-40B4-BE49-F238E27FC236}">
                <a16:creationId xmlns:a16="http://schemas.microsoft.com/office/drawing/2014/main" id="{24DE3237-62C1-4FA5-953F-D9BE99838B0B}"/>
              </a:ext>
            </a:extLst>
          </p:cNvPr>
          <p:cNvSpPr txBox="1"/>
          <p:nvPr/>
        </p:nvSpPr>
        <p:spPr>
          <a:xfrm>
            <a:off x="1143000" y="4953000"/>
            <a:ext cx="10541000" cy="355600"/>
          </a:xfrm>
          <a:prstGeom prst="rect">
            <a:avLst/>
          </a:prstGeom>
          <a:noFill/>
        </p:spPr>
        <p:txBody>
          <a:bodyPr vertOverflow="overflow" vert="horz" wrap="square" rtlCol="0" anchor="t">
            <a:spAutoFit/>
          </a:bodyPr>
          <a:lstStyle/>
          <a:p>
            <a:pPr algn="l"/>
            <a:r>
              <a:rPr lang="ja-JP" altLang="en-US" sz="1600" b="1">
                <a:solidFill>
                  <a:srgbClr val="4A4A4A"/>
                </a:solidFill>
                <a:latin typeface="BIZ UDPGothic"/>
                <a:ea typeface="BIZ UDPGothic"/>
              </a:rPr>
              <a:t>報酬とキャリア進展の説明責任を強化する</a:t>
            </a:r>
          </a:p>
        </p:txBody>
      </p:sp>
      <p:sp>
        <p:nvSpPr>
          <p:cNvPr id="23" name="正方形/長方形 22">
            <a:extLst>
              <a:ext uri="{FF2B5EF4-FFF2-40B4-BE49-F238E27FC236}">
                <a16:creationId xmlns:a16="http://schemas.microsoft.com/office/drawing/2014/main" id="{D7D0939F-B129-478B-AA29-2E9432979237}"/>
              </a:ext>
            </a:extLst>
          </p:cNvPr>
          <p:cNvSpPr/>
          <p:nvPr/>
        </p:nvSpPr>
        <p:spPr>
          <a:xfrm>
            <a:off x="1143000" y="5334000"/>
            <a:ext cx="10541000" cy="25400"/>
          </a:xfrm>
          <a:prstGeom prst="rect">
            <a:avLst/>
          </a:prstGeom>
          <a:solidFill>
            <a:srgbClr val="D4C5B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4" name="正方形/長方形 23">
            <a:extLst>
              <a:ext uri="{FF2B5EF4-FFF2-40B4-BE49-F238E27FC236}">
                <a16:creationId xmlns:a16="http://schemas.microsoft.com/office/drawing/2014/main" id="{E10450ED-2CBE-41F2-9F03-7F85C1E007F5}"/>
              </a:ext>
            </a:extLst>
          </p:cNvPr>
          <p:cNvSpPr/>
          <p:nvPr/>
        </p:nvSpPr>
        <p:spPr>
          <a:xfrm>
            <a:off x="1219200" y="5537200"/>
            <a:ext cx="101600" cy="101600"/>
          </a:xfrm>
          <a:prstGeom prst="rect">
            <a:avLst/>
          </a:prstGeom>
          <a:solidFill>
            <a:srgbClr val="4A4A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5" name="テキスト ボックス 24">
            <a:extLst>
              <a:ext uri="{FF2B5EF4-FFF2-40B4-BE49-F238E27FC236}">
                <a16:creationId xmlns:a16="http://schemas.microsoft.com/office/drawing/2014/main" id="{0E61EDF0-D7EF-468A-A1AB-53B191875525}"/>
              </a:ext>
            </a:extLst>
          </p:cNvPr>
          <p:cNvSpPr txBox="1"/>
          <p:nvPr/>
        </p:nvSpPr>
        <p:spPr>
          <a:xfrm>
            <a:off x="1422400" y="5435600"/>
            <a:ext cx="10261600" cy="330200"/>
          </a:xfrm>
          <a:prstGeom prst="rect">
            <a:avLst/>
          </a:prstGeom>
          <a:noFill/>
        </p:spPr>
        <p:txBody>
          <a:bodyPr vertOverflow="overflow" vert="horz" wrap="square" rtlCol="0" anchor="t">
            <a:spAutoFit/>
          </a:bodyPr>
          <a:lstStyle/>
          <a:p>
            <a:pPr algn="l"/>
            <a:r>
              <a:rPr lang="en-US" altLang="ja-JP" sz="1400">
                <a:solidFill>
                  <a:srgbClr val="3D3D3D"/>
                </a:solidFill>
                <a:latin typeface="BIZ UDPGothic"/>
                <a:ea typeface="BIZ UDPGothic"/>
              </a:rPr>
              <a:t>MonthlyIncome, JobLevel, YearsSinceLastPromotion</a:t>
            </a:r>
            <a:r>
              <a:rPr lang="ja-JP" altLang="en-US" sz="1400">
                <a:solidFill>
                  <a:srgbClr val="3D3D3D"/>
                </a:solidFill>
                <a:latin typeface="BIZ UDPGothic"/>
                <a:ea typeface="BIZ UDPGothic"/>
              </a:rPr>
              <a:t>等の処遇・昇進関連を重点論点に</a:t>
            </a:r>
          </a:p>
        </p:txBody>
      </p:sp>
      <p:sp>
        <p:nvSpPr>
          <p:cNvPr id="26" name="正方形/長方形 25">
            <a:extLst>
              <a:ext uri="{FF2B5EF4-FFF2-40B4-BE49-F238E27FC236}">
                <a16:creationId xmlns:a16="http://schemas.microsoft.com/office/drawing/2014/main" id="{2498C88A-4912-4977-A451-6AF64ACD70B3}"/>
              </a:ext>
            </a:extLst>
          </p:cNvPr>
          <p:cNvSpPr/>
          <p:nvPr/>
        </p:nvSpPr>
        <p:spPr>
          <a:xfrm>
            <a:off x="1219200" y="5918200"/>
            <a:ext cx="101600" cy="101600"/>
          </a:xfrm>
          <a:prstGeom prst="rect">
            <a:avLst/>
          </a:prstGeom>
          <a:solidFill>
            <a:srgbClr val="4A4A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7" name="テキスト ボックス 26">
            <a:extLst>
              <a:ext uri="{FF2B5EF4-FFF2-40B4-BE49-F238E27FC236}">
                <a16:creationId xmlns:a16="http://schemas.microsoft.com/office/drawing/2014/main" id="{5A11DFE0-AB64-49DB-BE42-B87E5B5C070B}"/>
              </a:ext>
            </a:extLst>
          </p:cNvPr>
          <p:cNvSpPr txBox="1"/>
          <p:nvPr/>
        </p:nvSpPr>
        <p:spPr>
          <a:xfrm>
            <a:off x="1422400" y="5816600"/>
            <a:ext cx="10261600" cy="3302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若手層・中堅層に対する昇進・役割期待・処遇ロジックの説明不足を確認</a:t>
            </a:r>
          </a:p>
        </p:txBody>
      </p:sp>
      <p:sp>
        <p:nvSpPr>
          <p:cNvPr id="28" name="正方形/長方形 27">
            <a:extLst>
              <a:ext uri="{FF2B5EF4-FFF2-40B4-BE49-F238E27FC236}">
                <a16:creationId xmlns:a16="http://schemas.microsoft.com/office/drawing/2014/main" id="{1433AB12-3BAA-4C21-9EF7-7F4AE8D472F2}"/>
              </a:ext>
            </a:extLst>
          </p:cNvPr>
          <p:cNvSpPr/>
          <p:nvPr/>
        </p:nvSpPr>
        <p:spPr>
          <a:xfrm>
            <a:off x="1219200" y="6299200"/>
            <a:ext cx="101600" cy="101600"/>
          </a:xfrm>
          <a:prstGeom prst="rect">
            <a:avLst/>
          </a:prstGeom>
          <a:solidFill>
            <a:srgbClr val="4A4A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9" name="テキスト ボックス 28">
            <a:extLst>
              <a:ext uri="{FF2B5EF4-FFF2-40B4-BE49-F238E27FC236}">
                <a16:creationId xmlns:a16="http://schemas.microsoft.com/office/drawing/2014/main" id="{4BCB1B53-877F-4539-A317-B8B35AE53C0A}"/>
              </a:ext>
            </a:extLst>
          </p:cNvPr>
          <p:cNvSpPr txBox="1"/>
          <p:nvPr/>
        </p:nvSpPr>
        <p:spPr>
          <a:xfrm>
            <a:off x="1422400" y="6197600"/>
            <a:ext cx="10261600" cy="3302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施策は報酬単独ではなく、役割機会・異動・育成と組み合わせる</a:t>
            </a:r>
          </a:p>
        </p:txBody>
      </p:sp>
      <p:sp>
        <p:nvSpPr>
          <p:cNvPr id="30" name="テキスト ボックス 29">
            <a:extLst>
              <a:ext uri="{FF2B5EF4-FFF2-40B4-BE49-F238E27FC236}">
                <a16:creationId xmlns:a16="http://schemas.microsoft.com/office/drawing/2014/main" id="{9A464883-D955-4ACA-A68C-D3297F07EC4F}"/>
              </a:ext>
            </a:extLst>
          </p:cNvPr>
          <p:cNvSpPr txBox="1"/>
          <p:nvPr/>
        </p:nvSpPr>
        <p:spPr>
          <a:xfrm>
            <a:off x="508000" y="254000"/>
            <a:ext cx="11176000" cy="508000"/>
          </a:xfrm>
          <a:prstGeom prst="rect">
            <a:avLst/>
          </a:prstGeom>
          <a:noFill/>
        </p:spPr>
        <p:txBody>
          <a:bodyPr vertOverflow="overflow" vert="horz" wrap="square" rtlCol="0" anchor="t">
            <a:noAutofit/>
          </a:bodyPr>
          <a:lstStyle/>
          <a:p>
            <a:pPr algn="l"/>
            <a:r>
              <a:rPr lang="en-US" altLang="zh-TW" sz="2400" b="1">
                <a:solidFill>
                  <a:srgbClr val="1A1A1A"/>
                </a:solidFill>
                <a:latin typeface="BIZ UDPGothic"/>
                <a:ea typeface="BIZ UDPGothic"/>
              </a:rPr>
              <a:t>5. </a:t>
            </a:r>
            <a:r>
              <a:rPr lang="zh-TW" altLang="en-US" sz="2400" b="1">
                <a:solidFill>
                  <a:srgbClr val="1A1A1A"/>
                </a:solidFill>
                <a:latin typeface="BIZ UDPGothic"/>
                <a:ea typeface="BIZ UDPGothic"/>
              </a:rPr>
              <a:t>業務提言（</a:t>
            </a:r>
            <a:r>
              <a:rPr lang="en-US" altLang="zh-TW" sz="2400" b="1">
                <a:solidFill>
                  <a:srgbClr val="1A1A1A"/>
                </a:solidFill>
                <a:latin typeface="BIZ UDPGothic"/>
                <a:ea typeface="BIZ UDPGothic"/>
              </a:rPr>
              <a:t>1〜3</a:t>
            </a:r>
            <a:r>
              <a:rPr lang="zh-TW" altLang="en-US" sz="2400" b="1">
                <a:solidFill>
                  <a:srgbClr val="1A1A1A"/>
                </a:solidFill>
                <a:latin typeface="BIZ UDPGothic"/>
                <a:ea typeface="BIZ UDPGothic"/>
              </a:rPr>
              <a:t>）</a:t>
            </a:r>
            <a:endParaRPr lang="ja-JP" altLang="en-US" sz="2400" b="1">
              <a:solidFill>
                <a:srgbClr val="1A1A1A"/>
              </a:solidFill>
              <a:latin typeface="BIZ UDPGothic"/>
              <a:ea typeface="BIZ UDPGothic"/>
            </a:endParaRPr>
          </a:p>
        </p:txBody>
      </p:sp>
      <p:sp>
        <p:nvSpPr>
          <p:cNvPr id="31" name="正方形/長方形 30">
            <a:extLst>
              <a:ext uri="{FF2B5EF4-FFF2-40B4-BE49-F238E27FC236}">
                <a16:creationId xmlns:a16="http://schemas.microsoft.com/office/drawing/2014/main" id="{34F57DB5-245D-4744-841C-3BA2FAB61EE6}"/>
              </a:ext>
            </a:extLst>
          </p:cNvPr>
          <p:cNvSpPr/>
          <p:nvPr/>
        </p:nvSpPr>
        <p:spPr>
          <a:xfrm>
            <a:off x="508000" y="787400"/>
            <a:ext cx="1270000" cy="38100"/>
          </a:xfrm>
          <a:prstGeom prst="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Tree>
    <p:extLst>
      <p:ext uri="{BB962C8B-B14F-4D97-AF65-F5344CB8AC3E}">
        <p14:creationId xmlns:p14="http://schemas.microsoft.com/office/powerpoint/2010/main" val="729678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楕円 2">
            <a:extLst>
              <a:ext uri="{FF2B5EF4-FFF2-40B4-BE49-F238E27FC236}">
                <a16:creationId xmlns:a16="http://schemas.microsoft.com/office/drawing/2014/main" id="{056A70E2-2A44-4FA6-92CA-543FC4063B26}"/>
              </a:ext>
            </a:extLst>
          </p:cNvPr>
          <p:cNvSpPr/>
          <p:nvPr/>
        </p:nvSpPr>
        <p:spPr>
          <a:xfrm>
            <a:off x="508000" y="1460500"/>
            <a:ext cx="508000" cy="508000"/>
          </a:xfrm>
          <a:prstGeom prst="ellipse">
            <a:avLst/>
          </a:prstGeom>
          <a:solidFill>
            <a:srgbClr val="6B6B6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2000" b="1">
                <a:solidFill>
                  <a:srgbClr val="FFFFFF"/>
                </a:solidFill>
                <a:latin typeface="BIZ UDPGothic"/>
                <a:ea typeface="BIZ UDPGothic"/>
              </a:rPr>
              <a:t>4</a:t>
            </a:r>
            <a:endParaRPr lang="ja-JP" altLang="en-US" sz="2000" b="1">
              <a:solidFill>
                <a:srgbClr val="FFFFFF"/>
              </a:solidFill>
              <a:latin typeface="BIZ UDPGothic"/>
              <a:ea typeface="BIZ UDPGothic"/>
            </a:endParaRPr>
          </a:p>
        </p:txBody>
      </p:sp>
      <p:sp>
        <p:nvSpPr>
          <p:cNvPr id="4" name="テキスト ボックス 3">
            <a:extLst>
              <a:ext uri="{FF2B5EF4-FFF2-40B4-BE49-F238E27FC236}">
                <a16:creationId xmlns:a16="http://schemas.microsoft.com/office/drawing/2014/main" id="{FE8DDBD8-525F-4E85-984D-7775884F6243}"/>
              </a:ext>
            </a:extLst>
          </p:cNvPr>
          <p:cNvSpPr txBox="1"/>
          <p:nvPr/>
        </p:nvSpPr>
        <p:spPr>
          <a:xfrm>
            <a:off x="1143000" y="1460500"/>
            <a:ext cx="10541000" cy="355600"/>
          </a:xfrm>
          <a:prstGeom prst="rect">
            <a:avLst/>
          </a:prstGeom>
          <a:noFill/>
        </p:spPr>
        <p:txBody>
          <a:bodyPr vertOverflow="overflow" vert="horz" wrap="square" rtlCol="0" anchor="t">
            <a:spAutoFit/>
          </a:bodyPr>
          <a:lstStyle/>
          <a:p>
            <a:pPr algn="l"/>
            <a:r>
              <a:rPr lang="ja-JP" altLang="en-US" sz="1600" b="1">
                <a:solidFill>
                  <a:srgbClr val="6B6B6B"/>
                </a:solidFill>
                <a:latin typeface="BIZ UDPGothic"/>
                <a:ea typeface="BIZ UDPGothic"/>
              </a:rPr>
              <a:t>部門・職種別に打ち手を分ける</a:t>
            </a:r>
          </a:p>
        </p:txBody>
      </p:sp>
      <p:sp>
        <p:nvSpPr>
          <p:cNvPr id="5" name="正方形/長方形 4">
            <a:extLst>
              <a:ext uri="{FF2B5EF4-FFF2-40B4-BE49-F238E27FC236}">
                <a16:creationId xmlns:a16="http://schemas.microsoft.com/office/drawing/2014/main" id="{6C767284-1AAA-4723-AEDB-51108517A3F1}"/>
              </a:ext>
            </a:extLst>
          </p:cNvPr>
          <p:cNvSpPr/>
          <p:nvPr/>
        </p:nvSpPr>
        <p:spPr>
          <a:xfrm>
            <a:off x="1143000" y="1841500"/>
            <a:ext cx="10541000" cy="25400"/>
          </a:xfrm>
          <a:prstGeom prst="rect">
            <a:avLst/>
          </a:prstGeom>
          <a:solidFill>
            <a:srgbClr val="D4C5B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2B969037-E704-4C96-A7DA-554EBADB825A}"/>
              </a:ext>
            </a:extLst>
          </p:cNvPr>
          <p:cNvSpPr txBox="1"/>
          <p:nvPr/>
        </p:nvSpPr>
        <p:spPr>
          <a:xfrm>
            <a:off x="1143000" y="1943100"/>
            <a:ext cx="10541000" cy="3556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全社一律施策だけでは不十分。部門別・職種別に離職リスクの背景を「負荷」「処遇」「キャリア」「マネジメント」で切り分ける。</a:t>
            </a:r>
          </a:p>
        </p:txBody>
      </p:sp>
      <p:sp>
        <p:nvSpPr>
          <p:cNvPr id="7" name="四角形: 角を丸くする 6">
            <a:extLst>
              <a:ext uri="{FF2B5EF4-FFF2-40B4-BE49-F238E27FC236}">
                <a16:creationId xmlns:a16="http://schemas.microsoft.com/office/drawing/2014/main" id="{79937C06-4C3F-47AC-A61A-AF9CDAB02101}"/>
              </a:ext>
            </a:extLst>
          </p:cNvPr>
          <p:cNvSpPr/>
          <p:nvPr/>
        </p:nvSpPr>
        <p:spPr>
          <a:xfrm>
            <a:off x="1143000" y="2374900"/>
            <a:ext cx="3175000" cy="889000"/>
          </a:xfrm>
          <a:prstGeom prst="round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500" b="1">
                <a:solidFill>
                  <a:srgbClr val="FFFFFF"/>
                </a:solidFill>
                <a:latin typeface="BIZ UDPGothic"/>
                <a:ea typeface="BIZ UDPGothic"/>
              </a:rPr>
              <a:t>若手・立上がり
支援層</a:t>
            </a:r>
          </a:p>
        </p:txBody>
      </p:sp>
      <p:sp>
        <p:nvSpPr>
          <p:cNvPr id="8" name="四角形: 角を丸くする 7">
            <a:extLst>
              <a:ext uri="{FF2B5EF4-FFF2-40B4-BE49-F238E27FC236}">
                <a16:creationId xmlns:a16="http://schemas.microsoft.com/office/drawing/2014/main" id="{77A1EA42-1618-42C6-850D-D46589F94DEB}"/>
              </a:ext>
            </a:extLst>
          </p:cNvPr>
          <p:cNvSpPr/>
          <p:nvPr/>
        </p:nvSpPr>
        <p:spPr>
          <a:xfrm>
            <a:off x="4699000" y="2374900"/>
            <a:ext cx="3175000" cy="889000"/>
          </a:xfrm>
          <a:prstGeom prst="roundRect">
            <a:avLst/>
          </a:prstGeom>
          <a:solidFill>
            <a:srgbClr val="A0522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500" b="1">
                <a:solidFill>
                  <a:srgbClr val="FFFFFF"/>
                </a:solidFill>
                <a:latin typeface="BIZ UDPGothic"/>
                <a:ea typeface="BIZ UDPGothic"/>
              </a:rPr>
              <a:t>中堅・昇進停滞感
確認層</a:t>
            </a:r>
          </a:p>
        </p:txBody>
      </p:sp>
      <p:sp>
        <p:nvSpPr>
          <p:cNvPr id="9" name="四角形: 角を丸くする 8">
            <a:extLst>
              <a:ext uri="{FF2B5EF4-FFF2-40B4-BE49-F238E27FC236}">
                <a16:creationId xmlns:a16="http://schemas.microsoft.com/office/drawing/2014/main" id="{B2781EF1-4BCE-4B0A-9797-529D7742253C}"/>
              </a:ext>
            </a:extLst>
          </p:cNvPr>
          <p:cNvSpPr/>
          <p:nvPr/>
        </p:nvSpPr>
        <p:spPr>
          <a:xfrm>
            <a:off x="8255000" y="2374900"/>
            <a:ext cx="3175000" cy="889000"/>
          </a:xfrm>
          <a:prstGeom prst="roundRect">
            <a:avLst/>
          </a:prstGeom>
          <a:solidFill>
            <a:srgbClr val="4A4A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500" b="1">
                <a:solidFill>
                  <a:srgbClr val="FFFFFF"/>
                </a:solidFill>
                <a:latin typeface="BIZ UDPGothic"/>
                <a:ea typeface="BIZ UDPGothic"/>
              </a:rPr>
              <a:t>高負荷・働き方
改善対象層</a:t>
            </a:r>
          </a:p>
        </p:txBody>
      </p:sp>
      <p:sp>
        <p:nvSpPr>
          <p:cNvPr id="10" name="楕円 9">
            <a:extLst>
              <a:ext uri="{FF2B5EF4-FFF2-40B4-BE49-F238E27FC236}">
                <a16:creationId xmlns:a16="http://schemas.microsoft.com/office/drawing/2014/main" id="{4408B961-0060-41FC-A05B-2880B9FCF11E}"/>
              </a:ext>
            </a:extLst>
          </p:cNvPr>
          <p:cNvSpPr/>
          <p:nvPr/>
        </p:nvSpPr>
        <p:spPr>
          <a:xfrm>
            <a:off x="508000" y="3619500"/>
            <a:ext cx="508000" cy="508000"/>
          </a:xfrm>
          <a:prstGeom prst="ellipse">
            <a:avLst/>
          </a:prstGeom>
          <a:solidFill>
            <a:srgbClr val="2C2C2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2000" b="1">
                <a:solidFill>
                  <a:srgbClr val="FFFFFF"/>
                </a:solidFill>
                <a:latin typeface="BIZ UDPGothic"/>
                <a:ea typeface="BIZ UDPGothic"/>
              </a:rPr>
              <a:t>5</a:t>
            </a:r>
            <a:endParaRPr lang="ja-JP" altLang="en-US" sz="2000" b="1">
              <a:solidFill>
                <a:srgbClr val="FFFFFF"/>
              </a:solidFill>
              <a:latin typeface="BIZ UDPGothic"/>
              <a:ea typeface="BIZ UDPGothic"/>
            </a:endParaRPr>
          </a:p>
        </p:txBody>
      </p:sp>
      <p:sp>
        <p:nvSpPr>
          <p:cNvPr id="11" name="テキスト ボックス 10">
            <a:extLst>
              <a:ext uri="{FF2B5EF4-FFF2-40B4-BE49-F238E27FC236}">
                <a16:creationId xmlns:a16="http://schemas.microsoft.com/office/drawing/2014/main" id="{D2D1B9F5-9B0A-4D46-9866-5D54A71AB737}"/>
              </a:ext>
            </a:extLst>
          </p:cNvPr>
          <p:cNvSpPr txBox="1"/>
          <p:nvPr/>
        </p:nvSpPr>
        <p:spPr>
          <a:xfrm>
            <a:off x="1143000" y="3619500"/>
            <a:ext cx="10541000" cy="355600"/>
          </a:xfrm>
          <a:prstGeom prst="rect">
            <a:avLst/>
          </a:prstGeom>
          <a:noFill/>
        </p:spPr>
        <p:txBody>
          <a:bodyPr vertOverflow="overflow" vert="horz" wrap="square" rtlCol="0" anchor="t">
            <a:spAutoFit/>
          </a:bodyPr>
          <a:lstStyle/>
          <a:p>
            <a:pPr algn="l"/>
            <a:r>
              <a:rPr lang="en-US" altLang="ja-JP" sz="1600" b="1">
                <a:solidFill>
                  <a:srgbClr val="2C2C2C"/>
                </a:solidFill>
                <a:latin typeface="BIZ UDPGothic"/>
                <a:ea typeface="BIZ UDPGothic"/>
              </a:rPr>
              <a:t>People Analytics </a:t>
            </a:r>
            <a:r>
              <a:rPr lang="ja-JP" altLang="en-US" sz="1600" b="1">
                <a:solidFill>
                  <a:srgbClr val="2C2C2C"/>
                </a:solidFill>
                <a:latin typeface="BIZ UDPGothic"/>
                <a:ea typeface="BIZ UDPGothic"/>
              </a:rPr>
              <a:t>ガバナンスを運用に組み込む</a:t>
            </a:r>
          </a:p>
        </p:txBody>
      </p:sp>
      <p:sp>
        <p:nvSpPr>
          <p:cNvPr id="12" name="正方形/長方形 11">
            <a:extLst>
              <a:ext uri="{FF2B5EF4-FFF2-40B4-BE49-F238E27FC236}">
                <a16:creationId xmlns:a16="http://schemas.microsoft.com/office/drawing/2014/main" id="{EA4143C2-6DC6-45AB-BEE6-65A0717C8714}"/>
              </a:ext>
            </a:extLst>
          </p:cNvPr>
          <p:cNvSpPr/>
          <p:nvPr/>
        </p:nvSpPr>
        <p:spPr>
          <a:xfrm>
            <a:off x="1143000" y="4000500"/>
            <a:ext cx="10541000" cy="25400"/>
          </a:xfrm>
          <a:prstGeom prst="rect">
            <a:avLst/>
          </a:prstGeom>
          <a:solidFill>
            <a:srgbClr val="D4C5B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3" name="四角形: 角を丸くする 12">
            <a:extLst>
              <a:ext uri="{FF2B5EF4-FFF2-40B4-BE49-F238E27FC236}">
                <a16:creationId xmlns:a16="http://schemas.microsoft.com/office/drawing/2014/main" id="{A40969E3-A8A8-4E52-9FC4-94DC4810327B}"/>
              </a:ext>
            </a:extLst>
          </p:cNvPr>
          <p:cNvSpPr/>
          <p:nvPr/>
        </p:nvSpPr>
        <p:spPr>
          <a:xfrm>
            <a:off x="508000" y="4203700"/>
            <a:ext cx="3556000" cy="20320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4" name="正方形/長方形 13">
            <a:extLst>
              <a:ext uri="{FF2B5EF4-FFF2-40B4-BE49-F238E27FC236}">
                <a16:creationId xmlns:a16="http://schemas.microsoft.com/office/drawing/2014/main" id="{E6C05680-1AEB-4283-9961-7C95E9C09467}"/>
              </a:ext>
            </a:extLst>
          </p:cNvPr>
          <p:cNvSpPr/>
          <p:nvPr/>
        </p:nvSpPr>
        <p:spPr>
          <a:xfrm>
            <a:off x="508000" y="4203700"/>
            <a:ext cx="3556000" cy="76200"/>
          </a:xfrm>
          <a:prstGeom prst="rect">
            <a:avLst/>
          </a:prstGeom>
          <a:solidFill>
            <a:srgbClr val="2C2C2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5" name="テキスト ボックス 14">
            <a:extLst>
              <a:ext uri="{FF2B5EF4-FFF2-40B4-BE49-F238E27FC236}">
                <a16:creationId xmlns:a16="http://schemas.microsoft.com/office/drawing/2014/main" id="{28C772EC-16E4-4BBA-A552-F1CBA00328B3}"/>
              </a:ext>
            </a:extLst>
          </p:cNvPr>
          <p:cNvSpPr txBox="1"/>
          <p:nvPr/>
        </p:nvSpPr>
        <p:spPr>
          <a:xfrm>
            <a:off x="660400" y="4381500"/>
            <a:ext cx="3251200" cy="304800"/>
          </a:xfrm>
          <a:prstGeom prst="rect">
            <a:avLst/>
          </a:prstGeom>
          <a:noFill/>
        </p:spPr>
        <p:txBody>
          <a:bodyPr vertOverflow="overflow" vert="horz" wrap="square" rtlCol="0" anchor="t">
            <a:spAutoFit/>
          </a:bodyPr>
          <a:lstStyle/>
          <a:p>
            <a:pPr algn="l"/>
            <a:r>
              <a:rPr lang="ja-JP" altLang="en-US" sz="1500" b="1">
                <a:solidFill>
                  <a:srgbClr val="2C2C2C"/>
                </a:solidFill>
                <a:latin typeface="BIZ UDPGothic"/>
                <a:ea typeface="BIZ UDPGothic"/>
              </a:rPr>
              <a:t>属性利用の制限</a:t>
            </a:r>
          </a:p>
        </p:txBody>
      </p:sp>
      <p:sp>
        <p:nvSpPr>
          <p:cNvPr id="16" name="テキスト ボックス 15">
            <a:extLst>
              <a:ext uri="{FF2B5EF4-FFF2-40B4-BE49-F238E27FC236}">
                <a16:creationId xmlns:a16="http://schemas.microsoft.com/office/drawing/2014/main" id="{4958729A-03BB-4471-BB4E-EA5A0DA04C84}"/>
              </a:ext>
            </a:extLst>
          </p:cNvPr>
          <p:cNvSpPr txBox="1"/>
          <p:nvPr/>
        </p:nvSpPr>
        <p:spPr>
          <a:xfrm>
            <a:off x="660400" y="4737100"/>
            <a:ext cx="3251200" cy="1270000"/>
          </a:xfrm>
          <a:prstGeom prst="rect">
            <a:avLst/>
          </a:prstGeom>
          <a:noFill/>
        </p:spPr>
        <p:txBody>
          <a:bodyPr vertOverflow="overflow" vert="horz" wrap="square" rtlCol="0" anchor="t">
            <a:spAutoFit/>
          </a:bodyPr>
          <a:lstStyle/>
          <a:p>
            <a:pPr algn="l"/>
            <a:r>
              <a:rPr lang="en-US" altLang="ja-JP" sz="1400">
                <a:solidFill>
                  <a:srgbClr val="3D3D3D"/>
                </a:solidFill>
                <a:latin typeface="BIZ UDPGothic"/>
                <a:ea typeface="BIZ UDPGothic"/>
              </a:rPr>
              <a:t>Gender, Age, MaritalStatus</a:t>
            </a:r>
            <a:r>
              <a:rPr lang="ja-JP" altLang="en-US" sz="1400">
                <a:solidFill>
                  <a:srgbClr val="3D3D3D"/>
                </a:solidFill>
                <a:latin typeface="BIZ UDPGothic"/>
                <a:ea typeface="BIZ UDPGothic"/>
              </a:rPr>
              <a:t>等は
分析確認対象には含めるが、
差別的運用には使わない</a:t>
            </a:r>
          </a:p>
        </p:txBody>
      </p:sp>
      <p:sp>
        <p:nvSpPr>
          <p:cNvPr id="17" name="四角形: 角を丸くする 16">
            <a:extLst>
              <a:ext uri="{FF2B5EF4-FFF2-40B4-BE49-F238E27FC236}">
                <a16:creationId xmlns:a16="http://schemas.microsoft.com/office/drawing/2014/main" id="{C4954901-7278-4C4D-A1BA-FC2FDBE2BDF8}"/>
              </a:ext>
            </a:extLst>
          </p:cNvPr>
          <p:cNvSpPr/>
          <p:nvPr/>
        </p:nvSpPr>
        <p:spPr>
          <a:xfrm>
            <a:off x="4318000" y="4203700"/>
            <a:ext cx="3556000" cy="20320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8" name="正方形/長方形 17">
            <a:extLst>
              <a:ext uri="{FF2B5EF4-FFF2-40B4-BE49-F238E27FC236}">
                <a16:creationId xmlns:a16="http://schemas.microsoft.com/office/drawing/2014/main" id="{591F0931-B938-4BA4-A2B1-B2F8ACA3CA57}"/>
              </a:ext>
            </a:extLst>
          </p:cNvPr>
          <p:cNvSpPr/>
          <p:nvPr/>
        </p:nvSpPr>
        <p:spPr>
          <a:xfrm>
            <a:off x="4318000" y="4203700"/>
            <a:ext cx="3556000" cy="76200"/>
          </a:xfrm>
          <a:prstGeom prst="rect">
            <a:avLst/>
          </a:prstGeom>
          <a:solidFill>
            <a:srgbClr val="2C2C2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9" name="テキスト ボックス 18">
            <a:extLst>
              <a:ext uri="{FF2B5EF4-FFF2-40B4-BE49-F238E27FC236}">
                <a16:creationId xmlns:a16="http://schemas.microsoft.com/office/drawing/2014/main" id="{13399C4F-9F93-480A-9F25-EAEBC9DC9995}"/>
              </a:ext>
            </a:extLst>
          </p:cNvPr>
          <p:cNvSpPr txBox="1"/>
          <p:nvPr/>
        </p:nvSpPr>
        <p:spPr>
          <a:xfrm>
            <a:off x="4470400" y="4381500"/>
            <a:ext cx="3251200" cy="304800"/>
          </a:xfrm>
          <a:prstGeom prst="rect">
            <a:avLst/>
          </a:prstGeom>
          <a:noFill/>
        </p:spPr>
        <p:txBody>
          <a:bodyPr vertOverflow="overflow" vert="horz" wrap="square" rtlCol="0" anchor="t">
            <a:spAutoFit/>
          </a:bodyPr>
          <a:lstStyle/>
          <a:p>
            <a:pPr algn="l"/>
            <a:r>
              <a:rPr lang="ja-JP" altLang="en-US" sz="1500" b="1">
                <a:solidFill>
                  <a:srgbClr val="2C2C2C"/>
                </a:solidFill>
                <a:latin typeface="BIZ UDPGothic"/>
                <a:ea typeface="BIZ UDPGothic"/>
              </a:rPr>
              <a:t>個票・断定の禁止</a:t>
            </a:r>
          </a:p>
        </p:txBody>
      </p:sp>
      <p:sp>
        <p:nvSpPr>
          <p:cNvPr id="20" name="テキスト ボックス 19">
            <a:extLst>
              <a:ext uri="{FF2B5EF4-FFF2-40B4-BE49-F238E27FC236}">
                <a16:creationId xmlns:a16="http://schemas.microsoft.com/office/drawing/2014/main" id="{092618A5-A3EC-4287-AA3C-30C5A2D2B5F6}"/>
              </a:ext>
            </a:extLst>
          </p:cNvPr>
          <p:cNvSpPr txBox="1"/>
          <p:nvPr/>
        </p:nvSpPr>
        <p:spPr>
          <a:xfrm>
            <a:off x="4470400" y="4737100"/>
            <a:ext cx="3251200" cy="12700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個票表示や断定評価を禁止。
モデル結果を昇進・査定・
退職勧奨に接続しない</a:t>
            </a:r>
          </a:p>
        </p:txBody>
      </p:sp>
      <p:sp>
        <p:nvSpPr>
          <p:cNvPr id="21" name="四角形: 角を丸くする 20">
            <a:extLst>
              <a:ext uri="{FF2B5EF4-FFF2-40B4-BE49-F238E27FC236}">
                <a16:creationId xmlns:a16="http://schemas.microsoft.com/office/drawing/2014/main" id="{AC716414-B17F-4E6C-ABB8-1A263B3A4D72}"/>
              </a:ext>
            </a:extLst>
          </p:cNvPr>
          <p:cNvSpPr/>
          <p:nvPr/>
        </p:nvSpPr>
        <p:spPr>
          <a:xfrm>
            <a:off x="8128000" y="4203700"/>
            <a:ext cx="3556000" cy="20320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2" name="正方形/長方形 21">
            <a:extLst>
              <a:ext uri="{FF2B5EF4-FFF2-40B4-BE49-F238E27FC236}">
                <a16:creationId xmlns:a16="http://schemas.microsoft.com/office/drawing/2014/main" id="{EA6F6C37-305B-4429-8267-5E475CE93487}"/>
              </a:ext>
            </a:extLst>
          </p:cNvPr>
          <p:cNvSpPr/>
          <p:nvPr/>
        </p:nvSpPr>
        <p:spPr>
          <a:xfrm>
            <a:off x="8128000" y="4203700"/>
            <a:ext cx="3556000" cy="76200"/>
          </a:xfrm>
          <a:prstGeom prst="rect">
            <a:avLst/>
          </a:prstGeom>
          <a:solidFill>
            <a:srgbClr val="2C2C2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3" name="テキスト ボックス 22">
            <a:extLst>
              <a:ext uri="{FF2B5EF4-FFF2-40B4-BE49-F238E27FC236}">
                <a16:creationId xmlns:a16="http://schemas.microsoft.com/office/drawing/2014/main" id="{A31CCD76-A4A8-416F-A0BE-B4A01E80E53F}"/>
              </a:ext>
            </a:extLst>
          </p:cNvPr>
          <p:cNvSpPr txBox="1"/>
          <p:nvPr/>
        </p:nvSpPr>
        <p:spPr>
          <a:xfrm>
            <a:off x="8280400" y="4381500"/>
            <a:ext cx="3251200" cy="304800"/>
          </a:xfrm>
          <a:prstGeom prst="rect">
            <a:avLst/>
          </a:prstGeom>
          <a:noFill/>
        </p:spPr>
        <p:txBody>
          <a:bodyPr vertOverflow="overflow" vert="horz" wrap="square" rtlCol="0" anchor="t">
            <a:spAutoFit/>
          </a:bodyPr>
          <a:lstStyle/>
          <a:p>
            <a:pPr algn="l"/>
            <a:r>
              <a:rPr lang="ja-JP" altLang="en-US" sz="1500" b="1">
                <a:solidFill>
                  <a:srgbClr val="2C2C2C"/>
                </a:solidFill>
                <a:latin typeface="BIZ UDPGothic"/>
                <a:ea typeface="BIZ UDPGothic"/>
              </a:rPr>
              <a:t>ルール明文化</a:t>
            </a:r>
          </a:p>
        </p:txBody>
      </p:sp>
      <p:sp>
        <p:nvSpPr>
          <p:cNvPr id="24" name="テキスト ボックス 23">
            <a:extLst>
              <a:ext uri="{FF2B5EF4-FFF2-40B4-BE49-F238E27FC236}">
                <a16:creationId xmlns:a16="http://schemas.microsoft.com/office/drawing/2014/main" id="{55082874-5E35-465B-A299-C7BC177D7086}"/>
              </a:ext>
            </a:extLst>
          </p:cNvPr>
          <p:cNvSpPr txBox="1"/>
          <p:nvPr/>
        </p:nvSpPr>
        <p:spPr>
          <a:xfrm>
            <a:off x="8280400" y="4737100"/>
            <a:ext cx="3251200" cy="12700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活用ルールを明文化し、
利用ログ・閲覧権限・
レビュー責任者を定義する</a:t>
            </a:r>
          </a:p>
        </p:txBody>
      </p:sp>
      <p:sp>
        <p:nvSpPr>
          <p:cNvPr id="25" name="テキスト ボックス 24">
            <a:extLst>
              <a:ext uri="{FF2B5EF4-FFF2-40B4-BE49-F238E27FC236}">
                <a16:creationId xmlns:a16="http://schemas.microsoft.com/office/drawing/2014/main" id="{37E3442C-2BFE-42BD-A66F-436A34675C28}"/>
              </a:ext>
            </a:extLst>
          </p:cNvPr>
          <p:cNvSpPr txBox="1"/>
          <p:nvPr/>
        </p:nvSpPr>
        <p:spPr>
          <a:xfrm>
            <a:off x="508000" y="254000"/>
            <a:ext cx="11176000" cy="508000"/>
          </a:xfrm>
          <a:prstGeom prst="rect">
            <a:avLst/>
          </a:prstGeom>
          <a:noFill/>
        </p:spPr>
        <p:txBody>
          <a:bodyPr vertOverflow="overflow" vert="horz" wrap="square" rtlCol="0" anchor="t">
            <a:noAutofit/>
          </a:bodyPr>
          <a:lstStyle/>
          <a:p>
            <a:pPr algn="l"/>
            <a:r>
              <a:rPr lang="en-US" altLang="zh-TW" sz="2400" b="1">
                <a:solidFill>
                  <a:srgbClr val="1A1A1A"/>
                </a:solidFill>
                <a:latin typeface="BIZ UDPGothic"/>
                <a:ea typeface="BIZ UDPGothic"/>
              </a:rPr>
              <a:t>5. </a:t>
            </a:r>
            <a:r>
              <a:rPr lang="zh-TW" altLang="en-US" sz="2400" b="1">
                <a:solidFill>
                  <a:srgbClr val="1A1A1A"/>
                </a:solidFill>
                <a:latin typeface="BIZ UDPGothic"/>
                <a:ea typeface="BIZ UDPGothic"/>
              </a:rPr>
              <a:t>業務提言（</a:t>
            </a:r>
            <a:r>
              <a:rPr lang="en-US" altLang="zh-TW" sz="2400" b="1">
                <a:solidFill>
                  <a:srgbClr val="1A1A1A"/>
                </a:solidFill>
                <a:latin typeface="BIZ UDPGothic"/>
                <a:ea typeface="BIZ UDPGothic"/>
              </a:rPr>
              <a:t>4〜5</a:t>
            </a:r>
            <a:r>
              <a:rPr lang="zh-TW" altLang="en-US" sz="2400" b="1">
                <a:solidFill>
                  <a:srgbClr val="1A1A1A"/>
                </a:solidFill>
                <a:latin typeface="BIZ UDPGothic"/>
                <a:ea typeface="BIZ UDPGothic"/>
              </a:rPr>
              <a:t>）</a:t>
            </a:r>
            <a:endParaRPr lang="ja-JP" altLang="en-US" sz="2400" b="1">
              <a:solidFill>
                <a:srgbClr val="1A1A1A"/>
              </a:solidFill>
              <a:latin typeface="BIZ UDPGothic"/>
              <a:ea typeface="BIZ UDPGothic"/>
            </a:endParaRPr>
          </a:p>
        </p:txBody>
      </p:sp>
      <p:sp>
        <p:nvSpPr>
          <p:cNvPr id="26" name="正方形/長方形 25">
            <a:extLst>
              <a:ext uri="{FF2B5EF4-FFF2-40B4-BE49-F238E27FC236}">
                <a16:creationId xmlns:a16="http://schemas.microsoft.com/office/drawing/2014/main" id="{828EE00D-BEF1-4F7D-961B-25480319FE8E}"/>
              </a:ext>
            </a:extLst>
          </p:cNvPr>
          <p:cNvSpPr/>
          <p:nvPr/>
        </p:nvSpPr>
        <p:spPr>
          <a:xfrm>
            <a:off x="508000" y="787400"/>
            <a:ext cx="1270000" cy="38100"/>
          </a:xfrm>
          <a:prstGeom prst="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Tree>
    <p:extLst>
      <p:ext uri="{BB962C8B-B14F-4D97-AF65-F5344CB8AC3E}">
        <p14:creationId xmlns:p14="http://schemas.microsoft.com/office/powerpoint/2010/main" val="307014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BCCAAD4A-A8BE-458A-BF56-003A9F80C3DC}"/>
              </a:ext>
            </a:extLst>
          </p:cNvPr>
          <p:cNvSpPr txBox="1"/>
          <p:nvPr/>
        </p:nvSpPr>
        <p:spPr>
          <a:xfrm>
            <a:off x="508000" y="1358900"/>
            <a:ext cx="11176000" cy="304800"/>
          </a:xfrm>
          <a:prstGeom prst="rect">
            <a:avLst/>
          </a:prstGeom>
          <a:noFill/>
        </p:spPr>
        <p:txBody>
          <a:bodyPr vertOverflow="overflow" vert="horz" wrap="square" rtlCol="0" anchor="t">
            <a:spAutoFit/>
          </a:bodyPr>
          <a:lstStyle/>
          <a:p>
            <a:pPr algn="l"/>
            <a:r>
              <a:rPr lang="ja-JP" altLang="en-US" sz="1400">
                <a:solidFill>
                  <a:srgbClr val="6B6B6B"/>
                </a:solidFill>
                <a:latin typeface="BIZ UDPGothic"/>
                <a:ea typeface="BIZ UDPGothic"/>
              </a:rPr>
              <a:t>本案件は本番実装対象外。直近は分析成果物を用いた準運用を推奨する。</a:t>
            </a:r>
          </a:p>
        </p:txBody>
      </p:sp>
      <p:sp>
        <p:nvSpPr>
          <p:cNvPr id="4" name="四角形: 角を丸くする 3">
            <a:extLst>
              <a:ext uri="{FF2B5EF4-FFF2-40B4-BE49-F238E27FC236}">
                <a16:creationId xmlns:a16="http://schemas.microsoft.com/office/drawing/2014/main" id="{9878BB10-AB3F-4CE0-8584-F22A315FDFF6}"/>
              </a:ext>
            </a:extLst>
          </p:cNvPr>
          <p:cNvSpPr/>
          <p:nvPr/>
        </p:nvSpPr>
        <p:spPr>
          <a:xfrm>
            <a:off x="508000" y="1765300"/>
            <a:ext cx="3556000" cy="457200"/>
          </a:xfrm>
          <a:prstGeom prst="round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500" b="1">
                <a:solidFill>
                  <a:srgbClr val="FFFFFF"/>
                </a:solidFill>
                <a:latin typeface="BIZ UDPGothic"/>
                <a:ea typeface="BIZ UDPGothic"/>
              </a:rPr>
              <a:t>フェーズ</a:t>
            </a:r>
            <a:r>
              <a:rPr lang="en-US" altLang="ja-JP" sz="1500" b="1">
                <a:solidFill>
                  <a:srgbClr val="FFFFFF"/>
                </a:solidFill>
                <a:latin typeface="BIZ UDPGothic"/>
                <a:ea typeface="BIZ UDPGothic"/>
              </a:rPr>
              <a:t>A</a:t>
            </a:r>
            <a:r>
              <a:rPr lang="ja-JP" altLang="en-US" sz="1500" b="1">
                <a:solidFill>
                  <a:srgbClr val="FFFFFF"/>
                </a:solidFill>
                <a:latin typeface="BIZ UDPGothic"/>
                <a:ea typeface="BIZ UDPGothic"/>
              </a:rPr>
              <a:t>：運用準備</a:t>
            </a:r>
          </a:p>
        </p:txBody>
      </p:sp>
      <p:sp>
        <p:nvSpPr>
          <p:cNvPr id="5" name="四角形: 角を丸くする 4">
            <a:extLst>
              <a:ext uri="{FF2B5EF4-FFF2-40B4-BE49-F238E27FC236}">
                <a16:creationId xmlns:a16="http://schemas.microsoft.com/office/drawing/2014/main" id="{97448DBF-D3F1-4065-BD35-3C3B2B14E0C1}"/>
              </a:ext>
            </a:extLst>
          </p:cNvPr>
          <p:cNvSpPr/>
          <p:nvPr/>
        </p:nvSpPr>
        <p:spPr>
          <a:xfrm>
            <a:off x="1524000" y="2298700"/>
            <a:ext cx="1524000" cy="3048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ja-JP" sz="1400" b="1">
                <a:solidFill>
                  <a:srgbClr val="8B3A2F"/>
                </a:solidFill>
                <a:latin typeface="BIZ UDPGothic"/>
                <a:ea typeface="BIZ UDPGothic"/>
              </a:rPr>
              <a:t>1〜2</a:t>
            </a:r>
            <a:r>
              <a:rPr lang="ja-JP" altLang="en-US" sz="1400" b="1">
                <a:solidFill>
                  <a:srgbClr val="8B3A2F"/>
                </a:solidFill>
                <a:latin typeface="BIZ UDPGothic"/>
                <a:ea typeface="BIZ UDPGothic"/>
              </a:rPr>
              <a:t>か月</a:t>
            </a:r>
          </a:p>
        </p:txBody>
      </p:sp>
      <p:sp>
        <p:nvSpPr>
          <p:cNvPr id="6" name="テキスト ボックス 5">
            <a:extLst>
              <a:ext uri="{FF2B5EF4-FFF2-40B4-BE49-F238E27FC236}">
                <a16:creationId xmlns:a16="http://schemas.microsoft.com/office/drawing/2014/main" id="{54BCB30D-5BF0-4CF4-A2BB-CA5F34CADBB6}"/>
              </a:ext>
            </a:extLst>
          </p:cNvPr>
          <p:cNvSpPr txBox="1"/>
          <p:nvPr/>
        </p:nvSpPr>
        <p:spPr>
          <a:xfrm>
            <a:off x="635000" y="2705100"/>
            <a:ext cx="3302000" cy="1524000"/>
          </a:xfrm>
          <a:prstGeom prst="rect">
            <a:avLst/>
          </a:prstGeom>
          <a:noFill/>
        </p:spPr>
        <p:txBody>
          <a:bodyPr vertOverflow="overflow" vert="horz" wrap="square" rtlCol="0" anchor="t">
            <a:spAutoFit/>
          </a:bodyPr>
          <a:lstStyle/>
          <a:p>
            <a:pPr algn="l"/>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指標定義確定
</a:t>
            </a:r>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閲覧権限整理
</a:t>
            </a:r>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モニタリング会議体設定
</a:t>
            </a:r>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利用禁止事項の明文化</a:t>
            </a:r>
          </a:p>
        </p:txBody>
      </p:sp>
      <p:sp>
        <p:nvSpPr>
          <p:cNvPr id="7" name="矢印: 右 6">
            <a:extLst>
              <a:ext uri="{FF2B5EF4-FFF2-40B4-BE49-F238E27FC236}">
                <a16:creationId xmlns:a16="http://schemas.microsoft.com/office/drawing/2014/main" id="{B5ED1EFE-8498-42CD-AF91-44C8770C3A0C}"/>
              </a:ext>
            </a:extLst>
          </p:cNvPr>
          <p:cNvSpPr/>
          <p:nvPr/>
        </p:nvSpPr>
        <p:spPr>
          <a:xfrm>
            <a:off x="4140200" y="1917700"/>
            <a:ext cx="177800" cy="203200"/>
          </a:xfrm>
          <a:prstGeom prst="rightArrow">
            <a:avLst/>
          </a:prstGeom>
          <a:solidFill>
            <a:srgbClr val="D4C5B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8" name="四角形: 角を丸くする 7">
            <a:extLst>
              <a:ext uri="{FF2B5EF4-FFF2-40B4-BE49-F238E27FC236}">
                <a16:creationId xmlns:a16="http://schemas.microsoft.com/office/drawing/2014/main" id="{B87A8F15-397E-41F9-8B96-98603787AFBE}"/>
              </a:ext>
            </a:extLst>
          </p:cNvPr>
          <p:cNvSpPr/>
          <p:nvPr/>
        </p:nvSpPr>
        <p:spPr>
          <a:xfrm>
            <a:off x="4318000" y="1765300"/>
            <a:ext cx="3556000" cy="457200"/>
          </a:xfrm>
          <a:prstGeom prst="roundRect">
            <a:avLst/>
          </a:prstGeom>
          <a:solidFill>
            <a:srgbClr val="A0522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500" b="1">
                <a:solidFill>
                  <a:srgbClr val="FFFFFF"/>
                </a:solidFill>
                <a:latin typeface="BIZ UDPGothic"/>
                <a:ea typeface="BIZ UDPGothic"/>
              </a:rPr>
              <a:t>フェーズ</a:t>
            </a:r>
            <a:r>
              <a:rPr lang="en-US" altLang="ja-JP" sz="1500" b="1">
                <a:solidFill>
                  <a:srgbClr val="FFFFFF"/>
                </a:solidFill>
                <a:latin typeface="BIZ UDPGothic"/>
                <a:ea typeface="BIZ UDPGothic"/>
              </a:rPr>
              <a:t>B</a:t>
            </a:r>
            <a:r>
              <a:rPr lang="ja-JP" altLang="en-US" sz="1500" b="1">
                <a:solidFill>
                  <a:srgbClr val="FFFFFF"/>
                </a:solidFill>
                <a:latin typeface="BIZ UDPGothic"/>
                <a:ea typeface="BIZ UDPGothic"/>
              </a:rPr>
              <a:t>：限定運用</a:t>
            </a:r>
          </a:p>
        </p:txBody>
      </p:sp>
      <p:sp>
        <p:nvSpPr>
          <p:cNvPr id="9" name="四角形: 角を丸くする 8">
            <a:extLst>
              <a:ext uri="{FF2B5EF4-FFF2-40B4-BE49-F238E27FC236}">
                <a16:creationId xmlns:a16="http://schemas.microsoft.com/office/drawing/2014/main" id="{842386AE-7A6B-4B0F-AEAF-A60DEB2A0F7E}"/>
              </a:ext>
            </a:extLst>
          </p:cNvPr>
          <p:cNvSpPr/>
          <p:nvPr/>
        </p:nvSpPr>
        <p:spPr>
          <a:xfrm>
            <a:off x="5334000" y="2298700"/>
            <a:ext cx="1524000" cy="3048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ja-JP" sz="1400" b="1">
                <a:solidFill>
                  <a:srgbClr val="A0522D"/>
                </a:solidFill>
                <a:latin typeface="BIZ UDPGothic"/>
                <a:ea typeface="BIZ UDPGothic"/>
              </a:rPr>
              <a:t>3</a:t>
            </a:r>
            <a:r>
              <a:rPr lang="ja-JP" altLang="en-US" sz="1400" b="1">
                <a:solidFill>
                  <a:srgbClr val="A0522D"/>
                </a:solidFill>
                <a:latin typeface="BIZ UDPGothic"/>
                <a:ea typeface="BIZ UDPGothic"/>
              </a:rPr>
              <a:t>か月</a:t>
            </a:r>
          </a:p>
        </p:txBody>
      </p:sp>
      <p:sp>
        <p:nvSpPr>
          <p:cNvPr id="10" name="テキスト ボックス 9">
            <a:extLst>
              <a:ext uri="{FF2B5EF4-FFF2-40B4-BE49-F238E27FC236}">
                <a16:creationId xmlns:a16="http://schemas.microsoft.com/office/drawing/2014/main" id="{7AEDB790-AD02-473B-93FD-A2FF9F68F27E}"/>
              </a:ext>
            </a:extLst>
          </p:cNvPr>
          <p:cNvSpPr txBox="1"/>
          <p:nvPr/>
        </p:nvSpPr>
        <p:spPr>
          <a:xfrm>
            <a:off x="4445000" y="2705100"/>
            <a:ext cx="3302000" cy="1524000"/>
          </a:xfrm>
          <a:prstGeom prst="rect">
            <a:avLst/>
          </a:prstGeom>
          <a:noFill/>
        </p:spPr>
        <p:txBody>
          <a:bodyPr vertOverflow="overflow" vert="horz" wrap="square" rtlCol="0" anchor="t">
            <a:spAutoFit/>
          </a:bodyPr>
          <a:lstStyle/>
          <a:p>
            <a:pPr algn="l"/>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部門・職種・勤続層単位で定期レビュー
</a:t>
            </a:r>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離職率、残業傾向、処遇関連、
  満足度関連を並列監視
</a:t>
            </a:r>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モデルスコアは参考値として記録</a:t>
            </a:r>
          </a:p>
        </p:txBody>
      </p:sp>
      <p:sp>
        <p:nvSpPr>
          <p:cNvPr id="11" name="矢印: 右 10">
            <a:extLst>
              <a:ext uri="{FF2B5EF4-FFF2-40B4-BE49-F238E27FC236}">
                <a16:creationId xmlns:a16="http://schemas.microsoft.com/office/drawing/2014/main" id="{465E970E-D1CE-485A-BC40-B0B40BBCEBE6}"/>
              </a:ext>
            </a:extLst>
          </p:cNvPr>
          <p:cNvSpPr/>
          <p:nvPr/>
        </p:nvSpPr>
        <p:spPr>
          <a:xfrm>
            <a:off x="7950200" y="1917700"/>
            <a:ext cx="177800" cy="203200"/>
          </a:xfrm>
          <a:prstGeom prst="rightArrow">
            <a:avLst/>
          </a:prstGeom>
          <a:solidFill>
            <a:srgbClr val="D4C5B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2" name="四角形: 角を丸くする 11">
            <a:extLst>
              <a:ext uri="{FF2B5EF4-FFF2-40B4-BE49-F238E27FC236}">
                <a16:creationId xmlns:a16="http://schemas.microsoft.com/office/drawing/2014/main" id="{90CCA68D-31C0-4559-AF89-69C0C492E260}"/>
              </a:ext>
            </a:extLst>
          </p:cNvPr>
          <p:cNvSpPr/>
          <p:nvPr/>
        </p:nvSpPr>
        <p:spPr>
          <a:xfrm>
            <a:off x="8128000" y="1765300"/>
            <a:ext cx="3556000" cy="457200"/>
          </a:xfrm>
          <a:prstGeom prst="roundRect">
            <a:avLst/>
          </a:prstGeom>
          <a:solidFill>
            <a:srgbClr val="4A4A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500" b="1">
                <a:solidFill>
                  <a:srgbClr val="FFFFFF"/>
                </a:solidFill>
                <a:latin typeface="BIZ UDPGothic"/>
                <a:ea typeface="BIZ UDPGothic"/>
              </a:rPr>
              <a:t>フェーズ</a:t>
            </a:r>
            <a:r>
              <a:rPr lang="en-US" altLang="ja-JP" sz="1500" b="1">
                <a:solidFill>
                  <a:srgbClr val="FFFFFF"/>
                </a:solidFill>
                <a:latin typeface="BIZ UDPGothic"/>
                <a:ea typeface="BIZ UDPGothic"/>
              </a:rPr>
              <a:t>C</a:t>
            </a:r>
            <a:r>
              <a:rPr lang="ja-JP" altLang="en-US" sz="1500" b="1">
                <a:solidFill>
                  <a:srgbClr val="FFFFFF"/>
                </a:solidFill>
                <a:latin typeface="BIZ UDPGothic"/>
                <a:ea typeface="BIZ UDPGothic"/>
              </a:rPr>
              <a:t>：効果検証設計</a:t>
            </a:r>
          </a:p>
        </p:txBody>
      </p:sp>
      <p:sp>
        <p:nvSpPr>
          <p:cNvPr id="13" name="四角形: 角を丸くする 12">
            <a:extLst>
              <a:ext uri="{FF2B5EF4-FFF2-40B4-BE49-F238E27FC236}">
                <a16:creationId xmlns:a16="http://schemas.microsoft.com/office/drawing/2014/main" id="{054307C8-7C96-4C6D-9F0F-005B01B6D361}"/>
              </a:ext>
            </a:extLst>
          </p:cNvPr>
          <p:cNvSpPr/>
          <p:nvPr/>
        </p:nvSpPr>
        <p:spPr>
          <a:xfrm>
            <a:off x="9144000" y="2298700"/>
            <a:ext cx="1524000" cy="3048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400" b="1">
                <a:solidFill>
                  <a:srgbClr val="4A4A4A"/>
                </a:solidFill>
                <a:latin typeface="BIZ UDPGothic"/>
                <a:ea typeface="BIZ UDPGothic"/>
              </a:rPr>
              <a:t>次期</a:t>
            </a:r>
          </a:p>
        </p:txBody>
      </p:sp>
      <p:sp>
        <p:nvSpPr>
          <p:cNvPr id="14" name="テキスト ボックス 13">
            <a:extLst>
              <a:ext uri="{FF2B5EF4-FFF2-40B4-BE49-F238E27FC236}">
                <a16:creationId xmlns:a16="http://schemas.microsoft.com/office/drawing/2014/main" id="{1C6CDDFE-8581-422D-A4FB-B046E0169A44}"/>
              </a:ext>
            </a:extLst>
          </p:cNvPr>
          <p:cNvSpPr txBox="1"/>
          <p:nvPr/>
        </p:nvSpPr>
        <p:spPr>
          <a:xfrm>
            <a:off x="8255000" y="2705100"/>
            <a:ext cx="3302000" cy="1524000"/>
          </a:xfrm>
          <a:prstGeom prst="rect">
            <a:avLst/>
          </a:prstGeom>
          <a:noFill/>
        </p:spPr>
        <p:txBody>
          <a:bodyPr vertOverflow="overflow" vert="horz" wrap="square" rtlCol="0" anchor="t">
            <a:spAutoFit/>
          </a:bodyPr>
          <a:lstStyle/>
          <a:p>
            <a:pPr algn="l"/>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実施施策との接続
</a:t>
            </a:r>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定着率変化の追跡
</a:t>
            </a:r>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追加データ取得要件整理</a:t>
            </a:r>
          </a:p>
        </p:txBody>
      </p:sp>
      <p:sp>
        <p:nvSpPr>
          <p:cNvPr id="15" name="テキスト ボックス 14">
            <a:extLst>
              <a:ext uri="{FF2B5EF4-FFF2-40B4-BE49-F238E27FC236}">
                <a16:creationId xmlns:a16="http://schemas.microsoft.com/office/drawing/2014/main" id="{3BCACAE8-AE92-4015-93C0-4F00C77C2960}"/>
              </a:ext>
            </a:extLst>
          </p:cNvPr>
          <p:cNvSpPr txBox="1"/>
          <p:nvPr/>
        </p:nvSpPr>
        <p:spPr>
          <a:xfrm>
            <a:off x="508000" y="4457700"/>
            <a:ext cx="11176000" cy="355600"/>
          </a:xfrm>
          <a:prstGeom prst="rect">
            <a:avLst/>
          </a:prstGeom>
          <a:noFill/>
        </p:spPr>
        <p:txBody>
          <a:bodyPr vertOverflow="overflow" vert="horz" wrap="square" rtlCol="0" anchor="t">
            <a:spAutoFit/>
          </a:bodyPr>
          <a:lstStyle/>
          <a:p>
            <a:pPr algn="l"/>
            <a:r>
              <a:rPr lang="ja-JP" altLang="en-US" sz="1600" b="1">
                <a:solidFill>
                  <a:srgbClr val="1A1A1A"/>
                </a:solidFill>
                <a:latin typeface="BIZ UDPGothic"/>
                <a:ea typeface="BIZ UDPGothic"/>
              </a:rPr>
              <a:t>推奨運用</a:t>
            </a:r>
            <a:r>
              <a:rPr lang="en-US" altLang="ja-JP" sz="1600" b="1">
                <a:solidFill>
                  <a:srgbClr val="1A1A1A"/>
                </a:solidFill>
                <a:latin typeface="BIZ UDPGothic"/>
                <a:ea typeface="BIZ UDPGothic"/>
              </a:rPr>
              <a:t>KPI</a:t>
            </a:r>
            <a:endParaRPr lang="ja-JP" altLang="en-US" sz="1600" b="1">
              <a:solidFill>
                <a:srgbClr val="1A1A1A"/>
              </a:solidFill>
              <a:latin typeface="BIZ UDPGothic"/>
              <a:ea typeface="BIZ UDPGothic"/>
            </a:endParaRPr>
          </a:p>
        </p:txBody>
      </p:sp>
      <p:sp>
        <p:nvSpPr>
          <p:cNvPr id="16" name="正方形/長方形 15">
            <a:extLst>
              <a:ext uri="{FF2B5EF4-FFF2-40B4-BE49-F238E27FC236}">
                <a16:creationId xmlns:a16="http://schemas.microsoft.com/office/drawing/2014/main" id="{7F768A31-092B-4F59-9B79-44FA4438B866}"/>
              </a:ext>
            </a:extLst>
          </p:cNvPr>
          <p:cNvSpPr/>
          <p:nvPr/>
        </p:nvSpPr>
        <p:spPr>
          <a:xfrm>
            <a:off x="508000" y="4813300"/>
            <a:ext cx="11176000" cy="25400"/>
          </a:xfrm>
          <a:prstGeom prst="rect">
            <a:avLst/>
          </a:prstGeom>
          <a:solidFill>
            <a:srgbClr val="D4C5B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四角形: 角を丸くする 16">
            <a:extLst>
              <a:ext uri="{FF2B5EF4-FFF2-40B4-BE49-F238E27FC236}">
                <a16:creationId xmlns:a16="http://schemas.microsoft.com/office/drawing/2014/main" id="{83B308F2-36EF-4F6E-9E22-CBE4C21C3CCE}"/>
              </a:ext>
            </a:extLst>
          </p:cNvPr>
          <p:cNvSpPr/>
          <p:nvPr/>
        </p:nvSpPr>
        <p:spPr>
          <a:xfrm>
            <a:off x="508000" y="4940300"/>
            <a:ext cx="3556000" cy="6096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zh-TW" altLang="en-US" sz="1400">
                <a:solidFill>
                  <a:srgbClr val="3D3D3D"/>
                </a:solidFill>
                <a:latin typeface="BIZ UDPGothic"/>
                <a:ea typeface="BIZ UDPGothic"/>
              </a:rPr>
              <a:t>部門別離職率</a:t>
            </a:r>
            <a:endParaRPr lang="ja-JP" altLang="en-US" sz="1400">
              <a:solidFill>
                <a:srgbClr val="3D3D3D"/>
              </a:solidFill>
              <a:latin typeface="BIZ UDPGothic"/>
              <a:ea typeface="BIZ UDPGothic"/>
            </a:endParaRPr>
          </a:p>
        </p:txBody>
      </p:sp>
      <p:sp>
        <p:nvSpPr>
          <p:cNvPr id="18" name="四角形: 角を丸くする 17">
            <a:extLst>
              <a:ext uri="{FF2B5EF4-FFF2-40B4-BE49-F238E27FC236}">
                <a16:creationId xmlns:a16="http://schemas.microsoft.com/office/drawing/2014/main" id="{9C659DE5-5979-4E6E-B9EA-0EC3A2798C42}"/>
              </a:ext>
            </a:extLst>
          </p:cNvPr>
          <p:cNvSpPr/>
          <p:nvPr/>
        </p:nvSpPr>
        <p:spPr>
          <a:xfrm>
            <a:off x="4318000" y="4940300"/>
            <a:ext cx="3556000" cy="6096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zh-TW" altLang="en-US" sz="1400">
                <a:solidFill>
                  <a:srgbClr val="3D3D3D"/>
                </a:solidFill>
                <a:latin typeface="BIZ UDPGothic"/>
                <a:ea typeface="BIZ UDPGothic"/>
              </a:rPr>
              <a:t>勤続層別離職率</a:t>
            </a:r>
            <a:endParaRPr lang="ja-JP" altLang="en-US" sz="1400">
              <a:solidFill>
                <a:srgbClr val="3D3D3D"/>
              </a:solidFill>
              <a:latin typeface="BIZ UDPGothic"/>
              <a:ea typeface="BIZ UDPGothic"/>
            </a:endParaRPr>
          </a:p>
        </p:txBody>
      </p:sp>
      <p:sp>
        <p:nvSpPr>
          <p:cNvPr id="19" name="四角形: 角を丸くする 18">
            <a:extLst>
              <a:ext uri="{FF2B5EF4-FFF2-40B4-BE49-F238E27FC236}">
                <a16:creationId xmlns:a16="http://schemas.microsoft.com/office/drawing/2014/main" id="{72CD94E8-6365-445B-9090-DC2C324707F5}"/>
              </a:ext>
            </a:extLst>
          </p:cNvPr>
          <p:cNvSpPr/>
          <p:nvPr/>
        </p:nvSpPr>
        <p:spPr>
          <a:xfrm>
            <a:off x="8128000" y="4940300"/>
            <a:ext cx="3556000" cy="6096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zh-TW" altLang="en-US" sz="1400">
                <a:solidFill>
                  <a:srgbClr val="3D3D3D"/>
                </a:solidFill>
                <a:latin typeface="BIZ UDPGothic"/>
                <a:ea typeface="BIZ UDPGothic"/>
              </a:rPr>
              <a:t>残業関連分布</a:t>
            </a:r>
            <a:endParaRPr lang="ja-JP" altLang="en-US" sz="1400">
              <a:solidFill>
                <a:srgbClr val="3D3D3D"/>
              </a:solidFill>
              <a:latin typeface="BIZ UDPGothic"/>
              <a:ea typeface="BIZ UDPGothic"/>
            </a:endParaRPr>
          </a:p>
        </p:txBody>
      </p:sp>
      <p:sp>
        <p:nvSpPr>
          <p:cNvPr id="20" name="四角形: 角を丸くする 19">
            <a:extLst>
              <a:ext uri="{FF2B5EF4-FFF2-40B4-BE49-F238E27FC236}">
                <a16:creationId xmlns:a16="http://schemas.microsoft.com/office/drawing/2014/main" id="{19589ACE-8912-4C2F-82C4-20BBC2E1ECD2}"/>
              </a:ext>
            </a:extLst>
          </p:cNvPr>
          <p:cNvSpPr/>
          <p:nvPr/>
        </p:nvSpPr>
        <p:spPr>
          <a:xfrm>
            <a:off x="508000" y="5651500"/>
            <a:ext cx="3556000" cy="6096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zh-TW" altLang="en-US" sz="1400">
                <a:solidFill>
                  <a:srgbClr val="3D3D3D"/>
                </a:solidFill>
                <a:latin typeface="BIZ UDPGothic"/>
                <a:ea typeface="BIZ UDPGothic"/>
              </a:rPr>
              <a:t>昇進停滞層比率</a:t>
            </a:r>
            <a:endParaRPr lang="ja-JP" altLang="en-US" sz="1400">
              <a:solidFill>
                <a:srgbClr val="3D3D3D"/>
              </a:solidFill>
              <a:latin typeface="BIZ UDPGothic"/>
              <a:ea typeface="BIZ UDPGothic"/>
            </a:endParaRPr>
          </a:p>
        </p:txBody>
      </p:sp>
      <p:sp>
        <p:nvSpPr>
          <p:cNvPr id="21" name="四角形: 角を丸くする 20">
            <a:extLst>
              <a:ext uri="{FF2B5EF4-FFF2-40B4-BE49-F238E27FC236}">
                <a16:creationId xmlns:a16="http://schemas.microsoft.com/office/drawing/2014/main" id="{89A7AE5B-6C68-4BB4-AE09-225353311333}"/>
              </a:ext>
            </a:extLst>
          </p:cNvPr>
          <p:cNvSpPr/>
          <p:nvPr/>
        </p:nvSpPr>
        <p:spPr>
          <a:xfrm>
            <a:off x="4318000" y="5651500"/>
            <a:ext cx="3556000" cy="6096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400">
                <a:solidFill>
                  <a:srgbClr val="3D3D3D"/>
                </a:solidFill>
                <a:latin typeface="BIZ UDPGothic"/>
                <a:ea typeface="BIZ UDPGothic"/>
              </a:rPr>
              <a:t>施策対象セグメント別
フォロー実施率</a:t>
            </a:r>
          </a:p>
        </p:txBody>
      </p:sp>
      <p:sp>
        <p:nvSpPr>
          <p:cNvPr id="22" name="四角形: 角を丸くする 21">
            <a:extLst>
              <a:ext uri="{FF2B5EF4-FFF2-40B4-BE49-F238E27FC236}">
                <a16:creationId xmlns:a16="http://schemas.microsoft.com/office/drawing/2014/main" id="{885C3AD2-A612-472B-A9BF-C7C99214BFB5}"/>
              </a:ext>
            </a:extLst>
          </p:cNvPr>
          <p:cNvSpPr/>
          <p:nvPr/>
        </p:nvSpPr>
        <p:spPr>
          <a:xfrm>
            <a:off x="8128000" y="5651500"/>
            <a:ext cx="3556000" cy="6096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400">
                <a:solidFill>
                  <a:srgbClr val="3D3D3D"/>
                </a:solidFill>
                <a:latin typeface="BIZ UDPGothic"/>
                <a:ea typeface="BIZ UDPGothic"/>
              </a:rPr>
              <a:t>四半期ごとの高リスク
セグメント変動</a:t>
            </a:r>
          </a:p>
        </p:txBody>
      </p:sp>
      <p:sp>
        <p:nvSpPr>
          <p:cNvPr id="23" name="テキスト ボックス 22">
            <a:extLst>
              <a:ext uri="{FF2B5EF4-FFF2-40B4-BE49-F238E27FC236}">
                <a16:creationId xmlns:a16="http://schemas.microsoft.com/office/drawing/2014/main" id="{98BD6855-6CBF-475A-994E-1B4322826334}"/>
              </a:ext>
            </a:extLst>
          </p:cNvPr>
          <p:cNvSpPr txBox="1"/>
          <p:nvPr/>
        </p:nvSpPr>
        <p:spPr>
          <a:xfrm>
            <a:off x="508000" y="254000"/>
            <a:ext cx="11176000" cy="508000"/>
          </a:xfrm>
          <a:prstGeom prst="rect">
            <a:avLst/>
          </a:prstGeom>
          <a:noFill/>
        </p:spPr>
        <p:txBody>
          <a:bodyPr vertOverflow="overflow" vert="horz" wrap="square" rtlCol="0" anchor="t">
            <a:noAutofit/>
          </a:bodyPr>
          <a:lstStyle/>
          <a:p>
            <a:pPr algn="l"/>
            <a:r>
              <a:rPr lang="en-US" altLang="ja-JP" sz="2400" b="1">
                <a:solidFill>
                  <a:srgbClr val="1A1A1A"/>
                </a:solidFill>
                <a:latin typeface="BIZ UDPGothic"/>
                <a:ea typeface="BIZ UDPGothic"/>
              </a:rPr>
              <a:t>6. </a:t>
            </a:r>
            <a:r>
              <a:rPr lang="ja-JP" altLang="en-US" sz="2400" b="1">
                <a:solidFill>
                  <a:srgbClr val="1A1A1A"/>
                </a:solidFill>
                <a:latin typeface="BIZ UDPGothic"/>
                <a:ea typeface="BIZ UDPGothic"/>
              </a:rPr>
              <a:t>実装・運用計画</a:t>
            </a:r>
          </a:p>
        </p:txBody>
      </p:sp>
      <p:sp>
        <p:nvSpPr>
          <p:cNvPr id="24" name="正方形/長方形 23">
            <a:extLst>
              <a:ext uri="{FF2B5EF4-FFF2-40B4-BE49-F238E27FC236}">
                <a16:creationId xmlns:a16="http://schemas.microsoft.com/office/drawing/2014/main" id="{E9183D72-583A-4548-BC68-B5C9777F4891}"/>
              </a:ext>
            </a:extLst>
          </p:cNvPr>
          <p:cNvSpPr/>
          <p:nvPr/>
        </p:nvSpPr>
        <p:spPr>
          <a:xfrm>
            <a:off x="508000" y="787400"/>
            <a:ext cx="1270000" cy="38100"/>
          </a:xfrm>
          <a:prstGeom prst="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Tree>
    <p:extLst>
      <p:ext uri="{BB962C8B-B14F-4D97-AF65-F5344CB8AC3E}">
        <p14:creationId xmlns:p14="http://schemas.microsoft.com/office/powerpoint/2010/main" val="1112969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76B1FB55-3BEA-455E-B96A-7A0D73177543}"/>
              </a:ext>
            </a:extLst>
          </p:cNvPr>
          <p:cNvGraphicFramePr>
            <a:graphicFrameLocks noGrp="1"/>
          </p:cNvGraphicFramePr>
          <p:nvPr>
            <p:extLst>
              <p:ext uri="{D42A27DB-BD31-4B8C-83A1-F6EECF244321}">
                <p14:modId xmlns:p14="http://schemas.microsoft.com/office/powerpoint/2010/main" val="3965656474"/>
              </p:ext>
            </p:extLst>
          </p:nvPr>
        </p:nvGraphicFramePr>
        <p:xfrm>
          <a:off x="508000" y="1460500"/>
          <a:ext cx="11176000" cy="2667000"/>
        </p:xfrm>
        <a:graphic>
          <a:graphicData uri="http://schemas.openxmlformats.org/drawingml/2006/table">
            <a:tbl>
              <a:tblPr firstRow="1" bandRow="1">
                <a:tableStyleId>{5C22544A-7EE6-4342-B048-85BDC9FD1C3A}</a:tableStyleId>
              </a:tblPr>
              <a:tblGrid>
                <a:gridCol w="2540000">
                  <a:extLst>
                    <a:ext uri="{9D8B030D-6E8A-4147-A177-3AD203B41FA5}">
                      <a16:colId xmlns:a16="http://schemas.microsoft.com/office/drawing/2014/main" val="4177215542"/>
                    </a:ext>
                  </a:extLst>
                </a:gridCol>
                <a:gridCol w="4064000">
                  <a:extLst>
                    <a:ext uri="{9D8B030D-6E8A-4147-A177-3AD203B41FA5}">
                      <a16:colId xmlns:a16="http://schemas.microsoft.com/office/drawing/2014/main" val="2527930742"/>
                    </a:ext>
                  </a:extLst>
                </a:gridCol>
                <a:gridCol w="4572000">
                  <a:extLst>
                    <a:ext uri="{9D8B030D-6E8A-4147-A177-3AD203B41FA5}">
                      <a16:colId xmlns:a16="http://schemas.microsoft.com/office/drawing/2014/main" val="1166329834"/>
                    </a:ext>
                  </a:extLst>
                </a:gridCol>
              </a:tblGrid>
              <a:tr h="444500">
                <a:tc>
                  <a:txBody>
                    <a:bodyPr/>
                    <a:lstStyle/>
                    <a:p>
                      <a:pPr algn="ctr"/>
                      <a:r>
                        <a:rPr lang="ja-JP" altLang="en-US" sz="1400" b="1">
                          <a:solidFill>
                            <a:srgbClr val="FFFFFF"/>
                          </a:solidFill>
                          <a:latin typeface="BIZ UDPGothic"/>
                          <a:ea typeface="BIZ UDPGothic"/>
                        </a:rPr>
                        <a:t>役割</a:t>
                      </a:r>
                    </a:p>
                  </a:txBody>
                  <a:tcPr anchor="ctr">
                    <a:solidFill>
                      <a:srgbClr val="8B3A2F"/>
                    </a:solidFill>
                  </a:tcPr>
                </a:tc>
                <a:tc>
                  <a:txBody>
                    <a:bodyPr/>
                    <a:lstStyle/>
                    <a:p>
                      <a:pPr algn="ctr"/>
                      <a:r>
                        <a:rPr lang="ja-JP" altLang="en-US" sz="1400" b="1">
                          <a:solidFill>
                            <a:srgbClr val="FFFFFF"/>
                          </a:solidFill>
                          <a:latin typeface="BIZ UDPGothic"/>
                          <a:ea typeface="BIZ UDPGothic"/>
                        </a:rPr>
                        <a:t>主体</a:t>
                      </a:r>
                    </a:p>
                  </a:txBody>
                  <a:tcPr anchor="ctr">
                    <a:solidFill>
                      <a:srgbClr val="8B3A2F"/>
                    </a:solidFill>
                  </a:tcPr>
                </a:tc>
                <a:tc>
                  <a:txBody>
                    <a:bodyPr/>
                    <a:lstStyle/>
                    <a:p>
                      <a:pPr algn="ctr"/>
                      <a:r>
                        <a:rPr lang="ja-JP" altLang="en-US" sz="1400" b="1">
                          <a:solidFill>
                            <a:srgbClr val="FFFFFF"/>
                          </a:solidFill>
                          <a:latin typeface="BIZ UDPGothic"/>
                          <a:ea typeface="BIZ UDPGothic"/>
                        </a:rPr>
                        <a:t>推奨責任</a:t>
                      </a:r>
                    </a:p>
                  </a:txBody>
                  <a:tcPr anchor="ctr">
                    <a:solidFill>
                      <a:srgbClr val="8B3A2F"/>
                    </a:solidFill>
                  </a:tcPr>
                </a:tc>
                <a:extLst>
                  <a:ext uri="{0D108BD9-81ED-4DB2-BD59-A6C34878D82A}">
                    <a16:rowId xmlns:a16="http://schemas.microsoft.com/office/drawing/2014/main" val="902984003"/>
                  </a:ext>
                </a:extLst>
              </a:tr>
              <a:tr h="444500">
                <a:tc>
                  <a:txBody>
                    <a:bodyPr/>
                    <a:lstStyle/>
                    <a:p>
                      <a:pPr algn="l"/>
                      <a:r>
                        <a:rPr lang="ja-JP" altLang="en-US" sz="1400">
                          <a:solidFill>
                            <a:srgbClr val="3D3D3D"/>
                          </a:solidFill>
                          <a:latin typeface="BIZ UDPGothic"/>
                          <a:ea typeface="BIZ UDPGothic"/>
                        </a:rPr>
                        <a:t>指標オーナー</a:t>
                      </a:r>
                    </a:p>
                  </a:txBody>
                  <a:tcPr anchor="ctr"/>
                </a:tc>
                <a:tc>
                  <a:txBody>
                    <a:bodyPr/>
                    <a:lstStyle/>
                    <a:p>
                      <a:pPr algn="ctr"/>
                      <a:r>
                        <a:rPr lang="ja-JP" altLang="en-US" sz="1400">
                          <a:solidFill>
                            <a:srgbClr val="3D3D3D"/>
                          </a:solidFill>
                          <a:latin typeface="BIZ UDPGothic"/>
                          <a:ea typeface="BIZ UDPGothic"/>
                        </a:rPr>
                        <a:t>人材戦略部</a:t>
                      </a:r>
                    </a:p>
                  </a:txBody>
                  <a:tcPr anchor="ctr"/>
                </a:tc>
                <a:tc>
                  <a:txBody>
                    <a:bodyPr/>
                    <a:lstStyle/>
                    <a:p>
                      <a:pPr algn="ctr"/>
                      <a:r>
                        <a:rPr lang="ja-JP" altLang="en-US" sz="1400">
                          <a:solidFill>
                            <a:srgbClr val="3D3D3D"/>
                          </a:solidFill>
                          <a:latin typeface="BIZ UDPGothic"/>
                          <a:ea typeface="BIZ UDPGothic"/>
                        </a:rPr>
                        <a:t>指標定義・レビュー運営</a:t>
                      </a:r>
                    </a:p>
                  </a:txBody>
                  <a:tcPr anchor="ctr"/>
                </a:tc>
                <a:extLst>
                  <a:ext uri="{0D108BD9-81ED-4DB2-BD59-A6C34878D82A}">
                    <a16:rowId xmlns:a16="http://schemas.microsoft.com/office/drawing/2014/main" val="1145621895"/>
                  </a:ext>
                </a:extLst>
              </a:tr>
              <a:tr h="444500">
                <a:tc>
                  <a:txBody>
                    <a:bodyPr/>
                    <a:lstStyle/>
                    <a:p>
                      <a:pPr algn="l"/>
                      <a:r>
                        <a:rPr lang="ja-JP" altLang="en-US" sz="1400">
                          <a:solidFill>
                            <a:srgbClr val="3D3D3D"/>
                          </a:solidFill>
                          <a:latin typeface="BIZ UDPGothic"/>
                          <a:ea typeface="BIZ UDPGothic"/>
                        </a:rPr>
                        <a:t>業務解釈責任</a:t>
                      </a:r>
                    </a:p>
                  </a:txBody>
                  <a:tcPr anchor="ctr">
                    <a:solidFill>
                      <a:srgbClr val="F2F0ED"/>
                    </a:solidFill>
                  </a:tcPr>
                </a:tc>
                <a:tc>
                  <a:txBody>
                    <a:bodyPr/>
                    <a:lstStyle/>
                    <a:p>
                      <a:pPr algn="ctr"/>
                      <a:r>
                        <a:rPr lang="ja-JP" altLang="en-US" sz="1400">
                          <a:solidFill>
                            <a:srgbClr val="3D3D3D"/>
                          </a:solidFill>
                          <a:latin typeface="BIZ UDPGothic"/>
                          <a:ea typeface="BIZ UDPGothic"/>
                        </a:rPr>
                        <a:t>人材戦略部 + HRBP</a:t>
                      </a:r>
                    </a:p>
                  </a:txBody>
                  <a:tcPr anchor="ctr">
                    <a:solidFill>
                      <a:srgbClr val="F2F0ED"/>
                    </a:solidFill>
                  </a:tcPr>
                </a:tc>
                <a:tc>
                  <a:txBody>
                    <a:bodyPr/>
                    <a:lstStyle/>
                    <a:p>
                      <a:pPr algn="ctr"/>
                      <a:r>
                        <a:rPr lang="ja-JP" altLang="en-US" sz="1400">
                          <a:solidFill>
                            <a:srgbClr val="3D3D3D"/>
                          </a:solidFill>
                          <a:latin typeface="BIZ UDPGothic"/>
                          <a:ea typeface="BIZ UDPGothic"/>
                        </a:rPr>
                        <a:t>示唆の業務判断</a:t>
                      </a:r>
                    </a:p>
                  </a:txBody>
                  <a:tcPr anchor="ctr">
                    <a:solidFill>
                      <a:srgbClr val="F2F0ED"/>
                    </a:solidFill>
                  </a:tcPr>
                </a:tc>
                <a:extLst>
                  <a:ext uri="{0D108BD9-81ED-4DB2-BD59-A6C34878D82A}">
                    <a16:rowId xmlns:a16="http://schemas.microsoft.com/office/drawing/2014/main" val="1442632322"/>
                  </a:ext>
                </a:extLst>
              </a:tr>
              <a:tr h="444500">
                <a:tc>
                  <a:txBody>
                    <a:bodyPr/>
                    <a:lstStyle/>
                    <a:p>
                      <a:pPr algn="l"/>
                      <a:r>
                        <a:rPr lang="ja-JP" altLang="en-US" sz="1400">
                          <a:solidFill>
                            <a:srgbClr val="3D3D3D"/>
                          </a:solidFill>
                          <a:latin typeface="BIZ UDPGothic"/>
                          <a:ea typeface="BIZ UDPGothic"/>
                        </a:rPr>
                        <a:t>データ更新管理</a:t>
                      </a:r>
                    </a:p>
                  </a:txBody>
                  <a:tcPr anchor="ctr"/>
                </a:tc>
                <a:tc>
                  <a:txBody>
                    <a:bodyPr/>
                    <a:lstStyle/>
                    <a:p>
                      <a:pPr algn="ctr"/>
                      <a:r>
                        <a:rPr lang="ja-JP" altLang="en-US" sz="1400">
                          <a:solidFill>
                            <a:srgbClr val="3D3D3D"/>
                          </a:solidFill>
                          <a:latin typeface="BIZ UDPGothic"/>
                          <a:ea typeface="BIZ UDPGothic"/>
                        </a:rPr>
                        <a:t>情報管理担当/分析担当</a:t>
                      </a:r>
                    </a:p>
                  </a:txBody>
                  <a:tcPr anchor="ctr"/>
                </a:tc>
                <a:tc>
                  <a:txBody>
                    <a:bodyPr/>
                    <a:lstStyle/>
                    <a:p>
                      <a:pPr algn="ctr"/>
                      <a:r>
                        <a:rPr lang="ja-JP" altLang="en-US" sz="1400">
                          <a:solidFill>
                            <a:srgbClr val="3D3D3D"/>
                          </a:solidFill>
                          <a:latin typeface="BIZ UDPGothic"/>
                          <a:ea typeface="BIZ UDPGothic"/>
                        </a:rPr>
                        <a:t>データ整備・品質確認</a:t>
                      </a:r>
                    </a:p>
                  </a:txBody>
                  <a:tcPr anchor="ctr"/>
                </a:tc>
                <a:extLst>
                  <a:ext uri="{0D108BD9-81ED-4DB2-BD59-A6C34878D82A}">
                    <a16:rowId xmlns:a16="http://schemas.microsoft.com/office/drawing/2014/main" val="1518682825"/>
                  </a:ext>
                </a:extLst>
              </a:tr>
              <a:tr h="444500">
                <a:tc>
                  <a:txBody>
                    <a:bodyPr/>
                    <a:lstStyle/>
                    <a:p>
                      <a:pPr algn="l"/>
                      <a:r>
                        <a:rPr lang="ja-JP" altLang="en-US" sz="1400">
                          <a:solidFill>
                            <a:srgbClr val="3D3D3D"/>
                          </a:solidFill>
                          <a:latin typeface="BIZ UDPGothic"/>
                          <a:ea typeface="BIZ UDPGothic"/>
                        </a:rPr>
                        <a:t>ガバナンス責任</a:t>
                      </a:r>
                    </a:p>
                  </a:txBody>
                  <a:tcPr anchor="ctr">
                    <a:solidFill>
                      <a:srgbClr val="F2F0ED"/>
                    </a:solidFill>
                  </a:tcPr>
                </a:tc>
                <a:tc>
                  <a:txBody>
                    <a:bodyPr/>
                    <a:lstStyle/>
                    <a:p>
                      <a:pPr algn="ctr"/>
                      <a:r>
                        <a:rPr lang="ja-JP" altLang="en-US" sz="1400">
                          <a:solidFill>
                            <a:srgbClr val="3D3D3D"/>
                          </a:solidFill>
                          <a:latin typeface="BIZ UDPGothic"/>
                          <a:ea typeface="BIZ UDPGothic"/>
                        </a:rPr>
                        <a:t>人事責任者</a:t>
                      </a:r>
                    </a:p>
                  </a:txBody>
                  <a:tcPr anchor="ctr">
                    <a:solidFill>
                      <a:srgbClr val="F2F0ED"/>
                    </a:solidFill>
                  </a:tcPr>
                </a:tc>
                <a:tc>
                  <a:txBody>
                    <a:bodyPr/>
                    <a:lstStyle/>
                    <a:p>
                      <a:pPr algn="ctr"/>
                      <a:r>
                        <a:rPr lang="ja-JP" altLang="en-US" sz="1400">
                          <a:solidFill>
                            <a:srgbClr val="3D3D3D"/>
                          </a:solidFill>
                          <a:latin typeface="BIZ UDPGothic"/>
                          <a:ea typeface="BIZ UDPGothic"/>
                        </a:rPr>
                        <a:t>利用制約遵守</a:t>
                      </a:r>
                    </a:p>
                  </a:txBody>
                  <a:tcPr anchor="ctr">
                    <a:solidFill>
                      <a:srgbClr val="F2F0ED"/>
                    </a:solidFill>
                  </a:tcPr>
                </a:tc>
                <a:extLst>
                  <a:ext uri="{0D108BD9-81ED-4DB2-BD59-A6C34878D82A}">
                    <a16:rowId xmlns:a16="http://schemas.microsoft.com/office/drawing/2014/main" val="1742579352"/>
                  </a:ext>
                </a:extLst>
              </a:tr>
              <a:tr h="444500">
                <a:tc>
                  <a:txBody>
                    <a:bodyPr/>
                    <a:lstStyle/>
                    <a:p>
                      <a:pPr algn="l"/>
                      <a:r>
                        <a:rPr lang="ja-JP" altLang="en-US" sz="1400">
                          <a:solidFill>
                            <a:srgbClr val="3D3D3D"/>
                          </a:solidFill>
                          <a:latin typeface="BIZ UDPGothic"/>
                          <a:ea typeface="BIZ UDPGothic"/>
                        </a:rPr>
                        <a:t>分析高度化支援</a:t>
                      </a:r>
                    </a:p>
                  </a:txBody>
                  <a:tcPr anchor="ctr"/>
                </a:tc>
                <a:tc>
                  <a:txBody>
                    <a:bodyPr/>
                    <a:lstStyle/>
                    <a:p>
                      <a:pPr algn="ctr"/>
                      <a:r>
                        <a:rPr lang="ja-JP" altLang="en-US" sz="1400">
                          <a:solidFill>
                            <a:srgbClr val="3D3D3D"/>
                          </a:solidFill>
                          <a:latin typeface="BIZ UDPGothic"/>
                          <a:ea typeface="BIZ UDPGothic"/>
                        </a:rPr>
                        <a:t>ベンダー</a:t>
                      </a:r>
                    </a:p>
                  </a:txBody>
                  <a:tcPr anchor="ctr"/>
                </a:tc>
                <a:tc>
                  <a:txBody>
                    <a:bodyPr/>
                    <a:lstStyle/>
                    <a:p>
                      <a:pPr algn="ctr"/>
                      <a:r>
                        <a:rPr lang="ja-JP" altLang="en-US" sz="1400">
                          <a:solidFill>
                            <a:srgbClr val="3D3D3D"/>
                          </a:solidFill>
                          <a:latin typeface="BIZ UDPGothic"/>
                          <a:ea typeface="BIZ UDPGothic"/>
                        </a:rPr>
                        <a:t>追加分析・改善提案</a:t>
                      </a:r>
                    </a:p>
                  </a:txBody>
                  <a:tcPr anchor="ctr"/>
                </a:tc>
                <a:extLst>
                  <a:ext uri="{0D108BD9-81ED-4DB2-BD59-A6C34878D82A}">
                    <a16:rowId xmlns:a16="http://schemas.microsoft.com/office/drawing/2014/main" val="745849586"/>
                  </a:ext>
                </a:extLst>
              </a:tr>
            </a:tbl>
          </a:graphicData>
        </a:graphic>
      </p:graphicFrame>
      <p:sp>
        <p:nvSpPr>
          <p:cNvPr id="5" name="テキスト ボックス 4">
            <a:extLst>
              <a:ext uri="{FF2B5EF4-FFF2-40B4-BE49-F238E27FC236}">
                <a16:creationId xmlns:a16="http://schemas.microsoft.com/office/drawing/2014/main" id="{FF37399C-AEB2-4A04-ADBC-337B5C690080}"/>
              </a:ext>
            </a:extLst>
          </p:cNvPr>
          <p:cNvSpPr txBox="1"/>
          <p:nvPr/>
        </p:nvSpPr>
        <p:spPr>
          <a:xfrm>
            <a:off x="508000" y="4381500"/>
            <a:ext cx="11176000" cy="355600"/>
          </a:xfrm>
          <a:prstGeom prst="rect">
            <a:avLst/>
          </a:prstGeom>
          <a:noFill/>
        </p:spPr>
        <p:txBody>
          <a:bodyPr vertOverflow="overflow" vert="horz" wrap="square" rtlCol="0" anchor="t">
            <a:spAutoFit/>
          </a:bodyPr>
          <a:lstStyle/>
          <a:p>
            <a:pPr algn="l"/>
            <a:r>
              <a:rPr lang="ja-JP" altLang="en-US" sz="1600" b="1">
                <a:solidFill>
                  <a:srgbClr val="1A1A1A"/>
                </a:solidFill>
                <a:latin typeface="BIZ UDPGothic"/>
                <a:ea typeface="BIZ UDPGothic"/>
              </a:rPr>
              <a:t>確認済み事項と仮説の整理</a:t>
            </a:r>
          </a:p>
        </p:txBody>
      </p:sp>
      <p:sp>
        <p:nvSpPr>
          <p:cNvPr id="6" name="正方形/長方形 5">
            <a:extLst>
              <a:ext uri="{FF2B5EF4-FFF2-40B4-BE49-F238E27FC236}">
                <a16:creationId xmlns:a16="http://schemas.microsoft.com/office/drawing/2014/main" id="{8B56CF76-D7B9-4A2F-9271-D1FC9F4106B9}"/>
              </a:ext>
            </a:extLst>
          </p:cNvPr>
          <p:cNvSpPr/>
          <p:nvPr/>
        </p:nvSpPr>
        <p:spPr>
          <a:xfrm>
            <a:off x="508000" y="4737100"/>
            <a:ext cx="11176000" cy="25400"/>
          </a:xfrm>
          <a:prstGeom prst="rect">
            <a:avLst/>
          </a:prstGeom>
          <a:solidFill>
            <a:srgbClr val="D4C5B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 name="四角形: 角を丸くする 6">
            <a:extLst>
              <a:ext uri="{FF2B5EF4-FFF2-40B4-BE49-F238E27FC236}">
                <a16:creationId xmlns:a16="http://schemas.microsoft.com/office/drawing/2014/main" id="{C44C76DF-B594-44BF-909A-DE78981A97A9}"/>
              </a:ext>
            </a:extLst>
          </p:cNvPr>
          <p:cNvSpPr/>
          <p:nvPr/>
        </p:nvSpPr>
        <p:spPr>
          <a:xfrm>
            <a:off x="508000" y="4838700"/>
            <a:ext cx="5334000" cy="304800"/>
          </a:xfrm>
          <a:prstGeom prst="roundRect">
            <a:avLst/>
          </a:prstGeom>
          <a:solidFill>
            <a:srgbClr val="4A4A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400" b="1">
                <a:solidFill>
                  <a:srgbClr val="FFFFFF"/>
                </a:solidFill>
                <a:latin typeface="BIZ UDPGothic"/>
                <a:ea typeface="BIZ UDPGothic"/>
              </a:rPr>
              <a:t>確認済み事項</a:t>
            </a:r>
          </a:p>
        </p:txBody>
      </p:sp>
      <p:sp>
        <p:nvSpPr>
          <p:cNvPr id="8" name="テキスト ボックス 7">
            <a:extLst>
              <a:ext uri="{FF2B5EF4-FFF2-40B4-BE49-F238E27FC236}">
                <a16:creationId xmlns:a16="http://schemas.microsoft.com/office/drawing/2014/main" id="{9B0CDFCE-2175-4141-96A7-A43935A28EF7}"/>
              </a:ext>
            </a:extLst>
          </p:cNvPr>
          <p:cNvSpPr txBox="1"/>
          <p:nvPr/>
        </p:nvSpPr>
        <p:spPr>
          <a:xfrm>
            <a:off x="635000" y="5219700"/>
            <a:ext cx="5080000" cy="965200"/>
          </a:xfrm>
          <a:prstGeom prst="rect">
            <a:avLst/>
          </a:prstGeom>
          <a:noFill/>
        </p:spPr>
        <p:txBody>
          <a:bodyPr vertOverflow="overflow" vert="horz" wrap="square" rtlCol="0" anchor="t">
            <a:spAutoFit/>
          </a:bodyPr>
          <a:lstStyle/>
          <a:p>
            <a:pPr algn="l"/>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欠損全列</a:t>
            </a:r>
            <a:r>
              <a:rPr lang="en-US" altLang="ja-JP" sz="1400">
                <a:solidFill>
                  <a:srgbClr val="3D3D3D"/>
                </a:solidFill>
                <a:latin typeface="BIZ UDPGothic"/>
                <a:ea typeface="BIZ UDPGothic"/>
              </a:rPr>
              <a:t>0</a:t>
            </a:r>
            <a:r>
              <a:rPr lang="ja-JP" altLang="en-US" sz="1400">
                <a:solidFill>
                  <a:srgbClr val="3D3D3D"/>
                </a:solidFill>
                <a:latin typeface="BIZ UDPGothic"/>
                <a:ea typeface="BIZ UDPGothic"/>
              </a:rPr>
              <a:t>件、定数列</a:t>
            </a:r>
            <a:r>
              <a:rPr lang="en-US" altLang="ja-JP" sz="1400">
                <a:solidFill>
                  <a:srgbClr val="3D3D3D"/>
                </a:solidFill>
                <a:latin typeface="BIZ UDPGothic"/>
                <a:ea typeface="BIZ UDPGothic"/>
              </a:rPr>
              <a:t>2</a:t>
            </a:r>
            <a:r>
              <a:rPr lang="ja-JP" altLang="en-US" sz="1400">
                <a:solidFill>
                  <a:srgbClr val="3D3D3D"/>
                </a:solidFill>
                <a:latin typeface="BIZ UDPGothic"/>
                <a:ea typeface="BIZ UDPGothic"/>
              </a:rPr>
              <a:t>件、</a:t>
            </a:r>
            <a:r>
              <a:rPr lang="en-US" altLang="ja-JP" sz="1400">
                <a:solidFill>
                  <a:srgbClr val="3D3D3D"/>
                </a:solidFill>
                <a:latin typeface="BIZ UDPGothic"/>
                <a:ea typeface="BIZ UDPGothic"/>
              </a:rPr>
              <a:t>id</a:t>
            </a:r>
            <a:r>
              <a:rPr lang="ja-JP" altLang="en-US" sz="1400">
                <a:solidFill>
                  <a:srgbClr val="3D3D3D"/>
                </a:solidFill>
                <a:latin typeface="BIZ UDPGothic"/>
                <a:ea typeface="BIZ UDPGothic"/>
              </a:rPr>
              <a:t>除外
</a:t>
            </a:r>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離職関連論点として複数の人事変数群を抽出
</a:t>
            </a:r>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初期モデルで一定の分類性能を確認</a:t>
            </a:r>
          </a:p>
        </p:txBody>
      </p:sp>
      <p:sp>
        <p:nvSpPr>
          <p:cNvPr id="9" name="四角形: 角を丸くする 8">
            <a:extLst>
              <a:ext uri="{FF2B5EF4-FFF2-40B4-BE49-F238E27FC236}">
                <a16:creationId xmlns:a16="http://schemas.microsoft.com/office/drawing/2014/main" id="{707F16E5-174F-4164-B530-DC1C584D68F2}"/>
              </a:ext>
            </a:extLst>
          </p:cNvPr>
          <p:cNvSpPr/>
          <p:nvPr/>
        </p:nvSpPr>
        <p:spPr>
          <a:xfrm>
            <a:off x="6350000" y="4838700"/>
            <a:ext cx="5334000" cy="304800"/>
          </a:xfrm>
          <a:prstGeom prst="roundRect">
            <a:avLst/>
          </a:prstGeom>
          <a:solidFill>
            <a:srgbClr val="A0522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zh-TW" altLang="en-US" sz="1400" b="1">
                <a:solidFill>
                  <a:srgbClr val="FFFFFF"/>
                </a:solidFill>
                <a:latin typeface="BIZ UDPGothic"/>
                <a:ea typeface="BIZ UDPGothic"/>
              </a:rPr>
              <a:t>仮説（要追加検証）</a:t>
            </a:r>
            <a:endParaRPr lang="ja-JP" altLang="en-US" sz="1400" b="1">
              <a:solidFill>
                <a:srgbClr val="FFFFFF"/>
              </a:solidFill>
              <a:latin typeface="BIZ UDPGothic"/>
              <a:ea typeface="BIZ UDPGothic"/>
            </a:endParaRPr>
          </a:p>
        </p:txBody>
      </p:sp>
      <p:sp>
        <p:nvSpPr>
          <p:cNvPr id="10" name="テキスト ボックス 9">
            <a:extLst>
              <a:ext uri="{FF2B5EF4-FFF2-40B4-BE49-F238E27FC236}">
                <a16:creationId xmlns:a16="http://schemas.microsoft.com/office/drawing/2014/main" id="{71325567-ACF6-487C-BD0C-868E6FE3E451}"/>
              </a:ext>
            </a:extLst>
          </p:cNvPr>
          <p:cNvSpPr txBox="1"/>
          <p:nvPr/>
        </p:nvSpPr>
        <p:spPr>
          <a:xfrm>
            <a:off x="6477000" y="5219700"/>
            <a:ext cx="5080000" cy="965200"/>
          </a:xfrm>
          <a:prstGeom prst="rect">
            <a:avLst/>
          </a:prstGeom>
          <a:noFill/>
        </p:spPr>
        <p:txBody>
          <a:bodyPr vertOverflow="overflow" vert="horz" wrap="square" rtlCol="0" anchor="t">
            <a:spAutoFit/>
          </a:bodyPr>
          <a:lstStyle/>
          <a:p>
            <a:pPr algn="l"/>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残業・報酬・勤続停滞・職務ミスマッチの組合せ
  が高リスク層形成に寄与する可能性
</a:t>
            </a:r>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部門・職種ごとに有効施策が異なる可能性
</a:t>
            </a:r>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満足度改善だけでなく複合施策が必要な可能性</a:t>
            </a:r>
          </a:p>
        </p:txBody>
      </p:sp>
      <p:sp>
        <p:nvSpPr>
          <p:cNvPr id="11" name="テキスト ボックス 10">
            <a:extLst>
              <a:ext uri="{FF2B5EF4-FFF2-40B4-BE49-F238E27FC236}">
                <a16:creationId xmlns:a16="http://schemas.microsoft.com/office/drawing/2014/main" id="{8C6CF3A8-2C27-42D3-9C48-F2199ACA4414}"/>
              </a:ext>
            </a:extLst>
          </p:cNvPr>
          <p:cNvSpPr txBox="1"/>
          <p:nvPr/>
        </p:nvSpPr>
        <p:spPr>
          <a:xfrm>
            <a:off x="508000" y="254000"/>
            <a:ext cx="11176000" cy="508000"/>
          </a:xfrm>
          <a:prstGeom prst="rect">
            <a:avLst/>
          </a:prstGeom>
          <a:noFill/>
        </p:spPr>
        <p:txBody>
          <a:bodyPr vertOverflow="overflow" vert="horz" wrap="square" rtlCol="0" anchor="t">
            <a:noAutofit/>
          </a:bodyPr>
          <a:lstStyle/>
          <a:p>
            <a:pPr algn="l"/>
            <a:r>
              <a:rPr lang="en-US" altLang="ja-JP" sz="2400" b="1">
                <a:solidFill>
                  <a:srgbClr val="1A1A1A"/>
                </a:solidFill>
                <a:latin typeface="BIZ UDPGothic"/>
                <a:ea typeface="BIZ UDPGothic"/>
              </a:rPr>
              <a:t>6. </a:t>
            </a:r>
            <a:r>
              <a:rPr lang="ja-JP" altLang="en-US" sz="2400" b="1">
                <a:solidFill>
                  <a:srgbClr val="1A1A1A"/>
                </a:solidFill>
                <a:latin typeface="BIZ UDPGothic"/>
                <a:ea typeface="BIZ UDPGothic"/>
              </a:rPr>
              <a:t>役割分担</a:t>
            </a:r>
          </a:p>
        </p:txBody>
      </p:sp>
      <p:sp>
        <p:nvSpPr>
          <p:cNvPr id="12" name="正方形/長方形 11">
            <a:extLst>
              <a:ext uri="{FF2B5EF4-FFF2-40B4-BE49-F238E27FC236}">
                <a16:creationId xmlns:a16="http://schemas.microsoft.com/office/drawing/2014/main" id="{8E30C2C5-54B1-42A4-9F80-365EBD2C6DB9}"/>
              </a:ext>
            </a:extLst>
          </p:cNvPr>
          <p:cNvSpPr/>
          <p:nvPr/>
        </p:nvSpPr>
        <p:spPr>
          <a:xfrm>
            <a:off x="508000" y="787400"/>
            <a:ext cx="1270000" cy="38100"/>
          </a:xfrm>
          <a:prstGeom prst="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Tree>
    <p:extLst>
      <p:ext uri="{BB962C8B-B14F-4D97-AF65-F5344CB8AC3E}">
        <p14:creationId xmlns:p14="http://schemas.microsoft.com/office/powerpoint/2010/main" val="17881031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43D26E3C-C909-44B3-AB17-5EC31ED25973}"/>
              </a:ext>
            </a:extLst>
          </p:cNvPr>
          <p:cNvSpPr/>
          <p:nvPr/>
        </p:nvSpPr>
        <p:spPr>
          <a:xfrm>
            <a:off x="508000" y="1968500"/>
            <a:ext cx="11176000" cy="50800"/>
          </a:xfrm>
          <a:prstGeom prst="rect">
            <a:avLst/>
          </a:prstGeom>
          <a:solidFill>
            <a:srgbClr val="D4C5B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 name="楕円 3">
            <a:extLst>
              <a:ext uri="{FF2B5EF4-FFF2-40B4-BE49-F238E27FC236}">
                <a16:creationId xmlns:a16="http://schemas.microsoft.com/office/drawing/2014/main" id="{EA43BBE5-C079-42ED-8DD6-D96C85B1D598}"/>
              </a:ext>
            </a:extLst>
          </p:cNvPr>
          <p:cNvSpPr/>
          <p:nvPr/>
        </p:nvSpPr>
        <p:spPr>
          <a:xfrm>
            <a:off x="2108200" y="1841500"/>
            <a:ext cx="304800" cy="304800"/>
          </a:xfrm>
          <a:prstGeom prst="ellips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 name="四角形: 角を丸くする 4">
            <a:extLst>
              <a:ext uri="{FF2B5EF4-FFF2-40B4-BE49-F238E27FC236}">
                <a16:creationId xmlns:a16="http://schemas.microsoft.com/office/drawing/2014/main" id="{8C1E46F8-627D-4F50-9849-124208EFE304}"/>
              </a:ext>
            </a:extLst>
          </p:cNvPr>
          <p:cNvSpPr/>
          <p:nvPr/>
        </p:nvSpPr>
        <p:spPr>
          <a:xfrm>
            <a:off x="508000" y="2324100"/>
            <a:ext cx="3556000" cy="406400"/>
          </a:xfrm>
          <a:prstGeom prst="round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500" b="1">
                <a:solidFill>
                  <a:srgbClr val="FFFFFF"/>
                </a:solidFill>
                <a:latin typeface="BIZ UDPGothic"/>
                <a:ea typeface="BIZ UDPGothic"/>
              </a:rPr>
              <a:t>短期（</a:t>
            </a:r>
            <a:r>
              <a:rPr lang="en-US" altLang="ja-JP" sz="1500" b="1">
                <a:solidFill>
                  <a:srgbClr val="FFFFFF"/>
                </a:solidFill>
                <a:latin typeface="BIZ UDPGothic"/>
                <a:ea typeface="BIZ UDPGothic"/>
              </a:rPr>
              <a:t>1〜3</a:t>
            </a:r>
            <a:r>
              <a:rPr lang="ja-JP" altLang="en-US" sz="1500" b="1">
                <a:solidFill>
                  <a:srgbClr val="FFFFFF"/>
                </a:solidFill>
                <a:latin typeface="BIZ UDPGothic"/>
                <a:ea typeface="BIZ UDPGothic"/>
              </a:rPr>
              <a:t>か月）</a:t>
            </a:r>
          </a:p>
        </p:txBody>
      </p:sp>
      <p:sp>
        <p:nvSpPr>
          <p:cNvPr id="6" name="テキスト ボックス 5">
            <a:extLst>
              <a:ext uri="{FF2B5EF4-FFF2-40B4-BE49-F238E27FC236}">
                <a16:creationId xmlns:a16="http://schemas.microsoft.com/office/drawing/2014/main" id="{1EEF6EF9-0C0A-4A0B-B9E5-607BF6D3F468}"/>
              </a:ext>
            </a:extLst>
          </p:cNvPr>
          <p:cNvSpPr txBox="1"/>
          <p:nvPr/>
        </p:nvSpPr>
        <p:spPr>
          <a:xfrm>
            <a:off x="609600" y="2832100"/>
            <a:ext cx="3352800" cy="1651000"/>
          </a:xfrm>
          <a:prstGeom prst="rect">
            <a:avLst/>
          </a:prstGeom>
          <a:noFill/>
        </p:spPr>
        <p:txBody>
          <a:bodyPr vertOverflow="overflow" vert="horz" wrap="square" rtlCol="0" anchor="t">
            <a:spAutoFit/>
          </a:bodyPr>
          <a:lstStyle/>
          <a:p>
            <a:pPr algn="l"/>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現行成果物を用いた定例レビュー開始
</a:t>
            </a:r>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部門・職種・勤続層別ダッシュボード化
</a:t>
            </a:r>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利用ルール・閲覧権限整備</a:t>
            </a:r>
          </a:p>
        </p:txBody>
      </p:sp>
      <p:sp>
        <p:nvSpPr>
          <p:cNvPr id="7" name="楕円 6">
            <a:extLst>
              <a:ext uri="{FF2B5EF4-FFF2-40B4-BE49-F238E27FC236}">
                <a16:creationId xmlns:a16="http://schemas.microsoft.com/office/drawing/2014/main" id="{06DF758D-E556-48C0-8852-3F2432D1D982}"/>
              </a:ext>
            </a:extLst>
          </p:cNvPr>
          <p:cNvSpPr/>
          <p:nvPr/>
        </p:nvSpPr>
        <p:spPr>
          <a:xfrm>
            <a:off x="5918200" y="1841500"/>
            <a:ext cx="304800" cy="304800"/>
          </a:xfrm>
          <a:prstGeom prst="ellipse">
            <a:avLst/>
          </a:prstGeom>
          <a:solidFill>
            <a:srgbClr val="A0522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8" name="四角形: 角を丸くする 7">
            <a:extLst>
              <a:ext uri="{FF2B5EF4-FFF2-40B4-BE49-F238E27FC236}">
                <a16:creationId xmlns:a16="http://schemas.microsoft.com/office/drawing/2014/main" id="{F284D4FB-9A9A-40BA-A382-A176B12FF62E}"/>
              </a:ext>
            </a:extLst>
          </p:cNvPr>
          <p:cNvSpPr/>
          <p:nvPr/>
        </p:nvSpPr>
        <p:spPr>
          <a:xfrm>
            <a:off x="4318000" y="2324100"/>
            <a:ext cx="3556000" cy="406400"/>
          </a:xfrm>
          <a:prstGeom prst="roundRect">
            <a:avLst/>
          </a:prstGeom>
          <a:solidFill>
            <a:srgbClr val="A0522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500" b="1">
                <a:solidFill>
                  <a:srgbClr val="FFFFFF"/>
                </a:solidFill>
                <a:latin typeface="BIZ UDPGothic"/>
                <a:ea typeface="BIZ UDPGothic"/>
              </a:rPr>
              <a:t>中期（</a:t>
            </a:r>
            <a:r>
              <a:rPr lang="en-US" altLang="ja-JP" sz="1500" b="1">
                <a:solidFill>
                  <a:srgbClr val="FFFFFF"/>
                </a:solidFill>
                <a:latin typeface="BIZ UDPGothic"/>
                <a:ea typeface="BIZ UDPGothic"/>
              </a:rPr>
              <a:t>3〜6</a:t>
            </a:r>
            <a:r>
              <a:rPr lang="ja-JP" altLang="en-US" sz="1500" b="1">
                <a:solidFill>
                  <a:srgbClr val="FFFFFF"/>
                </a:solidFill>
                <a:latin typeface="BIZ UDPGothic"/>
                <a:ea typeface="BIZ UDPGothic"/>
              </a:rPr>
              <a:t>か月）</a:t>
            </a:r>
          </a:p>
        </p:txBody>
      </p:sp>
      <p:sp>
        <p:nvSpPr>
          <p:cNvPr id="9" name="テキスト ボックス 8">
            <a:extLst>
              <a:ext uri="{FF2B5EF4-FFF2-40B4-BE49-F238E27FC236}">
                <a16:creationId xmlns:a16="http://schemas.microsoft.com/office/drawing/2014/main" id="{19DEC6DE-CF07-43F2-A933-790AC0FC64E7}"/>
              </a:ext>
            </a:extLst>
          </p:cNvPr>
          <p:cNvSpPr txBox="1"/>
          <p:nvPr/>
        </p:nvSpPr>
        <p:spPr>
          <a:xfrm>
            <a:off x="4419600" y="2832100"/>
            <a:ext cx="3352800" cy="1651000"/>
          </a:xfrm>
          <a:prstGeom prst="rect">
            <a:avLst/>
          </a:prstGeom>
          <a:noFill/>
        </p:spPr>
        <p:txBody>
          <a:bodyPr vertOverflow="overflow" vert="horz" wrap="square" rtlCol="0" anchor="t">
            <a:spAutoFit/>
          </a:bodyPr>
          <a:lstStyle/>
          <a:p>
            <a:pPr algn="l"/>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追加データの接続検討
  （異動</a:t>
            </a:r>
            <a:r>
              <a:rPr lang="en-US" altLang="ja-JP" sz="1400">
                <a:solidFill>
                  <a:srgbClr val="3D3D3D"/>
                </a:solidFill>
                <a:latin typeface="BIZ UDPGothic"/>
                <a:ea typeface="BIZ UDPGothic"/>
              </a:rPr>
              <a:t>/</a:t>
            </a:r>
            <a:r>
              <a:rPr lang="ja-JP" altLang="en-US" sz="1400">
                <a:solidFill>
                  <a:srgbClr val="3D3D3D"/>
                </a:solidFill>
                <a:latin typeface="BIZ UDPGothic"/>
                <a:ea typeface="BIZ UDPGothic"/>
              </a:rPr>
              <a:t>評価</a:t>
            </a:r>
            <a:r>
              <a:rPr lang="en-US" altLang="ja-JP" sz="1400">
                <a:solidFill>
                  <a:srgbClr val="3D3D3D"/>
                </a:solidFill>
                <a:latin typeface="BIZ UDPGothic"/>
                <a:ea typeface="BIZ UDPGothic"/>
              </a:rPr>
              <a:t>/</a:t>
            </a:r>
            <a:r>
              <a:rPr lang="ja-JP" altLang="en-US" sz="1400">
                <a:solidFill>
                  <a:srgbClr val="3D3D3D"/>
                </a:solidFill>
                <a:latin typeface="BIZ UDPGothic"/>
                <a:ea typeface="BIZ UDPGothic"/>
              </a:rPr>
              <a:t>上司変更</a:t>
            </a:r>
            <a:r>
              <a:rPr lang="en-US" altLang="ja-JP" sz="1400">
                <a:solidFill>
                  <a:srgbClr val="3D3D3D"/>
                </a:solidFill>
                <a:latin typeface="BIZ UDPGothic"/>
                <a:ea typeface="BIZ UDPGothic"/>
              </a:rPr>
              <a:t>/</a:t>
            </a:r>
            <a:r>
              <a:rPr lang="ja-JP" altLang="en-US" sz="1400">
                <a:solidFill>
                  <a:srgbClr val="3D3D3D"/>
                </a:solidFill>
                <a:latin typeface="BIZ UDPGothic"/>
                <a:ea typeface="BIZ UDPGothic"/>
              </a:rPr>
              <a:t>組織改編</a:t>
            </a:r>
            <a:r>
              <a:rPr lang="en-US" altLang="ja-JP" sz="1400">
                <a:solidFill>
                  <a:srgbClr val="3D3D3D"/>
                </a:solidFill>
                <a:latin typeface="BIZ UDPGothic"/>
                <a:ea typeface="BIZ UDPGothic"/>
              </a:rPr>
              <a:t>/</a:t>
            </a:r>
            <a:r>
              <a:rPr lang="ja-JP" altLang="en-US" sz="1400">
                <a:solidFill>
                  <a:srgbClr val="3D3D3D"/>
                </a:solidFill>
                <a:latin typeface="BIZ UDPGothic"/>
                <a:ea typeface="BIZ UDPGothic"/>
              </a:rPr>
              <a:t>勤怠詳細）
</a:t>
            </a:r>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セグメント別施策の</a:t>
            </a:r>
            <a:r>
              <a:rPr lang="en-US" altLang="ja-JP" sz="1400">
                <a:solidFill>
                  <a:srgbClr val="3D3D3D"/>
                </a:solidFill>
                <a:latin typeface="BIZ UDPGothic"/>
                <a:ea typeface="BIZ UDPGothic"/>
              </a:rPr>
              <a:t>AB</a:t>
            </a:r>
            <a:r>
              <a:rPr lang="ja-JP" altLang="en-US" sz="1400">
                <a:solidFill>
                  <a:srgbClr val="3D3D3D"/>
                </a:solidFill>
                <a:latin typeface="BIZ UDPGothic"/>
                <a:ea typeface="BIZ UDPGothic"/>
              </a:rPr>
              <a:t>比較設計
</a:t>
            </a:r>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モデル再学習基盤の要件定義</a:t>
            </a:r>
          </a:p>
        </p:txBody>
      </p:sp>
      <p:sp>
        <p:nvSpPr>
          <p:cNvPr id="10" name="楕円 9">
            <a:extLst>
              <a:ext uri="{FF2B5EF4-FFF2-40B4-BE49-F238E27FC236}">
                <a16:creationId xmlns:a16="http://schemas.microsoft.com/office/drawing/2014/main" id="{0FF26F2C-E480-41CB-A543-6FC2FE40F7E9}"/>
              </a:ext>
            </a:extLst>
          </p:cNvPr>
          <p:cNvSpPr/>
          <p:nvPr/>
        </p:nvSpPr>
        <p:spPr>
          <a:xfrm>
            <a:off x="9728200" y="1841500"/>
            <a:ext cx="304800" cy="304800"/>
          </a:xfrm>
          <a:prstGeom prst="ellipse">
            <a:avLst/>
          </a:prstGeom>
          <a:solidFill>
            <a:srgbClr val="4A4A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四角形: 角を丸くする 10">
            <a:extLst>
              <a:ext uri="{FF2B5EF4-FFF2-40B4-BE49-F238E27FC236}">
                <a16:creationId xmlns:a16="http://schemas.microsoft.com/office/drawing/2014/main" id="{BCB6BB0F-991F-467B-88D4-C6D48FD76257}"/>
              </a:ext>
            </a:extLst>
          </p:cNvPr>
          <p:cNvSpPr/>
          <p:nvPr/>
        </p:nvSpPr>
        <p:spPr>
          <a:xfrm>
            <a:off x="8128000" y="2324100"/>
            <a:ext cx="3556000" cy="406400"/>
          </a:xfrm>
          <a:prstGeom prst="roundRect">
            <a:avLst/>
          </a:prstGeom>
          <a:solidFill>
            <a:srgbClr val="4A4A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500" b="1">
                <a:solidFill>
                  <a:srgbClr val="FFFFFF"/>
                </a:solidFill>
                <a:latin typeface="BIZ UDPGothic"/>
                <a:ea typeface="BIZ UDPGothic"/>
              </a:rPr>
              <a:t>長期（</a:t>
            </a:r>
            <a:r>
              <a:rPr lang="en-US" altLang="ja-JP" sz="1500" b="1">
                <a:solidFill>
                  <a:srgbClr val="FFFFFF"/>
                </a:solidFill>
                <a:latin typeface="BIZ UDPGothic"/>
                <a:ea typeface="BIZ UDPGothic"/>
              </a:rPr>
              <a:t>6〜12</a:t>
            </a:r>
            <a:r>
              <a:rPr lang="ja-JP" altLang="en-US" sz="1500" b="1">
                <a:solidFill>
                  <a:srgbClr val="FFFFFF"/>
                </a:solidFill>
                <a:latin typeface="BIZ UDPGothic"/>
                <a:ea typeface="BIZ UDPGothic"/>
              </a:rPr>
              <a:t>か月）</a:t>
            </a:r>
          </a:p>
        </p:txBody>
      </p:sp>
      <p:sp>
        <p:nvSpPr>
          <p:cNvPr id="12" name="テキスト ボックス 11">
            <a:extLst>
              <a:ext uri="{FF2B5EF4-FFF2-40B4-BE49-F238E27FC236}">
                <a16:creationId xmlns:a16="http://schemas.microsoft.com/office/drawing/2014/main" id="{A8D3FF74-46C7-484E-92E4-1DDAE295A5E1}"/>
              </a:ext>
            </a:extLst>
          </p:cNvPr>
          <p:cNvSpPr txBox="1"/>
          <p:nvPr/>
        </p:nvSpPr>
        <p:spPr>
          <a:xfrm>
            <a:off x="8229600" y="2832100"/>
            <a:ext cx="3352800" cy="1651000"/>
          </a:xfrm>
          <a:prstGeom prst="rect">
            <a:avLst/>
          </a:prstGeom>
          <a:noFill/>
        </p:spPr>
        <p:txBody>
          <a:bodyPr vertOverflow="overflow" vert="horz" wrap="square" rtlCol="0" anchor="t">
            <a:spAutoFit/>
          </a:bodyPr>
          <a:lstStyle/>
          <a:p>
            <a:pPr algn="l"/>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人事ダッシュボードへの統合
</a:t>
            </a:r>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定着率改善施策の効果測定サイクル確立
</a:t>
            </a:r>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公平性・説明可能性監査の定例化
</a:t>
            </a:r>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離職時期予測・早期警戒モデル検討</a:t>
            </a:r>
          </a:p>
        </p:txBody>
      </p:sp>
      <p:sp>
        <p:nvSpPr>
          <p:cNvPr id="13" name="テキスト ボックス 12">
            <a:extLst>
              <a:ext uri="{FF2B5EF4-FFF2-40B4-BE49-F238E27FC236}">
                <a16:creationId xmlns:a16="http://schemas.microsoft.com/office/drawing/2014/main" id="{07FAFEA7-E414-4DCA-8EB8-D6720808486F}"/>
              </a:ext>
            </a:extLst>
          </p:cNvPr>
          <p:cNvSpPr txBox="1"/>
          <p:nvPr/>
        </p:nvSpPr>
        <p:spPr>
          <a:xfrm>
            <a:off x="508000" y="4737100"/>
            <a:ext cx="11176000" cy="355600"/>
          </a:xfrm>
          <a:prstGeom prst="rect">
            <a:avLst/>
          </a:prstGeom>
          <a:noFill/>
        </p:spPr>
        <p:txBody>
          <a:bodyPr vertOverflow="overflow" vert="horz" wrap="square" rtlCol="0" anchor="t">
            <a:spAutoFit/>
          </a:bodyPr>
          <a:lstStyle/>
          <a:p>
            <a:pPr algn="l"/>
            <a:r>
              <a:rPr lang="ja-JP" altLang="en-US" sz="1600" b="1">
                <a:solidFill>
                  <a:srgbClr val="1A1A1A"/>
                </a:solidFill>
                <a:latin typeface="BIZ UDPGothic"/>
                <a:ea typeface="BIZ UDPGothic"/>
              </a:rPr>
              <a:t>優先順位付き推奨順</a:t>
            </a:r>
          </a:p>
        </p:txBody>
      </p:sp>
      <p:sp>
        <p:nvSpPr>
          <p:cNvPr id="14" name="正方形/長方形 13">
            <a:extLst>
              <a:ext uri="{FF2B5EF4-FFF2-40B4-BE49-F238E27FC236}">
                <a16:creationId xmlns:a16="http://schemas.microsoft.com/office/drawing/2014/main" id="{A660A2DE-BB6F-4166-8006-0FB3D93A4F9E}"/>
              </a:ext>
            </a:extLst>
          </p:cNvPr>
          <p:cNvSpPr/>
          <p:nvPr/>
        </p:nvSpPr>
        <p:spPr>
          <a:xfrm>
            <a:off x="508000" y="5092700"/>
            <a:ext cx="11176000" cy="25400"/>
          </a:xfrm>
          <a:prstGeom prst="rect">
            <a:avLst/>
          </a:prstGeom>
          <a:solidFill>
            <a:srgbClr val="D4C5B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5" name="矢印: 五方向 14">
            <a:extLst>
              <a:ext uri="{FF2B5EF4-FFF2-40B4-BE49-F238E27FC236}">
                <a16:creationId xmlns:a16="http://schemas.microsoft.com/office/drawing/2014/main" id="{CFB62254-C29C-4BCC-BFAB-534D32D4B5D9}"/>
              </a:ext>
            </a:extLst>
          </p:cNvPr>
          <p:cNvSpPr/>
          <p:nvPr/>
        </p:nvSpPr>
        <p:spPr>
          <a:xfrm>
            <a:off x="508000" y="5219700"/>
            <a:ext cx="2133600" cy="635000"/>
          </a:xfrm>
          <a:prstGeom prst="homePlate">
            <a:avLst/>
          </a:prstGeom>
          <a:solidFill>
            <a:srgbClr val="92483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ja-JP" sz="1400" b="1">
                <a:solidFill>
                  <a:srgbClr val="FFFFFF"/>
                </a:solidFill>
                <a:latin typeface="BIZ UDPGothic"/>
                <a:ea typeface="BIZ UDPGothic"/>
              </a:rPr>
              <a:t>1. </a:t>
            </a:r>
            <a:r>
              <a:rPr lang="ja-JP" altLang="en-US" sz="1400" b="1">
                <a:solidFill>
                  <a:srgbClr val="FFFFFF"/>
                </a:solidFill>
                <a:latin typeface="BIZ UDPGothic"/>
                <a:ea typeface="BIZ UDPGothic"/>
              </a:rPr>
              <a:t>集計運用の定着</a:t>
            </a:r>
          </a:p>
        </p:txBody>
      </p:sp>
      <p:sp>
        <p:nvSpPr>
          <p:cNvPr id="16" name="矢印: 五方向 15">
            <a:extLst>
              <a:ext uri="{FF2B5EF4-FFF2-40B4-BE49-F238E27FC236}">
                <a16:creationId xmlns:a16="http://schemas.microsoft.com/office/drawing/2014/main" id="{8F9C1E72-7705-4165-B9C3-8ADBCCCD2625}"/>
              </a:ext>
            </a:extLst>
          </p:cNvPr>
          <p:cNvSpPr/>
          <p:nvPr/>
        </p:nvSpPr>
        <p:spPr>
          <a:xfrm>
            <a:off x="2743200" y="5219700"/>
            <a:ext cx="2133600" cy="635000"/>
          </a:xfrm>
          <a:prstGeom prst="homePlate">
            <a:avLst/>
          </a:prstGeom>
          <a:solidFill>
            <a:srgbClr val="9D5D5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ja-JP" sz="1400" b="1">
                <a:solidFill>
                  <a:srgbClr val="FFFFFF"/>
                </a:solidFill>
                <a:latin typeface="BIZ UDPGothic"/>
                <a:ea typeface="BIZ UDPGothic"/>
              </a:rPr>
              <a:t>2. </a:t>
            </a:r>
            <a:r>
              <a:rPr lang="ja-JP" altLang="en-US" sz="1400" b="1">
                <a:solidFill>
                  <a:srgbClr val="FFFFFF"/>
                </a:solidFill>
                <a:latin typeface="BIZ UDPGothic"/>
                <a:ea typeface="BIZ UDPGothic"/>
              </a:rPr>
              <a:t>追加データ整備</a:t>
            </a:r>
          </a:p>
        </p:txBody>
      </p:sp>
      <p:sp>
        <p:nvSpPr>
          <p:cNvPr id="17" name="矢印: 五方向 16">
            <a:extLst>
              <a:ext uri="{FF2B5EF4-FFF2-40B4-BE49-F238E27FC236}">
                <a16:creationId xmlns:a16="http://schemas.microsoft.com/office/drawing/2014/main" id="{F89F8B30-4D2A-43FE-AC23-51D1BDBE62DE}"/>
              </a:ext>
            </a:extLst>
          </p:cNvPr>
          <p:cNvSpPr/>
          <p:nvPr/>
        </p:nvSpPr>
        <p:spPr>
          <a:xfrm>
            <a:off x="4978400" y="5219700"/>
            <a:ext cx="2133600" cy="635000"/>
          </a:xfrm>
          <a:prstGeom prst="homePlat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zh-TW" sz="1400" b="1">
                <a:solidFill>
                  <a:srgbClr val="FFFFFF"/>
                </a:solidFill>
                <a:latin typeface="BIZ UDPGothic"/>
                <a:ea typeface="BIZ UDPGothic"/>
              </a:rPr>
              <a:t>3. </a:t>
            </a:r>
            <a:r>
              <a:rPr lang="zh-TW" altLang="en-US" sz="1400" b="1">
                <a:solidFill>
                  <a:srgbClr val="FFFFFF"/>
                </a:solidFill>
                <a:latin typeface="BIZ UDPGothic"/>
                <a:ea typeface="BIZ UDPGothic"/>
              </a:rPr>
              <a:t>施策効果検証</a:t>
            </a:r>
            <a:endParaRPr lang="ja-JP" altLang="en-US" sz="1400" b="1">
              <a:solidFill>
                <a:srgbClr val="FFFFFF"/>
              </a:solidFill>
              <a:latin typeface="BIZ UDPGothic"/>
              <a:ea typeface="BIZ UDPGothic"/>
            </a:endParaRPr>
          </a:p>
        </p:txBody>
      </p:sp>
      <p:sp>
        <p:nvSpPr>
          <p:cNvPr id="18" name="矢印: 五方向 17">
            <a:extLst>
              <a:ext uri="{FF2B5EF4-FFF2-40B4-BE49-F238E27FC236}">
                <a16:creationId xmlns:a16="http://schemas.microsoft.com/office/drawing/2014/main" id="{B1EF940C-AFFD-4303-AB68-C858E21E919E}"/>
              </a:ext>
            </a:extLst>
          </p:cNvPr>
          <p:cNvSpPr/>
          <p:nvPr/>
        </p:nvSpPr>
        <p:spPr>
          <a:xfrm>
            <a:off x="7213600" y="5219700"/>
            <a:ext cx="2133600" cy="635000"/>
          </a:xfrm>
          <a:prstGeom prst="homePlate">
            <a:avLst/>
          </a:prstGeom>
          <a:solidFill>
            <a:srgbClr val="B2867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ja-JP" sz="1400" b="1">
                <a:solidFill>
                  <a:srgbClr val="1A1A1A"/>
                </a:solidFill>
                <a:latin typeface="BIZ UDPGothic"/>
                <a:ea typeface="BIZ UDPGothic"/>
              </a:rPr>
              <a:t>4. </a:t>
            </a:r>
            <a:r>
              <a:rPr lang="ja-JP" altLang="en-US" sz="1400" b="1">
                <a:solidFill>
                  <a:srgbClr val="1A1A1A"/>
                </a:solidFill>
                <a:latin typeface="BIZ UDPGothic"/>
                <a:ea typeface="BIZ UDPGothic"/>
              </a:rPr>
              <a:t>継続学習型分析</a:t>
            </a:r>
          </a:p>
        </p:txBody>
      </p:sp>
      <p:sp>
        <p:nvSpPr>
          <p:cNvPr id="19" name="矢印: 五方向 18">
            <a:extLst>
              <a:ext uri="{FF2B5EF4-FFF2-40B4-BE49-F238E27FC236}">
                <a16:creationId xmlns:a16="http://schemas.microsoft.com/office/drawing/2014/main" id="{1653FC54-04B6-42F0-8713-4FEB0146C0E0}"/>
              </a:ext>
            </a:extLst>
          </p:cNvPr>
          <p:cNvSpPr/>
          <p:nvPr/>
        </p:nvSpPr>
        <p:spPr>
          <a:xfrm>
            <a:off x="9448800" y="5219700"/>
            <a:ext cx="2133600" cy="635000"/>
          </a:xfrm>
          <a:prstGeom prst="homePlate">
            <a:avLst/>
          </a:prstGeom>
          <a:solidFill>
            <a:srgbClr val="BD9B9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ja-JP" sz="1400" b="1">
                <a:solidFill>
                  <a:srgbClr val="1A1A1A"/>
                </a:solidFill>
                <a:latin typeface="BIZ UDPGothic"/>
                <a:ea typeface="BIZ UDPGothic"/>
              </a:rPr>
              <a:t>5. </a:t>
            </a:r>
            <a:r>
              <a:rPr lang="ja-JP" altLang="en-US" sz="1400" b="1">
                <a:solidFill>
                  <a:srgbClr val="1A1A1A"/>
                </a:solidFill>
                <a:latin typeface="BIZ UDPGothic"/>
                <a:ea typeface="BIZ UDPGothic"/>
              </a:rPr>
              <a:t>システム実装</a:t>
            </a:r>
          </a:p>
        </p:txBody>
      </p:sp>
      <p:sp>
        <p:nvSpPr>
          <p:cNvPr id="20" name="テキスト ボックス 19">
            <a:extLst>
              <a:ext uri="{FF2B5EF4-FFF2-40B4-BE49-F238E27FC236}">
                <a16:creationId xmlns:a16="http://schemas.microsoft.com/office/drawing/2014/main" id="{9744A13B-26F1-4DA7-A583-DDEBA895AECB}"/>
              </a:ext>
            </a:extLst>
          </p:cNvPr>
          <p:cNvSpPr txBox="1"/>
          <p:nvPr/>
        </p:nvSpPr>
        <p:spPr>
          <a:xfrm>
            <a:off x="508000" y="254000"/>
            <a:ext cx="11176000" cy="508000"/>
          </a:xfrm>
          <a:prstGeom prst="rect">
            <a:avLst/>
          </a:prstGeom>
          <a:noFill/>
        </p:spPr>
        <p:txBody>
          <a:bodyPr vertOverflow="overflow" vert="horz" wrap="square" rtlCol="0" anchor="t">
            <a:noAutofit/>
          </a:bodyPr>
          <a:lstStyle/>
          <a:p>
            <a:pPr algn="l"/>
            <a:r>
              <a:rPr lang="en-US" altLang="ja-JP" sz="2400" b="1">
                <a:solidFill>
                  <a:srgbClr val="1A1A1A"/>
                </a:solidFill>
                <a:latin typeface="BIZ UDPGothic"/>
                <a:ea typeface="BIZ UDPGothic"/>
              </a:rPr>
              <a:t>7. </a:t>
            </a:r>
            <a:r>
              <a:rPr lang="ja-JP" altLang="en-US" sz="2400" b="1">
                <a:solidFill>
                  <a:srgbClr val="1A1A1A"/>
                </a:solidFill>
                <a:latin typeface="BIZ UDPGothic"/>
                <a:ea typeface="BIZ UDPGothic"/>
              </a:rPr>
              <a:t>拡張ロードマップ</a:t>
            </a:r>
          </a:p>
        </p:txBody>
      </p:sp>
      <p:sp>
        <p:nvSpPr>
          <p:cNvPr id="21" name="正方形/長方形 20">
            <a:extLst>
              <a:ext uri="{FF2B5EF4-FFF2-40B4-BE49-F238E27FC236}">
                <a16:creationId xmlns:a16="http://schemas.microsoft.com/office/drawing/2014/main" id="{83DD0615-3EA4-4DFD-B8B4-ACD215086618}"/>
              </a:ext>
            </a:extLst>
          </p:cNvPr>
          <p:cNvSpPr/>
          <p:nvPr/>
        </p:nvSpPr>
        <p:spPr>
          <a:xfrm>
            <a:off x="508000" y="787400"/>
            <a:ext cx="1270000" cy="38100"/>
          </a:xfrm>
          <a:prstGeom prst="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Tree>
    <p:extLst>
      <p:ext uri="{BB962C8B-B14F-4D97-AF65-F5344CB8AC3E}">
        <p14:creationId xmlns:p14="http://schemas.microsoft.com/office/powerpoint/2010/main" val="26275959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四角形: 角を丸くする 2">
            <a:extLst>
              <a:ext uri="{FF2B5EF4-FFF2-40B4-BE49-F238E27FC236}">
                <a16:creationId xmlns:a16="http://schemas.microsoft.com/office/drawing/2014/main" id="{23B303CC-BCE5-440B-9917-5D16C2AE8283}"/>
              </a:ext>
            </a:extLst>
          </p:cNvPr>
          <p:cNvSpPr/>
          <p:nvPr/>
        </p:nvSpPr>
        <p:spPr>
          <a:xfrm>
            <a:off x="508000" y="1397000"/>
            <a:ext cx="5334000" cy="381000"/>
          </a:xfrm>
          <a:prstGeom prst="roundRect">
            <a:avLst/>
          </a:prstGeom>
          <a:solidFill>
            <a:srgbClr val="4A4A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500" b="1">
                <a:solidFill>
                  <a:srgbClr val="FFFFFF"/>
                </a:solidFill>
                <a:latin typeface="BIZ UDPGothic"/>
                <a:ea typeface="BIZ UDPGothic"/>
              </a:rPr>
              <a:t>制約事項</a:t>
            </a:r>
          </a:p>
        </p:txBody>
      </p:sp>
      <p:sp>
        <p:nvSpPr>
          <p:cNvPr id="4" name="正方形/長方形 3">
            <a:extLst>
              <a:ext uri="{FF2B5EF4-FFF2-40B4-BE49-F238E27FC236}">
                <a16:creationId xmlns:a16="http://schemas.microsoft.com/office/drawing/2014/main" id="{8CF2D420-323C-4D6B-9E7F-43C67471D682}"/>
              </a:ext>
            </a:extLst>
          </p:cNvPr>
          <p:cNvSpPr/>
          <p:nvPr/>
        </p:nvSpPr>
        <p:spPr>
          <a:xfrm>
            <a:off x="660400" y="1993900"/>
            <a:ext cx="101600" cy="101600"/>
          </a:xfrm>
          <a:prstGeom prst="rect">
            <a:avLst/>
          </a:prstGeom>
          <a:solidFill>
            <a:srgbClr val="4A4A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 name="テキスト ボックス 4">
            <a:extLst>
              <a:ext uri="{FF2B5EF4-FFF2-40B4-BE49-F238E27FC236}">
                <a16:creationId xmlns:a16="http://schemas.microsoft.com/office/drawing/2014/main" id="{B0043714-A23C-4E2B-992E-3EB5DFA4BCD9}"/>
              </a:ext>
            </a:extLst>
          </p:cNvPr>
          <p:cNvSpPr txBox="1"/>
          <p:nvPr/>
        </p:nvSpPr>
        <p:spPr>
          <a:xfrm>
            <a:off x="863600" y="1892300"/>
            <a:ext cx="4902200" cy="3556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時系列情報がなく、退職時期予測や施策前後比較は不可</a:t>
            </a:r>
          </a:p>
        </p:txBody>
      </p:sp>
      <p:sp>
        <p:nvSpPr>
          <p:cNvPr id="6" name="正方形/長方形 5">
            <a:extLst>
              <a:ext uri="{FF2B5EF4-FFF2-40B4-BE49-F238E27FC236}">
                <a16:creationId xmlns:a16="http://schemas.microsoft.com/office/drawing/2014/main" id="{0D8AE474-4042-4868-A0A9-EB3FB910F9D4}"/>
              </a:ext>
            </a:extLst>
          </p:cNvPr>
          <p:cNvSpPr/>
          <p:nvPr/>
        </p:nvSpPr>
        <p:spPr>
          <a:xfrm>
            <a:off x="660400" y="2425700"/>
            <a:ext cx="101600" cy="101600"/>
          </a:xfrm>
          <a:prstGeom prst="rect">
            <a:avLst/>
          </a:prstGeom>
          <a:solidFill>
            <a:srgbClr val="4A4A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 name="テキスト ボックス 6">
            <a:extLst>
              <a:ext uri="{FF2B5EF4-FFF2-40B4-BE49-F238E27FC236}">
                <a16:creationId xmlns:a16="http://schemas.microsoft.com/office/drawing/2014/main" id="{E808EEF8-96AD-4054-9615-9BB407DD788F}"/>
              </a:ext>
            </a:extLst>
          </p:cNvPr>
          <p:cNvSpPr txBox="1"/>
          <p:nvPr/>
        </p:nvSpPr>
        <p:spPr>
          <a:xfrm>
            <a:off x="863600" y="2324100"/>
            <a:ext cx="4902200" cy="3556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追加データなし。採用</a:t>
            </a:r>
            <a:r>
              <a:rPr lang="en-US" altLang="ja-JP" sz="1400">
                <a:solidFill>
                  <a:srgbClr val="3D3D3D"/>
                </a:solidFill>
                <a:latin typeface="BIZ UDPGothic"/>
                <a:ea typeface="BIZ UDPGothic"/>
              </a:rPr>
              <a:t>/</a:t>
            </a:r>
            <a:r>
              <a:rPr lang="ja-JP" altLang="en-US" sz="1400">
                <a:solidFill>
                  <a:srgbClr val="3D3D3D"/>
                </a:solidFill>
                <a:latin typeface="BIZ UDPGothic"/>
                <a:ea typeface="BIZ UDPGothic"/>
              </a:rPr>
              <a:t>評価</a:t>
            </a:r>
            <a:r>
              <a:rPr lang="en-US" altLang="ja-JP" sz="1400">
                <a:solidFill>
                  <a:srgbClr val="3D3D3D"/>
                </a:solidFill>
                <a:latin typeface="BIZ UDPGothic"/>
                <a:ea typeface="BIZ UDPGothic"/>
              </a:rPr>
              <a:t>/</a:t>
            </a:r>
            <a:r>
              <a:rPr lang="ja-JP" altLang="en-US" sz="1400">
                <a:solidFill>
                  <a:srgbClr val="3D3D3D"/>
                </a:solidFill>
                <a:latin typeface="BIZ UDPGothic"/>
                <a:ea typeface="BIZ UDPGothic"/>
              </a:rPr>
              <a:t>異動</a:t>
            </a:r>
            <a:r>
              <a:rPr lang="en-US" altLang="ja-JP" sz="1400">
                <a:solidFill>
                  <a:srgbClr val="3D3D3D"/>
                </a:solidFill>
                <a:latin typeface="BIZ UDPGothic"/>
                <a:ea typeface="BIZ UDPGothic"/>
              </a:rPr>
              <a:t>/</a:t>
            </a:r>
            <a:r>
              <a:rPr lang="ja-JP" altLang="en-US" sz="1400">
                <a:solidFill>
                  <a:srgbClr val="3D3D3D"/>
                </a:solidFill>
                <a:latin typeface="BIZ UDPGothic"/>
                <a:ea typeface="BIZ UDPGothic"/>
              </a:rPr>
              <a:t>上司情報等は未考慮</a:t>
            </a:r>
          </a:p>
        </p:txBody>
      </p:sp>
      <p:sp>
        <p:nvSpPr>
          <p:cNvPr id="8" name="正方形/長方形 7">
            <a:extLst>
              <a:ext uri="{FF2B5EF4-FFF2-40B4-BE49-F238E27FC236}">
                <a16:creationId xmlns:a16="http://schemas.microsoft.com/office/drawing/2014/main" id="{863E8833-A046-47DC-BDE3-70623CE3CDCC}"/>
              </a:ext>
            </a:extLst>
          </p:cNvPr>
          <p:cNvSpPr/>
          <p:nvPr/>
        </p:nvSpPr>
        <p:spPr>
          <a:xfrm>
            <a:off x="660400" y="2857500"/>
            <a:ext cx="101600" cy="101600"/>
          </a:xfrm>
          <a:prstGeom prst="rect">
            <a:avLst/>
          </a:prstGeom>
          <a:solidFill>
            <a:srgbClr val="4A4A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9" name="テキスト ボックス 8">
            <a:extLst>
              <a:ext uri="{FF2B5EF4-FFF2-40B4-BE49-F238E27FC236}">
                <a16:creationId xmlns:a16="http://schemas.microsoft.com/office/drawing/2014/main" id="{734A2D1B-0C79-46A7-8A49-5C2686304465}"/>
              </a:ext>
            </a:extLst>
          </p:cNvPr>
          <p:cNvSpPr txBox="1"/>
          <p:nvPr/>
        </p:nvSpPr>
        <p:spPr>
          <a:xfrm>
            <a:off x="863600" y="2755900"/>
            <a:ext cx="4902200" cy="355600"/>
          </a:xfrm>
          <a:prstGeom prst="rect">
            <a:avLst/>
          </a:prstGeom>
          <a:noFill/>
        </p:spPr>
        <p:txBody>
          <a:bodyPr vertOverflow="overflow" vert="horz" wrap="square" rtlCol="0" anchor="t">
            <a:spAutoFit/>
          </a:bodyPr>
          <a:lstStyle/>
          <a:p>
            <a:pPr algn="l"/>
            <a:r>
              <a:rPr lang="en-US" altLang="ja-JP" sz="1400">
                <a:solidFill>
                  <a:srgbClr val="3D3D3D"/>
                </a:solidFill>
                <a:latin typeface="BIZ UDPGothic"/>
                <a:ea typeface="BIZ UDPGothic"/>
              </a:rPr>
              <a:t>735</a:t>
            </a:r>
            <a:r>
              <a:rPr lang="ja-JP" altLang="en-US" sz="1400">
                <a:solidFill>
                  <a:srgbClr val="3D3D3D"/>
                </a:solidFill>
                <a:latin typeface="BIZ UDPGothic"/>
                <a:ea typeface="BIZ UDPGothic"/>
              </a:rPr>
              <a:t>件と中規模。過度なセグメント分割は安定性を損なう</a:t>
            </a:r>
          </a:p>
        </p:txBody>
      </p:sp>
      <p:sp>
        <p:nvSpPr>
          <p:cNvPr id="10" name="正方形/長方形 9">
            <a:extLst>
              <a:ext uri="{FF2B5EF4-FFF2-40B4-BE49-F238E27FC236}">
                <a16:creationId xmlns:a16="http://schemas.microsoft.com/office/drawing/2014/main" id="{EDB4905F-6D47-4955-827E-CF5B74173499}"/>
              </a:ext>
            </a:extLst>
          </p:cNvPr>
          <p:cNvSpPr/>
          <p:nvPr/>
        </p:nvSpPr>
        <p:spPr>
          <a:xfrm>
            <a:off x="660400" y="3289300"/>
            <a:ext cx="101600" cy="101600"/>
          </a:xfrm>
          <a:prstGeom prst="rect">
            <a:avLst/>
          </a:prstGeom>
          <a:solidFill>
            <a:srgbClr val="4A4A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テキスト ボックス 10">
            <a:extLst>
              <a:ext uri="{FF2B5EF4-FFF2-40B4-BE49-F238E27FC236}">
                <a16:creationId xmlns:a16="http://schemas.microsoft.com/office/drawing/2014/main" id="{CA956BF1-712C-498C-93FC-6D1858B5240D}"/>
              </a:ext>
            </a:extLst>
          </p:cNvPr>
          <p:cNvSpPr txBox="1"/>
          <p:nvPr/>
        </p:nvSpPr>
        <p:spPr>
          <a:xfrm>
            <a:off x="863600" y="3187700"/>
            <a:ext cx="4902200" cy="3556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契約上、本番実装・システム連携は対象外</a:t>
            </a:r>
          </a:p>
        </p:txBody>
      </p:sp>
      <p:sp>
        <p:nvSpPr>
          <p:cNvPr id="12" name="四角形: 角を丸くする 11">
            <a:extLst>
              <a:ext uri="{FF2B5EF4-FFF2-40B4-BE49-F238E27FC236}">
                <a16:creationId xmlns:a16="http://schemas.microsoft.com/office/drawing/2014/main" id="{543A33FF-74C2-45C8-AD8C-76D6165E9378}"/>
              </a:ext>
            </a:extLst>
          </p:cNvPr>
          <p:cNvSpPr/>
          <p:nvPr/>
        </p:nvSpPr>
        <p:spPr>
          <a:xfrm>
            <a:off x="6350000" y="1397000"/>
            <a:ext cx="5334000" cy="381000"/>
          </a:xfrm>
          <a:prstGeom prst="round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500" b="1">
                <a:solidFill>
                  <a:srgbClr val="FFFFFF"/>
                </a:solidFill>
                <a:latin typeface="BIZ UDPGothic"/>
                <a:ea typeface="BIZ UDPGothic"/>
              </a:rPr>
              <a:t>残余リスク</a:t>
            </a:r>
          </a:p>
        </p:txBody>
      </p:sp>
      <p:sp>
        <p:nvSpPr>
          <p:cNvPr id="13" name="二等辺三角形 12">
            <a:extLst>
              <a:ext uri="{FF2B5EF4-FFF2-40B4-BE49-F238E27FC236}">
                <a16:creationId xmlns:a16="http://schemas.microsoft.com/office/drawing/2014/main" id="{BA88160C-7B8B-41BB-876F-5C075D2C2264}"/>
              </a:ext>
            </a:extLst>
          </p:cNvPr>
          <p:cNvSpPr/>
          <p:nvPr/>
        </p:nvSpPr>
        <p:spPr>
          <a:xfrm>
            <a:off x="6502400" y="1968500"/>
            <a:ext cx="152400" cy="152400"/>
          </a:xfrm>
          <a:prstGeom prst="triangl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4" name="テキスト ボックス 13">
            <a:extLst>
              <a:ext uri="{FF2B5EF4-FFF2-40B4-BE49-F238E27FC236}">
                <a16:creationId xmlns:a16="http://schemas.microsoft.com/office/drawing/2014/main" id="{88A02DB0-F772-4AAF-A8BA-47A81F6DD27E}"/>
              </a:ext>
            </a:extLst>
          </p:cNvPr>
          <p:cNvSpPr txBox="1"/>
          <p:nvPr/>
        </p:nvSpPr>
        <p:spPr>
          <a:xfrm>
            <a:off x="6731000" y="1892300"/>
            <a:ext cx="4902200" cy="3556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分析結果の因果誤認</a:t>
            </a:r>
          </a:p>
        </p:txBody>
      </p:sp>
      <p:sp>
        <p:nvSpPr>
          <p:cNvPr id="15" name="二等辺三角形 14">
            <a:extLst>
              <a:ext uri="{FF2B5EF4-FFF2-40B4-BE49-F238E27FC236}">
                <a16:creationId xmlns:a16="http://schemas.microsoft.com/office/drawing/2014/main" id="{0A8587B3-2FDA-43AC-8094-C9BEEAC00B13}"/>
              </a:ext>
            </a:extLst>
          </p:cNvPr>
          <p:cNvSpPr/>
          <p:nvPr/>
        </p:nvSpPr>
        <p:spPr>
          <a:xfrm>
            <a:off x="6502400" y="2400300"/>
            <a:ext cx="152400" cy="152400"/>
          </a:xfrm>
          <a:prstGeom prst="triangl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テキスト ボックス 15">
            <a:extLst>
              <a:ext uri="{FF2B5EF4-FFF2-40B4-BE49-F238E27FC236}">
                <a16:creationId xmlns:a16="http://schemas.microsoft.com/office/drawing/2014/main" id="{7836E791-710F-4D1A-BF08-BB6C9FDA584E}"/>
              </a:ext>
            </a:extLst>
          </p:cNvPr>
          <p:cNvSpPr txBox="1"/>
          <p:nvPr/>
        </p:nvSpPr>
        <p:spPr>
          <a:xfrm>
            <a:off x="6731000" y="2324100"/>
            <a:ext cx="4902200" cy="3556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属性情報の不適切利用</a:t>
            </a:r>
          </a:p>
        </p:txBody>
      </p:sp>
      <p:sp>
        <p:nvSpPr>
          <p:cNvPr id="17" name="二等辺三角形 16">
            <a:extLst>
              <a:ext uri="{FF2B5EF4-FFF2-40B4-BE49-F238E27FC236}">
                <a16:creationId xmlns:a16="http://schemas.microsoft.com/office/drawing/2014/main" id="{99BE9D68-C4CB-40C9-9A7B-75A93B750BE1}"/>
              </a:ext>
            </a:extLst>
          </p:cNvPr>
          <p:cNvSpPr/>
          <p:nvPr/>
        </p:nvSpPr>
        <p:spPr>
          <a:xfrm>
            <a:off x="6502400" y="2832100"/>
            <a:ext cx="152400" cy="152400"/>
          </a:xfrm>
          <a:prstGeom prst="triangl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8" name="テキスト ボックス 17">
            <a:extLst>
              <a:ext uri="{FF2B5EF4-FFF2-40B4-BE49-F238E27FC236}">
                <a16:creationId xmlns:a16="http://schemas.microsoft.com/office/drawing/2014/main" id="{93D9C90E-023E-438B-AB5B-77C25E21E43F}"/>
              </a:ext>
            </a:extLst>
          </p:cNvPr>
          <p:cNvSpPr txBox="1"/>
          <p:nvPr/>
        </p:nvSpPr>
        <p:spPr>
          <a:xfrm>
            <a:off x="6731000" y="2755900"/>
            <a:ext cx="4902200" cy="3556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モデルスコアの個人評価転用</a:t>
            </a:r>
          </a:p>
        </p:txBody>
      </p:sp>
      <p:sp>
        <p:nvSpPr>
          <p:cNvPr id="19" name="二等辺三角形 18">
            <a:extLst>
              <a:ext uri="{FF2B5EF4-FFF2-40B4-BE49-F238E27FC236}">
                <a16:creationId xmlns:a16="http://schemas.microsoft.com/office/drawing/2014/main" id="{B96140C9-F9D0-4DDC-A123-A1E434E150A5}"/>
              </a:ext>
            </a:extLst>
          </p:cNvPr>
          <p:cNvSpPr/>
          <p:nvPr/>
        </p:nvSpPr>
        <p:spPr>
          <a:xfrm>
            <a:off x="6502400" y="3263900"/>
            <a:ext cx="152400" cy="152400"/>
          </a:xfrm>
          <a:prstGeom prst="triangl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0" name="テキスト ボックス 19">
            <a:extLst>
              <a:ext uri="{FF2B5EF4-FFF2-40B4-BE49-F238E27FC236}">
                <a16:creationId xmlns:a16="http://schemas.microsoft.com/office/drawing/2014/main" id="{F728DEDE-745F-44C5-ABE7-CD0689DBF6F2}"/>
              </a:ext>
            </a:extLst>
          </p:cNvPr>
          <p:cNvSpPr txBox="1"/>
          <p:nvPr/>
        </p:nvSpPr>
        <p:spPr>
          <a:xfrm>
            <a:off x="6731000" y="3187700"/>
            <a:ext cx="4902200" cy="3556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データ更新後の再現性低下</a:t>
            </a:r>
          </a:p>
        </p:txBody>
      </p:sp>
      <p:sp>
        <p:nvSpPr>
          <p:cNvPr id="21" name="二等辺三角形 20">
            <a:extLst>
              <a:ext uri="{FF2B5EF4-FFF2-40B4-BE49-F238E27FC236}">
                <a16:creationId xmlns:a16="http://schemas.microsoft.com/office/drawing/2014/main" id="{159E2ECF-21CE-412A-BED5-B47149DDFA48}"/>
              </a:ext>
            </a:extLst>
          </p:cNvPr>
          <p:cNvSpPr/>
          <p:nvPr/>
        </p:nvSpPr>
        <p:spPr>
          <a:xfrm>
            <a:off x="6502400" y="3695700"/>
            <a:ext cx="152400" cy="152400"/>
          </a:xfrm>
          <a:prstGeom prst="triangl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2" name="テキスト ボックス 21">
            <a:extLst>
              <a:ext uri="{FF2B5EF4-FFF2-40B4-BE49-F238E27FC236}">
                <a16:creationId xmlns:a16="http://schemas.microsoft.com/office/drawing/2014/main" id="{A38EBB62-AA24-42DF-A0F2-33297472D152}"/>
              </a:ext>
            </a:extLst>
          </p:cNvPr>
          <p:cNvSpPr txBox="1"/>
          <p:nvPr/>
        </p:nvSpPr>
        <p:spPr>
          <a:xfrm>
            <a:off x="6731000" y="3619500"/>
            <a:ext cx="4902200" cy="3556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スコープ外要求による運用膨張</a:t>
            </a:r>
          </a:p>
        </p:txBody>
      </p:sp>
      <p:sp>
        <p:nvSpPr>
          <p:cNvPr id="23" name="テキスト ボックス 22">
            <a:extLst>
              <a:ext uri="{FF2B5EF4-FFF2-40B4-BE49-F238E27FC236}">
                <a16:creationId xmlns:a16="http://schemas.microsoft.com/office/drawing/2014/main" id="{A6A66ECC-6ED2-4FE8-8D06-B9E69DD37AB0}"/>
              </a:ext>
            </a:extLst>
          </p:cNvPr>
          <p:cNvSpPr txBox="1"/>
          <p:nvPr/>
        </p:nvSpPr>
        <p:spPr>
          <a:xfrm>
            <a:off x="508000" y="4102100"/>
            <a:ext cx="11176000" cy="355600"/>
          </a:xfrm>
          <a:prstGeom prst="rect">
            <a:avLst/>
          </a:prstGeom>
          <a:noFill/>
        </p:spPr>
        <p:txBody>
          <a:bodyPr vertOverflow="overflow" vert="horz" wrap="square" rtlCol="0" anchor="t">
            <a:spAutoFit/>
          </a:bodyPr>
          <a:lstStyle/>
          <a:p>
            <a:pPr algn="l"/>
            <a:r>
              <a:rPr lang="ja-JP" altLang="en-US" sz="1600" b="1">
                <a:solidFill>
                  <a:srgbClr val="1A1A1A"/>
                </a:solidFill>
                <a:latin typeface="BIZ UDPGothic"/>
                <a:ea typeface="BIZ UDPGothic"/>
              </a:rPr>
              <a:t>リスク低減策</a:t>
            </a:r>
          </a:p>
        </p:txBody>
      </p:sp>
      <p:sp>
        <p:nvSpPr>
          <p:cNvPr id="24" name="正方形/長方形 23">
            <a:extLst>
              <a:ext uri="{FF2B5EF4-FFF2-40B4-BE49-F238E27FC236}">
                <a16:creationId xmlns:a16="http://schemas.microsoft.com/office/drawing/2014/main" id="{873456C4-7ED7-4144-9113-D2A1B86406C3}"/>
              </a:ext>
            </a:extLst>
          </p:cNvPr>
          <p:cNvSpPr/>
          <p:nvPr/>
        </p:nvSpPr>
        <p:spPr>
          <a:xfrm>
            <a:off x="508000" y="4457700"/>
            <a:ext cx="11176000" cy="25400"/>
          </a:xfrm>
          <a:prstGeom prst="rect">
            <a:avLst/>
          </a:prstGeom>
          <a:solidFill>
            <a:srgbClr val="D4C5B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5" name="四角形: 角を丸くする 24">
            <a:extLst>
              <a:ext uri="{FF2B5EF4-FFF2-40B4-BE49-F238E27FC236}">
                <a16:creationId xmlns:a16="http://schemas.microsoft.com/office/drawing/2014/main" id="{E126C39D-E3F8-4F59-92FF-433A549B50FC}"/>
              </a:ext>
            </a:extLst>
          </p:cNvPr>
          <p:cNvSpPr/>
          <p:nvPr/>
        </p:nvSpPr>
        <p:spPr>
          <a:xfrm>
            <a:off x="508000" y="4610100"/>
            <a:ext cx="2133600" cy="11430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6" name="正方形/長方形 25">
            <a:extLst>
              <a:ext uri="{FF2B5EF4-FFF2-40B4-BE49-F238E27FC236}">
                <a16:creationId xmlns:a16="http://schemas.microsoft.com/office/drawing/2014/main" id="{55C2D12E-41A9-4FF0-B778-651698D8FBA7}"/>
              </a:ext>
            </a:extLst>
          </p:cNvPr>
          <p:cNvSpPr/>
          <p:nvPr/>
        </p:nvSpPr>
        <p:spPr>
          <a:xfrm>
            <a:off x="508000" y="4610100"/>
            <a:ext cx="2133600" cy="63500"/>
          </a:xfrm>
          <a:prstGeom prst="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7" name="テキスト ボックス 26">
            <a:extLst>
              <a:ext uri="{FF2B5EF4-FFF2-40B4-BE49-F238E27FC236}">
                <a16:creationId xmlns:a16="http://schemas.microsoft.com/office/drawing/2014/main" id="{EC0FE7CB-C810-4715-B035-191B3EBA81C3}"/>
              </a:ext>
            </a:extLst>
          </p:cNvPr>
          <p:cNvSpPr txBox="1"/>
          <p:nvPr/>
        </p:nvSpPr>
        <p:spPr>
          <a:xfrm>
            <a:off x="635000" y="4787900"/>
            <a:ext cx="1879600" cy="838200"/>
          </a:xfrm>
          <a:prstGeom prst="rect">
            <a:avLst/>
          </a:prstGeom>
          <a:noFill/>
        </p:spPr>
        <p:txBody>
          <a:bodyPr vertOverflow="overflow" vert="horz" wrap="square" rtlCol="0" anchor="ctr" anchorCtr="0">
            <a:spAutoFit/>
          </a:bodyPr>
          <a:lstStyle/>
          <a:p>
            <a:pPr algn="l"/>
            <a:r>
              <a:rPr lang="ja-JP" altLang="en-US" sz="1400">
                <a:solidFill>
                  <a:srgbClr val="3D3D3D"/>
                </a:solidFill>
                <a:latin typeface="BIZ UDPGothic"/>
                <a:ea typeface="BIZ UDPGothic"/>
              </a:rPr>
              <a:t>報告表現は「関連」「傾向」
「示唆」に限定</a:t>
            </a:r>
          </a:p>
        </p:txBody>
      </p:sp>
      <p:sp>
        <p:nvSpPr>
          <p:cNvPr id="28" name="四角形: 角を丸くする 27">
            <a:extLst>
              <a:ext uri="{FF2B5EF4-FFF2-40B4-BE49-F238E27FC236}">
                <a16:creationId xmlns:a16="http://schemas.microsoft.com/office/drawing/2014/main" id="{7D3941A7-7350-4CE2-979D-A85926A7BDA9}"/>
              </a:ext>
            </a:extLst>
          </p:cNvPr>
          <p:cNvSpPr/>
          <p:nvPr/>
        </p:nvSpPr>
        <p:spPr>
          <a:xfrm>
            <a:off x="2768600" y="4610100"/>
            <a:ext cx="2133600" cy="11430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9" name="正方形/長方形 28">
            <a:extLst>
              <a:ext uri="{FF2B5EF4-FFF2-40B4-BE49-F238E27FC236}">
                <a16:creationId xmlns:a16="http://schemas.microsoft.com/office/drawing/2014/main" id="{C88ACF34-62F1-4CC8-BE85-40E136EB6966}"/>
              </a:ext>
            </a:extLst>
          </p:cNvPr>
          <p:cNvSpPr/>
          <p:nvPr/>
        </p:nvSpPr>
        <p:spPr>
          <a:xfrm>
            <a:off x="2768600" y="4610100"/>
            <a:ext cx="2133600" cy="63500"/>
          </a:xfrm>
          <a:prstGeom prst="rect">
            <a:avLst/>
          </a:prstGeom>
          <a:solidFill>
            <a:srgbClr val="A0522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0" name="テキスト ボックス 29">
            <a:extLst>
              <a:ext uri="{FF2B5EF4-FFF2-40B4-BE49-F238E27FC236}">
                <a16:creationId xmlns:a16="http://schemas.microsoft.com/office/drawing/2014/main" id="{BB669FFC-A2B0-4D8C-BF02-75ED4BDC0D32}"/>
              </a:ext>
            </a:extLst>
          </p:cNvPr>
          <p:cNvSpPr txBox="1"/>
          <p:nvPr/>
        </p:nvSpPr>
        <p:spPr>
          <a:xfrm>
            <a:off x="2895600" y="4787900"/>
            <a:ext cx="1879600" cy="838200"/>
          </a:xfrm>
          <a:prstGeom prst="rect">
            <a:avLst/>
          </a:prstGeom>
          <a:noFill/>
        </p:spPr>
        <p:txBody>
          <a:bodyPr vertOverflow="overflow" vert="horz" wrap="square" rtlCol="0" anchor="ctr" anchorCtr="0">
            <a:spAutoFit/>
          </a:bodyPr>
          <a:lstStyle/>
          <a:p>
            <a:pPr algn="l"/>
            <a:r>
              <a:rPr lang="ja-JP" altLang="en-US" sz="1400">
                <a:solidFill>
                  <a:srgbClr val="3D3D3D"/>
                </a:solidFill>
                <a:latin typeface="BIZ UDPGothic"/>
                <a:ea typeface="BIZ UDPGothic"/>
              </a:rPr>
              <a:t>集計中心・個票禁止</a:t>
            </a:r>
          </a:p>
        </p:txBody>
      </p:sp>
      <p:sp>
        <p:nvSpPr>
          <p:cNvPr id="31" name="四角形: 角を丸くする 30">
            <a:extLst>
              <a:ext uri="{FF2B5EF4-FFF2-40B4-BE49-F238E27FC236}">
                <a16:creationId xmlns:a16="http://schemas.microsoft.com/office/drawing/2014/main" id="{64471E80-A324-4F34-955C-BF4B7F84A3B6}"/>
              </a:ext>
            </a:extLst>
          </p:cNvPr>
          <p:cNvSpPr/>
          <p:nvPr/>
        </p:nvSpPr>
        <p:spPr>
          <a:xfrm>
            <a:off x="5029200" y="4610100"/>
            <a:ext cx="2133600" cy="11430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2" name="正方形/長方形 31">
            <a:extLst>
              <a:ext uri="{FF2B5EF4-FFF2-40B4-BE49-F238E27FC236}">
                <a16:creationId xmlns:a16="http://schemas.microsoft.com/office/drawing/2014/main" id="{94E9D658-423A-4066-B60F-B52E9CDB6DB1}"/>
              </a:ext>
            </a:extLst>
          </p:cNvPr>
          <p:cNvSpPr/>
          <p:nvPr/>
        </p:nvSpPr>
        <p:spPr>
          <a:xfrm>
            <a:off x="5029200" y="4610100"/>
            <a:ext cx="2133600" cy="63500"/>
          </a:xfrm>
          <a:prstGeom prst="rect">
            <a:avLst/>
          </a:prstGeom>
          <a:solidFill>
            <a:srgbClr val="4A4A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3" name="テキスト ボックス 32">
            <a:extLst>
              <a:ext uri="{FF2B5EF4-FFF2-40B4-BE49-F238E27FC236}">
                <a16:creationId xmlns:a16="http://schemas.microsoft.com/office/drawing/2014/main" id="{ED9CDF9A-46CC-46A5-8299-6FB55DB106B1}"/>
              </a:ext>
            </a:extLst>
          </p:cNvPr>
          <p:cNvSpPr txBox="1"/>
          <p:nvPr/>
        </p:nvSpPr>
        <p:spPr>
          <a:xfrm>
            <a:off x="5156200" y="4787900"/>
            <a:ext cx="1879600" cy="838200"/>
          </a:xfrm>
          <a:prstGeom prst="rect">
            <a:avLst/>
          </a:prstGeom>
          <a:noFill/>
        </p:spPr>
        <p:txBody>
          <a:bodyPr vertOverflow="overflow" vert="horz" wrap="square" rtlCol="0" anchor="ctr" anchorCtr="0">
            <a:spAutoFit/>
          </a:bodyPr>
          <a:lstStyle/>
          <a:p>
            <a:pPr algn="l"/>
            <a:r>
              <a:rPr lang="ja-JP" altLang="en-US" sz="1400">
                <a:solidFill>
                  <a:srgbClr val="3D3D3D"/>
                </a:solidFill>
                <a:latin typeface="BIZ UDPGothic"/>
                <a:ea typeface="BIZ UDPGothic"/>
              </a:rPr>
              <a:t>変更管理を正式運用</a:t>
            </a:r>
          </a:p>
        </p:txBody>
      </p:sp>
      <p:sp>
        <p:nvSpPr>
          <p:cNvPr id="34" name="四角形: 角を丸くする 33">
            <a:extLst>
              <a:ext uri="{FF2B5EF4-FFF2-40B4-BE49-F238E27FC236}">
                <a16:creationId xmlns:a16="http://schemas.microsoft.com/office/drawing/2014/main" id="{18517B8F-11F9-453D-AACE-EE131A103054}"/>
              </a:ext>
            </a:extLst>
          </p:cNvPr>
          <p:cNvSpPr/>
          <p:nvPr/>
        </p:nvSpPr>
        <p:spPr>
          <a:xfrm>
            <a:off x="7289800" y="4610100"/>
            <a:ext cx="2133600" cy="11430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5" name="正方形/長方形 34">
            <a:extLst>
              <a:ext uri="{FF2B5EF4-FFF2-40B4-BE49-F238E27FC236}">
                <a16:creationId xmlns:a16="http://schemas.microsoft.com/office/drawing/2014/main" id="{2EAACA45-B972-468C-AF5C-50CD806211EF}"/>
              </a:ext>
            </a:extLst>
          </p:cNvPr>
          <p:cNvSpPr/>
          <p:nvPr/>
        </p:nvSpPr>
        <p:spPr>
          <a:xfrm>
            <a:off x="7289800" y="4610100"/>
            <a:ext cx="2133600" cy="63500"/>
          </a:xfrm>
          <a:prstGeom prst="rect">
            <a:avLst/>
          </a:prstGeom>
          <a:solidFill>
            <a:srgbClr val="6B6B6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6" name="テキスト ボックス 35">
            <a:extLst>
              <a:ext uri="{FF2B5EF4-FFF2-40B4-BE49-F238E27FC236}">
                <a16:creationId xmlns:a16="http://schemas.microsoft.com/office/drawing/2014/main" id="{9CA97BE2-0377-408B-9A4B-3393142EC609}"/>
              </a:ext>
            </a:extLst>
          </p:cNvPr>
          <p:cNvSpPr txBox="1"/>
          <p:nvPr/>
        </p:nvSpPr>
        <p:spPr>
          <a:xfrm>
            <a:off x="7416800" y="4787900"/>
            <a:ext cx="1879600" cy="838200"/>
          </a:xfrm>
          <a:prstGeom prst="rect">
            <a:avLst/>
          </a:prstGeom>
          <a:noFill/>
        </p:spPr>
        <p:txBody>
          <a:bodyPr vertOverflow="overflow" vert="horz" wrap="square" rtlCol="0" anchor="ctr" anchorCtr="0">
            <a:spAutoFit/>
          </a:bodyPr>
          <a:lstStyle/>
          <a:p>
            <a:pPr algn="l"/>
            <a:r>
              <a:rPr lang="ja-JP" altLang="en-US" sz="1400">
                <a:solidFill>
                  <a:srgbClr val="3D3D3D"/>
                </a:solidFill>
                <a:latin typeface="BIZ UDPGothic"/>
                <a:ea typeface="BIZ UDPGothic"/>
              </a:rPr>
              <a:t>継続利用時は定期的な
再評価を実施</a:t>
            </a:r>
          </a:p>
        </p:txBody>
      </p:sp>
      <p:sp>
        <p:nvSpPr>
          <p:cNvPr id="37" name="四角形: 角を丸くする 36">
            <a:extLst>
              <a:ext uri="{FF2B5EF4-FFF2-40B4-BE49-F238E27FC236}">
                <a16:creationId xmlns:a16="http://schemas.microsoft.com/office/drawing/2014/main" id="{5DD8D53A-A2FB-4B85-8447-A0807EF3B901}"/>
              </a:ext>
            </a:extLst>
          </p:cNvPr>
          <p:cNvSpPr/>
          <p:nvPr/>
        </p:nvSpPr>
        <p:spPr>
          <a:xfrm>
            <a:off x="9550400" y="4610100"/>
            <a:ext cx="2133600" cy="11430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8" name="正方形/長方形 37">
            <a:extLst>
              <a:ext uri="{FF2B5EF4-FFF2-40B4-BE49-F238E27FC236}">
                <a16:creationId xmlns:a16="http://schemas.microsoft.com/office/drawing/2014/main" id="{3A0A1EF3-A6C6-420D-AA19-5C18160B6365}"/>
              </a:ext>
            </a:extLst>
          </p:cNvPr>
          <p:cNvSpPr/>
          <p:nvPr/>
        </p:nvSpPr>
        <p:spPr>
          <a:xfrm>
            <a:off x="9550400" y="4610100"/>
            <a:ext cx="2133600" cy="63500"/>
          </a:xfrm>
          <a:prstGeom prst="rect">
            <a:avLst/>
          </a:prstGeom>
          <a:solidFill>
            <a:srgbClr val="2C2C2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9" name="テキスト ボックス 38">
            <a:extLst>
              <a:ext uri="{FF2B5EF4-FFF2-40B4-BE49-F238E27FC236}">
                <a16:creationId xmlns:a16="http://schemas.microsoft.com/office/drawing/2014/main" id="{0061357A-74B6-4572-BFC2-85B01FE2D960}"/>
              </a:ext>
            </a:extLst>
          </p:cNvPr>
          <p:cNvSpPr txBox="1"/>
          <p:nvPr/>
        </p:nvSpPr>
        <p:spPr>
          <a:xfrm>
            <a:off x="9677400" y="4787900"/>
            <a:ext cx="1879600" cy="838200"/>
          </a:xfrm>
          <a:prstGeom prst="rect">
            <a:avLst/>
          </a:prstGeom>
          <a:noFill/>
        </p:spPr>
        <p:txBody>
          <a:bodyPr vertOverflow="overflow" vert="horz" wrap="square" rtlCol="0" anchor="ctr" anchorCtr="0">
            <a:spAutoFit/>
          </a:bodyPr>
          <a:lstStyle/>
          <a:p>
            <a:pPr algn="l"/>
            <a:r>
              <a:rPr lang="ja-JP" altLang="en-US" sz="1400">
                <a:solidFill>
                  <a:srgbClr val="3D3D3D"/>
                </a:solidFill>
                <a:latin typeface="BIZ UDPGothic"/>
                <a:ea typeface="BIZ UDPGothic"/>
              </a:rPr>
              <a:t>追加開発は別途合意
・別途精算</a:t>
            </a:r>
          </a:p>
        </p:txBody>
      </p:sp>
      <p:sp>
        <p:nvSpPr>
          <p:cNvPr id="40" name="テキスト ボックス 39">
            <a:extLst>
              <a:ext uri="{FF2B5EF4-FFF2-40B4-BE49-F238E27FC236}">
                <a16:creationId xmlns:a16="http://schemas.microsoft.com/office/drawing/2014/main" id="{0DAFE6AB-172A-41F2-B2FB-C69F7A3FFF13}"/>
              </a:ext>
            </a:extLst>
          </p:cNvPr>
          <p:cNvSpPr txBox="1"/>
          <p:nvPr/>
        </p:nvSpPr>
        <p:spPr>
          <a:xfrm>
            <a:off x="508000" y="5956300"/>
            <a:ext cx="11176000" cy="304800"/>
          </a:xfrm>
          <a:prstGeom prst="rect">
            <a:avLst/>
          </a:prstGeom>
          <a:noFill/>
        </p:spPr>
        <p:txBody>
          <a:bodyPr vertOverflow="overflow" vert="horz" wrap="square" rtlCol="0" anchor="t">
            <a:spAutoFit/>
          </a:bodyPr>
          <a:lstStyle/>
          <a:p>
            <a:pPr algn="l"/>
            <a:r>
              <a:rPr lang="en-US" altLang="ja-JP" sz="1400">
                <a:solidFill>
                  <a:srgbClr val="6B6B6B"/>
                </a:solidFill>
                <a:latin typeface="BIZ UDPGothic"/>
                <a:ea typeface="BIZ UDPGothic"/>
              </a:rPr>
              <a:t>※ M01</a:t>
            </a:r>
            <a:r>
              <a:rPr lang="ja-JP" altLang="en-US" sz="1400">
                <a:solidFill>
                  <a:srgbClr val="6B6B6B"/>
                </a:solidFill>
                <a:latin typeface="BIZ UDPGothic"/>
                <a:ea typeface="BIZ UDPGothic"/>
              </a:rPr>
              <a:t>起点のアクションアイテム</a:t>
            </a:r>
            <a:r>
              <a:rPr lang="en-US" altLang="ja-JP" sz="1400">
                <a:solidFill>
                  <a:srgbClr val="6B6B6B"/>
                </a:solidFill>
                <a:latin typeface="BIZ UDPGothic"/>
                <a:ea typeface="BIZ UDPGothic"/>
              </a:rPr>
              <a:t>6</a:t>
            </a:r>
            <a:r>
              <a:rPr lang="ja-JP" altLang="en-US" sz="1400">
                <a:solidFill>
                  <a:srgbClr val="6B6B6B"/>
                </a:solidFill>
                <a:latin typeface="BIZ UDPGothic"/>
                <a:ea typeface="BIZ UDPGothic"/>
              </a:rPr>
              <a:t>件の</a:t>
            </a:r>
            <a:r>
              <a:rPr lang="en-US" altLang="ja-JP" sz="1400">
                <a:solidFill>
                  <a:srgbClr val="6B6B6B"/>
                </a:solidFill>
                <a:latin typeface="BIZ UDPGothic"/>
                <a:ea typeface="BIZ UDPGothic"/>
              </a:rPr>
              <a:t>Open</a:t>
            </a:r>
            <a:r>
              <a:rPr lang="ja-JP" altLang="en-US" sz="1400">
                <a:solidFill>
                  <a:srgbClr val="6B6B6B"/>
                </a:solidFill>
                <a:latin typeface="BIZ UDPGothic"/>
                <a:ea typeface="BIZ UDPGothic"/>
              </a:rPr>
              <a:t>記録は、実務未実施ではなく記録更新の証跡不足として解釈。議事録管理の改善を推奨。</a:t>
            </a:r>
          </a:p>
        </p:txBody>
      </p:sp>
      <p:sp>
        <p:nvSpPr>
          <p:cNvPr id="41" name="テキスト ボックス 40">
            <a:extLst>
              <a:ext uri="{FF2B5EF4-FFF2-40B4-BE49-F238E27FC236}">
                <a16:creationId xmlns:a16="http://schemas.microsoft.com/office/drawing/2014/main" id="{DFF28B6D-5512-4F5B-9F26-431A2845CFD9}"/>
              </a:ext>
            </a:extLst>
          </p:cNvPr>
          <p:cNvSpPr txBox="1"/>
          <p:nvPr/>
        </p:nvSpPr>
        <p:spPr>
          <a:xfrm>
            <a:off x="508000" y="254000"/>
            <a:ext cx="11176000" cy="508000"/>
          </a:xfrm>
          <a:prstGeom prst="rect">
            <a:avLst/>
          </a:prstGeom>
          <a:noFill/>
        </p:spPr>
        <p:txBody>
          <a:bodyPr vertOverflow="overflow" vert="horz" wrap="square" rtlCol="0" anchor="t">
            <a:noAutofit/>
          </a:bodyPr>
          <a:lstStyle/>
          <a:p>
            <a:pPr algn="l"/>
            <a:r>
              <a:rPr lang="en-US" altLang="ja-JP" sz="2400" b="1">
                <a:solidFill>
                  <a:srgbClr val="1A1A1A"/>
                </a:solidFill>
                <a:latin typeface="BIZ UDPGothic"/>
                <a:ea typeface="BIZ UDPGothic"/>
              </a:rPr>
              <a:t>8. </a:t>
            </a:r>
            <a:r>
              <a:rPr lang="ja-JP" altLang="en-US" sz="2400" b="1">
                <a:solidFill>
                  <a:srgbClr val="1A1A1A"/>
                </a:solidFill>
                <a:latin typeface="BIZ UDPGothic"/>
                <a:ea typeface="BIZ UDPGothic"/>
              </a:rPr>
              <a:t>制約事項と残余リスク</a:t>
            </a:r>
          </a:p>
        </p:txBody>
      </p:sp>
      <p:sp>
        <p:nvSpPr>
          <p:cNvPr id="42" name="正方形/長方形 41">
            <a:extLst>
              <a:ext uri="{FF2B5EF4-FFF2-40B4-BE49-F238E27FC236}">
                <a16:creationId xmlns:a16="http://schemas.microsoft.com/office/drawing/2014/main" id="{ABDE079C-DBBB-42D9-974F-8193AB6A7F7D}"/>
              </a:ext>
            </a:extLst>
          </p:cNvPr>
          <p:cNvSpPr/>
          <p:nvPr/>
        </p:nvSpPr>
        <p:spPr>
          <a:xfrm>
            <a:off x="508000" y="787400"/>
            <a:ext cx="1270000" cy="38100"/>
          </a:xfrm>
          <a:prstGeom prst="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Tree>
    <p:extLst>
      <p:ext uri="{BB962C8B-B14F-4D97-AF65-F5344CB8AC3E}">
        <p14:creationId xmlns:p14="http://schemas.microsoft.com/office/powerpoint/2010/main" val="25012102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83EC3945-D708-4F98-AC06-A16FDB73FA1B}"/>
              </a:ext>
            </a:extLst>
          </p:cNvPr>
          <p:cNvGraphicFramePr>
            <a:graphicFrameLocks noGrp="1"/>
          </p:cNvGraphicFramePr>
          <p:nvPr>
            <p:extLst>
              <p:ext uri="{D42A27DB-BD31-4B8C-83A1-F6EECF244321}">
                <p14:modId xmlns:p14="http://schemas.microsoft.com/office/powerpoint/2010/main" val="857945137"/>
              </p:ext>
            </p:extLst>
          </p:nvPr>
        </p:nvGraphicFramePr>
        <p:xfrm>
          <a:off x="508000" y="1397000"/>
          <a:ext cx="9779000" cy="3301998"/>
        </p:xfrm>
        <a:graphic>
          <a:graphicData uri="http://schemas.openxmlformats.org/drawingml/2006/table">
            <a:tbl>
              <a:tblPr firstRow="1" bandRow="1">
                <a:tableStyleId>{5C22544A-7EE6-4342-B048-85BDC9FD1C3A}</a:tableStyleId>
              </a:tblPr>
              <a:tblGrid>
                <a:gridCol w="1651000">
                  <a:extLst>
                    <a:ext uri="{9D8B030D-6E8A-4147-A177-3AD203B41FA5}">
                      <a16:colId xmlns:a16="http://schemas.microsoft.com/office/drawing/2014/main" val="534906194"/>
                    </a:ext>
                  </a:extLst>
                </a:gridCol>
                <a:gridCol w="2667000">
                  <a:extLst>
                    <a:ext uri="{9D8B030D-6E8A-4147-A177-3AD203B41FA5}">
                      <a16:colId xmlns:a16="http://schemas.microsoft.com/office/drawing/2014/main" val="3336320260"/>
                    </a:ext>
                  </a:extLst>
                </a:gridCol>
                <a:gridCol w="2667000">
                  <a:extLst>
                    <a:ext uri="{9D8B030D-6E8A-4147-A177-3AD203B41FA5}">
                      <a16:colId xmlns:a16="http://schemas.microsoft.com/office/drawing/2014/main" val="3829587349"/>
                    </a:ext>
                  </a:extLst>
                </a:gridCol>
                <a:gridCol w="1397000">
                  <a:extLst>
                    <a:ext uri="{9D8B030D-6E8A-4147-A177-3AD203B41FA5}">
                      <a16:colId xmlns:a16="http://schemas.microsoft.com/office/drawing/2014/main" val="576536116"/>
                    </a:ext>
                  </a:extLst>
                </a:gridCol>
                <a:gridCol w="1397000">
                  <a:extLst>
                    <a:ext uri="{9D8B030D-6E8A-4147-A177-3AD203B41FA5}">
                      <a16:colId xmlns:a16="http://schemas.microsoft.com/office/drawing/2014/main" val="3201687115"/>
                    </a:ext>
                  </a:extLst>
                </a:gridCol>
              </a:tblGrid>
              <a:tr h="471714">
                <a:tc>
                  <a:txBody>
                    <a:bodyPr/>
                    <a:lstStyle/>
                    <a:p>
                      <a:pPr algn="ctr"/>
                      <a:r>
                        <a:rPr lang="ja-JP" altLang="en-US" sz="1400" b="1">
                          <a:solidFill>
                            <a:srgbClr val="FFFFFF"/>
                          </a:solidFill>
                          <a:latin typeface="BIZ UDPGothic"/>
                          <a:ea typeface="BIZ UDPGothic"/>
                        </a:rPr>
                        <a:t>項目</a:t>
                      </a:r>
                    </a:p>
                  </a:txBody>
                  <a:tcPr anchor="ctr">
                    <a:solidFill>
                      <a:srgbClr val="8B3A2F"/>
                    </a:solidFill>
                  </a:tcPr>
                </a:tc>
                <a:tc>
                  <a:txBody>
                    <a:bodyPr/>
                    <a:lstStyle/>
                    <a:p>
                      <a:pPr algn="ctr"/>
                      <a:r>
                        <a:rPr lang="ja-JP" altLang="en-US" sz="1400" b="1">
                          <a:solidFill>
                            <a:srgbClr val="FFFFFF"/>
                          </a:solidFill>
                          <a:latin typeface="BIZ UDPGothic"/>
                          <a:ea typeface="BIZ UDPGothic"/>
                        </a:rPr>
                        <a:t>提案・契約時点</a:t>
                      </a:r>
                    </a:p>
                  </a:txBody>
                  <a:tcPr anchor="ctr">
                    <a:solidFill>
                      <a:srgbClr val="8B3A2F"/>
                    </a:solidFill>
                  </a:tcPr>
                </a:tc>
                <a:tc>
                  <a:txBody>
                    <a:bodyPr/>
                    <a:lstStyle/>
                    <a:p>
                      <a:pPr algn="ctr"/>
                      <a:r>
                        <a:rPr lang="ja-JP" altLang="en-US" sz="1400" b="1">
                          <a:solidFill>
                            <a:srgbClr val="FFFFFF"/>
                          </a:solidFill>
                          <a:latin typeface="BIZ UDPGothic"/>
                          <a:ea typeface="BIZ UDPGothic"/>
                        </a:rPr>
                        <a:t>最終時点</a:t>
                      </a:r>
                    </a:p>
                  </a:txBody>
                  <a:tcPr anchor="ctr">
                    <a:solidFill>
                      <a:srgbClr val="8B3A2F"/>
                    </a:solidFill>
                  </a:tcPr>
                </a:tc>
                <a:tc>
                  <a:txBody>
                    <a:bodyPr/>
                    <a:lstStyle/>
                    <a:p>
                      <a:pPr algn="ctr"/>
                      <a:r>
                        <a:rPr lang="ja-JP" altLang="en-US" sz="1400" b="1">
                          <a:solidFill>
                            <a:srgbClr val="FFFFFF"/>
                          </a:solidFill>
                          <a:latin typeface="BIZ UDPGothic"/>
                          <a:ea typeface="BIZ UDPGothic"/>
                        </a:rPr>
                        <a:t>差分</a:t>
                      </a:r>
                    </a:p>
                  </a:txBody>
                  <a:tcPr anchor="ctr">
                    <a:solidFill>
                      <a:srgbClr val="8B3A2F"/>
                    </a:solidFill>
                  </a:tcPr>
                </a:tc>
                <a:tc>
                  <a:txBody>
                    <a:bodyPr/>
                    <a:lstStyle/>
                    <a:p>
                      <a:pPr algn="ctr"/>
                      <a:r>
                        <a:rPr lang="ja-JP" altLang="en-US" sz="1400" b="1">
                          <a:solidFill>
                            <a:srgbClr val="FFFFFF"/>
                          </a:solidFill>
                          <a:latin typeface="BIZ UDPGothic"/>
                          <a:ea typeface="BIZ UDPGothic"/>
                        </a:rPr>
                        <a:t>評価</a:t>
                      </a:r>
                    </a:p>
                  </a:txBody>
                  <a:tcPr anchor="ctr">
                    <a:solidFill>
                      <a:srgbClr val="8B3A2F"/>
                    </a:solidFill>
                  </a:tcPr>
                </a:tc>
                <a:extLst>
                  <a:ext uri="{0D108BD9-81ED-4DB2-BD59-A6C34878D82A}">
                    <a16:rowId xmlns:a16="http://schemas.microsoft.com/office/drawing/2014/main" val="229047227"/>
                  </a:ext>
                </a:extLst>
              </a:tr>
              <a:tr h="471714">
                <a:tc>
                  <a:txBody>
                    <a:bodyPr/>
                    <a:lstStyle/>
                    <a:p>
                      <a:pPr algn="ctr"/>
                      <a:r>
                        <a:rPr lang="ja-JP" altLang="en-US" sz="1400">
                          <a:solidFill>
                            <a:srgbClr val="3D3D3D"/>
                          </a:solidFill>
                          <a:latin typeface="BIZ UDPGothic"/>
                          <a:ea typeface="BIZ UDPGothic"/>
                        </a:rPr>
                        <a:t>成果物</a:t>
                      </a:r>
                    </a:p>
                  </a:txBody>
                  <a:tcPr anchor="ctr"/>
                </a:tc>
                <a:tc>
                  <a:txBody>
                    <a:bodyPr/>
                    <a:lstStyle/>
                    <a:p>
                      <a:pPr algn="ctr"/>
                      <a:r>
                        <a:rPr lang="ja-JP" altLang="en-US" sz="1400">
                          <a:solidFill>
                            <a:srgbClr val="3D3D3D"/>
                          </a:solidFill>
                          <a:latin typeface="BIZ UDPGothic"/>
                          <a:ea typeface="BIZ UDPGothic"/>
                        </a:rPr>
                        <a:t>9点納品</a:t>
                      </a:r>
                    </a:p>
                  </a:txBody>
                  <a:tcPr anchor="ctr"/>
                </a:tc>
                <a:tc>
                  <a:txBody>
                    <a:bodyPr/>
                    <a:lstStyle/>
                    <a:p>
                      <a:pPr algn="ctr"/>
                      <a:r>
                        <a:rPr lang="ja-JP" altLang="en-US" sz="1400">
                          <a:solidFill>
                            <a:srgbClr val="3D3D3D"/>
                          </a:solidFill>
                          <a:latin typeface="BIZ UDPGothic"/>
                          <a:ea typeface="BIZ UDPGothic"/>
                        </a:rPr>
                        <a:t>同一</a:t>
                      </a:r>
                    </a:p>
                  </a:txBody>
                  <a:tcPr anchor="ctr"/>
                </a:tc>
                <a:tc>
                  <a:txBody>
                    <a:bodyPr/>
                    <a:lstStyle/>
                    <a:p>
                      <a:pPr algn="ctr"/>
                      <a:r>
                        <a:rPr lang="ja-JP" altLang="en-US" sz="1400">
                          <a:solidFill>
                            <a:srgbClr val="3D3D3D"/>
                          </a:solidFill>
                          <a:latin typeface="BIZ UDPGothic"/>
                          <a:ea typeface="BIZ UDPGothic"/>
                        </a:rPr>
                        <a:t>なし</a:t>
                      </a:r>
                    </a:p>
                  </a:txBody>
                  <a:tcPr anchor="ctr"/>
                </a:tc>
                <a:tc>
                  <a:txBody>
                    <a:bodyPr/>
                    <a:lstStyle/>
                    <a:p>
                      <a:pPr algn="ctr"/>
                      <a:r>
                        <a:rPr lang="ja-JP" altLang="en-US" sz="1400">
                          <a:solidFill>
                            <a:srgbClr val="3D3D3D"/>
                          </a:solidFill>
                          <a:latin typeface="BIZ UDPGothic"/>
                          <a:ea typeface="BIZ UDPGothic"/>
                        </a:rPr>
                        <a:t>整合</a:t>
                      </a:r>
                    </a:p>
                  </a:txBody>
                  <a:tcPr anchor="ctr"/>
                </a:tc>
                <a:extLst>
                  <a:ext uri="{0D108BD9-81ED-4DB2-BD59-A6C34878D82A}">
                    <a16:rowId xmlns:a16="http://schemas.microsoft.com/office/drawing/2014/main" val="3890511243"/>
                  </a:ext>
                </a:extLst>
              </a:tr>
              <a:tr h="471714">
                <a:tc>
                  <a:txBody>
                    <a:bodyPr/>
                    <a:lstStyle/>
                    <a:p>
                      <a:pPr algn="ctr"/>
                      <a:r>
                        <a:rPr lang="ja-JP" altLang="en-US" sz="1400">
                          <a:solidFill>
                            <a:srgbClr val="3D3D3D"/>
                          </a:solidFill>
                          <a:latin typeface="BIZ UDPGothic"/>
                          <a:ea typeface="BIZ UDPGothic"/>
                        </a:rPr>
                        <a:t>スコープ</a:t>
                      </a:r>
                    </a:p>
                  </a:txBody>
                  <a:tcPr anchor="ctr">
                    <a:solidFill>
                      <a:srgbClr val="F2F0ED"/>
                    </a:solidFill>
                  </a:tcPr>
                </a:tc>
                <a:tc>
                  <a:txBody>
                    <a:bodyPr/>
                    <a:lstStyle/>
                    <a:p>
                      <a:pPr algn="ctr"/>
                      <a:r>
                        <a:rPr lang="ja-JP" altLang="en-US" sz="1400">
                          <a:solidFill>
                            <a:srgbClr val="3D3D3D"/>
                          </a:solidFill>
                          <a:latin typeface="BIZ UDPGothic"/>
                          <a:ea typeface="BIZ UDPGothic"/>
                        </a:rPr>
                        <a:t>初期分析,EDA,初期モデル</a:t>
                      </a:r>
                    </a:p>
                  </a:txBody>
                  <a:tcPr anchor="ctr">
                    <a:solidFill>
                      <a:srgbClr val="F2F0ED"/>
                    </a:solidFill>
                  </a:tcPr>
                </a:tc>
                <a:tc>
                  <a:txBody>
                    <a:bodyPr/>
                    <a:lstStyle/>
                    <a:p>
                      <a:pPr algn="ctr"/>
                      <a:r>
                        <a:rPr lang="ja-JP" altLang="en-US" sz="1400">
                          <a:solidFill>
                            <a:srgbClr val="3D3D3D"/>
                          </a:solidFill>
                          <a:latin typeface="BIZ UDPGothic"/>
                          <a:ea typeface="BIZ UDPGothic"/>
                        </a:rPr>
                        <a:t>同一</a:t>
                      </a:r>
                    </a:p>
                  </a:txBody>
                  <a:tcPr anchor="ctr">
                    <a:solidFill>
                      <a:srgbClr val="F2F0ED"/>
                    </a:solidFill>
                  </a:tcPr>
                </a:tc>
                <a:tc>
                  <a:txBody>
                    <a:bodyPr/>
                    <a:lstStyle/>
                    <a:p>
                      <a:pPr algn="ctr"/>
                      <a:r>
                        <a:rPr lang="ja-JP" altLang="en-US" sz="1400">
                          <a:solidFill>
                            <a:srgbClr val="3D3D3D"/>
                          </a:solidFill>
                          <a:latin typeface="BIZ UDPGothic"/>
                          <a:ea typeface="BIZ UDPGothic"/>
                        </a:rPr>
                        <a:t>なし</a:t>
                      </a:r>
                    </a:p>
                  </a:txBody>
                  <a:tcPr anchor="ctr">
                    <a:solidFill>
                      <a:srgbClr val="F2F0ED"/>
                    </a:solidFill>
                  </a:tcPr>
                </a:tc>
                <a:tc>
                  <a:txBody>
                    <a:bodyPr/>
                    <a:lstStyle/>
                    <a:p>
                      <a:pPr algn="ctr"/>
                      <a:r>
                        <a:rPr lang="ja-JP" altLang="en-US" sz="1400">
                          <a:solidFill>
                            <a:srgbClr val="3D3D3D"/>
                          </a:solidFill>
                          <a:latin typeface="BIZ UDPGothic"/>
                          <a:ea typeface="BIZ UDPGothic"/>
                        </a:rPr>
                        <a:t>整合</a:t>
                      </a:r>
                    </a:p>
                  </a:txBody>
                  <a:tcPr anchor="ctr">
                    <a:solidFill>
                      <a:srgbClr val="F2F0ED"/>
                    </a:solidFill>
                  </a:tcPr>
                </a:tc>
                <a:extLst>
                  <a:ext uri="{0D108BD9-81ED-4DB2-BD59-A6C34878D82A}">
                    <a16:rowId xmlns:a16="http://schemas.microsoft.com/office/drawing/2014/main" val="2140719823"/>
                  </a:ext>
                </a:extLst>
              </a:tr>
              <a:tr h="471714">
                <a:tc>
                  <a:txBody>
                    <a:bodyPr/>
                    <a:lstStyle/>
                    <a:p>
                      <a:pPr algn="ctr"/>
                      <a:r>
                        <a:rPr lang="ja-JP" altLang="en-US" sz="1400">
                          <a:solidFill>
                            <a:srgbClr val="3D3D3D"/>
                          </a:solidFill>
                          <a:latin typeface="BIZ UDPGothic"/>
                          <a:ea typeface="BIZ UDPGothic"/>
                        </a:rPr>
                        <a:t>KPI/受入基準</a:t>
                      </a:r>
                    </a:p>
                  </a:txBody>
                  <a:tcPr anchor="ctr"/>
                </a:tc>
                <a:tc>
                  <a:txBody>
                    <a:bodyPr/>
                    <a:lstStyle/>
                    <a:p>
                      <a:pPr algn="ctr"/>
                      <a:r>
                        <a:rPr lang="ja-JP" altLang="en-US" sz="1400">
                          <a:solidFill>
                            <a:srgbClr val="3D3D3D"/>
                          </a:solidFill>
                          <a:latin typeface="BIZ UDPGothic"/>
                          <a:ea typeface="BIZ UDPGothic"/>
                        </a:rPr>
                        <a:t>分析成果物の到達重視</a:t>
                      </a:r>
                    </a:p>
                  </a:txBody>
                  <a:tcPr anchor="ctr"/>
                </a:tc>
                <a:tc>
                  <a:txBody>
                    <a:bodyPr/>
                    <a:lstStyle/>
                    <a:p>
                      <a:pPr algn="ctr"/>
                      <a:r>
                        <a:rPr lang="ja-JP" altLang="en-US" sz="1400">
                          <a:solidFill>
                            <a:srgbClr val="3D3D3D"/>
                          </a:solidFill>
                          <a:latin typeface="BIZ UDPGothic"/>
                          <a:ea typeface="BIZ UDPGothic"/>
                        </a:rPr>
                        <a:t>同趣旨で達成</a:t>
                      </a:r>
                    </a:p>
                  </a:txBody>
                  <a:tcPr anchor="ctr"/>
                </a:tc>
                <a:tc>
                  <a:txBody>
                    <a:bodyPr/>
                    <a:lstStyle/>
                    <a:p>
                      <a:pPr algn="ctr"/>
                      <a:r>
                        <a:rPr lang="ja-JP" altLang="en-US" sz="1400">
                          <a:solidFill>
                            <a:srgbClr val="3D3D3D"/>
                          </a:solidFill>
                          <a:latin typeface="BIZ UDPGothic"/>
                          <a:ea typeface="BIZ UDPGothic"/>
                        </a:rPr>
                        <a:t>実質なし</a:t>
                      </a:r>
                    </a:p>
                  </a:txBody>
                  <a:tcPr anchor="ctr"/>
                </a:tc>
                <a:tc>
                  <a:txBody>
                    <a:bodyPr/>
                    <a:lstStyle/>
                    <a:p>
                      <a:pPr algn="ctr"/>
                      <a:r>
                        <a:rPr lang="ja-JP" altLang="en-US" sz="1400">
                          <a:solidFill>
                            <a:srgbClr val="3D3D3D"/>
                          </a:solidFill>
                          <a:latin typeface="BIZ UDPGothic"/>
                          <a:ea typeface="BIZ UDPGothic"/>
                        </a:rPr>
                        <a:t>整合</a:t>
                      </a:r>
                    </a:p>
                  </a:txBody>
                  <a:tcPr anchor="ctr"/>
                </a:tc>
                <a:extLst>
                  <a:ext uri="{0D108BD9-81ED-4DB2-BD59-A6C34878D82A}">
                    <a16:rowId xmlns:a16="http://schemas.microsoft.com/office/drawing/2014/main" val="155677166"/>
                  </a:ext>
                </a:extLst>
              </a:tr>
              <a:tr h="471714">
                <a:tc>
                  <a:txBody>
                    <a:bodyPr/>
                    <a:lstStyle/>
                    <a:p>
                      <a:pPr algn="ctr"/>
                      <a:r>
                        <a:rPr lang="ja-JP" altLang="en-US" sz="1400">
                          <a:solidFill>
                            <a:srgbClr val="3D3D3D"/>
                          </a:solidFill>
                          <a:latin typeface="BIZ UDPGothic"/>
                          <a:ea typeface="BIZ UDPGothic"/>
                        </a:rPr>
                        <a:t>契約形態</a:t>
                      </a:r>
                    </a:p>
                  </a:txBody>
                  <a:tcPr anchor="ctr">
                    <a:solidFill>
                      <a:srgbClr val="F2F0ED"/>
                    </a:solidFill>
                  </a:tcPr>
                </a:tc>
                <a:tc>
                  <a:txBody>
                    <a:bodyPr/>
                    <a:lstStyle/>
                    <a:p>
                      <a:pPr algn="ctr"/>
                      <a:r>
                        <a:rPr lang="ja-JP" altLang="en-US" sz="1400">
                          <a:solidFill>
                            <a:srgbClr val="3D3D3D"/>
                          </a:solidFill>
                          <a:latin typeface="BIZ UDPGothic"/>
                          <a:ea typeface="BIZ UDPGothic"/>
                        </a:rPr>
                        <a:t>T&amp;M、最終一括精算</a:t>
                      </a:r>
                    </a:p>
                  </a:txBody>
                  <a:tcPr anchor="ctr">
                    <a:solidFill>
                      <a:srgbClr val="F2F0ED"/>
                    </a:solidFill>
                  </a:tcPr>
                </a:tc>
                <a:tc>
                  <a:txBody>
                    <a:bodyPr/>
                    <a:lstStyle/>
                    <a:p>
                      <a:pPr algn="ctr"/>
                      <a:r>
                        <a:rPr lang="ja-JP" altLang="en-US" sz="1400">
                          <a:solidFill>
                            <a:srgbClr val="3D3D3D"/>
                          </a:solidFill>
                          <a:latin typeface="BIZ UDPGothic"/>
                          <a:ea typeface="BIZ UDPGothic"/>
                        </a:rPr>
                        <a:t>同一</a:t>
                      </a:r>
                    </a:p>
                  </a:txBody>
                  <a:tcPr anchor="ctr">
                    <a:solidFill>
                      <a:srgbClr val="F2F0ED"/>
                    </a:solidFill>
                  </a:tcPr>
                </a:tc>
                <a:tc>
                  <a:txBody>
                    <a:bodyPr/>
                    <a:lstStyle/>
                    <a:p>
                      <a:pPr algn="ctr"/>
                      <a:r>
                        <a:rPr lang="ja-JP" altLang="en-US" sz="1400">
                          <a:solidFill>
                            <a:srgbClr val="3D3D3D"/>
                          </a:solidFill>
                          <a:latin typeface="BIZ UDPGothic"/>
                          <a:ea typeface="BIZ UDPGothic"/>
                        </a:rPr>
                        <a:t>なし</a:t>
                      </a:r>
                    </a:p>
                  </a:txBody>
                  <a:tcPr anchor="ctr">
                    <a:solidFill>
                      <a:srgbClr val="F2F0ED"/>
                    </a:solidFill>
                  </a:tcPr>
                </a:tc>
                <a:tc>
                  <a:txBody>
                    <a:bodyPr/>
                    <a:lstStyle/>
                    <a:p>
                      <a:pPr algn="ctr"/>
                      <a:r>
                        <a:rPr lang="ja-JP" altLang="en-US" sz="1400">
                          <a:solidFill>
                            <a:srgbClr val="3D3D3D"/>
                          </a:solidFill>
                          <a:latin typeface="BIZ UDPGothic"/>
                          <a:ea typeface="BIZ UDPGothic"/>
                        </a:rPr>
                        <a:t>整合</a:t>
                      </a:r>
                    </a:p>
                  </a:txBody>
                  <a:tcPr anchor="ctr">
                    <a:solidFill>
                      <a:srgbClr val="F2F0ED"/>
                    </a:solidFill>
                  </a:tcPr>
                </a:tc>
                <a:extLst>
                  <a:ext uri="{0D108BD9-81ED-4DB2-BD59-A6C34878D82A}">
                    <a16:rowId xmlns:a16="http://schemas.microsoft.com/office/drawing/2014/main" val="555355067"/>
                  </a:ext>
                </a:extLst>
              </a:tr>
              <a:tr h="471714">
                <a:tc>
                  <a:txBody>
                    <a:bodyPr/>
                    <a:lstStyle/>
                    <a:p>
                      <a:pPr algn="ctr"/>
                      <a:r>
                        <a:rPr lang="ja-JP" altLang="en-US" sz="1400" b="1">
                          <a:solidFill>
                            <a:srgbClr val="8B3A2F"/>
                          </a:solidFill>
                          <a:latin typeface="BIZ UDPGothic"/>
                          <a:ea typeface="BIZ UDPGothic"/>
                        </a:rPr>
                        <a:t>モデル手法</a:t>
                      </a:r>
                    </a:p>
                  </a:txBody>
                  <a:tcPr anchor="ctr"/>
                </a:tc>
                <a:tc>
                  <a:txBody>
                    <a:bodyPr/>
                    <a:lstStyle/>
                    <a:p>
                      <a:pPr algn="ctr"/>
                      <a:r>
                        <a:rPr lang="ja-JP" altLang="en-US" sz="1400" b="1">
                          <a:solidFill>
                            <a:srgbClr val="8B3A2F"/>
                          </a:solidFill>
                          <a:latin typeface="BIZ UDPGothic"/>
                          <a:ea typeface="BIZ UDPGothic"/>
                        </a:rPr>
                        <a:t>初期的なロジック/予測</a:t>
                      </a:r>
                    </a:p>
                  </a:txBody>
                  <a:tcPr anchor="ctr"/>
                </a:tc>
                <a:tc>
                  <a:txBody>
                    <a:bodyPr/>
                    <a:lstStyle/>
                    <a:p>
                      <a:pPr algn="ctr"/>
                      <a:r>
                        <a:rPr lang="ja-JP" altLang="en-US" sz="1400" b="1">
                          <a:solidFill>
                            <a:srgbClr val="8B3A2F"/>
                          </a:solidFill>
                          <a:latin typeface="BIZ UDPGothic"/>
                          <a:ea typeface="BIZ UDPGothic"/>
                        </a:rPr>
                        <a:t>線形→Extra Trees</a:t>
                      </a:r>
                    </a:p>
                  </a:txBody>
                  <a:tcPr anchor="ctr"/>
                </a:tc>
                <a:tc>
                  <a:txBody>
                    <a:bodyPr/>
                    <a:lstStyle/>
                    <a:p>
                      <a:pPr algn="ctr"/>
                      <a:r>
                        <a:rPr lang="ja-JP" altLang="en-US" sz="1400" b="1">
                          <a:solidFill>
                            <a:srgbClr val="8B3A2F"/>
                          </a:solidFill>
                          <a:latin typeface="BIZ UDPGothic"/>
                          <a:ea typeface="BIZ UDPGothic"/>
                        </a:rPr>
                        <a:t>あり</a:t>
                      </a:r>
                    </a:p>
                  </a:txBody>
                  <a:tcPr anchor="ctr"/>
                </a:tc>
                <a:tc>
                  <a:txBody>
                    <a:bodyPr/>
                    <a:lstStyle/>
                    <a:p>
                      <a:pPr algn="ctr"/>
                      <a:r>
                        <a:rPr lang="ja-JP" altLang="en-US" sz="1400" b="1">
                          <a:solidFill>
                            <a:srgbClr val="8B3A2F"/>
                          </a:solidFill>
                          <a:latin typeface="BIZ UDPGothic"/>
                          <a:ea typeface="BIZ UDPGothic"/>
                        </a:rPr>
                        <a:t>範囲内</a:t>
                      </a:r>
                    </a:p>
                  </a:txBody>
                  <a:tcPr anchor="ctr"/>
                </a:tc>
                <a:extLst>
                  <a:ext uri="{0D108BD9-81ED-4DB2-BD59-A6C34878D82A}">
                    <a16:rowId xmlns:a16="http://schemas.microsoft.com/office/drawing/2014/main" val="1286910985"/>
                  </a:ext>
                </a:extLst>
              </a:tr>
              <a:tr h="471714">
                <a:tc>
                  <a:txBody>
                    <a:bodyPr/>
                    <a:lstStyle/>
                    <a:p>
                      <a:pPr algn="ctr"/>
                      <a:r>
                        <a:rPr lang="ja-JP" altLang="en-US" sz="1400">
                          <a:solidFill>
                            <a:srgbClr val="3D3D3D"/>
                          </a:solidFill>
                          <a:latin typeface="BIZ UDPGothic"/>
                          <a:ea typeface="BIZ UDPGothic"/>
                        </a:rPr>
                        <a:t>会議・変更管理</a:t>
                      </a:r>
                    </a:p>
                  </a:txBody>
                  <a:tcPr anchor="ctr">
                    <a:solidFill>
                      <a:srgbClr val="F2F0ED"/>
                    </a:solidFill>
                  </a:tcPr>
                </a:tc>
                <a:tc>
                  <a:txBody>
                    <a:bodyPr/>
                    <a:lstStyle/>
                    <a:p>
                      <a:pPr algn="ctr"/>
                      <a:r>
                        <a:rPr lang="ja-JP" altLang="en-US" sz="1400">
                          <a:solidFill>
                            <a:srgbClr val="3D3D3D"/>
                          </a:solidFill>
                          <a:latin typeface="BIZ UDPGothic"/>
                          <a:ea typeface="BIZ UDPGothic"/>
                        </a:rPr>
                        <a:t>M01/M02/M03</a:t>
                      </a:r>
                    </a:p>
                  </a:txBody>
                  <a:tcPr anchor="ctr">
                    <a:solidFill>
                      <a:srgbClr val="F2F0ED"/>
                    </a:solidFill>
                  </a:tcPr>
                </a:tc>
                <a:tc>
                  <a:txBody>
                    <a:bodyPr/>
                    <a:lstStyle/>
                    <a:p>
                      <a:pPr algn="ctr"/>
                      <a:r>
                        <a:rPr lang="ja-JP" altLang="en-US" sz="1400">
                          <a:solidFill>
                            <a:srgbClr val="3D3D3D"/>
                          </a:solidFill>
                          <a:latin typeface="BIZ UDPGothic"/>
                          <a:ea typeface="BIZ UDPGothic"/>
                        </a:rPr>
                        <a:t>同一時系列で実施</a:t>
                      </a:r>
                    </a:p>
                  </a:txBody>
                  <a:tcPr anchor="ctr">
                    <a:solidFill>
                      <a:srgbClr val="F2F0ED"/>
                    </a:solidFill>
                  </a:tcPr>
                </a:tc>
                <a:tc>
                  <a:txBody>
                    <a:bodyPr/>
                    <a:lstStyle/>
                    <a:p>
                      <a:pPr algn="ctr"/>
                      <a:r>
                        <a:rPr lang="ja-JP" altLang="en-US" sz="1400">
                          <a:solidFill>
                            <a:srgbClr val="3D3D3D"/>
                          </a:solidFill>
                          <a:latin typeface="BIZ UDPGothic"/>
                          <a:ea typeface="BIZ UDPGothic"/>
                        </a:rPr>
                        <a:t>なし</a:t>
                      </a:r>
                    </a:p>
                  </a:txBody>
                  <a:tcPr anchor="ctr">
                    <a:solidFill>
                      <a:srgbClr val="F2F0ED"/>
                    </a:solidFill>
                  </a:tcPr>
                </a:tc>
                <a:tc>
                  <a:txBody>
                    <a:bodyPr/>
                    <a:lstStyle/>
                    <a:p>
                      <a:pPr algn="ctr"/>
                      <a:r>
                        <a:rPr lang="ja-JP" altLang="en-US" sz="1400" dirty="0">
                          <a:solidFill>
                            <a:srgbClr val="3D3D3D"/>
                          </a:solidFill>
                          <a:latin typeface="BIZ UDPGothic"/>
                          <a:ea typeface="BIZ UDPGothic"/>
                        </a:rPr>
                        <a:t>整合</a:t>
                      </a:r>
                    </a:p>
                  </a:txBody>
                  <a:tcPr anchor="ctr">
                    <a:solidFill>
                      <a:srgbClr val="F2F0ED"/>
                    </a:solidFill>
                  </a:tcPr>
                </a:tc>
                <a:extLst>
                  <a:ext uri="{0D108BD9-81ED-4DB2-BD59-A6C34878D82A}">
                    <a16:rowId xmlns:a16="http://schemas.microsoft.com/office/drawing/2014/main" val="2452137732"/>
                  </a:ext>
                </a:extLst>
              </a:tr>
            </a:tbl>
          </a:graphicData>
        </a:graphic>
      </p:graphicFrame>
      <p:sp>
        <p:nvSpPr>
          <p:cNvPr id="5" name="テキスト ボックス 4">
            <a:extLst>
              <a:ext uri="{FF2B5EF4-FFF2-40B4-BE49-F238E27FC236}">
                <a16:creationId xmlns:a16="http://schemas.microsoft.com/office/drawing/2014/main" id="{DC123676-6B01-4A6F-9E09-CF963ADDE5CC}"/>
              </a:ext>
            </a:extLst>
          </p:cNvPr>
          <p:cNvSpPr txBox="1"/>
          <p:nvPr/>
        </p:nvSpPr>
        <p:spPr>
          <a:xfrm>
            <a:off x="508000" y="4889500"/>
            <a:ext cx="11176000" cy="304800"/>
          </a:xfrm>
          <a:prstGeom prst="rect">
            <a:avLst/>
          </a:prstGeom>
          <a:noFill/>
        </p:spPr>
        <p:txBody>
          <a:bodyPr vertOverflow="overflow" vert="horz" wrap="square" rtlCol="0" anchor="t">
            <a:spAutoFit/>
          </a:bodyPr>
          <a:lstStyle/>
          <a:p>
            <a:pPr algn="l"/>
            <a:r>
              <a:rPr lang="ja-JP" altLang="en-US" sz="1600" b="1">
                <a:solidFill>
                  <a:srgbClr val="8B3A2F"/>
                </a:solidFill>
                <a:latin typeface="BIZ UDPGothic"/>
                <a:ea typeface="BIZ UDPGothic"/>
              </a:rPr>
              <a:t>変更があった項目：モデル手法の具体化</a:t>
            </a:r>
          </a:p>
        </p:txBody>
      </p:sp>
      <p:sp>
        <p:nvSpPr>
          <p:cNvPr id="6" name="正方形/長方形 5">
            <a:extLst>
              <a:ext uri="{FF2B5EF4-FFF2-40B4-BE49-F238E27FC236}">
                <a16:creationId xmlns:a16="http://schemas.microsoft.com/office/drawing/2014/main" id="{DCE29301-A3F2-46DD-B944-918C9DB0C90C}"/>
              </a:ext>
            </a:extLst>
          </p:cNvPr>
          <p:cNvSpPr/>
          <p:nvPr/>
        </p:nvSpPr>
        <p:spPr>
          <a:xfrm>
            <a:off x="508000" y="5194300"/>
            <a:ext cx="11176000" cy="25400"/>
          </a:xfrm>
          <a:prstGeom prst="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 name="テキスト ボックス 6">
            <a:extLst>
              <a:ext uri="{FF2B5EF4-FFF2-40B4-BE49-F238E27FC236}">
                <a16:creationId xmlns:a16="http://schemas.microsoft.com/office/drawing/2014/main" id="{C44A1AD2-C923-4E12-A2B8-80D28D01D62D}"/>
              </a:ext>
            </a:extLst>
          </p:cNvPr>
          <p:cNvSpPr txBox="1"/>
          <p:nvPr/>
        </p:nvSpPr>
        <p:spPr>
          <a:xfrm>
            <a:off x="635000" y="5295900"/>
            <a:ext cx="11049000" cy="914400"/>
          </a:xfrm>
          <a:prstGeom prst="rect">
            <a:avLst/>
          </a:prstGeom>
          <a:noFill/>
        </p:spPr>
        <p:txBody>
          <a:bodyPr vertOverflow="overflow" vert="horz" wrap="square" rtlCol="0" anchor="t">
            <a:spAutoFit/>
          </a:bodyPr>
          <a:lstStyle/>
          <a:p>
            <a:pPr algn="l"/>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変更内容：提案時は手法未固定 → 中間報告で線形ベースライン → 最終分析で</a:t>
            </a:r>
            <a:r>
              <a:rPr lang="en-US" altLang="ja-JP" sz="1400">
                <a:solidFill>
                  <a:srgbClr val="3D3D3D"/>
                </a:solidFill>
                <a:latin typeface="BIZ UDPGothic"/>
                <a:ea typeface="BIZ UDPGothic"/>
              </a:rPr>
              <a:t>Extra Trees</a:t>
            </a:r>
            <a:r>
              <a:rPr lang="ja-JP" altLang="en-US" sz="1400">
                <a:solidFill>
                  <a:srgbClr val="3D3D3D"/>
                </a:solidFill>
                <a:latin typeface="BIZ UDPGothic"/>
                <a:ea typeface="BIZ UDPGothic"/>
              </a:rPr>
              <a:t>採用
</a:t>
            </a:r>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変更理由：説明可能性を担保しつつ、最終時点での判別性能確認のため
</a:t>
            </a:r>
            <a:r>
              <a:rPr lang="en-US" altLang="ja-JP" sz="1400">
                <a:solidFill>
                  <a:srgbClr val="3D3D3D"/>
                </a:solidFill>
                <a:latin typeface="BIZ UDPGothic"/>
                <a:ea typeface="BIZ UDPGothic"/>
              </a:rPr>
              <a:t>• </a:t>
            </a:r>
            <a:r>
              <a:rPr lang="ja-JP" altLang="en-US" sz="1400">
                <a:solidFill>
                  <a:srgbClr val="3D3D3D"/>
                </a:solidFill>
                <a:latin typeface="BIZ UDPGothic"/>
                <a:ea typeface="BIZ UDPGothic"/>
              </a:rPr>
              <a:t>承認トレース：</a:t>
            </a:r>
            <a:r>
              <a:rPr lang="en-US" altLang="ja-JP" sz="1400">
                <a:solidFill>
                  <a:srgbClr val="3D3D3D"/>
                </a:solidFill>
                <a:latin typeface="BIZ UDPGothic"/>
                <a:ea typeface="BIZ UDPGothic"/>
              </a:rPr>
              <a:t>M02</a:t>
            </a:r>
            <a:r>
              <a:rPr lang="ja-JP" altLang="en-US" sz="1400">
                <a:solidFill>
                  <a:srgbClr val="3D3D3D"/>
                </a:solidFill>
                <a:latin typeface="BIZ UDPGothic"/>
                <a:ea typeface="BIZ UDPGothic"/>
              </a:rPr>
              <a:t>後</a:t>
            </a:r>
            <a:r>
              <a:rPr lang="en-US" altLang="ja-JP" sz="1400">
                <a:solidFill>
                  <a:srgbClr val="3D3D3D"/>
                </a:solidFill>
                <a:latin typeface="BIZ UDPGothic"/>
                <a:ea typeface="BIZ UDPGothic"/>
              </a:rPr>
              <a:t>〜2025-07-14</a:t>
            </a:r>
            <a:r>
              <a:rPr lang="ja-JP" altLang="en-US" sz="1400">
                <a:solidFill>
                  <a:srgbClr val="3D3D3D"/>
                </a:solidFill>
                <a:latin typeface="BIZ UDPGothic"/>
                <a:ea typeface="BIZ UDPGothic"/>
              </a:rPr>
              <a:t>（</a:t>
            </a:r>
            <a:r>
              <a:rPr lang="en-US" altLang="ja-JP" sz="1400">
                <a:solidFill>
                  <a:srgbClr val="3D3D3D"/>
                </a:solidFill>
                <a:latin typeface="BIZ UDPGothic"/>
                <a:ea typeface="BIZ UDPGothic"/>
              </a:rPr>
              <a:t>MS4 / T13-T14</a:t>
            </a:r>
            <a:r>
              <a:rPr lang="ja-JP" altLang="en-US" sz="1400">
                <a:solidFill>
                  <a:srgbClr val="3D3D3D"/>
                </a:solidFill>
                <a:latin typeface="BIZ UDPGothic"/>
                <a:ea typeface="BIZ UDPGothic"/>
              </a:rPr>
              <a:t>）の変更管理チェックポイントにて合意</a:t>
            </a:r>
          </a:p>
        </p:txBody>
      </p:sp>
      <p:sp>
        <p:nvSpPr>
          <p:cNvPr id="8" name="テキスト ボックス 7">
            <a:extLst>
              <a:ext uri="{FF2B5EF4-FFF2-40B4-BE49-F238E27FC236}">
                <a16:creationId xmlns:a16="http://schemas.microsoft.com/office/drawing/2014/main" id="{ABFADA3E-DA3B-44FB-8A0D-180001229012}"/>
              </a:ext>
            </a:extLst>
          </p:cNvPr>
          <p:cNvSpPr txBox="1"/>
          <p:nvPr/>
        </p:nvSpPr>
        <p:spPr>
          <a:xfrm>
            <a:off x="508000" y="254000"/>
            <a:ext cx="11176000" cy="508000"/>
          </a:xfrm>
          <a:prstGeom prst="rect">
            <a:avLst/>
          </a:prstGeom>
          <a:noFill/>
        </p:spPr>
        <p:txBody>
          <a:bodyPr vertOverflow="overflow" vert="horz" wrap="square" rtlCol="0" anchor="t">
            <a:noAutofit/>
          </a:bodyPr>
          <a:lstStyle/>
          <a:p>
            <a:pPr algn="l"/>
            <a:r>
              <a:rPr lang="en-US" altLang="ja-JP" sz="2400" b="1">
                <a:solidFill>
                  <a:srgbClr val="1A1A1A"/>
                </a:solidFill>
                <a:latin typeface="BIZ UDPGothic"/>
                <a:ea typeface="BIZ UDPGothic"/>
              </a:rPr>
              <a:t>9. </a:t>
            </a:r>
            <a:r>
              <a:rPr lang="ja-JP" altLang="en-US" sz="2400" b="1">
                <a:solidFill>
                  <a:srgbClr val="1A1A1A"/>
                </a:solidFill>
                <a:latin typeface="BIZ UDPGothic"/>
                <a:ea typeface="BIZ UDPGothic"/>
              </a:rPr>
              <a:t>成果物サマリ・請求情報</a:t>
            </a:r>
          </a:p>
        </p:txBody>
      </p:sp>
      <p:sp>
        <p:nvSpPr>
          <p:cNvPr id="9" name="正方形/長方形 8">
            <a:extLst>
              <a:ext uri="{FF2B5EF4-FFF2-40B4-BE49-F238E27FC236}">
                <a16:creationId xmlns:a16="http://schemas.microsoft.com/office/drawing/2014/main" id="{26B71ACF-EA13-4D6D-8727-91301AEE2A53}"/>
              </a:ext>
            </a:extLst>
          </p:cNvPr>
          <p:cNvSpPr/>
          <p:nvPr/>
        </p:nvSpPr>
        <p:spPr>
          <a:xfrm>
            <a:off x="508000" y="787400"/>
            <a:ext cx="1270000" cy="38100"/>
          </a:xfrm>
          <a:prstGeom prst="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Tree>
    <p:extLst>
      <p:ext uri="{BB962C8B-B14F-4D97-AF65-F5344CB8AC3E}">
        <p14:creationId xmlns:p14="http://schemas.microsoft.com/office/powerpoint/2010/main" val="24105862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312B421E-B626-4CE5-B3DD-DD69A0D0D485}"/>
              </a:ext>
            </a:extLst>
          </p:cNvPr>
          <p:cNvGraphicFramePr>
            <a:graphicFrameLocks noGrp="1"/>
          </p:cNvGraphicFramePr>
          <p:nvPr>
            <p:extLst>
              <p:ext uri="{D42A27DB-BD31-4B8C-83A1-F6EECF244321}">
                <p14:modId xmlns:p14="http://schemas.microsoft.com/office/powerpoint/2010/main" val="2556389665"/>
              </p:ext>
            </p:extLst>
          </p:nvPr>
        </p:nvGraphicFramePr>
        <p:xfrm>
          <a:off x="508000" y="1397000"/>
          <a:ext cx="6604000" cy="222250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113575848"/>
                    </a:ext>
                  </a:extLst>
                </a:gridCol>
                <a:gridCol w="5080000">
                  <a:extLst>
                    <a:ext uri="{9D8B030D-6E8A-4147-A177-3AD203B41FA5}">
                      <a16:colId xmlns:a16="http://schemas.microsoft.com/office/drawing/2014/main" val="543984401"/>
                    </a:ext>
                  </a:extLst>
                </a:gridCol>
              </a:tblGrid>
              <a:tr h="444500">
                <a:tc>
                  <a:txBody>
                    <a:bodyPr/>
                    <a:lstStyle/>
                    <a:p>
                      <a:pPr algn="ctr"/>
                      <a:r>
                        <a:rPr lang="ja-JP" altLang="en-US" sz="1400" b="1">
                          <a:solidFill>
                            <a:srgbClr val="FFFFFF"/>
                          </a:solidFill>
                          <a:latin typeface="BIZ UDPGothic"/>
                          <a:ea typeface="BIZ UDPGothic"/>
                        </a:rPr>
                        <a:t>成果カテゴリ</a:t>
                      </a:r>
                    </a:p>
                  </a:txBody>
                  <a:tcPr anchor="ctr">
                    <a:solidFill>
                      <a:srgbClr val="8B3A2F"/>
                    </a:solidFill>
                  </a:tcPr>
                </a:tc>
                <a:tc>
                  <a:txBody>
                    <a:bodyPr/>
                    <a:lstStyle/>
                    <a:p>
                      <a:pPr algn="ctr"/>
                      <a:r>
                        <a:rPr lang="ja-JP" altLang="en-US" sz="1400" b="1">
                          <a:solidFill>
                            <a:srgbClr val="FFFFFF"/>
                          </a:solidFill>
                          <a:latin typeface="BIZ UDPGothic"/>
                          <a:ea typeface="BIZ UDPGothic"/>
                        </a:rPr>
                        <a:t>内容</a:t>
                      </a:r>
                    </a:p>
                  </a:txBody>
                  <a:tcPr anchor="ctr">
                    <a:solidFill>
                      <a:srgbClr val="8B3A2F"/>
                    </a:solidFill>
                  </a:tcPr>
                </a:tc>
                <a:extLst>
                  <a:ext uri="{0D108BD9-81ED-4DB2-BD59-A6C34878D82A}">
                    <a16:rowId xmlns:a16="http://schemas.microsoft.com/office/drawing/2014/main" val="1290342296"/>
                  </a:ext>
                </a:extLst>
              </a:tr>
              <a:tr h="444500">
                <a:tc>
                  <a:txBody>
                    <a:bodyPr/>
                    <a:lstStyle/>
                    <a:p>
                      <a:r>
                        <a:rPr lang="ja-JP" altLang="en-US" sz="1400">
                          <a:solidFill>
                            <a:srgbClr val="3D3D3D"/>
                          </a:solidFill>
                          <a:latin typeface="BIZ UDPGothic"/>
                          <a:ea typeface="BIZ UDPGothic"/>
                        </a:rPr>
                        <a:t>業務成果</a:t>
                      </a:r>
                    </a:p>
                  </a:txBody>
                  <a:tcPr anchor="ctr"/>
                </a:tc>
                <a:tc>
                  <a:txBody>
                    <a:bodyPr/>
                    <a:lstStyle/>
                    <a:p>
                      <a:r>
                        <a:rPr lang="ja-JP" altLang="en-US" sz="1400">
                          <a:solidFill>
                            <a:srgbClr val="3D3D3D"/>
                          </a:solidFill>
                          <a:latin typeface="BIZ UDPGothic"/>
                          <a:ea typeface="BIZ UDPGothic"/>
                        </a:rPr>
                        <a:t>離職関連論点の構造整理、施策仮説整理、運用制約明文化</a:t>
                      </a:r>
                    </a:p>
                  </a:txBody>
                  <a:tcPr anchor="ctr"/>
                </a:tc>
                <a:extLst>
                  <a:ext uri="{0D108BD9-81ED-4DB2-BD59-A6C34878D82A}">
                    <a16:rowId xmlns:a16="http://schemas.microsoft.com/office/drawing/2014/main" val="1267791195"/>
                  </a:ext>
                </a:extLst>
              </a:tr>
              <a:tr h="444500">
                <a:tc>
                  <a:txBody>
                    <a:bodyPr/>
                    <a:lstStyle/>
                    <a:p>
                      <a:r>
                        <a:rPr lang="ja-JP" altLang="en-US" sz="1400">
                          <a:solidFill>
                            <a:srgbClr val="3D3D3D"/>
                          </a:solidFill>
                          <a:latin typeface="BIZ UDPGothic"/>
                          <a:ea typeface="BIZ UDPGothic"/>
                        </a:rPr>
                        <a:t>分析成果</a:t>
                      </a:r>
                    </a:p>
                  </a:txBody>
                  <a:tcPr anchor="ctr">
                    <a:solidFill>
                      <a:srgbClr val="F2F0ED"/>
                    </a:solidFill>
                  </a:tcPr>
                </a:tc>
                <a:tc>
                  <a:txBody>
                    <a:bodyPr/>
                    <a:lstStyle/>
                    <a:p>
                      <a:r>
                        <a:rPr lang="ja-JP" altLang="en-US" sz="1400">
                          <a:solidFill>
                            <a:srgbClr val="3D3D3D"/>
                          </a:solidFill>
                          <a:latin typeface="BIZ UDPGothic"/>
                          <a:ea typeface="BIZ UDPGothic"/>
                        </a:rPr>
                        <a:t>EDA、初期モデル評価、特徴量方針、分類性能確認</a:t>
                      </a:r>
                    </a:p>
                  </a:txBody>
                  <a:tcPr anchor="ctr">
                    <a:solidFill>
                      <a:srgbClr val="F2F0ED"/>
                    </a:solidFill>
                  </a:tcPr>
                </a:tc>
                <a:extLst>
                  <a:ext uri="{0D108BD9-81ED-4DB2-BD59-A6C34878D82A}">
                    <a16:rowId xmlns:a16="http://schemas.microsoft.com/office/drawing/2014/main" val="3301083916"/>
                  </a:ext>
                </a:extLst>
              </a:tr>
              <a:tr h="444500">
                <a:tc>
                  <a:txBody>
                    <a:bodyPr/>
                    <a:lstStyle/>
                    <a:p>
                      <a:r>
                        <a:rPr lang="ja-JP" altLang="en-US" sz="1400">
                          <a:solidFill>
                            <a:srgbClr val="3D3D3D"/>
                          </a:solidFill>
                          <a:latin typeface="BIZ UDPGothic"/>
                          <a:ea typeface="BIZ UDPGothic"/>
                        </a:rPr>
                        <a:t>運用成果</a:t>
                      </a:r>
                    </a:p>
                  </a:txBody>
                  <a:tcPr anchor="ctr"/>
                </a:tc>
                <a:tc>
                  <a:txBody>
                    <a:bodyPr/>
                    <a:lstStyle/>
                    <a:p>
                      <a:r>
                        <a:rPr lang="ja-JP" altLang="en-US" sz="1400">
                          <a:solidFill>
                            <a:srgbClr val="3D3D3D"/>
                          </a:solidFill>
                          <a:latin typeface="BIZ UDPGothic"/>
                          <a:ea typeface="BIZ UDPGothic"/>
                        </a:rPr>
                        <a:t>集計中心活用方針、公平性配慮、将来運用ロードマップ</a:t>
                      </a:r>
                    </a:p>
                  </a:txBody>
                  <a:tcPr anchor="ctr"/>
                </a:tc>
                <a:extLst>
                  <a:ext uri="{0D108BD9-81ED-4DB2-BD59-A6C34878D82A}">
                    <a16:rowId xmlns:a16="http://schemas.microsoft.com/office/drawing/2014/main" val="3297759222"/>
                  </a:ext>
                </a:extLst>
              </a:tr>
              <a:tr h="444500">
                <a:tc>
                  <a:txBody>
                    <a:bodyPr/>
                    <a:lstStyle/>
                    <a:p>
                      <a:r>
                        <a:rPr lang="ja-JP" altLang="en-US" sz="1400">
                          <a:solidFill>
                            <a:srgbClr val="3D3D3D"/>
                          </a:solidFill>
                          <a:latin typeface="BIZ UDPGothic"/>
                          <a:ea typeface="BIZ UDPGothic"/>
                        </a:rPr>
                        <a:t>管理成果</a:t>
                      </a:r>
                    </a:p>
                  </a:txBody>
                  <a:tcPr anchor="ctr">
                    <a:solidFill>
                      <a:srgbClr val="F2F0ED"/>
                    </a:solidFill>
                  </a:tcPr>
                </a:tc>
                <a:tc>
                  <a:txBody>
                    <a:bodyPr/>
                    <a:lstStyle/>
                    <a:p>
                      <a:r>
                        <a:rPr lang="ja-JP" altLang="en-US" sz="1400">
                          <a:solidFill>
                            <a:srgbClr val="3D3D3D"/>
                          </a:solidFill>
                          <a:latin typeface="BIZ UDPGothic"/>
                          <a:ea typeface="BIZ UDPGothic"/>
                        </a:rPr>
                        <a:t>提案・契約・スケジュール・中間報告との整合管理</a:t>
                      </a:r>
                    </a:p>
                  </a:txBody>
                  <a:tcPr anchor="ctr">
                    <a:solidFill>
                      <a:srgbClr val="F2F0ED"/>
                    </a:solidFill>
                  </a:tcPr>
                </a:tc>
                <a:extLst>
                  <a:ext uri="{0D108BD9-81ED-4DB2-BD59-A6C34878D82A}">
                    <a16:rowId xmlns:a16="http://schemas.microsoft.com/office/drawing/2014/main" val="2869310234"/>
                  </a:ext>
                </a:extLst>
              </a:tr>
            </a:tbl>
          </a:graphicData>
        </a:graphic>
      </p:graphicFrame>
      <p:sp>
        <p:nvSpPr>
          <p:cNvPr id="5" name="四角形: 角を丸くする 4">
            <a:extLst>
              <a:ext uri="{FF2B5EF4-FFF2-40B4-BE49-F238E27FC236}">
                <a16:creationId xmlns:a16="http://schemas.microsoft.com/office/drawing/2014/main" id="{55BB7FE5-6BFE-4705-95AB-FCB80A067682}"/>
              </a:ext>
            </a:extLst>
          </p:cNvPr>
          <p:cNvSpPr/>
          <p:nvPr/>
        </p:nvSpPr>
        <p:spPr>
          <a:xfrm>
            <a:off x="7366000" y="1397000"/>
            <a:ext cx="4318000" cy="22225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正方形/長方形 5">
            <a:extLst>
              <a:ext uri="{FF2B5EF4-FFF2-40B4-BE49-F238E27FC236}">
                <a16:creationId xmlns:a16="http://schemas.microsoft.com/office/drawing/2014/main" id="{1E550F3A-942B-41A7-8576-8444CB9CAC58}"/>
              </a:ext>
            </a:extLst>
          </p:cNvPr>
          <p:cNvSpPr/>
          <p:nvPr/>
        </p:nvSpPr>
        <p:spPr>
          <a:xfrm>
            <a:off x="7366000" y="1397000"/>
            <a:ext cx="4318000" cy="406400"/>
          </a:xfrm>
          <a:prstGeom prst="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500" b="1">
                <a:solidFill>
                  <a:srgbClr val="FFFFFF"/>
                </a:solidFill>
                <a:latin typeface="BIZ UDPGothic"/>
                <a:ea typeface="BIZ UDPGothic"/>
              </a:rPr>
              <a:t>請求情報</a:t>
            </a:r>
          </a:p>
        </p:txBody>
      </p:sp>
      <p:sp>
        <p:nvSpPr>
          <p:cNvPr id="7" name="テキスト ボックス 6">
            <a:extLst>
              <a:ext uri="{FF2B5EF4-FFF2-40B4-BE49-F238E27FC236}">
                <a16:creationId xmlns:a16="http://schemas.microsoft.com/office/drawing/2014/main" id="{EBD6F98A-3A60-4058-A48C-32F6CD5DE977}"/>
              </a:ext>
            </a:extLst>
          </p:cNvPr>
          <p:cNvSpPr txBox="1"/>
          <p:nvPr/>
        </p:nvSpPr>
        <p:spPr>
          <a:xfrm>
            <a:off x="7556500" y="1892300"/>
            <a:ext cx="3937000" cy="1574800"/>
          </a:xfrm>
          <a:prstGeom prst="rect">
            <a:avLst/>
          </a:prstGeom>
          <a:noFill/>
        </p:spPr>
        <p:txBody>
          <a:bodyPr vertOverflow="overflow" vert="horz" wrap="square" rtlCol="0" anchor="t">
            <a:spAutoFit/>
          </a:bodyPr>
          <a:lstStyle/>
          <a:p>
            <a:pPr algn="l"/>
            <a:r>
              <a:rPr lang="zh-TW" altLang="en-US" sz="1400">
                <a:solidFill>
                  <a:srgbClr val="3D3D3D"/>
                </a:solidFill>
                <a:latin typeface="BIZ UDPGothic"/>
                <a:ea typeface="BIZ UDPGothic"/>
              </a:rPr>
              <a:t>実績工数：</a:t>
            </a:r>
            <a:r>
              <a:rPr lang="en-US" altLang="zh-TW" sz="1400">
                <a:solidFill>
                  <a:srgbClr val="3D3D3D"/>
                </a:solidFill>
                <a:latin typeface="BIZ UDPGothic"/>
                <a:ea typeface="BIZ UDPGothic"/>
              </a:rPr>
              <a:t>156.5 </a:t>
            </a:r>
            <a:r>
              <a:rPr lang="zh-TW" altLang="en-US" sz="1400">
                <a:solidFill>
                  <a:srgbClr val="3D3D3D"/>
                </a:solidFill>
                <a:latin typeface="BIZ UDPGothic"/>
                <a:ea typeface="BIZ UDPGothic"/>
              </a:rPr>
              <a:t>時間
時間単価：</a:t>
            </a:r>
            <a:r>
              <a:rPr lang="en-US" altLang="zh-TW" sz="1400">
                <a:solidFill>
                  <a:srgbClr val="3D3D3D"/>
                </a:solidFill>
                <a:latin typeface="BIZ UDPGothic"/>
                <a:ea typeface="BIZ UDPGothic"/>
              </a:rPr>
              <a:t>20,000 </a:t>
            </a:r>
            <a:r>
              <a:rPr lang="zh-TW" altLang="en-US" sz="1400">
                <a:solidFill>
                  <a:srgbClr val="3D3D3D"/>
                </a:solidFill>
                <a:latin typeface="BIZ UDPGothic"/>
                <a:ea typeface="BIZ UDPGothic"/>
              </a:rPr>
              <a:t>円</a:t>
            </a:r>
            <a:r>
              <a:rPr lang="en-US" altLang="zh-TW" sz="1400">
                <a:solidFill>
                  <a:srgbClr val="3D3D3D"/>
                </a:solidFill>
                <a:latin typeface="BIZ UDPGothic"/>
                <a:ea typeface="BIZ UDPGothic"/>
              </a:rPr>
              <a:t>/</a:t>
            </a:r>
            <a:r>
              <a:rPr lang="zh-TW" altLang="en-US" sz="1400">
                <a:solidFill>
                  <a:srgbClr val="3D3D3D"/>
                </a:solidFill>
                <a:latin typeface="BIZ UDPGothic"/>
                <a:ea typeface="BIZ UDPGothic"/>
              </a:rPr>
              <a:t>時間
税抜金額：</a:t>
            </a:r>
            <a:r>
              <a:rPr lang="en-US" altLang="zh-TW" sz="1400">
                <a:solidFill>
                  <a:srgbClr val="3D3D3D"/>
                </a:solidFill>
                <a:latin typeface="BIZ UDPGothic"/>
                <a:ea typeface="BIZ UDPGothic"/>
              </a:rPr>
              <a:t>3,130,000 </a:t>
            </a:r>
            <a:r>
              <a:rPr lang="zh-TW" altLang="en-US" sz="1400">
                <a:solidFill>
                  <a:srgbClr val="3D3D3D"/>
                </a:solidFill>
                <a:latin typeface="BIZ UDPGothic"/>
                <a:ea typeface="BIZ UDPGothic"/>
              </a:rPr>
              <a:t>円
消費税額：   </a:t>
            </a:r>
            <a:r>
              <a:rPr lang="en-US" altLang="zh-TW" sz="1400">
                <a:solidFill>
                  <a:srgbClr val="3D3D3D"/>
                </a:solidFill>
                <a:latin typeface="BIZ UDPGothic"/>
                <a:ea typeface="BIZ UDPGothic"/>
              </a:rPr>
              <a:t>313,000 </a:t>
            </a:r>
            <a:r>
              <a:rPr lang="zh-TW" altLang="en-US" sz="1400">
                <a:solidFill>
                  <a:srgbClr val="3D3D3D"/>
                </a:solidFill>
                <a:latin typeface="BIZ UDPGothic"/>
                <a:ea typeface="BIZ UDPGothic"/>
              </a:rPr>
              <a:t>円
税込金額：</a:t>
            </a:r>
            <a:r>
              <a:rPr lang="en-US" altLang="zh-TW" sz="1400">
                <a:solidFill>
                  <a:srgbClr val="3D3D3D"/>
                </a:solidFill>
                <a:latin typeface="BIZ UDPGothic"/>
                <a:ea typeface="BIZ UDPGothic"/>
              </a:rPr>
              <a:t>3,443,000 </a:t>
            </a:r>
            <a:r>
              <a:rPr lang="zh-TW" altLang="en-US" sz="1400">
                <a:solidFill>
                  <a:srgbClr val="3D3D3D"/>
                </a:solidFill>
                <a:latin typeface="BIZ UDPGothic"/>
                <a:ea typeface="BIZ UDPGothic"/>
              </a:rPr>
              <a:t>円</a:t>
            </a:r>
            <a:endParaRPr lang="ja-JP" altLang="en-US" sz="1400">
              <a:solidFill>
                <a:srgbClr val="3D3D3D"/>
              </a:solidFill>
              <a:latin typeface="BIZ UDPGothic"/>
              <a:ea typeface="BIZ UDPGothic"/>
            </a:endParaRPr>
          </a:p>
        </p:txBody>
      </p:sp>
      <p:sp>
        <p:nvSpPr>
          <p:cNvPr id="8" name="テキスト ボックス 7">
            <a:extLst>
              <a:ext uri="{FF2B5EF4-FFF2-40B4-BE49-F238E27FC236}">
                <a16:creationId xmlns:a16="http://schemas.microsoft.com/office/drawing/2014/main" id="{C244D166-BAF4-4374-8B83-4BA78CA137E1}"/>
              </a:ext>
            </a:extLst>
          </p:cNvPr>
          <p:cNvSpPr txBox="1"/>
          <p:nvPr/>
        </p:nvSpPr>
        <p:spPr>
          <a:xfrm>
            <a:off x="508000" y="3848100"/>
            <a:ext cx="11176000" cy="355600"/>
          </a:xfrm>
          <a:prstGeom prst="rect">
            <a:avLst/>
          </a:prstGeom>
          <a:noFill/>
        </p:spPr>
        <p:txBody>
          <a:bodyPr vertOverflow="overflow" vert="horz" wrap="square" rtlCol="0" anchor="t">
            <a:spAutoFit/>
          </a:bodyPr>
          <a:lstStyle/>
          <a:p>
            <a:pPr algn="l"/>
            <a:r>
              <a:rPr lang="ja-JP" altLang="en-US" sz="1600" b="1">
                <a:solidFill>
                  <a:srgbClr val="1A1A1A"/>
                </a:solidFill>
                <a:latin typeface="BIZ UDPGothic"/>
                <a:ea typeface="BIZ UDPGothic"/>
              </a:rPr>
              <a:t>契約上の成果物（</a:t>
            </a:r>
            <a:r>
              <a:rPr lang="en-US" altLang="ja-JP" sz="1600" b="1">
                <a:solidFill>
                  <a:srgbClr val="1A1A1A"/>
                </a:solidFill>
                <a:latin typeface="BIZ UDPGothic"/>
                <a:ea typeface="BIZ UDPGothic"/>
              </a:rPr>
              <a:t>9</a:t>
            </a:r>
            <a:r>
              <a:rPr lang="ja-JP" altLang="en-US" sz="1600" b="1">
                <a:solidFill>
                  <a:srgbClr val="1A1A1A"/>
                </a:solidFill>
                <a:latin typeface="BIZ UDPGothic"/>
                <a:ea typeface="BIZ UDPGothic"/>
              </a:rPr>
              <a:t>点）</a:t>
            </a:r>
          </a:p>
        </p:txBody>
      </p:sp>
      <p:sp>
        <p:nvSpPr>
          <p:cNvPr id="9" name="正方形/長方形 8">
            <a:extLst>
              <a:ext uri="{FF2B5EF4-FFF2-40B4-BE49-F238E27FC236}">
                <a16:creationId xmlns:a16="http://schemas.microsoft.com/office/drawing/2014/main" id="{FA8970DF-B12D-478C-BCD9-338B57C7E6FD}"/>
              </a:ext>
            </a:extLst>
          </p:cNvPr>
          <p:cNvSpPr/>
          <p:nvPr/>
        </p:nvSpPr>
        <p:spPr>
          <a:xfrm>
            <a:off x="508000" y="4203700"/>
            <a:ext cx="11176000" cy="25400"/>
          </a:xfrm>
          <a:prstGeom prst="rect">
            <a:avLst/>
          </a:prstGeom>
          <a:solidFill>
            <a:srgbClr val="D4C5B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0" name="楕円 9">
            <a:extLst>
              <a:ext uri="{FF2B5EF4-FFF2-40B4-BE49-F238E27FC236}">
                <a16:creationId xmlns:a16="http://schemas.microsoft.com/office/drawing/2014/main" id="{FF329412-5E30-4978-A74E-4D8CE0702C4A}"/>
              </a:ext>
            </a:extLst>
          </p:cNvPr>
          <p:cNvSpPr/>
          <p:nvPr/>
        </p:nvSpPr>
        <p:spPr>
          <a:xfrm>
            <a:off x="508000" y="4406900"/>
            <a:ext cx="304800" cy="304800"/>
          </a:xfrm>
          <a:prstGeom prst="ellips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400" b="1">
                <a:solidFill>
                  <a:srgbClr val="FFFFFF"/>
                </a:solidFill>
                <a:latin typeface="BIZ UDPGothic"/>
                <a:ea typeface="BIZ UDPGothic"/>
              </a:rPr>
              <a:t>1</a:t>
            </a:r>
            <a:endParaRPr lang="ja-JP" altLang="en-US" sz="1400" b="1">
              <a:solidFill>
                <a:srgbClr val="FFFFFF"/>
              </a:solidFill>
              <a:latin typeface="BIZ UDPGothic"/>
              <a:ea typeface="BIZ UDPGothic"/>
            </a:endParaRPr>
          </a:p>
        </p:txBody>
      </p:sp>
      <p:sp>
        <p:nvSpPr>
          <p:cNvPr id="11" name="テキスト ボックス 10">
            <a:extLst>
              <a:ext uri="{FF2B5EF4-FFF2-40B4-BE49-F238E27FC236}">
                <a16:creationId xmlns:a16="http://schemas.microsoft.com/office/drawing/2014/main" id="{7483918E-04D3-435F-8D67-BD9295587BA2}"/>
              </a:ext>
            </a:extLst>
          </p:cNvPr>
          <p:cNvSpPr txBox="1"/>
          <p:nvPr/>
        </p:nvSpPr>
        <p:spPr>
          <a:xfrm>
            <a:off x="889000" y="4381500"/>
            <a:ext cx="3302000" cy="3556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プロジェクト概要書</a:t>
            </a:r>
          </a:p>
        </p:txBody>
      </p:sp>
      <p:sp>
        <p:nvSpPr>
          <p:cNvPr id="12" name="楕円 11">
            <a:extLst>
              <a:ext uri="{FF2B5EF4-FFF2-40B4-BE49-F238E27FC236}">
                <a16:creationId xmlns:a16="http://schemas.microsoft.com/office/drawing/2014/main" id="{C1FDBF62-0E5C-4C20-96EB-37337F1442B9}"/>
              </a:ext>
            </a:extLst>
          </p:cNvPr>
          <p:cNvSpPr/>
          <p:nvPr/>
        </p:nvSpPr>
        <p:spPr>
          <a:xfrm>
            <a:off x="4318000" y="4406900"/>
            <a:ext cx="304800" cy="304800"/>
          </a:xfrm>
          <a:prstGeom prst="ellips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400" b="1">
                <a:solidFill>
                  <a:srgbClr val="FFFFFF"/>
                </a:solidFill>
                <a:latin typeface="BIZ UDPGothic"/>
                <a:ea typeface="BIZ UDPGothic"/>
              </a:rPr>
              <a:t>2</a:t>
            </a:r>
            <a:endParaRPr lang="ja-JP" altLang="en-US" sz="1400" b="1">
              <a:solidFill>
                <a:srgbClr val="FFFFFF"/>
              </a:solidFill>
              <a:latin typeface="BIZ UDPGothic"/>
              <a:ea typeface="BIZ UDPGothic"/>
            </a:endParaRPr>
          </a:p>
        </p:txBody>
      </p:sp>
      <p:sp>
        <p:nvSpPr>
          <p:cNvPr id="13" name="テキスト ボックス 12">
            <a:extLst>
              <a:ext uri="{FF2B5EF4-FFF2-40B4-BE49-F238E27FC236}">
                <a16:creationId xmlns:a16="http://schemas.microsoft.com/office/drawing/2014/main" id="{98C9E372-5E77-430F-BAD3-2949A4E04FC2}"/>
              </a:ext>
            </a:extLst>
          </p:cNvPr>
          <p:cNvSpPr txBox="1"/>
          <p:nvPr/>
        </p:nvSpPr>
        <p:spPr>
          <a:xfrm>
            <a:off x="4699000" y="4381500"/>
            <a:ext cx="3302000" cy="3556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分析用データ理解メモ</a:t>
            </a:r>
          </a:p>
        </p:txBody>
      </p:sp>
      <p:sp>
        <p:nvSpPr>
          <p:cNvPr id="14" name="楕円 13">
            <a:extLst>
              <a:ext uri="{FF2B5EF4-FFF2-40B4-BE49-F238E27FC236}">
                <a16:creationId xmlns:a16="http://schemas.microsoft.com/office/drawing/2014/main" id="{8879CC03-F3BB-46DB-AFCD-E57EE139C53A}"/>
              </a:ext>
            </a:extLst>
          </p:cNvPr>
          <p:cNvSpPr/>
          <p:nvPr/>
        </p:nvSpPr>
        <p:spPr>
          <a:xfrm>
            <a:off x="8128000" y="4406900"/>
            <a:ext cx="304800" cy="304800"/>
          </a:xfrm>
          <a:prstGeom prst="ellips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400" b="1">
                <a:solidFill>
                  <a:srgbClr val="FFFFFF"/>
                </a:solidFill>
                <a:latin typeface="BIZ UDPGothic"/>
                <a:ea typeface="BIZ UDPGothic"/>
              </a:rPr>
              <a:t>3</a:t>
            </a:r>
            <a:endParaRPr lang="ja-JP" altLang="en-US" sz="1400" b="1">
              <a:solidFill>
                <a:srgbClr val="FFFFFF"/>
              </a:solidFill>
              <a:latin typeface="BIZ UDPGothic"/>
              <a:ea typeface="BIZ UDPGothic"/>
            </a:endParaRPr>
          </a:p>
        </p:txBody>
      </p:sp>
      <p:sp>
        <p:nvSpPr>
          <p:cNvPr id="15" name="テキスト ボックス 14">
            <a:extLst>
              <a:ext uri="{FF2B5EF4-FFF2-40B4-BE49-F238E27FC236}">
                <a16:creationId xmlns:a16="http://schemas.microsoft.com/office/drawing/2014/main" id="{5259CE52-EDB7-48A2-85C5-7CC56AA977B4}"/>
              </a:ext>
            </a:extLst>
          </p:cNvPr>
          <p:cNvSpPr txBox="1"/>
          <p:nvPr/>
        </p:nvSpPr>
        <p:spPr>
          <a:xfrm>
            <a:off x="8509000" y="4381500"/>
            <a:ext cx="3302000" cy="355600"/>
          </a:xfrm>
          <a:prstGeom prst="rect">
            <a:avLst/>
          </a:prstGeom>
          <a:noFill/>
        </p:spPr>
        <p:txBody>
          <a:bodyPr vertOverflow="overflow" vert="horz" wrap="square" rtlCol="0" anchor="t">
            <a:spAutoFit/>
          </a:bodyPr>
          <a:lstStyle/>
          <a:p>
            <a:pPr algn="l"/>
            <a:r>
              <a:rPr lang="en-US" altLang="ja-JP" sz="1400">
                <a:solidFill>
                  <a:srgbClr val="3D3D3D"/>
                </a:solidFill>
                <a:latin typeface="BIZ UDPGothic"/>
                <a:ea typeface="BIZ UDPGothic"/>
              </a:rPr>
              <a:t>EDA</a:t>
            </a:r>
            <a:r>
              <a:rPr lang="ja-JP" altLang="en-US" sz="1400">
                <a:solidFill>
                  <a:srgbClr val="3D3D3D"/>
                </a:solidFill>
                <a:latin typeface="BIZ UDPGothic"/>
                <a:ea typeface="BIZ UDPGothic"/>
              </a:rPr>
              <a:t>結果資料</a:t>
            </a:r>
          </a:p>
        </p:txBody>
      </p:sp>
      <p:sp>
        <p:nvSpPr>
          <p:cNvPr id="16" name="楕円 15">
            <a:extLst>
              <a:ext uri="{FF2B5EF4-FFF2-40B4-BE49-F238E27FC236}">
                <a16:creationId xmlns:a16="http://schemas.microsoft.com/office/drawing/2014/main" id="{79FF097E-F848-4281-8DB0-162B336882CC}"/>
              </a:ext>
            </a:extLst>
          </p:cNvPr>
          <p:cNvSpPr/>
          <p:nvPr/>
        </p:nvSpPr>
        <p:spPr>
          <a:xfrm>
            <a:off x="508000" y="4965700"/>
            <a:ext cx="304800" cy="304800"/>
          </a:xfrm>
          <a:prstGeom prst="ellips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400" b="1">
                <a:solidFill>
                  <a:srgbClr val="FFFFFF"/>
                </a:solidFill>
                <a:latin typeface="BIZ UDPGothic"/>
                <a:ea typeface="BIZ UDPGothic"/>
              </a:rPr>
              <a:t>4</a:t>
            </a:r>
            <a:endParaRPr lang="ja-JP" altLang="en-US" sz="1400" b="1">
              <a:solidFill>
                <a:srgbClr val="FFFFFF"/>
              </a:solidFill>
              <a:latin typeface="BIZ UDPGothic"/>
              <a:ea typeface="BIZ UDPGothic"/>
            </a:endParaRPr>
          </a:p>
        </p:txBody>
      </p:sp>
      <p:sp>
        <p:nvSpPr>
          <p:cNvPr id="17" name="テキスト ボックス 16">
            <a:extLst>
              <a:ext uri="{FF2B5EF4-FFF2-40B4-BE49-F238E27FC236}">
                <a16:creationId xmlns:a16="http://schemas.microsoft.com/office/drawing/2014/main" id="{172DA36D-DEAD-4BA3-9943-2B70C47567A6}"/>
              </a:ext>
            </a:extLst>
          </p:cNvPr>
          <p:cNvSpPr txBox="1"/>
          <p:nvPr/>
        </p:nvSpPr>
        <p:spPr>
          <a:xfrm>
            <a:off x="889000" y="4940300"/>
            <a:ext cx="3302000" cy="355600"/>
          </a:xfrm>
          <a:prstGeom prst="rect">
            <a:avLst/>
          </a:prstGeom>
          <a:noFill/>
        </p:spPr>
        <p:txBody>
          <a:bodyPr vertOverflow="overflow" vert="horz" wrap="square" rtlCol="0" anchor="t">
            <a:spAutoFit/>
          </a:bodyPr>
          <a:lstStyle/>
          <a:p>
            <a:pPr algn="l"/>
            <a:r>
              <a:rPr lang="zh-TW" altLang="en-US" sz="1400">
                <a:solidFill>
                  <a:srgbClr val="3D3D3D"/>
                </a:solidFill>
                <a:latin typeface="BIZ UDPGothic"/>
                <a:ea typeface="BIZ UDPGothic"/>
              </a:rPr>
              <a:t>離職要因分析資料</a:t>
            </a:r>
            <a:endParaRPr lang="ja-JP" altLang="en-US" sz="1400">
              <a:solidFill>
                <a:srgbClr val="3D3D3D"/>
              </a:solidFill>
              <a:latin typeface="BIZ UDPGothic"/>
              <a:ea typeface="BIZ UDPGothic"/>
            </a:endParaRPr>
          </a:p>
        </p:txBody>
      </p:sp>
      <p:sp>
        <p:nvSpPr>
          <p:cNvPr id="18" name="楕円 17">
            <a:extLst>
              <a:ext uri="{FF2B5EF4-FFF2-40B4-BE49-F238E27FC236}">
                <a16:creationId xmlns:a16="http://schemas.microsoft.com/office/drawing/2014/main" id="{87F855D3-8877-467C-9908-81EBFE7C901C}"/>
              </a:ext>
            </a:extLst>
          </p:cNvPr>
          <p:cNvSpPr/>
          <p:nvPr/>
        </p:nvSpPr>
        <p:spPr>
          <a:xfrm>
            <a:off x="4318000" y="4965700"/>
            <a:ext cx="304800" cy="304800"/>
          </a:xfrm>
          <a:prstGeom prst="ellips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400" b="1">
                <a:solidFill>
                  <a:srgbClr val="FFFFFF"/>
                </a:solidFill>
                <a:latin typeface="BIZ UDPGothic"/>
                <a:ea typeface="BIZ UDPGothic"/>
              </a:rPr>
              <a:t>5</a:t>
            </a:r>
            <a:endParaRPr lang="ja-JP" altLang="en-US" sz="1400" b="1">
              <a:solidFill>
                <a:srgbClr val="FFFFFF"/>
              </a:solidFill>
              <a:latin typeface="BIZ UDPGothic"/>
              <a:ea typeface="BIZ UDPGothic"/>
            </a:endParaRPr>
          </a:p>
        </p:txBody>
      </p:sp>
      <p:sp>
        <p:nvSpPr>
          <p:cNvPr id="19" name="テキスト ボックス 18">
            <a:extLst>
              <a:ext uri="{FF2B5EF4-FFF2-40B4-BE49-F238E27FC236}">
                <a16:creationId xmlns:a16="http://schemas.microsoft.com/office/drawing/2014/main" id="{4C3A68F8-9C51-4654-998A-74571BD345C7}"/>
              </a:ext>
            </a:extLst>
          </p:cNvPr>
          <p:cNvSpPr txBox="1"/>
          <p:nvPr/>
        </p:nvSpPr>
        <p:spPr>
          <a:xfrm>
            <a:off x="4699000" y="4940300"/>
            <a:ext cx="3302000" cy="3556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初期予測モデル評価資料</a:t>
            </a:r>
          </a:p>
        </p:txBody>
      </p:sp>
      <p:sp>
        <p:nvSpPr>
          <p:cNvPr id="20" name="楕円 19">
            <a:extLst>
              <a:ext uri="{FF2B5EF4-FFF2-40B4-BE49-F238E27FC236}">
                <a16:creationId xmlns:a16="http://schemas.microsoft.com/office/drawing/2014/main" id="{0E6312F0-5AAF-4880-B9D8-0FC7323DA523}"/>
              </a:ext>
            </a:extLst>
          </p:cNvPr>
          <p:cNvSpPr/>
          <p:nvPr/>
        </p:nvSpPr>
        <p:spPr>
          <a:xfrm>
            <a:off x="8128000" y="4965700"/>
            <a:ext cx="304800" cy="304800"/>
          </a:xfrm>
          <a:prstGeom prst="ellips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400" b="1">
                <a:solidFill>
                  <a:srgbClr val="FFFFFF"/>
                </a:solidFill>
                <a:latin typeface="BIZ UDPGothic"/>
                <a:ea typeface="BIZ UDPGothic"/>
              </a:rPr>
              <a:t>6</a:t>
            </a:r>
            <a:endParaRPr lang="ja-JP" altLang="en-US" sz="1400" b="1">
              <a:solidFill>
                <a:srgbClr val="FFFFFF"/>
              </a:solidFill>
              <a:latin typeface="BIZ UDPGothic"/>
              <a:ea typeface="BIZ UDPGothic"/>
            </a:endParaRPr>
          </a:p>
        </p:txBody>
      </p:sp>
      <p:sp>
        <p:nvSpPr>
          <p:cNvPr id="21" name="テキスト ボックス 20">
            <a:extLst>
              <a:ext uri="{FF2B5EF4-FFF2-40B4-BE49-F238E27FC236}">
                <a16:creationId xmlns:a16="http://schemas.microsoft.com/office/drawing/2014/main" id="{7D379E75-054F-4EC1-8D12-92E13775AFBC}"/>
              </a:ext>
            </a:extLst>
          </p:cNvPr>
          <p:cNvSpPr txBox="1"/>
          <p:nvPr/>
        </p:nvSpPr>
        <p:spPr>
          <a:xfrm>
            <a:off x="8509000" y="4940300"/>
            <a:ext cx="3302000" cy="3556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中間報告書</a:t>
            </a:r>
          </a:p>
        </p:txBody>
      </p:sp>
      <p:sp>
        <p:nvSpPr>
          <p:cNvPr id="22" name="楕円 21">
            <a:extLst>
              <a:ext uri="{FF2B5EF4-FFF2-40B4-BE49-F238E27FC236}">
                <a16:creationId xmlns:a16="http://schemas.microsoft.com/office/drawing/2014/main" id="{24E04967-94B0-4363-B103-A2EAD6774B1C}"/>
              </a:ext>
            </a:extLst>
          </p:cNvPr>
          <p:cNvSpPr/>
          <p:nvPr/>
        </p:nvSpPr>
        <p:spPr>
          <a:xfrm>
            <a:off x="508000" y="5524500"/>
            <a:ext cx="304800" cy="304800"/>
          </a:xfrm>
          <a:prstGeom prst="ellips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400" b="1">
                <a:solidFill>
                  <a:srgbClr val="FFFFFF"/>
                </a:solidFill>
                <a:latin typeface="BIZ UDPGothic"/>
                <a:ea typeface="BIZ UDPGothic"/>
              </a:rPr>
              <a:t>7</a:t>
            </a:r>
            <a:endParaRPr lang="ja-JP" altLang="en-US" sz="1400" b="1">
              <a:solidFill>
                <a:srgbClr val="FFFFFF"/>
              </a:solidFill>
              <a:latin typeface="BIZ UDPGothic"/>
              <a:ea typeface="BIZ UDPGothic"/>
            </a:endParaRPr>
          </a:p>
        </p:txBody>
      </p:sp>
      <p:sp>
        <p:nvSpPr>
          <p:cNvPr id="23" name="テキスト ボックス 22">
            <a:extLst>
              <a:ext uri="{FF2B5EF4-FFF2-40B4-BE49-F238E27FC236}">
                <a16:creationId xmlns:a16="http://schemas.microsoft.com/office/drawing/2014/main" id="{EBEEEB3F-5303-492F-811B-C95FA9C4E238}"/>
              </a:ext>
            </a:extLst>
          </p:cNvPr>
          <p:cNvSpPr txBox="1"/>
          <p:nvPr/>
        </p:nvSpPr>
        <p:spPr>
          <a:xfrm>
            <a:off x="889000" y="5499100"/>
            <a:ext cx="3302000" cy="3556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最終報告書</a:t>
            </a:r>
          </a:p>
        </p:txBody>
      </p:sp>
      <p:sp>
        <p:nvSpPr>
          <p:cNvPr id="24" name="楕円 23">
            <a:extLst>
              <a:ext uri="{FF2B5EF4-FFF2-40B4-BE49-F238E27FC236}">
                <a16:creationId xmlns:a16="http://schemas.microsoft.com/office/drawing/2014/main" id="{5C2DF4ED-B736-4CFA-9279-3C8FF809A07B}"/>
              </a:ext>
            </a:extLst>
          </p:cNvPr>
          <p:cNvSpPr/>
          <p:nvPr/>
        </p:nvSpPr>
        <p:spPr>
          <a:xfrm>
            <a:off x="4318000" y="5524500"/>
            <a:ext cx="304800" cy="304800"/>
          </a:xfrm>
          <a:prstGeom prst="ellips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400" b="1">
                <a:solidFill>
                  <a:srgbClr val="FFFFFF"/>
                </a:solidFill>
                <a:latin typeface="BIZ UDPGothic"/>
                <a:ea typeface="BIZ UDPGothic"/>
              </a:rPr>
              <a:t>8</a:t>
            </a:r>
            <a:endParaRPr lang="ja-JP" altLang="en-US" sz="1400" b="1">
              <a:solidFill>
                <a:srgbClr val="FFFFFF"/>
              </a:solidFill>
              <a:latin typeface="BIZ UDPGothic"/>
              <a:ea typeface="BIZ UDPGothic"/>
            </a:endParaRPr>
          </a:p>
        </p:txBody>
      </p:sp>
      <p:sp>
        <p:nvSpPr>
          <p:cNvPr id="25" name="テキスト ボックス 24">
            <a:extLst>
              <a:ext uri="{FF2B5EF4-FFF2-40B4-BE49-F238E27FC236}">
                <a16:creationId xmlns:a16="http://schemas.microsoft.com/office/drawing/2014/main" id="{C14E0618-FB53-4563-A991-FD94FD10C80B}"/>
              </a:ext>
            </a:extLst>
          </p:cNvPr>
          <p:cNvSpPr txBox="1"/>
          <p:nvPr/>
        </p:nvSpPr>
        <p:spPr>
          <a:xfrm>
            <a:off x="4699000" y="5499100"/>
            <a:ext cx="3302000" cy="3556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会議議事録</a:t>
            </a:r>
          </a:p>
        </p:txBody>
      </p:sp>
      <p:sp>
        <p:nvSpPr>
          <p:cNvPr id="26" name="楕円 25">
            <a:extLst>
              <a:ext uri="{FF2B5EF4-FFF2-40B4-BE49-F238E27FC236}">
                <a16:creationId xmlns:a16="http://schemas.microsoft.com/office/drawing/2014/main" id="{454839B1-50A2-47AE-9F65-F0E13F5C027B}"/>
              </a:ext>
            </a:extLst>
          </p:cNvPr>
          <p:cNvSpPr/>
          <p:nvPr/>
        </p:nvSpPr>
        <p:spPr>
          <a:xfrm>
            <a:off x="8128000" y="5524500"/>
            <a:ext cx="304800" cy="304800"/>
          </a:xfrm>
          <a:prstGeom prst="ellipse">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400" b="1">
                <a:solidFill>
                  <a:srgbClr val="FFFFFF"/>
                </a:solidFill>
                <a:latin typeface="BIZ UDPGothic"/>
                <a:ea typeface="BIZ UDPGothic"/>
              </a:rPr>
              <a:t>9</a:t>
            </a:r>
            <a:endParaRPr lang="ja-JP" altLang="en-US" sz="1400" b="1">
              <a:solidFill>
                <a:srgbClr val="FFFFFF"/>
              </a:solidFill>
              <a:latin typeface="BIZ UDPGothic"/>
              <a:ea typeface="BIZ UDPGothic"/>
            </a:endParaRPr>
          </a:p>
        </p:txBody>
      </p:sp>
      <p:sp>
        <p:nvSpPr>
          <p:cNvPr id="27" name="テキスト ボックス 26">
            <a:extLst>
              <a:ext uri="{FF2B5EF4-FFF2-40B4-BE49-F238E27FC236}">
                <a16:creationId xmlns:a16="http://schemas.microsoft.com/office/drawing/2014/main" id="{C918FF64-311D-4AD7-AFA6-75543E8361AD}"/>
              </a:ext>
            </a:extLst>
          </p:cNvPr>
          <p:cNvSpPr txBox="1"/>
          <p:nvPr/>
        </p:nvSpPr>
        <p:spPr>
          <a:xfrm>
            <a:off x="8509000" y="5499100"/>
            <a:ext cx="3302000" cy="3556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プロジェクトスケジュール</a:t>
            </a:r>
          </a:p>
        </p:txBody>
      </p:sp>
      <p:sp>
        <p:nvSpPr>
          <p:cNvPr id="28" name="テキスト ボックス 27">
            <a:extLst>
              <a:ext uri="{FF2B5EF4-FFF2-40B4-BE49-F238E27FC236}">
                <a16:creationId xmlns:a16="http://schemas.microsoft.com/office/drawing/2014/main" id="{D8732E74-214E-4541-9991-1FF0D4552521}"/>
              </a:ext>
            </a:extLst>
          </p:cNvPr>
          <p:cNvSpPr txBox="1"/>
          <p:nvPr/>
        </p:nvSpPr>
        <p:spPr>
          <a:xfrm>
            <a:off x="508000" y="6134100"/>
            <a:ext cx="11176000" cy="304800"/>
          </a:xfrm>
          <a:prstGeom prst="rect">
            <a:avLst/>
          </a:prstGeom>
          <a:noFill/>
        </p:spPr>
        <p:txBody>
          <a:bodyPr vertOverflow="overflow" vert="horz" wrap="square" rtlCol="0" anchor="t">
            <a:spAutoFit/>
          </a:bodyPr>
          <a:lstStyle/>
          <a:p>
            <a:pPr algn="l"/>
            <a:r>
              <a:rPr lang="en-US" altLang="ja-JP" sz="1400">
                <a:solidFill>
                  <a:srgbClr val="6B6B6B"/>
                </a:solidFill>
                <a:latin typeface="BIZ UDPGothic"/>
                <a:ea typeface="BIZ UDPGothic"/>
              </a:rPr>
              <a:t>※ time_and_materials</a:t>
            </a:r>
            <a:r>
              <a:rPr lang="ja-JP" altLang="en-US" sz="1400">
                <a:solidFill>
                  <a:srgbClr val="6B6B6B"/>
                </a:solidFill>
                <a:latin typeface="BIZ UDPGothic"/>
                <a:ea typeface="BIZ UDPGothic"/>
              </a:rPr>
              <a:t>契約。正式請求時は工数明細書の確定値を優先する。</a:t>
            </a:r>
          </a:p>
        </p:txBody>
      </p:sp>
      <p:sp>
        <p:nvSpPr>
          <p:cNvPr id="29" name="テキスト ボックス 28">
            <a:extLst>
              <a:ext uri="{FF2B5EF4-FFF2-40B4-BE49-F238E27FC236}">
                <a16:creationId xmlns:a16="http://schemas.microsoft.com/office/drawing/2014/main" id="{C65EEB65-560D-431A-971C-A2C300B3C522}"/>
              </a:ext>
            </a:extLst>
          </p:cNvPr>
          <p:cNvSpPr txBox="1"/>
          <p:nvPr/>
        </p:nvSpPr>
        <p:spPr>
          <a:xfrm>
            <a:off x="508000" y="254000"/>
            <a:ext cx="11176000" cy="508000"/>
          </a:xfrm>
          <a:prstGeom prst="rect">
            <a:avLst/>
          </a:prstGeom>
          <a:noFill/>
        </p:spPr>
        <p:txBody>
          <a:bodyPr vertOverflow="overflow" vert="horz" wrap="square" rtlCol="0" anchor="t">
            <a:noAutofit/>
          </a:bodyPr>
          <a:lstStyle/>
          <a:p>
            <a:pPr algn="l"/>
            <a:r>
              <a:rPr lang="en-US" altLang="ja-JP" sz="2400" b="1">
                <a:solidFill>
                  <a:srgbClr val="1A1A1A"/>
                </a:solidFill>
                <a:latin typeface="BIZ UDPGothic"/>
                <a:ea typeface="BIZ UDPGothic"/>
              </a:rPr>
              <a:t>10. </a:t>
            </a:r>
            <a:r>
              <a:rPr lang="ja-JP" altLang="en-US" sz="2400" b="1">
                <a:solidFill>
                  <a:srgbClr val="1A1A1A"/>
                </a:solidFill>
                <a:latin typeface="BIZ UDPGothic"/>
                <a:ea typeface="BIZ UDPGothic"/>
              </a:rPr>
              <a:t>提案・契約との差分管理</a:t>
            </a:r>
          </a:p>
        </p:txBody>
      </p:sp>
      <p:sp>
        <p:nvSpPr>
          <p:cNvPr id="30" name="正方形/長方形 29">
            <a:extLst>
              <a:ext uri="{FF2B5EF4-FFF2-40B4-BE49-F238E27FC236}">
                <a16:creationId xmlns:a16="http://schemas.microsoft.com/office/drawing/2014/main" id="{2810CF74-3725-4CEA-AA35-A7EBDAE6B0F2}"/>
              </a:ext>
            </a:extLst>
          </p:cNvPr>
          <p:cNvSpPr/>
          <p:nvPr/>
        </p:nvSpPr>
        <p:spPr>
          <a:xfrm>
            <a:off x="508000" y="787400"/>
            <a:ext cx="1270000" cy="38100"/>
          </a:xfrm>
          <a:prstGeom prst="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Tree>
    <p:extLst>
      <p:ext uri="{BB962C8B-B14F-4D97-AF65-F5344CB8AC3E}">
        <p14:creationId xmlns:p14="http://schemas.microsoft.com/office/powerpoint/2010/main" val="12717192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2310975E-A672-4F56-8F0D-A932336F85E5}"/>
              </a:ext>
            </a:extLst>
          </p:cNvPr>
          <p:cNvSpPr/>
          <p:nvPr/>
        </p:nvSpPr>
        <p:spPr>
          <a:xfrm>
            <a:off x="0" y="0"/>
            <a:ext cx="12192000" cy="2286000"/>
          </a:xfrm>
          <a:prstGeom prst="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1588F6FD-46D6-4CDC-B778-3A116965AEA7}"/>
              </a:ext>
            </a:extLst>
          </p:cNvPr>
          <p:cNvSpPr txBox="1"/>
          <p:nvPr/>
        </p:nvSpPr>
        <p:spPr>
          <a:xfrm>
            <a:off x="762000" y="381000"/>
            <a:ext cx="10668000" cy="558800"/>
          </a:xfrm>
          <a:prstGeom prst="rect">
            <a:avLst/>
          </a:prstGeom>
          <a:noFill/>
        </p:spPr>
        <p:txBody>
          <a:bodyPr vertOverflow="overflow" vert="horz" wrap="square" rtlCol="0" anchor="t">
            <a:spAutoFit/>
          </a:bodyPr>
          <a:lstStyle/>
          <a:p>
            <a:pPr algn="l"/>
            <a:r>
              <a:rPr lang="en-US" altLang="ja-JP" sz="3200" b="1">
                <a:solidFill>
                  <a:srgbClr val="FFFFFF"/>
                </a:solidFill>
                <a:latin typeface="BIZ UDPGothic"/>
                <a:ea typeface="BIZ UDPGothic"/>
              </a:rPr>
              <a:t>11. </a:t>
            </a:r>
            <a:r>
              <a:rPr lang="ja-JP" altLang="en-US" sz="3200" b="1">
                <a:solidFill>
                  <a:srgbClr val="FFFFFF"/>
                </a:solidFill>
                <a:latin typeface="BIZ UDPGothic"/>
                <a:ea typeface="BIZ UDPGothic"/>
              </a:rPr>
              <a:t>総括</a:t>
            </a:r>
          </a:p>
        </p:txBody>
      </p:sp>
      <p:sp>
        <p:nvSpPr>
          <p:cNvPr id="4" name="テキスト ボックス 3">
            <a:extLst>
              <a:ext uri="{FF2B5EF4-FFF2-40B4-BE49-F238E27FC236}">
                <a16:creationId xmlns:a16="http://schemas.microsoft.com/office/drawing/2014/main" id="{46695C32-B0C4-4BDE-8CC3-F3528D27FCA9}"/>
              </a:ext>
            </a:extLst>
          </p:cNvPr>
          <p:cNvSpPr txBox="1"/>
          <p:nvPr/>
        </p:nvSpPr>
        <p:spPr>
          <a:xfrm>
            <a:off x="762000" y="1016000"/>
            <a:ext cx="10668000" cy="381000"/>
          </a:xfrm>
          <a:prstGeom prst="rect">
            <a:avLst/>
          </a:prstGeom>
          <a:noFill/>
        </p:spPr>
        <p:txBody>
          <a:bodyPr vertOverflow="overflow" vert="horz" wrap="square" rtlCol="0" anchor="t">
            <a:spAutoFit/>
          </a:bodyPr>
          <a:lstStyle/>
          <a:p>
            <a:pPr algn="l"/>
            <a:r>
              <a:rPr lang="ja-JP" altLang="en-US">
                <a:solidFill>
                  <a:srgbClr val="F2F0ED"/>
                </a:solidFill>
                <a:latin typeface="BIZ UDPGothic"/>
                <a:ea typeface="BIZ UDPGothic"/>
              </a:rPr>
              <a:t>従業員離職要因分析 初期分析案件の最終報告</a:t>
            </a:r>
          </a:p>
        </p:txBody>
      </p:sp>
      <p:sp>
        <p:nvSpPr>
          <p:cNvPr id="5" name="正方形/長方形 4">
            <a:extLst>
              <a:ext uri="{FF2B5EF4-FFF2-40B4-BE49-F238E27FC236}">
                <a16:creationId xmlns:a16="http://schemas.microsoft.com/office/drawing/2014/main" id="{5D895E20-AE26-4B69-B32E-6CE8F9C33B94}"/>
              </a:ext>
            </a:extLst>
          </p:cNvPr>
          <p:cNvSpPr/>
          <p:nvPr/>
        </p:nvSpPr>
        <p:spPr>
          <a:xfrm>
            <a:off x="762000" y="1460500"/>
            <a:ext cx="2540000" cy="38100"/>
          </a:xfrm>
          <a:prstGeom prst="rect">
            <a:avLst/>
          </a:prstGeom>
          <a:solidFill>
            <a:srgbClr val="D4C5B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EDDEA4C3-40C7-4C73-9183-6562E6DA2BBE}"/>
              </a:ext>
            </a:extLst>
          </p:cNvPr>
          <p:cNvSpPr txBox="1"/>
          <p:nvPr/>
        </p:nvSpPr>
        <p:spPr>
          <a:xfrm>
            <a:off x="762000" y="1651000"/>
            <a:ext cx="10668000" cy="558800"/>
          </a:xfrm>
          <a:prstGeom prst="rect">
            <a:avLst/>
          </a:prstGeom>
          <a:noFill/>
        </p:spPr>
        <p:txBody>
          <a:bodyPr vertOverflow="overflow" vert="horz" wrap="square" rtlCol="0" anchor="t">
            <a:spAutoFit/>
          </a:bodyPr>
          <a:lstStyle/>
          <a:p>
            <a:pPr algn="l"/>
            <a:r>
              <a:rPr lang="ja-JP" altLang="en-US" sz="1500">
                <a:solidFill>
                  <a:srgbClr val="F2F0ED"/>
                </a:solidFill>
                <a:latin typeface="BIZ UDPGothic"/>
                <a:ea typeface="BIZ UDPGothic"/>
              </a:rPr>
              <a:t>短期間の初期分析案件として、提案・契約で定めた目的に対し、
業務理解・分析結果・運用提言の</a:t>
            </a:r>
            <a:r>
              <a:rPr lang="en-US" altLang="ja-JP" sz="1500">
                <a:solidFill>
                  <a:srgbClr val="F2F0ED"/>
                </a:solidFill>
                <a:latin typeface="BIZ UDPGothic"/>
                <a:ea typeface="BIZ UDPGothic"/>
              </a:rPr>
              <a:t>3</a:t>
            </a:r>
            <a:r>
              <a:rPr lang="ja-JP" altLang="en-US" sz="1500">
                <a:solidFill>
                  <a:srgbClr val="F2F0ED"/>
                </a:solidFill>
                <a:latin typeface="BIZ UDPGothic"/>
                <a:ea typeface="BIZ UDPGothic"/>
              </a:rPr>
              <a:t>点を実務利用可能な水準まで整理した。</a:t>
            </a:r>
          </a:p>
        </p:txBody>
      </p:sp>
      <p:sp>
        <p:nvSpPr>
          <p:cNvPr id="7" name="四角形: 角を丸くする 6">
            <a:extLst>
              <a:ext uri="{FF2B5EF4-FFF2-40B4-BE49-F238E27FC236}">
                <a16:creationId xmlns:a16="http://schemas.microsoft.com/office/drawing/2014/main" id="{C8FE8204-6061-4903-8442-F3AAB2F0E2B6}"/>
              </a:ext>
            </a:extLst>
          </p:cNvPr>
          <p:cNvSpPr/>
          <p:nvPr/>
        </p:nvSpPr>
        <p:spPr>
          <a:xfrm>
            <a:off x="508000" y="2540000"/>
            <a:ext cx="3556000" cy="22860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8" name="正方形/長方形 7">
            <a:extLst>
              <a:ext uri="{FF2B5EF4-FFF2-40B4-BE49-F238E27FC236}">
                <a16:creationId xmlns:a16="http://schemas.microsoft.com/office/drawing/2014/main" id="{F5D88EEA-37FD-42CA-AE2C-1C32888E6DEE}"/>
              </a:ext>
            </a:extLst>
          </p:cNvPr>
          <p:cNvSpPr/>
          <p:nvPr/>
        </p:nvSpPr>
        <p:spPr>
          <a:xfrm>
            <a:off x="508000" y="2540000"/>
            <a:ext cx="3556000" cy="76200"/>
          </a:xfrm>
          <a:prstGeom prst="rect">
            <a:avLst/>
          </a:prstGeom>
          <a:solidFill>
            <a:srgbClr val="8B3A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9" name="テキスト ボックス 8">
            <a:extLst>
              <a:ext uri="{FF2B5EF4-FFF2-40B4-BE49-F238E27FC236}">
                <a16:creationId xmlns:a16="http://schemas.microsoft.com/office/drawing/2014/main" id="{BB718CD6-B0F6-4A95-A69A-B6E09B5D1A41}"/>
              </a:ext>
            </a:extLst>
          </p:cNvPr>
          <p:cNvSpPr txBox="1"/>
          <p:nvPr/>
        </p:nvSpPr>
        <p:spPr>
          <a:xfrm>
            <a:off x="698500" y="2743200"/>
            <a:ext cx="3175000" cy="330200"/>
          </a:xfrm>
          <a:prstGeom prst="rect">
            <a:avLst/>
          </a:prstGeom>
          <a:noFill/>
        </p:spPr>
        <p:txBody>
          <a:bodyPr vertOverflow="overflow" vert="horz" wrap="square" rtlCol="0" anchor="t">
            <a:spAutoFit/>
          </a:bodyPr>
          <a:lstStyle/>
          <a:p>
            <a:pPr algn="l"/>
            <a:r>
              <a:rPr lang="ja-JP" altLang="en-US" sz="1600" b="1">
                <a:solidFill>
                  <a:srgbClr val="8B3A2F"/>
                </a:solidFill>
                <a:latin typeface="BIZ UDPGothic"/>
                <a:ea typeface="BIZ UDPGothic"/>
              </a:rPr>
              <a:t>説明可能性の重視</a:t>
            </a:r>
          </a:p>
        </p:txBody>
      </p:sp>
      <p:sp>
        <p:nvSpPr>
          <p:cNvPr id="10" name="テキスト ボックス 9">
            <a:extLst>
              <a:ext uri="{FF2B5EF4-FFF2-40B4-BE49-F238E27FC236}">
                <a16:creationId xmlns:a16="http://schemas.microsoft.com/office/drawing/2014/main" id="{56FCF804-6290-4269-B5F5-E0DA3119158C}"/>
              </a:ext>
            </a:extLst>
          </p:cNvPr>
          <p:cNvSpPr txBox="1"/>
          <p:nvPr/>
        </p:nvSpPr>
        <p:spPr>
          <a:xfrm>
            <a:off x="698500" y="3149600"/>
            <a:ext cx="3175000" cy="15240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離職という機微なテーマに対し、精度偏重ではなく説明可能性を優先した進め方で、</a:t>
            </a:r>
            <a:r>
              <a:rPr lang="en-US" altLang="ja-JP" sz="1400">
                <a:solidFill>
                  <a:srgbClr val="3D3D3D"/>
                </a:solidFill>
                <a:latin typeface="BIZ UDPGothic"/>
                <a:ea typeface="BIZ UDPGothic"/>
              </a:rPr>
              <a:t>People Analytics</a:t>
            </a:r>
            <a:r>
              <a:rPr lang="ja-JP" altLang="en-US" sz="1400">
                <a:solidFill>
                  <a:srgbClr val="3D3D3D"/>
                </a:solidFill>
                <a:latin typeface="BIZ UDPGothic"/>
                <a:ea typeface="BIZ UDPGothic"/>
              </a:rPr>
              <a:t>案件として妥当な成果を得た</a:t>
            </a:r>
          </a:p>
        </p:txBody>
      </p:sp>
      <p:sp>
        <p:nvSpPr>
          <p:cNvPr id="11" name="四角形: 角を丸くする 10">
            <a:extLst>
              <a:ext uri="{FF2B5EF4-FFF2-40B4-BE49-F238E27FC236}">
                <a16:creationId xmlns:a16="http://schemas.microsoft.com/office/drawing/2014/main" id="{1E6DE3F1-2CE0-42AF-B642-3F9202BD023B}"/>
              </a:ext>
            </a:extLst>
          </p:cNvPr>
          <p:cNvSpPr/>
          <p:nvPr/>
        </p:nvSpPr>
        <p:spPr>
          <a:xfrm>
            <a:off x="4318000" y="2540000"/>
            <a:ext cx="3556000" cy="22860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2" name="正方形/長方形 11">
            <a:extLst>
              <a:ext uri="{FF2B5EF4-FFF2-40B4-BE49-F238E27FC236}">
                <a16:creationId xmlns:a16="http://schemas.microsoft.com/office/drawing/2014/main" id="{231D4FC2-6D71-475E-B49C-811A0495FE5C}"/>
              </a:ext>
            </a:extLst>
          </p:cNvPr>
          <p:cNvSpPr/>
          <p:nvPr/>
        </p:nvSpPr>
        <p:spPr>
          <a:xfrm>
            <a:off x="4318000" y="2540000"/>
            <a:ext cx="3556000" cy="76200"/>
          </a:xfrm>
          <a:prstGeom prst="rect">
            <a:avLst/>
          </a:prstGeom>
          <a:solidFill>
            <a:srgbClr val="A0522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3" name="テキスト ボックス 12">
            <a:extLst>
              <a:ext uri="{FF2B5EF4-FFF2-40B4-BE49-F238E27FC236}">
                <a16:creationId xmlns:a16="http://schemas.microsoft.com/office/drawing/2014/main" id="{1CAF3598-A10E-4AC6-BCA6-691AC2C6FD2C}"/>
              </a:ext>
            </a:extLst>
          </p:cNvPr>
          <p:cNvSpPr txBox="1"/>
          <p:nvPr/>
        </p:nvSpPr>
        <p:spPr>
          <a:xfrm>
            <a:off x="4508500" y="2743200"/>
            <a:ext cx="3175000" cy="330200"/>
          </a:xfrm>
          <a:prstGeom prst="rect">
            <a:avLst/>
          </a:prstGeom>
          <a:noFill/>
        </p:spPr>
        <p:txBody>
          <a:bodyPr vertOverflow="overflow" vert="horz" wrap="square" rtlCol="0" anchor="t">
            <a:spAutoFit/>
          </a:bodyPr>
          <a:lstStyle/>
          <a:p>
            <a:pPr algn="l"/>
            <a:r>
              <a:rPr lang="ja-JP" altLang="en-US" sz="1600" b="1">
                <a:solidFill>
                  <a:srgbClr val="A0522D"/>
                </a:solidFill>
                <a:latin typeface="BIZ UDPGothic"/>
                <a:ea typeface="BIZ UDPGothic"/>
              </a:rPr>
              <a:t>初期分析の位置づけ</a:t>
            </a:r>
          </a:p>
        </p:txBody>
      </p:sp>
      <p:sp>
        <p:nvSpPr>
          <p:cNvPr id="14" name="テキスト ボックス 13">
            <a:extLst>
              <a:ext uri="{FF2B5EF4-FFF2-40B4-BE49-F238E27FC236}">
                <a16:creationId xmlns:a16="http://schemas.microsoft.com/office/drawing/2014/main" id="{EEBA180C-4105-42E9-A17F-ADF133EA237B}"/>
              </a:ext>
            </a:extLst>
          </p:cNvPr>
          <p:cNvSpPr txBox="1"/>
          <p:nvPr/>
        </p:nvSpPr>
        <p:spPr>
          <a:xfrm>
            <a:off x="4508500" y="3149600"/>
            <a:ext cx="3175000" cy="15240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ここで得られた結果は「人事施策を始めるための根拠整理」であり、「自動判断の根拠」ではない。この明確な区別が重要である</a:t>
            </a:r>
          </a:p>
        </p:txBody>
      </p:sp>
      <p:sp>
        <p:nvSpPr>
          <p:cNvPr id="15" name="四角形: 角を丸くする 14">
            <a:extLst>
              <a:ext uri="{FF2B5EF4-FFF2-40B4-BE49-F238E27FC236}">
                <a16:creationId xmlns:a16="http://schemas.microsoft.com/office/drawing/2014/main" id="{B3854D98-4CB9-48C0-B27B-BAC2CF8686BF}"/>
              </a:ext>
            </a:extLst>
          </p:cNvPr>
          <p:cNvSpPr/>
          <p:nvPr/>
        </p:nvSpPr>
        <p:spPr>
          <a:xfrm>
            <a:off x="8128000" y="2540000"/>
            <a:ext cx="3556000" cy="2286000"/>
          </a:xfrm>
          <a:prstGeom prst="roundRect">
            <a:avLst/>
          </a:prstGeom>
          <a:solidFill>
            <a:srgbClr val="F2F0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正方形/長方形 15">
            <a:extLst>
              <a:ext uri="{FF2B5EF4-FFF2-40B4-BE49-F238E27FC236}">
                <a16:creationId xmlns:a16="http://schemas.microsoft.com/office/drawing/2014/main" id="{878B13E9-406C-4F3F-B68B-C846F4B604D7}"/>
              </a:ext>
            </a:extLst>
          </p:cNvPr>
          <p:cNvSpPr/>
          <p:nvPr/>
        </p:nvSpPr>
        <p:spPr>
          <a:xfrm>
            <a:off x="8128000" y="2540000"/>
            <a:ext cx="3556000" cy="76200"/>
          </a:xfrm>
          <a:prstGeom prst="rect">
            <a:avLst/>
          </a:prstGeom>
          <a:solidFill>
            <a:srgbClr val="4A4A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テキスト ボックス 16">
            <a:extLst>
              <a:ext uri="{FF2B5EF4-FFF2-40B4-BE49-F238E27FC236}">
                <a16:creationId xmlns:a16="http://schemas.microsoft.com/office/drawing/2014/main" id="{15772E0A-0A1B-46A3-8168-338CDCB9878F}"/>
              </a:ext>
            </a:extLst>
          </p:cNvPr>
          <p:cNvSpPr txBox="1"/>
          <p:nvPr/>
        </p:nvSpPr>
        <p:spPr>
          <a:xfrm>
            <a:off x="8318500" y="2743200"/>
            <a:ext cx="3175000" cy="330200"/>
          </a:xfrm>
          <a:prstGeom prst="rect">
            <a:avLst/>
          </a:prstGeom>
          <a:noFill/>
        </p:spPr>
        <p:txBody>
          <a:bodyPr vertOverflow="overflow" vert="horz" wrap="square" rtlCol="0" anchor="t">
            <a:spAutoFit/>
          </a:bodyPr>
          <a:lstStyle/>
          <a:p>
            <a:pPr algn="l"/>
            <a:r>
              <a:rPr lang="ja-JP" altLang="en-US" sz="1600" b="1">
                <a:solidFill>
                  <a:srgbClr val="4A4A4A"/>
                </a:solidFill>
                <a:latin typeface="BIZ UDPGothic"/>
                <a:ea typeface="BIZ UDPGothic"/>
              </a:rPr>
              <a:t>今後の価値向上</a:t>
            </a:r>
          </a:p>
        </p:txBody>
      </p:sp>
      <p:sp>
        <p:nvSpPr>
          <p:cNvPr id="18" name="テキスト ボックス 17">
            <a:extLst>
              <a:ext uri="{FF2B5EF4-FFF2-40B4-BE49-F238E27FC236}">
                <a16:creationId xmlns:a16="http://schemas.microsoft.com/office/drawing/2014/main" id="{4463C6D0-9007-4AAD-83CE-EA9CEA8226F0}"/>
              </a:ext>
            </a:extLst>
          </p:cNvPr>
          <p:cNvSpPr txBox="1"/>
          <p:nvPr/>
        </p:nvSpPr>
        <p:spPr>
          <a:xfrm>
            <a:off x="8318500" y="3149600"/>
            <a:ext cx="3175000" cy="1524000"/>
          </a:xfrm>
          <a:prstGeom prst="rect">
            <a:avLst/>
          </a:prstGeom>
          <a:noFill/>
        </p:spPr>
        <p:txBody>
          <a:bodyPr vertOverflow="overflow" vert="horz" wrap="square" rtlCol="0" anchor="t">
            <a:spAutoFit/>
          </a:bodyPr>
          <a:lstStyle/>
          <a:p>
            <a:pPr algn="l"/>
            <a:r>
              <a:rPr lang="ja-JP" altLang="en-US" sz="1400">
                <a:solidFill>
                  <a:srgbClr val="3D3D3D"/>
                </a:solidFill>
                <a:latin typeface="BIZ UDPGothic"/>
                <a:ea typeface="BIZ UDPGothic"/>
              </a:rPr>
              <a:t>追加データの整備、定期モニタリング、施策効果検証を通じて、分析の実務価値を段階的に高めることが望ましい</a:t>
            </a:r>
          </a:p>
        </p:txBody>
      </p:sp>
      <p:sp>
        <p:nvSpPr>
          <p:cNvPr id="19" name="テキスト ボックス 18">
            <a:extLst>
              <a:ext uri="{FF2B5EF4-FFF2-40B4-BE49-F238E27FC236}">
                <a16:creationId xmlns:a16="http://schemas.microsoft.com/office/drawing/2014/main" id="{A6E0653D-1146-4748-9C38-7DDF077B9C85}"/>
              </a:ext>
            </a:extLst>
          </p:cNvPr>
          <p:cNvSpPr txBox="1"/>
          <p:nvPr/>
        </p:nvSpPr>
        <p:spPr>
          <a:xfrm>
            <a:off x="762000" y="5207000"/>
            <a:ext cx="7620000" cy="304800"/>
          </a:xfrm>
          <a:prstGeom prst="rect">
            <a:avLst/>
          </a:prstGeom>
          <a:noFill/>
        </p:spPr>
        <p:txBody>
          <a:bodyPr vertOverflow="overflow" vert="horz" wrap="square" rtlCol="0" anchor="t">
            <a:spAutoFit/>
          </a:bodyPr>
          <a:lstStyle/>
          <a:p>
            <a:pPr algn="l"/>
            <a:r>
              <a:rPr lang="ja-JP" altLang="en-US" sz="1400">
                <a:solidFill>
                  <a:srgbClr val="6B6B6B"/>
                </a:solidFill>
                <a:latin typeface="BIZ UDPGothic"/>
                <a:ea typeface="BIZ UDPGothic"/>
              </a:rPr>
              <a:t>株式会社青葉バイオメディカル機器 人事本部 人材戦略部</a:t>
            </a:r>
          </a:p>
        </p:txBody>
      </p:sp>
      <p:sp>
        <p:nvSpPr>
          <p:cNvPr id="20" name="テキスト ボックス 19">
            <a:extLst>
              <a:ext uri="{FF2B5EF4-FFF2-40B4-BE49-F238E27FC236}">
                <a16:creationId xmlns:a16="http://schemas.microsoft.com/office/drawing/2014/main" id="{5262C6EF-0E8F-44EA-AFC7-3BEC32FE0AB4}"/>
              </a:ext>
            </a:extLst>
          </p:cNvPr>
          <p:cNvSpPr txBox="1"/>
          <p:nvPr/>
        </p:nvSpPr>
        <p:spPr>
          <a:xfrm>
            <a:off x="762000" y="5537200"/>
            <a:ext cx="2540000" cy="304800"/>
          </a:xfrm>
          <a:prstGeom prst="rect">
            <a:avLst/>
          </a:prstGeom>
          <a:noFill/>
        </p:spPr>
        <p:txBody>
          <a:bodyPr vertOverflow="overflow" vert="horz" wrap="square" rtlCol="0" anchor="t">
            <a:spAutoFit/>
          </a:bodyPr>
          <a:lstStyle/>
          <a:p>
            <a:pPr algn="l"/>
            <a:r>
              <a:rPr lang="en-US" altLang="ja-JP" sz="1400">
                <a:solidFill>
                  <a:srgbClr val="6B6B6B"/>
                </a:solidFill>
                <a:latin typeface="BIZ UDPGothic"/>
                <a:ea typeface="BIZ UDPGothic"/>
              </a:rPr>
              <a:t>2025</a:t>
            </a:r>
            <a:r>
              <a:rPr lang="ja-JP" altLang="en-US" sz="1400">
                <a:solidFill>
                  <a:srgbClr val="6B6B6B"/>
                </a:solidFill>
                <a:latin typeface="BIZ UDPGothic"/>
                <a:ea typeface="BIZ UDPGothic"/>
              </a:rPr>
              <a:t>年</a:t>
            </a:r>
            <a:r>
              <a:rPr lang="en-US" altLang="ja-JP" sz="1400">
                <a:solidFill>
                  <a:srgbClr val="6B6B6B"/>
                </a:solidFill>
                <a:latin typeface="BIZ UDPGothic"/>
                <a:ea typeface="BIZ UDPGothic"/>
              </a:rPr>
              <a:t>7</a:t>
            </a:r>
            <a:r>
              <a:rPr lang="ja-JP" altLang="en-US" sz="1400">
                <a:solidFill>
                  <a:srgbClr val="6B6B6B"/>
                </a:solidFill>
                <a:latin typeface="BIZ UDPGothic"/>
                <a:ea typeface="BIZ UDPGothic"/>
              </a:rPr>
              <a:t>月</a:t>
            </a:r>
            <a:r>
              <a:rPr lang="en-US" altLang="ja-JP" sz="1400">
                <a:solidFill>
                  <a:srgbClr val="6B6B6B"/>
                </a:solidFill>
                <a:latin typeface="BIZ UDPGothic"/>
                <a:ea typeface="BIZ UDPGothic"/>
              </a:rPr>
              <a:t>28</a:t>
            </a:r>
            <a:r>
              <a:rPr lang="ja-JP" altLang="en-US" sz="1400">
                <a:solidFill>
                  <a:srgbClr val="6B6B6B"/>
                </a:solidFill>
                <a:latin typeface="BIZ UDPGothic"/>
                <a:ea typeface="BIZ UDPGothic"/>
              </a:rPr>
              <a:t>日</a:t>
            </a:r>
          </a:p>
        </p:txBody>
      </p:sp>
    </p:spTree>
    <p:extLst>
      <p:ext uri="{BB962C8B-B14F-4D97-AF65-F5344CB8AC3E}">
        <p14:creationId xmlns:p14="http://schemas.microsoft.com/office/powerpoint/2010/main" val="6214314"/>
      </p:ext>
    </p:extLst>
  </p:cSld>
  <p:clrMapOvr>
    <a:masterClrMapping/>
  </p:clrMapOvr>
</p:sld>
</file>

<file path=ppt/theme/theme1.xml><?xml version="1.0" encoding="utf-8"?>
<a:theme xmlns:a="http://schemas.openxmlformats.org/drawingml/2006/main" name="Office テーマ [1775608777613]">
  <a:themeElements>
    <a:clrScheme name="Aoba Biomedical">
      <a:dk1>
        <a:srgbClr val="1A1A1A"/>
      </a:dk1>
      <a:lt1>
        <a:srgbClr val="FFFFFF"/>
      </a:lt1>
      <a:dk2>
        <a:srgbClr val="3D3D3D"/>
      </a:dk2>
      <a:lt2>
        <a:srgbClr val="F2F0ED"/>
      </a:lt2>
      <a:accent1>
        <a:srgbClr val="8B3A2F"/>
      </a:accent1>
      <a:accent2>
        <a:srgbClr val="4A4A4A"/>
      </a:accent2>
      <a:accent3>
        <a:srgbClr val="6B6B6B"/>
      </a:accent3>
      <a:accent4>
        <a:srgbClr val="A0522D"/>
      </a:accent4>
      <a:accent5>
        <a:srgbClr val="D4C5B9"/>
      </a:accent5>
      <a:accent6>
        <a:srgbClr val="2C2C2C"/>
      </a:accent6>
      <a:hlink>
        <a:srgbClr val="467886"/>
      </a:hlink>
      <a:folHlink>
        <a:srgbClr val="96607D"/>
      </a:folHlink>
    </a:clrScheme>
    <a:fontScheme name="Aoba Biomedical">
      <a:majorFont>
        <a:latin typeface="BIZ UDPGothic" panose="02110004020202020204"/>
        <a:ea typeface="BIZ UDPGothic"/>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Gothic" panose="02110004020202020204"/>
        <a:ea typeface="BIZ UDPGothic"/>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974"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CEE99E4-BB71-46A2-B00F-FE04E274848E}">
  <we:reference id="WA200010001" version="1.0.0.1" store="Omex" storeType="OMEX"/>
  <we:alternateReferences>
    <we:reference id="WA200010001" version="1.0.0.1" store="WA200010001" storeType="OMEX"/>
  </we:alternateReferences>
  <we:properties>
    <we:property name="claude.fileId" value="&quot;aa113c48-1dce-477f-bcd3-78eb628270e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298</TotalTime>
  <Words>2955</Words>
  <Application>Microsoft Office PowerPoint</Application>
  <PresentationFormat>ワイド画面</PresentationFormat>
  <Paragraphs>454</Paragraphs>
  <Slides>21</Slides>
  <Notes>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21</vt:i4>
      </vt:variant>
    </vt:vector>
  </HeadingPairs>
  <TitlesOfParts>
    <vt:vector size="24" baseType="lpstr">
      <vt:lpstr>BIZ UDPGothic</vt:lpstr>
      <vt:lpstr>Arial</vt:lpstr>
      <vt:lpstr>Office テーマ [1775608777613]</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h.ikeshita</dc:creator>
  <cp:lastModifiedBy>h.ikeshita</cp:lastModifiedBy>
  <cp:revision>3</cp:revision>
  <dcterms:created xsi:type="dcterms:W3CDTF">2026-04-08T00:37:22Z</dcterms:created>
  <dcterms:modified xsi:type="dcterms:W3CDTF">2026-04-08T05:35:45Z</dcterms:modified>
</cp:coreProperties>
</file>