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7" r:id="rId2"/>
    <p:sldId id="259" r:id="rId3"/>
    <p:sldId id="261" r:id="rId4"/>
    <p:sldId id="263" r:id="rId5"/>
    <p:sldId id="265" r:id="rId6"/>
    <p:sldId id="267" r:id="rId7"/>
    <p:sldId id="269" r:id="rId8"/>
    <p:sldId id="271" r:id="rId9"/>
    <p:sldId id="273" r:id="rId10"/>
    <p:sldId id="275" r:id="rId11"/>
    <p:sldId id="277" r:id="rId12"/>
    <p:sldId id="294" r:id="rId13"/>
    <p:sldId id="281" r:id="rId14"/>
    <p:sldId id="283" r:id="rId15"/>
    <p:sldId id="295" r:id="rId16"/>
    <p:sldId id="287" r:id="rId17"/>
    <p:sldId id="289" r:id="rId18"/>
    <p:sldId id="291" r:id="rId19"/>
    <p:sldId id="293" r:id="rId2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2" d="100"/>
          <a:sy n="142" d="100"/>
        </p:scale>
        <p:origin x="96" y="3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9E5293-CAD8-4374-9D4E-BFBD1508B9C9}" type="datetimeFigureOut">
              <a:rPr kumimoji="1" lang="ja-JP" altLang="en-US" smtClean="0"/>
              <a:t>2026/3/23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F28C07-0DDF-4C7D-A7F9-D7660889A311}" type="slidenum">
              <a:rPr kumimoji="1" lang="ja-JP" altLang="en-US" smtClean="0"/>
              <a:t>‹#›</a:t>
            </a:fld>
            <a:endParaRPr kumimoji="1" lang="ja-JP" altLang="en-US"/>
          </a:p>
        </p:txBody>
      </p:sp>
    </p:spTree>
    <p:extLst>
      <p:ext uri="{BB962C8B-B14F-4D97-AF65-F5344CB8AC3E}">
        <p14:creationId xmlns:p14="http://schemas.microsoft.com/office/powerpoint/2010/main" val="217375559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CF28C07-0DDF-4C7D-A7F9-D7660889A311}" type="slidenum">
              <a:rPr kumimoji="1" lang="ja-JP" altLang="en-US" smtClean="0"/>
              <a:t>13</a:t>
            </a:fld>
            <a:endParaRPr kumimoji="1" lang="ja-JP" altLang="en-US"/>
          </a:p>
        </p:txBody>
      </p:sp>
    </p:spTree>
    <p:extLst>
      <p:ext uri="{BB962C8B-B14F-4D97-AF65-F5344CB8AC3E}">
        <p14:creationId xmlns:p14="http://schemas.microsoft.com/office/powerpoint/2010/main" val="23900669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BA6E0C-4638-7063-F4AA-68B5E794BE5F}"/>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AB04265B-658F-AB77-3756-49856E8BDF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8D43A12-1AC5-5597-96AB-AF20EDAE40A1}"/>
              </a:ext>
            </a:extLst>
          </p:cNvPr>
          <p:cNvSpPr>
            <a:spLocks noGrp="1"/>
          </p:cNvSpPr>
          <p:nvPr>
            <p:ph type="dt" sz="half" idx="10"/>
          </p:nvPr>
        </p:nvSpPr>
        <p:spPr/>
        <p:txBody>
          <a:bodyPr/>
          <a:lstStyle/>
          <a:p>
            <a:fld id="{56CF0824-61EF-47A5-A7DD-CA41C85837F3}" type="datetimeFigureOut">
              <a:rPr kumimoji="1" lang="ja-JP" altLang="en-US" smtClean="0"/>
              <a:t>2026/3/23</a:t>
            </a:fld>
            <a:endParaRPr kumimoji="1" lang="ja-JP" altLang="en-US"/>
          </a:p>
        </p:txBody>
      </p:sp>
      <p:sp>
        <p:nvSpPr>
          <p:cNvPr id="5" name="フッター プレースホルダー 4">
            <a:extLst>
              <a:ext uri="{FF2B5EF4-FFF2-40B4-BE49-F238E27FC236}">
                <a16:creationId xmlns:a16="http://schemas.microsoft.com/office/drawing/2014/main" id="{6B03BD40-209D-4D1F-7B11-A8EC19B1A64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611A6E1-2B6D-CD48-9FB6-8EA6359CCDD6}"/>
              </a:ext>
            </a:extLst>
          </p:cNvPr>
          <p:cNvSpPr>
            <a:spLocks noGrp="1"/>
          </p:cNvSpPr>
          <p:nvPr>
            <p:ph type="sldNum" sz="quarter" idx="12"/>
          </p:nvPr>
        </p:nvSpPr>
        <p:spPr/>
        <p:txBody>
          <a:bodyPr/>
          <a:lstStyle/>
          <a:p>
            <a:fld id="{9D08F9CF-1314-42BC-B935-A7707E80FB7C}" type="slidenum">
              <a:rPr kumimoji="1" lang="ja-JP" altLang="en-US" smtClean="0"/>
              <a:t>‹#›</a:t>
            </a:fld>
            <a:endParaRPr kumimoji="1" lang="ja-JP" altLang="en-US"/>
          </a:p>
        </p:txBody>
      </p:sp>
    </p:spTree>
    <p:extLst>
      <p:ext uri="{BB962C8B-B14F-4D97-AF65-F5344CB8AC3E}">
        <p14:creationId xmlns:p14="http://schemas.microsoft.com/office/powerpoint/2010/main" val="1753111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055A793-6A6B-4E25-5EB2-F386E68251C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B505716-2D89-1AF4-C8F0-14F84F5728EA}"/>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B209C30-9735-BE66-3976-3BDD9E8FB1B5}"/>
              </a:ext>
            </a:extLst>
          </p:cNvPr>
          <p:cNvSpPr>
            <a:spLocks noGrp="1"/>
          </p:cNvSpPr>
          <p:nvPr>
            <p:ph type="dt" sz="half" idx="10"/>
          </p:nvPr>
        </p:nvSpPr>
        <p:spPr/>
        <p:txBody>
          <a:bodyPr/>
          <a:lstStyle/>
          <a:p>
            <a:fld id="{56CF0824-61EF-47A5-A7DD-CA41C85837F3}" type="datetimeFigureOut">
              <a:rPr kumimoji="1" lang="ja-JP" altLang="en-US" smtClean="0"/>
              <a:t>2026/3/23</a:t>
            </a:fld>
            <a:endParaRPr kumimoji="1" lang="ja-JP" altLang="en-US"/>
          </a:p>
        </p:txBody>
      </p:sp>
      <p:sp>
        <p:nvSpPr>
          <p:cNvPr id="5" name="フッター プレースホルダー 4">
            <a:extLst>
              <a:ext uri="{FF2B5EF4-FFF2-40B4-BE49-F238E27FC236}">
                <a16:creationId xmlns:a16="http://schemas.microsoft.com/office/drawing/2014/main" id="{8B76EC9E-04FF-DE77-A075-A37D9CFF279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8254756-C230-AF6C-8C02-0DF209ACECFF}"/>
              </a:ext>
            </a:extLst>
          </p:cNvPr>
          <p:cNvSpPr>
            <a:spLocks noGrp="1"/>
          </p:cNvSpPr>
          <p:nvPr>
            <p:ph type="sldNum" sz="quarter" idx="12"/>
          </p:nvPr>
        </p:nvSpPr>
        <p:spPr/>
        <p:txBody>
          <a:bodyPr/>
          <a:lstStyle/>
          <a:p>
            <a:fld id="{9D08F9CF-1314-42BC-B935-A7707E80FB7C}" type="slidenum">
              <a:rPr kumimoji="1" lang="ja-JP" altLang="en-US" smtClean="0"/>
              <a:t>‹#›</a:t>
            </a:fld>
            <a:endParaRPr kumimoji="1" lang="ja-JP" altLang="en-US"/>
          </a:p>
        </p:txBody>
      </p:sp>
    </p:spTree>
    <p:extLst>
      <p:ext uri="{BB962C8B-B14F-4D97-AF65-F5344CB8AC3E}">
        <p14:creationId xmlns:p14="http://schemas.microsoft.com/office/powerpoint/2010/main" val="2806229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A244D8-5E74-8EA6-8FD3-3D16589140D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06F0077-E656-1011-B784-7FDFA116FE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26D1AD8B-C0D9-53CC-0901-73354C1D81B4}"/>
              </a:ext>
            </a:extLst>
          </p:cNvPr>
          <p:cNvSpPr>
            <a:spLocks noGrp="1"/>
          </p:cNvSpPr>
          <p:nvPr>
            <p:ph type="dt" sz="half" idx="10"/>
          </p:nvPr>
        </p:nvSpPr>
        <p:spPr/>
        <p:txBody>
          <a:bodyPr/>
          <a:lstStyle/>
          <a:p>
            <a:fld id="{56CF0824-61EF-47A5-A7DD-CA41C85837F3}" type="datetimeFigureOut">
              <a:rPr kumimoji="1" lang="ja-JP" altLang="en-US" smtClean="0"/>
              <a:t>2026/3/23</a:t>
            </a:fld>
            <a:endParaRPr kumimoji="1" lang="ja-JP" altLang="en-US"/>
          </a:p>
        </p:txBody>
      </p:sp>
      <p:sp>
        <p:nvSpPr>
          <p:cNvPr id="5" name="フッター プレースホルダー 4">
            <a:extLst>
              <a:ext uri="{FF2B5EF4-FFF2-40B4-BE49-F238E27FC236}">
                <a16:creationId xmlns:a16="http://schemas.microsoft.com/office/drawing/2014/main" id="{6F7C6E3D-E262-3317-F1E3-8585A1006F7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EF8989A-201B-A018-04CC-D5A88044EB27}"/>
              </a:ext>
            </a:extLst>
          </p:cNvPr>
          <p:cNvSpPr>
            <a:spLocks noGrp="1"/>
          </p:cNvSpPr>
          <p:nvPr>
            <p:ph type="sldNum" sz="quarter" idx="12"/>
          </p:nvPr>
        </p:nvSpPr>
        <p:spPr/>
        <p:txBody>
          <a:bodyPr/>
          <a:lstStyle/>
          <a:p>
            <a:fld id="{9D08F9CF-1314-42BC-B935-A7707E80FB7C}" type="slidenum">
              <a:rPr kumimoji="1" lang="ja-JP" altLang="en-US" smtClean="0"/>
              <a:t>‹#›</a:t>
            </a:fld>
            <a:endParaRPr kumimoji="1" lang="ja-JP" altLang="en-US"/>
          </a:p>
        </p:txBody>
      </p:sp>
    </p:spTree>
    <p:extLst>
      <p:ext uri="{BB962C8B-B14F-4D97-AF65-F5344CB8AC3E}">
        <p14:creationId xmlns:p14="http://schemas.microsoft.com/office/powerpoint/2010/main" val="2337713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D31DE9-8AAE-9F04-5769-EE682DCB369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5474F45-3316-6F93-8F2B-CE711439A0B0}"/>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F585F41-BC0D-9344-E7A2-53E6854ACE49}"/>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5565349E-1363-B82C-C2D5-E5704E85D4E4}"/>
              </a:ext>
            </a:extLst>
          </p:cNvPr>
          <p:cNvSpPr>
            <a:spLocks noGrp="1"/>
          </p:cNvSpPr>
          <p:nvPr>
            <p:ph type="dt" sz="half" idx="10"/>
          </p:nvPr>
        </p:nvSpPr>
        <p:spPr/>
        <p:txBody>
          <a:bodyPr/>
          <a:lstStyle/>
          <a:p>
            <a:fld id="{56CF0824-61EF-47A5-A7DD-CA41C85837F3}" type="datetimeFigureOut">
              <a:rPr kumimoji="1" lang="ja-JP" altLang="en-US" smtClean="0"/>
              <a:t>2026/3/23</a:t>
            </a:fld>
            <a:endParaRPr kumimoji="1" lang="ja-JP" altLang="en-US"/>
          </a:p>
        </p:txBody>
      </p:sp>
      <p:sp>
        <p:nvSpPr>
          <p:cNvPr id="6" name="フッター プレースホルダー 5">
            <a:extLst>
              <a:ext uri="{FF2B5EF4-FFF2-40B4-BE49-F238E27FC236}">
                <a16:creationId xmlns:a16="http://schemas.microsoft.com/office/drawing/2014/main" id="{0C30793B-D1FD-D40A-AF88-4EABFB90D5A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6479852-351B-3C04-206A-04D747403398}"/>
              </a:ext>
            </a:extLst>
          </p:cNvPr>
          <p:cNvSpPr>
            <a:spLocks noGrp="1"/>
          </p:cNvSpPr>
          <p:nvPr>
            <p:ph type="sldNum" sz="quarter" idx="12"/>
          </p:nvPr>
        </p:nvSpPr>
        <p:spPr/>
        <p:txBody>
          <a:bodyPr/>
          <a:lstStyle/>
          <a:p>
            <a:fld id="{9D08F9CF-1314-42BC-B935-A7707E80FB7C}" type="slidenum">
              <a:rPr kumimoji="1" lang="ja-JP" altLang="en-US" smtClean="0"/>
              <a:t>‹#›</a:t>
            </a:fld>
            <a:endParaRPr kumimoji="1" lang="ja-JP" altLang="en-US"/>
          </a:p>
        </p:txBody>
      </p:sp>
    </p:spTree>
    <p:extLst>
      <p:ext uri="{BB962C8B-B14F-4D97-AF65-F5344CB8AC3E}">
        <p14:creationId xmlns:p14="http://schemas.microsoft.com/office/powerpoint/2010/main" val="3890132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DA03EB-F4E7-0B9D-0836-EA1F7A0C9DE7}"/>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01034E-1800-B490-491C-DA8623E48D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C03400C-C268-E8A6-2299-93F690C76C28}"/>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5F3336D-3975-A00C-A7A2-0D46E6DED0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D4DD7E77-D4B6-9579-2333-D33B41CD237A}"/>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6D16977C-1F32-F923-C7FC-A793BAE75EAB}"/>
              </a:ext>
            </a:extLst>
          </p:cNvPr>
          <p:cNvSpPr>
            <a:spLocks noGrp="1"/>
          </p:cNvSpPr>
          <p:nvPr>
            <p:ph type="dt" sz="half" idx="10"/>
          </p:nvPr>
        </p:nvSpPr>
        <p:spPr/>
        <p:txBody>
          <a:bodyPr/>
          <a:lstStyle/>
          <a:p>
            <a:fld id="{56CF0824-61EF-47A5-A7DD-CA41C85837F3}" type="datetimeFigureOut">
              <a:rPr kumimoji="1" lang="ja-JP" altLang="en-US" smtClean="0"/>
              <a:t>2026/3/23</a:t>
            </a:fld>
            <a:endParaRPr kumimoji="1" lang="ja-JP" altLang="en-US"/>
          </a:p>
        </p:txBody>
      </p:sp>
      <p:sp>
        <p:nvSpPr>
          <p:cNvPr id="8" name="フッター プレースホルダー 7">
            <a:extLst>
              <a:ext uri="{FF2B5EF4-FFF2-40B4-BE49-F238E27FC236}">
                <a16:creationId xmlns:a16="http://schemas.microsoft.com/office/drawing/2014/main" id="{77B095D4-2572-CB45-5D77-15E2557EFB0D}"/>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FD09008A-4531-8DE9-260E-FE58DFAE9910}"/>
              </a:ext>
            </a:extLst>
          </p:cNvPr>
          <p:cNvSpPr>
            <a:spLocks noGrp="1"/>
          </p:cNvSpPr>
          <p:nvPr>
            <p:ph type="sldNum" sz="quarter" idx="12"/>
          </p:nvPr>
        </p:nvSpPr>
        <p:spPr/>
        <p:txBody>
          <a:bodyPr/>
          <a:lstStyle/>
          <a:p>
            <a:fld id="{9D08F9CF-1314-42BC-B935-A7707E80FB7C}" type="slidenum">
              <a:rPr kumimoji="1" lang="ja-JP" altLang="en-US" smtClean="0"/>
              <a:t>‹#›</a:t>
            </a:fld>
            <a:endParaRPr kumimoji="1" lang="ja-JP" altLang="en-US"/>
          </a:p>
        </p:txBody>
      </p:sp>
    </p:spTree>
    <p:extLst>
      <p:ext uri="{BB962C8B-B14F-4D97-AF65-F5344CB8AC3E}">
        <p14:creationId xmlns:p14="http://schemas.microsoft.com/office/powerpoint/2010/main" val="3031773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37D053-53E1-E83D-D214-2BE904C52AB4}"/>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A752F5F-840A-C433-FE2E-E6699FA2BF99}"/>
              </a:ext>
            </a:extLst>
          </p:cNvPr>
          <p:cNvSpPr>
            <a:spLocks noGrp="1"/>
          </p:cNvSpPr>
          <p:nvPr>
            <p:ph type="dt" sz="half" idx="10"/>
          </p:nvPr>
        </p:nvSpPr>
        <p:spPr/>
        <p:txBody>
          <a:bodyPr/>
          <a:lstStyle/>
          <a:p>
            <a:fld id="{56CF0824-61EF-47A5-A7DD-CA41C85837F3}" type="datetimeFigureOut">
              <a:rPr kumimoji="1" lang="ja-JP" altLang="en-US" smtClean="0"/>
              <a:t>2026/3/23</a:t>
            </a:fld>
            <a:endParaRPr kumimoji="1" lang="ja-JP" altLang="en-US"/>
          </a:p>
        </p:txBody>
      </p:sp>
      <p:sp>
        <p:nvSpPr>
          <p:cNvPr id="4" name="フッター プレースホルダー 3">
            <a:extLst>
              <a:ext uri="{FF2B5EF4-FFF2-40B4-BE49-F238E27FC236}">
                <a16:creationId xmlns:a16="http://schemas.microsoft.com/office/drawing/2014/main" id="{68E602F9-49BE-553E-1554-ED215E8ED36C}"/>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153AB3B3-54A5-9214-826B-4ECE7D616B95}"/>
              </a:ext>
            </a:extLst>
          </p:cNvPr>
          <p:cNvSpPr>
            <a:spLocks noGrp="1"/>
          </p:cNvSpPr>
          <p:nvPr>
            <p:ph type="sldNum" sz="quarter" idx="12"/>
          </p:nvPr>
        </p:nvSpPr>
        <p:spPr/>
        <p:txBody>
          <a:bodyPr/>
          <a:lstStyle/>
          <a:p>
            <a:fld id="{9D08F9CF-1314-42BC-B935-A7707E80FB7C}" type="slidenum">
              <a:rPr kumimoji="1" lang="ja-JP" altLang="en-US" smtClean="0"/>
              <a:t>‹#›</a:t>
            </a:fld>
            <a:endParaRPr kumimoji="1" lang="ja-JP" altLang="en-US"/>
          </a:p>
        </p:txBody>
      </p:sp>
    </p:spTree>
    <p:extLst>
      <p:ext uri="{BB962C8B-B14F-4D97-AF65-F5344CB8AC3E}">
        <p14:creationId xmlns:p14="http://schemas.microsoft.com/office/powerpoint/2010/main" val="3064566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9CF73C3D-D217-9727-60C5-0B9DAA4FEE6A}"/>
              </a:ext>
            </a:extLst>
          </p:cNvPr>
          <p:cNvSpPr>
            <a:spLocks noGrp="1"/>
          </p:cNvSpPr>
          <p:nvPr>
            <p:ph type="dt" sz="half" idx="10"/>
          </p:nvPr>
        </p:nvSpPr>
        <p:spPr/>
        <p:txBody>
          <a:bodyPr/>
          <a:lstStyle/>
          <a:p>
            <a:fld id="{56CF0824-61EF-47A5-A7DD-CA41C85837F3}" type="datetimeFigureOut">
              <a:rPr kumimoji="1" lang="ja-JP" altLang="en-US" smtClean="0"/>
              <a:t>2026/3/23</a:t>
            </a:fld>
            <a:endParaRPr kumimoji="1" lang="ja-JP" altLang="en-US"/>
          </a:p>
        </p:txBody>
      </p:sp>
      <p:sp>
        <p:nvSpPr>
          <p:cNvPr id="3" name="フッター プレースホルダー 2">
            <a:extLst>
              <a:ext uri="{FF2B5EF4-FFF2-40B4-BE49-F238E27FC236}">
                <a16:creationId xmlns:a16="http://schemas.microsoft.com/office/drawing/2014/main" id="{4F93138D-5651-949F-CC03-C94D95993904}"/>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D8081F3-2B84-9290-4E56-3E11641BD06D}"/>
              </a:ext>
            </a:extLst>
          </p:cNvPr>
          <p:cNvSpPr>
            <a:spLocks noGrp="1"/>
          </p:cNvSpPr>
          <p:nvPr>
            <p:ph type="sldNum" sz="quarter" idx="12"/>
          </p:nvPr>
        </p:nvSpPr>
        <p:spPr/>
        <p:txBody>
          <a:bodyPr/>
          <a:lstStyle/>
          <a:p>
            <a:fld id="{9D08F9CF-1314-42BC-B935-A7707E80FB7C}" type="slidenum">
              <a:rPr kumimoji="1" lang="ja-JP" altLang="en-US" smtClean="0"/>
              <a:t>‹#›</a:t>
            </a:fld>
            <a:endParaRPr kumimoji="1" lang="ja-JP" altLang="en-US"/>
          </a:p>
        </p:txBody>
      </p:sp>
    </p:spTree>
    <p:extLst>
      <p:ext uri="{BB962C8B-B14F-4D97-AF65-F5344CB8AC3E}">
        <p14:creationId xmlns:p14="http://schemas.microsoft.com/office/powerpoint/2010/main" val="2533741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FB30A8-AD66-9B49-9455-FD9E65F66AF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9EC0535-1226-85E9-7C98-774801808F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E2ED502-9E95-FD27-8408-ADE218C888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069826A-8A21-D195-8BB3-B61599B6A747}"/>
              </a:ext>
            </a:extLst>
          </p:cNvPr>
          <p:cNvSpPr>
            <a:spLocks noGrp="1"/>
          </p:cNvSpPr>
          <p:nvPr>
            <p:ph type="dt" sz="half" idx="10"/>
          </p:nvPr>
        </p:nvSpPr>
        <p:spPr/>
        <p:txBody>
          <a:bodyPr/>
          <a:lstStyle/>
          <a:p>
            <a:fld id="{56CF0824-61EF-47A5-A7DD-CA41C85837F3}" type="datetimeFigureOut">
              <a:rPr kumimoji="1" lang="ja-JP" altLang="en-US" smtClean="0"/>
              <a:t>2026/3/23</a:t>
            </a:fld>
            <a:endParaRPr kumimoji="1" lang="ja-JP" altLang="en-US"/>
          </a:p>
        </p:txBody>
      </p:sp>
      <p:sp>
        <p:nvSpPr>
          <p:cNvPr id="6" name="フッター プレースホルダー 5">
            <a:extLst>
              <a:ext uri="{FF2B5EF4-FFF2-40B4-BE49-F238E27FC236}">
                <a16:creationId xmlns:a16="http://schemas.microsoft.com/office/drawing/2014/main" id="{3DF87BAC-F6FB-11F4-50EA-F64C0A8A752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67CBE7C-3B4E-88AD-49C2-30A5A8346A63}"/>
              </a:ext>
            </a:extLst>
          </p:cNvPr>
          <p:cNvSpPr>
            <a:spLocks noGrp="1"/>
          </p:cNvSpPr>
          <p:nvPr>
            <p:ph type="sldNum" sz="quarter" idx="12"/>
          </p:nvPr>
        </p:nvSpPr>
        <p:spPr/>
        <p:txBody>
          <a:bodyPr/>
          <a:lstStyle/>
          <a:p>
            <a:fld id="{9D08F9CF-1314-42BC-B935-A7707E80FB7C}" type="slidenum">
              <a:rPr kumimoji="1" lang="ja-JP" altLang="en-US" smtClean="0"/>
              <a:t>‹#›</a:t>
            </a:fld>
            <a:endParaRPr kumimoji="1" lang="ja-JP" altLang="en-US"/>
          </a:p>
        </p:txBody>
      </p:sp>
    </p:spTree>
    <p:extLst>
      <p:ext uri="{BB962C8B-B14F-4D97-AF65-F5344CB8AC3E}">
        <p14:creationId xmlns:p14="http://schemas.microsoft.com/office/powerpoint/2010/main" val="330081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BA6052-2522-656A-0E59-E45218724BA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E7A225B-F183-0122-AAD5-B836DFE487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7954A610-D091-8717-319F-E38A716426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0BBC65E-0818-3245-D017-279BC2701AE5}"/>
              </a:ext>
            </a:extLst>
          </p:cNvPr>
          <p:cNvSpPr>
            <a:spLocks noGrp="1"/>
          </p:cNvSpPr>
          <p:nvPr>
            <p:ph type="dt" sz="half" idx="10"/>
          </p:nvPr>
        </p:nvSpPr>
        <p:spPr/>
        <p:txBody>
          <a:bodyPr/>
          <a:lstStyle/>
          <a:p>
            <a:fld id="{56CF0824-61EF-47A5-A7DD-CA41C85837F3}" type="datetimeFigureOut">
              <a:rPr kumimoji="1" lang="ja-JP" altLang="en-US" smtClean="0"/>
              <a:t>2026/3/23</a:t>
            </a:fld>
            <a:endParaRPr kumimoji="1" lang="ja-JP" altLang="en-US"/>
          </a:p>
        </p:txBody>
      </p:sp>
      <p:sp>
        <p:nvSpPr>
          <p:cNvPr id="6" name="フッター プレースホルダー 5">
            <a:extLst>
              <a:ext uri="{FF2B5EF4-FFF2-40B4-BE49-F238E27FC236}">
                <a16:creationId xmlns:a16="http://schemas.microsoft.com/office/drawing/2014/main" id="{5A979A20-3432-EB5F-0474-ABAF4CB4E2E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A70834B-FA4F-3A7B-B299-7CE808E98F8E}"/>
              </a:ext>
            </a:extLst>
          </p:cNvPr>
          <p:cNvSpPr>
            <a:spLocks noGrp="1"/>
          </p:cNvSpPr>
          <p:nvPr>
            <p:ph type="sldNum" sz="quarter" idx="12"/>
          </p:nvPr>
        </p:nvSpPr>
        <p:spPr/>
        <p:txBody>
          <a:bodyPr/>
          <a:lstStyle/>
          <a:p>
            <a:fld id="{9D08F9CF-1314-42BC-B935-A7707E80FB7C}" type="slidenum">
              <a:rPr kumimoji="1" lang="ja-JP" altLang="en-US" smtClean="0"/>
              <a:t>‹#›</a:t>
            </a:fld>
            <a:endParaRPr kumimoji="1" lang="ja-JP" altLang="en-US"/>
          </a:p>
        </p:txBody>
      </p:sp>
    </p:spTree>
    <p:extLst>
      <p:ext uri="{BB962C8B-B14F-4D97-AF65-F5344CB8AC3E}">
        <p14:creationId xmlns:p14="http://schemas.microsoft.com/office/powerpoint/2010/main" val="1938742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1E56856-8B24-01DB-54AA-A2954A14F6DE}"/>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0633369-5A88-553F-6752-F9CAB77A0C9B}"/>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70AB470-6718-AF5B-09F8-2C1B3A19EF28}"/>
              </a:ext>
            </a:extLst>
          </p:cNvPr>
          <p:cNvSpPr>
            <a:spLocks noGrp="1"/>
          </p:cNvSpPr>
          <p:nvPr>
            <p:ph type="dt" sz="half" idx="10"/>
          </p:nvPr>
        </p:nvSpPr>
        <p:spPr/>
        <p:txBody>
          <a:bodyPr/>
          <a:lstStyle/>
          <a:p>
            <a:fld id="{56CF0824-61EF-47A5-A7DD-CA41C85837F3}" type="datetimeFigureOut">
              <a:rPr kumimoji="1" lang="ja-JP" altLang="en-US" smtClean="0"/>
              <a:t>2026/3/23</a:t>
            </a:fld>
            <a:endParaRPr kumimoji="1" lang="ja-JP" altLang="en-US"/>
          </a:p>
        </p:txBody>
      </p:sp>
      <p:sp>
        <p:nvSpPr>
          <p:cNvPr id="5" name="フッター プレースホルダー 4">
            <a:extLst>
              <a:ext uri="{FF2B5EF4-FFF2-40B4-BE49-F238E27FC236}">
                <a16:creationId xmlns:a16="http://schemas.microsoft.com/office/drawing/2014/main" id="{12DC6D55-7549-B24F-FD58-1A00326A4E3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547B5D1-6C89-E8A8-F7C9-ADFF79A1FC48}"/>
              </a:ext>
            </a:extLst>
          </p:cNvPr>
          <p:cNvSpPr>
            <a:spLocks noGrp="1"/>
          </p:cNvSpPr>
          <p:nvPr>
            <p:ph type="sldNum" sz="quarter" idx="12"/>
          </p:nvPr>
        </p:nvSpPr>
        <p:spPr/>
        <p:txBody>
          <a:bodyPr/>
          <a:lstStyle/>
          <a:p>
            <a:fld id="{9D08F9CF-1314-42BC-B935-A7707E80FB7C}" type="slidenum">
              <a:rPr kumimoji="1" lang="ja-JP" altLang="en-US" smtClean="0"/>
              <a:t>‹#›</a:t>
            </a:fld>
            <a:endParaRPr kumimoji="1" lang="ja-JP" altLang="en-US"/>
          </a:p>
        </p:txBody>
      </p:sp>
    </p:spTree>
    <p:extLst>
      <p:ext uri="{BB962C8B-B14F-4D97-AF65-F5344CB8AC3E}">
        <p14:creationId xmlns:p14="http://schemas.microsoft.com/office/powerpoint/2010/main" val="2794583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C7A7C6C4-65CD-1B2D-8025-1006D902374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AB739B0-638E-898A-BE22-42455743A659}"/>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5B22A68-B9D6-9A9C-8D75-8B39E5296671}"/>
              </a:ext>
            </a:extLst>
          </p:cNvPr>
          <p:cNvSpPr>
            <a:spLocks noGrp="1"/>
          </p:cNvSpPr>
          <p:nvPr>
            <p:ph type="dt" sz="half" idx="10"/>
          </p:nvPr>
        </p:nvSpPr>
        <p:spPr/>
        <p:txBody>
          <a:bodyPr/>
          <a:lstStyle/>
          <a:p>
            <a:fld id="{56CF0824-61EF-47A5-A7DD-CA41C85837F3}" type="datetimeFigureOut">
              <a:rPr kumimoji="1" lang="ja-JP" altLang="en-US" smtClean="0"/>
              <a:t>2026/3/23</a:t>
            </a:fld>
            <a:endParaRPr kumimoji="1" lang="ja-JP" altLang="en-US"/>
          </a:p>
        </p:txBody>
      </p:sp>
      <p:sp>
        <p:nvSpPr>
          <p:cNvPr id="5" name="フッター プレースホルダー 4">
            <a:extLst>
              <a:ext uri="{FF2B5EF4-FFF2-40B4-BE49-F238E27FC236}">
                <a16:creationId xmlns:a16="http://schemas.microsoft.com/office/drawing/2014/main" id="{806B53FF-179B-24E3-0E47-2421702B915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7B41CA1-5B44-0D95-0A4F-094A5007720A}"/>
              </a:ext>
            </a:extLst>
          </p:cNvPr>
          <p:cNvSpPr>
            <a:spLocks noGrp="1"/>
          </p:cNvSpPr>
          <p:nvPr>
            <p:ph type="sldNum" sz="quarter" idx="12"/>
          </p:nvPr>
        </p:nvSpPr>
        <p:spPr/>
        <p:txBody>
          <a:bodyPr/>
          <a:lstStyle/>
          <a:p>
            <a:fld id="{9D08F9CF-1314-42BC-B935-A7707E80FB7C}" type="slidenum">
              <a:rPr kumimoji="1" lang="ja-JP" altLang="en-US" smtClean="0"/>
              <a:t>‹#›</a:t>
            </a:fld>
            <a:endParaRPr kumimoji="1" lang="ja-JP" altLang="en-US"/>
          </a:p>
        </p:txBody>
      </p:sp>
    </p:spTree>
    <p:extLst>
      <p:ext uri="{BB962C8B-B14F-4D97-AF65-F5344CB8AC3E}">
        <p14:creationId xmlns:p14="http://schemas.microsoft.com/office/powerpoint/2010/main" val="31011216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6C028C2-3384-533B-5C44-1F7F7AE525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B49656E-0281-326A-BD84-B3EC376FC9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198F800-A4F4-4A39-4BC9-4138D48885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6CF0824-61EF-47A5-A7DD-CA41C85837F3}" type="datetimeFigureOut">
              <a:rPr kumimoji="1" lang="ja-JP" altLang="en-US" smtClean="0"/>
              <a:t>2026/3/23</a:t>
            </a:fld>
            <a:endParaRPr kumimoji="1" lang="ja-JP" altLang="en-US"/>
          </a:p>
        </p:txBody>
      </p:sp>
      <p:sp>
        <p:nvSpPr>
          <p:cNvPr id="5" name="フッター プレースホルダー 4">
            <a:extLst>
              <a:ext uri="{FF2B5EF4-FFF2-40B4-BE49-F238E27FC236}">
                <a16:creationId xmlns:a16="http://schemas.microsoft.com/office/drawing/2014/main" id="{5BE409DB-8F91-429F-E0B6-DC586BC804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7728B490-2FB5-3ABC-13D0-B95499EB57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08F9CF-1314-42BC-B935-A7707E80FB7C}" type="slidenum">
              <a:rPr kumimoji="1" lang="ja-JP" altLang="en-US" smtClean="0"/>
              <a:t>‹#›</a:t>
            </a:fld>
            <a:endParaRPr kumimoji="1" lang="ja-JP" altLang="en-US"/>
          </a:p>
        </p:txBody>
      </p:sp>
      <p:sp>
        <p:nvSpPr>
          <p:cNvPr id="900" name="AccentBar"/>
          <p:cNvSpPr/>
          <p:nvPr userDrawn="1"/>
        </p:nvSpPr>
        <p:spPr>
          <a:xfrm>
            <a:off x="0" y="0"/>
            <a:ext cx="12192000" cy="91440"/>
          </a:xfrm>
          <a:prstGeom prst="rect">
            <a:avLst/>
          </a:prstGeom>
          <a:solidFill>
            <a:srgbClr val="8B2500"/>
          </a:solidFill>
          <a:ln>
            <a:noFill/>
          </a:ln>
        </p:spPr>
        <p:txBody>
          <a:bodyPr/>
          <a:lstStyle/>
          <a:p>
            <a:endParaRPr lang="ja-JP"/>
          </a:p>
        </p:txBody>
      </p:sp>
      <p:sp>
        <p:nvSpPr>
          <p:cNvPr id="901" name="BottomLine"/>
          <p:cNvSpPr/>
          <p:nvPr userDrawn="1"/>
        </p:nvSpPr>
        <p:spPr>
          <a:xfrm>
            <a:off x="457200" y="6583680"/>
            <a:ext cx="11277600" cy="18288"/>
          </a:xfrm>
          <a:prstGeom prst="rect">
            <a:avLst/>
          </a:prstGeom>
          <a:solidFill>
            <a:srgbClr val="D0C8BE"/>
          </a:solidFill>
          <a:ln>
            <a:noFill/>
          </a:ln>
        </p:spPr>
        <p:txBody>
          <a:bodyPr/>
          <a:lstStyle/>
          <a:p>
            <a:endParaRPr lang="ja-JP"/>
          </a:p>
        </p:txBody>
      </p:sp>
    </p:spTree>
    <p:extLst>
      <p:ext uri="{BB962C8B-B14F-4D97-AF65-F5344CB8AC3E}">
        <p14:creationId xmlns:p14="http://schemas.microsoft.com/office/powerpoint/2010/main" val="19370982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rgbClr val="1A1A1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rgbClr val="33333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rgbClr val="333333"/>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rgbClr val="333333"/>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333333"/>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LeftBar"/>
          <p:cNvSpPr/>
          <p:nvPr/>
        </p:nvSpPr>
        <p:spPr>
          <a:xfrm>
            <a:off x="0" y="0"/>
            <a:ext cx="457200" cy="6858000"/>
          </a:xfrm>
          <a:prstGeom prst="rect">
            <a:avLst/>
          </a:prstGeom>
          <a:solidFill>
            <a:srgbClr val="8B2500"/>
          </a:solidFill>
          <a:ln>
            <a:noFill/>
          </a:ln>
        </p:spPr>
        <p:txBody>
          <a:bodyPr/>
          <a:lstStyle/>
          <a:p>
            <a:endParaRPr lang="ja-JP"/>
          </a:p>
        </p:txBody>
      </p:sp>
      <p:sp>
        <p:nvSpPr>
          <p:cNvPr id="101" name="HLine"/>
          <p:cNvSpPr/>
          <p:nvPr/>
        </p:nvSpPr>
        <p:spPr>
          <a:xfrm>
            <a:off x="914400" y="3200400"/>
            <a:ext cx="9601200" cy="27432"/>
          </a:xfrm>
          <a:prstGeom prst="rect">
            <a:avLst/>
          </a:prstGeom>
          <a:solidFill>
            <a:srgbClr val="8B2500"/>
          </a:solidFill>
          <a:ln>
            <a:noFill/>
          </a:ln>
        </p:spPr>
        <p:txBody>
          <a:bodyPr/>
          <a:lstStyle/>
          <a:p>
            <a:endParaRPr lang="ja-JP"/>
          </a:p>
        </p:txBody>
      </p:sp>
      <p:sp>
        <p:nvSpPr>
          <p:cNvPr id="102" name="MainTitle"/>
          <p:cNvSpPr/>
          <p:nvPr/>
        </p:nvSpPr>
        <p:spPr>
          <a:xfrm>
            <a:off x="914400" y="1600200"/>
            <a:ext cx="9601200" cy="1371600"/>
          </a:xfrm>
          <a:prstGeom prst="rect">
            <a:avLst/>
          </a:prstGeom>
          <a:noFill/>
          <a:ln>
            <a:noFill/>
          </a:ln>
        </p:spPr>
        <p:txBody>
          <a:bodyPr wrap="square" anchor="b" anchorCtr="0"/>
          <a:lstStyle/>
          <a:p>
            <a:pPr algn="l"/>
            <a:r>
              <a:rPr lang="ja-JP" sz="3200" b="1" dirty="0">
                <a:solidFill>
                  <a:srgbClr val="1A1A1A"/>
                </a:solidFill>
                <a:latin typeface="BIZ UDPGothic"/>
                <a:ea typeface="BIZ UDPGothic"/>
              </a:rPr>
              <a:t>データ分析プロジェクト提案書</a:t>
            </a:r>
          </a:p>
        </p:txBody>
      </p:sp>
      <p:sp>
        <p:nvSpPr>
          <p:cNvPr id="103" name="Subtitle"/>
          <p:cNvSpPr/>
          <p:nvPr/>
        </p:nvSpPr>
        <p:spPr>
          <a:xfrm>
            <a:off x="914400" y="3400000"/>
            <a:ext cx="9601200" cy="914400"/>
          </a:xfrm>
          <a:prstGeom prst="rect">
            <a:avLst/>
          </a:prstGeom>
          <a:noFill/>
          <a:ln>
            <a:noFill/>
          </a:ln>
        </p:spPr>
        <p:txBody>
          <a:bodyPr wrap="square" anchor="t" anchorCtr="0"/>
          <a:lstStyle/>
          <a:p>
            <a:pPr algn="l">
              <a:lnSpc>
                <a:spcPts val="2800"/>
              </a:lnSpc>
            </a:pPr>
            <a:r>
              <a:rPr lang="ja-JP" sz="1600" dirty="0">
                <a:solidFill>
                  <a:srgbClr val="4A4A4A"/>
                </a:solidFill>
                <a:latin typeface="BIZ UDPGothic"/>
                <a:ea typeface="BIZ UDPGothic"/>
              </a:rPr>
              <a:t>企業財務指標に基づく倒産予測モデルの企画・分析・初期実装方針策定</a:t>
            </a:r>
          </a:p>
          <a:p>
            <a:pPr algn="l">
              <a:lnSpc>
                <a:spcPts val="2800"/>
              </a:lnSpc>
            </a:pPr>
            <a:r>
              <a:rPr lang="ja-JP" sz="1600" dirty="0">
                <a:solidFill>
                  <a:srgbClr val="4A4A4A"/>
                </a:solidFill>
                <a:latin typeface="BIZ UDPGothic"/>
                <a:ea typeface="BIZ UDPGothic"/>
              </a:rPr>
              <a:t>白峰信用リスク評価株式会社 審査企画部 御中</a:t>
            </a:r>
          </a:p>
        </p:txBody>
      </p:sp>
      <p:sp>
        <p:nvSpPr>
          <p:cNvPr id="104" name="Info"/>
          <p:cNvSpPr/>
          <p:nvPr/>
        </p:nvSpPr>
        <p:spPr>
          <a:xfrm>
            <a:off x="914400" y="5486400"/>
            <a:ext cx="9601200" cy="685800"/>
          </a:xfrm>
          <a:prstGeom prst="rect">
            <a:avLst/>
          </a:prstGeom>
          <a:noFill/>
          <a:ln>
            <a:noFill/>
          </a:ln>
        </p:spPr>
        <p:txBody>
          <a:bodyPr wrap="square" anchor="b" anchorCtr="0"/>
          <a:lstStyle/>
          <a:p>
            <a:pPr algn="r"/>
            <a:r>
              <a:rPr lang="ja-JP" sz="1400" dirty="0">
                <a:solidFill>
                  <a:srgbClr val="7A7A7A"/>
                </a:solidFill>
                <a:latin typeface="BIZ UDPGothic"/>
                <a:ea typeface="BIZ UDPGothic"/>
              </a:rPr>
              <a:t>株式会社データアステル</a:t>
            </a:r>
          </a:p>
        </p:txBody>
      </p:sp>
      <p:sp>
        <p:nvSpPr>
          <p:cNvPr id="105" name="Deco1"/>
          <p:cNvSpPr/>
          <p:nvPr/>
        </p:nvSpPr>
        <p:spPr>
          <a:xfrm>
            <a:off x="10744200" y="5486400"/>
            <a:ext cx="182880" cy="182880"/>
          </a:xfrm>
          <a:prstGeom prst="rect">
            <a:avLst/>
          </a:prstGeom>
          <a:solidFill>
            <a:srgbClr val="8B2500"/>
          </a:solidFill>
          <a:ln>
            <a:noFill/>
          </a:ln>
        </p:spPr>
        <p:txBody>
          <a:bodyPr/>
          <a:lstStyle/>
          <a:p>
            <a:endParaRPr lang="ja-JP"/>
          </a:p>
        </p:txBody>
      </p:sp>
      <p:sp>
        <p:nvSpPr>
          <p:cNvPr id="106" name="Deco2"/>
          <p:cNvSpPr/>
          <p:nvPr/>
        </p:nvSpPr>
        <p:spPr>
          <a:xfrm>
            <a:off x="10973880" y="5486400"/>
            <a:ext cx="182880" cy="182880"/>
          </a:xfrm>
          <a:prstGeom prst="rect">
            <a:avLst/>
          </a:prstGeom>
          <a:solidFill>
            <a:srgbClr val="B0A898"/>
          </a:solidFill>
          <a:ln>
            <a:noFill/>
          </a:ln>
        </p:spPr>
        <p:txBody>
          <a:bodyPr/>
          <a:lstStyle/>
          <a:p>
            <a:endParaRPr lang="ja-JP"/>
          </a:p>
        </p:txBody>
      </p:sp>
    </p:spTree>
    <p:extLst>
      <p:ext uri="{BB962C8B-B14F-4D97-AF65-F5344CB8AC3E}">
        <p14:creationId xmlns:p14="http://schemas.microsoft.com/office/powerpoint/2010/main" val="2636331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137160"/>
            <a:ext cx="12192000" cy="54864"/>
          </a:xfrm>
          <a:prstGeom prst="rect">
            <a:avLst/>
          </a:prstGeom>
          <a:solidFill>
            <a:srgbClr val="8B2500"/>
          </a:solidFill>
          <a:ln>
            <a:noFill/>
          </a:ln>
        </p:spPr>
        <p:txBody>
          <a:bodyPr wrap="square" lIns="72000" tIns="36000" rIns="72000" bIns="36000" anchor="ctr"/>
          <a:lstStyle/>
          <a:p>
            <a:endParaRPr lang="ja-JP"/>
          </a:p>
        </p:txBody>
      </p:sp>
      <p:sp>
        <p:nvSpPr>
          <p:cNvPr id="11" name="Title"/>
          <p:cNvSpPr/>
          <p:nvPr/>
        </p:nvSpPr>
        <p:spPr>
          <a:xfrm>
            <a:off x="457200" y="137160"/>
            <a:ext cx="11277600" cy="548640"/>
          </a:xfrm>
          <a:prstGeom prst="rect">
            <a:avLst/>
          </a:prstGeom>
          <a:noFill/>
          <a:ln>
            <a:noFill/>
          </a:ln>
        </p:spPr>
        <p:txBody>
          <a:bodyPr wrap="square" lIns="72000" tIns="36000" rIns="72000" bIns="36000" anchor="ctr"/>
          <a:lstStyle/>
          <a:p>
            <a:pPr algn="l"/>
            <a:r>
              <a:rPr lang="ja-JP" sz="2400" b="1" dirty="0">
                <a:solidFill>
                  <a:srgbClr val="1A1A1A"/>
                </a:solidFill>
                <a:latin typeface="BIZ UDPGothic"/>
                <a:ea typeface="BIZ UDPGothic"/>
              </a:rPr>
              <a:t>1. 背景と課題</a:t>
            </a:r>
          </a:p>
        </p:txBody>
      </p:sp>
      <p:sp>
        <p:nvSpPr>
          <p:cNvPr id="12" name="SectionLabel"/>
          <p:cNvSpPr/>
          <p:nvPr/>
        </p:nvSpPr>
        <p:spPr>
          <a:xfrm>
            <a:off x="457200" y="800000"/>
            <a:ext cx="2743200" cy="365760"/>
          </a:xfrm>
          <a:prstGeom prst="roundRect">
            <a:avLst>
              <a:gd name="adj" fmla="val 8000"/>
            </a:avLst>
          </a:prstGeom>
          <a:solidFill>
            <a:srgbClr val="8B2500"/>
          </a:solidFill>
          <a:ln>
            <a:noFill/>
          </a:ln>
        </p:spPr>
        <p:txBody>
          <a:bodyPr wrap="square" lIns="72000" tIns="36000" rIns="72000" bIns="36000" anchor="ctr"/>
          <a:lstStyle/>
          <a:p>
            <a:pPr algn="ctr"/>
            <a:r>
              <a:rPr lang="ja-JP" sz="1600" b="1" dirty="0">
                <a:solidFill>
                  <a:srgbClr val="FFFFFF"/>
                </a:solidFill>
                <a:latin typeface="BIZ UDPGothic"/>
                <a:ea typeface="BIZ UDPGothic"/>
              </a:rPr>
              <a:t>現状の課題</a:t>
            </a:r>
          </a:p>
        </p:txBody>
      </p:sp>
      <p:sp>
        <p:nvSpPr>
          <p:cNvPr id="20" name="Challenge0"/>
          <p:cNvSpPr/>
          <p:nvPr/>
        </p:nvSpPr>
        <p:spPr>
          <a:xfrm>
            <a:off x="457200" y="1280160"/>
            <a:ext cx="3383280" cy="1280160"/>
          </a:xfrm>
          <a:prstGeom prst="roundRect">
            <a:avLst>
              <a:gd name="adj" fmla="val 8000"/>
            </a:avLst>
          </a:prstGeom>
          <a:solidFill>
            <a:srgbClr val="F7F5F2"/>
          </a:solidFill>
          <a:ln w="19050">
            <a:solidFill>
              <a:srgbClr val="D0C8BE"/>
            </a:solidFill>
          </a:ln>
        </p:spPr>
        <p:txBody>
          <a:bodyPr wrap="square" lIns="72000" tIns="36000" rIns="72000" bIns="36000" anchor="ctr"/>
          <a:lstStyle/>
          <a:p>
            <a:pPr algn="ctr"/>
            <a:r>
              <a:rPr lang="ja-JP" sz="1500" b="1" dirty="0">
                <a:solidFill>
                  <a:srgbClr val="8B2500"/>
                </a:solidFill>
                <a:latin typeface="BIZ UDPGothic"/>
                <a:ea typeface="BIZ UDPGothic"/>
              </a:rPr>
              <a:t>多岐にわたる財務指標</a:t>
            </a:r>
          </a:p>
          <a:p>
            <a:pPr algn="ctr">
              <a:lnSpc>
                <a:spcPts val="2000"/>
              </a:lnSpc>
            </a:pPr>
            <a:r>
              <a:rPr lang="ja-JP" sz="1400" dirty="0">
                <a:solidFill>
                  <a:srgbClr val="333333"/>
                </a:solidFill>
                <a:latin typeface="BIZ UDPGothic"/>
                <a:ea typeface="BIZ UDPGothic"/>
              </a:rPr>
              <a:t>個別指標の目視確認のみでは
倒産兆候を一貫して把握しにくい</a:t>
            </a:r>
          </a:p>
        </p:txBody>
      </p:sp>
      <p:sp>
        <p:nvSpPr>
          <p:cNvPr id="21" name="Challenge1"/>
          <p:cNvSpPr/>
          <p:nvPr/>
        </p:nvSpPr>
        <p:spPr>
          <a:xfrm>
            <a:off x="4023360" y="1280160"/>
            <a:ext cx="3383280" cy="1280160"/>
          </a:xfrm>
          <a:prstGeom prst="roundRect">
            <a:avLst>
              <a:gd name="adj" fmla="val 8000"/>
            </a:avLst>
          </a:prstGeom>
          <a:solidFill>
            <a:srgbClr val="F7F5F2"/>
          </a:solidFill>
          <a:ln w="19050">
            <a:solidFill>
              <a:srgbClr val="D0C8BE"/>
            </a:solidFill>
          </a:ln>
        </p:spPr>
        <p:txBody>
          <a:bodyPr wrap="square" lIns="72000" tIns="36000" rIns="72000" bIns="36000" anchor="ctr"/>
          <a:lstStyle/>
          <a:p>
            <a:pPr algn="ctr"/>
            <a:r>
              <a:rPr lang="ja-JP" sz="1500" b="1" dirty="0">
                <a:solidFill>
                  <a:srgbClr val="8B2500"/>
                </a:solidFill>
                <a:latin typeface="BIZ UDPGothic"/>
                <a:ea typeface="BIZ UDPGothic"/>
              </a:rPr>
              <a:t>不均衡な倒産データ</a:t>
            </a:r>
          </a:p>
          <a:p>
            <a:pPr algn="ctr">
              <a:lnSpc>
                <a:spcPts val="2000"/>
              </a:lnSpc>
            </a:pPr>
            <a:r>
              <a:rPr lang="ja-JP" sz="1400" dirty="0">
                <a:solidFill>
                  <a:srgbClr val="333333"/>
                </a:solidFill>
                <a:latin typeface="BIZ UDPGothic"/>
                <a:ea typeface="BIZ UDPGothic"/>
              </a:rPr>
              <a:t>倒産クラス比率が約4.95%と低く
高リスク先の特徴把握が困難である</a:t>
            </a:r>
          </a:p>
        </p:txBody>
      </p:sp>
      <p:sp>
        <p:nvSpPr>
          <p:cNvPr id="22" name="Challenge2"/>
          <p:cNvSpPr/>
          <p:nvPr/>
        </p:nvSpPr>
        <p:spPr>
          <a:xfrm>
            <a:off x="7589520" y="1280160"/>
            <a:ext cx="3383280" cy="1280160"/>
          </a:xfrm>
          <a:prstGeom prst="roundRect">
            <a:avLst>
              <a:gd name="adj" fmla="val 8000"/>
            </a:avLst>
          </a:prstGeom>
          <a:solidFill>
            <a:srgbClr val="F7F5F2"/>
          </a:solidFill>
          <a:ln w="19050">
            <a:solidFill>
              <a:srgbClr val="D0C8BE"/>
            </a:solidFill>
          </a:ln>
        </p:spPr>
        <p:txBody>
          <a:bodyPr wrap="square" lIns="72000" tIns="36000" rIns="72000" bIns="36000" anchor="ctr"/>
          <a:lstStyle/>
          <a:p>
            <a:pPr algn="ctr"/>
            <a:r>
              <a:rPr lang="ja-JP" sz="1500" b="1" dirty="0">
                <a:solidFill>
                  <a:srgbClr val="8B2500"/>
                </a:solidFill>
                <a:latin typeface="BIZ UDPGothic"/>
                <a:ea typeface="BIZ UDPGothic"/>
              </a:rPr>
              <a:t>ガバナンス要件</a:t>
            </a:r>
          </a:p>
          <a:p>
            <a:pPr algn="ctr">
              <a:lnSpc>
                <a:spcPts val="2000"/>
              </a:lnSpc>
            </a:pPr>
            <a:r>
              <a:rPr lang="ja-JP" sz="1400" dirty="0">
                <a:solidFill>
                  <a:srgbClr val="333333"/>
                </a:solidFill>
                <a:latin typeface="BIZ UDPGothic"/>
                <a:ea typeface="BIZ UDPGothic"/>
              </a:rPr>
              <a:t>説明可能性・監査可能性・
モデルガバナンスの確保が不可欠である</a:t>
            </a:r>
          </a:p>
        </p:txBody>
      </p:sp>
      <p:sp>
        <p:nvSpPr>
          <p:cNvPr id="30" name="Arrow"/>
          <p:cNvSpPr/>
          <p:nvPr/>
        </p:nvSpPr>
        <p:spPr>
          <a:xfrm>
            <a:off x="5181600" y="2660320"/>
            <a:ext cx="822960" cy="457200"/>
          </a:xfrm>
          <a:prstGeom prst="rect">
            <a:avLst/>
          </a:prstGeom>
          <a:noFill/>
          <a:ln>
            <a:noFill/>
          </a:ln>
        </p:spPr>
        <p:txBody>
          <a:bodyPr wrap="square" lIns="72000" tIns="36000" rIns="72000" bIns="36000" anchor="ctr"/>
          <a:lstStyle/>
          <a:p>
            <a:pPr algn="ctr"/>
            <a:r>
              <a:rPr lang="ja-JP" sz="2800" b="1" dirty="0">
                <a:solidFill>
                  <a:srgbClr val="8B2500"/>
                </a:solidFill>
                <a:latin typeface="BIZ UDPGothic"/>
                <a:ea typeface="BIZ UDPGothic"/>
              </a:rPr>
              <a:t>▼</a:t>
            </a:r>
          </a:p>
        </p:txBody>
      </p:sp>
      <p:sp>
        <p:nvSpPr>
          <p:cNvPr id="31" name="SolutionBox"/>
          <p:cNvSpPr/>
          <p:nvPr/>
        </p:nvSpPr>
        <p:spPr>
          <a:xfrm>
            <a:off x="457200" y="3160320"/>
            <a:ext cx="11277600" cy="1600000"/>
          </a:xfrm>
          <a:prstGeom prst="roundRect">
            <a:avLst>
              <a:gd name="adj" fmla="val 8000"/>
            </a:avLst>
          </a:prstGeom>
          <a:solidFill>
            <a:srgbClr val="F2F0ED"/>
          </a:solidFill>
          <a:ln w="19050">
            <a:solidFill>
              <a:srgbClr val="8B2500"/>
            </a:solidFill>
          </a:ln>
        </p:spPr>
        <p:txBody>
          <a:bodyPr wrap="square" lIns="72000" tIns="36000" rIns="72000" bIns="36000" anchor="ctr"/>
          <a:lstStyle/>
          <a:p>
            <a:pPr algn="ctr"/>
            <a:r>
              <a:rPr lang="ja-JP" sz="1600" b="1" dirty="0">
                <a:solidFill>
                  <a:srgbClr val="8B2500"/>
                </a:solidFill>
                <a:latin typeface="BIZ UDPGothic"/>
                <a:ea typeface="BIZ UDPGothic"/>
              </a:rPr>
              <a:t>本プロジェクトの位置づけ</a:t>
            </a:r>
          </a:p>
          <a:p>
            <a:pPr algn="ctr">
              <a:lnSpc>
                <a:spcPts val="2200"/>
              </a:lnSpc>
              <a:spcBef>
                <a:spcPts val="400"/>
              </a:spcBef>
            </a:pPr>
            <a:r>
              <a:rPr lang="ja-JP" sz="1400" dirty="0">
                <a:solidFill>
                  <a:srgbClr val="333333"/>
                </a:solidFill>
                <a:latin typeface="BIZ UDPGothic"/>
                <a:ea typeface="BIZ UDPGothic"/>
              </a:rPr>
              <a:t>7,352件・66列の企業財務指標データを対象に、目的変数 class（3年後倒産有無）を用いた</a:t>
            </a:r>
          </a:p>
          <a:p>
            <a:pPr algn="ctr">
              <a:lnSpc>
                <a:spcPts val="2200"/>
              </a:lnSpc>
            </a:pPr>
            <a:r>
              <a:rPr lang="ja-JP" sz="1400" dirty="0">
                <a:solidFill>
                  <a:srgbClr val="333333"/>
                </a:solidFill>
                <a:latin typeface="BIZ UDPGothic"/>
                <a:ea typeface="BIZ UDPGothic"/>
              </a:rPr>
              <a:t>倒産予測モデルの企画・分析・初期実装方針策定を実施し、実務利用可能な分析基盤を整備する</a:t>
            </a:r>
          </a:p>
        </p:txBody>
      </p:sp>
    </p:spTree>
    <p:extLst>
      <p:ext uri="{BB962C8B-B14F-4D97-AF65-F5344CB8AC3E}">
        <p14:creationId xmlns:p14="http://schemas.microsoft.com/office/powerpoint/2010/main" val="40677822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137160"/>
            <a:ext cx="12192000" cy="54864"/>
          </a:xfrm>
          <a:prstGeom prst="rect">
            <a:avLst/>
          </a:prstGeom>
          <a:solidFill>
            <a:srgbClr val="8B2500"/>
          </a:solidFill>
          <a:ln>
            <a:noFill/>
          </a:ln>
        </p:spPr>
        <p:txBody>
          <a:bodyPr wrap="square" lIns="91440" tIns="45720" rIns="91440" bIns="45720" anchor="ctr"/>
          <a:lstStyle/>
          <a:p>
            <a:endParaRPr lang="ja-JP"/>
          </a:p>
        </p:txBody>
      </p:sp>
      <p:sp>
        <p:nvSpPr>
          <p:cNvPr id="11" name="Title"/>
          <p:cNvSpPr/>
          <p:nvPr/>
        </p:nvSpPr>
        <p:spPr>
          <a:xfrm>
            <a:off x="457200" y="137160"/>
            <a:ext cx="11277600" cy="548640"/>
          </a:xfrm>
          <a:prstGeom prst="rect">
            <a:avLst/>
          </a:prstGeom>
          <a:noFill/>
          <a:ln>
            <a:noFill/>
          </a:ln>
        </p:spPr>
        <p:txBody>
          <a:bodyPr wrap="square" lIns="91440" tIns="45720" rIns="91440" bIns="45720" anchor="ctr"/>
          <a:lstStyle/>
          <a:p>
            <a:pPr algn="l"/>
            <a:r>
              <a:rPr lang="ja-JP" sz="2400" b="1" dirty="0">
                <a:solidFill>
                  <a:srgbClr val="1A1A1A"/>
                </a:solidFill>
                <a:latin typeface="BIZ UDPGothic"/>
                <a:ea typeface="BIZ UDPGothic"/>
              </a:rPr>
              <a:t>2. プロジェクト目的</a:t>
            </a:r>
          </a:p>
        </p:txBody>
      </p:sp>
      <p:sp>
        <p:nvSpPr>
          <p:cNvPr id="12" name="Purpose"/>
          <p:cNvSpPr/>
          <p:nvPr/>
        </p:nvSpPr>
        <p:spPr>
          <a:xfrm>
            <a:off x="457200" y="780000"/>
            <a:ext cx="11277600" cy="640080"/>
          </a:xfrm>
          <a:prstGeom prst="roundRect">
            <a:avLst>
              <a:gd name="adj" fmla="val 8000"/>
            </a:avLst>
          </a:prstGeom>
          <a:solidFill>
            <a:srgbClr val="F2F0ED"/>
          </a:solidFill>
          <a:ln>
            <a:noFill/>
          </a:ln>
        </p:spPr>
        <p:txBody>
          <a:bodyPr wrap="square" lIns="91440" tIns="45720" rIns="91440" bIns="45720" anchor="ctr"/>
          <a:lstStyle/>
          <a:p>
            <a:pPr algn="l"/>
            <a:r>
              <a:rPr lang="ja-JP" sz="1500" dirty="0">
                <a:solidFill>
                  <a:srgbClr val="333333"/>
                </a:solidFill>
                <a:latin typeface="BIZ UDPGothic"/>
                <a:ea typeface="BIZ UDPGothic"/>
              </a:rPr>
              <a:t>企業財務指標に基づく</a:t>
            </a:r>
            <a:r>
              <a:rPr lang="ja-JP" sz="1500" b="1" dirty="0">
                <a:solidFill>
                  <a:srgbClr val="8B2500"/>
                </a:solidFill>
                <a:latin typeface="BIZ UDPGothic"/>
                <a:ea typeface="BIZ UDPGothic"/>
              </a:rPr>
              <a:t>3年後倒産予測とリスクセグメンテーション</a:t>
            </a:r>
            <a:r>
              <a:rPr lang="ja-JP" sz="1500" dirty="0">
                <a:solidFill>
                  <a:srgbClr val="333333"/>
                </a:solidFill>
                <a:latin typeface="BIZ UDPGothic"/>
                <a:ea typeface="BIZ UDPGothic"/>
              </a:rPr>
              <a:t>を実施し、審査・与信判断の高度化に資する分析基盤を整備する</a:t>
            </a:r>
          </a:p>
        </p:txBody>
      </p:sp>
      <p:sp>
        <p:nvSpPr>
          <p:cNvPr id="20" name="Num0"/>
          <p:cNvSpPr/>
          <p:nvPr/>
        </p:nvSpPr>
        <p:spPr>
          <a:xfrm>
            <a:off x="1508760" y="1691640"/>
            <a:ext cx="457200" cy="457200"/>
          </a:xfrm>
          <a:prstGeom prst="ellipse">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01</a:t>
            </a:r>
          </a:p>
        </p:txBody>
      </p:sp>
      <p:sp>
        <p:nvSpPr>
          <p:cNvPr id="21" name="Card0"/>
          <p:cNvSpPr/>
          <p:nvPr/>
        </p:nvSpPr>
        <p:spPr>
          <a:xfrm>
            <a:off x="457200" y="2240280"/>
            <a:ext cx="2560320" cy="1508760"/>
          </a:xfrm>
          <a:prstGeom prst="roundRect">
            <a:avLst>
              <a:gd name="adj" fmla="val 8000"/>
            </a:avLst>
          </a:prstGeom>
          <a:solidFill>
            <a:srgbClr val="F7F5F2"/>
          </a:solidFill>
          <a:ln w="19050">
            <a:solidFill>
              <a:srgbClr val="E0DBD4"/>
            </a:solidFill>
          </a:ln>
        </p:spPr>
        <p:txBody>
          <a:bodyPr wrap="square" lIns="91440" tIns="45720" rIns="91440" bIns="45720" anchor="ctr"/>
          <a:lstStyle/>
          <a:p>
            <a:pPr algn="ctr">
              <a:spcAft>
                <a:spcPts val="400"/>
              </a:spcAft>
            </a:pPr>
            <a:r>
              <a:rPr lang="ja-JP" sz="1500" b="1" dirty="0">
                <a:solidFill>
                  <a:srgbClr val="1A1A1A"/>
                </a:solidFill>
                <a:latin typeface="BIZ UDPGothic"/>
                <a:ea typeface="BIZ UDPGothic"/>
              </a:rPr>
              <a:t>有効指標の特定</a:t>
            </a:r>
          </a:p>
          <a:p>
            <a:pPr algn="ctr">
              <a:lnSpc>
                <a:spcPts val="2000"/>
              </a:lnSpc>
            </a:pPr>
            <a:r>
              <a:rPr lang="ja-JP" sz="1400" dirty="0">
                <a:solidFill>
                  <a:srgbClr val="4A4A4A"/>
                </a:solidFill>
                <a:latin typeface="BIZ UDPGothic"/>
                <a:ea typeface="BIZ UDPGothic"/>
              </a:rPr>
              <a:t>倒産予測に有効な
財務指標群を特定する</a:t>
            </a:r>
          </a:p>
        </p:txBody>
      </p:sp>
      <p:sp>
        <p:nvSpPr>
          <p:cNvPr id="23" name="Num1"/>
          <p:cNvSpPr/>
          <p:nvPr/>
        </p:nvSpPr>
        <p:spPr>
          <a:xfrm>
            <a:off x="4251960" y="1691640"/>
            <a:ext cx="457200" cy="457200"/>
          </a:xfrm>
          <a:prstGeom prst="ellipse">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02</a:t>
            </a:r>
          </a:p>
        </p:txBody>
      </p:sp>
      <p:sp>
        <p:nvSpPr>
          <p:cNvPr id="24" name="Card1"/>
          <p:cNvSpPr/>
          <p:nvPr/>
        </p:nvSpPr>
        <p:spPr>
          <a:xfrm>
            <a:off x="3200400" y="2240280"/>
            <a:ext cx="2560320" cy="1508760"/>
          </a:xfrm>
          <a:prstGeom prst="roundRect">
            <a:avLst>
              <a:gd name="adj" fmla="val 8000"/>
            </a:avLst>
          </a:prstGeom>
          <a:solidFill>
            <a:srgbClr val="F7F5F2"/>
          </a:solidFill>
          <a:ln w="19050">
            <a:solidFill>
              <a:srgbClr val="E0DBD4"/>
            </a:solidFill>
          </a:ln>
        </p:spPr>
        <p:txBody>
          <a:bodyPr wrap="square" lIns="91440" tIns="45720" rIns="91440" bIns="45720" anchor="ctr"/>
          <a:lstStyle/>
          <a:p>
            <a:pPr algn="ctr">
              <a:spcAft>
                <a:spcPts val="400"/>
              </a:spcAft>
            </a:pPr>
            <a:r>
              <a:rPr lang="ja-JP" sz="1500" b="1" dirty="0">
                <a:solidFill>
                  <a:srgbClr val="1A1A1A"/>
                </a:solidFill>
                <a:latin typeface="BIZ UDPGothic"/>
                <a:ea typeface="BIZ UDPGothic"/>
              </a:rPr>
              <a:t>高リスク先の明確化</a:t>
            </a:r>
          </a:p>
          <a:p>
            <a:pPr algn="ctr">
              <a:lnSpc>
                <a:spcPts val="2000"/>
              </a:lnSpc>
            </a:pPr>
            <a:r>
              <a:rPr lang="ja-JP" sz="1400" dirty="0">
                <a:solidFill>
                  <a:srgbClr val="4A4A4A"/>
                </a:solidFill>
                <a:latin typeface="BIZ UDPGothic"/>
                <a:ea typeface="BIZ UDPGothic"/>
              </a:rPr>
              <a:t>高リスクセグメントを
明確化し、優先確認
対象を整理する</a:t>
            </a:r>
          </a:p>
        </p:txBody>
      </p:sp>
      <p:sp>
        <p:nvSpPr>
          <p:cNvPr id="26" name="Num2"/>
          <p:cNvSpPr/>
          <p:nvPr/>
        </p:nvSpPr>
        <p:spPr>
          <a:xfrm>
            <a:off x="6995160" y="1691640"/>
            <a:ext cx="457200" cy="457200"/>
          </a:xfrm>
          <a:prstGeom prst="ellipse">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03</a:t>
            </a:r>
          </a:p>
        </p:txBody>
      </p:sp>
      <p:sp>
        <p:nvSpPr>
          <p:cNvPr id="27" name="Card2"/>
          <p:cNvSpPr/>
          <p:nvPr/>
        </p:nvSpPr>
        <p:spPr>
          <a:xfrm>
            <a:off x="5943600" y="2240280"/>
            <a:ext cx="2560320" cy="1508760"/>
          </a:xfrm>
          <a:prstGeom prst="roundRect">
            <a:avLst>
              <a:gd name="adj" fmla="val 8000"/>
            </a:avLst>
          </a:prstGeom>
          <a:solidFill>
            <a:srgbClr val="F7F5F2"/>
          </a:solidFill>
          <a:ln w="19050">
            <a:solidFill>
              <a:srgbClr val="E0DBD4"/>
            </a:solidFill>
          </a:ln>
        </p:spPr>
        <p:txBody>
          <a:bodyPr wrap="square" lIns="91440" tIns="45720" rIns="91440" bIns="45720" anchor="ctr"/>
          <a:lstStyle/>
          <a:p>
            <a:pPr algn="ctr">
              <a:spcAft>
                <a:spcPts val="400"/>
              </a:spcAft>
            </a:pPr>
            <a:r>
              <a:rPr lang="ja-JP" sz="1500" b="1" dirty="0">
                <a:solidFill>
                  <a:srgbClr val="1A1A1A"/>
                </a:solidFill>
                <a:latin typeface="BIZ UDPGothic"/>
                <a:ea typeface="BIZ UDPGothic"/>
              </a:rPr>
              <a:t>モデル比較・方針策定</a:t>
            </a:r>
          </a:p>
          <a:p>
            <a:pPr algn="ctr">
              <a:lnSpc>
                <a:spcPts val="2000"/>
              </a:lnSpc>
            </a:pPr>
            <a:r>
              <a:rPr lang="ja-JP" sz="1400" dirty="0">
                <a:solidFill>
                  <a:srgbClr val="4A4A4A"/>
                </a:solidFill>
                <a:latin typeface="BIZ UDPGothic"/>
                <a:ea typeface="BIZ UDPGothic"/>
              </a:rPr>
              <a:t>説明可能な複数モデル
候補を比較し、初期
採用方針を提示する</a:t>
            </a:r>
          </a:p>
        </p:txBody>
      </p:sp>
      <p:sp>
        <p:nvSpPr>
          <p:cNvPr id="29" name="Num3"/>
          <p:cNvSpPr/>
          <p:nvPr/>
        </p:nvSpPr>
        <p:spPr>
          <a:xfrm>
            <a:off x="9738360" y="1691640"/>
            <a:ext cx="457200" cy="457200"/>
          </a:xfrm>
          <a:prstGeom prst="ellipse">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04</a:t>
            </a:r>
          </a:p>
        </p:txBody>
      </p:sp>
      <p:sp>
        <p:nvSpPr>
          <p:cNvPr id="30" name="Card3"/>
          <p:cNvSpPr/>
          <p:nvPr/>
        </p:nvSpPr>
        <p:spPr>
          <a:xfrm>
            <a:off x="8686800" y="2240280"/>
            <a:ext cx="2560320" cy="1508760"/>
          </a:xfrm>
          <a:prstGeom prst="roundRect">
            <a:avLst>
              <a:gd name="adj" fmla="val 8000"/>
            </a:avLst>
          </a:prstGeom>
          <a:solidFill>
            <a:srgbClr val="F7F5F2"/>
          </a:solidFill>
          <a:ln w="19050">
            <a:solidFill>
              <a:srgbClr val="E0DBD4"/>
            </a:solidFill>
          </a:ln>
        </p:spPr>
        <p:txBody>
          <a:bodyPr wrap="square" lIns="91440" tIns="45720" rIns="91440" bIns="45720" anchor="ctr"/>
          <a:lstStyle/>
          <a:p>
            <a:pPr algn="ctr">
              <a:spcAft>
                <a:spcPts val="400"/>
              </a:spcAft>
            </a:pPr>
            <a:r>
              <a:rPr lang="ja-JP" sz="1500" b="1" dirty="0">
                <a:solidFill>
                  <a:srgbClr val="1A1A1A"/>
                </a:solidFill>
                <a:latin typeface="BIZ UDPGothic"/>
                <a:ea typeface="BIZ UDPGothic"/>
              </a:rPr>
              <a:t>監査対応記録の確立</a:t>
            </a:r>
          </a:p>
          <a:p>
            <a:pPr algn="ctr">
              <a:lnSpc>
                <a:spcPts val="2000"/>
              </a:lnSpc>
            </a:pPr>
            <a:r>
              <a:rPr lang="ja-JP" sz="1400" dirty="0">
                <a:solidFill>
                  <a:srgbClr val="4A4A4A"/>
                </a:solidFill>
                <a:latin typeface="BIZ UDPGothic"/>
                <a:ea typeface="BIZ UDPGothic"/>
              </a:rPr>
              <a:t>前処理・学習・評価・
出力の記録方針を
確立する</a:t>
            </a:r>
          </a:p>
        </p:txBody>
      </p:sp>
      <p:sp>
        <p:nvSpPr>
          <p:cNvPr id="50" name="PageNum"/>
          <p:cNvSpPr/>
          <p:nvPr/>
        </p:nvSpPr>
        <p:spPr>
          <a:xfrm>
            <a:off x="11430000" y="6400000"/>
            <a:ext cx="457200" cy="274320"/>
          </a:xfrm>
          <a:prstGeom prst="rect">
            <a:avLst/>
          </a:prstGeom>
          <a:noFill/>
          <a:ln>
            <a:noFill/>
          </a:ln>
        </p:spPr>
        <p:txBody>
          <a:bodyPr wrap="square" lIns="91440" tIns="45720" rIns="91440" bIns="45720" anchor="b"/>
          <a:lstStyle/>
          <a:p>
            <a:pPr algn="r"/>
            <a:r>
              <a:rPr lang="en-US" sz="1000" dirty="0">
                <a:solidFill>
                  <a:srgbClr val="AAAAAA"/>
                </a:solidFill>
                <a:latin typeface="BIZ UDPGothic"/>
                <a:ea typeface="BIZ UDPGothic"/>
              </a:rPr>
              <a:t>2</a:t>
            </a:r>
          </a:p>
        </p:txBody>
      </p:sp>
    </p:spTree>
    <p:extLst>
      <p:ext uri="{BB962C8B-B14F-4D97-AF65-F5344CB8AC3E}">
        <p14:creationId xmlns:p14="http://schemas.microsoft.com/office/powerpoint/2010/main" val="579469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72000" tIns="36000" rIns="72000" bIns="36000" anchor="ctr"/>
          <a:lstStyle/>
          <a:p>
            <a:endParaRPr lang="ja-JP"/>
          </a:p>
        </p:txBody>
      </p:sp>
      <p:sp>
        <p:nvSpPr>
          <p:cNvPr id="11" name="S11"/>
          <p:cNvSpPr/>
          <p:nvPr/>
        </p:nvSpPr>
        <p:spPr>
          <a:xfrm>
            <a:off x="457200" y="137160"/>
            <a:ext cx="11277600" cy="548640"/>
          </a:xfrm>
          <a:prstGeom prst="rect">
            <a:avLst/>
          </a:prstGeom>
          <a:noFill/>
          <a:ln>
            <a:noFill/>
          </a:ln>
        </p:spPr>
        <p:txBody>
          <a:bodyPr wrap="square" lIns="72000" tIns="36000" rIns="72000" bIns="36000" anchor="ctr"/>
          <a:lstStyle/>
          <a:p>
            <a:pPr algn="l"/>
            <a:r>
              <a:rPr lang="ja-JP" sz="2400" b="1" dirty="0">
                <a:solidFill>
                  <a:srgbClr val="1A1A1A"/>
                </a:solidFill>
                <a:latin typeface="BIZ UDPGothic"/>
                <a:ea typeface="BIZ UDPGothic"/>
              </a:rPr>
              <a:t>2. 評価観点（PoC・分析企画段階）</a:t>
            </a:r>
          </a:p>
        </p:txBody>
      </p:sp>
      <p:sp>
        <p:nvSpPr>
          <p:cNvPr id="20" name="S20"/>
          <p:cNvSpPr/>
          <p:nvPr/>
        </p:nvSpPr>
        <p:spPr>
          <a:xfrm>
            <a:off x="457200" y="850000"/>
            <a:ext cx="73152" cy="2194560"/>
          </a:xfrm>
          <a:prstGeom prst="rect">
            <a:avLst/>
          </a:prstGeom>
          <a:solidFill>
            <a:srgbClr val="8B2500"/>
          </a:solidFill>
          <a:ln>
            <a:noFill/>
          </a:ln>
        </p:spPr>
        <p:txBody>
          <a:bodyPr wrap="square" lIns="72000" tIns="36000" rIns="72000" bIns="36000" anchor="ctr"/>
          <a:lstStyle/>
          <a:p>
            <a:endParaRPr lang="ja-JP"/>
          </a:p>
        </p:txBody>
      </p:sp>
      <p:sp>
        <p:nvSpPr>
          <p:cNvPr id="21" name="S21"/>
          <p:cNvSpPr/>
          <p:nvPr/>
        </p:nvSpPr>
        <p:spPr>
          <a:xfrm>
            <a:off x="530352" y="850000"/>
            <a:ext cx="3401568" cy="2194560"/>
          </a:xfrm>
          <a:prstGeom prst="rect">
            <a:avLst/>
          </a:prstGeom>
          <a:solidFill>
            <a:srgbClr val="F7F5F2"/>
          </a:solidFill>
          <a:ln>
            <a:noFill/>
          </a:ln>
        </p:spPr>
        <p:txBody>
          <a:bodyPr wrap="square" lIns="72000" tIns="36000" rIns="72000" bIns="36000" anchor="ctr"/>
          <a:lstStyle/>
          <a:p>
            <a:pPr algn="l">
              <a:spcAft>
                <a:spcPts val="400"/>
              </a:spcAft>
            </a:pPr>
            <a:r>
              <a:rPr lang="ja-JP" sz="1600" b="1" dirty="0">
                <a:solidFill>
                  <a:srgbClr val="8B2500"/>
                </a:solidFill>
                <a:latin typeface="BIZ UDPGothic"/>
                <a:ea typeface="BIZ UDPGothic"/>
              </a:rPr>
              <a:t>倒産クラス再現率</a:t>
            </a:r>
          </a:p>
          <a:p>
            <a:pPr algn="l">
              <a:lnSpc>
                <a:spcPts val="2000"/>
              </a:lnSpc>
            </a:pPr>
            <a:r>
              <a:rPr lang="ja-JP" sz="1400" dirty="0">
                <a:solidFill>
                  <a:srgbClr val="333333"/>
                </a:solidFill>
                <a:latin typeface="BIZ UDPGothic"/>
                <a:ea typeface="BIZ UDPGothic"/>
              </a:rPr>
              <a:t>倒産企業を見逃さない
検出力を重視する</a:t>
            </a:r>
          </a:p>
        </p:txBody>
      </p:sp>
      <p:sp>
        <p:nvSpPr>
          <p:cNvPr id="22" name="S22"/>
          <p:cNvSpPr/>
          <p:nvPr/>
        </p:nvSpPr>
        <p:spPr>
          <a:xfrm>
            <a:off x="4069080" y="850000"/>
            <a:ext cx="73152" cy="2194560"/>
          </a:xfrm>
          <a:prstGeom prst="rect">
            <a:avLst/>
          </a:prstGeom>
          <a:solidFill>
            <a:srgbClr val="8B2500"/>
          </a:solidFill>
          <a:ln>
            <a:noFill/>
          </a:ln>
        </p:spPr>
        <p:txBody>
          <a:bodyPr wrap="square" lIns="72000" tIns="36000" rIns="72000" bIns="36000" anchor="ctr"/>
          <a:lstStyle/>
          <a:p>
            <a:endParaRPr lang="ja-JP"/>
          </a:p>
        </p:txBody>
      </p:sp>
      <p:sp>
        <p:nvSpPr>
          <p:cNvPr id="23" name="S23"/>
          <p:cNvSpPr/>
          <p:nvPr/>
        </p:nvSpPr>
        <p:spPr>
          <a:xfrm>
            <a:off x="4142232" y="850000"/>
            <a:ext cx="3401568" cy="2194560"/>
          </a:xfrm>
          <a:prstGeom prst="rect">
            <a:avLst/>
          </a:prstGeom>
          <a:solidFill>
            <a:srgbClr val="F7F5F2"/>
          </a:solidFill>
          <a:ln>
            <a:noFill/>
          </a:ln>
        </p:spPr>
        <p:txBody>
          <a:bodyPr wrap="square" lIns="72000" tIns="36000" rIns="72000" bIns="36000" anchor="ctr"/>
          <a:lstStyle/>
          <a:p>
            <a:pPr algn="l">
              <a:spcAft>
                <a:spcPts val="400"/>
              </a:spcAft>
            </a:pPr>
            <a:r>
              <a:rPr lang="ja-JP" sz="1600" b="1" dirty="0">
                <a:solidFill>
                  <a:srgbClr val="8B2500"/>
                </a:solidFill>
                <a:latin typeface="BIZ UDPGothic"/>
                <a:ea typeface="BIZ UDPGothic"/>
              </a:rPr>
              <a:t>ROC-AUC</a:t>
            </a:r>
          </a:p>
          <a:p>
            <a:pPr algn="l">
              <a:lnSpc>
                <a:spcPts val="2000"/>
              </a:lnSpc>
            </a:pPr>
            <a:r>
              <a:rPr lang="ja-JP" sz="1400" dirty="0">
                <a:solidFill>
                  <a:srgbClr val="333333"/>
                </a:solidFill>
                <a:latin typeface="BIZ UDPGothic"/>
                <a:ea typeface="BIZ UDPGothic"/>
              </a:rPr>
              <a:t>識別性能の総合的な
評価指標として活用する</a:t>
            </a:r>
          </a:p>
        </p:txBody>
      </p:sp>
      <p:sp>
        <p:nvSpPr>
          <p:cNvPr id="24" name="S24"/>
          <p:cNvSpPr/>
          <p:nvPr/>
        </p:nvSpPr>
        <p:spPr>
          <a:xfrm>
            <a:off x="7680960" y="850000"/>
            <a:ext cx="73152" cy="2194560"/>
          </a:xfrm>
          <a:prstGeom prst="rect">
            <a:avLst/>
          </a:prstGeom>
          <a:solidFill>
            <a:srgbClr val="8B2500"/>
          </a:solidFill>
          <a:ln>
            <a:noFill/>
          </a:ln>
        </p:spPr>
        <p:txBody>
          <a:bodyPr wrap="square" lIns="72000" tIns="36000" rIns="72000" bIns="36000" anchor="ctr"/>
          <a:lstStyle/>
          <a:p>
            <a:endParaRPr lang="ja-JP"/>
          </a:p>
        </p:txBody>
      </p:sp>
      <p:sp>
        <p:nvSpPr>
          <p:cNvPr id="25" name="S25"/>
          <p:cNvSpPr/>
          <p:nvPr/>
        </p:nvSpPr>
        <p:spPr>
          <a:xfrm>
            <a:off x="7754112" y="850000"/>
            <a:ext cx="3401568" cy="2194560"/>
          </a:xfrm>
          <a:prstGeom prst="rect">
            <a:avLst/>
          </a:prstGeom>
          <a:solidFill>
            <a:srgbClr val="F7F5F2"/>
          </a:solidFill>
          <a:ln>
            <a:noFill/>
          </a:ln>
        </p:spPr>
        <p:txBody>
          <a:bodyPr wrap="square" lIns="72000" tIns="36000" rIns="72000" bIns="36000" anchor="ctr"/>
          <a:lstStyle/>
          <a:p>
            <a:pPr algn="l">
              <a:spcAft>
                <a:spcPts val="400"/>
              </a:spcAft>
            </a:pPr>
            <a:r>
              <a:rPr lang="ja-JP" sz="1600" b="1" dirty="0">
                <a:solidFill>
                  <a:srgbClr val="8B2500"/>
                </a:solidFill>
                <a:latin typeface="BIZ UDPGothic"/>
                <a:ea typeface="BIZ UDPGothic"/>
              </a:rPr>
              <a:t>上位リスク集中度</a:t>
            </a:r>
          </a:p>
          <a:p>
            <a:pPr algn="l">
              <a:lnSpc>
                <a:spcPts val="2000"/>
              </a:lnSpc>
            </a:pPr>
            <a:r>
              <a:rPr lang="ja-JP" sz="1400" dirty="0">
                <a:solidFill>
                  <a:srgbClr val="333333"/>
                </a:solidFill>
                <a:latin typeface="BIZ UDPGothic"/>
                <a:ea typeface="BIZ UDPGothic"/>
              </a:rPr>
              <a:t>上位リスクセグメントへの
倒産企業集中度を確認する</a:t>
            </a:r>
          </a:p>
        </p:txBody>
      </p:sp>
      <p:sp>
        <p:nvSpPr>
          <p:cNvPr id="26" name="S26"/>
          <p:cNvSpPr/>
          <p:nvPr/>
        </p:nvSpPr>
        <p:spPr>
          <a:xfrm>
            <a:off x="457200" y="3181720"/>
            <a:ext cx="73152" cy="2194560"/>
          </a:xfrm>
          <a:prstGeom prst="rect">
            <a:avLst/>
          </a:prstGeom>
          <a:solidFill>
            <a:srgbClr val="8B2500"/>
          </a:solidFill>
          <a:ln>
            <a:noFill/>
          </a:ln>
        </p:spPr>
        <p:txBody>
          <a:bodyPr wrap="square" lIns="72000" tIns="36000" rIns="72000" bIns="36000" anchor="ctr"/>
          <a:lstStyle/>
          <a:p>
            <a:endParaRPr lang="ja-JP"/>
          </a:p>
        </p:txBody>
      </p:sp>
      <p:sp>
        <p:nvSpPr>
          <p:cNvPr id="27" name="S27"/>
          <p:cNvSpPr/>
          <p:nvPr/>
        </p:nvSpPr>
        <p:spPr>
          <a:xfrm>
            <a:off x="530352" y="3181720"/>
            <a:ext cx="3401568" cy="2194560"/>
          </a:xfrm>
          <a:prstGeom prst="rect">
            <a:avLst/>
          </a:prstGeom>
          <a:solidFill>
            <a:srgbClr val="F7F5F2"/>
          </a:solidFill>
          <a:ln>
            <a:noFill/>
          </a:ln>
        </p:spPr>
        <p:txBody>
          <a:bodyPr wrap="square" lIns="72000" tIns="36000" rIns="72000" bIns="36000" anchor="ctr"/>
          <a:lstStyle/>
          <a:p>
            <a:pPr algn="l">
              <a:spcAft>
                <a:spcPts val="400"/>
              </a:spcAft>
            </a:pPr>
            <a:r>
              <a:rPr lang="ja-JP" sz="1600" b="1" dirty="0">
                <a:solidFill>
                  <a:srgbClr val="8B2500"/>
                </a:solidFill>
                <a:latin typeface="BIZ UDPGothic"/>
                <a:ea typeface="BIZ UDPGothic"/>
              </a:rPr>
              <a:t>説明可能性</a:t>
            </a:r>
          </a:p>
          <a:p>
            <a:pPr algn="l">
              <a:lnSpc>
                <a:spcPts val="2000"/>
              </a:lnSpc>
            </a:pPr>
            <a:r>
              <a:rPr lang="ja-JP" sz="1400" dirty="0">
                <a:solidFill>
                  <a:srgbClr val="333333"/>
                </a:solidFill>
                <a:latin typeface="BIZ UDPGothic"/>
                <a:ea typeface="BIZ UDPGothic"/>
              </a:rPr>
              <a:t>特徴量重要度や寄与方向の
解釈可能性を確保する</a:t>
            </a:r>
          </a:p>
        </p:txBody>
      </p:sp>
      <p:sp>
        <p:nvSpPr>
          <p:cNvPr id="28" name="S28"/>
          <p:cNvSpPr/>
          <p:nvPr/>
        </p:nvSpPr>
        <p:spPr>
          <a:xfrm>
            <a:off x="4069080" y="3181720"/>
            <a:ext cx="73152" cy="2194560"/>
          </a:xfrm>
          <a:prstGeom prst="rect">
            <a:avLst/>
          </a:prstGeom>
          <a:solidFill>
            <a:srgbClr val="8B2500"/>
          </a:solidFill>
          <a:ln>
            <a:noFill/>
          </a:ln>
        </p:spPr>
        <p:txBody>
          <a:bodyPr wrap="square" lIns="72000" tIns="36000" rIns="72000" bIns="36000" anchor="ctr"/>
          <a:lstStyle/>
          <a:p>
            <a:endParaRPr lang="ja-JP"/>
          </a:p>
        </p:txBody>
      </p:sp>
      <p:sp>
        <p:nvSpPr>
          <p:cNvPr id="29" name="S29"/>
          <p:cNvSpPr/>
          <p:nvPr/>
        </p:nvSpPr>
        <p:spPr>
          <a:xfrm>
            <a:off x="4142232" y="3181720"/>
            <a:ext cx="3401568" cy="2194560"/>
          </a:xfrm>
          <a:prstGeom prst="rect">
            <a:avLst/>
          </a:prstGeom>
          <a:solidFill>
            <a:srgbClr val="F7F5F2"/>
          </a:solidFill>
          <a:ln>
            <a:noFill/>
          </a:ln>
        </p:spPr>
        <p:txBody>
          <a:bodyPr wrap="square" lIns="72000" tIns="36000" rIns="72000" bIns="36000" anchor="ctr"/>
          <a:lstStyle/>
          <a:p>
            <a:pPr algn="l">
              <a:spcAft>
                <a:spcPts val="400"/>
              </a:spcAft>
            </a:pPr>
            <a:r>
              <a:rPr lang="ja-JP" sz="1600" b="1" dirty="0">
                <a:solidFill>
                  <a:srgbClr val="8B2500"/>
                </a:solidFill>
                <a:latin typeface="BIZ UDPGothic"/>
                <a:ea typeface="BIZ UDPGothic"/>
              </a:rPr>
              <a:t>再現性</a:t>
            </a:r>
          </a:p>
          <a:p>
            <a:pPr algn="l">
              <a:lnSpc>
                <a:spcPts val="2000"/>
              </a:lnSpc>
            </a:pPr>
            <a:r>
              <a:rPr lang="ja-JP" sz="1400" dirty="0">
                <a:solidFill>
                  <a:srgbClr val="333333"/>
                </a:solidFill>
                <a:latin typeface="BIZ UDPGothic"/>
                <a:ea typeface="BIZ UDPGothic"/>
              </a:rPr>
              <a:t>同一条件下で結果が
再現可能であることを担保する</a:t>
            </a:r>
          </a:p>
        </p:txBody>
      </p:sp>
      <p:sp>
        <p:nvSpPr>
          <p:cNvPr id="30" name="S30"/>
          <p:cNvSpPr/>
          <p:nvPr/>
        </p:nvSpPr>
        <p:spPr>
          <a:xfrm>
            <a:off x="7680960" y="3181720"/>
            <a:ext cx="73152" cy="2194560"/>
          </a:xfrm>
          <a:prstGeom prst="rect">
            <a:avLst/>
          </a:prstGeom>
          <a:solidFill>
            <a:srgbClr val="8B2500"/>
          </a:solidFill>
          <a:ln>
            <a:noFill/>
          </a:ln>
        </p:spPr>
        <p:txBody>
          <a:bodyPr wrap="square" lIns="72000" tIns="36000" rIns="72000" bIns="36000" anchor="ctr"/>
          <a:lstStyle/>
          <a:p>
            <a:endParaRPr lang="ja-JP"/>
          </a:p>
        </p:txBody>
      </p:sp>
      <p:sp>
        <p:nvSpPr>
          <p:cNvPr id="31" name="S31"/>
          <p:cNvSpPr/>
          <p:nvPr/>
        </p:nvSpPr>
        <p:spPr>
          <a:xfrm>
            <a:off x="7754112" y="3181720"/>
            <a:ext cx="3401568" cy="2194560"/>
          </a:xfrm>
          <a:prstGeom prst="rect">
            <a:avLst/>
          </a:prstGeom>
          <a:solidFill>
            <a:srgbClr val="F7F5F2"/>
          </a:solidFill>
          <a:ln>
            <a:noFill/>
          </a:ln>
        </p:spPr>
        <p:txBody>
          <a:bodyPr wrap="square" lIns="72000" tIns="36000" rIns="72000" bIns="36000" anchor="ctr"/>
          <a:lstStyle/>
          <a:p>
            <a:pPr algn="l">
              <a:spcAft>
                <a:spcPts val="400"/>
              </a:spcAft>
            </a:pPr>
            <a:r>
              <a:rPr lang="ja-JP" sz="1600" b="1" dirty="0">
                <a:solidFill>
                  <a:srgbClr val="8B2500"/>
                </a:solidFill>
                <a:latin typeface="BIZ UDPGothic"/>
                <a:ea typeface="BIZ UDPGothic"/>
              </a:rPr>
              <a:t>拡張余地</a:t>
            </a:r>
          </a:p>
          <a:p>
            <a:pPr algn="l">
              <a:lnSpc>
                <a:spcPts val="2000"/>
              </a:lnSpc>
            </a:pPr>
            <a:r>
              <a:rPr lang="ja-JP" sz="1400" dirty="0">
                <a:solidFill>
                  <a:srgbClr val="333333"/>
                </a:solidFill>
                <a:latin typeface="BIZ UDPGothic"/>
                <a:ea typeface="BIZ UDPGothic"/>
              </a:rPr>
              <a:t>Expected Loss算定や
審査フロー接続への拡張性</a:t>
            </a:r>
          </a:p>
        </p:txBody>
      </p:sp>
    </p:spTree>
    <p:extLst>
      <p:ext uri="{BB962C8B-B14F-4D97-AF65-F5344CB8AC3E}">
        <p14:creationId xmlns:p14="http://schemas.microsoft.com/office/powerpoint/2010/main" val="10028513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91440" tIns="45720" rIns="91440" bIns="45720" anchor="ctr"/>
          <a:lstStyle/>
          <a:p>
            <a:endParaRPr lang="ja-JP"/>
          </a:p>
        </p:txBody>
      </p:sp>
      <p:sp>
        <p:nvSpPr>
          <p:cNvPr id="11" name="S11"/>
          <p:cNvSpPr/>
          <p:nvPr/>
        </p:nvSpPr>
        <p:spPr>
          <a:xfrm>
            <a:off x="457200" y="137160"/>
            <a:ext cx="11277600" cy="548640"/>
          </a:xfrm>
          <a:prstGeom prst="rect">
            <a:avLst/>
          </a:prstGeom>
          <a:noFill/>
          <a:ln>
            <a:noFill/>
          </a:ln>
        </p:spPr>
        <p:txBody>
          <a:bodyPr wrap="square" lIns="91440" tIns="45720" rIns="91440" bIns="45720" anchor="ctr"/>
          <a:lstStyle/>
          <a:p>
            <a:pPr algn="l"/>
            <a:r>
              <a:rPr lang="ja-JP" sz="2400" b="1" dirty="0">
                <a:solidFill>
                  <a:srgbClr val="1A1A1A"/>
                </a:solidFill>
                <a:latin typeface="BIZ UDPGothic"/>
                <a:ea typeface="BIZ UDPGothic"/>
              </a:rPr>
              <a:t>3. スコープ</a:t>
            </a:r>
          </a:p>
        </p:txBody>
      </p:sp>
      <p:sp>
        <p:nvSpPr>
          <p:cNvPr id="12" name="S12"/>
          <p:cNvSpPr/>
          <p:nvPr/>
        </p:nvSpPr>
        <p:spPr>
          <a:xfrm>
            <a:off x="457200" y="800000"/>
            <a:ext cx="5394960" cy="411480"/>
          </a:xfrm>
          <a:prstGeom prst="roundRect">
            <a:avLst>
              <a:gd name="adj" fmla="val 6000"/>
            </a:avLst>
          </a:prstGeom>
          <a:solidFill>
            <a:srgbClr val="8B2500"/>
          </a:solidFill>
          <a:ln>
            <a:noFill/>
          </a:ln>
        </p:spPr>
        <p:txBody>
          <a:bodyPr wrap="square" lIns="91440" tIns="45720" rIns="91440" bIns="45720" anchor="ctr"/>
          <a:lstStyle/>
          <a:p>
            <a:pPr algn="ctr"/>
            <a:r>
              <a:rPr lang="ja-JP" sz="1600" b="1" dirty="0">
                <a:solidFill>
                  <a:srgbClr val="FFFFFF"/>
                </a:solidFill>
                <a:latin typeface="BIZ UDPGothic"/>
                <a:ea typeface="BIZ UDPGothic"/>
              </a:rPr>
              <a:t>対象範囲（In Scope）</a:t>
            </a:r>
          </a:p>
        </p:txBody>
      </p:sp>
      <p:sp>
        <p:nvSpPr>
          <p:cNvPr id="13" name="S13"/>
          <p:cNvSpPr/>
          <p:nvPr/>
        </p:nvSpPr>
        <p:spPr>
          <a:xfrm>
            <a:off x="457200" y="1280160"/>
            <a:ext cx="5394960" cy="5029200"/>
          </a:xfrm>
          <a:prstGeom prst="rect">
            <a:avLst/>
          </a:prstGeom>
          <a:solidFill>
            <a:srgbClr val="F7F5F2"/>
          </a:solidFill>
          <a:ln w="12700">
            <a:solidFill>
              <a:srgbClr val="D0C8BE"/>
            </a:solidFill>
          </a:ln>
        </p:spPr>
        <p:txBody>
          <a:bodyPr wrap="square" lIns="91440" tIns="45720" rIns="91440" bIns="45720" anchor="t"/>
          <a:lstStyle/>
          <a:p>
            <a:pPr marL="228600" indent="-228600" algn="l">
              <a:lnSpc>
                <a:spcPts val="1800"/>
              </a:lnSpc>
              <a:buFont typeface="Arial"/>
              <a:buChar char="•"/>
            </a:pPr>
            <a:r>
              <a:rPr lang="ja-JP" sz="1200" dirty="0">
                <a:solidFill>
                  <a:srgbClr val="333333"/>
                </a:solidFill>
                <a:latin typeface="BIZ UDPGothic"/>
                <a:ea typeface="BIZ UDPGothic"/>
              </a:rPr>
              <a:t>データ内容確認・品質確認・基本集計</a:t>
            </a:r>
          </a:p>
          <a:p>
            <a:pPr marL="228600" indent="-228600" algn="l">
              <a:lnSpc>
                <a:spcPts val="1800"/>
              </a:lnSpc>
              <a:buFont typeface="Arial"/>
              <a:buChar char="•"/>
            </a:pPr>
            <a:r>
              <a:rPr lang="ja-JP" sz="1200" dirty="0">
                <a:solidFill>
                  <a:srgbClr val="333333"/>
                </a:solidFill>
                <a:latin typeface="BIZ UDPGothic"/>
                <a:ea typeface="BIZ UDPGothic"/>
              </a:rPr>
              <a:t>Attr1〜Attr64 の変数理解</a:t>
            </a:r>
          </a:p>
          <a:p>
            <a:pPr marL="228600" indent="-228600" algn="l">
              <a:lnSpc>
                <a:spcPts val="1800"/>
              </a:lnSpc>
              <a:buFont typeface="Arial"/>
              <a:buChar char="•"/>
            </a:pPr>
            <a:r>
              <a:rPr lang="ja-JP" sz="1200" dirty="0">
                <a:solidFill>
                  <a:srgbClr val="333333"/>
                </a:solidFill>
                <a:latin typeface="BIZ UDPGothic"/>
                <a:ea typeface="BIZ UDPGothic"/>
              </a:rPr>
              <a:t>欠損・外れ値・不均衡データ対処方針策定</a:t>
            </a:r>
          </a:p>
          <a:p>
            <a:pPr marL="228600" indent="-228600" algn="l">
              <a:lnSpc>
                <a:spcPts val="1800"/>
              </a:lnSpc>
              <a:buFont typeface="Arial"/>
              <a:buChar char="•"/>
            </a:pPr>
            <a:r>
              <a:rPr lang="ja-JP" sz="1200" dirty="0">
                <a:solidFill>
                  <a:srgbClr val="333333"/>
                </a:solidFill>
                <a:latin typeface="BIZ UDPGothic"/>
                <a:ea typeface="BIZ UDPGothic"/>
              </a:rPr>
              <a:t>ベースライン・複数モデル候補の比較</a:t>
            </a:r>
          </a:p>
          <a:p>
            <a:pPr marL="228600" indent="-228600" algn="l">
              <a:lnSpc>
                <a:spcPts val="1800"/>
              </a:lnSpc>
              <a:buFont typeface="Arial"/>
              <a:buChar char="•"/>
            </a:pPr>
            <a:r>
              <a:rPr lang="ja-JP" sz="1200" dirty="0">
                <a:solidFill>
                  <a:srgbClr val="333333"/>
                </a:solidFill>
                <a:latin typeface="BIZ UDPGothic"/>
                <a:ea typeface="BIZ UDPGothic"/>
              </a:rPr>
              <a:t>倒産予測スコアに基づくリスクセグメンテーション</a:t>
            </a:r>
          </a:p>
          <a:p>
            <a:pPr marL="228600" indent="-228600" algn="l">
              <a:lnSpc>
                <a:spcPts val="1800"/>
              </a:lnSpc>
              <a:buFont typeface="Arial"/>
              <a:buChar char="•"/>
            </a:pPr>
            <a:r>
              <a:rPr lang="ja-JP" sz="1200" dirty="0">
                <a:solidFill>
                  <a:srgbClr val="333333"/>
                </a:solidFill>
                <a:latin typeface="BIZ UDPGothic"/>
                <a:ea typeface="BIZ UDPGothic"/>
              </a:rPr>
              <a:t>重要変数・しきい値候補・判定補助観点の整理</a:t>
            </a:r>
          </a:p>
          <a:p>
            <a:pPr marL="228600" indent="-228600" algn="l">
              <a:lnSpc>
                <a:spcPts val="1800"/>
              </a:lnSpc>
              <a:buFont typeface="Arial"/>
              <a:buChar char="•"/>
            </a:pPr>
            <a:r>
              <a:rPr lang="ja-JP" sz="1200" dirty="0">
                <a:solidFill>
                  <a:srgbClr val="333333"/>
                </a:solidFill>
                <a:latin typeface="BIZ UDPGothic"/>
                <a:ea typeface="BIZ UDPGothic"/>
              </a:rPr>
              <a:t>モデル評価結果の文書化</a:t>
            </a:r>
          </a:p>
          <a:p>
            <a:pPr marL="228600" indent="-228600" algn="l">
              <a:lnSpc>
                <a:spcPts val="1800"/>
              </a:lnSpc>
              <a:buFont typeface="Arial"/>
              <a:buChar char="•"/>
            </a:pPr>
            <a:r>
              <a:rPr lang="ja-JP" sz="1200" dirty="0">
                <a:solidFill>
                  <a:srgbClr val="333333"/>
                </a:solidFill>
                <a:latin typeface="BIZ UDPGothic"/>
                <a:ea typeface="BIZ UDPGothic"/>
              </a:rPr>
              <a:t>監査対応を意識した分析ログ・前提条件記録</a:t>
            </a:r>
          </a:p>
          <a:p>
            <a:pPr marL="228600" indent="-228600" algn="l">
              <a:lnSpc>
                <a:spcPts val="1800"/>
              </a:lnSpc>
              <a:buFont typeface="Arial"/>
              <a:buChar char="•"/>
            </a:pPr>
            <a:r>
              <a:rPr lang="ja-JP" sz="1200" dirty="0">
                <a:solidFill>
                  <a:srgbClr val="333333"/>
                </a:solidFill>
                <a:latin typeface="BIZ UDPGothic"/>
                <a:ea typeface="BIZ UDPGothic"/>
              </a:rPr>
              <a:t>後続文書で参照可能な前提定義の整備</a:t>
            </a:r>
          </a:p>
          <a:p>
            <a:pPr marL="228600" indent="-228600" algn="l">
              <a:lnSpc>
                <a:spcPts val="1800"/>
              </a:lnSpc>
              <a:buFont typeface="Arial"/>
              <a:buChar char="•"/>
            </a:pPr>
            <a:r>
              <a:rPr lang="ja-JP" sz="1200" dirty="0">
                <a:solidFill>
                  <a:srgbClr val="333333"/>
                </a:solidFill>
                <a:latin typeface="BIZ UDPGothic"/>
                <a:ea typeface="BIZ UDPGothic"/>
              </a:rPr>
              <a:t>初期実装方針の整理</a:t>
            </a:r>
          </a:p>
        </p:txBody>
      </p:sp>
      <p:sp>
        <p:nvSpPr>
          <p:cNvPr id="14" name="S14"/>
          <p:cNvSpPr/>
          <p:nvPr/>
        </p:nvSpPr>
        <p:spPr>
          <a:xfrm>
            <a:off x="6035040" y="800000"/>
            <a:ext cx="5699760" cy="411480"/>
          </a:xfrm>
          <a:prstGeom prst="roundRect">
            <a:avLst>
              <a:gd name="adj" fmla="val 6000"/>
            </a:avLst>
          </a:prstGeom>
          <a:solidFill>
            <a:srgbClr val="4A4A4A"/>
          </a:solidFill>
          <a:ln>
            <a:noFill/>
          </a:ln>
        </p:spPr>
        <p:txBody>
          <a:bodyPr wrap="square" lIns="91440" tIns="45720" rIns="91440" bIns="45720" anchor="ctr"/>
          <a:lstStyle/>
          <a:p>
            <a:pPr algn="ctr"/>
            <a:r>
              <a:rPr lang="ja-JP" sz="1600" b="1" dirty="0">
                <a:solidFill>
                  <a:srgbClr val="FFFFFF"/>
                </a:solidFill>
                <a:latin typeface="BIZ UDPGothic"/>
                <a:ea typeface="BIZ UDPGothic"/>
              </a:rPr>
              <a:t>対象外（Out of Scope）</a:t>
            </a:r>
          </a:p>
        </p:txBody>
      </p:sp>
      <p:sp>
        <p:nvSpPr>
          <p:cNvPr id="15" name="S15"/>
          <p:cNvSpPr/>
          <p:nvPr/>
        </p:nvSpPr>
        <p:spPr>
          <a:xfrm>
            <a:off x="6035040" y="1280160"/>
            <a:ext cx="5699760" cy="5029200"/>
          </a:xfrm>
          <a:prstGeom prst="rect">
            <a:avLst/>
          </a:prstGeom>
          <a:solidFill>
            <a:srgbClr val="F7F5F2"/>
          </a:solidFill>
          <a:ln w="12700">
            <a:solidFill>
              <a:srgbClr val="D0C8BE"/>
            </a:solidFill>
          </a:ln>
        </p:spPr>
        <p:txBody>
          <a:bodyPr wrap="square" lIns="91440" tIns="45720" rIns="91440" bIns="45720" anchor="t"/>
          <a:lstStyle/>
          <a:p>
            <a:pPr marL="228600" indent="-228600" algn="l">
              <a:lnSpc>
                <a:spcPts val="1800"/>
              </a:lnSpc>
              <a:buFont typeface="Arial"/>
              <a:buChar char="•"/>
            </a:pPr>
            <a:r>
              <a:rPr lang="ja-JP" sz="1200" dirty="0">
                <a:solidFill>
                  <a:srgbClr val="333333"/>
                </a:solidFill>
                <a:latin typeface="BIZ UDPGothic"/>
                <a:ea typeface="BIZ UDPGothic"/>
              </a:rPr>
              <a:t>本番システム実装・API化・業務システム連携</a:t>
            </a:r>
          </a:p>
          <a:p>
            <a:pPr marL="228600" indent="-228600" algn="l">
              <a:lnSpc>
                <a:spcPts val="1800"/>
              </a:lnSpc>
              <a:buFont typeface="Arial"/>
              <a:buChar char="•"/>
            </a:pPr>
            <a:r>
              <a:rPr lang="ja-JP" sz="1200" dirty="0">
                <a:solidFill>
                  <a:srgbClr val="333333"/>
                </a:solidFill>
                <a:latin typeface="BIZ UDPGothic"/>
                <a:ea typeface="BIZ UDPGothic"/>
              </a:rPr>
              <a:t>本番審査フローへの組み込み</a:t>
            </a:r>
          </a:p>
          <a:p>
            <a:pPr marL="228600" indent="-228600" algn="l">
              <a:lnSpc>
                <a:spcPts val="1800"/>
              </a:lnSpc>
              <a:buFont typeface="Arial"/>
              <a:buChar char="•"/>
            </a:pPr>
            <a:r>
              <a:rPr lang="ja-JP" sz="1200" dirty="0">
                <a:solidFill>
                  <a:srgbClr val="333333"/>
                </a:solidFill>
                <a:latin typeface="BIZ UDPGothic"/>
                <a:ea typeface="BIZ UDPGothic"/>
              </a:rPr>
              <a:t>外部データの追加取得・名寄せ・属性付与</a:t>
            </a:r>
          </a:p>
          <a:p>
            <a:pPr marL="228600" indent="-228600" algn="l">
              <a:lnSpc>
                <a:spcPts val="1800"/>
              </a:lnSpc>
              <a:buFont typeface="Arial"/>
              <a:buChar char="•"/>
            </a:pPr>
            <a:r>
              <a:rPr lang="ja-JP" sz="1200" dirty="0">
                <a:solidFill>
                  <a:srgbClr val="333333"/>
                </a:solidFill>
                <a:latin typeface="BIZ UDPGothic"/>
                <a:ea typeface="BIZ UDPGothic"/>
              </a:rPr>
              <a:t>モデル本番監視基盤の構築</a:t>
            </a:r>
          </a:p>
          <a:p>
            <a:pPr marL="228600" indent="-228600" algn="l">
              <a:lnSpc>
                <a:spcPts val="1800"/>
              </a:lnSpc>
              <a:buFont typeface="Arial"/>
              <a:buChar char="•"/>
            </a:pPr>
            <a:r>
              <a:rPr lang="ja-JP" sz="1200" dirty="0">
                <a:solidFill>
                  <a:srgbClr val="333333"/>
                </a:solidFill>
                <a:latin typeface="BIZ UDPGothic"/>
                <a:ea typeface="BIZ UDPGothic"/>
              </a:rPr>
              <a:t>回収業務プロセス自体の業務設計</a:t>
            </a:r>
          </a:p>
          <a:p>
            <a:pPr marL="228600" indent="-228600" algn="l">
              <a:lnSpc>
                <a:spcPts val="1800"/>
              </a:lnSpc>
              <a:buFont typeface="Arial"/>
              <a:buChar char="•"/>
            </a:pPr>
            <a:r>
              <a:rPr lang="ja-JP" sz="1200" dirty="0">
                <a:solidFill>
                  <a:srgbClr val="333333"/>
                </a:solidFill>
                <a:latin typeface="BIZ UDPGothic"/>
                <a:ea typeface="BIZ UDPGothic"/>
              </a:rPr>
              <a:t>法務判断・会計判断・規制当局向け文書作成代行</a:t>
            </a:r>
          </a:p>
          <a:p>
            <a:pPr marL="228600" indent="-228600" algn="l">
              <a:lnSpc>
                <a:spcPts val="1800"/>
              </a:lnSpc>
              <a:buFont typeface="Arial"/>
              <a:buChar char="•"/>
            </a:pPr>
            <a:r>
              <a:rPr lang="ja-JP" sz="1200" dirty="0">
                <a:solidFill>
                  <a:srgbClr val="333333"/>
                </a:solidFill>
                <a:latin typeface="BIZ UDPGothic"/>
                <a:ea typeface="BIZ UDPGothic"/>
              </a:rPr>
              <a:t>契約範囲外の追加分析テーマ</a:t>
            </a:r>
          </a:p>
          <a:p>
            <a:pPr marL="228600" indent="-228600" algn="l">
              <a:lnSpc>
                <a:spcPts val="1800"/>
              </a:lnSpc>
              <a:buFont typeface="Arial"/>
              <a:buChar char="•"/>
            </a:pPr>
            <a:r>
              <a:rPr lang="ja-JP" sz="1200" dirty="0">
                <a:solidFill>
                  <a:srgbClr val="333333"/>
                </a:solidFill>
                <a:latin typeface="BIZ UDPGothic"/>
                <a:ea typeface="BIZ UDPGothic"/>
              </a:rPr>
              <a:t>再学習・自動運用化・UI開発</a:t>
            </a:r>
          </a:p>
        </p:txBody>
      </p:sp>
    </p:spTree>
    <p:extLst>
      <p:ext uri="{BB962C8B-B14F-4D97-AF65-F5344CB8AC3E}">
        <p14:creationId xmlns:p14="http://schemas.microsoft.com/office/powerpoint/2010/main" val="1196234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72000" tIns="36000" rIns="72000" bIns="36000" anchor="ctr"/>
          <a:lstStyle/>
          <a:p>
            <a:endParaRPr lang="ja-JP"/>
          </a:p>
        </p:txBody>
      </p:sp>
      <p:sp>
        <p:nvSpPr>
          <p:cNvPr id="11" name="S11"/>
          <p:cNvSpPr/>
          <p:nvPr/>
        </p:nvSpPr>
        <p:spPr>
          <a:xfrm>
            <a:off x="457200" y="137160"/>
            <a:ext cx="11277600" cy="548640"/>
          </a:xfrm>
          <a:prstGeom prst="rect">
            <a:avLst/>
          </a:prstGeom>
          <a:noFill/>
          <a:ln>
            <a:noFill/>
          </a:ln>
        </p:spPr>
        <p:txBody>
          <a:bodyPr wrap="square" lIns="72000" tIns="36000" rIns="72000" bIns="36000" anchor="ctr"/>
          <a:lstStyle/>
          <a:p>
            <a:pPr algn="l"/>
            <a:r>
              <a:rPr lang="ja-JP" sz="2400" b="1" dirty="0">
                <a:solidFill>
                  <a:srgbClr val="1A1A1A"/>
                </a:solidFill>
                <a:latin typeface="BIZ UDPGothic"/>
                <a:ea typeface="BIZ UDPGothic"/>
              </a:rPr>
              <a:t>4. 分析アプローチ 全体像</a:t>
            </a:r>
          </a:p>
        </p:txBody>
      </p:sp>
      <p:pic>
        <p:nvPicPr>
          <p:cNvPr id="4" name="図 3">
            <a:extLst>
              <a:ext uri="{FF2B5EF4-FFF2-40B4-BE49-F238E27FC236}">
                <a16:creationId xmlns:a16="http://schemas.microsoft.com/office/drawing/2014/main" id="{4E1099DB-3D14-C2E0-B692-92ED5CE2FDD5}"/>
              </a:ext>
            </a:extLst>
          </p:cNvPr>
          <p:cNvPicPr>
            <a:picLocks noChangeAspect="1"/>
          </p:cNvPicPr>
          <p:nvPr/>
        </p:nvPicPr>
        <p:blipFill>
          <a:blip r:embed="rId2"/>
          <a:stretch>
            <a:fillRect/>
          </a:stretch>
        </p:blipFill>
        <p:spPr>
          <a:xfrm>
            <a:off x="413547" y="685800"/>
            <a:ext cx="11321253" cy="5870957"/>
          </a:xfrm>
          <a:prstGeom prst="rect">
            <a:avLst/>
          </a:prstGeom>
        </p:spPr>
      </p:pic>
    </p:spTree>
    <p:extLst>
      <p:ext uri="{BB962C8B-B14F-4D97-AF65-F5344CB8AC3E}">
        <p14:creationId xmlns:p14="http://schemas.microsoft.com/office/powerpoint/2010/main" val="26087275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91440" tIns="45720" rIns="91440" bIns="45720" anchor="ctr"/>
          <a:lstStyle/>
          <a:p>
            <a:endParaRPr lang="ja-JP"/>
          </a:p>
        </p:txBody>
      </p:sp>
      <p:sp>
        <p:nvSpPr>
          <p:cNvPr id="11" name="S11"/>
          <p:cNvSpPr/>
          <p:nvPr/>
        </p:nvSpPr>
        <p:spPr>
          <a:xfrm>
            <a:off x="457200" y="137160"/>
            <a:ext cx="11277600" cy="548640"/>
          </a:xfrm>
          <a:prstGeom prst="rect">
            <a:avLst/>
          </a:prstGeom>
          <a:noFill/>
          <a:ln>
            <a:noFill/>
          </a:ln>
        </p:spPr>
        <p:txBody>
          <a:bodyPr wrap="square" lIns="91440" tIns="45720" rIns="91440" bIns="45720" anchor="ctr"/>
          <a:lstStyle/>
          <a:p>
            <a:pPr algn="l"/>
            <a:r>
              <a:rPr lang="ja-JP" sz="2400" b="1" dirty="0">
                <a:solidFill>
                  <a:srgbClr val="1A1A1A"/>
                </a:solidFill>
                <a:latin typeface="BIZ UDPGothic"/>
                <a:ea typeface="BIZ UDPGothic"/>
              </a:rPr>
              <a:t>4.1 データ理解・品質確認</a:t>
            </a:r>
          </a:p>
        </p:txBody>
      </p:sp>
      <p:sp>
        <p:nvSpPr>
          <p:cNvPr id="12" name="S12"/>
          <p:cNvSpPr/>
          <p:nvPr/>
        </p:nvSpPr>
        <p:spPr>
          <a:xfrm>
            <a:off x="457200" y="800000"/>
            <a:ext cx="5394960" cy="1371600"/>
          </a:xfrm>
          <a:prstGeom prst="roundRect">
            <a:avLst>
              <a:gd name="adj" fmla="val 8000"/>
            </a:avLst>
          </a:prstGeom>
          <a:solidFill>
            <a:srgbClr val="F2F0ED"/>
          </a:solidFill>
          <a:ln w="12700">
            <a:solidFill>
              <a:srgbClr val="D0C8BE"/>
            </a:solidFill>
          </a:ln>
        </p:spPr>
        <p:txBody>
          <a:bodyPr wrap="square" lIns="91440" tIns="45720" rIns="91440" bIns="45720" anchor="t"/>
          <a:lstStyle/>
          <a:p>
            <a:pPr algn="l">
              <a:spcAft>
                <a:spcPts val="400"/>
              </a:spcAft>
            </a:pPr>
            <a:r>
              <a:rPr lang="ja-JP" sz="1600" b="1" dirty="0">
                <a:solidFill>
                  <a:srgbClr val="8B2500"/>
                </a:solidFill>
                <a:latin typeface="BIZ UDPGothic"/>
                <a:ea typeface="BIZ UDPGothic"/>
              </a:rPr>
              <a:t>対象データ概要</a:t>
            </a:r>
          </a:p>
          <a:p>
            <a:pPr marL="228600" indent="-228600" algn="l">
              <a:lnSpc>
                <a:spcPts val="2200"/>
              </a:lnSpc>
              <a:buFont typeface="Arial"/>
              <a:buChar char="•"/>
            </a:pPr>
            <a:r>
              <a:rPr lang="ja-JP" sz="1400" dirty="0">
                <a:solidFill>
                  <a:srgbClr val="333333"/>
                </a:solidFill>
                <a:latin typeface="BIZ UDPGothic"/>
                <a:ea typeface="BIZ UDPGothic"/>
              </a:rPr>
              <a:t>企業単位（1レコード＝1企業、時系列粒度なし）</a:t>
            </a:r>
          </a:p>
          <a:p>
            <a:pPr marL="228600" indent="-228600" algn="l">
              <a:lnSpc>
                <a:spcPts val="2200"/>
              </a:lnSpc>
              <a:buFont typeface="Arial"/>
              <a:buChar char="•"/>
            </a:pPr>
            <a:r>
              <a:rPr lang="ja-JP" sz="1400" dirty="0">
                <a:solidFill>
                  <a:srgbClr val="333333"/>
                </a:solidFill>
                <a:latin typeface="BIZ UDPGothic"/>
                <a:ea typeface="BIZ UDPGothic"/>
              </a:rPr>
              <a:t>目的変数 class: 3年後存続=0 / 3年後倒産=1</a:t>
            </a:r>
          </a:p>
          <a:p>
            <a:pPr marL="228600" indent="-228600" algn="l">
              <a:lnSpc>
                <a:spcPts val="2200"/>
              </a:lnSpc>
              <a:buFont typeface="Arial"/>
              <a:buChar char="•"/>
            </a:pPr>
            <a:r>
              <a:rPr lang="ja-JP" sz="1400" dirty="0">
                <a:solidFill>
                  <a:srgbClr val="333333"/>
                </a:solidFill>
                <a:latin typeface="BIZ UDPGothic"/>
                <a:ea typeface="BIZ UDPGothic"/>
              </a:rPr>
              <a:t>倒産クラス比率：約4.95%（不均衡データ）</a:t>
            </a:r>
          </a:p>
        </p:txBody>
      </p:sp>
      <p:sp>
        <p:nvSpPr>
          <p:cNvPr id="15" name="S15"/>
          <p:cNvSpPr/>
          <p:nvPr/>
        </p:nvSpPr>
        <p:spPr>
          <a:xfrm>
            <a:off x="6126480" y="800000"/>
            <a:ext cx="1737360" cy="1371600"/>
          </a:xfrm>
          <a:prstGeom prst="roundRect">
            <a:avLst>
              <a:gd name="adj" fmla="val 8000"/>
            </a:avLst>
          </a:prstGeom>
          <a:solidFill>
            <a:srgbClr val="F7F5F2"/>
          </a:solidFill>
          <a:ln w="12700">
            <a:solidFill>
              <a:srgbClr val="D0C8BE"/>
            </a:solidFill>
          </a:ln>
        </p:spPr>
        <p:txBody>
          <a:bodyPr wrap="square" lIns="91440" tIns="45720" rIns="91440" bIns="45720" anchor="ctr"/>
          <a:lstStyle/>
          <a:p>
            <a:pPr algn="ctr"/>
            <a:r>
              <a:rPr lang="en-US" sz="2800" b="1" dirty="0">
                <a:solidFill>
                  <a:srgbClr val="8B2500"/>
                </a:solidFill>
                <a:latin typeface="BIZ UDPGothic"/>
                <a:ea typeface="BIZ UDPGothic"/>
              </a:rPr>
              <a:t>7,352</a:t>
            </a:r>
            <a:r>
              <a:rPr lang="ja-JP" sz="1400" dirty="0">
                <a:solidFill>
                  <a:srgbClr val="7A7A7A"/>
                </a:solidFill>
                <a:latin typeface="BIZ UDPGothic"/>
                <a:ea typeface="BIZ UDPGothic"/>
              </a:rPr>
              <a:t>件</a:t>
            </a:r>
          </a:p>
          <a:p>
            <a:pPr algn="ctr"/>
            <a:r>
              <a:rPr lang="ja-JP" sz="1400" dirty="0">
                <a:solidFill>
                  <a:srgbClr val="4A4A4A"/>
                </a:solidFill>
                <a:latin typeface="BIZ UDPGothic"/>
                <a:ea typeface="BIZ UDPGothic"/>
              </a:rPr>
              <a:t>レコード数</a:t>
            </a:r>
          </a:p>
        </p:txBody>
      </p:sp>
      <p:sp>
        <p:nvSpPr>
          <p:cNvPr id="16" name="S16"/>
          <p:cNvSpPr/>
          <p:nvPr/>
        </p:nvSpPr>
        <p:spPr>
          <a:xfrm>
            <a:off x="8046720" y="800000"/>
            <a:ext cx="1737360" cy="1371600"/>
          </a:xfrm>
          <a:prstGeom prst="roundRect">
            <a:avLst>
              <a:gd name="adj" fmla="val 8000"/>
            </a:avLst>
          </a:prstGeom>
          <a:solidFill>
            <a:srgbClr val="F7F5F2"/>
          </a:solidFill>
          <a:ln w="12700">
            <a:solidFill>
              <a:srgbClr val="D0C8BE"/>
            </a:solidFill>
          </a:ln>
        </p:spPr>
        <p:txBody>
          <a:bodyPr wrap="square" lIns="91440" tIns="45720" rIns="91440" bIns="45720" anchor="ctr"/>
          <a:lstStyle/>
          <a:p>
            <a:pPr algn="ctr"/>
            <a:r>
              <a:rPr lang="en-US" sz="2800" b="1" dirty="0">
                <a:solidFill>
                  <a:srgbClr val="8B2500"/>
                </a:solidFill>
                <a:latin typeface="BIZ UDPGothic"/>
                <a:ea typeface="BIZ UDPGothic"/>
              </a:rPr>
              <a:t>66</a:t>
            </a:r>
            <a:r>
              <a:rPr lang="ja-JP" sz="1400" dirty="0">
                <a:solidFill>
                  <a:srgbClr val="7A7A7A"/>
                </a:solidFill>
                <a:latin typeface="BIZ UDPGothic"/>
                <a:ea typeface="BIZ UDPGothic"/>
              </a:rPr>
              <a:t>列</a:t>
            </a:r>
          </a:p>
          <a:p>
            <a:pPr algn="ctr"/>
            <a:r>
              <a:rPr lang="ja-JP" sz="1400" dirty="0">
                <a:solidFill>
                  <a:srgbClr val="4A4A4A"/>
                </a:solidFill>
                <a:latin typeface="BIZ UDPGothic"/>
                <a:ea typeface="BIZ UDPGothic"/>
              </a:rPr>
              <a:t>変数数</a:t>
            </a:r>
          </a:p>
        </p:txBody>
      </p:sp>
      <p:sp>
        <p:nvSpPr>
          <p:cNvPr id="17" name="S17"/>
          <p:cNvSpPr/>
          <p:nvPr/>
        </p:nvSpPr>
        <p:spPr>
          <a:xfrm>
            <a:off x="9966960" y="800000"/>
            <a:ext cx="1737360" cy="1371600"/>
          </a:xfrm>
          <a:prstGeom prst="roundRect">
            <a:avLst>
              <a:gd name="adj" fmla="val 8000"/>
            </a:avLst>
          </a:prstGeom>
          <a:solidFill>
            <a:srgbClr val="8B2500"/>
          </a:solidFill>
          <a:ln w="12700">
            <a:solidFill>
              <a:srgbClr val="8B2500"/>
            </a:solidFill>
          </a:ln>
        </p:spPr>
        <p:txBody>
          <a:bodyPr wrap="square" lIns="91440" tIns="45720" rIns="91440" bIns="45720" anchor="ctr"/>
          <a:lstStyle/>
          <a:p>
            <a:pPr algn="ctr"/>
            <a:r>
              <a:rPr lang="en-US" sz="2800" b="1" dirty="0">
                <a:solidFill>
                  <a:srgbClr val="FFFFFF"/>
                </a:solidFill>
                <a:latin typeface="BIZ UDPGothic"/>
                <a:ea typeface="BIZ UDPGothic"/>
              </a:rPr>
              <a:t>4.95</a:t>
            </a:r>
            <a:r>
              <a:rPr lang="ja-JP" sz="1400" dirty="0">
                <a:solidFill>
                  <a:srgbClr val="FFFFFF"/>
                </a:solidFill>
                <a:latin typeface="BIZ UDPGothic"/>
                <a:ea typeface="BIZ UDPGothic"/>
              </a:rPr>
              <a:t>%</a:t>
            </a:r>
          </a:p>
          <a:p>
            <a:pPr algn="ctr"/>
            <a:r>
              <a:rPr lang="ja-JP" sz="1400" dirty="0">
                <a:solidFill>
                  <a:srgbClr val="FFFFFF"/>
                </a:solidFill>
                <a:latin typeface="BIZ UDPGothic"/>
                <a:ea typeface="BIZ UDPGothic"/>
              </a:rPr>
              <a:t>倒産クラス比率</a:t>
            </a:r>
          </a:p>
        </p:txBody>
      </p:sp>
      <p:sp>
        <p:nvSpPr>
          <p:cNvPr id="20" name="S20"/>
          <p:cNvSpPr/>
          <p:nvPr/>
        </p:nvSpPr>
        <p:spPr>
          <a:xfrm>
            <a:off x="457200" y="2377440"/>
            <a:ext cx="11277600" cy="457200"/>
          </a:xfrm>
          <a:prstGeom prst="rect">
            <a:avLst/>
          </a:prstGeom>
          <a:noFill/>
          <a:ln>
            <a:noFill/>
          </a:ln>
        </p:spPr>
        <p:txBody>
          <a:bodyPr wrap="square" lIns="91440" tIns="45720" rIns="91440" bIns="45720" anchor="b"/>
          <a:lstStyle/>
          <a:p>
            <a:pPr algn="l"/>
            <a:r>
              <a:rPr lang="ja-JP" sz="1800" b="1" dirty="0">
                <a:solidFill>
                  <a:srgbClr val="1A1A1A"/>
                </a:solidFill>
                <a:latin typeface="BIZ UDPGothic"/>
                <a:ea typeface="BIZ UDPGothic"/>
              </a:rPr>
              <a:t>確認対象</a:t>
            </a:r>
          </a:p>
        </p:txBody>
      </p:sp>
      <p:sp>
        <p:nvSpPr>
          <p:cNvPr id="30" name="S30"/>
          <p:cNvSpPr/>
          <p:nvPr/>
        </p:nvSpPr>
        <p:spPr>
          <a:xfrm>
            <a:off x="457200" y="2834640"/>
            <a:ext cx="2103120" cy="25603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400"/>
              </a:spcAft>
            </a:pPr>
            <a:r>
              <a:rPr lang="ja-JP" sz="1500" b="1" dirty="0">
                <a:solidFill>
                  <a:srgbClr val="8B2500"/>
                </a:solidFill>
                <a:latin typeface="BIZ UDPGothic"/>
                <a:ea typeface="BIZ UDPGothic"/>
              </a:rPr>
              <a:t>型・件数・欠損</a:t>
            </a:r>
          </a:p>
          <a:p>
            <a:pPr algn="ctr">
              <a:lnSpc>
                <a:spcPts val="2000"/>
              </a:lnSpc>
            </a:pPr>
            <a:r>
              <a:rPr lang="ja-JP" sz="1300" dirty="0">
                <a:solidFill>
                  <a:srgbClr val="333333"/>
                </a:solidFill>
                <a:latin typeface="BIZ UDPGothic"/>
                <a:ea typeface="BIZ UDPGothic"/>
              </a:rPr>
              <a:t>各列のデータ型、件数、
欠損状況を網羅的に確認</a:t>
            </a:r>
          </a:p>
        </p:txBody>
      </p:sp>
      <p:sp>
        <p:nvSpPr>
          <p:cNvPr id="31" name="S31"/>
          <p:cNvSpPr/>
          <p:nvPr/>
        </p:nvSpPr>
        <p:spPr>
          <a:xfrm>
            <a:off x="2697480" y="2834640"/>
            <a:ext cx="2103120" cy="25603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400"/>
              </a:spcAft>
            </a:pPr>
            <a:r>
              <a:rPr lang="ja-JP" sz="1500" b="1" dirty="0">
                <a:solidFill>
                  <a:srgbClr val="8B2500"/>
                </a:solidFill>
                <a:latin typeface="BIZ UDPGothic"/>
                <a:ea typeface="BIZ UDPGothic"/>
              </a:rPr>
              <a:t>分布・極端値</a:t>
            </a:r>
          </a:p>
          <a:p>
            <a:pPr algn="ctr">
              <a:lnSpc>
                <a:spcPts val="2000"/>
              </a:lnSpc>
            </a:pPr>
            <a:r>
              <a:rPr lang="ja-JP" sz="1300" dirty="0">
                <a:solidFill>
                  <a:srgbClr val="333333"/>
                </a:solidFill>
                <a:latin typeface="BIZ UDPGothic"/>
                <a:ea typeface="BIZ UDPGothic"/>
              </a:rPr>
              <a:t>分布特性、極端値、
負値を含む指標を把握</a:t>
            </a:r>
          </a:p>
        </p:txBody>
      </p:sp>
      <p:sp>
        <p:nvSpPr>
          <p:cNvPr id="32" name="S32"/>
          <p:cNvSpPr/>
          <p:nvPr/>
        </p:nvSpPr>
        <p:spPr>
          <a:xfrm>
            <a:off x="4937760" y="2834640"/>
            <a:ext cx="2103120" cy="25603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400"/>
              </a:spcAft>
            </a:pPr>
            <a:r>
              <a:rPr lang="ja-JP" sz="1500" b="1" dirty="0">
                <a:solidFill>
                  <a:srgbClr val="8B2500"/>
                </a:solidFill>
                <a:latin typeface="BIZ UDPGothic"/>
                <a:ea typeface="BIZ UDPGothic"/>
              </a:rPr>
              <a:t>相関構造</a:t>
            </a:r>
          </a:p>
          <a:p>
            <a:pPr algn="ctr">
              <a:lnSpc>
                <a:spcPts val="2000"/>
              </a:lnSpc>
            </a:pPr>
            <a:r>
              <a:rPr lang="ja-JP" sz="1300" dirty="0">
                <a:solidFill>
                  <a:srgbClr val="333333"/>
                </a:solidFill>
                <a:latin typeface="BIZ UDPGothic"/>
                <a:ea typeface="BIZ UDPGothic"/>
              </a:rPr>
              <a:t>相関分析および
多重共線性を把握</a:t>
            </a:r>
          </a:p>
        </p:txBody>
      </p:sp>
      <p:sp>
        <p:nvSpPr>
          <p:cNvPr id="33" name="S33"/>
          <p:cNvSpPr/>
          <p:nvPr/>
        </p:nvSpPr>
        <p:spPr>
          <a:xfrm>
            <a:off x="7178040" y="2834640"/>
            <a:ext cx="2103120" cy="25603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400"/>
              </a:spcAft>
            </a:pPr>
            <a:r>
              <a:rPr lang="ja-JP" sz="1500" b="1" dirty="0">
                <a:solidFill>
                  <a:srgbClr val="8B2500"/>
                </a:solidFill>
                <a:latin typeface="BIZ UDPGothic"/>
                <a:ea typeface="BIZ UDPGothic"/>
              </a:rPr>
              <a:t>高欠損列の評価</a:t>
            </a:r>
          </a:p>
          <a:p>
            <a:pPr algn="ctr">
              <a:lnSpc>
                <a:spcPts val="2000"/>
              </a:lnSpc>
            </a:pPr>
            <a:r>
              <a:rPr lang="ja-JP" sz="1300" dirty="0">
                <a:solidFill>
                  <a:srgbClr val="333333"/>
                </a:solidFill>
                <a:latin typeface="BIZ UDPGothic"/>
                <a:ea typeface="BIZ UDPGothic"/>
              </a:rPr>
              <a:t>Attr37等の欠損率が
高い列の採否を評価</a:t>
            </a:r>
          </a:p>
        </p:txBody>
      </p:sp>
      <p:sp>
        <p:nvSpPr>
          <p:cNvPr id="34" name="S34"/>
          <p:cNvSpPr/>
          <p:nvPr/>
        </p:nvSpPr>
        <p:spPr>
          <a:xfrm>
            <a:off x="9418320" y="2834640"/>
            <a:ext cx="2103120" cy="25603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400"/>
              </a:spcAft>
            </a:pPr>
            <a:r>
              <a:rPr lang="ja-JP" sz="1500" b="1" dirty="0">
                <a:solidFill>
                  <a:srgbClr val="8B2500"/>
                </a:solidFill>
                <a:latin typeface="BIZ UDPGothic"/>
                <a:ea typeface="BIZ UDPGothic"/>
              </a:rPr>
              <a:t>識別子の除外</a:t>
            </a:r>
          </a:p>
          <a:p>
            <a:pPr algn="ctr">
              <a:lnSpc>
                <a:spcPts val="2000"/>
              </a:lnSpc>
            </a:pPr>
            <a:r>
              <a:rPr lang="ja-JP" sz="1300" dirty="0">
                <a:solidFill>
                  <a:srgbClr val="333333"/>
                </a:solidFill>
                <a:latin typeface="BIZ UDPGothic"/>
                <a:ea typeface="BIZ UDPGothic"/>
              </a:rPr>
              <a:t>idを識別子として除外し
説明変数に含めない</a:t>
            </a:r>
          </a:p>
        </p:txBody>
      </p:sp>
    </p:spTree>
    <p:extLst>
      <p:ext uri="{BB962C8B-B14F-4D97-AF65-F5344CB8AC3E}">
        <p14:creationId xmlns:p14="http://schemas.microsoft.com/office/powerpoint/2010/main" val="1756155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91440" tIns="45720" rIns="91440" bIns="45720" anchor="ctr"/>
          <a:lstStyle/>
          <a:p>
            <a:endParaRPr lang="ja-JP"/>
          </a:p>
        </p:txBody>
      </p:sp>
      <p:sp>
        <p:nvSpPr>
          <p:cNvPr id="11" name="S11"/>
          <p:cNvSpPr/>
          <p:nvPr/>
        </p:nvSpPr>
        <p:spPr>
          <a:xfrm>
            <a:off x="457200" y="137160"/>
            <a:ext cx="11277600" cy="548640"/>
          </a:xfrm>
          <a:prstGeom prst="rect">
            <a:avLst/>
          </a:prstGeom>
          <a:noFill/>
          <a:ln>
            <a:noFill/>
          </a:ln>
        </p:spPr>
        <p:txBody>
          <a:bodyPr wrap="square" lIns="91440" tIns="45720" rIns="91440" bIns="45720" anchor="ctr"/>
          <a:lstStyle/>
          <a:p>
            <a:pPr algn="l"/>
            <a:r>
              <a:rPr lang="ja-JP" sz="2400" b="1" dirty="0">
                <a:solidFill>
                  <a:srgbClr val="1A1A1A"/>
                </a:solidFill>
                <a:latin typeface="BIZ UDPGothic"/>
                <a:ea typeface="BIZ UDPGothic"/>
              </a:rPr>
              <a:t>4.2 前処理方針策定</a:t>
            </a:r>
          </a:p>
        </p:txBody>
      </p:sp>
      <p:sp>
        <p:nvSpPr>
          <p:cNvPr id="12" name="S12"/>
          <p:cNvSpPr/>
          <p:nvPr/>
        </p:nvSpPr>
        <p:spPr>
          <a:xfrm>
            <a:off x="457200" y="800000"/>
            <a:ext cx="11277600" cy="548640"/>
          </a:xfrm>
          <a:prstGeom prst="roundRect">
            <a:avLst>
              <a:gd name="adj" fmla="val 8000"/>
            </a:avLst>
          </a:prstGeom>
          <a:solidFill>
            <a:srgbClr val="F2F0ED"/>
          </a:solidFill>
          <a:ln w="12700">
            <a:solidFill>
              <a:srgbClr val="D0C8BE"/>
            </a:solidFill>
          </a:ln>
        </p:spPr>
        <p:txBody>
          <a:bodyPr wrap="square" lIns="91440" tIns="45720" rIns="91440" bIns="45720" anchor="ctr"/>
          <a:lstStyle/>
          <a:p>
            <a:pPr algn="l"/>
            <a:r>
              <a:rPr lang="ja-JP" sz="1500" b="1" dirty="0">
                <a:solidFill>
                  <a:srgbClr val="8B2500"/>
                </a:solidFill>
                <a:latin typeface="BIZ UDPGothic"/>
                <a:ea typeface="BIZ UDPGothic"/>
              </a:rPr>
              <a:t>方針：</a:t>
            </a:r>
            <a:r>
              <a:rPr lang="ja-JP" sz="1500" dirty="0">
                <a:solidFill>
                  <a:srgbClr val="333333"/>
                </a:solidFill>
                <a:latin typeface="BIZ UDPGothic"/>
                <a:ea typeface="BIZ UDPGothic"/>
              </a:rPr>
              <a:t>一律ではなく、財務指標の意味を損なわないことを重視し列単位に設計する</a:t>
            </a:r>
          </a:p>
        </p:txBody>
      </p:sp>
      <p:sp>
        <p:nvSpPr>
          <p:cNvPr id="20" name="S20"/>
          <p:cNvSpPr/>
          <p:nvPr/>
        </p:nvSpPr>
        <p:spPr>
          <a:xfrm>
            <a:off x="1280160" y="1554480"/>
            <a:ext cx="457200" cy="457200"/>
          </a:xfrm>
          <a:prstGeom prst="ellipse">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1</a:t>
            </a:r>
          </a:p>
        </p:txBody>
      </p:sp>
      <p:sp>
        <p:nvSpPr>
          <p:cNvPr id="21" name="S21"/>
          <p:cNvSpPr/>
          <p:nvPr/>
        </p:nvSpPr>
        <p:spPr>
          <a:xfrm>
            <a:off x="457200" y="2103120"/>
            <a:ext cx="2103120" cy="310896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600"/>
              </a:spcAft>
            </a:pPr>
            <a:r>
              <a:rPr lang="ja-JP" sz="1500" b="1" dirty="0">
                <a:solidFill>
                  <a:srgbClr val="1A1A1A"/>
                </a:solidFill>
                <a:latin typeface="BIZ UDPGothic"/>
                <a:ea typeface="BIZ UDPGothic"/>
              </a:rPr>
              <a:t>欠損補完
ルール策定</a:t>
            </a:r>
          </a:p>
          <a:p>
            <a:pPr algn="ctr">
              <a:lnSpc>
                <a:spcPts val="2000"/>
              </a:lnSpc>
            </a:pPr>
            <a:r>
              <a:rPr lang="ja-JP" sz="1300" dirty="0">
                <a:solidFill>
                  <a:srgbClr val="4A4A4A"/>
                </a:solidFill>
                <a:latin typeface="BIZ UDPGothic"/>
                <a:ea typeface="BIZ UDPGothic"/>
              </a:rPr>
              <a:t>列ごとの業務意味を考慮した
補完方法を策定する</a:t>
            </a:r>
          </a:p>
        </p:txBody>
      </p:sp>
      <p:sp>
        <p:nvSpPr>
          <p:cNvPr id="40" name="S40"/>
          <p:cNvSpPr/>
          <p:nvPr/>
        </p:nvSpPr>
        <p:spPr>
          <a:xfrm>
            <a:off x="2570320" y="3566160"/>
            <a:ext cx="117160" cy="182880"/>
          </a:xfrm>
          <a:prstGeom prst="rect">
            <a:avLst/>
          </a:prstGeom>
          <a:noFill/>
          <a:ln>
            <a:noFill/>
          </a:ln>
        </p:spPr>
        <p:txBody>
          <a:bodyPr wrap="square" lIns="91440" tIns="45720" rIns="91440" bIns="45720" anchor="ctr"/>
          <a:lstStyle/>
          <a:p>
            <a:pPr algn="ctr"/>
            <a:r>
              <a:rPr lang="en-US" sz="1600" b="1" dirty="0">
                <a:solidFill>
                  <a:srgbClr val="8B2500"/>
                </a:solidFill>
                <a:latin typeface="BIZ UDPGothic"/>
                <a:ea typeface="BIZ UDPGothic"/>
              </a:rPr>
              <a:t>▶</a:t>
            </a:r>
          </a:p>
        </p:txBody>
      </p:sp>
      <p:sp>
        <p:nvSpPr>
          <p:cNvPr id="22" name="S22"/>
          <p:cNvSpPr/>
          <p:nvPr/>
        </p:nvSpPr>
        <p:spPr>
          <a:xfrm>
            <a:off x="3520440" y="1554480"/>
            <a:ext cx="457200" cy="457200"/>
          </a:xfrm>
          <a:prstGeom prst="ellipse">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2</a:t>
            </a:r>
          </a:p>
        </p:txBody>
      </p:sp>
      <p:sp>
        <p:nvSpPr>
          <p:cNvPr id="23" name="S23"/>
          <p:cNvSpPr/>
          <p:nvPr/>
        </p:nvSpPr>
        <p:spPr>
          <a:xfrm>
            <a:off x="2697480" y="2103120"/>
            <a:ext cx="2103120" cy="310896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600"/>
              </a:spcAft>
            </a:pPr>
            <a:r>
              <a:rPr lang="ja-JP" sz="1500" b="1" dirty="0">
                <a:solidFill>
                  <a:srgbClr val="1A1A1A"/>
                </a:solidFill>
                <a:latin typeface="BIZ UDPGothic"/>
                <a:ea typeface="BIZ UDPGothic"/>
              </a:rPr>
              <a:t>外れ値処理
比較検討</a:t>
            </a:r>
          </a:p>
          <a:p>
            <a:pPr algn="ctr">
              <a:lnSpc>
                <a:spcPts val="2000"/>
              </a:lnSpc>
            </a:pPr>
            <a:r>
              <a:rPr lang="ja-JP" sz="1300" dirty="0">
                <a:solidFill>
                  <a:srgbClr val="4A4A4A"/>
                </a:solidFill>
                <a:latin typeface="BIZ UDPGothic"/>
                <a:ea typeface="BIZ UDPGothic"/>
              </a:rPr>
              <a:t>Winsorize、クリッピング等の
手法を比較検討する</a:t>
            </a:r>
          </a:p>
        </p:txBody>
      </p:sp>
      <p:sp>
        <p:nvSpPr>
          <p:cNvPr id="41" name="S41"/>
          <p:cNvSpPr/>
          <p:nvPr/>
        </p:nvSpPr>
        <p:spPr>
          <a:xfrm>
            <a:off x="4810600" y="3566160"/>
            <a:ext cx="117160" cy="182880"/>
          </a:xfrm>
          <a:prstGeom prst="rect">
            <a:avLst/>
          </a:prstGeom>
          <a:noFill/>
          <a:ln>
            <a:noFill/>
          </a:ln>
        </p:spPr>
        <p:txBody>
          <a:bodyPr wrap="square" lIns="91440" tIns="45720" rIns="91440" bIns="45720" anchor="ctr"/>
          <a:lstStyle/>
          <a:p>
            <a:pPr algn="ctr"/>
            <a:r>
              <a:rPr lang="en-US" sz="1600" b="1" dirty="0">
                <a:solidFill>
                  <a:srgbClr val="8B2500"/>
                </a:solidFill>
                <a:latin typeface="BIZ UDPGothic"/>
                <a:ea typeface="BIZ UDPGothic"/>
              </a:rPr>
              <a:t>▶</a:t>
            </a:r>
          </a:p>
        </p:txBody>
      </p:sp>
      <p:sp>
        <p:nvSpPr>
          <p:cNvPr id="24" name="S24"/>
          <p:cNvSpPr/>
          <p:nvPr/>
        </p:nvSpPr>
        <p:spPr>
          <a:xfrm>
            <a:off x="5760720" y="1554480"/>
            <a:ext cx="457200" cy="457200"/>
          </a:xfrm>
          <a:prstGeom prst="ellipse">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3</a:t>
            </a:r>
          </a:p>
        </p:txBody>
      </p:sp>
      <p:sp>
        <p:nvSpPr>
          <p:cNvPr id="25" name="S25"/>
          <p:cNvSpPr/>
          <p:nvPr/>
        </p:nvSpPr>
        <p:spPr>
          <a:xfrm>
            <a:off x="4937760" y="2103120"/>
            <a:ext cx="2103120" cy="310896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600"/>
              </a:spcAft>
            </a:pPr>
            <a:r>
              <a:rPr lang="ja-JP" sz="1500" b="1" dirty="0">
                <a:solidFill>
                  <a:srgbClr val="1A1A1A"/>
                </a:solidFill>
                <a:latin typeface="BIZ UDPGothic"/>
                <a:ea typeface="BIZ UDPGothic"/>
              </a:rPr>
              <a:t>モデル別
方針分離</a:t>
            </a:r>
          </a:p>
          <a:p>
            <a:pPr algn="ctr">
              <a:lnSpc>
                <a:spcPts val="2000"/>
              </a:lnSpc>
            </a:pPr>
            <a:r>
              <a:rPr lang="ja-JP" sz="1300" dirty="0">
                <a:solidFill>
                  <a:srgbClr val="4A4A4A"/>
                </a:solidFill>
                <a:latin typeface="BIZ UDPGothic"/>
                <a:ea typeface="BIZ UDPGothic"/>
              </a:rPr>
              <a:t>線形モデル向けと木系モデル
向けで前処理方針を分離する</a:t>
            </a:r>
          </a:p>
        </p:txBody>
      </p:sp>
      <p:sp>
        <p:nvSpPr>
          <p:cNvPr id="42" name="S42"/>
          <p:cNvSpPr/>
          <p:nvPr/>
        </p:nvSpPr>
        <p:spPr>
          <a:xfrm>
            <a:off x="7050880" y="3566160"/>
            <a:ext cx="117160" cy="182880"/>
          </a:xfrm>
          <a:prstGeom prst="rect">
            <a:avLst/>
          </a:prstGeom>
          <a:noFill/>
          <a:ln>
            <a:noFill/>
          </a:ln>
        </p:spPr>
        <p:txBody>
          <a:bodyPr wrap="square" lIns="91440" tIns="45720" rIns="91440" bIns="45720" anchor="ctr"/>
          <a:lstStyle/>
          <a:p>
            <a:pPr algn="ctr"/>
            <a:r>
              <a:rPr lang="en-US" sz="1600" b="1" dirty="0">
                <a:solidFill>
                  <a:srgbClr val="8B2500"/>
                </a:solidFill>
                <a:latin typeface="BIZ UDPGothic"/>
                <a:ea typeface="BIZ UDPGothic"/>
              </a:rPr>
              <a:t>▶</a:t>
            </a:r>
          </a:p>
        </p:txBody>
      </p:sp>
      <p:sp>
        <p:nvSpPr>
          <p:cNvPr id="26" name="S26"/>
          <p:cNvSpPr/>
          <p:nvPr/>
        </p:nvSpPr>
        <p:spPr>
          <a:xfrm>
            <a:off x="8001000" y="1554480"/>
            <a:ext cx="457200" cy="457200"/>
          </a:xfrm>
          <a:prstGeom prst="ellipse">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4</a:t>
            </a:r>
          </a:p>
        </p:txBody>
      </p:sp>
      <p:sp>
        <p:nvSpPr>
          <p:cNvPr id="27" name="S27"/>
          <p:cNvSpPr/>
          <p:nvPr/>
        </p:nvSpPr>
        <p:spPr>
          <a:xfrm>
            <a:off x="7178040" y="2103120"/>
            <a:ext cx="2103120" cy="310896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600"/>
              </a:spcAft>
            </a:pPr>
            <a:r>
              <a:rPr lang="ja-JP" sz="1500" b="1" dirty="0">
                <a:solidFill>
                  <a:srgbClr val="1A1A1A"/>
                </a:solidFill>
                <a:latin typeface="BIZ UDPGothic"/>
                <a:ea typeface="BIZ UDPGothic"/>
              </a:rPr>
              <a:t>高欠損列の
投入比較</a:t>
            </a:r>
          </a:p>
          <a:p>
            <a:pPr algn="ctr">
              <a:lnSpc>
                <a:spcPts val="2000"/>
              </a:lnSpc>
            </a:pPr>
            <a:r>
              <a:rPr lang="ja-JP" sz="1300" dirty="0">
                <a:solidFill>
                  <a:srgbClr val="4A4A4A"/>
                </a:solidFill>
                <a:latin typeface="BIZ UDPGothic"/>
                <a:ea typeface="BIZ UDPGothic"/>
              </a:rPr>
              <a:t>高欠損列の投入有無による
影響を比較評価する</a:t>
            </a:r>
          </a:p>
        </p:txBody>
      </p:sp>
      <p:sp>
        <p:nvSpPr>
          <p:cNvPr id="43" name="S43"/>
          <p:cNvSpPr/>
          <p:nvPr/>
        </p:nvSpPr>
        <p:spPr>
          <a:xfrm>
            <a:off x="9291160" y="3566160"/>
            <a:ext cx="117160" cy="182880"/>
          </a:xfrm>
          <a:prstGeom prst="rect">
            <a:avLst/>
          </a:prstGeom>
          <a:noFill/>
          <a:ln>
            <a:noFill/>
          </a:ln>
        </p:spPr>
        <p:txBody>
          <a:bodyPr wrap="square" lIns="91440" tIns="45720" rIns="91440" bIns="45720" anchor="ctr"/>
          <a:lstStyle/>
          <a:p>
            <a:pPr algn="ctr"/>
            <a:r>
              <a:rPr lang="en-US" sz="1600" b="1" dirty="0">
                <a:solidFill>
                  <a:srgbClr val="8B2500"/>
                </a:solidFill>
                <a:latin typeface="BIZ UDPGothic"/>
                <a:ea typeface="BIZ UDPGothic"/>
              </a:rPr>
              <a:t>▶</a:t>
            </a:r>
          </a:p>
        </p:txBody>
      </p:sp>
      <p:sp>
        <p:nvSpPr>
          <p:cNvPr id="28" name="S28"/>
          <p:cNvSpPr/>
          <p:nvPr/>
        </p:nvSpPr>
        <p:spPr>
          <a:xfrm>
            <a:off x="10241280" y="1554480"/>
            <a:ext cx="457200" cy="457200"/>
          </a:xfrm>
          <a:prstGeom prst="ellipse">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5</a:t>
            </a:r>
          </a:p>
        </p:txBody>
      </p:sp>
      <p:sp>
        <p:nvSpPr>
          <p:cNvPr id="29" name="S29"/>
          <p:cNvSpPr/>
          <p:nvPr/>
        </p:nvSpPr>
        <p:spPr>
          <a:xfrm>
            <a:off x="9418320" y="2103120"/>
            <a:ext cx="2103120" cy="310896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600"/>
              </a:spcAft>
            </a:pPr>
            <a:r>
              <a:rPr lang="ja-JP" sz="1500" b="1" dirty="0">
                <a:solidFill>
                  <a:srgbClr val="1A1A1A"/>
                </a:solidFill>
                <a:latin typeface="BIZ UDPGothic"/>
                <a:ea typeface="BIZ UDPGothic"/>
              </a:rPr>
              <a:t>再現性
条件固定</a:t>
            </a:r>
          </a:p>
          <a:p>
            <a:pPr algn="ctr">
              <a:lnSpc>
                <a:spcPts val="2000"/>
              </a:lnSpc>
            </a:pPr>
            <a:r>
              <a:rPr lang="ja-JP" sz="1300" dirty="0">
                <a:solidFill>
                  <a:srgbClr val="4A4A4A"/>
                </a:solidFill>
                <a:latin typeface="BIZ UDPGothic"/>
                <a:ea typeface="BIZ UDPGothic"/>
              </a:rPr>
              <a:t>前処理条件・評価条件を
固定化し再現性を確保する</a:t>
            </a:r>
          </a:p>
        </p:txBody>
      </p:sp>
    </p:spTree>
    <p:extLst>
      <p:ext uri="{BB962C8B-B14F-4D97-AF65-F5344CB8AC3E}">
        <p14:creationId xmlns:p14="http://schemas.microsoft.com/office/powerpoint/2010/main" val="525049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91440" tIns="45720" rIns="91440" bIns="45720" anchor="ctr"/>
          <a:lstStyle/>
          <a:p>
            <a:endParaRPr lang="ja-JP"/>
          </a:p>
        </p:txBody>
      </p:sp>
      <p:sp>
        <p:nvSpPr>
          <p:cNvPr id="11" name="S11"/>
          <p:cNvSpPr/>
          <p:nvPr/>
        </p:nvSpPr>
        <p:spPr>
          <a:xfrm>
            <a:off x="457200" y="137160"/>
            <a:ext cx="11277600" cy="548640"/>
          </a:xfrm>
          <a:prstGeom prst="rect">
            <a:avLst/>
          </a:prstGeom>
          <a:noFill/>
          <a:ln>
            <a:noFill/>
          </a:ln>
        </p:spPr>
        <p:txBody>
          <a:bodyPr wrap="square" lIns="91440" tIns="45720" rIns="91440" bIns="45720" anchor="ctr"/>
          <a:lstStyle/>
          <a:p>
            <a:pPr algn="l"/>
            <a:r>
              <a:rPr lang="ja-JP" sz="2400" b="1" dirty="0">
                <a:solidFill>
                  <a:srgbClr val="1A1A1A"/>
                </a:solidFill>
                <a:latin typeface="BIZ UDPGothic"/>
                <a:ea typeface="BIZ UDPGothic"/>
              </a:rPr>
              <a:t>4.3 モデル比較</a:t>
            </a:r>
          </a:p>
        </p:txBody>
      </p:sp>
      <p:sp>
        <p:nvSpPr>
          <p:cNvPr id="12" name="S12"/>
          <p:cNvSpPr/>
          <p:nvPr/>
        </p:nvSpPr>
        <p:spPr>
          <a:xfrm>
            <a:off x="457200" y="800000"/>
            <a:ext cx="11277600" cy="457200"/>
          </a:xfrm>
          <a:prstGeom prst="roundRect">
            <a:avLst>
              <a:gd name="adj" fmla="val 8000"/>
            </a:avLst>
          </a:prstGeom>
          <a:solidFill>
            <a:srgbClr val="F2F0ED"/>
          </a:solidFill>
          <a:ln w="12700">
            <a:solidFill>
              <a:srgbClr val="D0C8BE"/>
            </a:solidFill>
          </a:ln>
        </p:spPr>
        <p:txBody>
          <a:bodyPr wrap="square" lIns="91440" tIns="45720" rIns="91440" bIns="45720" anchor="ctr"/>
          <a:lstStyle/>
          <a:p>
            <a:pPr algn="l"/>
            <a:r>
              <a:rPr lang="ja-JP" sz="1500" b="1" dirty="0">
                <a:solidFill>
                  <a:srgbClr val="8B2500"/>
                </a:solidFill>
                <a:latin typeface="BIZ UDPGothic"/>
                <a:ea typeface="BIZ UDPGothic"/>
              </a:rPr>
              <a:t>方針：</a:t>
            </a:r>
            <a:r>
              <a:rPr lang="ja-JP" sz="1500" dirty="0">
                <a:solidFill>
                  <a:srgbClr val="333333"/>
                </a:solidFill>
                <a:latin typeface="BIZ UDPGothic"/>
                <a:ea typeface="BIZ UDPGothic"/>
              </a:rPr>
              <a:t>説明可能性を重視し、ブラックボックスモデルへの過度な依存を避けつつ比較する</a:t>
            </a:r>
          </a:p>
        </p:txBody>
      </p:sp>
      <p:sp>
        <p:nvSpPr>
          <p:cNvPr id="20" name="S20"/>
          <p:cNvSpPr/>
          <p:nvPr/>
        </p:nvSpPr>
        <p:spPr>
          <a:xfrm>
            <a:off x="457200" y="1462080"/>
            <a:ext cx="548640" cy="685800"/>
          </a:xfrm>
          <a:prstGeom prst="rect">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1</a:t>
            </a:r>
          </a:p>
        </p:txBody>
      </p:sp>
      <p:sp>
        <p:nvSpPr>
          <p:cNvPr id="21" name="S21"/>
          <p:cNvSpPr/>
          <p:nvPr/>
        </p:nvSpPr>
        <p:spPr>
          <a:xfrm>
            <a:off x="1005840" y="1462080"/>
            <a:ext cx="5303520" cy="685800"/>
          </a:xfrm>
          <a:prstGeom prst="rect">
            <a:avLst/>
          </a:prstGeom>
          <a:solidFill>
            <a:srgbClr val="F7F5F2"/>
          </a:solidFill>
          <a:ln w="12700">
            <a:solidFill>
              <a:srgbClr val="E0DBD4"/>
            </a:solidFill>
          </a:ln>
        </p:spPr>
        <p:txBody>
          <a:bodyPr wrap="square" lIns="91440" tIns="45720" rIns="91440" bIns="45720" anchor="ctr"/>
          <a:lstStyle/>
          <a:p>
            <a:pPr algn="l"/>
            <a:r>
              <a:rPr lang="ja-JP" sz="1400" dirty="0">
                <a:solidFill>
                  <a:srgbClr val="333333"/>
                </a:solidFill>
                <a:latin typeface="BIZ UDPGothic"/>
                <a:ea typeface="BIZ UDPGothic"/>
              </a:rPr>
              <a:t>ベースラインモデルの構築</a:t>
            </a:r>
          </a:p>
        </p:txBody>
      </p:sp>
      <p:sp>
        <p:nvSpPr>
          <p:cNvPr id="22" name="S22"/>
          <p:cNvSpPr/>
          <p:nvPr/>
        </p:nvSpPr>
        <p:spPr>
          <a:xfrm>
            <a:off x="457200" y="2239320"/>
            <a:ext cx="548640" cy="685800"/>
          </a:xfrm>
          <a:prstGeom prst="rect">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2</a:t>
            </a:r>
          </a:p>
        </p:txBody>
      </p:sp>
      <p:sp>
        <p:nvSpPr>
          <p:cNvPr id="23" name="S23"/>
          <p:cNvSpPr/>
          <p:nvPr/>
        </p:nvSpPr>
        <p:spPr>
          <a:xfrm>
            <a:off x="1005840" y="2239320"/>
            <a:ext cx="5303520" cy="685800"/>
          </a:xfrm>
          <a:prstGeom prst="rect">
            <a:avLst/>
          </a:prstGeom>
          <a:solidFill>
            <a:srgbClr val="F7F5F2"/>
          </a:solidFill>
          <a:ln w="12700">
            <a:solidFill>
              <a:srgbClr val="E0DBD4"/>
            </a:solidFill>
          </a:ln>
        </p:spPr>
        <p:txBody>
          <a:bodyPr wrap="square" lIns="91440" tIns="45720" rIns="91440" bIns="45720" anchor="ctr"/>
          <a:lstStyle/>
          <a:p>
            <a:pPr algn="l"/>
            <a:r>
              <a:rPr lang="ja-JP" sz="1400" dirty="0">
                <a:solidFill>
                  <a:srgbClr val="333333"/>
                </a:solidFill>
                <a:latin typeface="BIZ UDPGothic"/>
                <a:ea typeface="BIZ UDPGothic"/>
              </a:rPr>
              <a:t>説明可能な複数モデル候補の比較</a:t>
            </a:r>
          </a:p>
        </p:txBody>
      </p:sp>
      <p:sp>
        <p:nvSpPr>
          <p:cNvPr id="24" name="S24"/>
          <p:cNvSpPr/>
          <p:nvPr/>
        </p:nvSpPr>
        <p:spPr>
          <a:xfrm>
            <a:off x="457200" y="3016560"/>
            <a:ext cx="548640" cy="685800"/>
          </a:xfrm>
          <a:prstGeom prst="rect">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3</a:t>
            </a:r>
          </a:p>
        </p:txBody>
      </p:sp>
      <p:sp>
        <p:nvSpPr>
          <p:cNvPr id="25" name="S25"/>
          <p:cNvSpPr/>
          <p:nvPr/>
        </p:nvSpPr>
        <p:spPr>
          <a:xfrm>
            <a:off x="1005840" y="3016560"/>
            <a:ext cx="5303520" cy="685800"/>
          </a:xfrm>
          <a:prstGeom prst="rect">
            <a:avLst/>
          </a:prstGeom>
          <a:solidFill>
            <a:srgbClr val="F7F5F2"/>
          </a:solidFill>
          <a:ln w="12700">
            <a:solidFill>
              <a:srgbClr val="E0DBD4"/>
            </a:solidFill>
          </a:ln>
        </p:spPr>
        <p:txBody>
          <a:bodyPr wrap="square" lIns="91440" tIns="45720" rIns="91440" bIns="45720" anchor="ctr"/>
          <a:lstStyle/>
          <a:p>
            <a:pPr algn="l"/>
            <a:r>
              <a:rPr lang="ja-JP" sz="1400" dirty="0">
                <a:solidFill>
                  <a:srgbClr val="333333"/>
                </a:solidFill>
                <a:latin typeface="BIZ UDPGothic"/>
                <a:ea typeface="BIZ UDPGothic"/>
              </a:rPr>
              <a:t>不均衡対応手法の比較</a:t>
            </a:r>
          </a:p>
        </p:txBody>
      </p:sp>
      <p:sp>
        <p:nvSpPr>
          <p:cNvPr id="26" name="S26"/>
          <p:cNvSpPr/>
          <p:nvPr/>
        </p:nvSpPr>
        <p:spPr>
          <a:xfrm>
            <a:off x="457200" y="3793800"/>
            <a:ext cx="548640" cy="685800"/>
          </a:xfrm>
          <a:prstGeom prst="rect">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4</a:t>
            </a:r>
          </a:p>
        </p:txBody>
      </p:sp>
      <p:sp>
        <p:nvSpPr>
          <p:cNvPr id="27" name="S27"/>
          <p:cNvSpPr/>
          <p:nvPr/>
        </p:nvSpPr>
        <p:spPr>
          <a:xfrm>
            <a:off x="1005840" y="3793800"/>
            <a:ext cx="5303520" cy="685800"/>
          </a:xfrm>
          <a:prstGeom prst="rect">
            <a:avLst/>
          </a:prstGeom>
          <a:solidFill>
            <a:srgbClr val="F7F5F2"/>
          </a:solidFill>
          <a:ln w="12700">
            <a:solidFill>
              <a:srgbClr val="E0DBD4"/>
            </a:solidFill>
          </a:ln>
        </p:spPr>
        <p:txBody>
          <a:bodyPr wrap="square" lIns="91440" tIns="45720" rIns="91440" bIns="45720" anchor="ctr"/>
          <a:lstStyle/>
          <a:p>
            <a:pPr algn="l"/>
            <a:r>
              <a:rPr lang="ja-JP" sz="1400" dirty="0">
                <a:solidFill>
                  <a:srgbClr val="333333"/>
                </a:solidFill>
                <a:latin typeface="BIZ UDPGothic"/>
                <a:ea typeface="BIZ UDPGothic"/>
              </a:rPr>
              <a:t>しきい値別の再現率・適合率・リフトの確認</a:t>
            </a:r>
          </a:p>
        </p:txBody>
      </p:sp>
      <p:sp>
        <p:nvSpPr>
          <p:cNvPr id="28" name="S28"/>
          <p:cNvSpPr/>
          <p:nvPr/>
        </p:nvSpPr>
        <p:spPr>
          <a:xfrm>
            <a:off x="457200" y="4571040"/>
            <a:ext cx="548640" cy="685800"/>
          </a:xfrm>
          <a:prstGeom prst="rect">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5</a:t>
            </a:r>
          </a:p>
        </p:txBody>
      </p:sp>
      <p:sp>
        <p:nvSpPr>
          <p:cNvPr id="29" name="S29"/>
          <p:cNvSpPr/>
          <p:nvPr/>
        </p:nvSpPr>
        <p:spPr>
          <a:xfrm>
            <a:off x="1005840" y="4571040"/>
            <a:ext cx="5303520" cy="685800"/>
          </a:xfrm>
          <a:prstGeom prst="rect">
            <a:avLst/>
          </a:prstGeom>
          <a:solidFill>
            <a:srgbClr val="F7F5F2"/>
          </a:solidFill>
          <a:ln w="12700">
            <a:solidFill>
              <a:srgbClr val="E0DBD4"/>
            </a:solidFill>
          </a:ln>
        </p:spPr>
        <p:txBody>
          <a:bodyPr wrap="square" lIns="91440" tIns="45720" rIns="91440" bIns="45720" anchor="ctr"/>
          <a:lstStyle/>
          <a:p>
            <a:pPr algn="l"/>
            <a:r>
              <a:rPr lang="ja-JP" sz="1400" dirty="0">
                <a:solidFill>
                  <a:srgbClr val="333333"/>
                </a:solidFill>
                <a:latin typeface="BIZ UDPGothic"/>
                <a:ea typeface="BIZ UDPGothic"/>
              </a:rPr>
              <a:t>ROC-AUC、再現率、上位10%集中度による評価</a:t>
            </a:r>
          </a:p>
        </p:txBody>
      </p:sp>
      <p:sp>
        <p:nvSpPr>
          <p:cNvPr id="40" name="S40"/>
          <p:cNvSpPr/>
          <p:nvPr/>
        </p:nvSpPr>
        <p:spPr>
          <a:xfrm>
            <a:off x="6583680" y="1462080"/>
            <a:ext cx="5151120" cy="5394960"/>
          </a:xfrm>
          <a:prstGeom prst="roundRect">
            <a:avLst>
              <a:gd name="adj" fmla="val 8000"/>
            </a:avLst>
          </a:prstGeom>
          <a:noFill/>
          <a:ln w="12700">
            <a:solidFill>
              <a:srgbClr val="8B2500"/>
            </a:solidFill>
          </a:ln>
        </p:spPr>
        <p:txBody>
          <a:bodyPr wrap="square" lIns="91440" tIns="45720" rIns="91440" bIns="45720" anchor="t"/>
          <a:lstStyle/>
          <a:p>
            <a:pPr algn="ctr">
              <a:spcAft>
                <a:spcPts val="600"/>
              </a:spcAft>
            </a:pPr>
            <a:r>
              <a:rPr lang="ja-JP" sz="1600" b="1" dirty="0">
                <a:solidFill>
                  <a:srgbClr val="8B2500"/>
                </a:solidFill>
                <a:latin typeface="BIZ UDPGothic"/>
                <a:ea typeface="BIZ UDPGothic"/>
              </a:rPr>
              <a:t>主要評価指標</a:t>
            </a:r>
          </a:p>
        </p:txBody>
      </p:sp>
      <p:sp>
        <p:nvSpPr>
          <p:cNvPr id="50" name="S50"/>
          <p:cNvSpPr/>
          <p:nvPr/>
        </p:nvSpPr>
        <p:spPr>
          <a:xfrm>
            <a:off x="6858000" y="2103120"/>
            <a:ext cx="4602480" cy="114300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200"/>
              </a:spcAft>
            </a:pPr>
            <a:r>
              <a:rPr lang="ja-JP" sz="1800" b="1" dirty="0">
                <a:solidFill>
                  <a:srgbClr val="1A1A1A"/>
                </a:solidFill>
                <a:latin typeface="BIZ UDPGothic"/>
                <a:ea typeface="BIZ UDPGothic"/>
              </a:rPr>
              <a:t>ROC-AUC</a:t>
            </a:r>
          </a:p>
          <a:p>
            <a:pPr algn="ctr"/>
            <a:r>
              <a:rPr lang="ja-JP" sz="1400" dirty="0">
                <a:solidFill>
                  <a:srgbClr val="4A4A4A"/>
                </a:solidFill>
                <a:latin typeface="BIZ UDPGothic"/>
                <a:ea typeface="BIZ UDPGothic"/>
              </a:rPr>
              <a:t>全体の識別性能</a:t>
            </a:r>
          </a:p>
        </p:txBody>
      </p:sp>
      <p:sp>
        <p:nvSpPr>
          <p:cNvPr id="51" name="S51"/>
          <p:cNvSpPr/>
          <p:nvPr/>
        </p:nvSpPr>
        <p:spPr>
          <a:xfrm>
            <a:off x="6858000" y="3337560"/>
            <a:ext cx="4602480" cy="114300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200"/>
              </a:spcAft>
            </a:pPr>
            <a:r>
              <a:rPr lang="ja-JP" sz="1800" b="1" dirty="0">
                <a:solidFill>
                  <a:srgbClr val="1A1A1A"/>
                </a:solidFill>
                <a:latin typeface="BIZ UDPGothic"/>
                <a:ea typeface="BIZ UDPGothic"/>
              </a:rPr>
              <a:t>再現率</a:t>
            </a:r>
          </a:p>
          <a:p>
            <a:pPr algn="ctr"/>
            <a:r>
              <a:rPr lang="ja-JP" sz="1400" dirty="0">
                <a:solidFill>
                  <a:srgbClr val="4A4A4A"/>
                </a:solidFill>
                <a:latin typeface="BIZ UDPGothic"/>
                <a:ea typeface="BIZ UDPGothic"/>
              </a:rPr>
              <a:t>倒産企業の検出力</a:t>
            </a:r>
          </a:p>
        </p:txBody>
      </p:sp>
      <p:sp>
        <p:nvSpPr>
          <p:cNvPr id="52" name="S52"/>
          <p:cNvSpPr/>
          <p:nvPr/>
        </p:nvSpPr>
        <p:spPr>
          <a:xfrm>
            <a:off x="6858000" y="4572000"/>
            <a:ext cx="4602480" cy="114300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200"/>
              </a:spcAft>
            </a:pPr>
            <a:r>
              <a:rPr lang="ja-JP" sz="1800" b="1" dirty="0">
                <a:solidFill>
                  <a:srgbClr val="1A1A1A"/>
                </a:solidFill>
                <a:latin typeface="BIZ UDPGothic"/>
                <a:ea typeface="BIZ UDPGothic"/>
              </a:rPr>
              <a:t>上位10%集中度</a:t>
            </a:r>
          </a:p>
          <a:p>
            <a:pPr algn="ctr"/>
            <a:r>
              <a:rPr lang="ja-JP" sz="1400" dirty="0">
                <a:solidFill>
                  <a:srgbClr val="4A4A4A"/>
                </a:solidFill>
                <a:latin typeface="BIZ UDPGothic"/>
                <a:ea typeface="BIZ UDPGothic"/>
              </a:rPr>
              <a:t>リスクセグメントの有効性</a:t>
            </a:r>
          </a:p>
        </p:txBody>
      </p:sp>
    </p:spTree>
    <p:extLst>
      <p:ext uri="{BB962C8B-B14F-4D97-AF65-F5344CB8AC3E}">
        <p14:creationId xmlns:p14="http://schemas.microsoft.com/office/powerpoint/2010/main" val="2890297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91440" tIns="45720" rIns="91440" bIns="45720" anchor="ctr"/>
          <a:lstStyle/>
          <a:p>
            <a:endParaRPr lang="ja-JP"/>
          </a:p>
        </p:txBody>
      </p:sp>
      <p:sp>
        <p:nvSpPr>
          <p:cNvPr id="11" name="S11"/>
          <p:cNvSpPr/>
          <p:nvPr/>
        </p:nvSpPr>
        <p:spPr>
          <a:xfrm>
            <a:off x="457200" y="137160"/>
            <a:ext cx="11277600" cy="548640"/>
          </a:xfrm>
          <a:prstGeom prst="rect">
            <a:avLst/>
          </a:prstGeom>
          <a:noFill/>
          <a:ln>
            <a:noFill/>
          </a:ln>
        </p:spPr>
        <p:txBody>
          <a:bodyPr wrap="square" lIns="91440" tIns="45720" rIns="91440" bIns="45720" anchor="ctr"/>
          <a:lstStyle/>
          <a:p>
            <a:pPr algn="l"/>
            <a:r>
              <a:rPr lang="ja-JP" sz="2400" b="1" dirty="0">
                <a:solidFill>
                  <a:srgbClr val="1A1A1A"/>
                </a:solidFill>
                <a:latin typeface="BIZ UDPGothic"/>
                <a:ea typeface="BIZ UDPGothic"/>
              </a:rPr>
              <a:t>4.4 リスクセグメンテーションと業務示唆整理</a:t>
            </a:r>
          </a:p>
        </p:txBody>
      </p:sp>
      <p:sp>
        <p:nvSpPr>
          <p:cNvPr id="12" name="S12"/>
          <p:cNvSpPr/>
          <p:nvPr/>
        </p:nvSpPr>
        <p:spPr>
          <a:xfrm>
            <a:off x="457200" y="800000"/>
            <a:ext cx="11277600" cy="457200"/>
          </a:xfrm>
          <a:prstGeom prst="roundRect">
            <a:avLst>
              <a:gd name="adj" fmla="val 8000"/>
            </a:avLst>
          </a:prstGeom>
          <a:solidFill>
            <a:srgbClr val="F2F0ED"/>
          </a:solidFill>
          <a:ln w="12700">
            <a:solidFill>
              <a:srgbClr val="D0C8BE"/>
            </a:solidFill>
          </a:ln>
        </p:spPr>
        <p:txBody>
          <a:bodyPr wrap="square" lIns="91440" tIns="45720" rIns="91440" bIns="45720" anchor="ctr"/>
          <a:lstStyle/>
          <a:p>
            <a:pPr algn="l"/>
            <a:r>
              <a:rPr lang="ja-JP" sz="1500" b="1" dirty="0">
                <a:solidFill>
                  <a:srgbClr val="8B2500"/>
                </a:solidFill>
                <a:latin typeface="BIZ UDPGothic"/>
                <a:ea typeface="BIZ UDPGothic"/>
              </a:rPr>
              <a:t>方針：</a:t>
            </a:r>
            <a:r>
              <a:rPr lang="ja-JP" sz="1500" dirty="0">
                <a:solidFill>
                  <a:srgbClr val="333333"/>
                </a:solidFill>
                <a:latin typeface="BIZ UDPGothic"/>
                <a:ea typeface="BIZ UDPGothic"/>
              </a:rPr>
              <a:t>モデル精度のみで終わらせず、審査で活用できる示唆に落とし込む</a:t>
            </a:r>
          </a:p>
        </p:txBody>
      </p:sp>
      <p:sp>
        <p:nvSpPr>
          <p:cNvPr id="20" name="S20"/>
          <p:cNvSpPr/>
          <p:nvPr/>
        </p:nvSpPr>
        <p:spPr>
          <a:xfrm>
            <a:off x="457200" y="1462080"/>
            <a:ext cx="2103120" cy="91440"/>
          </a:xfrm>
          <a:prstGeom prst="rect">
            <a:avLst/>
          </a:prstGeom>
          <a:solidFill>
            <a:srgbClr val="8B2500"/>
          </a:solidFill>
          <a:ln>
            <a:noFill/>
          </a:ln>
        </p:spPr>
        <p:txBody>
          <a:bodyPr wrap="square" lIns="91440" tIns="45720" rIns="91440" bIns="45720" anchor="ctr"/>
          <a:lstStyle/>
          <a:p>
            <a:endParaRPr lang="ja-JP"/>
          </a:p>
        </p:txBody>
      </p:sp>
      <p:sp>
        <p:nvSpPr>
          <p:cNvPr id="21" name="S21"/>
          <p:cNvSpPr/>
          <p:nvPr/>
        </p:nvSpPr>
        <p:spPr>
          <a:xfrm>
            <a:off x="457200" y="1553520"/>
            <a:ext cx="2103120" cy="310896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600"/>
              </a:spcAft>
            </a:pPr>
            <a:r>
              <a:rPr lang="ja-JP" sz="1500" b="1" dirty="0">
                <a:solidFill>
                  <a:srgbClr val="1A1A1A"/>
                </a:solidFill>
                <a:latin typeface="BIZ UDPGothic"/>
                <a:ea typeface="BIZ UDPGothic"/>
              </a:rPr>
              <a:t>高リスクセグメントの抽出</a:t>
            </a:r>
          </a:p>
          <a:p>
            <a:pPr algn="ctr">
              <a:lnSpc>
                <a:spcPts val="2000"/>
              </a:lnSpc>
            </a:pPr>
            <a:r>
              <a:rPr lang="ja-JP" sz="1300" dirty="0">
                <a:solidFill>
                  <a:srgbClr val="4A4A4A"/>
                </a:solidFill>
                <a:latin typeface="BIZ UDPGothic"/>
                <a:ea typeface="BIZ UDPGothic"/>
              </a:rPr>
              <a:t>モデルスコアに基づき
倒産リスクの高い
企業群を特定する</a:t>
            </a:r>
          </a:p>
        </p:txBody>
      </p:sp>
      <p:sp>
        <p:nvSpPr>
          <p:cNvPr id="22" name="S22"/>
          <p:cNvSpPr/>
          <p:nvPr/>
        </p:nvSpPr>
        <p:spPr>
          <a:xfrm>
            <a:off x="2697480" y="1462080"/>
            <a:ext cx="2103120" cy="91440"/>
          </a:xfrm>
          <a:prstGeom prst="rect">
            <a:avLst/>
          </a:prstGeom>
          <a:solidFill>
            <a:srgbClr val="A03520"/>
          </a:solidFill>
          <a:ln>
            <a:noFill/>
          </a:ln>
        </p:spPr>
        <p:txBody>
          <a:bodyPr wrap="square" lIns="91440" tIns="45720" rIns="91440" bIns="45720" anchor="ctr"/>
          <a:lstStyle/>
          <a:p>
            <a:endParaRPr lang="ja-JP"/>
          </a:p>
        </p:txBody>
      </p:sp>
      <p:sp>
        <p:nvSpPr>
          <p:cNvPr id="23" name="S23"/>
          <p:cNvSpPr/>
          <p:nvPr/>
        </p:nvSpPr>
        <p:spPr>
          <a:xfrm>
            <a:off x="2697480" y="1553520"/>
            <a:ext cx="2103120" cy="310896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600"/>
              </a:spcAft>
            </a:pPr>
            <a:r>
              <a:rPr lang="ja-JP" sz="1500" b="1" dirty="0">
                <a:solidFill>
                  <a:srgbClr val="1A1A1A"/>
                </a:solidFill>
                <a:latin typeface="BIZ UDPGothic"/>
                <a:ea typeface="BIZ UDPGothic"/>
              </a:rPr>
              <a:t>重要変数の把握</a:t>
            </a:r>
          </a:p>
          <a:p>
            <a:pPr algn="ctr">
              <a:lnSpc>
                <a:spcPts val="2000"/>
              </a:lnSpc>
            </a:pPr>
            <a:r>
              <a:rPr lang="ja-JP" sz="1300" dirty="0">
                <a:solidFill>
                  <a:srgbClr val="4A4A4A"/>
                </a:solidFill>
                <a:latin typeface="BIZ UDPGothic"/>
                <a:ea typeface="BIZ UDPGothic"/>
              </a:rPr>
              <a:t>倒産予測に寄与する
主要財務指標を
明確化する</a:t>
            </a:r>
          </a:p>
        </p:txBody>
      </p:sp>
      <p:sp>
        <p:nvSpPr>
          <p:cNvPr id="24" name="S24"/>
          <p:cNvSpPr/>
          <p:nvPr/>
        </p:nvSpPr>
        <p:spPr>
          <a:xfrm>
            <a:off x="4937760" y="1462080"/>
            <a:ext cx="2103120" cy="91440"/>
          </a:xfrm>
          <a:prstGeom prst="rect">
            <a:avLst/>
          </a:prstGeom>
          <a:solidFill>
            <a:srgbClr val="B04A35"/>
          </a:solidFill>
          <a:ln>
            <a:noFill/>
          </a:ln>
        </p:spPr>
        <p:txBody>
          <a:bodyPr wrap="square" lIns="91440" tIns="45720" rIns="91440" bIns="45720" anchor="ctr"/>
          <a:lstStyle/>
          <a:p>
            <a:endParaRPr lang="ja-JP"/>
          </a:p>
        </p:txBody>
      </p:sp>
      <p:sp>
        <p:nvSpPr>
          <p:cNvPr id="25" name="S25"/>
          <p:cNvSpPr/>
          <p:nvPr/>
        </p:nvSpPr>
        <p:spPr>
          <a:xfrm>
            <a:off x="4937760" y="1553520"/>
            <a:ext cx="2103120" cy="310896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600"/>
              </a:spcAft>
            </a:pPr>
            <a:r>
              <a:rPr lang="ja-JP" sz="1500" b="1" dirty="0">
                <a:solidFill>
                  <a:srgbClr val="1A1A1A"/>
                </a:solidFill>
                <a:latin typeface="BIZ UDPGothic"/>
                <a:ea typeface="BIZ UDPGothic"/>
              </a:rPr>
              <a:t>財務悪化パターン整理</a:t>
            </a:r>
          </a:p>
          <a:p>
            <a:pPr algn="ctr">
              <a:lnSpc>
                <a:spcPts val="2000"/>
              </a:lnSpc>
            </a:pPr>
            <a:r>
              <a:rPr lang="ja-JP" sz="1300" dirty="0">
                <a:solidFill>
                  <a:srgbClr val="4A4A4A"/>
                </a:solidFill>
                <a:latin typeface="BIZ UDPGothic"/>
                <a:ea typeface="BIZ UDPGothic"/>
              </a:rPr>
              <a:t>倒産兆候となる
典型的な財務悪化
パターンを整理する</a:t>
            </a:r>
          </a:p>
        </p:txBody>
      </p:sp>
      <p:sp>
        <p:nvSpPr>
          <p:cNvPr id="26" name="S26"/>
          <p:cNvSpPr/>
          <p:nvPr/>
        </p:nvSpPr>
        <p:spPr>
          <a:xfrm>
            <a:off x="7178040" y="1462080"/>
            <a:ext cx="2103120" cy="91440"/>
          </a:xfrm>
          <a:prstGeom prst="rect">
            <a:avLst/>
          </a:prstGeom>
          <a:solidFill>
            <a:srgbClr val="C05F4A"/>
          </a:solidFill>
          <a:ln>
            <a:noFill/>
          </a:ln>
        </p:spPr>
        <p:txBody>
          <a:bodyPr wrap="square" lIns="91440" tIns="45720" rIns="91440" bIns="45720" anchor="ctr"/>
          <a:lstStyle/>
          <a:p>
            <a:endParaRPr lang="ja-JP"/>
          </a:p>
        </p:txBody>
      </p:sp>
      <p:sp>
        <p:nvSpPr>
          <p:cNvPr id="27" name="S27"/>
          <p:cNvSpPr/>
          <p:nvPr/>
        </p:nvSpPr>
        <p:spPr>
          <a:xfrm>
            <a:off x="7178040" y="1553520"/>
            <a:ext cx="2103120" cy="310896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600"/>
              </a:spcAft>
            </a:pPr>
            <a:r>
              <a:rPr lang="ja-JP" sz="1500" b="1" dirty="0">
                <a:solidFill>
                  <a:srgbClr val="1A1A1A"/>
                </a:solidFill>
                <a:latin typeface="BIZ UDPGothic"/>
                <a:ea typeface="BIZ UDPGothic"/>
              </a:rPr>
              <a:t>審査上の優先確認観点</a:t>
            </a:r>
          </a:p>
          <a:p>
            <a:pPr algn="ctr">
              <a:lnSpc>
                <a:spcPts val="2000"/>
              </a:lnSpc>
            </a:pPr>
            <a:r>
              <a:rPr lang="ja-JP" sz="1300" dirty="0">
                <a:solidFill>
                  <a:srgbClr val="4A4A4A"/>
                </a:solidFill>
                <a:latin typeface="BIZ UDPGothic"/>
                <a:ea typeface="BIZ UDPGothic"/>
              </a:rPr>
              <a:t>審査担当者が優先的に
確認すべき観点を
明文化する</a:t>
            </a:r>
          </a:p>
        </p:txBody>
      </p:sp>
      <p:sp>
        <p:nvSpPr>
          <p:cNvPr id="28" name="S28"/>
          <p:cNvSpPr/>
          <p:nvPr/>
        </p:nvSpPr>
        <p:spPr>
          <a:xfrm>
            <a:off x="9418320" y="1462080"/>
            <a:ext cx="2103120" cy="91440"/>
          </a:xfrm>
          <a:prstGeom prst="rect">
            <a:avLst/>
          </a:prstGeom>
          <a:solidFill>
            <a:srgbClr val="4A4A4A"/>
          </a:solidFill>
          <a:ln>
            <a:noFill/>
          </a:ln>
        </p:spPr>
        <p:txBody>
          <a:bodyPr wrap="square" lIns="91440" tIns="45720" rIns="91440" bIns="45720" anchor="ctr"/>
          <a:lstStyle/>
          <a:p>
            <a:endParaRPr lang="ja-JP"/>
          </a:p>
        </p:txBody>
      </p:sp>
      <p:sp>
        <p:nvSpPr>
          <p:cNvPr id="29" name="S29"/>
          <p:cNvSpPr/>
          <p:nvPr/>
        </p:nvSpPr>
        <p:spPr>
          <a:xfrm>
            <a:off x="9418320" y="1553520"/>
            <a:ext cx="2103120" cy="310896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600"/>
              </a:spcAft>
            </a:pPr>
            <a:r>
              <a:rPr lang="ja-JP" sz="1500" b="1" dirty="0">
                <a:solidFill>
                  <a:srgbClr val="1A1A1A"/>
                </a:solidFill>
                <a:latin typeface="BIZ UDPGothic"/>
                <a:ea typeface="BIZ UDPGothic"/>
              </a:rPr>
              <a:t>スコア出力方針</a:t>
            </a:r>
          </a:p>
          <a:p>
            <a:pPr algn="ctr">
              <a:lnSpc>
                <a:spcPts val="2000"/>
              </a:lnSpc>
            </a:pPr>
            <a:r>
              <a:rPr lang="ja-JP" sz="1300" dirty="0">
                <a:solidFill>
                  <a:srgbClr val="4A4A4A"/>
                </a:solidFill>
                <a:latin typeface="BIZ UDPGothic"/>
                <a:ea typeface="BIZ UDPGothic"/>
              </a:rPr>
              <a:t>将来のExpected Loss
接続を意識した
スコア出力方針を整理する</a:t>
            </a:r>
          </a:p>
        </p:txBody>
      </p:sp>
    </p:spTree>
    <p:extLst>
      <p:ext uri="{BB962C8B-B14F-4D97-AF65-F5344CB8AC3E}">
        <p14:creationId xmlns:p14="http://schemas.microsoft.com/office/powerpoint/2010/main" val="3612477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91440" tIns="45720" rIns="91440" bIns="45720" anchor="ctr"/>
          <a:lstStyle/>
          <a:p>
            <a:endParaRPr lang="ja-JP"/>
          </a:p>
        </p:txBody>
      </p:sp>
      <p:sp>
        <p:nvSpPr>
          <p:cNvPr id="11" name="S11"/>
          <p:cNvSpPr/>
          <p:nvPr/>
        </p:nvSpPr>
        <p:spPr>
          <a:xfrm>
            <a:off x="457200" y="137160"/>
            <a:ext cx="11277600" cy="548640"/>
          </a:xfrm>
          <a:prstGeom prst="rect">
            <a:avLst/>
          </a:prstGeom>
          <a:noFill/>
          <a:ln>
            <a:noFill/>
          </a:ln>
        </p:spPr>
        <p:txBody>
          <a:bodyPr wrap="square" lIns="91440" tIns="45720" rIns="91440" bIns="45720" anchor="ctr"/>
          <a:lstStyle/>
          <a:p>
            <a:pPr algn="l"/>
            <a:r>
              <a:rPr lang="ja-JP" sz="2400" b="1" dirty="0">
                <a:solidFill>
                  <a:srgbClr val="1A1A1A"/>
                </a:solidFill>
                <a:latin typeface="BIZ UDPGothic"/>
                <a:ea typeface="BIZ UDPGothic"/>
              </a:rPr>
              <a:t>4.5 ガバナンス・監査対応</a:t>
            </a:r>
          </a:p>
        </p:txBody>
      </p:sp>
      <p:sp>
        <p:nvSpPr>
          <p:cNvPr id="12" name="S12"/>
          <p:cNvSpPr/>
          <p:nvPr/>
        </p:nvSpPr>
        <p:spPr>
          <a:xfrm>
            <a:off x="457200" y="800000"/>
            <a:ext cx="11277600" cy="457200"/>
          </a:xfrm>
          <a:prstGeom prst="roundRect">
            <a:avLst>
              <a:gd name="adj" fmla="val 8000"/>
            </a:avLst>
          </a:prstGeom>
          <a:solidFill>
            <a:srgbClr val="F2F0ED"/>
          </a:solidFill>
          <a:ln w="12700">
            <a:solidFill>
              <a:srgbClr val="D0C8BE"/>
            </a:solidFill>
          </a:ln>
        </p:spPr>
        <p:txBody>
          <a:bodyPr wrap="square" lIns="91440" tIns="45720" rIns="91440" bIns="45720" anchor="ctr"/>
          <a:lstStyle/>
          <a:p>
            <a:pPr algn="l"/>
            <a:r>
              <a:rPr lang="ja-JP" sz="1500" dirty="0">
                <a:solidFill>
                  <a:srgbClr val="333333"/>
                </a:solidFill>
                <a:latin typeface="BIZ UDPGothic"/>
                <a:ea typeface="BIZ UDPGothic"/>
              </a:rPr>
              <a:t>金融ドメイン要件に対応するため、以下を成果物設計に反映する</a:t>
            </a:r>
          </a:p>
        </p:txBody>
      </p:sp>
      <p:sp>
        <p:nvSpPr>
          <p:cNvPr id="20" name="S20"/>
          <p:cNvSpPr/>
          <p:nvPr/>
        </p:nvSpPr>
        <p:spPr>
          <a:xfrm>
            <a:off x="457200" y="1462080"/>
            <a:ext cx="548640" cy="1737360"/>
          </a:xfrm>
          <a:prstGeom prst="rect">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1</a:t>
            </a:r>
          </a:p>
        </p:txBody>
      </p:sp>
      <p:sp>
        <p:nvSpPr>
          <p:cNvPr id="30" name="S30"/>
          <p:cNvSpPr/>
          <p:nvPr/>
        </p:nvSpPr>
        <p:spPr>
          <a:xfrm>
            <a:off x="1005840" y="1462080"/>
            <a:ext cx="4937760" cy="1737360"/>
          </a:xfrm>
          <a:prstGeom prst="rect">
            <a:avLst/>
          </a:prstGeom>
          <a:solidFill>
            <a:srgbClr val="F7F5F2"/>
          </a:solidFill>
          <a:ln w="12700">
            <a:solidFill>
              <a:srgbClr val="E0DBD4"/>
            </a:solidFill>
          </a:ln>
        </p:spPr>
        <p:txBody>
          <a:bodyPr wrap="square" lIns="91440" tIns="45720" rIns="91440" bIns="45720" anchor="ctr"/>
          <a:lstStyle/>
          <a:p>
            <a:pPr algn="l">
              <a:spcAft>
                <a:spcPts val="300"/>
              </a:spcAft>
            </a:pPr>
            <a:r>
              <a:rPr lang="ja-JP" sz="1500" b="1" dirty="0">
                <a:solidFill>
                  <a:srgbClr val="1A1A1A"/>
                </a:solidFill>
                <a:latin typeface="BIZ UDPGothic"/>
                <a:ea typeface="BIZ UDPGothic"/>
              </a:rPr>
              <a:t>監査証跡の確保</a:t>
            </a:r>
          </a:p>
          <a:p>
            <a:pPr algn="l">
              <a:lnSpc>
                <a:spcPts val="2000"/>
              </a:lnSpc>
            </a:pPr>
            <a:r>
              <a:rPr lang="ja-JP" sz="1300" dirty="0">
                <a:solidFill>
                  <a:srgbClr val="4A4A4A"/>
                </a:solidFill>
                <a:latin typeface="BIZ UDPGothic"/>
                <a:ea typeface="BIZ UDPGothic"/>
              </a:rPr>
              <a:t>すべての分析判断の
追跡可能性を担保する</a:t>
            </a:r>
          </a:p>
        </p:txBody>
      </p:sp>
      <p:sp>
        <p:nvSpPr>
          <p:cNvPr id="21" name="S21"/>
          <p:cNvSpPr/>
          <p:nvPr/>
        </p:nvSpPr>
        <p:spPr>
          <a:xfrm>
            <a:off x="6248400" y="1462080"/>
            <a:ext cx="548640" cy="1737360"/>
          </a:xfrm>
          <a:prstGeom prst="rect">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2</a:t>
            </a:r>
          </a:p>
        </p:txBody>
      </p:sp>
      <p:sp>
        <p:nvSpPr>
          <p:cNvPr id="31" name="S31"/>
          <p:cNvSpPr/>
          <p:nvPr/>
        </p:nvSpPr>
        <p:spPr>
          <a:xfrm>
            <a:off x="6797040" y="1462080"/>
            <a:ext cx="4937760" cy="1737360"/>
          </a:xfrm>
          <a:prstGeom prst="rect">
            <a:avLst/>
          </a:prstGeom>
          <a:solidFill>
            <a:srgbClr val="F7F5F2"/>
          </a:solidFill>
          <a:ln w="12700">
            <a:solidFill>
              <a:srgbClr val="E0DBD4"/>
            </a:solidFill>
          </a:ln>
        </p:spPr>
        <p:txBody>
          <a:bodyPr wrap="square" lIns="91440" tIns="45720" rIns="91440" bIns="45720" anchor="ctr"/>
          <a:lstStyle/>
          <a:p>
            <a:pPr algn="l">
              <a:spcAft>
                <a:spcPts val="300"/>
              </a:spcAft>
            </a:pPr>
            <a:r>
              <a:rPr lang="ja-JP" sz="1500" b="1" dirty="0">
                <a:solidFill>
                  <a:srgbClr val="1A1A1A"/>
                </a:solidFill>
                <a:latin typeface="BIZ UDPGothic"/>
                <a:ea typeface="BIZ UDPGothic"/>
              </a:rPr>
              <a:t>アクセス制御前提の文書化</a:t>
            </a:r>
          </a:p>
          <a:p>
            <a:pPr algn="l">
              <a:lnSpc>
                <a:spcPts val="2000"/>
              </a:lnSpc>
            </a:pPr>
            <a:r>
              <a:rPr lang="ja-JP" sz="1300" dirty="0">
                <a:solidFill>
                  <a:srgbClr val="4A4A4A"/>
                </a:solidFill>
                <a:latin typeface="BIZ UDPGothic"/>
                <a:ea typeface="BIZ UDPGothic"/>
              </a:rPr>
              <a:t>データ・成果物への
アクセス統制前提を明示する</a:t>
            </a:r>
          </a:p>
        </p:txBody>
      </p:sp>
      <p:sp>
        <p:nvSpPr>
          <p:cNvPr id="40" name="S40"/>
          <p:cNvSpPr/>
          <p:nvPr/>
        </p:nvSpPr>
        <p:spPr>
          <a:xfrm>
            <a:off x="457200" y="3428040"/>
            <a:ext cx="548640" cy="2011680"/>
          </a:xfrm>
          <a:prstGeom prst="rect">
            <a:avLst/>
          </a:prstGeom>
          <a:solidFill>
            <a:srgbClr val="4A4A4A"/>
          </a:solidFill>
          <a:ln>
            <a:noFill/>
          </a:ln>
        </p:spPr>
        <p:txBody>
          <a:bodyPr wrap="square" lIns="91440" tIns="45720" rIns="91440" bIns="45720" anchor="ctr"/>
          <a:lstStyle/>
          <a:p>
            <a:pPr algn="ctr"/>
            <a:r>
              <a:rPr lang="en-US" sz="2000" b="1" dirty="0">
                <a:solidFill>
                  <a:srgbClr val="FFFFFF"/>
                </a:solidFill>
                <a:latin typeface="BIZ UDPGothic"/>
                <a:ea typeface="BIZ UDPGothic"/>
              </a:rPr>
              <a:t>3</a:t>
            </a:r>
          </a:p>
        </p:txBody>
      </p:sp>
      <p:sp>
        <p:nvSpPr>
          <p:cNvPr id="50" name="S50"/>
          <p:cNvSpPr/>
          <p:nvPr/>
        </p:nvSpPr>
        <p:spPr>
          <a:xfrm>
            <a:off x="1005840" y="3428040"/>
            <a:ext cx="3017520" cy="2011680"/>
          </a:xfrm>
          <a:prstGeom prst="rect">
            <a:avLst/>
          </a:prstGeom>
          <a:solidFill>
            <a:srgbClr val="F7F5F2"/>
          </a:solidFill>
          <a:ln w="12700">
            <a:solidFill>
              <a:srgbClr val="E0DBD4"/>
            </a:solidFill>
          </a:ln>
        </p:spPr>
        <p:txBody>
          <a:bodyPr wrap="square" lIns="91440" tIns="45720" rIns="91440" bIns="45720" anchor="ctr"/>
          <a:lstStyle/>
          <a:p>
            <a:pPr algn="l">
              <a:spcAft>
                <a:spcPts val="300"/>
              </a:spcAft>
            </a:pPr>
            <a:r>
              <a:rPr lang="ja-JP" sz="1500" b="1" dirty="0">
                <a:solidFill>
                  <a:srgbClr val="1A1A1A"/>
                </a:solidFill>
                <a:latin typeface="BIZ UDPGothic"/>
                <a:ea typeface="BIZ UDPGothic"/>
              </a:rPr>
              <a:t>特徴量採否・補完方法・
閾値設定根拠の記録</a:t>
            </a:r>
          </a:p>
          <a:p>
            <a:pPr algn="l">
              <a:lnSpc>
                <a:spcPts val="2000"/>
              </a:lnSpc>
            </a:pPr>
            <a:r>
              <a:rPr lang="ja-JP" sz="1300" dirty="0">
                <a:solidFill>
                  <a:srgbClr val="4A4A4A"/>
                </a:solidFill>
                <a:latin typeface="BIZ UDPGothic"/>
                <a:ea typeface="BIZ UDPGothic"/>
              </a:rPr>
              <a:t>各判断の根拠を
文書として残す</a:t>
            </a:r>
          </a:p>
        </p:txBody>
      </p:sp>
      <p:sp>
        <p:nvSpPr>
          <p:cNvPr id="41" name="S41"/>
          <p:cNvSpPr/>
          <p:nvPr/>
        </p:nvSpPr>
        <p:spPr>
          <a:xfrm>
            <a:off x="4160520" y="3428040"/>
            <a:ext cx="548640" cy="2011680"/>
          </a:xfrm>
          <a:prstGeom prst="rect">
            <a:avLst/>
          </a:prstGeom>
          <a:solidFill>
            <a:srgbClr val="4A4A4A"/>
          </a:solidFill>
          <a:ln>
            <a:noFill/>
          </a:ln>
        </p:spPr>
        <p:txBody>
          <a:bodyPr wrap="square" lIns="91440" tIns="45720" rIns="91440" bIns="45720" anchor="ctr"/>
          <a:lstStyle/>
          <a:p>
            <a:pPr algn="ctr"/>
            <a:r>
              <a:rPr lang="en-US" sz="2000" b="1" dirty="0">
                <a:solidFill>
                  <a:srgbClr val="FFFFFF"/>
                </a:solidFill>
                <a:latin typeface="BIZ UDPGothic"/>
                <a:ea typeface="BIZ UDPGothic"/>
              </a:rPr>
              <a:t>4</a:t>
            </a:r>
          </a:p>
        </p:txBody>
      </p:sp>
      <p:sp>
        <p:nvSpPr>
          <p:cNvPr id="51" name="S51"/>
          <p:cNvSpPr/>
          <p:nvPr/>
        </p:nvSpPr>
        <p:spPr>
          <a:xfrm>
            <a:off x="4709160" y="3428040"/>
            <a:ext cx="3017520" cy="2011680"/>
          </a:xfrm>
          <a:prstGeom prst="rect">
            <a:avLst/>
          </a:prstGeom>
          <a:solidFill>
            <a:srgbClr val="F7F5F2"/>
          </a:solidFill>
          <a:ln w="12700">
            <a:solidFill>
              <a:srgbClr val="E0DBD4"/>
            </a:solidFill>
          </a:ln>
        </p:spPr>
        <p:txBody>
          <a:bodyPr wrap="square" lIns="91440" tIns="45720" rIns="91440" bIns="45720" anchor="ctr"/>
          <a:lstStyle/>
          <a:p>
            <a:pPr algn="l">
              <a:spcAft>
                <a:spcPts val="300"/>
              </a:spcAft>
            </a:pPr>
            <a:r>
              <a:rPr lang="ja-JP" sz="1500" b="1" dirty="0">
                <a:solidFill>
                  <a:srgbClr val="1A1A1A"/>
                </a:solidFill>
                <a:latin typeface="BIZ UDPGothic"/>
                <a:ea typeface="BIZ UDPGothic"/>
              </a:rPr>
              <a:t>前提条件・制約・
未解決事項の明示</a:t>
            </a:r>
          </a:p>
          <a:p>
            <a:pPr algn="l">
              <a:lnSpc>
                <a:spcPts val="2000"/>
              </a:lnSpc>
            </a:pPr>
            <a:r>
              <a:rPr lang="ja-JP" sz="1300" dirty="0">
                <a:solidFill>
                  <a:srgbClr val="4A4A4A"/>
                </a:solidFill>
                <a:latin typeface="BIZ UDPGothic"/>
                <a:ea typeface="BIZ UDPGothic"/>
              </a:rPr>
              <a:t>分析の前提と限界を
明確に定義する</a:t>
            </a:r>
          </a:p>
        </p:txBody>
      </p:sp>
      <p:sp>
        <p:nvSpPr>
          <p:cNvPr id="42" name="S42"/>
          <p:cNvSpPr/>
          <p:nvPr/>
        </p:nvSpPr>
        <p:spPr>
          <a:xfrm>
            <a:off x="7863840" y="3428040"/>
            <a:ext cx="548640" cy="2011680"/>
          </a:xfrm>
          <a:prstGeom prst="rect">
            <a:avLst/>
          </a:prstGeom>
          <a:solidFill>
            <a:srgbClr val="4A4A4A"/>
          </a:solidFill>
          <a:ln>
            <a:noFill/>
          </a:ln>
        </p:spPr>
        <p:txBody>
          <a:bodyPr wrap="square" lIns="91440" tIns="45720" rIns="91440" bIns="45720" anchor="ctr"/>
          <a:lstStyle/>
          <a:p>
            <a:pPr algn="ctr"/>
            <a:r>
              <a:rPr lang="en-US" sz="2000" b="1" dirty="0">
                <a:solidFill>
                  <a:srgbClr val="FFFFFF"/>
                </a:solidFill>
                <a:latin typeface="BIZ UDPGothic"/>
                <a:ea typeface="BIZ UDPGothic"/>
              </a:rPr>
              <a:t>5</a:t>
            </a:r>
          </a:p>
        </p:txBody>
      </p:sp>
      <p:sp>
        <p:nvSpPr>
          <p:cNvPr id="52" name="S52"/>
          <p:cNvSpPr/>
          <p:nvPr/>
        </p:nvSpPr>
        <p:spPr>
          <a:xfrm>
            <a:off x="8412480" y="3428040"/>
            <a:ext cx="3017520" cy="2011680"/>
          </a:xfrm>
          <a:prstGeom prst="rect">
            <a:avLst/>
          </a:prstGeom>
          <a:solidFill>
            <a:srgbClr val="F7F5F2"/>
          </a:solidFill>
          <a:ln w="12700">
            <a:solidFill>
              <a:srgbClr val="E0DBD4"/>
            </a:solidFill>
          </a:ln>
        </p:spPr>
        <p:txBody>
          <a:bodyPr wrap="square" lIns="91440" tIns="45720" rIns="91440" bIns="45720" anchor="ctr"/>
          <a:lstStyle/>
          <a:p>
            <a:pPr algn="l">
              <a:spcAft>
                <a:spcPts val="300"/>
              </a:spcAft>
            </a:pPr>
            <a:r>
              <a:rPr lang="ja-JP" sz="1500" b="1" dirty="0">
                <a:solidFill>
                  <a:srgbClr val="1A1A1A"/>
                </a:solidFill>
                <a:latin typeface="BIZ UDPGothic"/>
                <a:ea typeface="BIZ UDPGothic"/>
              </a:rPr>
              <a:t>単一正本としての管理</a:t>
            </a:r>
          </a:p>
          <a:p>
            <a:pPr algn="l">
              <a:lnSpc>
                <a:spcPts val="2000"/>
              </a:lnSpc>
            </a:pPr>
            <a:r>
              <a:rPr lang="ja-JP" sz="1300" dirty="0">
                <a:solidFill>
                  <a:srgbClr val="4A4A4A"/>
                </a:solidFill>
                <a:latin typeface="BIZ UDPGothic"/>
                <a:ea typeface="BIZ UDPGothic"/>
              </a:rPr>
              <a:t>後続文書と整合した
唯一の正本として管理する</a:t>
            </a:r>
          </a:p>
        </p:txBody>
      </p:sp>
    </p:spTree>
    <p:extLst>
      <p:ext uri="{BB962C8B-B14F-4D97-AF65-F5344CB8AC3E}">
        <p14:creationId xmlns:p14="http://schemas.microsoft.com/office/powerpoint/2010/main" val="3706444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91440" tIns="45720" rIns="91440" bIns="45720" anchor="ctr"/>
          <a:lstStyle/>
          <a:p>
            <a:endParaRPr lang="ja-JP"/>
          </a:p>
        </p:txBody>
      </p:sp>
      <p:sp>
        <p:nvSpPr>
          <p:cNvPr id="11" name="S11"/>
          <p:cNvSpPr/>
          <p:nvPr/>
        </p:nvSpPr>
        <p:spPr>
          <a:xfrm>
            <a:off x="457200" y="137160"/>
            <a:ext cx="11277600" cy="548640"/>
          </a:xfrm>
          <a:prstGeom prst="rect">
            <a:avLst/>
          </a:prstGeom>
          <a:noFill/>
          <a:ln>
            <a:noFill/>
          </a:ln>
        </p:spPr>
        <p:txBody>
          <a:bodyPr wrap="square" lIns="91440" tIns="45720" rIns="91440" bIns="45720" anchor="ctr"/>
          <a:lstStyle/>
          <a:p>
            <a:pPr algn="l"/>
            <a:r>
              <a:rPr lang="ja-JP" sz="2400" b="1" dirty="0">
                <a:solidFill>
                  <a:srgbClr val="1A1A1A"/>
                </a:solidFill>
                <a:latin typeface="BIZ UDPGothic"/>
                <a:ea typeface="BIZ UDPGothic"/>
              </a:rPr>
              <a:t>5. 実施体制</a:t>
            </a:r>
          </a:p>
        </p:txBody>
      </p:sp>
      <p:sp>
        <p:nvSpPr>
          <p:cNvPr id="12" name="S12"/>
          <p:cNvSpPr/>
          <p:nvPr/>
        </p:nvSpPr>
        <p:spPr>
          <a:xfrm>
            <a:off x="457200" y="800000"/>
            <a:ext cx="5394960" cy="365760"/>
          </a:xfrm>
          <a:prstGeom prst="roundRect">
            <a:avLst>
              <a:gd name="adj" fmla="val 8000"/>
            </a:avLst>
          </a:prstGeom>
          <a:solidFill>
            <a:srgbClr val="8B2500"/>
          </a:solidFill>
          <a:ln>
            <a:noFill/>
          </a:ln>
        </p:spPr>
        <p:txBody>
          <a:bodyPr wrap="square" lIns="91440" tIns="45720" rIns="91440" bIns="45720" anchor="ctr"/>
          <a:lstStyle/>
          <a:p>
            <a:pPr algn="ctr"/>
            <a:r>
              <a:rPr lang="ja-JP" sz="1500" b="1" dirty="0">
                <a:solidFill>
                  <a:srgbClr val="FFFFFF"/>
                </a:solidFill>
                <a:latin typeface="BIZ UDPGothic"/>
                <a:ea typeface="BIZ UDPGothic"/>
              </a:rPr>
              <a:t>クライアント体制</a:t>
            </a:r>
          </a:p>
        </p:txBody>
      </p:sp>
      <p:sp>
        <p:nvSpPr>
          <p:cNvPr id="13" name="S13"/>
          <p:cNvSpPr/>
          <p:nvPr/>
        </p:nvSpPr>
        <p:spPr>
          <a:xfrm>
            <a:off x="457200" y="1234440"/>
            <a:ext cx="5394960" cy="1005840"/>
          </a:xfrm>
          <a:prstGeom prst="rect">
            <a:avLst/>
          </a:prstGeom>
          <a:solidFill>
            <a:srgbClr val="F7F5F2"/>
          </a:solidFill>
          <a:ln w="12700">
            <a:solidFill>
              <a:srgbClr val="E0DBD4"/>
            </a:solidFill>
          </a:ln>
        </p:spPr>
        <p:txBody>
          <a:bodyPr wrap="square" lIns="91440" tIns="45720" rIns="91440" bIns="45720" anchor="ctr"/>
          <a:lstStyle/>
          <a:p>
            <a:pPr algn="l">
              <a:lnSpc>
                <a:spcPts val="2200"/>
              </a:lnSpc>
            </a:pPr>
            <a:r>
              <a:rPr lang="ja-JP" sz="1400" b="1" dirty="0">
                <a:solidFill>
                  <a:srgbClr val="4A4A4A"/>
                </a:solidFill>
                <a:latin typeface="BIZ UDPGothic"/>
                <a:ea typeface="BIZ UDPGothic"/>
              </a:rPr>
              <a:t>会社名：</a:t>
            </a:r>
            <a:r>
              <a:rPr lang="ja-JP" sz="1400" dirty="0">
                <a:solidFill>
                  <a:srgbClr val="333333"/>
                </a:solidFill>
                <a:latin typeface="BIZ UDPGothic"/>
                <a:ea typeface="BIZ UDPGothic"/>
              </a:rPr>
              <a:t>白峰信用リスク評価株式会社</a:t>
            </a:r>
          </a:p>
          <a:p>
            <a:pPr algn="l">
              <a:lnSpc>
                <a:spcPts val="2200"/>
              </a:lnSpc>
            </a:pPr>
            <a:r>
              <a:rPr lang="ja-JP" sz="1400" b="1" dirty="0">
                <a:solidFill>
                  <a:srgbClr val="4A4A4A"/>
                </a:solidFill>
                <a:latin typeface="BIZ UDPGothic"/>
                <a:ea typeface="BIZ UDPGothic"/>
              </a:rPr>
              <a:t>部門名：</a:t>
            </a:r>
            <a:r>
              <a:rPr lang="ja-JP" sz="1400" dirty="0">
                <a:solidFill>
                  <a:srgbClr val="333333"/>
                </a:solidFill>
                <a:latin typeface="BIZ UDPGothic"/>
                <a:ea typeface="BIZ UDPGothic"/>
              </a:rPr>
              <a:t>審査企画部</a:t>
            </a:r>
          </a:p>
          <a:p>
            <a:pPr algn="l">
              <a:lnSpc>
                <a:spcPts val="2200"/>
              </a:lnSpc>
            </a:pPr>
            <a:r>
              <a:rPr lang="ja-JP" sz="1400" b="1" dirty="0">
                <a:solidFill>
                  <a:srgbClr val="4A4A4A"/>
                </a:solidFill>
                <a:latin typeface="BIZ UDPGothic"/>
                <a:ea typeface="BIZ UDPGothic"/>
              </a:rPr>
              <a:t>主担当：</a:t>
            </a:r>
            <a:r>
              <a:rPr lang="ja-JP" sz="1400" dirty="0">
                <a:solidFill>
                  <a:srgbClr val="333333"/>
                </a:solidFill>
                <a:latin typeface="BIZ UDPGothic"/>
                <a:ea typeface="BIZ UDPGothic"/>
              </a:rPr>
              <a:t>松原 陽介 部長</a:t>
            </a:r>
          </a:p>
        </p:txBody>
      </p:sp>
      <p:sp>
        <p:nvSpPr>
          <p:cNvPr id="14" name="S14"/>
          <p:cNvSpPr/>
          <p:nvPr/>
        </p:nvSpPr>
        <p:spPr>
          <a:xfrm>
            <a:off x="6126480" y="800000"/>
            <a:ext cx="5608320" cy="365760"/>
          </a:xfrm>
          <a:prstGeom prst="roundRect">
            <a:avLst>
              <a:gd name="adj" fmla="val 8000"/>
            </a:avLst>
          </a:prstGeom>
          <a:solidFill>
            <a:srgbClr val="4A4A4A"/>
          </a:solidFill>
          <a:ln>
            <a:noFill/>
          </a:ln>
        </p:spPr>
        <p:txBody>
          <a:bodyPr wrap="square" lIns="91440" tIns="45720" rIns="91440" bIns="45720" anchor="ctr"/>
          <a:lstStyle/>
          <a:p>
            <a:pPr algn="ctr"/>
            <a:r>
              <a:rPr lang="ja-JP" sz="1500" b="1" dirty="0">
                <a:solidFill>
                  <a:srgbClr val="FFFFFF"/>
                </a:solidFill>
                <a:latin typeface="BIZ UDPGothic"/>
                <a:ea typeface="BIZ UDPGothic"/>
              </a:rPr>
              <a:t>ベンダ体制</a:t>
            </a:r>
          </a:p>
        </p:txBody>
      </p:sp>
      <p:sp>
        <p:nvSpPr>
          <p:cNvPr id="20" name="S20"/>
          <p:cNvSpPr/>
          <p:nvPr/>
        </p:nvSpPr>
        <p:spPr>
          <a:xfrm>
            <a:off x="6126480" y="1234440"/>
            <a:ext cx="5608320" cy="297180"/>
          </a:xfrm>
          <a:prstGeom prst="rect">
            <a:avLst/>
          </a:prstGeom>
          <a:solidFill>
            <a:srgbClr val="F7F5F2"/>
          </a:solidFill>
          <a:ln w="12700">
            <a:solidFill>
              <a:srgbClr val="E0DBD4"/>
            </a:solidFill>
          </a:ln>
        </p:spPr>
        <p:txBody>
          <a:bodyPr wrap="square" lIns="91440" tIns="45720" rIns="91440" bIns="45720" anchor="ctr"/>
          <a:lstStyle/>
          <a:p>
            <a:pPr algn="l"/>
            <a:r>
              <a:rPr lang="ja-JP" sz="1200" b="1" dirty="0">
                <a:solidFill>
                  <a:srgbClr val="8B2500"/>
                </a:solidFill>
                <a:latin typeface="BIZ UDPGothic"/>
                <a:ea typeface="BIZ UDPGothic"/>
              </a:rPr>
              <a:t>エグゼクティブスポンサー</a:t>
            </a:r>
            <a:r>
              <a:rPr lang="ja-JP" sz="1200" dirty="0">
                <a:solidFill>
                  <a:srgbClr val="333333"/>
                </a:solidFill>
                <a:latin typeface="BIZ UDPGothic"/>
                <a:ea typeface="BIZ UDPGothic"/>
              </a:rPr>
              <a:t>  中村 誠 ─ 全体統括、重要論点の意思決定支援</a:t>
            </a:r>
          </a:p>
        </p:txBody>
      </p:sp>
      <p:sp>
        <p:nvSpPr>
          <p:cNvPr id="21" name="S21"/>
          <p:cNvSpPr/>
          <p:nvPr/>
        </p:nvSpPr>
        <p:spPr>
          <a:xfrm>
            <a:off x="6126480" y="1554480"/>
            <a:ext cx="5608320" cy="297180"/>
          </a:xfrm>
          <a:prstGeom prst="rect">
            <a:avLst/>
          </a:prstGeom>
          <a:solidFill>
            <a:srgbClr val="FFFFFF"/>
          </a:solidFill>
          <a:ln w="12700">
            <a:solidFill>
              <a:srgbClr val="E0DBD4"/>
            </a:solidFill>
          </a:ln>
        </p:spPr>
        <p:txBody>
          <a:bodyPr wrap="square" lIns="91440" tIns="45720" rIns="91440" bIns="45720" anchor="ctr"/>
          <a:lstStyle/>
          <a:p>
            <a:pPr algn="l"/>
            <a:r>
              <a:rPr lang="ja-JP" sz="1200" b="1" dirty="0">
                <a:solidFill>
                  <a:srgbClr val="8B2500"/>
                </a:solidFill>
                <a:latin typeface="BIZ UDPGothic"/>
                <a:ea typeface="BIZ UDPGothic"/>
              </a:rPr>
              <a:t>プロジェクトマネージャー</a:t>
            </a:r>
            <a:r>
              <a:rPr lang="ja-JP" sz="1200" dirty="0">
                <a:solidFill>
                  <a:srgbClr val="333333"/>
                </a:solidFill>
                <a:latin typeface="BIZ UDPGothic"/>
                <a:ea typeface="BIZ UDPGothic"/>
              </a:rPr>
              <a:t>  伊藤 翔太 ─ 進捗管理、課題管理、品質・納期統制</a:t>
            </a:r>
          </a:p>
        </p:txBody>
      </p:sp>
      <p:sp>
        <p:nvSpPr>
          <p:cNvPr id="22" name="S22"/>
          <p:cNvSpPr/>
          <p:nvPr/>
        </p:nvSpPr>
        <p:spPr>
          <a:xfrm>
            <a:off x="6126480" y="1874520"/>
            <a:ext cx="5608320" cy="297180"/>
          </a:xfrm>
          <a:prstGeom prst="rect">
            <a:avLst/>
          </a:prstGeom>
          <a:solidFill>
            <a:srgbClr val="F7F5F2"/>
          </a:solidFill>
          <a:ln w="12700">
            <a:solidFill>
              <a:srgbClr val="E0DBD4"/>
            </a:solidFill>
          </a:ln>
        </p:spPr>
        <p:txBody>
          <a:bodyPr wrap="square" lIns="91440" tIns="45720" rIns="91440" bIns="45720" anchor="ctr"/>
          <a:lstStyle/>
          <a:p>
            <a:pPr algn="l"/>
            <a:r>
              <a:rPr lang="ja-JP" sz="1200" b="1" dirty="0">
                <a:solidFill>
                  <a:srgbClr val="8B2500"/>
                </a:solidFill>
                <a:latin typeface="BIZ UDPGothic"/>
                <a:ea typeface="BIZ UDPGothic"/>
              </a:rPr>
              <a:t>リードデータサイエンティスト</a:t>
            </a:r>
            <a:r>
              <a:rPr lang="ja-JP" sz="1200" dirty="0">
                <a:solidFill>
                  <a:srgbClr val="333333"/>
                </a:solidFill>
                <a:latin typeface="BIZ UDPGothic"/>
                <a:ea typeface="BIZ UDPGothic"/>
              </a:rPr>
              <a:t>  山本 彩乃 ─ 分析設計、モデル比較、最終示唆整理</a:t>
            </a:r>
          </a:p>
        </p:txBody>
      </p:sp>
      <p:sp>
        <p:nvSpPr>
          <p:cNvPr id="23" name="S23"/>
          <p:cNvSpPr/>
          <p:nvPr/>
        </p:nvSpPr>
        <p:spPr>
          <a:xfrm>
            <a:off x="6126480" y="2194560"/>
            <a:ext cx="5608320" cy="297180"/>
          </a:xfrm>
          <a:prstGeom prst="rect">
            <a:avLst/>
          </a:prstGeom>
          <a:solidFill>
            <a:srgbClr val="FFFFFF"/>
          </a:solidFill>
          <a:ln w="12700">
            <a:solidFill>
              <a:srgbClr val="E0DBD4"/>
            </a:solidFill>
          </a:ln>
        </p:spPr>
        <p:txBody>
          <a:bodyPr wrap="square" lIns="91440" tIns="45720" rIns="91440" bIns="45720" anchor="ctr"/>
          <a:lstStyle/>
          <a:p>
            <a:pPr algn="l"/>
            <a:r>
              <a:rPr lang="ja-JP" sz="1200" b="1" dirty="0">
                <a:solidFill>
                  <a:srgbClr val="8B2500"/>
                </a:solidFill>
                <a:latin typeface="BIZ UDPGothic"/>
                <a:ea typeface="BIZ UDPGothic"/>
              </a:rPr>
              <a:t>データエンジニア</a:t>
            </a:r>
            <a:r>
              <a:rPr lang="ja-JP" sz="1200" dirty="0">
                <a:solidFill>
                  <a:srgbClr val="333333"/>
                </a:solidFill>
                <a:latin typeface="BIZ UDPGothic"/>
                <a:ea typeface="BIZ UDPGothic"/>
              </a:rPr>
              <a:t>  斎藤 悠斗 ─ データ確認、前処理実装、再現性確保</a:t>
            </a:r>
          </a:p>
        </p:txBody>
      </p:sp>
      <p:sp>
        <p:nvSpPr>
          <p:cNvPr id="24" name="S24"/>
          <p:cNvSpPr/>
          <p:nvPr/>
        </p:nvSpPr>
        <p:spPr>
          <a:xfrm>
            <a:off x="6126480" y="2514600"/>
            <a:ext cx="5608320" cy="297180"/>
          </a:xfrm>
          <a:prstGeom prst="rect">
            <a:avLst/>
          </a:prstGeom>
          <a:solidFill>
            <a:srgbClr val="F7F5F2"/>
          </a:solidFill>
          <a:ln w="12700">
            <a:solidFill>
              <a:srgbClr val="E0DBD4"/>
            </a:solidFill>
          </a:ln>
        </p:spPr>
        <p:txBody>
          <a:bodyPr wrap="square" lIns="91440" tIns="45720" rIns="91440" bIns="45720" anchor="ctr"/>
          <a:lstStyle/>
          <a:p>
            <a:pPr algn="l"/>
            <a:r>
              <a:rPr lang="ja-JP" sz="1200" b="1" dirty="0">
                <a:solidFill>
                  <a:srgbClr val="8B2500"/>
                </a:solidFill>
                <a:latin typeface="BIZ UDPGothic"/>
                <a:ea typeface="BIZ UDPGothic"/>
              </a:rPr>
              <a:t>ビジネスアナリスト</a:t>
            </a:r>
            <a:r>
              <a:rPr lang="ja-JP" sz="1200" dirty="0">
                <a:solidFill>
                  <a:srgbClr val="333333"/>
                </a:solidFill>
                <a:latin typeface="BIZ UDPGothic"/>
                <a:ea typeface="BIZ UDPGothic"/>
              </a:rPr>
              <a:t>  松本 真央 ─ 業務要件整理、報告資料作成支援</a:t>
            </a:r>
          </a:p>
        </p:txBody>
      </p:sp>
      <p:sp>
        <p:nvSpPr>
          <p:cNvPr id="25" name="S25"/>
          <p:cNvSpPr/>
          <p:nvPr/>
        </p:nvSpPr>
        <p:spPr>
          <a:xfrm>
            <a:off x="6126480" y="2834640"/>
            <a:ext cx="5608320" cy="297180"/>
          </a:xfrm>
          <a:prstGeom prst="rect">
            <a:avLst/>
          </a:prstGeom>
          <a:solidFill>
            <a:srgbClr val="FFFFFF"/>
          </a:solidFill>
          <a:ln w="12700">
            <a:solidFill>
              <a:srgbClr val="E0DBD4"/>
            </a:solidFill>
          </a:ln>
        </p:spPr>
        <p:txBody>
          <a:bodyPr wrap="square" lIns="91440" tIns="45720" rIns="91440" bIns="45720" anchor="ctr"/>
          <a:lstStyle/>
          <a:p>
            <a:pPr algn="l"/>
            <a:r>
              <a:rPr lang="ja-JP" sz="1200" b="1" dirty="0">
                <a:solidFill>
                  <a:srgbClr val="8B2500"/>
                </a:solidFill>
                <a:latin typeface="BIZ UDPGothic"/>
                <a:ea typeface="BIZ UDPGothic"/>
              </a:rPr>
              <a:t>QAレビューア</a:t>
            </a:r>
            <a:r>
              <a:rPr lang="ja-JP" sz="1200" dirty="0">
                <a:solidFill>
                  <a:srgbClr val="333333"/>
                </a:solidFill>
                <a:latin typeface="BIZ UDPGothic"/>
                <a:ea typeface="BIZ UDPGothic"/>
              </a:rPr>
              <a:t>  池田 恒一 ─ 成果物レビュー、品質保証</a:t>
            </a:r>
          </a:p>
        </p:txBody>
      </p:sp>
      <p:sp>
        <p:nvSpPr>
          <p:cNvPr id="40" name="S40"/>
          <p:cNvSpPr/>
          <p:nvPr/>
        </p:nvSpPr>
        <p:spPr>
          <a:xfrm>
            <a:off x="457200" y="3200400"/>
            <a:ext cx="11277600" cy="365760"/>
          </a:xfrm>
          <a:prstGeom prst="roundRect">
            <a:avLst>
              <a:gd name="adj" fmla="val 8000"/>
            </a:avLst>
          </a:prstGeom>
          <a:solidFill>
            <a:srgbClr val="333333"/>
          </a:solidFill>
          <a:ln>
            <a:noFill/>
          </a:ln>
        </p:spPr>
        <p:txBody>
          <a:bodyPr wrap="square" lIns="91440" tIns="45720" rIns="91440" bIns="45720" anchor="ctr"/>
          <a:lstStyle/>
          <a:p>
            <a:pPr algn="ctr"/>
            <a:r>
              <a:rPr lang="ja-JP" sz="1500" b="1" dirty="0">
                <a:solidFill>
                  <a:srgbClr val="FFFFFF"/>
                </a:solidFill>
                <a:latin typeface="BIZ UDPGothic"/>
                <a:ea typeface="BIZ UDPGothic"/>
              </a:rPr>
              <a:t>会議運営</a:t>
            </a:r>
          </a:p>
        </p:txBody>
      </p:sp>
      <p:sp>
        <p:nvSpPr>
          <p:cNvPr id="50" name="S50"/>
          <p:cNvSpPr/>
          <p:nvPr/>
        </p:nvSpPr>
        <p:spPr>
          <a:xfrm>
            <a:off x="457200" y="3657600"/>
            <a:ext cx="2103120" cy="25603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400"/>
              </a:spcAft>
            </a:pPr>
            <a:r>
              <a:rPr lang="ja-JP" sz="1400" b="1" dirty="0">
                <a:solidFill>
                  <a:srgbClr val="8B2500"/>
                </a:solidFill>
                <a:latin typeface="BIZ UDPGothic"/>
                <a:ea typeface="BIZ UDPGothic"/>
              </a:rPr>
              <a:t>定例進捗会議</a:t>
            </a:r>
          </a:p>
          <a:p>
            <a:pPr algn="ctr">
              <a:lnSpc>
                <a:spcPts val="1800"/>
              </a:lnSpc>
            </a:pPr>
            <a:r>
              <a:rPr lang="ja-JP" sz="1200" dirty="0">
                <a:solidFill>
                  <a:srgbClr val="333333"/>
                </a:solidFill>
                <a:latin typeface="BIZ UDPGothic"/>
                <a:ea typeface="BIZ UDPGothic"/>
              </a:rPr>
              <a:t>週1回</a:t>
            </a:r>
          </a:p>
        </p:txBody>
      </p:sp>
      <p:sp>
        <p:nvSpPr>
          <p:cNvPr id="51" name="S51"/>
          <p:cNvSpPr/>
          <p:nvPr/>
        </p:nvSpPr>
        <p:spPr>
          <a:xfrm>
            <a:off x="2697480" y="3657600"/>
            <a:ext cx="2103120" cy="25603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400"/>
              </a:spcAft>
            </a:pPr>
            <a:r>
              <a:rPr lang="ja-JP" sz="1400" b="1" dirty="0">
                <a:solidFill>
                  <a:srgbClr val="8B2500"/>
                </a:solidFill>
                <a:latin typeface="BIZ UDPGothic"/>
                <a:ea typeface="BIZ UDPGothic"/>
              </a:rPr>
              <a:t>中間レビュー</a:t>
            </a:r>
          </a:p>
          <a:p>
            <a:pPr algn="ctr">
              <a:lnSpc>
                <a:spcPts val="1800"/>
              </a:lnSpc>
            </a:pPr>
            <a:r>
              <a:rPr lang="ja-JP" sz="1200" dirty="0">
                <a:solidFill>
                  <a:srgbClr val="333333"/>
                </a:solidFill>
                <a:latin typeface="BIZ UDPGothic"/>
                <a:ea typeface="BIZ UDPGothic"/>
              </a:rPr>
              <a:t>方針確定時・結果提示時</a:t>
            </a:r>
          </a:p>
        </p:txBody>
      </p:sp>
      <p:sp>
        <p:nvSpPr>
          <p:cNvPr id="52" name="S52"/>
          <p:cNvSpPr/>
          <p:nvPr/>
        </p:nvSpPr>
        <p:spPr>
          <a:xfrm>
            <a:off x="4937760" y="3657600"/>
            <a:ext cx="2103120" cy="25603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400"/>
              </a:spcAft>
            </a:pPr>
            <a:r>
              <a:rPr lang="ja-JP" sz="1400" b="1" dirty="0">
                <a:solidFill>
                  <a:srgbClr val="8B2500"/>
                </a:solidFill>
                <a:latin typeface="BIZ UDPGothic"/>
                <a:ea typeface="BIZ UDPGothic"/>
              </a:rPr>
              <a:t>最終レビュー</a:t>
            </a:r>
          </a:p>
          <a:p>
            <a:pPr algn="ctr">
              <a:lnSpc>
                <a:spcPts val="1800"/>
              </a:lnSpc>
            </a:pPr>
            <a:r>
              <a:rPr lang="ja-JP" sz="1200" dirty="0">
                <a:solidFill>
                  <a:srgbClr val="333333"/>
                </a:solidFill>
                <a:latin typeface="BIZ UDPGothic"/>
                <a:ea typeface="BIZ UDPGothic"/>
              </a:rPr>
              <a:t>最終成果物提出前</a:t>
            </a:r>
          </a:p>
        </p:txBody>
      </p:sp>
      <p:sp>
        <p:nvSpPr>
          <p:cNvPr id="53" name="S53"/>
          <p:cNvSpPr/>
          <p:nvPr/>
        </p:nvSpPr>
        <p:spPr>
          <a:xfrm>
            <a:off x="7178040" y="3657600"/>
            <a:ext cx="2103120" cy="25603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400"/>
              </a:spcAft>
            </a:pPr>
            <a:r>
              <a:rPr lang="ja-JP" sz="1400" b="1" dirty="0">
                <a:solidFill>
                  <a:srgbClr val="8B2500"/>
                </a:solidFill>
                <a:latin typeface="BIZ UDPGothic"/>
                <a:ea typeface="BIZ UDPGothic"/>
              </a:rPr>
              <a:t>議事録</a:t>
            </a:r>
          </a:p>
          <a:p>
            <a:pPr algn="ctr">
              <a:lnSpc>
                <a:spcPts val="1800"/>
              </a:lnSpc>
            </a:pPr>
            <a:r>
              <a:rPr lang="ja-JP" sz="1200" dirty="0">
                <a:solidFill>
                  <a:srgbClr val="333333"/>
                </a:solidFill>
                <a:latin typeface="BIZ UDPGothic"/>
                <a:ea typeface="BIZ UDPGothic"/>
              </a:rPr>
              <a:t>データアステル作成
白峰側確認で確定</a:t>
            </a:r>
          </a:p>
        </p:txBody>
      </p:sp>
      <p:sp>
        <p:nvSpPr>
          <p:cNvPr id="54" name="S54"/>
          <p:cNvSpPr/>
          <p:nvPr/>
        </p:nvSpPr>
        <p:spPr>
          <a:xfrm>
            <a:off x="9418320" y="3657600"/>
            <a:ext cx="2103120" cy="25603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400"/>
              </a:spcAft>
            </a:pPr>
            <a:r>
              <a:rPr lang="ja-JP" sz="1400" b="1" dirty="0">
                <a:solidFill>
                  <a:srgbClr val="8B2500"/>
                </a:solidFill>
                <a:latin typeface="BIZ UDPGothic"/>
                <a:ea typeface="BIZ UDPGothic"/>
              </a:rPr>
              <a:t>重要判断事項</a:t>
            </a:r>
          </a:p>
          <a:p>
            <a:pPr algn="ctr">
              <a:lnSpc>
                <a:spcPts val="1800"/>
              </a:lnSpc>
            </a:pPr>
            <a:r>
              <a:rPr lang="ja-JP" sz="1200" dirty="0">
                <a:solidFill>
                  <a:srgbClr val="333333"/>
                </a:solidFill>
                <a:latin typeface="BIZ UDPGothic"/>
                <a:ea typeface="BIZ UDPGothic"/>
              </a:rPr>
              <a:t>課題管理表/議事録に記録
口頭合意のみでは確定しない</a:t>
            </a:r>
          </a:p>
        </p:txBody>
      </p:sp>
    </p:spTree>
    <p:extLst>
      <p:ext uri="{BB962C8B-B14F-4D97-AF65-F5344CB8AC3E}">
        <p14:creationId xmlns:p14="http://schemas.microsoft.com/office/powerpoint/2010/main" val="34639531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72000" tIns="18000" rIns="72000" bIns="18000" anchor="ctr"/>
          <a:lstStyle/>
          <a:p>
            <a:endParaRPr lang="ja-JP"/>
          </a:p>
        </p:txBody>
      </p:sp>
      <p:sp>
        <p:nvSpPr>
          <p:cNvPr id="11" name="S11"/>
          <p:cNvSpPr/>
          <p:nvPr/>
        </p:nvSpPr>
        <p:spPr>
          <a:xfrm>
            <a:off x="457200" y="137160"/>
            <a:ext cx="11277600" cy="548640"/>
          </a:xfrm>
          <a:prstGeom prst="rect">
            <a:avLst/>
          </a:prstGeom>
          <a:noFill/>
          <a:ln>
            <a:noFill/>
          </a:ln>
        </p:spPr>
        <p:txBody>
          <a:bodyPr wrap="square" lIns="72000" tIns="18000" rIns="72000" bIns="18000" anchor="ctr"/>
          <a:lstStyle/>
          <a:p>
            <a:pPr algn="l"/>
            <a:r>
              <a:rPr lang="ja-JP" sz="2400" b="1" dirty="0">
                <a:solidFill>
                  <a:srgbClr val="1A1A1A"/>
                </a:solidFill>
                <a:latin typeface="BIZ UDPGothic"/>
                <a:ea typeface="BIZ UDPGothic"/>
              </a:rPr>
              <a:t>6. スケジュール案（10週間）</a:t>
            </a:r>
          </a:p>
        </p:txBody>
      </p:sp>
      <p:sp>
        <p:nvSpPr>
          <p:cNvPr id="12" name="S12"/>
          <p:cNvSpPr/>
          <p:nvPr/>
        </p:nvSpPr>
        <p:spPr>
          <a:xfrm>
            <a:off x="457200" y="700000"/>
            <a:ext cx="5486400" cy="320040"/>
          </a:xfrm>
          <a:prstGeom prst="rect">
            <a:avLst/>
          </a:prstGeom>
          <a:noFill/>
          <a:ln>
            <a:noFill/>
          </a:ln>
        </p:spPr>
        <p:txBody>
          <a:bodyPr wrap="square" lIns="72000" tIns="18000" rIns="72000" bIns="18000" anchor="ctr"/>
          <a:lstStyle/>
          <a:p>
            <a:pPr algn="l"/>
            <a:r>
              <a:rPr lang="ja-JP" sz="1400" dirty="0">
                <a:solidFill>
                  <a:srgbClr val="4A4A4A"/>
                </a:solidFill>
                <a:latin typeface="BIZ UDPGothic"/>
                <a:ea typeface="BIZ UDPGothic"/>
              </a:rPr>
              <a:t>プロジェクト開始日：2025-05-13　契約期間：10週間</a:t>
            </a:r>
          </a:p>
        </p:txBody>
      </p:sp>
      <p:sp>
        <p:nvSpPr>
          <p:cNvPr id="13" name="S13"/>
          <p:cNvSpPr/>
          <p:nvPr/>
        </p:nvSpPr>
        <p:spPr>
          <a:xfrm>
            <a:off x="457200" y="1097280"/>
            <a:ext cx="3200400" cy="365760"/>
          </a:xfrm>
          <a:prstGeom prst="rect">
            <a:avLst/>
          </a:prstGeom>
          <a:noFill/>
          <a:ln>
            <a:noFill/>
          </a:ln>
        </p:spPr>
        <p:txBody>
          <a:bodyPr wrap="square" lIns="72000" tIns="18000" rIns="72000" bIns="18000" anchor="ctr"/>
          <a:lstStyle/>
          <a:p>
            <a:pPr algn="ctr"/>
            <a:r>
              <a:rPr lang="ja-JP" sz="1200" b="1" dirty="0">
                <a:latin typeface="BIZ UDPGothic"/>
                <a:ea typeface="BIZ UDPGothic"/>
              </a:rPr>
              <a:t>主要活動</a:t>
            </a:r>
          </a:p>
        </p:txBody>
      </p:sp>
      <p:sp>
        <p:nvSpPr>
          <p:cNvPr id="61" name="S61"/>
          <p:cNvSpPr/>
          <p:nvPr/>
        </p:nvSpPr>
        <p:spPr>
          <a:xfrm>
            <a:off x="3657600" y="1097280"/>
            <a:ext cx="822960" cy="365760"/>
          </a:xfrm>
          <a:prstGeom prst="rect">
            <a:avLst/>
          </a:prstGeom>
          <a:noFill/>
          <a:ln>
            <a:noFill/>
          </a:ln>
        </p:spPr>
        <p:txBody>
          <a:bodyPr wrap="square" lIns="72000" tIns="18000" rIns="72000" bIns="18000" anchor="ctr"/>
          <a:lstStyle/>
          <a:p>
            <a:pPr algn="ctr"/>
            <a:r>
              <a:rPr lang="ja-JP" sz="1100" b="1" dirty="0">
                <a:latin typeface="BIZ UDPGothic"/>
                <a:ea typeface="BIZ UDPGothic"/>
              </a:rPr>
              <a:t>W1</a:t>
            </a:r>
          </a:p>
        </p:txBody>
      </p:sp>
      <p:sp>
        <p:nvSpPr>
          <p:cNvPr id="62" name="S62"/>
          <p:cNvSpPr/>
          <p:nvPr/>
        </p:nvSpPr>
        <p:spPr>
          <a:xfrm>
            <a:off x="4480560" y="1097280"/>
            <a:ext cx="822960" cy="365760"/>
          </a:xfrm>
          <a:prstGeom prst="rect">
            <a:avLst/>
          </a:prstGeom>
          <a:noFill/>
          <a:ln>
            <a:noFill/>
          </a:ln>
        </p:spPr>
        <p:txBody>
          <a:bodyPr wrap="square" lIns="72000" tIns="18000" rIns="72000" bIns="18000" anchor="ctr"/>
          <a:lstStyle/>
          <a:p>
            <a:pPr algn="ctr"/>
            <a:r>
              <a:rPr lang="ja-JP" sz="1100" b="1" dirty="0">
                <a:latin typeface="BIZ UDPGothic"/>
                <a:ea typeface="BIZ UDPGothic"/>
              </a:rPr>
              <a:t>W2</a:t>
            </a:r>
          </a:p>
        </p:txBody>
      </p:sp>
      <p:sp>
        <p:nvSpPr>
          <p:cNvPr id="63" name="S63"/>
          <p:cNvSpPr/>
          <p:nvPr/>
        </p:nvSpPr>
        <p:spPr>
          <a:xfrm>
            <a:off x="5303520" y="1097280"/>
            <a:ext cx="822960" cy="365760"/>
          </a:xfrm>
          <a:prstGeom prst="rect">
            <a:avLst/>
          </a:prstGeom>
          <a:noFill/>
          <a:ln>
            <a:noFill/>
          </a:ln>
        </p:spPr>
        <p:txBody>
          <a:bodyPr wrap="square" lIns="72000" tIns="18000" rIns="72000" bIns="18000" anchor="ctr"/>
          <a:lstStyle/>
          <a:p>
            <a:pPr algn="ctr"/>
            <a:r>
              <a:rPr lang="ja-JP" sz="1100" b="1" dirty="0">
                <a:latin typeface="BIZ UDPGothic"/>
                <a:ea typeface="BIZ UDPGothic"/>
              </a:rPr>
              <a:t>W3</a:t>
            </a:r>
          </a:p>
        </p:txBody>
      </p:sp>
      <p:sp>
        <p:nvSpPr>
          <p:cNvPr id="64" name="S64"/>
          <p:cNvSpPr/>
          <p:nvPr/>
        </p:nvSpPr>
        <p:spPr>
          <a:xfrm>
            <a:off x="6126480" y="1097280"/>
            <a:ext cx="822960" cy="365760"/>
          </a:xfrm>
          <a:prstGeom prst="rect">
            <a:avLst/>
          </a:prstGeom>
          <a:noFill/>
          <a:ln>
            <a:noFill/>
          </a:ln>
        </p:spPr>
        <p:txBody>
          <a:bodyPr wrap="square" lIns="72000" tIns="18000" rIns="72000" bIns="18000" anchor="ctr"/>
          <a:lstStyle/>
          <a:p>
            <a:pPr algn="ctr"/>
            <a:r>
              <a:rPr lang="ja-JP" sz="1100" b="1" dirty="0">
                <a:latin typeface="BIZ UDPGothic"/>
                <a:ea typeface="BIZ UDPGothic"/>
              </a:rPr>
              <a:t>W4</a:t>
            </a:r>
          </a:p>
        </p:txBody>
      </p:sp>
      <p:sp>
        <p:nvSpPr>
          <p:cNvPr id="65" name="S65"/>
          <p:cNvSpPr/>
          <p:nvPr/>
        </p:nvSpPr>
        <p:spPr>
          <a:xfrm>
            <a:off x="6949440" y="1097280"/>
            <a:ext cx="822960" cy="365760"/>
          </a:xfrm>
          <a:prstGeom prst="rect">
            <a:avLst/>
          </a:prstGeom>
          <a:noFill/>
          <a:ln>
            <a:noFill/>
          </a:ln>
        </p:spPr>
        <p:txBody>
          <a:bodyPr wrap="square" lIns="72000" tIns="18000" rIns="72000" bIns="18000" anchor="ctr"/>
          <a:lstStyle/>
          <a:p>
            <a:pPr algn="ctr"/>
            <a:r>
              <a:rPr lang="ja-JP" sz="1100" b="1" dirty="0">
                <a:latin typeface="BIZ UDPGothic"/>
                <a:ea typeface="BIZ UDPGothic"/>
              </a:rPr>
              <a:t>W5</a:t>
            </a:r>
          </a:p>
        </p:txBody>
      </p:sp>
      <p:sp>
        <p:nvSpPr>
          <p:cNvPr id="66" name="S66"/>
          <p:cNvSpPr/>
          <p:nvPr/>
        </p:nvSpPr>
        <p:spPr>
          <a:xfrm>
            <a:off x="7772400" y="1097280"/>
            <a:ext cx="822960" cy="365760"/>
          </a:xfrm>
          <a:prstGeom prst="rect">
            <a:avLst/>
          </a:prstGeom>
          <a:noFill/>
          <a:ln>
            <a:noFill/>
          </a:ln>
        </p:spPr>
        <p:txBody>
          <a:bodyPr wrap="square" lIns="72000" tIns="18000" rIns="72000" bIns="18000" anchor="ctr"/>
          <a:lstStyle/>
          <a:p>
            <a:pPr algn="ctr"/>
            <a:r>
              <a:rPr lang="ja-JP" sz="1100" b="1" dirty="0">
                <a:latin typeface="BIZ UDPGothic"/>
                <a:ea typeface="BIZ UDPGothic"/>
              </a:rPr>
              <a:t>W6</a:t>
            </a:r>
          </a:p>
        </p:txBody>
      </p:sp>
      <p:sp>
        <p:nvSpPr>
          <p:cNvPr id="67" name="S67"/>
          <p:cNvSpPr/>
          <p:nvPr/>
        </p:nvSpPr>
        <p:spPr>
          <a:xfrm>
            <a:off x="8595360" y="1097280"/>
            <a:ext cx="822960" cy="365760"/>
          </a:xfrm>
          <a:prstGeom prst="rect">
            <a:avLst/>
          </a:prstGeom>
          <a:noFill/>
          <a:ln>
            <a:noFill/>
          </a:ln>
        </p:spPr>
        <p:txBody>
          <a:bodyPr wrap="square" lIns="72000" tIns="18000" rIns="72000" bIns="18000" anchor="ctr"/>
          <a:lstStyle/>
          <a:p>
            <a:pPr algn="ctr"/>
            <a:r>
              <a:rPr lang="ja-JP" sz="1100" b="1" dirty="0">
                <a:latin typeface="BIZ UDPGothic"/>
                <a:ea typeface="BIZ UDPGothic"/>
              </a:rPr>
              <a:t>W7</a:t>
            </a:r>
          </a:p>
        </p:txBody>
      </p:sp>
      <p:sp>
        <p:nvSpPr>
          <p:cNvPr id="68" name="S68"/>
          <p:cNvSpPr/>
          <p:nvPr/>
        </p:nvSpPr>
        <p:spPr>
          <a:xfrm>
            <a:off x="9418320" y="1097280"/>
            <a:ext cx="822960" cy="365760"/>
          </a:xfrm>
          <a:prstGeom prst="rect">
            <a:avLst/>
          </a:prstGeom>
          <a:noFill/>
          <a:ln>
            <a:noFill/>
          </a:ln>
        </p:spPr>
        <p:txBody>
          <a:bodyPr wrap="square" lIns="72000" tIns="18000" rIns="72000" bIns="18000" anchor="ctr"/>
          <a:lstStyle/>
          <a:p>
            <a:pPr algn="ctr"/>
            <a:r>
              <a:rPr lang="ja-JP" sz="1100" b="1" dirty="0">
                <a:latin typeface="BIZ UDPGothic"/>
                <a:ea typeface="BIZ UDPGothic"/>
              </a:rPr>
              <a:t>W8</a:t>
            </a:r>
          </a:p>
        </p:txBody>
      </p:sp>
      <p:sp>
        <p:nvSpPr>
          <p:cNvPr id="69" name="S69"/>
          <p:cNvSpPr/>
          <p:nvPr/>
        </p:nvSpPr>
        <p:spPr>
          <a:xfrm>
            <a:off x="10241280" y="1097280"/>
            <a:ext cx="822960" cy="365760"/>
          </a:xfrm>
          <a:prstGeom prst="rect">
            <a:avLst/>
          </a:prstGeom>
          <a:noFill/>
          <a:ln>
            <a:noFill/>
          </a:ln>
        </p:spPr>
        <p:txBody>
          <a:bodyPr wrap="square" lIns="72000" tIns="18000" rIns="72000" bIns="18000" anchor="ctr"/>
          <a:lstStyle/>
          <a:p>
            <a:pPr algn="ctr"/>
            <a:r>
              <a:rPr lang="ja-JP" sz="1100" b="1" dirty="0">
                <a:latin typeface="BIZ UDPGothic"/>
                <a:ea typeface="BIZ UDPGothic"/>
              </a:rPr>
              <a:t>W9</a:t>
            </a:r>
          </a:p>
        </p:txBody>
      </p:sp>
      <p:sp>
        <p:nvSpPr>
          <p:cNvPr id="70" name="S70"/>
          <p:cNvSpPr/>
          <p:nvPr/>
        </p:nvSpPr>
        <p:spPr>
          <a:xfrm>
            <a:off x="11064240" y="1097280"/>
            <a:ext cx="822960" cy="365760"/>
          </a:xfrm>
          <a:prstGeom prst="rect">
            <a:avLst/>
          </a:prstGeom>
          <a:noFill/>
          <a:ln>
            <a:noFill/>
          </a:ln>
        </p:spPr>
        <p:txBody>
          <a:bodyPr wrap="square" lIns="72000" tIns="18000" rIns="72000" bIns="18000" anchor="ctr"/>
          <a:lstStyle/>
          <a:p>
            <a:pPr algn="ctr"/>
            <a:r>
              <a:rPr lang="ja-JP" sz="1100" b="1" dirty="0">
                <a:latin typeface="BIZ UDPGothic"/>
                <a:ea typeface="BIZ UDPGothic"/>
              </a:rPr>
              <a:t>W10</a:t>
            </a:r>
          </a:p>
        </p:txBody>
      </p:sp>
      <p:sp>
        <p:nvSpPr>
          <p:cNvPr id="30" name="S30"/>
          <p:cNvSpPr/>
          <p:nvPr/>
        </p:nvSpPr>
        <p:spPr>
          <a:xfrm>
            <a:off x="3573556" y="1788136"/>
            <a:ext cx="998444" cy="274320"/>
          </a:xfrm>
          <a:prstGeom prst="roundRect">
            <a:avLst>
              <a:gd name="adj" fmla="val 8000"/>
            </a:avLst>
          </a:prstGeom>
          <a:solidFill>
            <a:schemeClr val="bg1"/>
          </a:solidFill>
          <a:ln>
            <a:noFill/>
          </a:ln>
        </p:spPr>
        <p:txBody>
          <a:bodyPr wrap="square" lIns="72000" tIns="18000" rIns="72000" bIns="18000" anchor="ctr"/>
          <a:lstStyle/>
          <a:p>
            <a:pPr algn="ctr"/>
            <a:r>
              <a:rPr lang="ja-JP" sz="1000" b="1" dirty="0">
                <a:latin typeface="BIZ UDPGothic"/>
                <a:ea typeface="BIZ UDPGothic"/>
              </a:rPr>
              <a:t>議事録・作業計画</a:t>
            </a:r>
          </a:p>
        </p:txBody>
      </p:sp>
      <p:sp>
        <p:nvSpPr>
          <p:cNvPr id="100" name="S100"/>
          <p:cNvSpPr/>
          <p:nvPr/>
        </p:nvSpPr>
        <p:spPr>
          <a:xfrm>
            <a:off x="3657600" y="15087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01" name="S101"/>
          <p:cNvSpPr/>
          <p:nvPr/>
        </p:nvSpPr>
        <p:spPr>
          <a:xfrm>
            <a:off x="4480560" y="15087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02" name="S102"/>
          <p:cNvSpPr/>
          <p:nvPr/>
        </p:nvSpPr>
        <p:spPr>
          <a:xfrm>
            <a:off x="5303520" y="15087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03" name="S103"/>
          <p:cNvSpPr/>
          <p:nvPr/>
        </p:nvSpPr>
        <p:spPr>
          <a:xfrm>
            <a:off x="6126480" y="15087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04" name="S104"/>
          <p:cNvSpPr/>
          <p:nvPr/>
        </p:nvSpPr>
        <p:spPr>
          <a:xfrm>
            <a:off x="6949440" y="15087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05" name="S105"/>
          <p:cNvSpPr/>
          <p:nvPr/>
        </p:nvSpPr>
        <p:spPr>
          <a:xfrm>
            <a:off x="7772400" y="15087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06" name="S106"/>
          <p:cNvSpPr/>
          <p:nvPr/>
        </p:nvSpPr>
        <p:spPr>
          <a:xfrm>
            <a:off x="8595360" y="15087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07" name="S107"/>
          <p:cNvSpPr/>
          <p:nvPr/>
        </p:nvSpPr>
        <p:spPr>
          <a:xfrm>
            <a:off x="9418320" y="15087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08" name="S108"/>
          <p:cNvSpPr/>
          <p:nvPr/>
        </p:nvSpPr>
        <p:spPr>
          <a:xfrm>
            <a:off x="10241280" y="15087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09" name="S109"/>
          <p:cNvSpPr/>
          <p:nvPr/>
        </p:nvSpPr>
        <p:spPr>
          <a:xfrm>
            <a:off x="11064240" y="15087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21" name="S21"/>
          <p:cNvSpPr/>
          <p:nvPr/>
        </p:nvSpPr>
        <p:spPr>
          <a:xfrm>
            <a:off x="457200" y="2194560"/>
            <a:ext cx="3200400" cy="640080"/>
          </a:xfrm>
          <a:prstGeom prst="rect">
            <a:avLst/>
          </a:prstGeom>
          <a:solidFill>
            <a:srgbClr val="FFFFFF"/>
          </a:solidFill>
          <a:ln w="12700">
            <a:solidFill>
              <a:srgbClr val="E0DBD4"/>
            </a:solidFill>
          </a:ln>
        </p:spPr>
        <p:txBody>
          <a:bodyPr wrap="square" lIns="72000" tIns="18000" rIns="72000" bIns="18000" anchor="ctr"/>
          <a:lstStyle/>
          <a:p>
            <a:pPr algn="l">
              <a:lnSpc>
                <a:spcPts val="1600"/>
              </a:lnSpc>
            </a:pPr>
            <a:r>
              <a:rPr lang="ja-JP" sz="1200" b="1" dirty="0">
                <a:solidFill>
                  <a:srgbClr val="333333"/>
                </a:solidFill>
                <a:latin typeface="BIZ UDPGothic"/>
                <a:ea typeface="BIZ UDPGothic"/>
              </a:rPr>
              <a:t>データ理解・品質確認
変数理解</a:t>
            </a:r>
          </a:p>
        </p:txBody>
      </p:sp>
      <p:sp>
        <p:nvSpPr>
          <p:cNvPr id="31" name="S31"/>
          <p:cNvSpPr/>
          <p:nvPr/>
        </p:nvSpPr>
        <p:spPr>
          <a:xfrm>
            <a:off x="4312472" y="2473936"/>
            <a:ext cx="1996888" cy="274320"/>
          </a:xfrm>
          <a:prstGeom prst="roundRect">
            <a:avLst>
              <a:gd name="adj" fmla="val 8000"/>
            </a:avLst>
          </a:prstGeom>
          <a:solidFill>
            <a:schemeClr val="bg1"/>
          </a:solidFill>
          <a:ln>
            <a:noFill/>
          </a:ln>
        </p:spPr>
        <p:txBody>
          <a:bodyPr wrap="square" lIns="72000" tIns="18000" rIns="72000" bIns="18000" anchor="ctr"/>
          <a:lstStyle/>
          <a:p>
            <a:pPr algn="ctr"/>
            <a:r>
              <a:rPr lang="ja-JP" sz="1000" b="1" dirty="0">
                <a:latin typeface="BIZ UDPGothic"/>
                <a:ea typeface="BIZ UDPGothic"/>
              </a:rPr>
              <a:t>確認結果・論点整理</a:t>
            </a:r>
          </a:p>
        </p:txBody>
      </p:sp>
      <p:sp>
        <p:nvSpPr>
          <p:cNvPr id="110" name="S110"/>
          <p:cNvSpPr/>
          <p:nvPr/>
        </p:nvSpPr>
        <p:spPr>
          <a:xfrm>
            <a:off x="3657600" y="21945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11" name="S111"/>
          <p:cNvSpPr/>
          <p:nvPr/>
        </p:nvSpPr>
        <p:spPr>
          <a:xfrm>
            <a:off x="4480560" y="21945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12" name="S112"/>
          <p:cNvSpPr/>
          <p:nvPr/>
        </p:nvSpPr>
        <p:spPr>
          <a:xfrm>
            <a:off x="5303520" y="21945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13" name="S113"/>
          <p:cNvSpPr/>
          <p:nvPr/>
        </p:nvSpPr>
        <p:spPr>
          <a:xfrm>
            <a:off x="6126480" y="21945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14" name="S114"/>
          <p:cNvSpPr/>
          <p:nvPr/>
        </p:nvSpPr>
        <p:spPr>
          <a:xfrm>
            <a:off x="6949440" y="21945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15" name="S115"/>
          <p:cNvSpPr/>
          <p:nvPr/>
        </p:nvSpPr>
        <p:spPr>
          <a:xfrm>
            <a:off x="7772400" y="21945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16" name="S116"/>
          <p:cNvSpPr/>
          <p:nvPr/>
        </p:nvSpPr>
        <p:spPr>
          <a:xfrm>
            <a:off x="8595360" y="21945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17" name="S117"/>
          <p:cNvSpPr/>
          <p:nvPr/>
        </p:nvSpPr>
        <p:spPr>
          <a:xfrm>
            <a:off x="9418320" y="21945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18" name="S118"/>
          <p:cNvSpPr/>
          <p:nvPr/>
        </p:nvSpPr>
        <p:spPr>
          <a:xfrm>
            <a:off x="10241280" y="21945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19" name="S119"/>
          <p:cNvSpPr/>
          <p:nvPr/>
        </p:nvSpPr>
        <p:spPr>
          <a:xfrm>
            <a:off x="11064240" y="21945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22" name="S22"/>
          <p:cNvSpPr/>
          <p:nvPr/>
        </p:nvSpPr>
        <p:spPr>
          <a:xfrm>
            <a:off x="457200" y="2880360"/>
            <a:ext cx="3200400" cy="640080"/>
          </a:xfrm>
          <a:prstGeom prst="rect">
            <a:avLst/>
          </a:prstGeom>
          <a:solidFill>
            <a:srgbClr val="F7F5F2"/>
          </a:solidFill>
          <a:ln w="12700">
            <a:solidFill>
              <a:srgbClr val="E0DBD4"/>
            </a:solidFill>
          </a:ln>
        </p:spPr>
        <p:txBody>
          <a:bodyPr wrap="square" lIns="72000" tIns="18000" rIns="72000" bIns="18000" anchor="ctr"/>
          <a:lstStyle/>
          <a:p>
            <a:pPr algn="l">
              <a:lnSpc>
                <a:spcPts val="1600"/>
              </a:lnSpc>
            </a:pPr>
            <a:r>
              <a:rPr lang="ja-JP" sz="1200" b="1" dirty="0">
                <a:solidFill>
                  <a:srgbClr val="333333"/>
                </a:solidFill>
                <a:latin typeface="BIZ UDPGothic"/>
                <a:ea typeface="BIZ UDPGothic"/>
              </a:rPr>
              <a:t>ベースライン分析
不均衡対応比較</a:t>
            </a:r>
          </a:p>
        </p:txBody>
      </p:sp>
      <p:sp>
        <p:nvSpPr>
          <p:cNvPr id="32" name="S32"/>
          <p:cNvSpPr/>
          <p:nvPr/>
        </p:nvSpPr>
        <p:spPr>
          <a:xfrm>
            <a:off x="5958392" y="3159736"/>
            <a:ext cx="1996888" cy="274320"/>
          </a:xfrm>
          <a:prstGeom prst="roundRect">
            <a:avLst>
              <a:gd name="adj" fmla="val 8000"/>
            </a:avLst>
          </a:prstGeom>
          <a:solidFill>
            <a:schemeClr val="bg1"/>
          </a:solidFill>
          <a:ln>
            <a:noFill/>
          </a:ln>
        </p:spPr>
        <p:txBody>
          <a:bodyPr wrap="square" lIns="72000" tIns="18000" rIns="72000" bIns="18000" anchor="ctr"/>
          <a:lstStyle/>
          <a:p>
            <a:pPr algn="ctr"/>
            <a:r>
              <a:rPr lang="ja-JP" sz="1000" b="1" dirty="0">
                <a:latin typeface="BIZ UDPGothic"/>
                <a:ea typeface="BIZ UDPGothic"/>
              </a:rPr>
              <a:t>中間報告書ドラフト</a:t>
            </a:r>
          </a:p>
        </p:txBody>
      </p:sp>
      <p:sp>
        <p:nvSpPr>
          <p:cNvPr id="120" name="S120"/>
          <p:cNvSpPr/>
          <p:nvPr/>
        </p:nvSpPr>
        <p:spPr>
          <a:xfrm>
            <a:off x="3657600" y="28803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21" name="S121"/>
          <p:cNvSpPr/>
          <p:nvPr/>
        </p:nvSpPr>
        <p:spPr>
          <a:xfrm>
            <a:off x="4480560" y="28803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22" name="S122"/>
          <p:cNvSpPr/>
          <p:nvPr/>
        </p:nvSpPr>
        <p:spPr>
          <a:xfrm>
            <a:off x="5303520" y="28803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23" name="S123"/>
          <p:cNvSpPr/>
          <p:nvPr/>
        </p:nvSpPr>
        <p:spPr>
          <a:xfrm>
            <a:off x="6126480" y="28803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24" name="S124"/>
          <p:cNvSpPr/>
          <p:nvPr/>
        </p:nvSpPr>
        <p:spPr>
          <a:xfrm>
            <a:off x="6949440" y="28803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25" name="S125"/>
          <p:cNvSpPr/>
          <p:nvPr/>
        </p:nvSpPr>
        <p:spPr>
          <a:xfrm>
            <a:off x="7772400" y="28803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26" name="S126"/>
          <p:cNvSpPr/>
          <p:nvPr/>
        </p:nvSpPr>
        <p:spPr>
          <a:xfrm>
            <a:off x="8595360" y="28803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27" name="S127"/>
          <p:cNvSpPr/>
          <p:nvPr/>
        </p:nvSpPr>
        <p:spPr>
          <a:xfrm>
            <a:off x="9418320" y="28803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28" name="S128"/>
          <p:cNvSpPr/>
          <p:nvPr/>
        </p:nvSpPr>
        <p:spPr>
          <a:xfrm>
            <a:off x="10241280" y="28803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29" name="S129"/>
          <p:cNvSpPr/>
          <p:nvPr/>
        </p:nvSpPr>
        <p:spPr>
          <a:xfrm>
            <a:off x="11064240" y="28803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23" name="S23"/>
          <p:cNvSpPr/>
          <p:nvPr/>
        </p:nvSpPr>
        <p:spPr>
          <a:xfrm>
            <a:off x="457200" y="3566160"/>
            <a:ext cx="3200400" cy="640080"/>
          </a:xfrm>
          <a:prstGeom prst="rect">
            <a:avLst/>
          </a:prstGeom>
          <a:solidFill>
            <a:srgbClr val="FFFFFF"/>
          </a:solidFill>
          <a:ln w="12700">
            <a:solidFill>
              <a:srgbClr val="E0DBD4"/>
            </a:solidFill>
          </a:ln>
        </p:spPr>
        <p:txBody>
          <a:bodyPr wrap="square" lIns="72000" tIns="18000" rIns="72000" bIns="18000" anchor="ctr"/>
          <a:lstStyle/>
          <a:p>
            <a:pPr algn="l">
              <a:lnSpc>
                <a:spcPts val="1600"/>
              </a:lnSpc>
            </a:pPr>
            <a:r>
              <a:rPr lang="ja-JP" sz="1200" b="1" dirty="0">
                <a:solidFill>
                  <a:srgbClr val="333333"/>
                </a:solidFill>
                <a:latin typeface="BIZ UDPGothic"/>
                <a:ea typeface="BIZ UDPGothic"/>
              </a:rPr>
              <a:t>モデル高度化
説明性・セグメント分析</a:t>
            </a:r>
          </a:p>
        </p:txBody>
      </p:sp>
      <p:sp>
        <p:nvSpPr>
          <p:cNvPr id="33" name="S33"/>
          <p:cNvSpPr/>
          <p:nvPr/>
        </p:nvSpPr>
        <p:spPr>
          <a:xfrm>
            <a:off x="7052982" y="3903683"/>
            <a:ext cx="4011258" cy="274320"/>
          </a:xfrm>
          <a:prstGeom prst="roundRect">
            <a:avLst>
              <a:gd name="adj" fmla="val 8000"/>
            </a:avLst>
          </a:prstGeom>
          <a:solidFill>
            <a:schemeClr val="bg1"/>
          </a:solidFill>
          <a:ln>
            <a:noFill/>
          </a:ln>
        </p:spPr>
        <p:txBody>
          <a:bodyPr wrap="square" lIns="72000" tIns="18000" rIns="72000" bIns="18000" anchor="ctr"/>
          <a:lstStyle/>
          <a:p>
            <a:pPr algn="ctr"/>
            <a:r>
              <a:rPr lang="ja-JP" sz="1000" b="1" dirty="0">
                <a:latin typeface="BIZ UDPGothic"/>
                <a:ea typeface="BIZ UDPGothic"/>
              </a:rPr>
              <a:t>モデル比較表・説明資料</a:t>
            </a:r>
          </a:p>
        </p:txBody>
      </p:sp>
      <p:sp>
        <p:nvSpPr>
          <p:cNvPr id="130" name="S130"/>
          <p:cNvSpPr/>
          <p:nvPr/>
        </p:nvSpPr>
        <p:spPr>
          <a:xfrm>
            <a:off x="3657600" y="35661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31" name="S131"/>
          <p:cNvSpPr/>
          <p:nvPr/>
        </p:nvSpPr>
        <p:spPr>
          <a:xfrm>
            <a:off x="4480560" y="35661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32" name="S132"/>
          <p:cNvSpPr/>
          <p:nvPr/>
        </p:nvSpPr>
        <p:spPr>
          <a:xfrm>
            <a:off x="5303520" y="35661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33" name="S133"/>
          <p:cNvSpPr/>
          <p:nvPr/>
        </p:nvSpPr>
        <p:spPr>
          <a:xfrm>
            <a:off x="6126480" y="35661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34" name="S134"/>
          <p:cNvSpPr/>
          <p:nvPr/>
        </p:nvSpPr>
        <p:spPr>
          <a:xfrm>
            <a:off x="6949440" y="35661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35" name="S135"/>
          <p:cNvSpPr/>
          <p:nvPr/>
        </p:nvSpPr>
        <p:spPr>
          <a:xfrm>
            <a:off x="7772400" y="35661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36" name="S136"/>
          <p:cNvSpPr/>
          <p:nvPr/>
        </p:nvSpPr>
        <p:spPr>
          <a:xfrm>
            <a:off x="8595360" y="35661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37" name="S137"/>
          <p:cNvSpPr/>
          <p:nvPr/>
        </p:nvSpPr>
        <p:spPr>
          <a:xfrm>
            <a:off x="9418320" y="35661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38" name="S138"/>
          <p:cNvSpPr/>
          <p:nvPr/>
        </p:nvSpPr>
        <p:spPr>
          <a:xfrm>
            <a:off x="10241280" y="35661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39" name="S139"/>
          <p:cNvSpPr/>
          <p:nvPr/>
        </p:nvSpPr>
        <p:spPr>
          <a:xfrm>
            <a:off x="11064240" y="35661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24" name="S24"/>
          <p:cNvSpPr/>
          <p:nvPr/>
        </p:nvSpPr>
        <p:spPr>
          <a:xfrm>
            <a:off x="457200" y="4251960"/>
            <a:ext cx="3200400" cy="640080"/>
          </a:xfrm>
          <a:prstGeom prst="rect">
            <a:avLst/>
          </a:prstGeom>
          <a:solidFill>
            <a:srgbClr val="F7F5F2"/>
          </a:solidFill>
          <a:ln w="12700">
            <a:solidFill>
              <a:srgbClr val="E0DBD4"/>
            </a:solidFill>
          </a:ln>
        </p:spPr>
        <p:txBody>
          <a:bodyPr wrap="square" lIns="72000" tIns="18000" rIns="72000" bIns="18000" anchor="ctr"/>
          <a:lstStyle/>
          <a:p>
            <a:pPr algn="l">
              <a:lnSpc>
                <a:spcPts val="1600"/>
              </a:lnSpc>
            </a:pPr>
            <a:r>
              <a:rPr lang="ja-JP" sz="1200" b="1" dirty="0">
                <a:solidFill>
                  <a:srgbClr val="333333"/>
                </a:solidFill>
                <a:latin typeface="BIZ UDPGothic"/>
                <a:ea typeface="BIZ UDPGothic"/>
              </a:rPr>
              <a:t>最終整理・KPI確定
最終報告・検収</a:t>
            </a:r>
          </a:p>
        </p:txBody>
      </p:sp>
      <p:sp>
        <p:nvSpPr>
          <p:cNvPr id="34" name="S34"/>
          <p:cNvSpPr/>
          <p:nvPr/>
        </p:nvSpPr>
        <p:spPr>
          <a:xfrm>
            <a:off x="10073192" y="4531336"/>
            <a:ext cx="1996888" cy="274320"/>
          </a:xfrm>
          <a:prstGeom prst="roundRect">
            <a:avLst>
              <a:gd name="adj" fmla="val 8000"/>
            </a:avLst>
          </a:prstGeom>
          <a:solidFill>
            <a:schemeClr val="bg1"/>
          </a:solidFill>
          <a:ln>
            <a:noFill/>
          </a:ln>
        </p:spPr>
        <p:txBody>
          <a:bodyPr wrap="square" lIns="72000" tIns="18000" rIns="72000" bIns="18000" anchor="ctr"/>
          <a:lstStyle/>
          <a:p>
            <a:pPr algn="ctr"/>
            <a:r>
              <a:rPr lang="ja-JP" sz="1000" b="1" dirty="0">
                <a:latin typeface="BIZ UDPGothic"/>
                <a:ea typeface="BIZ UDPGothic"/>
              </a:rPr>
              <a:t>最終報告書</a:t>
            </a:r>
          </a:p>
        </p:txBody>
      </p:sp>
      <p:sp>
        <p:nvSpPr>
          <p:cNvPr id="140" name="S140"/>
          <p:cNvSpPr/>
          <p:nvPr/>
        </p:nvSpPr>
        <p:spPr>
          <a:xfrm>
            <a:off x="3657600" y="42519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41" name="S141"/>
          <p:cNvSpPr/>
          <p:nvPr/>
        </p:nvSpPr>
        <p:spPr>
          <a:xfrm>
            <a:off x="4480560" y="42519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42" name="S142"/>
          <p:cNvSpPr/>
          <p:nvPr/>
        </p:nvSpPr>
        <p:spPr>
          <a:xfrm>
            <a:off x="5303520" y="42519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43" name="S143"/>
          <p:cNvSpPr/>
          <p:nvPr/>
        </p:nvSpPr>
        <p:spPr>
          <a:xfrm>
            <a:off x="6126480" y="42519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44" name="S144"/>
          <p:cNvSpPr/>
          <p:nvPr/>
        </p:nvSpPr>
        <p:spPr>
          <a:xfrm>
            <a:off x="6949440" y="42519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45" name="S145"/>
          <p:cNvSpPr/>
          <p:nvPr/>
        </p:nvSpPr>
        <p:spPr>
          <a:xfrm>
            <a:off x="7772400" y="42519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46" name="S146"/>
          <p:cNvSpPr/>
          <p:nvPr/>
        </p:nvSpPr>
        <p:spPr>
          <a:xfrm>
            <a:off x="8595360" y="42519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47" name="S147"/>
          <p:cNvSpPr/>
          <p:nvPr/>
        </p:nvSpPr>
        <p:spPr>
          <a:xfrm>
            <a:off x="9418320" y="42519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48" name="S148"/>
          <p:cNvSpPr/>
          <p:nvPr/>
        </p:nvSpPr>
        <p:spPr>
          <a:xfrm>
            <a:off x="10241280" y="42519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49" name="S149"/>
          <p:cNvSpPr/>
          <p:nvPr/>
        </p:nvSpPr>
        <p:spPr>
          <a:xfrm>
            <a:off x="11064240" y="42519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80" name="S80"/>
          <p:cNvSpPr/>
          <p:nvPr/>
        </p:nvSpPr>
        <p:spPr>
          <a:xfrm>
            <a:off x="457200" y="4983480"/>
            <a:ext cx="11277600" cy="640080"/>
          </a:xfrm>
          <a:prstGeom prst="roundRect">
            <a:avLst>
              <a:gd name="adj" fmla="val 8000"/>
            </a:avLst>
          </a:prstGeom>
          <a:solidFill>
            <a:srgbClr val="F2F0ED"/>
          </a:solidFill>
          <a:ln w="12700">
            <a:solidFill>
              <a:srgbClr val="D0C8BE"/>
            </a:solidFill>
          </a:ln>
        </p:spPr>
        <p:txBody>
          <a:bodyPr wrap="square" lIns="72000" tIns="18000" rIns="72000" bIns="18000" anchor="ctr"/>
          <a:lstStyle/>
          <a:p>
            <a:pPr algn="l">
              <a:lnSpc>
                <a:spcPts val="2000"/>
              </a:lnSpc>
            </a:pPr>
            <a:r>
              <a:rPr lang="ja-JP" sz="1300" b="1" dirty="0">
                <a:solidFill>
                  <a:srgbClr val="8B2500"/>
                </a:solidFill>
                <a:latin typeface="BIZ UDPGothic"/>
                <a:ea typeface="BIZ UDPGothic"/>
              </a:rPr>
              <a:t>レビュー：</a:t>
            </a:r>
            <a:r>
              <a:rPr lang="ja-JP" sz="1300" dirty="0">
                <a:solidFill>
                  <a:srgbClr val="333333"/>
                </a:solidFill>
                <a:latin typeface="BIZ UDPGothic"/>
                <a:ea typeface="BIZ UDPGothic"/>
              </a:rPr>
              <a:t>第1回 分析方針・前処理方針確認 ／ 第2回 モデル比較結果・採用候補方針確認 ／ 最終 成果物確認・検収</a:t>
            </a:r>
          </a:p>
        </p:txBody>
      </p:sp>
      <p:cxnSp>
        <p:nvCxnSpPr>
          <p:cNvPr id="3" name="直線矢印コネクタ 2">
            <a:extLst>
              <a:ext uri="{FF2B5EF4-FFF2-40B4-BE49-F238E27FC236}">
                <a16:creationId xmlns:a16="http://schemas.microsoft.com/office/drawing/2014/main" id="{EE015328-5455-CF0C-2D61-A9F007AC40D2}"/>
              </a:ext>
            </a:extLst>
          </p:cNvPr>
          <p:cNvCxnSpPr>
            <a:cxnSpLocks/>
          </p:cNvCxnSpPr>
          <p:nvPr/>
        </p:nvCxnSpPr>
        <p:spPr>
          <a:xfrm flipH="1">
            <a:off x="3657600" y="1627094"/>
            <a:ext cx="822960"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 name="直線矢印コネクタ 4">
            <a:extLst>
              <a:ext uri="{FF2B5EF4-FFF2-40B4-BE49-F238E27FC236}">
                <a16:creationId xmlns:a16="http://schemas.microsoft.com/office/drawing/2014/main" id="{66F53B63-A4C6-A45F-50E9-39638C1B5A09}"/>
              </a:ext>
            </a:extLst>
          </p:cNvPr>
          <p:cNvCxnSpPr>
            <a:cxnSpLocks/>
          </p:cNvCxnSpPr>
          <p:nvPr/>
        </p:nvCxnSpPr>
        <p:spPr>
          <a:xfrm flipH="1">
            <a:off x="4480560" y="2357718"/>
            <a:ext cx="1645920"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7" name="直線矢印コネクタ 6">
            <a:extLst>
              <a:ext uri="{FF2B5EF4-FFF2-40B4-BE49-F238E27FC236}">
                <a16:creationId xmlns:a16="http://schemas.microsoft.com/office/drawing/2014/main" id="{23DD52B3-5A34-BB7C-BE04-C91B02B5131F}"/>
              </a:ext>
            </a:extLst>
          </p:cNvPr>
          <p:cNvCxnSpPr>
            <a:cxnSpLocks/>
          </p:cNvCxnSpPr>
          <p:nvPr/>
        </p:nvCxnSpPr>
        <p:spPr>
          <a:xfrm flipH="1">
            <a:off x="6126480" y="3034553"/>
            <a:ext cx="1645920"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8" name="直線矢印コネクタ 7">
            <a:extLst>
              <a:ext uri="{FF2B5EF4-FFF2-40B4-BE49-F238E27FC236}">
                <a16:creationId xmlns:a16="http://schemas.microsoft.com/office/drawing/2014/main" id="{1DB0985E-67C4-BC65-47D0-2EDDB566B1B4}"/>
              </a:ext>
            </a:extLst>
          </p:cNvPr>
          <p:cNvCxnSpPr>
            <a:cxnSpLocks/>
          </p:cNvCxnSpPr>
          <p:nvPr/>
        </p:nvCxnSpPr>
        <p:spPr>
          <a:xfrm flipH="1">
            <a:off x="7772400" y="3723715"/>
            <a:ext cx="2468880"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4" name="直線矢印コネクタ 13">
            <a:extLst>
              <a:ext uri="{FF2B5EF4-FFF2-40B4-BE49-F238E27FC236}">
                <a16:creationId xmlns:a16="http://schemas.microsoft.com/office/drawing/2014/main" id="{E1D1E990-BC47-EED2-5303-7FB54FBFD50B}"/>
              </a:ext>
            </a:extLst>
          </p:cNvPr>
          <p:cNvCxnSpPr>
            <a:cxnSpLocks/>
          </p:cNvCxnSpPr>
          <p:nvPr/>
        </p:nvCxnSpPr>
        <p:spPr>
          <a:xfrm flipH="1">
            <a:off x="10241280" y="4436409"/>
            <a:ext cx="1645920"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0" name="S20"/>
          <p:cNvSpPr/>
          <p:nvPr/>
        </p:nvSpPr>
        <p:spPr>
          <a:xfrm>
            <a:off x="457200" y="1508760"/>
            <a:ext cx="3200400" cy="640080"/>
          </a:xfrm>
          <a:prstGeom prst="rect">
            <a:avLst/>
          </a:prstGeom>
          <a:solidFill>
            <a:srgbClr val="F7F5F2"/>
          </a:solidFill>
          <a:ln w="12700">
            <a:solidFill>
              <a:srgbClr val="E0DBD4"/>
            </a:solidFill>
          </a:ln>
        </p:spPr>
        <p:txBody>
          <a:bodyPr wrap="square" lIns="72000" tIns="18000" rIns="72000" bIns="18000" anchor="ctr"/>
          <a:lstStyle/>
          <a:p>
            <a:pPr algn="l">
              <a:lnSpc>
                <a:spcPts val="1600"/>
              </a:lnSpc>
            </a:pPr>
            <a:r>
              <a:rPr lang="ja-JP" sz="1200" b="1" dirty="0">
                <a:solidFill>
                  <a:srgbClr val="333333"/>
                </a:solidFill>
                <a:latin typeface="BIZ UDPGothic"/>
                <a:ea typeface="BIZ UDPGothic"/>
              </a:rPr>
              <a:t>キックオフ・要件確認
データ受領確認</a:t>
            </a:r>
          </a:p>
        </p:txBody>
      </p:sp>
    </p:spTree>
    <p:extLst>
      <p:ext uri="{BB962C8B-B14F-4D97-AF65-F5344CB8AC3E}">
        <p14:creationId xmlns:p14="http://schemas.microsoft.com/office/powerpoint/2010/main" val="19974268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91440" tIns="45720" rIns="91440" bIns="45720" anchor="ctr"/>
          <a:lstStyle/>
          <a:p>
            <a:endParaRPr lang="ja-JP"/>
          </a:p>
        </p:txBody>
      </p:sp>
      <p:sp>
        <p:nvSpPr>
          <p:cNvPr id="11" name="S11"/>
          <p:cNvSpPr/>
          <p:nvPr/>
        </p:nvSpPr>
        <p:spPr>
          <a:xfrm>
            <a:off x="457200" y="137160"/>
            <a:ext cx="11277600" cy="548640"/>
          </a:xfrm>
          <a:prstGeom prst="rect">
            <a:avLst/>
          </a:prstGeom>
          <a:noFill/>
          <a:ln>
            <a:noFill/>
          </a:ln>
        </p:spPr>
        <p:txBody>
          <a:bodyPr wrap="square" lIns="91440" tIns="45720" rIns="91440" bIns="45720" anchor="ctr"/>
          <a:lstStyle/>
          <a:p>
            <a:pPr algn="l"/>
            <a:r>
              <a:rPr lang="ja-JP" sz="2400" b="1" dirty="0">
                <a:solidFill>
                  <a:srgbClr val="1A1A1A"/>
                </a:solidFill>
                <a:latin typeface="BIZ UDPGothic"/>
                <a:ea typeface="BIZ UDPGothic"/>
              </a:rPr>
              <a:t>7. 成果物定義</a:t>
            </a:r>
          </a:p>
        </p:txBody>
      </p:sp>
      <p:sp>
        <p:nvSpPr>
          <p:cNvPr id="12" name="S12"/>
          <p:cNvSpPr/>
          <p:nvPr/>
        </p:nvSpPr>
        <p:spPr>
          <a:xfrm>
            <a:off x="457200" y="800000"/>
            <a:ext cx="11277600" cy="365760"/>
          </a:xfrm>
          <a:prstGeom prst="roundRect">
            <a:avLst>
              <a:gd name="adj" fmla="val 8000"/>
            </a:avLst>
          </a:prstGeom>
          <a:solidFill>
            <a:srgbClr val="8B2500"/>
          </a:solidFill>
          <a:ln>
            <a:noFill/>
          </a:ln>
        </p:spPr>
        <p:txBody>
          <a:bodyPr wrap="square" lIns="91440" tIns="45720" rIns="91440" bIns="45720" anchor="ctr"/>
          <a:lstStyle/>
          <a:p>
            <a:pPr algn="ctr"/>
            <a:r>
              <a:rPr lang="ja-JP" sz="1500" b="1" dirty="0">
                <a:solidFill>
                  <a:srgbClr val="FFFFFF"/>
                </a:solidFill>
                <a:latin typeface="BIZ UDPGothic"/>
                <a:ea typeface="BIZ UDPGothic"/>
              </a:rPr>
              <a:t>契約成果物</a:t>
            </a:r>
          </a:p>
        </p:txBody>
      </p:sp>
      <p:sp>
        <p:nvSpPr>
          <p:cNvPr id="20" name="S20"/>
          <p:cNvSpPr/>
          <p:nvPr/>
        </p:nvSpPr>
        <p:spPr>
          <a:xfrm>
            <a:off x="457200" y="1234440"/>
            <a:ext cx="3566160" cy="137160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300"/>
              </a:spcAft>
            </a:pPr>
            <a:r>
              <a:rPr lang="ja-JP" sz="1500" b="1" dirty="0">
                <a:solidFill>
                  <a:srgbClr val="8B2500"/>
                </a:solidFill>
                <a:latin typeface="BIZ UDPGothic"/>
                <a:ea typeface="BIZ UDPGothic"/>
              </a:rPr>
              <a:t>提案書</a:t>
            </a:r>
          </a:p>
          <a:p>
            <a:pPr algn="ctr">
              <a:lnSpc>
                <a:spcPts val="1800"/>
              </a:lnSpc>
            </a:pPr>
            <a:r>
              <a:rPr lang="ja-JP" sz="1200" dirty="0">
                <a:solidFill>
                  <a:srgbClr val="333333"/>
                </a:solidFill>
                <a:latin typeface="BIZ UDPGothic"/>
                <a:ea typeface="BIZ UDPGothic"/>
              </a:rPr>
              <a:t>目的・スコープ・アプローチ・
体制・費用・前提条件を定義</a:t>
            </a:r>
          </a:p>
        </p:txBody>
      </p:sp>
      <p:sp>
        <p:nvSpPr>
          <p:cNvPr id="21" name="S21"/>
          <p:cNvSpPr/>
          <p:nvPr/>
        </p:nvSpPr>
        <p:spPr>
          <a:xfrm>
            <a:off x="4160520" y="1234440"/>
            <a:ext cx="3566160" cy="137160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300"/>
              </a:spcAft>
            </a:pPr>
            <a:r>
              <a:rPr lang="ja-JP" sz="1500" b="1" dirty="0">
                <a:solidFill>
                  <a:srgbClr val="8B2500"/>
                </a:solidFill>
                <a:latin typeface="BIZ UDPGothic"/>
                <a:ea typeface="BIZ UDPGothic"/>
              </a:rPr>
              <a:t>契約ドラフト</a:t>
            </a:r>
          </a:p>
          <a:p>
            <a:pPr algn="ctr">
              <a:lnSpc>
                <a:spcPts val="1800"/>
              </a:lnSpc>
            </a:pPr>
            <a:r>
              <a:rPr lang="ja-JP" sz="1200" dirty="0">
                <a:solidFill>
                  <a:srgbClr val="333333"/>
                </a:solidFill>
                <a:latin typeface="BIZ UDPGothic"/>
                <a:ea typeface="BIZ UDPGothic"/>
              </a:rPr>
              <a:t>スコープ・責任分界・
変更管理・検収条件を整理</a:t>
            </a:r>
          </a:p>
        </p:txBody>
      </p:sp>
      <p:sp>
        <p:nvSpPr>
          <p:cNvPr id="22" name="S22"/>
          <p:cNvSpPr/>
          <p:nvPr/>
        </p:nvSpPr>
        <p:spPr>
          <a:xfrm>
            <a:off x="7863840" y="1234440"/>
            <a:ext cx="3566160" cy="137160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300"/>
              </a:spcAft>
            </a:pPr>
            <a:r>
              <a:rPr lang="ja-JP" sz="1500" b="1" dirty="0">
                <a:solidFill>
                  <a:srgbClr val="8B2500"/>
                </a:solidFill>
                <a:latin typeface="BIZ UDPGothic"/>
                <a:ea typeface="BIZ UDPGothic"/>
              </a:rPr>
              <a:t>スケジュール</a:t>
            </a:r>
          </a:p>
          <a:p>
            <a:pPr algn="ctr">
              <a:lnSpc>
                <a:spcPts val="1800"/>
              </a:lnSpc>
            </a:pPr>
            <a:r>
              <a:rPr lang="ja-JP" sz="1200" dirty="0">
                <a:solidFill>
                  <a:srgbClr val="333333"/>
                </a:solidFill>
                <a:latin typeface="BIZ UDPGothic"/>
                <a:ea typeface="BIZ UDPGothic"/>
              </a:rPr>
              <a:t>10週間の作業計画・
レビュー時点・提出タイミング</a:t>
            </a:r>
          </a:p>
        </p:txBody>
      </p:sp>
      <p:sp>
        <p:nvSpPr>
          <p:cNvPr id="23" name="S23"/>
          <p:cNvSpPr/>
          <p:nvPr/>
        </p:nvSpPr>
        <p:spPr>
          <a:xfrm>
            <a:off x="457200" y="2743200"/>
            <a:ext cx="3566160" cy="137160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300"/>
              </a:spcAft>
            </a:pPr>
            <a:r>
              <a:rPr lang="ja-JP" sz="1500" b="1" dirty="0">
                <a:solidFill>
                  <a:srgbClr val="8B2500"/>
                </a:solidFill>
                <a:latin typeface="BIZ UDPGothic"/>
                <a:ea typeface="BIZ UDPGothic"/>
              </a:rPr>
              <a:t>議事録</a:t>
            </a:r>
          </a:p>
          <a:p>
            <a:pPr algn="ctr">
              <a:lnSpc>
                <a:spcPts val="1800"/>
              </a:lnSpc>
            </a:pPr>
            <a:r>
              <a:rPr lang="ja-JP" sz="1200" dirty="0">
                <a:solidFill>
                  <a:srgbClr val="333333"/>
                </a:solidFill>
                <a:latin typeface="BIZ UDPGothic"/>
                <a:ea typeface="BIZ UDPGothic"/>
              </a:rPr>
              <a:t>定例会・レビュー会の
決定事項・課題・宿題を記録</a:t>
            </a:r>
          </a:p>
        </p:txBody>
      </p:sp>
      <p:sp>
        <p:nvSpPr>
          <p:cNvPr id="24" name="S24"/>
          <p:cNvSpPr/>
          <p:nvPr/>
        </p:nvSpPr>
        <p:spPr>
          <a:xfrm>
            <a:off x="4160520" y="2743200"/>
            <a:ext cx="3566160" cy="137160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300"/>
              </a:spcAft>
            </a:pPr>
            <a:r>
              <a:rPr lang="ja-JP" sz="1500" b="1" dirty="0">
                <a:solidFill>
                  <a:srgbClr val="8B2500"/>
                </a:solidFill>
                <a:latin typeface="BIZ UDPGothic"/>
                <a:ea typeface="BIZ UDPGothic"/>
              </a:rPr>
              <a:t>中間報告書</a:t>
            </a:r>
          </a:p>
          <a:p>
            <a:pPr algn="ctr">
              <a:lnSpc>
                <a:spcPts val="1800"/>
              </a:lnSpc>
            </a:pPr>
            <a:r>
              <a:rPr lang="ja-JP" sz="1200" dirty="0">
                <a:solidFill>
                  <a:srgbClr val="333333"/>
                </a:solidFill>
                <a:latin typeface="BIZ UDPGothic"/>
                <a:ea typeface="BIZ UDPGothic"/>
              </a:rPr>
              <a:t>データ理解・欠損/外れ値方針
ベースライン結果・主要論点</a:t>
            </a:r>
          </a:p>
        </p:txBody>
      </p:sp>
      <p:sp>
        <p:nvSpPr>
          <p:cNvPr id="25" name="S25"/>
          <p:cNvSpPr/>
          <p:nvPr/>
        </p:nvSpPr>
        <p:spPr>
          <a:xfrm>
            <a:off x="7863840" y="2743200"/>
            <a:ext cx="3566160" cy="137160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300"/>
              </a:spcAft>
            </a:pPr>
            <a:r>
              <a:rPr lang="ja-JP" sz="1500" b="1" dirty="0">
                <a:solidFill>
                  <a:srgbClr val="8B2500"/>
                </a:solidFill>
                <a:latin typeface="BIZ UDPGothic"/>
                <a:ea typeface="BIZ UDPGothic"/>
              </a:rPr>
              <a:t>最終報告書</a:t>
            </a:r>
          </a:p>
          <a:p>
            <a:pPr algn="ctr">
              <a:lnSpc>
                <a:spcPts val="1800"/>
              </a:lnSpc>
            </a:pPr>
            <a:r>
              <a:rPr lang="ja-JP" sz="1200" dirty="0">
                <a:solidFill>
                  <a:srgbClr val="333333"/>
                </a:solidFill>
                <a:latin typeface="BIZ UDPGothic"/>
                <a:ea typeface="BIZ UDPGothic"/>
              </a:rPr>
              <a:t>モデル比較・KPI評価・重要変数
リスクセグメント・導入示唆</a:t>
            </a:r>
          </a:p>
        </p:txBody>
      </p:sp>
      <p:sp>
        <p:nvSpPr>
          <p:cNvPr id="40" name="S40"/>
          <p:cNvSpPr/>
          <p:nvPr/>
        </p:nvSpPr>
        <p:spPr>
          <a:xfrm>
            <a:off x="457200" y="4389120"/>
            <a:ext cx="11277600" cy="365760"/>
          </a:xfrm>
          <a:prstGeom prst="roundRect">
            <a:avLst>
              <a:gd name="adj" fmla="val 8000"/>
            </a:avLst>
          </a:prstGeom>
          <a:solidFill>
            <a:srgbClr val="4A4A4A"/>
          </a:solidFill>
          <a:ln>
            <a:noFill/>
          </a:ln>
        </p:spPr>
        <p:txBody>
          <a:bodyPr wrap="square" lIns="91440" tIns="45720" rIns="91440" bIns="45720" anchor="ctr"/>
          <a:lstStyle/>
          <a:p>
            <a:pPr algn="ctr"/>
            <a:r>
              <a:rPr lang="ja-JP" sz="1500" b="1" dirty="0">
                <a:solidFill>
                  <a:srgbClr val="FFFFFF"/>
                </a:solidFill>
                <a:latin typeface="BIZ UDPGothic"/>
                <a:ea typeface="BIZ UDPGothic"/>
              </a:rPr>
              <a:t>分析付随成果</a:t>
            </a:r>
          </a:p>
        </p:txBody>
      </p:sp>
      <p:sp>
        <p:nvSpPr>
          <p:cNvPr id="50" name="S50"/>
          <p:cNvSpPr/>
          <p:nvPr/>
        </p:nvSpPr>
        <p:spPr>
          <a:xfrm>
            <a:off x="457200" y="4846320"/>
            <a:ext cx="1737360" cy="7315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r>
              <a:rPr lang="ja-JP" sz="1200" dirty="0">
                <a:solidFill>
                  <a:srgbClr val="333333"/>
                </a:solidFill>
                <a:latin typeface="BIZ UDPGothic"/>
                <a:ea typeface="BIZ UDPGothic"/>
              </a:rPr>
              <a:t>データ確認結果サマリ</a:t>
            </a:r>
          </a:p>
        </p:txBody>
      </p:sp>
      <p:sp>
        <p:nvSpPr>
          <p:cNvPr id="51" name="S51"/>
          <p:cNvSpPr/>
          <p:nvPr/>
        </p:nvSpPr>
        <p:spPr>
          <a:xfrm>
            <a:off x="2286000" y="4846320"/>
            <a:ext cx="1737360" cy="7315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r>
              <a:rPr lang="ja-JP" sz="1200" dirty="0">
                <a:solidFill>
                  <a:srgbClr val="333333"/>
                </a:solidFill>
                <a:latin typeface="BIZ UDPGothic"/>
                <a:ea typeface="BIZ UDPGothic"/>
              </a:rPr>
              <a:t>前処理仕様</a:t>
            </a:r>
          </a:p>
        </p:txBody>
      </p:sp>
      <p:sp>
        <p:nvSpPr>
          <p:cNvPr id="52" name="S52"/>
          <p:cNvSpPr/>
          <p:nvPr/>
        </p:nvSpPr>
        <p:spPr>
          <a:xfrm>
            <a:off x="4114800" y="4846320"/>
            <a:ext cx="1737360" cy="7315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r>
              <a:rPr lang="ja-JP" sz="1200" dirty="0">
                <a:solidFill>
                  <a:srgbClr val="333333"/>
                </a:solidFill>
                <a:latin typeface="BIZ UDPGothic"/>
                <a:ea typeface="BIZ UDPGothic"/>
              </a:rPr>
              <a:t>評価指標定義</a:t>
            </a:r>
          </a:p>
        </p:txBody>
      </p:sp>
      <p:sp>
        <p:nvSpPr>
          <p:cNvPr id="53" name="S53"/>
          <p:cNvSpPr/>
          <p:nvPr/>
        </p:nvSpPr>
        <p:spPr>
          <a:xfrm>
            <a:off x="5943600" y="4846320"/>
            <a:ext cx="1737360" cy="7315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r>
              <a:rPr lang="ja-JP" sz="1200" dirty="0">
                <a:solidFill>
                  <a:srgbClr val="333333"/>
                </a:solidFill>
                <a:latin typeface="BIZ UDPGothic"/>
                <a:ea typeface="BIZ UDPGothic"/>
              </a:rPr>
              <a:t>モデル比較表</a:t>
            </a:r>
          </a:p>
        </p:txBody>
      </p:sp>
      <p:sp>
        <p:nvSpPr>
          <p:cNvPr id="54" name="S54"/>
          <p:cNvSpPr/>
          <p:nvPr/>
        </p:nvSpPr>
        <p:spPr>
          <a:xfrm>
            <a:off x="7772400" y="4846320"/>
            <a:ext cx="1737360" cy="7315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r>
              <a:rPr lang="ja-JP" sz="1200" dirty="0">
                <a:solidFill>
                  <a:srgbClr val="333333"/>
                </a:solidFill>
                <a:latin typeface="BIZ UDPGothic"/>
                <a:ea typeface="BIZ UDPGothic"/>
              </a:rPr>
              <a:t>特徴量重要度/寄与説明資料</a:t>
            </a:r>
          </a:p>
        </p:txBody>
      </p:sp>
      <p:sp>
        <p:nvSpPr>
          <p:cNvPr id="55" name="S55"/>
          <p:cNvSpPr/>
          <p:nvPr/>
        </p:nvSpPr>
        <p:spPr>
          <a:xfrm>
            <a:off x="9601200" y="4846320"/>
            <a:ext cx="1737360" cy="7315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r>
              <a:rPr lang="ja-JP" sz="1200" dirty="0">
                <a:solidFill>
                  <a:srgbClr val="333333"/>
                </a:solidFill>
                <a:latin typeface="BIZ UDPGothic"/>
                <a:ea typeface="BIZ UDPGothic"/>
              </a:rPr>
              <a:t>前提・制約・未解決事項一覧</a:t>
            </a:r>
          </a:p>
        </p:txBody>
      </p:sp>
    </p:spTree>
    <p:extLst>
      <p:ext uri="{BB962C8B-B14F-4D97-AF65-F5344CB8AC3E}">
        <p14:creationId xmlns:p14="http://schemas.microsoft.com/office/powerpoint/2010/main" val="735516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91440" tIns="45720" rIns="91440" bIns="45720" anchor="ctr"/>
          <a:lstStyle/>
          <a:p>
            <a:endParaRPr lang="ja-JP"/>
          </a:p>
        </p:txBody>
      </p:sp>
      <p:sp>
        <p:nvSpPr>
          <p:cNvPr id="11" name="S11"/>
          <p:cNvSpPr/>
          <p:nvPr/>
        </p:nvSpPr>
        <p:spPr>
          <a:xfrm>
            <a:off x="457200" y="137160"/>
            <a:ext cx="11277600" cy="548640"/>
          </a:xfrm>
          <a:prstGeom prst="rect">
            <a:avLst/>
          </a:prstGeom>
          <a:noFill/>
          <a:ln>
            <a:noFill/>
          </a:ln>
        </p:spPr>
        <p:txBody>
          <a:bodyPr wrap="square" lIns="91440" tIns="45720" rIns="91440" bIns="45720" anchor="ctr"/>
          <a:lstStyle/>
          <a:p>
            <a:pPr algn="l"/>
            <a:r>
              <a:rPr lang="ja-JP" sz="2400" b="1" dirty="0">
                <a:solidFill>
                  <a:srgbClr val="1A1A1A"/>
                </a:solidFill>
                <a:latin typeface="BIZ UDPGothic"/>
                <a:ea typeface="BIZ UDPGothic"/>
              </a:rPr>
              <a:t>8. 費用見積</a:t>
            </a:r>
          </a:p>
        </p:txBody>
      </p:sp>
      <p:sp>
        <p:nvSpPr>
          <p:cNvPr id="12" name="S12"/>
          <p:cNvSpPr/>
          <p:nvPr/>
        </p:nvSpPr>
        <p:spPr>
          <a:xfrm>
            <a:off x="457200" y="800000"/>
            <a:ext cx="5394960" cy="1280160"/>
          </a:xfrm>
          <a:prstGeom prst="roundRect">
            <a:avLst>
              <a:gd name="adj" fmla="val 8000"/>
            </a:avLst>
          </a:prstGeom>
          <a:solidFill>
            <a:srgbClr val="F2F0ED"/>
          </a:solidFill>
          <a:ln w="12700">
            <a:solidFill>
              <a:srgbClr val="8B2500"/>
            </a:solidFill>
          </a:ln>
        </p:spPr>
        <p:txBody>
          <a:bodyPr wrap="square" lIns="91440" tIns="45720" rIns="91440" bIns="45720" anchor="ctr"/>
          <a:lstStyle/>
          <a:p>
            <a:pPr algn="ctr">
              <a:spcAft>
                <a:spcPts val="200"/>
              </a:spcAft>
            </a:pPr>
            <a:r>
              <a:rPr lang="ja-JP" sz="1400" dirty="0">
                <a:solidFill>
                  <a:srgbClr val="7A7A7A"/>
                </a:solidFill>
                <a:latin typeface="BIZ UDPGothic"/>
                <a:ea typeface="BIZ UDPGothic"/>
              </a:rPr>
              <a:t>契約金額（税込）</a:t>
            </a:r>
          </a:p>
          <a:p>
            <a:pPr algn="ctr"/>
            <a:r>
              <a:rPr lang="ja-JP" sz="3600" b="1" dirty="0">
                <a:solidFill>
                  <a:srgbClr val="8B2500"/>
                </a:solidFill>
                <a:latin typeface="BIZ UDPGothic"/>
                <a:ea typeface="BIZ UDPGothic"/>
              </a:rPr>
              <a:t>7,480,000円</a:t>
            </a:r>
          </a:p>
          <a:p>
            <a:pPr algn="ctr">
              <a:spcBef>
                <a:spcPts val="200"/>
              </a:spcBef>
            </a:pPr>
            <a:r>
              <a:rPr lang="ja-JP" sz="1200" dirty="0">
                <a:solidFill>
                  <a:srgbClr val="7A7A7A"/>
                </a:solidFill>
                <a:latin typeface="BIZ UDPGothic"/>
                <a:ea typeface="BIZ UDPGothic"/>
              </a:rPr>
              <a:t>（税抜 6,800,000円 + 消費税 680,000円）</a:t>
            </a:r>
          </a:p>
        </p:txBody>
      </p:sp>
      <p:sp>
        <p:nvSpPr>
          <p:cNvPr id="13" name="S13"/>
          <p:cNvSpPr/>
          <p:nvPr/>
        </p:nvSpPr>
        <p:spPr>
          <a:xfrm>
            <a:off x="6126480" y="800000"/>
            <a:ext cx="5608320" cy="548640"/>
          </a:xfrm>
          <a:prstGeom prst="roundRect">
            <a:avLst>
              <a:gd name="adj" fmla="val 8000"/>
            </a:avLst>
          </a:prstGeom>
          <a:solidFill>
            <a:srgbClr val="333333"/>
          </a:solidFill>
          <a:ln>
            <a:noFill/>
          </a:ln>
        </p:spPr>
        <p:txBody>
          <a:bodyPr wrap="square" lIns="91440" tIns="45720" rIns="91440" bIns="45720" anchor="ctr"/>
          <a:lstStyle/>
          <a:p>
            <a:pPr algn="ctr"/>
            <a:r>
              <a:rPr lang="ja-JP" sz="1400" dirty="0">
                <a:solidFill>
                  <a:srgbClr val="FFFFFF"/>
                </a:solidFill>
                <a:latin typeface="BIZ UDPGothic"/>
                <a:ea typeface="BIZ UDPGothic"/>
              </a:rPr>
              <a:t>契約形態：</a:t>
            </a:r>
            <a:r>
              <a:rPr lang="ja-JP" sz="1600" b="1" dirty="0">
                <a:solidFill>
                  <a:srgbClr val="FFFFFF"/>
                </a:solidFill>
                <a:latin typeface="BIZ UDPGothic"/>
                <a:ea typeface="BIZ UDPGothic"/>
              </a:rPr>
              <a:t>固定価格契約</a:t>
            </a:r>
          </a:p>
        </p:txBody>
      </p:sp>
      <p:sp>
        <p:nvSpPr>
          <p:cNvPr id="14" name="S14"/>
          <p:cNvSpPr/>
          <p:nvPr/>
        </p:nvSpPr>
        <p:spPr>
          <a:xfrm>
            <a:off x="6126480" y="1462080"/>
            <a:ext cx="5608320" cy="61800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lnSpc>
                <a:spcPts val="1800"/>
              </a:lnSpc>
            </a:pPr>
            <a:r>
              <a:rPr lang="ja-JP" sz="1200" dirty="0">
                <a:solidFill>
                  <a:srgbClr val="4A4A4A"/>
                </a:solidFill>
                <a:latin typeface="BIZ UDPGothic"/>
                <a:ea typeface="BIZ UDPGothic"/>
              </a:rPr>
              <a:t>契約時に金額を固定し、工数実績による事後精算は行わない</a:t>
            </a:r>
          </a:p>
        </p:txBody>
      </p:sp>
      <p:sp>
        <p:nvSpPr>
          <p:cNvPr id="15" name="S15"/>
          <p:cNvSpPr/>
          <p:nvPr/>
        </p:nvSpPr>
        <p:spPr>
          <a:xfrm>
            <a:off x="457200" y="2286000"/>
            <a:ext cx="11277600" cy="365760"/>
          </a:xfrm>
          <a:prstGeom prst="roundRect">
            <a:avLst>
              <a:gd name="adj" fmla="val 8000"/>
            </a:avLst>
          </a:prstGeom>
          <a:solidFill>
            <a:srgbClr val="4A4A4A"/>
          </a:solidFill>
          <a:ln>
            <a:noFill/>
          </a:ln>
        </p:spPr>
        <p:txBody>
          <a:bodyPr wrap="square" lIns="91440" tIns="45720" rIns="91440" bIns="45720" anchor="ctr"/>
          <a:lstStyle/>
          <a:p>
            <a:pPr algn="ctr"/>
            <a:r>
              <a:rPr lang="ja-JP" sz="1500" b="1" dirty="0">
                <a:solidFill>
                  <a:srgbClr val="FFFFFF"/>
                </a:solidFill>
                <a:latin typeface="BIZ UDPGothic"/>
                <a:ea typeface="BIZ UDPGothic"/>
              </a:rPr>
              <a:t>支払内訳</a:t>
            </a:r>
          </a:p>
        </p:txBody>
      </p:sp>
      <p:sp>
        <p:nvSpPr>
          <p:cNvPr id="70" name="S70"/>
          <p:cNvSpPr/>
          <p:nvPr/>
        </p:nvSpPr>
        <p:spPr>
          <a:xfrm>
            <a:off x="457200" y="2743200"/>
            <a:ext cx="2103120" cy="457200"/>
          </a:xfrm>
          <a:prstGeom prst="rect">
            <a:avLst/>
          </a:prstGeom>
          <a:solidFill>
            <a:srgbClr val="8B2500"/>
          </a:solidFill>
          <a:ln w="12700">
            <a:solidFill>
              <a:srgbClr val="7A2000"/>
            </a:solidFill>
          </a:ln>
        </p:spPr>
        <p:txBody>
          <a:bodyPr wrap="square" lIns="91440" tIns="45720" rIns="91440" bIns="45720" anchor="ctr"/>
          <a:lstStyle/>
          <a:p>
            <a:pPr algn="ctr"/>
            <a:r>
              <a:rPr lang="ja-JP" sz="1200" b="1" dirty="0">
                <a:solidFill>
                  <a:srgbClr val="FFFFFF"/>
                </a:solidFill>
                <a:latin typeface="BIZ UDPGothic"/>
                <a:ea typeface="BIZ UDPGothic"/>
              </a:rPr>
              <a:t>支払回</a:t>
            </a:r>
          </a:p>
        </p:txBody>
      </p:sp>
      <p:sp>
        <p:nvSpPr>
          <p:cNvPr id="71" name="S71"/>
          <p:cNvSpPr/>
          <p:nvPr/>
        </p:nvSpPr>
        <p:spPr>
          <a:xfrm>
            <a:off x="2560320" y="2743200"/>
            <a:ext cx="3474720" cy="457200"/>
          </a:xfrm>
          <a:prstGeom prst="rect">
            <a:avLst/>
          </a:prstGeom>
          <a:solidFill>
            <a:srgbClr val="8B2500"/>
          </a:solidFill>
          <a:ln w="12700">
            <a:solidFill>
              <a:srgbClr val="7A2000"/>
            </a:solidFill>
          </a:ln>
        </p:spPr>
        <p:txBody>
          <a:bodyPr wrap="square" lIns="91440" tIns="45720" rIns="91440" bIns="45720" anchor="ctr"/>
          <a:lstStyle/>
          <a:p>
            <a:pPr algn="ctr"/>
            <a:r>
              <a:rPr lang="ja-JP" sz="1200" b="1" dirty="0">
                <a:solidFill>
                  <a:srgbClr val="FFFFFF"/>
                </a:solidFill>
                <a:latin typeface="BIZ UDPGothic"/>
                <a:ea typeface="BIZ UDPGothic"/>
              </a:rPr>
              <a:t>支払条件</a:t>
            </a:r>
          </a:p>
        </p:txBody>
      </p:sp>
      <p:sp>
        <p:nvSpPr>
          <p:cNvPr id="72" name="S72"/>
          <p:cNvSpPr/>
          <p:nvPr/>
        </p:nvSpPr>
        <p:spPr>
          <a:xfrm>
            <a:off x="6035040" y="2743200"/>
            <a:ext cx="822960" cy="457200"/>
          </a:xfrm>
          <a:prstGeom prst="rect">
            <a:avLst/>
          </a:prstGeom>
          <a:solidFill>
            <a:srgbClr val="8B2500"/>
          </a:solidFill>
          <a:ln w="12700">
            <a:solidFill>
              <a:srgbClr val="7A2000"/>
            </a:solidFill>
          </a:ln>
        </p:spPr>
        <p:txBody>
          <a:bodyPr wrap="square" lIns="91440" tIns="45720" rIns="91440" bIns="45720" anchor="ctr"/>
          <a:lstStyle/>
          <a:p>
            <a:pPr algn="ctr"/>
            <a:r>
              <a:rPr lang="ja-JP" sz="1200" b="1" dirty="0">
                <a:solidFill>
                  <a:srgbClr val="FFFFFF"/>
                </a:solidFill>
                <a:latin typeface="BIZ UDPGothic"/>
                <a:ea typeface="BIZ UDPGothic"/>
              </a:rPr>
              <a:t>比率</a:t>
            </a:r>
          </a:p>
        </p:txBody>
      </p:sp>
      <p:sp>
        <p:nvSpPr>
          <p:cNvPr id="73" name="S73"/>
          <p:cNvSpPr/>
          <p:nvPr/>
        </p:nvSpPr>
        <p:spPr>
          <a:xfrm>
            <a:off x="6858000" y="2743200"/>
            <a:ext cx="1645920" cy="457200"/>
          </a:xfrm>
          <a:prstGeom prst="rect">
            <a:avLst/>
          </a:prstGeom>
          <a:solidFill>
            <a:srgbClr val="8B2500"/>
          </a:solidFill>
          <a:ln w="12700">
            <a:solidFill>
              <a:srgbClr val="7A2000"/>
            </a:solidFill>
          </a:ln>
        </p:spPr>
        <p:txBody>
          <a:bodyPr wrap="square" lIns="91440" tIns="45720" rIns="91440" bIns="45720" anchor="ctr"/>
          <a:lstStyle/>
          <a:p>
            <a:pPr algn="ctr"/>
            <a:r>
              <a:rPr lang="ja-JP" sz="1200" b="1" dirty="0">
                <a:solidFill>
                  <a:srgbClr val="FFFFFF"/>
                </a:solidFill>
                <a:latin typeface="BIZ UDPGothic"/>
                <a:ea typeface="BIZ UDPGothic"/>
              </a:rPr>
              <a:t>金額（税抜）</a:t>
            </a:r>
          </a:p>
        </p:txBody>
      </p:sp>
      <p:sp>
        <p:nvSpPr>
          <p:cNvPr id="74" name="S74"/>
          <p:cNvSpPr/>
          <p:nvPr/>
        </p:nvSpPr>
        <p:spPr>
          <a:xfrm>
            <a:off x="8503920" y="2743200"/>
            <a:ext cx="1097280" cy="457200"/>
          </a:xfrm>
          <a:prstGeom prst="rect">
            <a:avLst/>
          </a:prstGeom>
          <a:solidFill>
            <a:srgbClr val="8B2500"/>
          </a:solidFill>
          <a:ln w="12700">
            <a:solidFill>
              <a:srgbClr val="7A2000"/>
            </a:solidFill>
          </a:ln>
        </p:spPr>
        <p:txBody>
          <a:bodyPr wrap="square" lIns="91440" tIns="45720" rIns="91440" bIns="45720" anchor="ctr"/>
          <a:lstStyle/>
          <a:p>
            <a:pPr algn="ctr"/>
            <a:r>
              <a:rPr lang="ja-JP" sz="1200" b="1" dirty="0">
                <a:solidFill>
                  <a:srgbClr val="FFFFFF"/>
                </a:solidFill>
                <a:latin typeface="BIZ UDPGothic"/>
                <a:ea typeface="BIZ UDPGothic"/>
              </a:rPr>
              <a:t>消費税額</a:t>
            </a:r>
          </a:p>
        </p:txBody>
      </p:sp>
      <p:sp>
        <p:nvSpPr>
          <p:cNvPr id="75" name="S75"/>
          <p:cNvSpPr/>
          <p:nvPr/>
        </p:nvSpPr>
        <p:spPr>
          <a:xfrm>
            <a:off x="9601200" y="2743200"/>
            <a:ext cx="1645920" cy="457200"/>
          </a:xfrm>
          <a:prstGeom prst="rect">
            <a:avLst/>
          </a:prstGeom>
          <a:solidFill>
            <a:srgbClr val="8B2500"/>
          </a:solidFill>
          <a:ln w="12700">
            <a:solidFill>
              <a:srgbClr val="7A2000"/>
            </a:solidFill>
          </a:ln>
        </p:spPr>
        <p:txBody>
          <a:bodyPr wrap="square" lIns="91440" tIns="45720" rIns="91440" bIns="45720" anchor="ctr"/>
          <a:lstStyle/>
          <a:p>
            <a:pPr algn="ctr"/>
            <a:r>
              <a:rPr lang="ja-JP" sz="1200" b="1" dirty="0">
                <a:solidFill>
                  <a:srgbClr val="FFFFFF"/>
                </a:solidFill>
                <a:latin typeface="BIZ UDPGothic"/>
                <a:ea typeface="BIZ UDPGothic"/>
              </a:rPr>
              <a:t>金額（税込）</a:t>
            </a:r>
          </a:p>
        </p:txBody>
      </p:sp>
      <p:sp>
        <p:nvSpPr>
          <p:cNvPr id="80" name="S80"/>
          <p:cNvSpPr/>
          <p:nvPr/>
        </p:nvSpPr>
        <p:spPr>
          <a:xfrm>
            <a:off x="457200" y="3200400"/>
            <a:ext cx="2103120" cy="457200"/>
          </a:xfrm>
          <a:prstGeom prst="rect">
            <a:avLst/>
          </a:prstGeom>
          <a:solidFill>
            <a:srgbClr val="F7F5F2"/>
          </a:solidFill>
          <a:ln w="12700">
            <a:solidFill>
              <a:srgbClr val="E0DBD4"/>
            </a:solidFill>
          </a:ln>
        </p:spPr>
        <p:txBody>
          <a:bodyPr wrap="square" lIns="91440" tIns="45720" rIns="91440" bIns="45720" anchor="ctr"/>
          <a:lstStyle/>
          <a:p>
            <a:pPr algn="l"/>
            <a:r>
              <a:rPr lang="ja-JP" sz="1200" dirty="0">
                <a:solidFill>
                  <a:srgbClr val="333333"/>
                </a:solidFill>
                <a:latin typeface="BIZ UDPGothic"/>
                <a:ea typeface="BIZ UDPGothic"/>
              </a:rPr>
              <a:t>第1回 着手金</a:t>
            </a:r>
          </a:p>
        </p:txBody>
      </p:sp>
      <p:sp>
        <p:nvSpPr>
          <p:cNvPr id="81" name="S81"/>
          <p:cNvSpPr/>
          <p:nvPr/>
        </p:nvSpPr>
        <p:spPr>
          <a:xfrm>
            <a:off x="2560320" y="3200400"/>
            <a:ext cx="3474720" cy="457200"/>
          </a:xfrm>
          <a:prstGeom prst="rect">
            <a:avLst/>
          </a:prstGeom>
          <a:solidFill>
            <a:srgbClr val="F7F5F2"/>
          </a:solidFill>
          <a:ln w="12700">
            <a:solidFill>
              <a:srgbClr val="E0DBD4"/>
            </a:solidFill>
          </a:ln>
        </p:spPr>
        <p:txBody>
          <a:bodyPr wrap="square" lIns="91440" tIns="45720" rIns="91440" bIns="45720" anchor="ctr"/>
          <a:lstStyle/>
          <a:p>
            <a:pPr algn="l"/>
            <a:r>
              <a:rPr lang="ja-JP" sz="1200" dirty="0">
                <a:solidFill>
                  <a:srgbClr val="333333"/>
                </a:solidFill>
                <a:latin typeface="BIZ UDPGothic"/>
                <a:ea typeface="BIZ UDPGothic"/>
              </a:rPr>
              <a:t>契約締結後5営業日以内</a:t>
            </a:r>
          </a:p>
        </p:txBody>
      </p:sp>
      <p:sp>
        <p:nvSpPr>
          <p:cNvPr id="82" name="S82"/>
          <p:cNvSpPr/>
          <p:nvPr/>
        </p:nvSpPr>
        <p:spPr>
          <a:xfrm>
            <a:off x="6035040" y="3200400"/>
            <a:ext cx="822960" cy="457200"/>
          </a:xfrm>
          <a:prstGeom prst="rect">
            <a:avLst/>
          </a:prstGeom>
          <a:solidFill>
            <a:srgbClr val="F7F5F2"/>
          </a:solidFill>
          <a:ln w="12700">
            <a:solidFill>
              <a:srgbClr val="E0DBD4"/>
            </a:solidFill>
          </a:ln>
        </p:spPr>
        <p:txBody>
          <a:bodyPr wrap="square" lIns="91440" tIns="45720" rIns="91440" bIns="45720" anchor="ctr"/>
          <a:lstStyle/>
          <a:p>
            <a:pPr algn="ctr"/>
            <a:r>
              <a:rPr lang="ja-JP" sz="1200" dirty="0">
                <a:solidFill>
                  <a:srgbClr val="333333"/>
                </a:solidFill>
                <a:latin typeface="BIZ UDPGothic"/>
                <a:ea typeface="BIZ UDPGothic"/>
              </a:rPr>
              <a:t>40%</a:t>
            </a:r>
          </a:p>
        </p:txBody>
      </p:sp>
      <p:sp>
        <p:nvSpPr>
          <p:cNvPr id="83" name="S83"/>
          <p:cNvSpPr/>
          <p:nvPr/>
        </p:nvSpPr>
        <p:spPr>
          <a:xfrm>
            <a:off x="6858000" y="3200400"/>
            <a:ext cx="1645920" cy="457200"/>
          </a:xfrm>
          <a:prstGeom prst="rect">
            <a:avLst/>
          </a:prstGeom>
          <a:solidFill>
            <a:srgbClr val="F7F5F2"/>
          </a:solidFill>
          <a:ln w="12700">
            <a:solidFill>
              <a:srgbClr val="E0DBD4"/>
            </a:solidFill>
          </a:ln>
        </p:spPr>
        <p:txBody>
          <a:bodyPr wrap="square" lIns="91440" tIns="45720" rIns="91440" bIns="45720" anchor="ctr"/>
          <a:lstStyle/>
          <a:p>
            <a:pPr algn="r"/>
            <a:r>
              <a:rPr lang="ja-JP" sz="1200" dirty="0">
                <a:solidFill>
                  <a:srgbClr val="333333"/>
                </a:solidFill>
                <a:latin typeface="BIZ UDPGothic"/>
                <a:ea typeface="BIZ UDPGothic"/>
              </a:rPr>
              <a:t>2,720,000円</a:t>
            </a:r>
          </a:p>
        </p:txBody>
      </p:sp>
      <p:sp>
        <p:nvSpPr>
          <p:cNvPr id="84" name="S84"/>
          <p:cNvSpPr/>
          <p:nvPr/>
        </p:nvSpPr>
        <p:spPr>
          <a:xfrm>
            <a:off x="8503920" y="3200400"/>
            <a:ext cx="1097280" cy="457200"/>
          </a:xfrm>
          <a:prstGeom prst="rect">
            <a:avLst/>
          </a:prstGeom>
          <a:solidFill>
            <a:srgbClr val="F7F5F2"/>
          </a:solidFill>
          <a:ln w="12700">
            <a:solidFill>
              <a:srgbClr val="E0DBD4"/>
            </a:solidFill>
          </a:ln>
        </p:spPr>
        <p:txBody>
          <a:bodyPr wrap="square" lIns="91440" tIns="45720" rIns="91440" bIns="45720" anchor="ctr"/>
          <a:lstStyle/>
          <a:p>
            <a:pPr algn="r"/>
            <a:r>
              <a:rPr lang="ja-JP" sz="1200" dirty="0">
                <a:solidFill>
                  <a:srgbClr val="333333"/>
                </a:solidFill>
                <a:latin typeface="BIZ UDPGothic"/>
                <a:ea typeface="BIZ UDPGothic"/>
              </a:rPr>
              <a:t>272,000円</a:t>
            </a:r>
          </a:p>
        </p:txBody>
      </p:sp>
      <p:sp>
        <p:nvSpPr>
          <p:cNvPr id="85" name="S85"/>
          <p:cNvSpPr/>
          <p:nvPr/>
        </p:nvSpPr>
        <p:spPr>
          <a:xfrm>
            <a:off x="9601200" y="3200400"/>
            <a:ext cx="1645920" cy="457200"/>
          </a:xfrm>
          <a:prstGeom prst="rect">
            <a:avLst/>
          </a:prstGeom>
          <a:solidFill>
            <a:srgbClr val="F7F5F2"/>
          </a:solidFill>
          <a:ln w="12700">
            <a:solidFill>
              <a:srgbClr val="E0DBD4"/>
            </a:solidFill>
          </a:ln>
        </p:spPr>
        <p:txBody>
          <a:bodyPr wrap="square" lIns="91440" tIns="45720" rIns="91440" bIns="45720" anchor="ctr"/>
          <a:lstStyle/>
          <a:p>
            <a:pPr algn="r"/>
            <a:r>
              <a:rPr lang="ja-JP" sz="1200" dirty="0">
                <a:solidFill>
                  <a:srgbClr val="333333"/>
                </a:solidFill>
                <a:latin typeface="BIZ UDPGothic"/>
                <a:ea typeface="BIZ UDPGothic"/>
              </a:rPr>
              <a:t>2,992,000円</a:t>
            </a:r>
          </a:p>
        </p:txBody>
      </p:sp>
      <p:sp>
        <p:nvSpPr>
          <p:cNvPr id="90" name="S90"/>
          <p:cNvSpPr/>
          <p:nvPr/>
        </p:nvSpPr>
        <p:spPr>
          <a:xfrm>
            <a:off x="457200" y="3657600"/>
            <a:ext cx="2103120" cy="457200"/>
          </a:xfrm>
          <a:prstGeom prst="rect">
            <a:avLst/>
          </a:prstGeom>
          <a:solidFill>
            <a:srgbClr val="FFFFFF"/>
          </a:solidFill>
          <a:ln w="12700">
            <a:solidFill>
              <a:srgbClr val="E0DBD4"/>
            </a:solidFill>
          </a:ln>
        </p:spPr>
        <p:txBody>
          <a:bodyPr wrap="square" lIns="91440" tIns="45720" rIns="91440" bIns="45720" anchor="ctr"/>
          <a:lstStyle/>
          <a:p>
            <a:pPr algn="l"/>
            <a:r>
              <a:rPr lang="ja-JP" sz="1200" dirty="0">
                <a:solidFill>
                  <a:srgbClr val="333333"/>
                </a:solidFill>
                <a:latin typeface="BIZ UDPGothic"/>
                <a:ea typeface="BIZ UDPGothic"/>
              </a:rPr>
              <a:t>第2回 検収金</a:t>
            </a:r>
          </a:p>
        </p:txBody>
      </p:sp>
      <p:sp>
        <p:nvSpPr>
          <p:cNvPr id="91" name="S91"/>
          <p:cNvSpPr/>
          <p:nvPr/>
        </p:nvSpPr>
        <p:spPr>
          <a:xfrm>
            <a:off x="2560320" y="3657600"/>
            <a:ext cx="3474720" cy="457200"/>
          </a:xfrm>
          <a:prstGeom prst="rect">
            <a:avLst/>
          </a:prstGeom>
          <a:solidFill>
            <a:srgbClr val="FFFFFF"/>
          </a:solidFill>
          <a:ln w="12700">
            <a:solidFill>
              <a:srgbClr val="E0DBD4"/>
            </a:solidFill>
          </a:ln>
        </p:spPr>
        <p:txBody>
          <a:bodyPr wrap="square" lIns="91440" tIns="45720" rIns="91440" bIns="45720" anchor="ctr"/>
          <a:lstStyle/>
          <a:p>
            <a:pPr algn="l"/>
            <a:r>
              <a:rPr lang="ja-JP" sz="1200" dirty="0">
                <a:solidFill>
                  <a:srgbClr val="333333"/>
                </a:solidFill>
                <a:latin typeface="BIZ UDPGothic"/>
                <a:ea typeface="BIZ UDPGothic"/>
              </a:rPr>
              <a:t>最終成果物検収完了後5営業日以内</a:t>
            </a:r>
          </a:p>
        </p:txBody>
      </p:sp>
      <p:sp>
        <p:nvSpPr>
          <p:cNvPr id="92" name="S92"/>
          <p:cNvSpPr/>
          <p:nvPr/>
        </p:nvSpPr>
        <p:spPr>
          <a:xfrm>
            <a:off x="6035040" y="3657600"/>
            <a:ext cx="822960" cy="457200"/>
          </a:xfrm>
          <a:prstGeom prst="rect">
            <a:avLst/>
          </a:prstGeom>
          <a:solidFill>
            <a:srgbClr val="FFFFFF"/>
          </a:solidFill>
          <a:ln w="12700">
            <a:solidFill>
              <a:srgbClr val="E0DBD4"/>
            </a:solidFill>
          </a:ln>
        </p:spPr>
        <p:txBody>
          <a:bodyPr wrap="square" lIns="91440" tIns="45720" rIns="91440" bIns="45720" anchor="ctr"/>
          <a:lstStyle/>
          <a:p>
            <a:pPr algn="ctr"/>
            <a:r>
              <a:rPr lang="ja-JP" sz="1200" dirty="0">
                <a:solidFill>
                  <a:srgbClr val="333333"/>
                </a:solidFill>
                <a:latin typeface="BIZ UDPGothic"/>
                <a:ea typeface="BIZ UDPGothic"/>
              </a:rPr>
              <a:t>60%</a:t>
            </a:r>
          </a:p>
        </p:txBody>
      </p:sp>
      <p:sp>
        <p:nvSpPr>
          <p:cNvPr id="93" name="S93"/>
          <p:cNvSpPr/>
          <p:nvPr/>
        </p:nvSpPr>
        <p:spPr>
          <a:xfrm>
            <a:off x="6858000" y="3657600"/>
            <a:ext cx="1645920" cy="457200"/>
          </a:xfrm>
          <a:prstGeom prst="rect">
            <a:avLst/>
          </a:prstGeom>
          <a:solidFill>
            <a:srgbClr val="FFFFFF"/>
          </a:solidFill>
          <a:ln w="12700">
            <a:solidFill>
              <a:srgbClr val="E0DBD4"/>
            </a:solidFill>
          </a:ln>
        </p:spPr>
        <p:txBody>
          <a:bodyPr wrap="square" lIns="91440" tIns="45720" rIns="91440" bIns="45720" anchor="ctr"/>
          <a:lstStyle/>
          <a:p>
            <a:pPr algn="r"/>
            <a:r>
              <a:rPr lang="ja-JP" sz="1200" dirty="0">
                <a:solidFill>
                  <a:srgbClr val="333333"/>
                </a:solidFill>
                <a:latin typeface="BIZ UDPGothic"/>
                <a:ea typeface="BIZ UDPGothic"/>
              </a:rPr>
              <a:t>4,080,000円</a:t>
            </a:r>
          </a:p>
        </p:txBody>
      </p:sp>
      <p:sp>
        <p:nvSpPr>
          <p:cNvPr id="94" name="S94"/>
          <p:cNvSpPr/>
          <p:nvPr/>
        </p:nvSpPr>
        <p:spPr>
          <a:xfrm>
            <a:off x="8503920" y="3657600"/>
            <a:ext cx="1097280" cy="457200"/>
          </a:xfrm>
          <a:prstGeom prst="rect">
            <a:avLst/>
          </a:prstGeom>
          <a:solidFill>
            <a:srgbClr val="FFFFFF"/>
          </a:solidFill>
          <a:ln w="12700">
            <a:solidFill>
              <a:srgbClr val="E0DBD4"/>
            </a:solidFill>
          </a:ln>
        </p:spPr>
        <p:txBody>
          <a:bodyPr wrap="square" lIns="91440" tIns="45720" rIns="91440" bIns="45720" anchor="ctr"/>
          <a:lstStyle/>
          <a:p>
            <a:pPr algn="r"/>
            <a:r>
              <a:rPr lang="ja-JP" sz="1200" dirty="0">
                <a:solidFill>
                  <a:srgbClr val="333333"/>
                </a:solidFill>
                <a:latin typeface="BIZ UDPGothic"/>
                <a:ea typeface="BIZ UDPGothic"/>
              </a:rPr>
              <a:t>408,000円</a:t>
            </a:r>
          </a:p>
        </p:txBody>
      </p:sp>
      <p:sp>
        <p:nvSpPr>
          <p:cNvPr id="95" name="S95"/>
          <p:cNvSpPr/>
          <p:nvPr/>
        </p:nvSpPr>
        <p:spPr>
          <a:xfrm>
            <a:off x="9601200" y="3657600"/>
            <a:ext cx="1645920" cy="457200"/>
          </a:xfrm>
          <a:prstGeom prst="rect">
            <a:avLst/>
          </a:prstGeom>
          <a:solidFill>
            <a:srgbClr val="FFFFFF"/>
          </a:solidFill>
          <a:ln w="12700">
            <a:solidFill>
              <a:srgbClr val="E0DBD4"/>
            </a:solidFill>
          </a:ln>
        </p:spPr>
        <p:txBody>
          <a:bodyPr wrap="square" lIns="91440" tIns="45720" rIns="91440" bIns="45720" anchor="ctr"/>
          <a:lstStyle/>
          <a:p>
            <a:pPr algn="r"/>
            <a:r>
              <a:rPr lang="ja-JP" sz="1200" dirty="0">
                <a:solidFill>
                  <a:srgbClr val="333333"/>
                </a:solidFill>
                <a:latin typeface="BIZ UDPGothic"/>
                <a:ea typeface="BIZ UDPGothic"/>
              </a:rPr>
              <a:t>4,488,000円</a:t>
            </a:r>
          </a:p>
        </p:txBody>
      </p:sp>
      <p:sp>
        <p:nvSpPr>
          <p:cNvPr id="110" name="S110"/>
          <p:cNvSpPr/>
          <p:nvPr/>
        </p:nvSpPr>
        <p:spPr>
          <a:xfrm>
            <a:off x="457200" y="4114800"/>
            <a:ext cx="2103120" cy="457200"/>
          </a:xfrm>
          <a:prstGeom prst="rect">
            <a:avLst/>
          </a:prstGeom>
          <a:solidFill>
            <a:srgbClr val="F2F0ED"/>
          </a:solidFill>
          <a:ln w="12700">
            <a:solidFill>
              <a:srgbClr val="8B2500"/>
            </a:solidFill>
          </a:ln>
        </p:spPr>
        <p:txBody>
          <a:bodyPr wrap="square" lIns="91440" tIns="45720" rIns="91440" bIns="45720" anchor="ctr"/>
          <a:lstStyle/>
          <a:p>
            <a:pPr algn="l"/>
            <a:r>
              <a:rPr lang="ja-JP" sz="1200" b="1" dirty="0">
                <a:solidFill>
                  <a:srgbClr val="1A1A1A"/>
                </a:solidFill>
                <a:latin typeface="BIZ UDPGothic"/>
                <a:ea typeface="BIZ UDPGothic"/>
              </a:rPr>
              <a:t>合計</a:t>
            </a:r>
          </a:p>
        </p:txBody>
      </p:sp>
      <p:sp>
        <p:nvSpPr>
          <p:cNvPr id="111" name="S111"/>
          <p:cNvSpPr/>
          <p:nvPr/>
        </p:nvSpPr>
        <p:spPr>
          <a:xfrm>
            <a:off x="2560320" y="4114800"/>
            <a:ext cx="3474720" cy="457200"/>
          </a:xfrm>
          <a:prstGeom prst="rect">
            <a:avLst/>
          </a:prstGeom>
          <a:solidFill>
            <a:srgbClr val="F2F0ED"/>
          </a:solidFill>
          <a:ln w="12700">
            <a:solidFill>
              <a:srgbClr val="8B2500"/>
            </a:solidFill>
          </a:ln>
        </p:spPr>
        <p:txBody>
          <a:bodyPr wrap="square" lIns="91440" tIns="45720" rIns="91440" bIns="45720" anchor="ctr"/>
          <a:lstStyle/>
          <a:p>
            <a:pPr algn="l"/>
            <a:endParaRPr/>
          </a:p>
        </p:txBody>
      </p:sp>
      <p:sp>
        <p:nvSpPr>
          <p:cNvPr id="112" name="S112"/>
          <p:cNvSpPr/>
          <p:nvPr/>
        </p:nvSpPr>
        <p:spPr>
          <a:xfrm>
            <a:off x="6035040" y="4114800"/>
            <a:ext cx="822960" cy="457200"/>
          </a:xfrm>
          <a:prstGeom prst="rect">
            <a:avLst/>
          </a:prstGeom>
          <a:solidFill>
            <a:srgbClr val="F2F0ED"/>
          </a:solidFill>
          <a:ln w="12700">
            <a:solidFill>
              <a:srgbClr val="8B2500"/>
            </a:solidFill>
          </a:ln>
        </p:spPr>
        <p:txBody>
          <a:bodyPr wrap="square" lIns="91440" tIns="45720" rIns="91440" bIns="45720" anchor="ctr"/>
          <a:lstStyle/>
          <a:p>
            <a:pPr algn="l"/>
            <a:endParaRPr/>
          </a:p>
        </p:txBody>
      </p:sp>
      <p:sp>
        <p:nvSpPr>
          <p:cNvPr id="113" name="S113"/>
          <p:cNvSpPr/>
          <p:nvPr/>
        </p:nvSpPr>
        <p:spPr>
          <a:xfrm>
            <a:off x="6858000" y="4114800"/>
            <a:ext cx="1645920" cy="457200"/>
          </a:xfrm>
          <a:prstGeom prst="rect">
            <a:avLst/>
          </a:prstGeom>
          <a:solidFill>
            <a:srgbClr val="F2F0ED"/>
          </a:solidFill>
          <a:ln w="12700">
            <a:solidFill>
              <a:srgbClr val="8B2500"/>
            </a:solidFill>
          </a:ln>
        </p:spPr>
        <p:txBody>
          <a:bodyPr wrap="square" lIns="91440" tIns="45720" rIns="91440" bIns="45720" anchor="ctr"/>
          <a:lstStyle/>
          <a:p>
            <a:pPr algn="r"/>
            <a:r>
              <a:rPr lang="ja-JP" sz="1200" b="1" dirty="0">
                <a:solidFill>
                  <a:srgbClr val="1A1A1A"/>
                </a:solidFill>
                <a:latin typeface="BIZ UDPGothic"/>
                <a:ea typeface="BIZ UDPGothic"/>
              </a:rPr>
              <a:t>6,800,000円</a:t>
            </a:r>
          </a:p>
        </p:txBody>
      </p:sp>
      <p:sp>
        <p:nvSpPr>
          <p:cNvPr id="114" name="S114"/>
          <p:cNvSpPr/>
          <p:nvPr/>
        </p:nvSpPr>
        <p:spPr>
          <a:xfrm>
            <a:off x="8503920" y="4114800"/>
            <a:ext cx="1097280" cy="457200"/>
          </a:xfrm>
          <a:prstGeom prst="rect">
            <a:avLst/>
          </a:prstGeom>
          <a:solidFill>
            <a:srgbClr val="F2F0ED"/>
          </a:solidFill>
          <a:ln w="12700">
            <a:solidFill>
              <a:srgbClr val="8B2500"/>
            </a:solidFill>
          </a:ln>
        </p:spPr>
        <p:txBody>
          <a:bodyPr wrap="square" lIns="91440" tIns="45720" rIns="91440" bIns="45720" anchor="ctr"/>
          <a:lstStyle/>
          <a:p>
            <a:pPr algn="r"/>
            <a:r>
              <a:rPr lang="ja-JP" sz="1200" b="1" dirty="0">
                <a:solidFill>
                  <a:srgbClr val="1A1A1A"/>
                </a:solidFill>
                <a:latin typeface="BIZ UDPGothic"/>
                <a:ea typeface="BIZ UDPGothic"/>
              </a:rPr>
              <a:t>680,000円</a:t>
            </a:r>
          </a:p>
        </p:txBody>
      </p:sp>
      <p:sp>
        <p:nvSpPr>
          <p:cNvPr id="115" name="S115"/>
          <p:cNvSpPr/>
          <p:nvPr/>
        </p:nvSpPr>
        <p:spPr>
          <a:xfrm>
            <a:off x="9601200" y="4114800"/>
            <a:ext cx="1645920" cy="457200"/>
          </a:xfrm>
          <a:prstGeom prst="rect">
            <a:avLst/>
          </a:prstGeom>
          <a:solidFill>
            <a:srgbClr val="F2F0ED"/>
          </a:solidFill>
          <a:ln w="12700">
            <a:solidFill>
              <a:srgbClr val="8B2500"/>
            </a:solidFill>
          </a:ln>
        </p:spPr>
        <p:txBody>
          <a:bodyPr wrap="square" lIns="91440" tIns="45720" rIns="91440" bIns="45720" anchor="ctr"/>
          <a:lstStyle/>
          <a:p>
            <a:pPr algn="r"/>
            <a:r>
              <a:rPr lang="ja-JP" sz="1200" b="1" dirty="0">
                <a:solidFill>
                  <a:srgbClr val="1A1A1A"/>
                </a:solidFill>
                <a:latin typeface="BIZ UDPGothic"/>
                <a:ea typeface="BIZ UDPGothic"/>
              </a:rPr>
              <a:t>7,480,000円</a:t>
            </a:r>
          </a:p>
        </p:txBody>
      </p:sp>
    </p:spTree>
    <p:extLst>
      <p:ext uri="{BB962C8B-B14F-4D97-AF65-F5344CB8AC3E}">
        <p14:creationId xmlns:p14="http://schemas.microsoft.com/office/powerpoint/2010/main" val="26649627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91440" tIns="45720" rIns="91440" bIns="45720" anchor="ctr"/>
          <a:lstStyle/>
          <a:p>
            <a:endParaRPr lang="ja-JP"/>
          </a:p>
        </p:txBody>
      </p:sp>
      <p:sp>
        <p:nvSpPr>
          <p:cNvPr id="11" name="S11"/>
          <p:cNvSpPr/>
          <p:nvPr/>
        </p:nvSpPr>
        <p:spPr>
          <a:xfrm>
            <a:off x="457200" y="137160"/>
            <a:ext cx="11277600" cy="548640"/>
          </a:xfrm>
          <a:prstGeom prst="rect">
            <a:avLst/>
          </a:prstGeom>
          <a:noFill/>
          <a:ln>
            <a:noFill/>
          </a:ln>
        </p:spPr>
        <p:txBody>
          <a:bodyPr wrap="square" lIns="91440" tIns="45720" rIns="91440" bIns="45720" anchor="ctr"/>
          <a:lstStyle/>
          <a:p>
            <a:pPr algn="l"/>
            <a:r>
              <a:rPr lang="ja-JP" sz="2400" b="1" dirty="0">
                <a:solidFill>
                  <a:srgbClr val="1A1A1A"/>
                </a:solidFill>
                <a:latin typeface="BIZ UDPGothic"/>
                <a:ea typeface="BIZ UDPGothic"/>
              </a:rPr>
              <a:t>9. リスクと対応策 (1/2)</a:t>
            </a:r>
          </a:p>
        </p:txBody>
      </p:sp>
      <p:sp>
        <p:nvSpPr>
          <p:cNvPr id="12" name="S12"/>
          <p:cNvSpPr/>
          <p:nvPr/>
        </p:nvSpPr>
        <p:spPr>
          <a:xfrm>
            <a:off x="457200" y="800000"/>
            <a:ext cx="5486400" cy="365760"/>
          </a:xfrm>
          <a:prstGeom prst="rect">
            <a:avLst/>
          </a:prstGeom>
          <a:solidFill>
            <a:srgbClr val="8B2500"/>
          </a:solidFill>
          <a:ln>
            <a:noFill/>
          </a:ln>
        </p:spPr>
        <p:txBody>
          <a:bodyPr wrap="square" lIns="91440" tIns="45720" rIns="91440" bIns="45720" anchor="ctr"/>
          <a:lstStyle/>
          <a:p>
            <a:pPr algn="ctr"/>
            <a:r>
              <a:rPr lang="ja-JP" sz="1400" b="1" dirty="0">
                <a:solidFill>
                  <a:srgbClr val="FFFFFF"/>
                </a:solidFill>
                <a:latin typeface="BIZ UDPGothic"/>
                <a:ea typeface="BIZ UDPGothic"/>
              </a:rPr>
              <a:t>リスク内容</a:t>
            </a:r>
          </a:p>
        </p:txBody>
      </p:sp>
      <p:sp>
        <p:nvSpPr>
          <p:cNvPr id="13" name="S13"/>
          <p:cNvSpPr/>
          <p:nvPr/>
        </p:nvSpPr>
        <p:spPr>
          <a:xfrm>
            <a:off x="6035040" y="800000"/>
            <a:ext cx="5699760" cy="365760"/>
          </a:xfrm>
          <a:prstGeom prst="rect">
            <a:avLst/>
          </a:prstGeom>
          <a:solidFill>
            <a:srgbClr val="4A4A4A"/>
          </a:solidFill>
          <a:ln>
            <a:noFill/>
          </a:ln>
        </p:spPr>
        <p:txBody>
          <a:bodyPr wrap="square" lIns="91440" tIns="45720" rIns="91440" bIns="45720" anchor="ctr"/>
          <a:lstStyle/>
          <a:p>
            <a:pPr algn="ctr"/>
            <a:r>
              <a:rPr lang="ja-JP" sz="1400" b="1" dirty="0">
                <a:solidFill>
                  <a:srgbClr val="FFFFFF"/>
                </a:solidFill>
                <a:latin typeface="BIZ UDPGothic"/>
                <a:ea typeface="BIZ UDPGothic"/>
              </a:rPr>
              <a:t>対応策</a:t>
            </a:r>
          </a:p>
        </p:txBody>
      </p:sp>
      <p:sp>
        <p:nvSpPr>
          <p:cNvPr id="20" name="S20"/>
          <p:cNvSpPr/>
          <p:nvPr/>
        </p:nvSpPr>
        <p:spPr>
          <a:xfrm>
            <a:off x="457200" y="1234440"/>
            <a:ext cx="457200" cy="1143000"/>
          </a:xfrm>
          <a:prstGeom prst="rect">
            <a:avLst/>
          </a:prstGeom>
          <a:solidFill>
            <a:srgbClr val="8B2500"/>
          </a:solidFill>
          <a:ln>
            <a:noFill/>
          </a:ln>
        </p:spPr>
        <p:txBody>
          <a:bodyPr wrap="square" lIns="91440" tIns="45720" rIns="91440" bIns="45720" anchor="ctr"/>
          <a:lstStyle/>
          <a:p>
            <a:pPr algn="ctr"/>
            <a:r>
              <a:rPr lang="en-US" sz="1800" b="1" dirty="0">
                <a:solidFill>
                  <a:srgbClr val="FFFFFF"/>
                </a:solidFill>
                <a:latin typeface="BIZ UDPGothic"/>
                <a:ea typeface="BIZ UDPGothic"/>
              </a:rPr>
              <a:t>1</a:t>
            </a:r>
          </a:p>
        </p:txBody>
      </p:sp>
      <p:sp>
        <p:nvSpPr>
          <p:cNvPr id="21" name="S21"/>
          <p:cNvSpPr/>
          <p:nvPr/>
        </p:nvSpPr>
        <p:spPr>
          <a:xfrm>
            <a:off x="914400" y="1234440"/>
            <a:ext cx="5029200" cy="1143000"/>
          </a:xfrm>
          <a:prstGeom prst="rect">
            <a:avLst/>
          </a:prstGeom>
          <a:solidFill>
            <a:srgbClr val="F7F5F2"/>
          </a:solidFill>
          <a:ln w="12700">
            <a:solidFill>
              <a:srgbClr val="E0DBD4"/>
            </a:solidFill>
          </a:ln>
        </p:spPr>
        <p:txBody>
          <a:bodyPr wrap="square" lIns="91440" tIns="45720" rIns="91440" bIns="45720" anchor="ctr"/>
          <a:lstStyle/>
          <a:p>
            <a:pPr algn="l">
              <a:spcAft>
                <a:spcPts val="300"/>
              </a:spcAft>
            </a:pPr>
            <a:r>
              <a:rPr lang="ja-JP" sz="1400" b="1" dirty="0">
                <a:solidFill>
                  <a:srgbClr val="8B2500"/>
                </a:solidFill>
                <a:latin typeface="BIZ UDPGothic"/>
                <a:ea typeface="BIZ UDPGothic"/>
              </a:rPr>
              <a:t>不均衡データによる学習偏り</a:t>
            </a:r>
          </a:p>
          <a:p>
            <a:pPr algn="l">
              <a:lnSpc>
                <a:spcPts val="1800"/>
              </a:lnSpc>
            </a:pPr>
            <a:r>
              <a:rPr lang="ja-JP" sz="1200" dirty="0">
                <a:solidFill>
                  <a:srgbClr val="333333"/>
                </a:solidFill>
                <a:latin typeface="BIZ UDPGothic"/>
                <a:ea typeface="BIZ UDPGothic"/>
              </a:rPr>
              <a:t>倒産クラス比率が約4.95%と低く、
多数派に偏る可能性がある</a:t>
            </a:r>
          </a:p>
        </p:txBody>
      </p:sp>
      <p:sp>
        <p:nvSpPr>
          <p:cNvPr id="22" name="S22"/>
          <p:cNvSpPr/>
          <p:nvPr/>
        </p:nvSpPr>
        <p:spPr>
          <a:xfrm>
            <a:off x="6035040" y="1234440"/>
            <a:ext cx="5699760" cy="1143000"/>
          </a:xfrm>
          <a:prstGeom prst="rect">
            <a:avLst/>
          </a:prstGeom>
          <a:solidFill>
            <a:srgbClr val="FFFFFF"/>
          </a:solidFill>
          <a:ln w="12700">
            <a:solidFill>
              <a:srgbClr val="E0DBD4"/>
            </a:solidFill>
          </a:ln>
        </p:spPr>
        <p:txBody>
          <a:bodyPr wrap="square" lIns="91440" tIns="45720" rIns="91440" bIns="45720" anchor="ctr"/>
          <a:lstStyle/>
          <a:p>
            <a:pPr algn="l">
              <a:lnSpc>
                <a:spcPts val="1800"/>
              </a:lnSpc>
            </a:pPr>
            <a:r>
              <a:rPr lang="ja-JP" sz="1200" dirty="0">
                <a:solidFill>
                  <a:srgbClr val="333333"/>
                </a:solidFill>
                <a:latin typeface="BIZ UDPGothic"/>
                <a:ea typeface="BIZ UDPGothic"/>
              </a:rPr>
              <a:t>再現率・ROC-AUC・上位リスク集中度を
主要指標とし、不均衡対応手法を比較評価する</a:t>
            </a:r>
          </a:p>
        </p:txBody>
      </p:sp>
      <p:sp>
        <p:nvSpPr>
          <p:cNvPr id="23" name="S23"/>
          <p:cNvSpPr/>
          <p:nvPr/>
        </p:nvSpPr>
        <p:spPr>
          <a:xfrm>
            <a:off x="457200" y="2468880"/>
            <a:ext cx="457200" cy="1143000"/>
          </a:xfrm>
          <a:prstGeom prst="rect">
            <a:avLst/>
          </a:prstGeom>
          <a:solidFill>
            <a:srgbClr val="8B2500"/>
          </a:solidFill>
          <a:ln>
            <a:noFill/>
          </a:ln>
        </p:spPr>
        <p:txBody>
          <a:bodyPr wrap="square" lIns="91440" tIns="45720" rIns="91440" bIns="45720" anchor="ctr"/>
          <a:lstStyle/>
          <a:p>
            <a:pPr algn="ctr"/>
            <a:r>
              <a:rPr lang="en-US" sz="1800" b="1" dirty="0">
                <a:solidFill>
                  <a:srgbClr val="FFFFFF"/>
                </a:solidFill>
                <a:latin typeface="BIZ UDPGothic"/>
                <a:ea typeface="BIZ UDPGothic"/>
              </a:rPr>
              <a:t>2</a:t>
            </a:r>
          </a:p>
        </p:txBody>
      </p:sp>
      <p:sp>
        <p:nvSpPr>
          <p:cNvPr id="24" name="S24"/>
          <p:cNvSpPr/>
          <p:nvPr/>
        </p:nvSpPr>
        <p:spPr>
          <a:xfrm>
            <a:off x="914400" y="2468880"/>
            <a:ext cx="5029200" cy="1143000"/>
          </a:xfrm>
          <a:prstGeom prst="rect">
            <a:avLst/>
          </a:prstGeom>
          <a:solidFill>
            <a:srgbClr val="F7F5F2"/>
          </a:solidFill>
          <a:ln w="12700">
            <a:solidFill>
              <a:srgbClr val="E0DBD4"/>
            </a:solidFill>
          </a:ln>
        </p:spPr>
        <p:txBody>
          <a:bodyPr wrap="square" lIns="91440" tIns="45720" rIns="91440" bIns="45720" anchor="ctr"/>
          <a:lstStyle/>
          <a:p>
            <a:pPr algn="l">
              <a:spcAft>
                <a:spcPts val="300"/>
              </a:spcAft>
            </a:pPr>
            <a:r>
              <a:rPr lang="ja-JP" sz="1400" b="1" dirty="0">
                <a:solidFill>
                  <a:srgbClr val="8B2500"/>
                </a:solidFill>
                <a:latin typeface="BIZ UDPGothic"/>
                <a:ea typeface="BIZ UDPGothic"/>
              </a:rPr>
              <a:t>欠損の偏在</a:t>
            </a:r>
          </a:p>
          <a:p>
            <a:pPr algn="l">
              <a:lnSpc>
                <a:spcPts val="1800"/>
              </a:lnSpc>
            </a:pPr>
            <a:r>
              <a:rPr lang="ja-JP" sz="1200" dirty="0">
                <a:solidFill>
                  <a:srgbClr val="333333"/>
                </a:solidFill>
                <a:latin typeface="BIZ UDPGothic"/>
                <a:ea typeface="BIZ UDPGothic"/>
              </a:rPr>
              <a:t>Attr37等の欠損率が高い列があり、
補完バイアスや情報損失が懸念される</a:t>
            </a:r>
          </a:p>
        </p:txBody>
      </p:sp>
      <p:sp>
        <p:nvSpPr>
          <p:cNvPr id="25" name="S25"/>
          <p:cNvSpPr/>
          <p:nvPr/>
        </p:nvSpPr>
        <p:spPr>
          <a:xfrm>
            <a:off x="6035040" y="2468880"/>
            <a:ext cx="5699760" cy="1143000"/>
          </a:xfrm>
          <a:prstGeom prst="rect">
            <a:avLst/>
          </a:prstGeom>
          <a:solidFill>
            <a:srgbClr val="FFFFFF"/>
          </a:solidFill>
          <a:ln w="12700">
            <a:solidFill>
              <a:srgbClr val="E0DBD4"/>
            </a:solidFill>
          </a:ln>
        </p:spPr>
        <p:txBody>
          <a:bodyPr wrap="square" lIns="91440" tIns="45720" rIns="91440" bIns="45720" anchor="ctr"/>
          <a:lstStyle/>
          <a:p>
            <a:pPr algn="l">
              <a:lnSpc>
                <a:spcPts val="1800"/>
              </a:lnSpc>
            </a:pPr>
            <a:r>
              <a:rPr lang="ja-JP" sz="1200" dirty="0">
                <a:solidFill>
                  <a:srgbClr val="333333"/>
                </a:solidFill>
                <a:latin typeface="BIZ UDPGothic"/>
                <a:ea typeface="BIZ UDPGothic"/>
              </a:rPr>
              <a:t>高欠損列は一律除外せず、業務意味・情報量・
説明可能性の観点から投入有無を比較する</a:t>
            </a:r>
          </a:p>
        </p:txBody>
      </p:sp>
      <p:sp>
        <p:nvSpPr>
          <p:cNvPr id="26" name="S26"/>
          <p:cNvSpPr/>
          <p:nvPr/>
        </p:nvSpPr>
        <p:spPr>
          <a:xfrm>
            <a:off x="457200" y="3703320"/>
            <a:ext cx="457200" cy="1143000"/>
          </a:xfrm>
          <a:prstGeom prst="rect">
            <a:avLst/>
          </a:prstGeom>
          <a:solidFill>
            <a:srgbClr val="8B2500"/>
          </a:solidFill>
          <a:ln>
            <a:noFill/>
          </a:ln>
        </p:spPr>
        <p:txBody>
          <a:bodyPr wrap="square" lIns="91440" tIns="45720" rIns="91440" bIns="45720" anchor="ctr"/>
          <a:lstStyle/>
          <a:p>
            <a:pPr algn="ctr"/>
            <a:r>
              <a:rPr lang="en-US" sz="1800" b="1" dirty="0">
                <a:solidFill>
                  <a:srgbClr val="FFFFFF"/>
                </a:solidFill>
                <a:latin typeface="BIZ UDPGothic"/>
                <a:ea typeface="BIZ UDPGothic"/>
              </a:rPr>
              <a:t>3</a:t>
            </a:r>
          </a:p>
        </p:txBody>
      </p:sp>
      <p:sp>
        <p:nvSpPr>
          <p:cNvPr id="27" name="S27"/>
          <p:cNvSpPr/>
          <p:nvPr/>
        </p:nvSpPr>
        <p:spPr>
          <a:xfrm>
            <a:off x="914400" y="3703320"/>
            <a:ext cx="5029200" cy="1143000"/>
          </a:xfrm>
          <a:prstGeom prst="rect">
            <a:avLst/>
          </a:prstGeom>
          <a:solidFill>
            <a:srgbClr val="F7F5F2"/>
          </a:solidFill>
          <a:ln w="12700">
            <a:solidFill>
              <a:srgbClr val="E0DBD4"/>
            </a:solidFill>
          </a:ln>
        </p:spPr>
        <p:txBody>
          <a:bodyPr wrap="square" lIns="91440" tIns="45720" rIns="91440" bIns="45720" anchor="ctr"/>
          <a:lstStyle/>
          <a:p>
            <a:pPr algn="l">
              <a:spcAft>
                <a:spcPts val="300"/>
              </a:spcAft>
            </a:pPr>
            <a:r>
              <a:rPr lang="ja-JP" sz="1400" b="1" dirty="0">
                <a:solidFill>
                  <a:srgbClr val="8B2500"/>
                </a:solidFill>
                <a:latin typeface="BIZ UDPGothic"/>
                <a:ea typeface="BIZ UDPGothic"/>
              </a:rPr>
              <a:t>外れ値の影響</a:t>
            </a:r>
          </a:p>
          <a:p>
            <a:pPr algn="l">
              <a:lnSpc>
                <a:spcPts val="1800"/>
              </a:lnSpc>
            </a:pPr>
            <a:r>
              <a:rPr lang="ja-JP" sz="1200" dirty="0">
                <a:solidFill>
                  <a:srgbClr val="333333"/>
                </a:solidFill>
                <a:latin typeface="BIZ UDPGothic"/>
                <a:ea typeface="BIZ UDPGothic"/>
              </a:rPr>
              <a:t>一部指標で極端値が確認され、
モデル安定性を損なう可能性がある</a:t>
            </a:r>
          </a:p>
        </p:txBody>
      </p:sp>
      <p:sp>
        <p:nvSpPr>
          <p:cNvPr id="28" name="S28"/>
          <p:cNvSpPr/>
          <p:nvPr/>
        </p:nvSpPr>
        <p:spPr>
          <a:xfrm>
            <a:off x="6035040" y="3703320"/>
            <a:ext cx="5699760" cy="1143000"/>
          </a:xfrm>
          <a:prstGeom prst="rect">
            <a:avLst/>
          </a:prstGeom>
          <a:solidFill>
            <a:srgbClr val="FFFFFF"/>
          </a:solidFill>
          <a:ln w="12700">
            <a:solidFill>
              <a:srgbClr val="E0DBD4"/>
            </a:solidFill>
          </a:ln>
        </p:spPr>
        <p:txBody>
          <a:bodyPr wrap="square" lIns="91440" tIns="45720" rIns="91440" bIns="45720" anchor="ctr"/>
          <a:lstStyle/>
          <a:p>
            <a:pPr algn="l">
              <a:lnSpc>
                <a:spcPts val="1800"/>
              </a:lnSpc>
            </a:pPr>
            <a:r>
              <a:rPr lang="ja-JP" sz="1200" dirty="0">
                <a:solidFill>
                  <a:srgbClr val="333333"/>
                </a:solidFill>
                <a:latin typeface="BIZ UDPGothic"/>
                <a:ea typeface="BIZ UDPGothic"/>
              </a:rPr>
              <a:t>列単位で分布確認を行い、Winsorize・
クリッピング等を比較のうえ適用する</a:t>
            </a:r>
          </a:p>
        </p:txBody>
      </p:sp>
      <p:sp>
        <p:nvSpPr>
          <p:cNvPr id="29" name="S29"/>
          <p:cNvSpPr/>
          <p:nvPr/>
        </p:nvSpPr>
        <p:spPr>
          <a:xfrm>
            <a:off x="457200" y="4937760"/>
            <a:ext cx="457200" cy="1143000"/>
          </a:xfrm>
          <a:prstGeom prst="rect">
            <a:avLst/>
          </a:prstGeom>
          <a:solidFill>
            <a:srgbClr val="8B2500"/>
          </a:solidFill>
          <a:ln>
            <a:noFill/>
          </a:ln>
        </p:spPr>
        <p:txBody>
          <a:bodyPr wrap="square" lIns="91440" tIns="45720" rIns="91440" bIns="45720" anchor="ctr"/>
          <a:lstStyle/>
          <a:p>
            <a:pPr algn="ctr"/>
            <a:r>
              <a:rPr lang="en-US" sz="1800" b="1" dirty="0">
                <a:solidFill>
                  <a:srgbClr val="FFFFFF"/>
                </a:solidFill>
                <a:latin typeface="BIZ UDPGothic"/>
                <a:ea typeface="BIZ UDPGothic"/>
              </a:rPr>
              <a:t>4</a:t>
            </a:r>
          </a:p>
        </p:txBody>
      </p:sp>
      <p:sp>
        <p:nvSpPr>
          <p:cNvPr id="30" name="S30"/>
          <p:cNvSpPr/>
          <p:nvPr/>
        </p:nvSpPr>
        <p:spPr>
          <a:xfrm>
            <a:off x="914400" y="4937760"/>
            <a:ext cx="5029200" cy="1143000"/>
          </a:xfrm>
          <a:prstGeom prst="rect">
            <a:avLst/>
          </a:prstGeom>
          <a:solidFill>
            <a:srgbClr val="F7F5F2"/>
          </a:solidFill>
          <a:ln w="12700">
            <a:solidFill>
              <a:srgbClr val="E0DBD4"/>
            </a:solidFill>
          </a:ln>
        </p:spPr>
        <p:txBody>
          <a:bodyPr wrap="square" lIns="91440" tIns="45720" rIns="91440" bIns="45720" anchor="ctr"/>
          <a:lstStyle/>
          <a:p>
            <a:pPr algn="l">
              <a:spcAft>
                <a:spcPts val="300"/>
              </a:spcAft>
            </a:pPr>
            <a:r>
              <a:rPr lang="ja-JP" sz="1400" b="1" dirty="0">
                <a:solidFill>
                  <a:srgbClr val="8B2500"/>
                </a:solidFill>
                <a:latin typeface="BIZ UDPGothic"/>
                <a:ea typeface="BIZ UDPGothic"/>
              </a:rPr>
              <a:t>多重共線性</a:t>
            </a:r>
          </a:p>
          <a:p>
            <a:pPr algn="l">
              <a:lnSpc>
                <a:spcPts val="1800"/>
              </a:lnSpc>
            </a:pPr>
            <a:r>
              <a:rPr lang="ja-JP" sz="1200" dirty="0">
                <a:solidFill>
                  <a:srgbClr val="333333"/>
                </a:solidFill>
                <a:latin typeface="BIZ UDPGothic"/>
                <a:ea typeface="BIZ UDPGothic"/>
              </a:rPr>
              <a:t>財務指標間で相関が高く、
線形モデルに影響する可能性がある</a:t>
            </a:r>
          </a:p>
        </p:txBody>
      </p:sp>
      <p:sp>
        <p:nvSpPr>
          <p:cNvPr id="31" name="S31"/>
          <p:cNvSpPr/>
          <p:nvPr/>
        </p:nvSpPr>
        <p:spPr>
          <a:xfrm>
            <a:off x="6035040" y="4937760"/>
            <a:ext cx="5699760" cy="1143000"/>
          </a:xfrm>
          <a:prstGeom prst="rect">
            <a:avLst/>
          </a:prstGeom>
          <a:solidFill>
            <a:srgbClr val="FFFFFF"/>
          </a:solidFill>
          <a:ln w="12700">
            <a:solidFill>
              <a:srgbClr val="E0DBD4"/>
            </a:solidFill>
          </a:ln>
        </p:spPr>
        <p:txBody>
          <a:bodyPr wrap="square" lIns="91440" tIns="45720" rIns="91440" bIns="45720" anchor="ctr"/>
          <a:lstStyle/>
          <a:p>
            <a:pPr algn="l">
              <a:lnSpc>
                <a:spcPts val="1800"/>
              </a:lnSpc>
            </a:pPr>
            <a:r>
              <a:rPr lang="ja-JP" sz="1200" dirty="0">
                <a:solidFill>
                  <a:srgbClr val="333333"/>
                </a:solidFill>
                <a:latin typeface="BIZ UDPGothic"/>
                <a:ea typeface="BIZ UDPGothic"/>
              </a:rPr>
              <a:t>相関分析と特徴量整理を実施し、
解釈性を損なわない範囲で変数整理を行う</a:t>
            </a:r>
          </a:p>
        </p:txBody>
      </p:sp>
    </p:spTree>
    <p:extLst>
      <p:ext uri="{BB962C8B-B14F-4D97-AF65-F5344CB8AC3E}">
        <p14:creationId xmlns:p14="http://schemas.microsoft.com/office/powerpoint/2010/main" val="39274010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91440" tIns="45720" rIns="91440" bIns="45720" anchor="ctr"/>
          <a:lstStyle/>
          <a:p>
            <a:endParaRPr lang="ja-JP"/>
          </a:p>
        </p:txBody>
      </p:sp>
      <p:sp>
        <p:nvSpPr>
          <p:cNvPr id="11" name="S11"/>
          <p:cNvSpPr/>
          <p:nvPr/>
        </p:nvSpPr>
        <p:spPr>
          <a:xfrm>
            <a:off x="457200" y="137160"/>
            <a:ext cx="11277600" cy="548640"/>
          </a:xfrm>
          <a:prstGeom prst="rect">
            <a:avLst/>
          </a:prstGeom>
          <a:noFill/>
          <a:ln>
            <a:noFill/>
          </a:ln>
        </p:spPr>
        <p:txBody>
          <a:bodyPr wrap="square" lIns="91440" tIns="45720" rIns="91440" bIns="45720" anchor="ctr"/>
          <a:lstStyle/>
          <a:p>
            <a:pPr algn="l"/>
            <a:r>
              <a:rPr lang="ja-JP" sz="2400" b="1" dirty="0">
                <a:solidFill>
                  <a:srgbClr val="1A1A1A"/>
                </a:solidFill>
                <a:latin typeface="BIZ UDPGothic"/>
                <a:ea typeface="BIZ UDPGothic"/>
              </a:rPr>
              <a:t>9. リスクと対応策 (2/2)</a:t>
            </a:r>
          </a:p>
        </p:txBody>
      </p:sp>
      <p:sp>
        <p:nvSpPr>
          <p:cNvPr id="12" name="S12"/>
          <p:cNvSpPr/>
          <p:nvPr/>
        </p:nvSpPr>
        <p:spPr>
          <a:xfrm>
            <a:off x="457200" y="800000"/>
            <a:ext cx="5486400" cy="365760"/>
          </a:xfrm>
          <a:prstGeom prst="rect">
            <a:avLst/>
          </a:prstGeom>
          <a:solidFill>
            <a:srgbClr val="8B2500"/>
          </a:solidFill>
          <a:ln>
            <a:noFill/>
          </a:ln>
        </p:spPr>
        <p:txBody>
          <a:bodyPr wrap="square" lIns="91440" tIns="45720" rIns="91440" bIns="45720" anchor="ctr"/>
          <a:lstStyle/>
          <a:p>
            <a:pPr algn="ctr"/>
            <a:r>
              <a:rPr lang="ja-JP" sz="1400" b="1" dirty="0">
                <a:solidFill>
                  <a:srgbClr val="FFFFFF"/>
                </a:solidFill>
                <a:latin typeface="BIZ UDPGothic"/>
                <a:ea typeface="BIZ UDPGothic"/>
              </a:rPr>
              <a:t>リスク内容</a:t>
            </a:r>
          </a:p>
        </p:txBody>
      </p:sp>
      <p:sp>
        <p:nvSpPr>
          <p:cNvPr id="13" name="S13"/>
          <p:cNvSpPr/>
          <p:nvPr/>
        </p:nvSpPr>
        <p:spPr>
          <a:xfrm>
            <a:off x="6035040" y="800000"/>
            <a:ext cx="5699760" cy="365760"/>
          </a:xfrm>
          <a:prstGeom prst="rect">
            <a:avLst/>
          </a:prstGeom>
          <a:solidFill>
            <a:srgbClr val="4A4A4A"/>
          </a:solidFill>
          <a:ln>
            <a:noFill/>
          </a:ln>
        </p:spPr>
        <p:txBody>
          <a:bodyPr wrap="square" lIns="91440" tIns="45720" rIns="91440" bIns="45720" anchor="ctr"/>
          <a:lstStyle/>
          <a:p>
            <a:pPr algn="ctr"/>
            <a:r>
              <a:rPr lang="ja-JP" sz="1400" b="1" dirty="0">
                <a:solidFill>
                  <a:srgbClr val="FFFFFF"/>
                </a:solidFill>
                <a:latin typeface="BIZ UDPGothic"/>
                <a:ea typeface="BIZ UDPGothic"/>
              </a:rPr>
              <a:t>対応策</a:t>
            </a:r>
          </a:p>
        </p:txBody>
      </p:sp>
      <p:sp>
        <p:nvSpPr>
          <p:cNvPr id="20" name="S20"/>
          <p:cNvSpPr/>
          <p:nvPr/>
        </p:nvSpPr>
        <p:spPr>
          <a:xfrm>
            <a:off x="457200" y="1234440"/>
            <a:ext cx="457200" cy="1143000"/>
          </a:xfrm>
          <a:prstGeom prst="rect">
            <a:avLst/>
          </a:prstGeom>
          <a:solidFill>
            <a:srgbClr val="8B2500"/>
          </a:solidFill>
          <a:ln>
            <a:noFill/>
          </a:ln>
        </p:spPr>
        <p:txBody>
          <a:bodyPr wrap="square" lIns="91440" tIns="45720" rIns="91440" bIns="45720" anchor="ctr"/>
          <a:lstStyle/>
          <a:p>
            <a:pPr algn="ctr"/>
            <a:r>
              <a:rPr lang="en-US" sz="1800" b="1" dirty="0">
                <a:solidFill>
                  <a:srgbClr val="FFFFFF"/>
                </a:solidFill>
                <a:latin typeface="BIZ UDPGothic"/>
                <a:ea typeface="BIZ UDPGothic"/>
              </a:rPr>
              <a:t>5</a:t>
            </a:r>
          </a:p>
        </p:txBody>
      </p:sp>
      <p:sp>
        <p:nvSpPr>
          <p:cNvPr id="21" name="S21"/>
          <p:cNvSpPr/>
          <p:nvPr/>
        </p:nvSpPr>
        <p:spPr>
          <a:xfrm>
            <a:off x="914400" y="1234440"/>
            <a:ext cx="5029200" cy="1143000"/>
          </a:xfrm>
          <a:prstGeom prst="rect">
            <a:avLst/>
          </a:prstGeom>
          <a:solidFill>
            <a:srgbClr val="F7F5F2"/>
          </a:solidFill>
          <a:ln w="12700">
            <a:solidFill>
              <a:srgbClr val="E0DBD4"/>
            </a:solidFill>
          </a:ln>
        </p:spPr>
        <p:txBody>
          <a:bodyPr wrap="square" lIns="91440" tIns="45720" rIns="91440" bIns="45720" anchor="ctr"/>
          <a:lstStyle/>
          <a:p>
            <a:pPr algn="l">
              <a:spcAft>
                <a:spcPts val="300"/>
              </a:spcAft>
            </a:pPr>
            <a:r>
              <a:rPr lang="ja-JP" sz="1400" b="1" dirty="0">
                <a:solidFill>
                  <a:srgbClr val="8B2500"/>
                </a:solidFill>
                <a:latin typeface="BIZ UDPGothic"/>
                <a:ea typeface="BIZ UDPGothic"/>
              </a:rPr>
              <a:t>時系列情報不足</a:t>
            </a:r>
          </a:p>
          <a:p>
            <a:pPr algn="l">
              <a:lnSpc>
                <a:spcPts val="1800"/>
              </a:lnSpc>
            </a:pPr>
            <a:r>
              <a:rPr lang="ja-JP" sz="1200" dirty="0">
                <a:solidFill>
                  <a:srgbClr val="333333"/>
                </a:solidFill>
                <a:latin typeface="BIZ UDPGothic"/>
                <a:ea typeface="BIZ UDPGothic"/>
              </a:rPr>
              <a:t>景気局面差・年度差の影響を
直接検証できない</a:t>
            </a:r>
          </a:p>
        </p:txBody>
      </p:sp>
      <p:sp>
        <p:nvSpPr>
          <p:cNvPr id="22" name="S22"/>
          <p:cNvSpPr/>
          <p:nvPr/>
        </p:nvSpPr>
        <p:spPr>
          <a:xfrm>
            <a:off x="6035040" y="1234440"/>
            <a:ext cx="5699760" cy="1143000"/>
          </a:xfrm>
          <a:prstGeom prst="rect">
            <a:avLst/>
          </a:prstGeom>
          <a:solidFill>
            <a:srgbClr val="FFFFFF"/>
          </a:solidFill>
          <a:ln w="12700">
            <a:solidFill>
              <a:srgbClr val="E0DBD4"/>
            </a:solidFill>
          </a:ln>
        </p:spPr>
        <p:txBody>
          <a:bodyPr wrap="square" lIns="91440" tIns="45720" rIns="91440" bIns="45720" anchor="ctr"/>
          <a:lstStyle/>
          <a:p>
            <a:pPr algn="l">
              <a:lnSpc>
                <a:spcPts val="1800"/>
              </a:lnSpc>
            </a:pPr>
            <a:r>
              <a:rPr lang="ja-JP" sz="1200" dirty="0">
                <a:solidFill>
                  <a:srgbClr val="333333"/>
                </a:solidFill>
                <a:latin typeface="BIZ UDPGothic"/>
                <a:ea typeface="BIZ UDPGothic"/>
              </a:rPr>
              <a:t>本フェーズの制約として明示し、将来フェーズ
での追加データ拡張論点として整理する</a:t>
            </a:r>
          </a:p>
        </p:txBody>
      </p:sp>
      <p:sp>
        <p:nvSpPr>
          <p:cNvPr id="23" name="S23"/>
          <p:cNvSpPr/>
          <p:nvPr/>
        </p:nvSpPr>
        <p:spPr>
          <a:xfrm>
            <a:off x="457200" y="2468880"/>
            <a:ext cx="457200" cy="1143000"/>
          </a:xfrm>
          <a:prstGeom prst="rect">
            <a:avLst/>
          </a:prstGeom>
          <a:solidFill>
            <a:srgbClr val="8B2500"/>
          </a:solidFill>
          <a:ln>
            <a:noFill/>
          </a:ln>
        </p:spPr>
        <p:txBody>
          <a:bodyPr wrap="square" lIns="91440" tIns="45720" rIns="91440" bIns="45720" anchor="ctr"/>
          <a:lstStyle/>
          <a:p>
            <a:pPr algn="ctr"/>
            <a:r>
              <a:rPr lang="en-US" sz="1800" b="1" dirty="0">
                <a:solidFill>
                  <a:srgbClr val="FFFFFF"/>
                </a:solidFill>
                <a:latin typeface="BIZ UDPGothic"/>
                <a:ea typeface="BIZ UDPGothic"/>
              </a:rPr>
              <a:t>6</a:t>
            </a:r>
          </a:p>
        </p:txBody>
      </p:sp>
      <p:sp>
        <p:nvSpPr>
          <p:cNvPr id="24" name="S24"/>
          <p:cNvSpPr/>
          <p:nvPr/>
        </p:nvSpPr>
        <p:spPr>
          <a:xfrm>
            <a:off x="914400" y="2468880"/>
            <a:ext cx="5029200" cy="1143000"/>
          </a:xfrm>
          <a:prstGeom prst="rect">
            <a:avLst/>
          </a:prstGeom>
          <a:solidFill>
            <a:srgbClr val="F7F5F2"/>
          </a:solidFill>
          <a:ln w="12700">
            <a:solidFill>
              <a:srgbClr val="E0DBD4"/>
            </a:solidFill>
          </a:ln>
        </p:spPr>
        <p:txBody>
          <a:bodyPr wrap="square" lIns="91440" tIns="45720" rIns="91440" bIns="45720" anchor="ctr"/>
          <a:lstStyle/>
          <a:p>
            <a:pPr algn="l">
              <a:spcAft>
                <a:spcPts val="300"/>
              </a:spcAft>
            </a:pPr>
            <a:r>
              <a:rPr lang="ja-JP" sz="1400" b="1" dirty="0">
                <a:solidFill>
                  <a:srgbClr val="8B2500"/>
                </a:solidFill>
                <a:latin typeface="BIZ UDPGothic"/>
                <a:ea typeface="BIZ UDPGothic"/>
              </a:rPr>
              <a:t>監査・説明責任への不足</a:t>
            </a:r>
          </a:p>
          <a:p>
            <a:pPr algn="l">
              <a:lnSpc>
                <a:spcPts val="1800"/>
              </a:lnSpc>
            </a:pPr>
            <a:r>
              <a:rPr lang="ja-JP" sz="1200" dirty="0">
                <a:solidFill>
                  <a:srgbClr val="333333"/>
                </a:solidFill>
                <a:latin typeface="BIZ UDPGothic"/>
                <a:ea typeface="BIZ UDPGothic"/>
              </a:rPr>
              <a:t>金融ドメインでは判断根拠の
追跡可能性が必須である</a:t>
            </a:r>
          </a:p>
        </p:txBody>
      </p:sp>
      <p:sp>
        <p:nvSpPr>
          <p:cNvPr id="25" name="S25"/>
          <p:cNvSpPr/>
          <p:nvPr/>
        </p:nvSpPr>
        <p:spPr>
          <a:xfrm>
            <a:off x="6035040" y="2468880"/>
            <a:ext cx="5699760" cy="1143000"/>
          </a:xfrm>
          <a:prstGeom prst="rect">
            <a:avLst/>
          </a:prstGeom>
          <a:solidFill>
            <a:srgbClr val="FFFFFF"/>
          </a:solidFill>
          <a:ln w="12700">
            <a:solidFill>
              <a:srgbClr val="E0DBD4"/>
            </a:solidFill>
          </a:ln>
        </p:spPr>
        <p:txBody>
          <a:bodyPr wrap="square" lIns="91440" tIns="45720" rIns="91440" bIns="45720" anchor="ctr"/>
          <a:lstStyle/>
          <a:p>
            <a:pPr algn="l">
              <a:lnSpc>
                <a:spcPts val="1800"/>
              </a:lnSpc>
            </a:pPr>
            <a:r>
              <a:rPr lang="ja-JP" sz="1200" dirty="0">
                <a:solidFill>
                  <a:srgbClr val="333333"/>
                </a:solidFill>
                <a:latin typeface="BIZ UDPGothic"/>
                <a:ea typeface="BIZ UDPGothic"/>
              </a:rPr>
              <a:t>前処理・評価条件・採用理由・閾値根拠を
文書化し、監査証跡を残す</a:t>
            </a:r>
          </a:p>
        </p:txBody>
      </p:sp>
      <p:sp>
        <p:nvSpPr>
          <p:cNvPr id="26" name="S26"/>
          <p:cNvSpPr/>
          <p:nvPr/>
        </p:nvSpPr>
        <p:spPr>
          <a:xfrm>
            <a:off x="457200" y="3703320"/>
            <a:ext cx="457200" cy="1143000"/>
          </a:xfrm>
          <a:prstGeom prst="rect">
            <a:avLst/>
          </a:prstGeom>
          <a:solidFill>
            <a:srgbClr val="8B2500"/>
          </a:solidFill>
          <a:ln>
            <a:noFill/>
          </a:ln>
        </p:spPr>
        <p:txBody>
          <a:bodyPr wrap="square" lIns="91440" tIns="45720" rIns="91440" bIns="45720" anchor="ctr"/>
          <a:lstStyle/>
          <a:p>
            <a:pPr algn="ctr"/>
            <a:r>
              <a:rPr lang="en-US" sz="1800" b="1" dirty="0">
                <a:solidFill>
                  <a:srgbClr val="FFFFFF"/>
                </a:solidFill>
                <a:latin typeface="BIZ UDPGothic"/>
                <a:ea typeface="BIZ UDPGothic"/>
              </a:rPr>
              <a:t>7</a:t>
            </a:r>
          </a:p>
        </p:txBody>
      </p:sp>
      <p:sp>
        <p:nvSpPr>
          <p:cNvPr id="27" name="S27"/>
          <p:cNvSpPr/>
          <p:nvPr/>
        </p:nvSpPr>
        <p:spPr>
          <a:xfrm>
            <a:off x="914400" y="3703320"/>
            <a:ext cx="5029200" cy="1143000"/>
          </a:xfrm>
          <a:prstGeom prst="rect">
            <a:avLst/>
          </a:prstGeom>
          <a:solidFill>
            <a:srgbClr val="F7F5F2"/>
          </a:solidFill>
          <a:ln w="12700">
            <a:solidFill>
              <a:srgbClr val="E0DBD4"/>
            </a:solidFill>
          </a:ln>
        </p:spPr>
        <p:txBody>
          <a:bodyPr wrap="square" lIns="91440" tIns="45720" rIns="91440" bIns="45720" anchor="ctr"/>
          <a:lstStyle/>
          <a:p>
            <a:pPr algn="l">
              <a:spcAft>
                <a:spcPts val="300"/>
              </a:spcAft>
            </a:pPr>
            <a:r>
              <a:rPr lang="ja-JP" sz="1400" b="1" dirty="0">
                <a:solidFill>
                  <a:srgbClr val="8B2500"/>
                </a:solidFill>
                <a:latin typeface="BIZ UDPGothic"/>
                <a:ea typeface="BIZ UDPGothic"/>
              </a:rPr>
              <a:t>公平性・バイアス評価の制限</a:t>
            </a:r>
          </a:p>
          <a:p>
            <a:pPr algn="l">
              <a:lnSpc>
                <a:spcPts val="1800"/>
              </a:lnSpc>
            </a:pPr>
            <a:r>
              <a:rPr lang="ja-JP" sz="1200" dirty="0">
                <a:solidFill>
                  <a:srgbClr val="333333"/>
                </a:solidFill>
                <a:latin typeface="BIZ UDPGothic"/>
                <a:ea typeface="BIZ UDPGothic"/>
              </a:rPr>
              <a:t>属性情報がないため
公平性評価が限定的である</a:t>
            </a:r>
          </a:p>
        </p:txBody>
      </p:sp>
      <p:sp>
        <p:nvSpPr>
          <p:cNvPr id="28" name="S28"/>
          <p:cNvSpPr/>
          <p:nvPr/>
        </p:nvSpPr>
        <p:spPr>
          <a:xfrm>
            <a:off x="6035040" y="3703320"/>
            <a:ext cx="5699760" cy="1143000"/>
          </a:xfrm>
          <a:prstGeom prst="rect">
            <a:avLst/>
          </a:prstGeom>
          <a:solidFill>
            <a:srgbClr val="FFFFFF"/>
          </a:solidFill>
          <a:ln w="12700">
            <a:solidFill>
              <a:srgbClr val="E0DBD4"/>
            </a:solidFill>
          </a:ln>
        </p:spPr>
        <p:txBody>
          <a:bodyPr wrap="square" lIns="91440" tIns="45720" rIns="91440" bIns="45720" anchor="ctr"/>
          <a:lstStyle/>
          <a:p>
            <a:pPr algn="l">
              <a:lnSpc>
                <a:spcPts val="1800"/>
              </a:lnSpc>
            </a:pPr>
            <a:r>
              <a:rPr lang="ja-JP" sz="1200" dirty="0">
                <a:solidFill>
                  <a:srgbClr val="333333"/>
                </a:solidFill>
                <a:latin typeface="BIZ UDPGothic"/>
                <a:ea typeface="BIZ UDPGothic"/>
              </a:rPr>
              <a:t>実施可能な評価範囲を明示し、追加属性取得が
必要な論点として報告する</a:t>
            </a:r>
          </a:p>
        </p:txBody>
      </p:sp>
      <p:sp>
        <p:nvSpPr>
          <p:cNvPr id="29" name="S29"/>
          <p:cNvSpPr/>
          <p:nvPr/>
        </p:nvSpPr>
        <p:spPr>
          <a:xfrm>
            <a:off x="457200" y="4937760"/>
            <a:ext cx="457200" cy="1143000"/>
          </a:xfrm>
          <a:prstGeom prst="rect">
            <a:avLst/>
          </a:prstGeom>
          <a:solidFill>
            <a:srgbClr val="8B2500"/>
          </a:solidFill>
          <a:ln>
            <a:noFill/>
          </a:ln>
        </p:spPr>
        <p:txBody>
          <a:bodyPr wrap="square" lIns="91440" tIns="45720" rIns="91440" bIns="45720" anchor="ctr"/>
          <a:lstStyle/>
          <a:p>
            <a:pPr algn="ctr"/>
            <a:r>
              <a:rPr lang="en-US" sz="1800" b="1" dirty="0">
                <a:solidFill>
                  <a:srgbClr val="FFFFFF"/>
                </a:solidFill>
                <a:latin typeface="BIZ UDPGothic"/>
                <a:ea typeface="BIZ UDPGothic"/>
              </a:rPr>
              <a:t>8</a:t>
            </a:r>
          </a:p>
        </p:txBody>
      </p:sp>
      <p:sp>
        <p:nvSpPr>
          <p:cNvPr id="30" name="S30"/>
          <p:cNvSpPr/>
          <p:nvPr/>
        </p:nvSpPr>
        <p:spPr>
          <a:xfrm>
            <a:off x="914400" y="4937760"/>
            <a:ext cx="5029200" cy="1143000"/>
          </a:xfrm>
          <a:prstGeom prst="rect">
            <a:avLst/>
          </a:prstGeom>
          <a:solidFill>
            <a:srgbClr val="F7F5F2"/>
          </a:solidFill>
          <a:ln w="12700">
            <a:solidFill>
              <a:srgbClr val="E0DBD4"/>
            </a:solidFill>
          </a:ln>
        </p:spPr>
        <p:txBody>
          <a:bodyPr wrap="square" lIns="91440" tIns="45720" rIns="91440" bIns="45720" anchor="ctr"/>
          <a:lstStyle/>
          <a:p>
            <a:pPr algn="l">
              <a:spcAft>
                <a:spcPts val="300"/>
              </a:spcAft>
            </a:pPr>
            <a:r>
              <a:rPr lang="ja-JP" sz="1400" b="1" dirty="0">
                <a:solidFill>
                  <a:srgbClr val="8B2500"/>
                </a:solidFill>
                <a:latin typeface="BIZ UDPGothic"/>
                <a:ea typeface="BIZ UDPGothic"/>
              </a:rPr>
              <a:t>契約範囲外要望の発生</a:t>
            </a:r>
          </a:p>
          <a:p>
            <a:pPr algn="l">
              <a:lnSpc>
                <a:spcPts val="1800"/>
              </a:lnSpc>
            </a:pPr>
            <a:r>
              <a:rPr lang="ja-JP" sz="1200" dirty="0">
                <a:solidFill>
                  <a:srgbClr val="333333"/>
                </a:solidFill>
                <a:latin typeface="BIZ UDPGothic"/>
                <a:ea typeface="BIZ UDPGothic"/>
              </a:rPr>
              <a:t>追加分析や別テーマ対応が
発生する可能性がある</a:t>
            </a:r>
          </a:p>
        </p:txBody>
      </p:sp>
      <p:sp>
        <p:nvSpPr>
          <p:cNvPr id="31" name="S31"/>
          <p:cNvSpPr/>
          <p:nvPr/>
        </p:nvSpPr>
        <p:spPr>
          <a:xfrm>
            <a:off x="6035040" y="4937760"/>
            <a:ext cx="5699760" cy="1143000"/>
          </a:xfrm>
          <a:prstGeom prst="rect">
            <a:avLst/>
          </a:prstGeom>
          <a:solidFill>
            <a:srgbClr val="FFFFFF"/>
          </a:solidFill>
          <a:ln w="12700">
            <a:solidFill>
              <a:srgbClr val="E0DBD4"/>
            </a:solidFill>
          </a:ln>
        </p:spPr>
        <p:txBody>
          <a:bodyPr wrap="square" lIns="91440" tIns="45720" rIns="91440" bIns="45720" anchor="ctr"/>
          <a:lstStyle/>
          <a:p>
            <a:pPr algn="l">
              <a:lnSpc>
                <a:spcPts val="1800"/>
              </a:lnSpc>
            </a:pPr>
            <a:r>
              <a:rPr lang="ja-JP" sz="1200" dirty="0">
                <a:solidFill>
                  <a:srgbClr val="333333"/>
                </a:solidFill>
                <a:latin typeface="BIZ UDPGothic"/>
                <a:ea typeface="BIZ UDPGothic"/>
              </a:rPr>
              <a:t>変更管理ルールに基づき、別紙見積による
事前合意後に対応する</a:t>
            </a:r>
          </a:p>
        </p:txBody>
      </p:sp>
    </p:spTree>
    <p:extLst>
      <p:ext uri="{BB962C8B-B14F-4D97-AF65-F5344CB8AC3E}">
        <p14:creationId xmlns:p14="http://schemas.microsoft.com/office/powerpoint/2010/main" val="5724946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91440" tIns="45720" rIns="91440" bIns="45720" anchor="ctr"/>
          <a:lstStyle/>
          <a:p>
            <a:endParaRPr lang="ja-JP"/>
          </a:p>
        </p:txBody>
      </p:sp>
      <p:sp>
        <p:nvSpPr>
          <p:cNvPr id="11" name="S11"/>
          <p:cNvSpPr/>
          <p:nvPr/>
        </p:nvSpPr>
        <p:spPr>
          <a:xfrm>
            <a:off x="457200" y="137160"/>
            <a:ext cx="11277600" cy="548640"/>
          </a:xfrm>
          <a:prstGeom prst="rect">
            <a:avLst/>
          </a:prstGeom>
          <a:noFill/>
          <a:ln>
            <a:noFill/>
          </a:ln>
        </p:spPr>
        <p:txBody>
          <a:bodyPr wrap="square" lIns="91440" tIns="45720" rIns="91440" bIns="45720" anchor="ctr"/>
          <a:lstStyle/>
          <a:p>
            <a:pPr algn="l"/>
            <a:r>
              <a:rPr lang="ja-JP" sz="2400" b="1" dirty="0">
                <a:solidFill>
                  <a:srgbClr val="1A1A1A"/>
                </a:solidFill>
                <a:latin typeface="BIZ UDPGothic"/>
                <a:ea typeface="BIZ UDPGothic"/>
              </a:rPr>
              <a:t>10. 前提条件・除外事項・変更管理</a:t>
            </a:r>
          </a:p>
        </p:txBody>
      </p:sp>
      <p:sp>
        <p:nvSpPr>
          <p:cNvPr id="12" name="S12"/>
          <p:cNvSpPr/>
          <p:nvPr/>
        </p:nvSpPr>
        <p:spPr>
          <a:xfrm>
            <a:off x="457200" y="800000"/>
            <a:ext cx="5486400" cy="365760"/>
          </a:xfrm>
          <a:prstGeom prst="roundRect">
            <a:avLst>
              <a:gd name="adj" fmla="val 6000"/>
            </a:avLst>
          </a:prstGeom>
          <a:solidFill>
            <a:srgbClr val="8B2500"/>
          </a:solidFill>
          <a:ln>
            <a:noFill/>
          </a:ln>
        </p:spPr>
        <p:txBody>
          <a:bodyPr wrap="square" lIns="91440" tIns="45720" rIns="91440" bIns="45720" anchor="ctr"/>
          <a:lstStyle/>
          <a:p>
            <a:pPr algn="ctr"/>
            <a:r>
              <a:rPr lang="ja-JP" sz="1500" b="1" dirty="0">
                <a:solidFill>
                  <a:srgbClr val="FFFFFF"/>
                </a:solidFill>
                <a:latin typeface="BIZ UDPGothic"/>
                <a:ea typeface="BIZ UDPGothic"/>
              </a:rPr>
              <a:t>前提条件</a:t>
            </a:r>
          </a:p>
        </p:txBody>
      </p:sp>
      <p:sp>
        <p:nvSpPr>
          <p:cNvPr id="13" name="S13"/>
          <p:cNvSpPr/>
          <p:nvPr/>
        </p:nvSpPr>
        <p:spPr>
          <a:xfrm>
            <a:off x="457200" y="1234440"/>
            <a:ext cx="5486400" cy="3200400"/>
          </a:xfrm>
          <a:prstGeom prst="rect">
            <a:avLst/>
          </a:prstGeom>
          <a:solidFill>
            <a:srgbClr val="F7F5F2"/>
          </a:solidFill>
          <a:ln w="12700">
            <a:solidFill>
              <a:srgbClr val="D0C8BE"/>
            </a:solidFill>
          </a:ln>
        </p:spPr>
        <p:txBody>
          <a:bodyPr wrap="square" lIns="91440" tIns="45720" rIns="91440" bIns="45720" anchor="t"/>
          <a:lstStyle/>
          <a:p>
            <a:pPr marL="228600" indent="-228600" algn="l">
              <a:lnSpc>
                <a:spcPts val="1650"/>
              </a:lnSpc>
              <a:buFont typeface="Arial"/>
              <a:buChar char="•"/>
            </a:pPr>
            <a:r>
              <a:rPr lang="ja-JP" sz="1100" dirty="0">
                <a:solidFill>
                  <a:srgbClr val="333333"/>
                </a:solidFill>
                <a:latin typeface="BIZ UDPGothic"/>
                <a:ea typeface="BIZ UDPGothic"/>
              </a:rPr>
              <a:t>id は識別子として除外し、予測変数には含めない</a:t>
            </a:r>
          </a:p>
          <a:p>
            <a:pPr marL="228600" indent="-228600" algn="l">
              <a:lnSpc>
                <a:spcPts val="1650"/>
              </a:lnSpc>
              <a:buFont typeface="Arial"/>
              <a:buChar char="•"/>
            </a:pPr>
            <a:r>
              <a:rPr lang="ja-JP" sz="1100" dirty="0">
                <a:solidFill>
                  <a:srgbClr val="333333"/>
                </a:solidFill>
                <a:latin typeface="BIZ UDPGothic"/>
                <a:ea typeface="BIZ UDPGothic"/>
              </a:rPr>
              <a:t>class は正しい教師ラベルとして扱う</a:t>
            </a:r>
          </a:p>
          <a:p>
            <a:pPr marL="228600" indent="-228600" algn="l">
              <a:lnSpc>
                <a:spcPts val="1650"/>
              </a:lnSpc>
              <a:buFont typeface="Arial"/>
              <a:buChar char="•"/>
            </a:pPr>
            <a:r>
              <a:rPr lang="ja-JP" sz="1100" dirty="0">
                <a:solidFill>
                  <a:srgbClr val="333333"/>
                </a:solidFill>
                <a:latin typeface="BIZ UDPGothic"/>
                <a:ea typeface="BIZ UDPGothic"/>
              </a:rPr>
              <a:t>Attr1〜Attr64 の意味はカラム説明.md を正とする</a:t>
            </a:r>
          </a:p>
          <a:p>
            <a:pPr marL="228600" indent="-228600" algn="l">
              <a:lnSpc>
                <a:spcPts val="1650"/>
              </a:lnSpc>
              <a:buFont typeface="Arial"/>
              <a:buChar char="•"/>
            </a:pPr>
            <a:r>
              <a:rPr lang="ja-JP" sz="1100" dirty="0">
                <a:solidFill>
                  <a:srgbClr val="333333"/>
                </a:solidFill>
                <a:latin typeface="BIZ UDPGothic"/>
                <a:ea typeface="BIZ UDPGothic"/>
              </a:rPr>
              <a:t>評価は再現率・ROC-AUC・上位リスク集中度を重視</a:t>
            </a:r>
          </a:p>
          <a:p>
            <a:pPr marL="228600" indent="-228600" algn="l">
              <a:lnSpc>
                <a:spcPts val="1650"/>
              </a:lnSpc>
              <a:buFont typeface="Arial"/>
              <a:buChar char="•"/>
            </a:pPr>
            <a:r>
              <a:rPr lang="ja-JP" sz="1100" dirty="0">
                <a:solidFill>
                  <a:srgbClr val="333333"/>
                </a:solidFill>
                <a:latin typeface="BIZ UDPGothic"/>
                <a:ea typeface="BIZ UDPGothic"/>
              </a:rPr>
              <a:t>監査証跡・アクセス制御・説明可能性を必須とする</a:t>
            </a:r>
          </a:p>
          <a:p>
            <a:pPr marL="228600" indent="-228600" algn="l">
              <a:lnSpc>
                <a:spcPts val="1650"/>
              </a:lnSpc>
              <a:buFont typeface="Arial"/>
              <a:buChar char="•"/>
            </a:pPr>
            <a:r>
              <a:rPr lang="ja-JP" sz="1100" dirty="0">
                <a:solidFill>
                  <a:srgbClr val="333333"/>
                </a:solidFill>
                <a:latin typeface="BIZ UDPGothic"/>
                <a:ea typeface="BIZ UDPGothic"/>
              </a:rPr>
              <a:t>本フェーズは二値分類 PoC が対象</a:t>
            </a:r>
          </a:p>
          <a:p>
            <a:pPr marL="228600" indent="-228600" algn="l">
              <a:lnSpc>
                <a:spcPts val="1650"/>
              </a:lnSpc>
              <a:buFont typeface="Arial"/>
              <a:buChar char="•"/>
            </a:pPr>
            <a:r>
              <a:rPr lang="ja-JP" sz="1100" dirty="0">
                <a:solidFill>
                  <a:srgbClr val="333333"/>
                </a:solidFill>
                <a:latin typeface="BIZ UDPGothic"/>
                <a:ea typeface="BIZ UDPGothic"/>
              </a:rPr>
              <a:t>本書は後続文書の単一正本として扱う</a:t>
            </a:r>
          </a:p>
        </p:txBody>
      </p:sp>
      <p:sp>
        <p:nvSpPr>
          <p:cNvPr id="14" name="S14"/>
          <p:cNvSpPr/>
          <p:nvPr/>
        </p:nvSpPr>
        <p:spPr>
          <a:xfrm>
            <a:off x="6126480" y="800000"/>
            <a:ext cx="5608320" cy="365760"/>
          </a:xfrm>
          <a:prstGeom prst="roundRect">
            <a:avLst>
              <a:gd name="adj" fmla="val 6000"/>
            </a:avLst>
          </a:prstGeom>
          <a:solidFill>
            <a:srgbClr val="4A4A4A"/>
          </a:solidFill>
          <a:ln>
            <a:noFill/>
          </a:ln>
        </p:spPr>
        <p:txBody>
          <a:bodyPr wrap="square" lIns="91440" tIns="45720" rIns="91440" bIns="45720" anchor="ctr"/>
          <a:lstStyle/>
          <a:p>
            <a:pPr algn="ctr"/>
            <a:r>
              <a:rPr lang="ja-JP" sz="1500" b="1" dirty="0">
                <a:solidFill>
                  <a:srgbClr val="FFFFFF"/>
                </a:solidFill>
                <a:latin typeface="BIZ UDPGothic"/>
                <a:ea typeface="BIZ UDPGothic"/>
              </a:rPr>
              <a:t>除外事項</a:t>
            </a:r>
          </a:p>
        </p:txBody>
      </p:sp>
      <p:sp>
        <p:nvSpPr>
          <p:cNvPr id="15" name="S15"/>
          <p:cNvSpPr/>
          <p:nvPr/>
        </p:nvSpPr>
        <p:spPr>
          <a:xfrm>
            <a:off x="6126480" y="1234440"/>
            <a:ext cx="5608320" cy="3200400"/>
          </a:xfrm>
          <a:prstGeom prst="rect">
            <a:avLst/>
          </a:prstGeom>
          <a:solidFill>
            <a:srgbClr val="F7F5F2"/>
          </a:solidFill>
          <a:ln w="12700">
            <a:solidFill>
              <a:srgbClr val="D0C8BE"/>
            </a:solidFill>
          </a:ln>
        </p:spPr>
        <p:txBody>
          <a:bodyPr wrap="square" lIns="91440" tIns="45720" rIns="91440" bIns="45720" anchor="t"/>
          <a:lstStyle/>
          <a:p>
            <a:pPr marL="228600" indent="-228600" algn="l">
              <a:lnSpc>
                <a:spcPts val="1650"/>
              </a:lnSpc>
              <a:buFont typeface="Arial"/>
              <a:buChar char="•"/>
            </a:pPr>
            <a:r>
              <a:rPr lang="ja-JP" sz="1100" dirty="0">
                <a:solidFill>
                  <a:srgbClr val="333333"/>
                </a:solidFill>
                <a:latin typeface="BIZ UDPGothic"/>
                <a:ea typeface="BIZ UDPGothic"/>
              </a:rPr>
              <a:t>本番実装・API化・システム接続</a:t>
            </a:r>
          </a:p>
          <a:p>
            <a:pPr marL="228600" indent="-228600" algn="l">
              <a:lnSpc>
                <a:spcPts val="1650"/>
              </a:lnSpc>
              <a:buFont typeface="Arial"/>
              <a:buChar char="•"/>
            </a:pPr>
            <a:r>
              <a:rPr lang="ja-JP" sz="1100" dirty="0">
                <a:solidFill>
                  <a:srgbClr val="333333"/>
                </a:solidFill>
                <a:latin typeface="BIZ UDPGothic"/>
                <a:ea typeface="BIZ UDPGothic"/>
              </a:rPr>
              <a:t>本番運用設計・監視基盤構築</a:t>
            </a:r>
          </a:p>
          <a:p>
            <a:pPr marL="228600" indent="-228600" algn="l">
              <a:lnSpc>
                <a:spcPts val="1650"/>
              </a:lnSpc>
              <a:buFont typeface="Arial"/>
              <a:buChar char="•"/>
            </a:pPr>
            <a:r>
              <a:rPr lang="ja-JP" sz="1100" dirty="0">
                <a:solidFill>
                  <a:srgbClr val="333333"/>
                </a:solidFill>
                <a:latin typeface="BIZ UDPGothic"/>
                <a:ea typeface="BIZ UDPGothic"/>
              </a:rPr>
              <a:t>外部データ取得・統合</a:t>
            </a:r>
          </a:p>
          <a:p>
            <a:pPr marL="228600" indent="-228600" algn="l">
              <a:lnSpc>
                <a:spcPts val="1650"/>
              </a:lnSpc>
              <a:buFont typeface="Arial"/>
              <a:buChar char="•"/>
            </a:pPr>
            <a:r>
              <a:rPr lang="ja-JP" sz="1100" dirty="0">
                <a:solidFill>
                  <a:srgbClr val="333333"/>
                </a:solidFill>
                <a:latin typeface="BIZ UDPGothic"/>
                <a:ea typeface="BIZ UDPGothic"/>
              </a:rPr>
              <a:t>契約範囲外の追加分析テーマ</a:t>
            </a:r>
          </a:p>
          <a:p>
            <a:pPr marL="228600" indent="-228600" algn="l">
              <a:lnSpc>
                <a:spcPts val="1650"/>
              </a:lnSpc>
              <a:buFont typeface="Arial"/>
              <a:buChar char="•"/>
            </a:pPr>
            <a:r>
              <a:rPr lang="ja-JP" sz="1100" dirty="0">
                <a:solidFill>
                  <a:srgbClr val="333333"/>
                </a:solidFill>
                <a:latin typeface="BIZ UDPGothic"/>
                <a:ea typeface="BIZ UDPGothic"/>
              </a:rPr>
              <a:t>再学習自動化・UI開発</a:t>
            </a:r>
          </a:p>
          <a:p>
            <a:pPr marL="228600" indent="-228600" algn="l">
              <a:lnSpc>
                <a:spcPts val="1650"/>
              </a:lnSpc>
              <a:buFont typeface="Arial"/>
              <a:buChar char="•"/>
            </a:pPr>
            <a:r>
              <a:rPr lang="ja-JP" sz="1100" dirty="0">
                <a:solidFill>
                  <a:srgbClr val="333333"/>
                </a:solidFill>
                <a:latin typeface="BIZ UDPGothic"/>
                <a:ea typeface="BIZ UDPGothic"/>
              </a:rPr>
              <a:t>法務・会計・規制当局対応の代行</a:t>
            </a:r>
          </a:p>
        </p:txBody>
      </p:sp>
      <p:sp>
        <p:nvSpPr>
          <p:cNvPr id="20" name="S20"/>
          <p:cNvSpPr/>
          <p:nvPr/>
        </p:nvSpPr>
        <p:spPr>
          <a:xfrm>
            <a:off x="457200" y="4617720"/>
            <a:ext cx="11277600" cy="365760"/>
          </a:xfrm>
          <a:prstGeom prst="roundRect">
            <a:avLst>
              <a:gd name="adj" fmla="val 6000"/>
            </a:avLst>
          </a:prstGeom>
          <a:solidFill>
            <a:srgbClr val="333333"/>
          </a:solidFill>
          <a:ln>
            <a:noFill/>
          </a:ln>
        </p:spPr>
        <p:txBody>
          <a:bodyPr wrap="square" lIns="91440" tIns="45720" rIns="91440" bIns="45720" anchor="ctr"/>
          <a:lstStyle/>
          <a:p>
            <a:pPr algn="ctr"/>
            <a:r>
              <a:rPr lang="ja-JP" sz="1500" b="1" dirty="0">
                <a:solidFill>
                  <a:srgbClr val="FFFFFF"/>
                </a:solidFill>
                <a:latin typeface="BIZ UDPGothic"/>
                <a:ea typeface="BIZ UDPGothic"/>
              </a:rPr>
              <a:t>変更管理方針</a:t>
            </a:r>
          </a:p>
        </p:txBody>
      </p:sp>
      <p:sp>
        <p:nvSpPr>
          <p:cNvPr id="21" name="S21"/>
          <p:cNvSpPr/>
          <p:nvPr/>
        </p:nvSpPr>
        <p:spPr>
          <a:xfrm>
            <a:off x="457200" y="5074920"/>
            <a:ext cx="11277600" cy="1554480"/>
          </a:xfrm>
          <a:prstGeom prst="roundRect">
            <a:avLst>
              <a:gd name="adj" fmla="val 6000"/>
            </a:avLst>
          </a:prstGeom>
          <a:solidFill>
            <a:srgbClr val="F2F0ED"/>
          </a:solidFill>
          <a:ln w="12700">
            <a:solidFill>
              <a:srgbClr val="8B2500"/>
            </a:solidFill>
          </a:ln>
        </p:spPr>
        <p:txBody>
          <a:bodyPr wrap="square" lIns="91440" tIns="45720" rIns="91440" bIns="45720" anchor="ctr"/>
          <a:lstStyle/>
          <a:p>
            <a:pPr marL="228600" indent="-228600" algn="l">
              <a:lnSpc>
                <a:spcPts val="2200"/>
              </a:lnSpc>
              <a:buFont typeface="Arial"/>
              <a:buChar char="•"/>
            </a:pPr>
            <a:r>
              <a:rPr lang="ja-JP" sz="1300" b="1" dirty="0">
                <a:solidFill>
                  <a:srgbClr val="8B2500"/>
                </a:solidFill>
                <a:latin typeface="BIZ UDPGothic"/>
                <a:ea typeface="BIZ UDPGothic"/>
              </a:rPr>
              <a:t>契約範囲外の追加対応は、別紙見積にて金額・納期を事前合意のうえ実施する</a:t>
            </a:r>
          </a:p>
          <a:p>
            <a:pPr marL="228600" indent="-228600" algn="l">
              <a:lnSpc>
                <a:spcPts val="2200"/>
              </a:lnSpc>
              <a:buFont typeface="Arial"/>
              <a:buChar char="•"/>
            </a:pPr>
            <a:r>
              <a:rPr lang="ja-JP" sz="1300" b="1" dirty="0">
                <a:solidFill>
                  <a:srgbClr val="8B2500"/>
                </a:solidFill>
                <a:latin typeface="BIZ UDPGothic"/>
                <a:ea typeface="BIZ UDPGothic"/>
              </a:rPr>
              <a:t>追加対応が発生しない前提で本契約を締結する</a:t>
            </a:r>
          </a:p>
          <a:p>
            <a:pPr marL="228600" indent="-228600" algn="l">
              <a:lnSpc>
                <a:spcPts val="2200"/>
              </a:lnSpc>
              <a:buFont typeface="Arial"/>
              <a:buChar char="•"/>
            </a:pPr>
            <a:r>
              <a:rPr lang="ja-JP" sz="1300" b="1" dirty="0">
                <a:solidFill>
                  <a:srgbClr val="8B2500"/>
                </a:solidFill>
                <a:latin typeface="BIZ UDPGothic"/>
                <a:ea typeface="BIZ UDPGothic"/>
              </a:rPr>
              <a:t>契約時に金額を固定し、工数実績による事後精算は行わない</a:t>
            </a:r>
          </a:p>
        </p:txBody>
      </p:sp>
    </p:spTree>
    <p:extLst>
      <p:ext uri="{BB962C8B-B14F-4D97-AF65-F5344CB8AC3E}">
        <p14:creationId xmlns:p14="http://schemas.microsoft.com/office/powerpoint/2010/main" val="40063243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91440" tIns="45720" rIns="91440" bIns="45720" anchor="ctr"/>
          <a:lstStyle/>
          <a:p>
            <a:endParaRPr lang="ja-JP"/>
          </a:p>
        </p:txBody>
      </p:sp>
      <p:sp>
        <p:nvSpPr>
          <p:cNvPr id="11" name="S11"/>
          <p:cNvSpPr/>
          <p:nvPr/>
        </p:nvSpPr>
        <p:spPr>
          <a:xfrm>
            <a:off x="457200" y="137160"/>
            <a:ext cx="11277600" cy="548640"/>
          </a:xfrm>
          <a:prstGeom prst="rect">
            <a:avLst/>
          </a:prstGeom>
          <a:noFill/>
          <a:ln>
            <a:noFill/>
          </a:ln>
        </p:spPr>
        <p:txBody>
          <a:bodyPr wrap="square" lIns="91440" tIns="45720" rIns="91440" bIns="45720" anchor="ctr"/>
          <a:lstStyle/>
          <a:p>
            <a:pPr algn="l"/>
            <a:r>
              <a:rPr lang="ja-JP" sz="2400" b="1" dirty="0">
                <a:solidFill>
                  <a:srgbClr val="1A1A1A"/>
                </a:solidFill>
                <a:latin typeface="BIZ UDPGothic"/>
                <a:ea typeface="BIZ UDPGothic"/>
              </a:rPr>
              <a:t>11. 次アクション</a:t>
            </a:r>
          </a:p>
        </p:txBody>
      </p:sp>
      <p:sp>
        <p:nvSpPr>
          <p:cNvPr id="20" name="S20"/>
          <p:cNvSpPr/>
          <p:nvPr/>
        </p:nvSpPr>
        <p:spPr>
          <a:xfrm>
            <a:off x="685800" y="850000"/>
            <a:ext cx="502920" cy="502920"/>
          </a:xfrm>
          <a:prstGeom prst="ellipse">
            <a:avLst/>
          </a:prstGeom>
          <a:solidFill>
            <a:srgbClr val="8B2500"/>
          </a:solidFill>
          <a:ln>
            <a:noFill/>
          </a:ln>
        </p:spPr>
        <p:txBody>
          <a:bodyPr wrap="square" lIns="91440" tIns="45720" rIns="91440" bIns="45720" anchor="ctr"/>
          <a:lstStyle/>
          <a:p>
            <a:pPr algn="ctr"/>
            <a:r>
              <a:rPr lang="en-US" sz="1800" b="1" dirty="0">
                <a:solidFill>
                  <a:srgbClr val="FFFFFF"/>
                </a:solidFill>
                <a:latin typeface="BIZ UDPGothic"/>
                <a:ea typeface="BIZ UDPGothic"/>
              </a:rPr>
              <a:t>1</a:t>
            </a:r>
          </a:p>
        </p:txBody>
      </p:sp>
      <p:sp>
        <p:nvSpPr>
          <p:cNvPr id="21" name="S21"/>
          <p:cNvSpPr/>
          <p:nvPr/>
        </p:nvSpPr>
        <p:spPr>
          <a:xfrm>
            <a:off x="1325880" y="850000"/>
            <a:ext cx="10180320" cy="5029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l"/>
            <a:r>
              <a:rPr lang="ja-JP" sz="1500" dirty="0">
                <a:solidFill>
                  <a:srgbClr val="333333"/>
                </a:solidFill>
                <a:latin typeface="BIZ UDPGothic"/>
                <a:ea typeface="BIZ UDPGothic"/>
              </a:rPr>
              <a:t>本提案内容のご確認およびご承認</a:t>
            </a:r>
          </a:p>
        </p:txBody>
      </p:sp>
      <p:sp>
        <p:nvSpPr>
          <p:cNvPr id="50" name="S50"/>
          <p:cNvSpPr/>
          <p:nvPr/>
        </p:nvSpPr>
        <p:spPr>
          <a:xfrm>
            <a:off x="923544" y="1352920"/>
            <a:ext cx="27432" cy="68580"/>
          </a:xfrm>
          <a:prstGeom prst="rect">
            <a:avLst/>
          </a:prstGeom>
          <a:solidFill>
            <a:srgbClr val="D0C8BE"/>
          </a:solidFill>
          <a:ln>
            <a:noFill/>
          </a:ln>
        </p:spPr>
        <p:txBody>
          <a:bodyPr wrap="square" lIns="91440" tIns="45720" rIns="91440" bIns="45720" anchor="ctr"/>
          <a:lstStyle/>
          <a:p>
            <a:endParaRPr lang="ja-JP"/>
          </a:p>
        </p:txBody>
      </p:sp>
      <p:sp>
        <p:nvSpPr>
          <p:cNvPr id="22" name="S22"/>
          <p:cNvSpPr/>
          <p:nvPr/>
        </p:nvSpPr>
        <p:spPr>
          <a:xfrm>
            <a:off x="685800" y="1421500"/>
            <a:ext cx="502920" cy="502920"/>
          </a:xfrm>
          <a:prstGeom prst="ellipse">
            <a:avLst/>
          </a:prstGeom>
          <a:solidFill>
            <a:srgbClr val="8B2500"/>
          </a:solidFill>
          <a:ln>
            <a:noFill/>
          </a:ln>
        </p:spPr>
        <p:txBody>
          <a:bodyPr wrap="square" lIns="91440" tIns="45720" rIns="91440" bIns="45720" anchor="ctr"/>
          <a:lstStyle/>
          <a:p>
            <a:pPr algn="ctr"/>
            <a:r>
              <a:rPr lang="en-US" sz="1800" b="1" dirty="0">
                <a:solidFill>
                  <a:srgbClr val="FFFFFF"/>
                </a:solidFill>
                <a:latin typeface="BIZ UDPGothic"/>
                <a:ea typeface="BIZ UDPGothic"/>
              </a:rPr>
              <a:t>2</a:t>
            </a:r>
          </a:p>
        </p:txBody>
      </p:sp>
      <p:sp>
        <p:nvSpPr>
          <p:cNvPr id="23" name="S23"/>
          <p:cNvSpPr/>
          <p:nvPr/>
        </p:nvSpPr>
        <p:spPr>
          <a:xfrm>
            <a:off x="1325880" y="1421500"/>
            <a:ext cx="10180320" cy="5029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l"/>
            <a:r>
              <a:rPr lang="ja-JP" sz="1500" dirty="0">
                <a:solidFill>
                  <a:srgbClr val="333333"/>
                </a:solidFill>
                <a:latin typeface="BIZ UDPGothic"/>
                <a:ea typeface="BIZ UDPGothic"/>
              </a:rPr>
              <a:t>契約ドラフト内容の確認と締結手続き実施</a:t>
            </a:r>
          </a:p>
        </p:txBody>
      </p:sp>
      <p:sp>
        <p:nvSpPr>
          <p:cNvPr id="51" name="S51"/>
          <p:cNvSpPr/>
          <p:nvPr/>
        </p:nvSpPr>
        <p:spPr>
          <a:xfrm>
            <a:off x="923544" y="1924420"/>
            <a:ext cx="27432" cy="68580"/>
          </a:xfrm>
          <a:prstGeom prst="rect">
            <a:avLst/>
          </a:prstGeom>
          <a:solidFill>
            <a:srgbClr val="D0C8BE"/>
          </a:solidFill>
          <a:ln>
            <a:noFill/>
          </a:ln>
        </p:spPr>
        <p:txBody>
          <a:bodyPr wrap="square" lIns="91440" tIns="45720" rIns="91440" bIns="45720" anchor="ctr"/>
          <a:lstStyle/>
          <a:p>
            <a:endParaRPr lang="ja-JP"/>
          </a:p>
        </p:txBody>
      </p:sp>
      <p:sp>
        <p:nvSpPr>
          <p:cNvPr id="24" name="S24"/>
          <p:cNvSpPr/>
          <p:nvPr/>
        </p:nvSpPr>
        <p:spPr>
          <a:xfrm>
            <a:off x="685800" y="1993000"/>
            <a:ext cx="502920" cy="502920"/>
          </a:xfrm>
          <a:prstGeom prst="ellipse">
            <a:avLst/>
          </a:prstGeom>
          <a:solidFill>
            <a:srgbClr val="8B2500"/>
          </a:solidFill>
          <a:ln>
            <a:noFill/>
          </a:ln>
        </p:spPr>
        <p:txBody>
          <a:bodyPr wrap="square" lIns="91440" tIns="45720" rIns="91440" bIns="45720" anchor="ctr"/>
          <a:lstStyle/>
          <a:p>
            <a:pPr algn="ctr"/>
            <a:r>
              <a:rPr lang="en-US" sz="1800" b="1" dirty="0">
                <a:solidFill>
                  <a:srgbClr val="FFFFFF"/>
                </a:solidFill>
                <a:latin typeface="BIZ UDPGothic"/>
                <a:ea typeface="BIZ UDPGothic"/>
              </a:rPr>
              <a:t>3</a:t>
            </a:r>
          </a:p>
        </p:txBody>
      </p:sp>
      <p:sp>
        <p:nvSpPr>
          <p:cNvPr id="25" name="S25"/>
          <p:cNvSpPr/>
          <p:nvPr/>
        </p:nvSpPr>
        <p:spPr>
          <a:xfrm>
            <a:off x="1325880" y="1993000"/>
            <a:ext cx="10180320" cy="5029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l"/>
            <a:r>
              <a:rPr lang="ja-JP" sz="1500" dirty="0">
                <a:solidFill>
                  <a:srgbClr val="333333"/>
                </a:solidFill>
                <a:latin typeface="BIZ UDPGothic"/>
                <a:ea typeface="BIZ UDPGothic"/>
              </a:rPr>
              <a:t>キックオフ会議の日程確定</a:t>
            </a:r>
          </a:p>
        </p:txBody>
      </p:sp>
      <p:sp>
        <p:nvSpPr>
          <p:cNvPr id="52" name="S52"/>
          <p:cNvSpPr/>
          <p:nvPr/>
        </p:nvSpPr>
        <p:spPr>
          <a:xfrm>
            <a:off x="923544" y="2495920"/>
            <a:ext cx="27432" cy="68580"/>
          </a:xfrm>
          <a:prstGeom prst="rect">
            <a:avLst/>
          </a:prstGeom>
          <a:solidFill>
            <a:srgbClr val="D0C8BE"/>
          </a:solidFill>
          <a:ln>
            <a:noFill/>
          </a:ln>
        </p:spPr>
        <p:txBody>
          <a:bodyPr wrap="square" lIns="91440" tIns="45720" rIns="91440" bIns="45720" anchor="ctr"/>
          <a:lstStyle/>
          <a:p>
            <a:endParaRPr lang="ja-JP"/>
          </a:p>
        </p:txBody>
      </p:sp>
      <p:sp>
        <p:nvSpPr>
          <p:cNvPr id="26" name="S26"/>
          <p:cNvSpPr/>
          <p:nvPr/>
        </p:nvSpPr>
        <p:spPr>
          <a:xfrm>
            <a:off x="685800" y="2564500"/>
            <a:ext cx="502920" cy="502920"/>
          </a:xfrm>
          <a:prstGeom prst="ellipse">
            <a:avLst/>
          </a:prstGeom>
          <a:solidFill>
            <a:srgbClr val="8B2500"/>
          </a:solidFill>
          <a:ln>
            <a:noFill/>
          </a:ln>
        </p:spPr>
        <p:txBody>
          <a:bodyPr wrap="square" lIns="91440" tIns="45720" rIns="91440" bIns="45720" anchor="ctr"/>
          <a:lstStyle/>
          <a:p>
            <a:pPr algn="ctr"/>
            <a:r>
              <a:rPr lang="en-US" sz="1800" b="1" dirty="0">
                <a:solidFill>
                  <a:srgbClr val="FFFFFF"/>
                </a:solidFill>
                <a:latin typeface="BIZ UDPGothic"/>
                <a:ea typeface="BIZ UDPGothic"/>
              </a:rPr>
              <a:t>4</a:t>
            </a:r>
          </a:p>
        </p:txBody>
      </p:sp>
      <p:sp>
        <p:nvSpPr>
          <p:cNvPr id="27" name="S27"/>
          <p:cNvSpPr/>
          <p:nvPr/>
        </p:nvSpPr>
        <p:spPr>
          <a:xfrm>
            <a:off x="1325880" y="2564500"/>
            <a:ext cx="10180320" cy="5029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l"/>
            <a:r>
              <a:rPr lang="ja-JP" sz="1500" dirty="0">
                <a:solidFill>
                  <a:srgbClr val="333333"/>
                </a:solidFill>
                <a:latin typeface="BIZ UDPGothic"/>
                <a:ea typeface="BIZ UDPGothic"/>
              </a:rPr>
              <a:t>train.csv および関連資料の正式受領確認</a:t>
            </a:r>
          </a:p>
        </p:txBody>
      </p:sp>
      <p:sp>
        <p:nvSpPr>
          <p:cNvPr id="53" name="S53"/>
          <p:cNvSpPr/>
          <p:nvPr/>
        </p:nvSpPr>
        <p:spPr>
          <a:xfrm>
            <a:off x="923544" y="3067420"/>
            <a:ext cx="27432" cy="68580"/>
          </a:xfrm>
          <a:prstGeom prst="rect">
            <a:avLst/>
          </a:prstGeom>
          <a:solidFill>
            <a:srgbClr val="D0C8BE"/>
          </a:solidFill>
          <a:ln>
            <a:noFill/>
          </a:ln>
        </p:spPr>
        <p:txBody>
          <a:bodyPr wrap="square" lIns="91440" tIns="45720" rIns="91440" bIns="45720" anchor="ctr"/>
          <a:lstStyle/>
          <a:p>
            <a:endParaRPr lang="ja-JP"/>
          </a:p>
        </p:txBody>
      </p:sp>
      <p:sp>
        <p:nvSpPr>
          <p:cNvPr id="28" name="S28"/>
          <p:cNvSpPr/>
          <p:nvPr/>
        </p:nvSpPr>
        <p:spPr>
          <a:xfrm>
            <a:off x="685800" y="3136000"/>
            <a:ext cx="502920" cy="502920"/>
          </a:xfrm>
          <a:prstGeom prst="ellipse">
            <a:avLst/>
          </a:prstGeom>
          <a:solidFill>
            <a:srgbClr val="8B2500"/>
          </a:solidFill>
          <a:ln>
            <a:noFill/>
          </a:ln>
        </p:spPr>
        <p:txBody>
          <a:bodyPr wrap="square" lIns="91440" tIns="45720" rIns="91440" bIns="45720" anchor="ctr"/>
          <a:lstStyle/>
          <a:p>
            <a:pPr algn="ctr"/>
            <a:r>
              <a:rPr lang="en-US" sz="1800" b="1" dirty="0">
                <a:solidFill>
                  <a:srgbClr val="FFFFFF"/>
                </a:solidFill>
                <a:latin typeface="BIZ UDPGothic"/>
                <a:ea typeface="BIZ UDPGothic"/>
              </a:rPr>
              <a:t>5</a:t>
            </a:r>
          </a:p>
        </p:txBody>
      </p:sp>
      <p:sp>
        <p:nvSpPr>
          <p:cNvPr id="29" name="S29"/>
          <p:cNvSpPr/>
          <p:nvPr/>
        </p:nvSpPr>
        <p:spPr>
          <a:xfrm>
            <a:off x="1325880" y="3136000"/>
            <a:ext cx="10180320" cy="5029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l"/>
            <a:r>
              <a:rPr lang="ja-JP" sz="1500" dirty="0">
                <a:solidFill>
                  <a:srgbClr val="333333"/>
                </a:solidFill>
                <a:latin typeface="BIZ UDPGothic"/>
                <a:ea typeface="BIZ UDPGothic"/>
              </a:rPr>
              <a:t>レビュー会運営ルール、議事録確認フローの確定</a:t>
            </a:r>
          </a:p>
        </p:txBody>
      </p:sp>
      <p:sp>
        <p:nvSpPr>
          <p:cNvPr id="54" name="S54"/>
          <p:cNvSpPr/>
          <p:nvPr/>
        </p:nvSpPr>
        <p:spPr>
          <a:xfrm>
            <a:off x="923544" y="3638920"/>
            <a:ext cx="27432" cy="68580"/>
          </a:xfrm>
          <a:prstGeom prst="rect">
            <a:avLst/>
          </a:prstGeom>
          <a:solidFill>
            <a:srgbClr val="D0C8BE"/>
          </a:solidFill>
          <a:ln>
            <a:noFill/>
          </a:ln>
        </p:spPr>
        <p:txBody>
          <a:bodyPr wrap="square" lIns="91440" tIns="45720" rIns="91440" bIns="45720" anchor="ctr"/>
          <a:lstStyle/>
          <a:p>
            <a:endParaRPr lang="ja-JP"/>
          </a:p>
        </p:txBody>
      </p:sp>
      <p:sp>
        <p:nvSpPr>
          <p:cNvPr id="30" name="S30"/>
          <p:cNvSpPr/>
          <p:nvPr/>
        </p:nvSpPr>
        <p:spPr>
          <a:xfrm>
            <a:off x="685800" y="3707500"/>
            <a:ext cx="502920" cy="502920"/>
          </a:xfrm>
          <a:prstGeom prst="ellipse">
            <a:avLst/>
          </a:prstGeom>
          <a:solidFill>
            <a:srgbClr val="8B2500"/>
          </a:solidFill>
          <a:ln>
            <a:noFill/>
          </a:ln>
        </p:spPr>
        <p:txBody>
          <a:bodyPr wrap="square" lIns="91440" tIns="45720" rIns="91440" bIns="45720" anchor="ctr"/>
          <a:lstStyle/>
          <a:p>
            <a:pPr algn="ctr"/>
            <a:r>
              <a:rPr lang="en-US" sz="1800" b="1" dirty="0">
                <a:solidFill>
                  <a:srgbClr val="FFFFFF"/>
                </a:solidFill>
                <a:latin typeface="BIZ UDPGothic"/>
                <a:ea typeface="BIZ UDPGothic"/>
              </a:rPr>
              <a:t>6</a:t>
            </a:r>
          </a:p>
        </p:txBody>
      </p:sp>
      <p:sp>
        <p:nvSpPr>
          <p:cNvPr id="31" name="S31"/>
          <p:cNvSpPr/>
          <p:nvPr/>
        </p:nvSpPr>
        <p:spPr>
          <a:xfrm>
            <a:off x="1325880" y="3707500"/>
            <a:ext cx="10180320" cy="5029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l"/>
            <a:r>
              <a:rPr lang="ja-JP" sz="1500" dirty="0">
                <a:solidFill>
                  <a:srgbClr val="333333"/>
                </a:solidFill>
                <a:latin typeface="BIZ UDPGothic"/>
                <a:ea typeface="BIZ UDPGothic"/>
              </a:rPr>
              <a:t>週次定例会の開催枠確定</a:t>
            </a:r>
          </a:p>
        </p:txBody>
      </p:sp>
      <p:sp>
        <p:nvSpPr>
          <p:cNvPr id="55" name="S55"/>
          <p:cNvSpPr/>
          <p:nvPr/>
        </p:nvSpPr>
        <p:spPr>
          <a:xfrm>
            <a:off x="923544" y="4210420"/>
            <a:ext cx="27432" cy="68580"/>
          </a:xfrm>
          <a:prstGeom prst="rect">
            <a:avLst/>
          </a:prstGeom>
          <a:solidFill>
            <a:srgbClr val="D0C8BE"/>
          </a:solidFill>
          <a:ln>
            <a:noFill/>
          </a:ln>
        </p:spPr>
        <p:txBody>
          <a:bodyPr wrap="square" lIns="91440" tIns="45720" rIns="91440" bIns="45720" anchor="ctr"/>
          <a:lstStyle/>
          <a:p>
            <a:endParaRPr lang="ja-JP"/>
          </a:p>
        </p:txBody>
      </p:sp>
      <p:sp>
        <p:nvSpPr>
          <p:cNvPr id="32" name="S32"/>
          <p:cNvSpPr/>
          <p:nvPr/>
        </p:nvSpPr>
        <p:spPr>
          <a:xfrm>
            <a:off x="685800" y="4279000"/>
            <a:ext cx="502920" cy="502920"/>
          </a:xfrm>
          <a:prstGeom prst="ellipse">
            <a:avLst/>
          </a:prstGeom>
          <a:solidFill>
            <a:srgbClr val="8B2500"/>
          </a:solidFill>
          <a:ln>
            <a:noFill/>
          </a:ln>
        </p:spPr>
        <p:txBody>
          <a:bodyPr wrap="square" lIns="91440" tIns="45720" rIns="91440" bIns="45720" anchor="ctr"/>
          <a:lstStyle/>
          <a:p>
            <a:pPr algn="ctr"/>
            <a:r>
              <a:rPr lang="en-US" sz="1800" b="1" dirty="0">
                <a:solidFill>
                  <a:srgbClr val="FFFFFF"/>
                </a:solidFill>
                <a:latin typeface="BIZ UDPGothic"/>
                <a:ea typeface="BIZ UDPGothic"/>
              </a:rPr>
              <a:t>7</a:t>
            </a:r>
          </a:p>
        </p:txBody>
      </p:sp>
      <p:sp>
        <p:nvSpPr>
          <p:cNvPr id="33" name="S33"/>
          <p:cNvSpPr/>
          <p:nvPr/>
        </p:nvSpPr>
        <p:spPr>
          <a:xfrm>
            <a:off x="1325880" y="4279000"/>
            <a:ext cx="10180320" cy="5029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l"/>
            <a:r>
              <a:rPr lang="ja-JP" sz="1500" dirty="0">
                <a:solidFill>
                  <a:srgbClr val="333333"/>
                </a:solidFill>
                <a:latin typeface="BIZ UDPGothic"/>
                <a:ea typeface="BIZ UDPGothic"/>
              </a:rPr>
              <a:t>プロジェクト開始日 2025-05-13 を起点とした詳細作業計画の共有</a:t>
            </a:r>
          </a:p>
        </p:txBody>
      </p:sp>
      <p:sp>
        <p:nvSpPr>
          <p:cNvPr id="60" name="S60"/>
          <p:cNvSpPr/>
          <p:nvPr/>
        </p:nvSpPr>
        <p:spPr>
          <a:xfrm>
            <a:off x="457200" y="4941940"/>
            <a:ext cx="11277600" cy="731520"/>
          </a:xfrm>
          <a:prstGeom prst="roundRect">
            <a:avLst>
              <a:gd name="adj" fmla="val 8000"/>
            </a:avLst>
          </a:prstGeom>
          <a:solidFill>
            <a:srgbClr val="F2F0ED"/>
          </a:solidFill>
          <a:ln w="12700">
            <a:solidFill>
              <a:srgbClr val="8B2500"/>
            </a:solidFill>
          </a:ln>
        </p:spPr>
        <p:txBody>
          <a:bodyPr wrap="square" lIns="91440" tIns="45720" rIns="91440" bIns="45720" anchor="ctr"/>
          <a:lstStyle/>
          <a:p>
            <a:pPr algn="ctr">
              <a:lnSpc>
                <a:spcPts val="2200"/>
              </a:lnSpc>
            </a:pPr>
            <a:r>
              <a:rPr lang="ja-JP" sz="1400" dirty="0">
                <a:solidFill>
                  <a:srgbClr val="333333"/>
                </a:solidFill>
                <a:latin typeface="BIZ UDPGothic"/>
                <a:ea typeface="BIZ UDPGothic"/>
              </a:rPr>
              <a:t>白峰信用リスク評価株式会社における信用リスク評価高度化に向け、</a:t>
            </a:r>
          </a:p>
          <a:p>
            <a:pPr algn="ctr">
              <a:lnSpc>
                <a:spcPts val="2200"/>
              </a:lnSpc>
            </a:pPr>
            <a:r>
              <a:rPr lang="ja-JP" sz="1400" b="1" dirty="0">
                <a:solidFill>
                  <a:srgbClr val="8B2500"/>
                </a:solidFill>
                <a:latin typeface="BIZ UDPGothic"/>
                <a:ea typeface="BIZ UDPGothic"/>
              </a:rPr>
              <a:t>説明可能性・監査可能性・再現性を備えた倒産予測分析基盤の整備を推進する</a:t>
            </a:r>
          </a:p>
        </p:txBody>
      </p:sp>
    </p:spTree>
    <p:extLst>
      <p:ext uri="{BB962C8B-B14F-4D97-AF65-F5344CB8AC3E}">
        <p14:creationId xmlns:p14="http://schemas.microsoft.com/office/powerpoint/2010/main" val="2736873125"/>
      </p:ext>
    </p:extLst>
  </p:cSld>
  <p:clrMapOvr>
    <a:masterClrMapping/>
  </p:clrMapOvr>
</p:sld>
</file>

<file path=ppt/theme/theme1.xml><?xml version="1.0" encoding="utf-8"?>
<a:theme xmlns:a="http://schemas.openxmlformats.org/drawingml/2006/main" name="Office テーマ">
  <a:themeElements>
    <a:clrScheme name="MonotoneRed">
      <a:dk1>
        <a:srgbClr val="1A1A1A"/>
      </a:dk1>
      <a:lt1>
        <a:srgbClr val="FFFFFF"/>
      </a:lt1>
      <a:dk2>
        <a:srgbClr val="333333"/>
      </a:dk2>
      <a:lt2>
        <a:srgbClr val="F2F0ED"/>
      </a:lt2>
      <a:accent1>
        <a:srgbClr val="8B2500"/>
      </a:accent1>
      <a:accent2>
        <a:srgbClr val="4A4A4A"/>
      </a:accent2>
      <a:accent3>
        <a:srgbClr val="7A7A7A"/>
      </a:accent3>
      <a:accent4>
        <a:srgbClr val="B0A898"/>
      </a:accent4>
      <a:accent5>
        <a:srgbClr val="C44E2B"/>
      </a:accent5>
      <a:accent6>
        <a:srgbClr val="2C2C2C"/>
      </a:accent6>
      <a:hlink>
        <a:srgbClr val="467886"/>
      </a:hlink>
      <a:folHlink>
        <a:srgbClr val="96607D"/>
      </a:folHlink>
    </a:clrScheme>
    <a:fontScheme name="BIZ UDPGothic">
      <a:majorFont>
        <a:latin typeface="BIZ UDPGothic" panose="02110004020202020204"/>
        <a:ea typeface="BIZ UDPGothic"/>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Gothic" panose="02110004020202020204"/>
        <a:ea typeface="BIZ UDPGothic"/>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A2D3B8B-8BB6-42C6-A9C6-23C8D23A7B83}">
  <we:reference id="WA200010001" version="1.0.0.1" store="Omex" storeType="OMEX"/>
  <we:alternateReferences>
    <we:reference id="WA200010001" version="1.0.0.1" store="WA200010001"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116</TotalTime>
  <Words>2188</Words>
  <Application>Microsoft Office PowerPoint</Application>
  <PresentationFormat>ワイド画面</PresentationFormat>
  <Paragraphs>330</Paragraphs>
  <Slides>19</Slides>
  <Notes>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19</vt:i4>
      </vt:variant>
    </vt:vector>
  </HeadingPairs>
  <TitlesOfParts>
    <vt:vector size="23" baseType="lpstr">
      <vt:lpstr>BIZ UDPGothic</vt:lpstr>
      <vt:lpstr>游ゴシック</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h.ikeshita</dc:creator>
  <cp:lastModifiedBy>h.ikeshita</cp:lastModifiedBy>
  <cp:revision>9</cp:revision>
  <dcterms:created xsi:type="dcterms:W3CDTF">2026-03-17T14:22:33Z</dcterms:created>
  <dcterms:modified xsi:type="dcterms:W3CDTF">2026-03-23T10:36:30Z</dcterms:modified>
</cp:coreProperties>
</file>