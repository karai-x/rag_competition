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1" r:id="rId4"/>
    <p:sldId id="263" r:id="rId5"/>
    <p:sldId id="265" r:id="rId6"/>
    <p:sldId id="267" r:id="rId7"/>
    <p:sldId id="269" r:id="rId8"/>
    <p:sldId id="271" r:id="rId9"/>
    <p:sldId id="273" r:id="rId10"/>
    <p:sldId id="275" r:id="rId11"/>
    <p:sldId id="277" r:id="rId12"/>
    <p:sldId id="279" r:id="rId13"/>
    <p:sldId id="281" r:id="rId14"/>
    <p:sldId id="283" r:id="rId15"/>
    <p:sldId id="285" r:id="rId16"/>
    <p:sldId id="287" r:id="rId17"/>
    <p:sldId id="289" r:id="rId18"/>
    <p:sldId id="291" r:id="rId19"/>
    <p:sldId id="293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 algn="l">
              <a:defRPr sz="1600" b="1">
                <a:latin typeface="BIZ UDPGothic"/>
                <a:ea typeface="BIZ UDPGothic"/>
              </a:defRPr>
            </a:pPr>
            <a:r>
              <a:rPr lang="ja-JP" sz="1600" b="1">
                <a:latin typeface="BIZ UDPGothic"/>
                <a:ea typeface="BIZ UDPGothic"/>
              </a:rPr>
              <a:t>Test評価指標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Score</c:v>
          </c:tx>
          <c:spPr>
            <a:solidFill>
              <a:srgbClr val="8B2500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latin typeface="BIZ UDPGothic"/>
                    <a:ea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ROC-AUC</c:v>
              </c:pt>
              <c:pt idx="1">
                <c:v>Accuracy</c:v>
              </c:pt>
              <c:pt idx="2">
                <c:v>F1 (macro)</c:v>
              </c:pt>
              <c:pt idx="3">
                <c:v>Precision@10%</c:v>
              </c:pt>
              <c:pt idx="4">
                <c:v>Brier Score</c:v>
              </c:pt>
            </c:strLit>
          </c:cat>
          <c:val>
            <c:numLit>
              <c:formatCode>General</c:formatCode>
              <c:ptCount val="5"/>
              <c:pt idx="0">
                <c:v>0.85899999999999999</c:v>
              </c:pt>
              <c:pt idx="1">
                <c:v>0.95699999999999996</c:v>
              </c:pt>
              <c:pt idx="2">
                <c:v>0.60799999999999998</c:v>
              </c:pt>
              <c:pt idx="3">
                <c:v>0.25700000000000001</c:v>
              </c:pt>
              <c:pt idx="4">
                <c:v>3.7999999999999999E-2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A8-4A3F-A72F-D9ACFD54D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BIZ UDPGothic"/>
                <a:ea typeface="BIZ UDPGothic"/>
              </a:defRPr>
            </a:pPr>
            <a:endParaRPr lang="ja-JP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</c:scaling>
        <c:delete val="1"/>
        <c:axPos val="l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0C682-1C55-73A2-07ED-29F31406E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579E0A-8008-2AB6-8010-CED1F07F9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66D6BB-FAB6-E94D-2911-185D0EB33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F1EBF3-D1DD-00EA-B037-84180113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FE7FF9-1B6D-0871-273C-8EEB7373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55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884A5B-451E-6ED7-24F8-534565F2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D12AF1-80C0-876B-C61E-218E2306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69943D-B777-9038-67E6-AE205327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59CF90-5E25-FFEC-F8A8-80BD6022E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6E8119-F375-C5BE-443A-10EE8709E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41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B5A41-DF5A-1FD7-D77D-2AE02F2D7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2F14BB-67E0-11BD-8B89-066D40CB7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22ECAE-7E0D-1366-71E1-D1A2AD20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BDF91A-5DA3-67CD-5778-C3785373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CD7C7C-1AC7-7F91-66A1-E3612D2B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28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B1357-B63A-EE8C-1BE3-ED8C8CC6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4DCD8B-56D6-D59A-E9A8-F9CF36769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3A5687-B4BA-09A5-66A5-A01F47020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94EC1B-125D-C4D8-47BE-24441176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CF2485-1A3E-A747-6E13-F3F419CC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D4BE70-D1E4-02CE-FD47-4B2263D8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34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68B350-F45F-6388-8729-0C312DF5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22DC69-4EAC-B652-6AA9-C4DFFD2E5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86A327-EB5B-508F-67AF-451403568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7B1FFC-2B29-7CAF-5127-2057C2FD6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8BD1BE-3732-FD94-4EA5-8CA25D4E9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08F0F27-52CF-4891-6DDB-5E3831D7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3EF7CED-128C-48F7-4DE3-CE7158F5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DC9220C-E8F1-9AEE-8201-EF4E4A1C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4253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AF7E3-4859-5DA6-6E59-4A58C50B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5F98C0-5544-606D-A12E-C6F3C764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AB9F26-B55C-4C6A-5898-D949329D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54E309-38B1-3748-45EF-B43B6BA2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72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0A29FEB-D808-EAC0-2CC2-44725725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C31E38-CC89-C289-806D-A8CE2D5A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762B4E-DDCA-C4BA-2301-1A39AA6E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68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5A904-6304-47E9-C34E-DD0E7949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4EBD38-14A0-0A5B-151A-634C98E9C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DE493F-2228-9A75-DCBE-3728D42EA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0E38E4-4DAF-3748-E9AD-ED1F5F73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A2606D-8219-5852-719A-783E5FFF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5571F1-20FB-A73D-13B8-D1929F8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765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6D3BCE-59C0-BE89-11F4-FDCD48A4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FE7D153-0195-CA84-1B05-D1EC09DC1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C9D519-D540-8534-9D55-F6BFAA222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AD5267-58C4-A5F6-32D6-DD7DE641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D30097-994F-CBF2-55B9-F327DFC4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9B5F99-BC8E-1626-0CEB-5210A807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558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30267-5D78-7A6F-678B-4B4D4431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59FD40-429B-D5DF-2244-89E39485F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C5314D-7D97-047F-C93E-054EF44C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96A53-0F92-FB60-B5A0-C096983E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A7A18D-5BC0-FB80-176D-4F8896C9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0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AEB94DF-42EC-78E5-DB07-055A91C8B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B33651-CB97-4839-26FB-D66CFB197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FAB332-16A0-5354-0465-47DD2000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2C7267-D264-8581-1DF5-D0A4C6FF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EAD8D2-E72C-E569-D89E-7F2A619F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7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057007-30ED-B7F5-9BAA-46A4ED86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B39A20-6F30-F7BE-65B5-4F9D56B93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B9A75D-C97E-6F79-6CCE-476EAF416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4DCD7-C57C-4C10-9182-D37D2C11F40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3EB70F-101F-5C8D-1A9A-E41BB449E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5247AC-C804-6F91-BABB-EF81769DC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110AF-733C-42CB-826E-DA27104F3B6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1" name="TopLine"/>
          <p:cNvSpPr/>
          <p:nvPr userDrawn="1"/>
        </p:nvSpPr>
        <p:spPr>
          <a:xfrm>
            <a:off x="0" y="6591300"/>
            <a:ext cx="121920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26632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D3D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3D3D3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3D3D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3E6D6-6359-A473-92BD-EE314C2BD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78000"/>
            <a:ext cx="10363200" cy="1778000"/>
          </a:xfrm>
        </p:spPr>
        <p:txBody>
          <a:bodyPr/>
          <a:lstStyle/>
          <a:p>
            <a:pPr algn="l">
              <a:buNone/>
            </a:pPr>
            <a:r>
              <a:rPr lang="ja-JP" sz="3200" b="1" dirty="0">
                <a:solidFill>
                  <a:srgbClr val="1A1A1A"/>
                </a:solidFill>
                <a:latin typeface="BIZ UDPGothic"/>
                <a:ea typeface="BIZ UDPGothic"/>
              </a:rPr>
              <a:t>最終分析報告書</a:t>
            </a:r>
          </a:p>
          <a:p>
            <a:pPr algn="l">
              <a:buNone/>
            </a:pPr>
            <a:r>
              <a:rPr lang="ja-JP" sz="2000" dirty="0">
                <a:solidFill>
                  <a:srgbClr val="3D3D3D"/>
                </a:solidFill>
                <a:latin typeface="BIZ UDPGothic"/>
                <a:ea typeface="BIZ UDPGothic"/>
              </a:rPr>
              <a:t>企業財務指標を用いた3年後倒産予測分析プロジェクト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818EB7-4D13-0DAB-E4BE-1370C32C5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937000"/>
            <a:ext cx="10363200" cy="1524000"/>
          </a:xfrm>
        </p:spPr>
        <p:txBody>
          <a:bodyPr/>
          <a:lstStyle/>
          <a:p>
            <a:pPr algn="l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クライアント: 白峰信用リスク評価株式会社 審査企画部</a:t>
            </a:r>
          </a:p>
          <a:p>
            <a:pPr algn="l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ベンダ: 株式会社データアステル データサイエンス部</a:t>
            </a:r>
          </a:p>
        </p:txBody>
      </p:sp>
      <p:sp>
        <p:nvSpPr>
          <p:cNvPr id="100" name="LeftAccent"/>
          <p:cNvSpPr/>
          <p:nvPr/>
        </p:nvSpPr>
        <p:spPr>
          <a:xfrm>
            <a:off x="381000" y="1778000"/>
            <a:ext cx="76200" cy="368300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1" name="SepLine"/>
          <p:cNvSpPr/>
          <p:nvPr/>
        </p:nvSpPr>
        <p:spPr>
          <a:xfrm>
            <a:off x="914400" y="3683000"/>
            <a:ext cx="10363200" cy="18288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7443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 anchorCtr="0"/>
          <a:lstStyle/>
          <a:p>
            <a:pPr algn="l">
              <a:buNone/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目次</a:t>
            </a:r>
          </a:p>
        </p:txBody>
      </p:sp>
      <p:sp>
        <p:nvSpPr>
          <p:cNvPr id="200" name="Num0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01</a:t>
            </a:r>
          </a:p>
        </p:txBody>
      </p:sp>
      <p:sp>
        <p:nvSpPr>
          <p:cNvPr id="201" name="TocItem0"/>
          <p:cNvSpPr/>
          <p:nvPr/>
        </p:nvSpPr>
        <p:spPr>
          <a:xfrm>
            <a:off x="914400" y="11430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エグゼクティブサマリ</a:t>
            </a:r>
          </a:p>
        </p:txBody>
      </p:sp>
      <p:sp>
        <p:nvSpPr>
          <p:cNvPr id="202" name="Num1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02</a:t>
            </a:r>
          </a:p>
        </p:txBody>
      </p:sp>
      <p:sp>
        <p:nvSpPr>
          <p:cNvPr id="203" name="TocItem1"/>
          <p:cNvSpPr/>
          <p:nvPr/>
        </p:nvSpPr>
        <p:spPr>
          <a:xfrm>
            <a:off x="914400" y="16002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プロジェクト目的とスコープ</a:t>
            </a:r>
          </a:p>
        </p:txBody>
      </p:sp>
      <p:sp>
        <p:nvSpPr>
          <p:cNvPr id="204" name="Num2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03</a:t>
            </a:r>
          </a:p>
        </p:txBody>
      </p:sp>
      <p:sp>
        <p:nvSpPr>
          <p:cNvPr id="205" name="TocItem2"/>
          <p:cNvSpPr/>
          <p:nvPr/>
        </p:nvSpPr>
        <p:spPr>
          <a:xfrm>
            <a:off x="914400" y="2057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実施方法</a:t>
            </a:r>
          </a:p>
        </p:txBody>
      </p:sp>
      <p:sp>
        <p:nvSpPr>
          <p:cNvPr id="206" name="Num3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04</a:t>
            </a:r>
          </a:p>
        </p:txBody>
      </p:sp>
      <p:sp>
        <p:nvSpPr>
          <p:cNvPr id="207" name="TocItem3"/>
          <p:cNvSpPr/>
          <p:nvPr/>
        </p:nvSpPr>
        <p:spPr>
          <a:xfrm>
            <a:off x="914400" y="25146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主要な分析結果と解釈</a:t>
            </a:r>
          </a:p>
        </p:txBody>
      </p:sp>
      <p:sp>
        <p:nvSpPr>
          <p:cNvPr id="208" name="Num4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05</a:t>
            </a:r>
          </a:p>
        </p:txBody>
      </p:sp>
      <p:sp>
        <p:nvSpPr>
          <p:cNvPr id="209" name="TocItem4"/>
          <p:cNvSpPr/>
          <p:nvPr/>
        </p:nvSpPr>
        <p:spPr>
          <a:xfrm>
            <a:off x="914400" y="29718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業務提言</a:t>
            </a:r>
          </a:p>
        </p:txBody>
      </p:sp>
      <p:sp>
        <p:nvSpPr>
          <p:cNvPr id="210" name="Num5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06</a:t>
            </a:r>
          </a:p>
        </p:txBody>
      </p:sp>
      <p:sp>
        <p:nvSpPr>
          <p:cNvPr id="211" name="TocItem5"/>
          <p:cNvSpPr/>
          <p:nvPr/>
        </p:nvSpPr>
        <p:spPr>
          <a:xfrm>
            <a:off x="914400" y="34290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実装・運用計画</a:t>
            </a:r>
          </a:p>
        </p:txBody>
      </p:sp>
      <p:sp>
        <p:nvSpPr>
          <p:cNvPr id="212" name="Num6"/>
          <p:cNvSpPr/>
          <p:nvPr/>
        </p:nvSpPr>
        <p:spPr>
          <a:xfrm>
            <a:off x="6400800" y="11430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07</a:t>
            </a:r>
          </a:p>
        </p:txBody>
      </p:sp>
      <p:sp>
        <p:nvSpPr>
          <p:cNvPr id="213" name="TocItem6"/>
          <p:cNvSpPr/>
          <p:nvPr/>
        </p:nvSpPr>
        <p:spPr>
          <a:xfrm>
            <a:off x="6858000" y="11430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制約事項と残余リスク</a:t>
            </a:r>
          </a:p>
        </p:txBody>
      </p:sp>
      <p:sp>
        <p:nvSpPr>
          <p:cNvPr id="214" name="Num7"/>
          <p:cNvSpPr/>
          <p:nvPr/>
        </p:nvSpPr>
        <p:spPr>
          <a:xfrm>
            <a:off x="6400800" y="16002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08</a:t>
            </a:r>
          </a:p>
        </p:txBody>
      </p:sp>
      <p:sp>
        <p:nvSpPr>
          <p:cNvPr id="215" name="TocItem7"/>
          <p:cNvSpPr/>
          <p:nvPr/>
        </p:nvSpPr>
        <p:spPr>
          <a:xfrm>
            <a:off x="6858000" y="16002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今後の拡張ロードマップ</a:t>
            </a:r>
          </a:p>
        </p:txBody>
      </p:sp>
      <p:sp>
        <p:nvSpPr>
          <p:cNvPr id="216" name="Num8"/>
          <p:cNvSpPr/>
          <p:nvPr/>
        </p:nvSpPr>
        <p:spPr>
          <a:xfrm>
            <a:off x="6400800" y="20574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09</a:t>
            </a:r>
          </a:p>
        </p:txBody>
      </p:sp>
      <p:sp>
        <p:nvSpPr>
          <p:cNvPr id="217" name="TocItem8"/>
          <p:cNvSpPr/>
          <p:nvPr/>
        </p:nvSpPr>
        <p:spPr>
          <a:xfrm>
            <a:off x="6858000" y="2057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成果物サマリ</a:t>
            </a:r>
          </a:p>
        </p:txBody>
      </p:sp>
      <p:sp>
        <p:nvSpPr>
          <p:cNvPr id="218" name="Num9"/>
          <p:cNvSpPr/>
          <p:nvPr/>
        </p:nvSpPr>
        <p:spPr>
          <a:xfrm>
            <a:off x="6400800" y="25146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10</a:t>
            </a:r>
          </a:p>
        </p:txBody>
      </p:sp>
      <p:sp>
        <p:nvSpPr>
          <p:cNvPr id="219" name="TocItem9"/>
          <p:cNvSpPr/>
          <p:nvPr/>
        </p:nvSpPr>
        <p:spPr>
          <a:xfrm>
            <a:off x="6858000" y="25146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提案・契約との差分管理</a:t>
            </a:r>
          </a:p>
        </p:txBody>
      </p:sp>
      <p:sp>
        <p:nvSpPr>
          <p:cNvPr id="220" name="Num10"/>
          <p:cNvSpPr/>
          <p:nvPr/>
        </p:nvSpPr>
        <p:spPr>
          <a:xfrm>
            <a:off x="6400800" y="29718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11</a:t>
            </a:r>
          </a:p>
        </p:txBody>
      </p:sp>
      <p:sp>
        <p:nvSpPr>
          <p:cNvPr id="221" name="TocItem10"/>
          <p:cNvSpPr/>
          <p:nvPr/>
        </p:nvSpPr>
        <p:spPr>
          <a:xfrm>
            <a:off x="6858000" y="29718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lIns="0" anchor="ctr"/>
          <a:lstStyle/>
          <a:p>
            <a:pPr algn="l">
              <a:buNone/>
            </a:pPr>
            <a:r>
              <a:rPr lang="ja-JP" sz="1600" dirty="0">
                <a:solidFill>
                  <a:srgbClr val="1A1A1A"/>
                </a:solidFill>
                <a:latin typeface="BIZ UDPGothic"/>
                <a:ea typeface="BIZ UDPGothic"/>
              </a:rPr>
              <a:t>総括</a:t>
            </a:r>
          </a:p>
        </p:txBody>
      </p:sp>
    </p:spTree>
    <p:extLst>
      <p:ext uri="{BB962C8B-B14F-4D97-AF65-F5344CB8AC3E}">
        <p14:creationId xmlns:p14="http://schemas.microsoft.com/office/powerpoint/2010/main" val="214979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01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エグゼクティブサマリ</a:t>
            </a:r>
          </a:p>
        </p:txBody>
      </p:sp>
      <p:sp>
        <p:nvSpPr>
          <p:cNvPr id="11" name="SubDesc"/>
          <p:cNvSpPr/>
          <p:nvPr/>
        </p:nvSpPr>
        <p:spPr>
          <a:xfrm>
            <a:off x="228600" y="762000"/>
            <a:ext cx="11735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本報告書は「企業財務指標を用いた3年後倒産予測分析プロジェクト」のクローズ向け最終報告書（Single Source of Truth）である。</a:t>
            </a:r>
          </a:p>
        </p:txBody>
      </p:sp>
      <p:sp>
        <p:nvSpPr>
          <p:cNvPr id="20" name="Card1"/>
          <p:cNvSpPr/>
          <p:nvPr/>
        </p:nvSpPr>
        <p:spPr>
          <a:xfrm>
            <a:off x="228600" y="1295400"/>
            <a:ext cx="3505200" cy="1600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主要成果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対象データ: 7,352件・66列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ROC-AUC = 0.859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Precision@top10% = 0.257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Accuracy = 0.957</a:t>
            </a:r>
          </a:p>
        </p:txBody>
      </p:sp>
      <p:sp>
        <p:nvSpPr>
          <p:cNvPr id="21" name="Card2"/>
          <p:cNvSpPr/>
          <p:nvPr/>
        </p:nvSpPr>
        <p:spPr>
          <a:xfrm>
            <a:off x="3962400" y="1295400"/>
            <a:ext cx="3505200" cy="1600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重要観察事項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Attr37の欠損率が約45.25%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→ 投入可否が分析上の重要論点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不均衡（倒産率 ≈ 4.95%）への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対応が必要</a:t>
            </a:r>
          </a:p>
        </p:txBody>
      </p:sp>
      <p:sp>
        <p:nvSpPr>
          <p:cNvPr id="22" name="Card3"/>
          <p:cNvSpPr/>
          <p:nvPr/>
        </p:nvSpPr>
        <p:spPr>
          <a:xfrm>
            <a:off x="7696200" y="1295400"/>
            <a:ext cx="3505200" cy="1600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要アクション（未完事項）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AI-05: 着手金支払の事後確認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AI-09: Attr37の最終採否比較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AI-08: 前処理仕様の確定</a:t>
            </a:r>
          </a:p>
        </p:txBody>
      </p:sp>
      <p:sp>
        <p:nvSpPr>
          <p:cNvPr id="30" name="Note"/>
          <p:cNvSpPr/>
          <p:nvPr/>
        </p:nvSpPr>
        <p:spPr>
          <a:xfrm>
            <a:off x="228600" y="3124200"/>
            <a:ext cx="11735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i="1" dirty="0">
                <a:solidFill>
                  <a:srgbClr val="6E6E6E"/>
                </a:solidFill>
                <a:latin typeface="BIZ UDPGothic"/>
                <a:ea typeface="BIZ UDPGothic"/>
              </a:rPr>
              <a:t>※ 本書は「確認済事項（Facts）」と「仮定（Assumptions）」を明確に分離して記載している。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320314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02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プロジェクト目的とスコープ</a:t>
            </a:r>
          </a:p>
        </p:txBody>
      </p:sp>
      <p:sp>
        <p:nvSpPr>
          <p:cNvPr id="20" name="PurposeTitle"/>
          <p:cNvSpPr/>
          <p:nvPr/>
        </p:nvSpPr>
        <p:spPr>
          <a:xfrm>
            <a:off x="228600" y="800100"/>
            <a:ext cx="5486400" cy="36576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目的</a:t>
            </a:r>
          </a:p>
        </p:txBody>
      </p:sp>
      <p:sp>
        <p:nvSpPr>
          <p:cNvPr id="30" name="PNum0"/>
          <p:cNvSpPr/>
          <p:nvPr/>
        </p:nvSpPr>
        <p:spPr>
          <a:xfrm>
            <a:off x="228600" y="1257300"/>
            <a:ext cx="365760" cy="320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8B2500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31" name="PTxt0"/>
          <p:cNvSpPr/>
          <p:nvPr/>
        </p:nvSpPr>
        <p:spPr>
          <a:xfrm>
            <a:off x="685800" y="12573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倒産予測に有効な財務指標群の特定</a:t>
            </a:r>
          </a:p>
        </p:txBody>
      </p:sp>
      <p:sp>
        <p:nvSpPr>
          <p:cNvPr id="32" name="PNum1"/>
          <p:cNvSpPr/>
          <p:nvPr/>
        </p:nvSpPr>
        <p:spPr>
          <a:xfrm>
            <a:off x="228600" y="1623060"/>
            <a:ext cx="365760" cy="320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8B2500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33" name="PTxt1"/>
          <p:cNvSpPr/>
          <p:nvPr/>
        </p:nvSpPr>
        <p:spPr>
          <a:xfrm>
            <a:off x="685800" y="16230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リスクセグメント別企業分類（上位リスク抽出）</a:t>
            </a:r>
          </a:p>
        </p:txBody>
      </p:sp>
      <p:sp>
        <p:nvSpPr>
          <p:cNvPr id="34" name="PNum2"/>
          <p:cNvSpPr/>
          <p:nvPr/>
        </p:nvSpPr>
        <p:spPr>
          <a:xfrm>
            <a:off x="228600" y="1988820"/>
            <a:ext cx="365760" cy="320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8B2500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35" name="PTxt2"/>
          <p:cNvSpPr/>
          <p:nvPr/>
        </p:nvSpPr>
        <p:spPr>
          <a:xfrm>
            <a:off x="685800" y="19888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説明可能なモデル候補の比較と初期採用方針提示</a:t>
            </a:r>
          </a:p>
        </p:txBody>
      </p:sp>
      <p:sp>
        <p:nvSpPr>
          <p:cNvPr id="36" name="PNum3"/>
          <p:cNvSpPr/>
          <p:nvPr/>
        </p:nvSpPr>
        <p:spPr>
          <a:xfrm>
            <a:off x="228600" y="2354580"/>
            <a:ext cx="365760" cy="320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8B2500"/>
                </a:solidFill>
                <a:latin typeface="BIZ UDPGothic"/>
                <a:ea typeface="BIZ UDPGothic"/>
              </a:rPr>
              <a:t>4</a:t>
            </a:r>
          </a:p>
        </p:txBody>
      </p:sp>
      <p:sp>
        <p:nvSpPr>
          <p:cNvPr id="37" name="PTxt3"/>
          <p:cNvSpPr/>
          <p:nvPr/>
        </p:nvSpPr>
        <p:spPr>
          <a:xfrm>
            <a:off x="685800" y="23545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監査対応可能な前処理・評価・出力の記録方針の確立</a:t>
            </a:r>
          </a:p>
        </p:txBody>
      </p:sp>
      <p:sp>
        <p:nvSpPr>
          <p:cNvPr id="50" name="Divider"/>
          <p:cNvSpPr/>
          <p:nvPr/>
        </p:nvSpPr>
        <p:spPr>
          <a:xfrm>
            <a:off x="6019800" y="800100"/>
            <a:ext cx="18288" cy="27432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ja-JP"/>
          </a:p>
        </p:txBody>
      </p:sp>
      <p:sp>
        <p:nvSpPr>
          <p:cNvPr id="51" name="ScopeInTitle"/>
          <p:cNvSpPr/>
          <p:nvPr/>
        </p:nvSpPr>
        <p:spPr>
          <a:xfrm>
            <a:off x="6248400" y="800100"/>
            <a:ext cx="5486400" cy="3657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スコープ（実施対象）</a:t>
            </a:r>
          </a:p>
        </p:txBody>
      </p:sp>
      <p:sp>
        <p:nvSpPr>
          <p:cNvPr id="52" name="ScopeIn"/>
          <p:cNvSpPr/>
          <p:nvPr/>
        </p:nvSpPr>
        <p:spPr>
          <a:xfrm>
            <a:off x="6248400" y="1257300"/>
            <a:ext cx="5486400" cy="1143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Font typeface="Arial"/>
              <a:buChar char="●"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train.csvの品質確認・EDA</a:t>
            </a:r>
          </a:p>
          <a:p>
            <a:pPr algn="l">
              <a:buFont typeface="Arial"/>
              <a:buChar char="●"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前処理方針策定</a:t>
            </a:r>
          </a:p>
          <a:p>
            <a:pPr algn="l">
              <a:buFont typeface="Arial"/>
              <a:buChar char="●"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ベースライン・複数モデル候補比較</a:t>
            </a:r>
          </a:p>
          <a:p>
            <a:pPr algn="l">
              <a:buFont typeface="Arial"/>
              <a:buChar char="●"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リスクセグメンテーション</a:t>
            </a:r>
          </a:p>
          <a:p>
            <a:pPr algn="l">
              <a:buFont typeface="Arial"/>
              <a:buChar char="●"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監査対応を意識した文書一式の作成</a:t>
            </a:r>
          </a:p>
        </p:txBody>
      </p:sp>
      <p:sp>
        <p:nvSpPr>
          <p:cNvPr id="53" name="ScopeOutTitle"/>
          <p:cNvSpPr/>
          <p:nvPr/>
        </p:nvSpPr>
        <p:spPr>
          <a:xfrm>
            <a:off x="6248400" y="2514600"/>
            <a:ext cx="54864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対象外（契約明記）</a:t>
            </a:r>
          </a:p>
        </p:txBody>
      </p:sp>
      <p:sp>
        <p:nvSpPr>
          <p:cNvPr id="54" name="ScopeOut"/>
          <p:cNvSpPr/>
          <p:nvPr/>
        </p:nvSpPr>
        <p:spPr>
          <a:xfrm>
            <a:off x="6248400" y="2971800"/>
            <a:ext cx="5486400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28600" indent="-228600" algn="l">
              <a:buFont typeface="Arial"/>
              <a:buChar char="✕"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本番システム実装 / API化</a:t>
            </a:r>
          </a:p>
          <a:p>
            <a:pPr marL="228600" indent="-228600" algn="l">
              <a:buFont typeface="Arial"/>
              <a:buChar char="✕"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外部データ取得 / 監視基盤構築</a:t>
            </a:r>
          </a:p>
        </p:txBody>
      </p:sp>
    </p:spTree>
    <p:extLst>
      <p:ext uri="{BB962C8B-B14F-4D97-AF65-F5344CB8AC3E}">
        <p14:creationId xmlns:p14="http://schemas.microsoft.com/office/powerpoint/2010/main" val="149179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03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実施方法</a:t>
            </a:r>
          </a:p>
        </p:txBody>
      </p:sp>
      <p:sp>
        <p:nvSpPr>
          <p:cNvPr id="20" name="Phase0"/>
          <p:cNvSpPr/>
          <p:nvPr/>
        </p:nvSpPr>
        <p:spPr>
          <a:xfrm>
            <a:off x="457200" y="914400"/>
            <a:ext cx="2057400" cy="685800"/>
          </a:xfrm>
          <a:prstGeom prst="homePlate">
            <a:avLst/>
          </a:prstGeom>
          <a:solidFill>
            <a:srgbClr val="8B2500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立ち上げ</a:t>
            </a:r>
          </a:p>
        </p:txBody>
      </p:sp>
      <p:sp>
        <p:nvSpPr>
          <p:cNvPr id="30" name="Desc0"/>
          <p:cNvSpPr/>
          <p:nvPr/>
        </p:nvSpPr>
        <p:spPr>
          <a:xfrm>
            <a:off x="457200" y="1691640"/>
            <a:ext cx="20574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契約締結
スケジュール合意</a:t>
            </a:r>
          </a:p>
        </p:txBody>
      </p:sp>
      <p:sp>
        <p:nvSpPr>
          <p:cNvPr id="21" name="Phase1"/>
          <p:cNvSpPr/>
          <p:nvPr/>
        </p:nvSpPr>
        <p:spPr>
          <a:xfrm>
            <a:off x="2377440" y="914400"/>
            <a:ext cx="2057400" cy="685800"/>
          </a:xfrm>
          <a:prstGeom prst="homePlate">
            <a:avLst/>
          </a:prstGeom>
          <a:solidFill>
            <a:srgbClr val="6E6E6E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データ理解</a:t>
            </a:r>
          </a:p>
        </p:txBody>
      </p:sp>
      <p:sp>
        <p:nvSpPr>
          <p:cNvPr id="31" name="Desc1"/>
          <p:cNvSpPr/>
          <p:nvPr/>
        </p:nvSpPr>
        <p:spPr>
          <a:xfrm>
            <a:off x="2377440" y="1691640"/>
            <a:ext cx="20574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EDA
欠損・分布分析</a:t>
            </a:r>
          </a:p>
        </p:txBody>
      </p:sp>
      <p:sp>
        <p:nvSpPr>
          <p:cNvPr id="22" name="Phase2"/>
          <p:cNvSpPr/>
          <p:nvPr/>
        </p:nvSpPr>
        <p:spPr>
          <a:xfrm>
            <a:off x="4297680" y="914400"/>
            <a:ext cx="2057400" cy="685800"/>
          </a:xfrm>
          <a:prstGeom prst="homePlate">
            <a:avLst/>
          </a:prstGeom>
          <a:solidFill>
            <a:srgbClr val="6E6E6E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ベースライン</a:t>
            </a:r>
          </a:p>
        </p:txBody>
      </p:sp>
      <p:sp>
        <p:nvSpPr>
          <p:cNvPr id="32" name="Desc2"/>
          <p:cNvSpPr/>
          <p:nvPr/>
        </p:nvSpPr>
        <p:spPr>
          <a:xfrm>
            <a:off x="4297680" y="1691640"/>
            <a:ext cx="20574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gradient_boosting
初期評価</a:t>
            </a:r>
          </a:p>
        </p:txBody>
      </p:sp>
      <p:sp>
        <p:nvSpPr>
          <p:cNvPr id="23" name="Phase3"/>
          <p:cNvSpPr/>
          <p:nvPr/>
        </p:nvSpPr>
        <p:spPr>
          <a:xfrm>
            <a:off x="6217920" y="914400"/>
            <a:ext cx="2057400" cy="685800"/>
          </a:xfrm>
          <a:prstGeom prst="homePlate">
            <a:avLst/>
          </a:prstGeom>
          <a:solidFill>
            <a:srgbClr val="6E6E6E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モデル高度化</a:t>
            </a:r>
          </a:p>
        </p:txBody>
      </p:sp>
      <p:sp>
        <p:nvSpPr>
          <p:cNvPr id="33" name="Desc3"/>
          <p:cNvSpPr/>
          <p:nvPr/>
        </p:nvSpPr>
        <p:spPr>
          <a:xfrm>
            <a:off x="6217920" y="1691640"/>
            <a:ext cx="20574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比較実験
説明性整理</a:t>
            </a:r>
          </a:p>
        </p:txBody>
      </p:sp>
      <p:sp>
        <p:nvSpPr>
          <p:cNvPr id="24" name="Phase4"/>
          <p:cNvSpPr/>
          <p:nvPr/>
        </p:nvSpPr>
        <p:spPr>
          <a:xfrm>
            <a:off x="8138160" y="914400"/>
            <a:ext cx="2057400" cy="685800"/>
          </a:xfrm>
          <a:prstGeom prst="homePlate">
            <a:avLst/>
          </a:prstGeom>
          <a:solidFill>
            <a:srgbClr val="4A4A4A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最終整理</a:t>
            </a:r>
          </a:p>
        </p:txBody>
      </p:sp>
      <p:sp>
        <p:nvSpPr>
          <p:cNvPr id="34" name="Desc4"/>
          <p:cNvSpPr/>
          <p:nvPr/>
        </p:nvSpPr>
        <p:spPr>
          <a:xfrm>
            <a:off x="8138160" y="1691640"/>
            <a:ext cx="20574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報告書作成
提言策定</a:t>
            </a:r>
          </a:p>
        </p:txBody>
      </p:sp>
      <p:sp>
        <p:nvSpPr>
          <p:cNvPr id="50" name="MethodLabel"/>
          <p:cNvSpPr/>
          <p:nvPr/>
        </p:nvSpPr>
        <p:spPr>
          <a:xfrm>
            <a:off x="228600" y="2514600"/>
            <a:ext cx="11735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手法・設定</a:t>
            </a:r>
          </a:p>
        </p:txBody>
      </p:sp>
      <p:sp>
        <p:nvSpPr>
          <p:cNvPr id="60" name="Method1"/>
          <p:cNvSpPr/>
          <p:nvPr/>
        </p:nvSpPr>
        <p:spPr>
          <a:xfrm>
            <a:off x="228600" y="2971800"/>
            <a:ext cx="35052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モデル候補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線形（ロジスティック）と木系（gradient_boosting等）を比較。seed固定・stratified split（80/20）</a:t>
            </a:r>
          </a:p>
        </p:txBody>
      </p:sp>
      <p:sp>
        <p:nvSpPr>
          <p:cNvPr id="61" name="Method2"/>
          <p:cNvSpPr/>
          <p:nvPr/>
        </p:nvSpPr>
        <p:spPr>
          <a:xfrm>
            <a:off x="3962400" y="2971800"/>
            <a:ext cx="35052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不均衡対応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class_weight、サンプリング、しきい値最適化を比較。主評価指標: Recall、ROC-AUC、Precision@top10%</a:t>
            </a:r>
          </a:p>
        </p:txBody>
      </p:sp>
      <p:sp>
        <p:nvSpPr>
          <p:cNvPr id="62" name="Method3"/>
          <p:cNvSpPr/>
          <p:nvPr/>
        </p:nvSpPr>
        <p:spPr>
          <a:xfrm>
            <a:off x="7696200" y="2971800"/>
            <a:ext cx="35052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前処理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欠損補完（中央値＋欠損フラグ）、外れ値処理（1%/99% winsorize）、線形系と木系で処理方針を分離</a:t>
            </a:r>
          </a:p>
        </p:txBody>
      </p:sp>
    </p:spTree>
    <p:extLst>
      <p:ext uri="{BB962C8B-B14F-4D97-AF65-F5344CB8AC3E}">
        <p14:creationId xmlns:p14="http://schemas.microsoft.com/office/powerpoint/2010/main" val="389810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04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データ概要と確認済み分析結果</a:t>
            </a:r>
          </a:p>
        </p:txBody>
      </p:sp>
      <p:sp>
        <p:nvSpPr>
          <p:cNvPr id="20" name="Stat0"/>
          <p:cNvSpPr/>
          <p:nvPr/>
        </p:nvSpPr>
        <p:spPr>
          <a:xfrm>
            <a:off x="457200" y="800100"/>
            <a:ext cx="2514600" cy="685800"/>
          </a:xfrm>
          <a:prstGeom prst="roundRect">
            <a:avLst/>
          </a:prstGeom>
          <a:noFill/>
          <a:ln w="19050">
            <a:solidFill>
              <a:srgbClr val="B8B8B8"/>
            </a:solidFill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2800" b="1" dirty="0">
                <a:solidFill>
                  <a:srgbClr val="8B2500"/>
                </a:solidFill>
                <a:latin typeface="BIZ UDPGothic"/>
                <a:ea typeface="BIZ UDPGothic"/>
              </a:rPr>
              <a:t>7,352</a:t>
            </a:r>
          </a:p>
          <a:p>
            <a:pPr algn="ctr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レコード数</a:t>
            </a:r>
          </a:p>
        </p:txBody>
      </p:sp>
      <p:sp>
        <p:nvSpPr>
          <p:cNvPr id="21" name="Stat1"/>
          <p:cNvSpPr/>
          <p:nvPr/>
        </p:nvSpPr>
        <p:spPr>
          <a:xfrm>
            <a:off x="3276600" y="800100"/>
            <a:ext cx="2514600" cy="685800"/>
          </a:xfrm>
          <a:prstGeom prst="roundRect">
            <a:avLst/>
          </a:prstGeom>
          <a:noFill/>
          <a:ln w="19050">
            <a:solidFill>
              <a:srgbClr val="B8B8B8"/>
            </a:solidFill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2800" b="1" dirty="0">
                <a:solidFill>
                  <a:srgbClr val="4A4A4A"/>
                </a:solidFill>
                <a:latin typeface="BIZ UDPGothic"/>
                <a:ea typeface="BIZ UDPGothic"/>
              </a:rPr>
              <a:t>66</a:t>
            </a:r>
          </a:p>
          <a:p>
            <a:pPr algn="ctr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カラム数</a:t>
            </a:r>
          </a:p>
        </p:txBody>
      </p:sp>
      <p:sp>
        <p:nvSpPr>
          <p:cNvPr id="22" name="Stat2"/>
          <p:cNvSpPr/>
          <p:nvPr/>
        </p:nvSpPr>
        <p:spPr>
          <a:xfrm>
            <a:off x="6096000" y="800100"/>
            <a:ext cx="2514600" cy="685800"/>
          </a:xfrm>
          <a:prstGeom prst="roundRect">
            <a:avLst/>
          </a:prstGeom>
          <a:noFill/>
          <a:ln w="19050">
            <a:solidFill>
              <a:srgbClr val="B8B8B8"/>
            </a:solidFill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2800" b="1" dirty="0">
                <a:solidFill>
                  <a:srgbClr val="8B2500"/>
                </a:solidFill>
                <a:latin typeface="BIZ UDPGothic"/>
                <a:ea typeface="BIZ UDPGothic"/>
              </a:rPr>
              <a:t>4.95%</a:t>
            </a:r>
          </a:p>
          <a:p>
            <a:pPr algn="ctr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倒産率（class=1）</a:t>
            </a:r>
          </a:p>
        </p:txBody>
      </p:sp>
      <p:sp>
        <p:nvSpPr>
          <p:cNvPr id="23" name="Stat3"/>
          <p:cNvSpPr/>
          <p:nvPr/>
        </p:nvSpPr>
        <p:spPr>
          <a:xfrm>
            <a:off x="8915400" y="800100"/>
            <a:ext cx="2514600" cy="685800"/>
          </a:xfrm>
          <a:prstGeom prst="roundRect">
            <a:avLst/>
          </a:prstGeom>
          <a:noFill/>
          <a:ln w="19050">
            <a:solidFill>
              <a:srgbClr val="B8B8B8"/>
            </a:solidFill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2800" b="1" dirty="0">
                <a:solidFill>
                  <a:srgbClr val="4A4A4A"/>
                </a:solidFill>
                <a:latin typeface="BIZ UDPGothic"/>
                <a:ea typeface="BIZ UDPGothic"/>
              </a:rPr>
              <a:t>65</a:t>
            </a:r>
          </a:p>
          <a:p>
            <a:pPr algn="ctr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説明変数数</a:t>
            </a:r>
          </a:p>
        </p:txBody>
      </p:sp>
      <p:sp>
        <p:nvSpPr>
          <p:cNvPr id="30" name="MissLabel"/>
          <p:cNvSpPr/>
          <p:nvPr/>
        </p:nvSpPr>
        <p:spPr>
          <a:xfrm>
            <a:off x="228600" y="1714500"/>
            <a:ext cx="11735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欠損上位変数</a:t>
            </a:r>
          </a:p>
        </p:txBody>
      </p:sp>
      <p:sp>
        <p:nvSpPr>
          <p:cNvPr id="40" name="MissLbl0"/>
          <p:cNvSpPr/>
          <p:nvPr/>
        </p:nvSpPr>
        <p:spPr>
          <a:xfrm>
            <a:off x="228600" y="21336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Attr37</a:t>
            </a:r>
          </a:p>
        </p:txBody>
      </p:sp>
      <p:sp>
        <p:nvSpPr>
          <p:cNvPr id="41" name="MissBar0"/>
          <p:cNvSpPr/>
          <p:nvPr/>
        </p:nvSpPr>
        <p:spPr>
          <a:xfrm>
            <a:off x="1600200" y="2133600"/>
            <a:ext cx="8275320" cy="27432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45.25%</a:t>
            </a:r>
          </a:p>
        </p:txBody>
      </p:sp>
      <p:sp>
        <p:nvSpPr>
          <p:cNvPr id="42" name="MissLbl1"/>
          <p:cNvSpPr/>
          <p:nvPr/>
        </p:nvSpPr>
        <p:spPr>
          <a:xfrm>
            <a:off x="228600" y="245364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Attr21</a:t>
            </a:r>
          </a:p>
        </p:txBody>
      </p:sp>
      <p:sp>
        <p:nvSpPr>
          <p:cNvPr id="43" name="MissBar1"/>
          <p:cNvSpPr/>
          <p:nvPr/>
        </p:nvSpPr>
        <p:spPr>
          <a:xfrm>
            <a:off x="1600200" y="2453640"/>
            <a:ext cx="1324051" cy="274320"/>
          </a:xfrm>
          <a:prstGeom prst="roundRect">
            <a:avLst/>
          </a:prstGeom>
          <a:solidFill>
            <a:srgbClr val="6E6E6E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7.24%</a:t>
            </a:r>
          </a:p>
        </p:txBody>
      </p:sp>
      <p:sp>
        <p:nvSpPr>
          <p:cNvPr id="44" name="MissLbl2"/>
          <p:cNvSpPr/>
          <p:nvPr/>
        </p:nvSpPr>
        <p:spPr>
          <a:xfrm>
            <a:off x="228600" y="277368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Attr27</a:t>
            </a:r>
          </a:p>
        </p:txBody>
      </p:sp>
      <p:sp>
        <p:nvSpPr>
          <p:cNvPr id="45" name="MissBar2"/>
          <p:cNvSpPr/>
          <p:nvPr/>
        </p:nvSpPr>
        <p:spPr>
          <a:xfrm>
            <a:off x="1600200" y="2773680"/>
            <a:ext cx="1300277" cy="274320"/>
          </a:xfrm>
          <a:prstGeom prst="roundRect">
            <a:avLst/>
          </a:prstGeom>
          <a:solidFill>
            <a:srgbClr val="6E6E6E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7.11%</a:t>
            </a:r>
          </a:p>
        </p:txBody>
      </p:sp>
      <p:sp>
        <p:nvSpPr>
          <p:cNvPr id="46" name="MissLbl3"/>
          <p:cNvSpPr/>
          <p:nvPr/>
        </p:nvSpPr>
        <p:spPr>
          <a:xfrm>
            <a:off x="228600" y="30937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Attr60</a:t>
            </a:r>
          </a:p>
        </p:txBody>
      </p:sp>
      <p:sp>
        <p:nvSpPr>
          <p:cNvPr id="47" name="MissBar3"/>
          <p:cNvSpPr/>
          <p:nvPr/>
        </p:nvSpPr>
        <p:spPr>
          <a:xfrm>
            <a:off x="1600200" y="3093720"/>
            <a:ext cx="1020470" cy="27432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5.58%</a:t>
            </a:r>
          </a:p>
        </p:txBody>
      </p:sp>
      <p:sp>
        <p:nvSpPr>
          <p:cNvPr id="48" name="MissLbl4"/>
          <p:cNvSpPr/>
          <p:nvPr/>
        </p:nvSpPr>
        <p:spPr>
          <a:xfrm>
            <a:off x="228600" y="34137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Attr45</a:t>
            </a:r>
          </a:p>
        </p:txBody>
      </p:sp>
      <p:sp>
        <p:nvSpPr>
          <p:cNvPr id="49" name="MissBar4"/>
          <p:cNvSpPr/>
          <p:nvPr/>
        </p:nvSpPr>
        <p:spPr>
          <a:xfrm>
            <a:off x="1600200" y="3413760"/>
            <a:ext cx="1016813" cy="27432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/>
                <a:ea typeface="BIZ UDPGothic"/>
              </a:rPr>
              <a:t>5.56%</a:t>
            </a:r>
          </a:p>
        </p:txBody>
      </p:sp>
      <p:sp>
        <p:nvSpPr>
          <p:cNvPr id="60" name="Warning"/>
          <p:cNvSpPr/>
          <p:nvPr/>
        </p:nvSpPr>
        <p:spPr>
          <a:xfrm>
            <a:off x="228600" y="3810000"/>
            <a:ext cx="11735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⚠ Attr37: 高欠損率（≈45%）のため「投入あり／なし」の比較実験に基づく採否決定が必須（M02で方針合意）</a:t>
            </a:r>
          </a:p>
        </p:txBody>
      </p:sp>
    </p:spTree>
    <p:extLst>
      <p:ext uri="{BB962C8B-B14F-4D97-AF65-F5344CB8AC3E}">
        <p14:creationId xmlns:p14="http://schemas.microsoft.com/office/powerpoint/2010/main" val="333837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04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ベースライン評価結果（gradient_boosting）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457200" y="800100"/>
          <a:ext cx="68580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" name="Interp"/>
          <p:cNvSpPr/>
          <p:nvPr/>
        </p:nvSpPr>
        <p:spPr>
          <a:xfrm>
            <a:off x="7543800" y="800100"/>
            <a:ext cx="4419600" cy="5257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解釈</a:t>
            </a:r>
          </a:p>
          <a:p>
            <a:pPr algn="l"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識別力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AUC≈0.86は「実務検討に値する」水準。ただし不均衡のためAccuracyは誤解を招きやすい。</a:t>
            </a:r>
          </a:p>
          <a:p>
            <a:pPr algn="l"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上位リスク集中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Precision@top10%≈0.257は上位スコア帯に倒産事例が一定程度集中。「優先確認候補抽出」に有用。</a:t>
            </a:r>
          </a:p>
          <a:p>
            <a:pPr algn="l"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説明可能性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木系モデルは高い識別力を示したが、SHAP等の特徴量寄与提示が必須。線形モデルとのハイブリッド採用を推奨。</a:t>
            </a:r>
          </a:p>
        </p:txBody>
      </p:sp>
    </p:spTree>
    <p:extLst>
      <p:ext uri="{BB962C8B-B14F-4D97-AF65-F5344CB8AC3E}">
        <p14:creationId xmlns:p14="http://schemas.microsoft.com/office/powerpoint/2010/main" val="155898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DDD2068-D315-4672-94A1-CAD8E0147C0E}"/>
              </a:ext>
            </a:extLst>
          </p:cNvPr>
          <p:cNvGraphicFramePr>
            <a:graphicFrameLocks noGrp="1"/>
          </p:cNvGraphicFramePr>
          <p:nvPr/>
        </p:nvGraphicFramePr>
        <p:xfrm>
          <a:off x="1270000" y="2032000"/>
          <a:ext cx="9652000" cy="406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37448515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866829125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5397598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470216272"/>
                    </a:ext>
                  </a:extLst>
                </a:gridCol>
              </a:tblGrid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Rank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Model Type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F1 (macro)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72630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Gothic"/>
                          <a:ea typeface="BIZ UDPGothic"/>
                        </a:rPr>
                        <a:t>gradient_boosting</a:t>
                      </a:r>
                    </a:p>
                  </a:txBody>
                  <a:tcPr anchor="ctr"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Gothic"/>
                          <a:ea typeface="BIZ UDPGothic"/>
                        </a:rPr>
                        <a:t>0.6079</a:t>
                      </a:r>
                    </a:p>
                  </a:txBody>
                  <a:tcPr anchor="ctr"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Gothic"/>
                          <a:ea typeface="BIZ UDPGothic"/>
                        </a:rPr>
                        <a:t>0.9565</a:t>
                      </a:r>
                    </a:p>
                  </a:txBody>
                  <a:tcPr anchor="ctr">
                    <a:solidFill>
                      <a:srgbClr val="FF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265091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0.4999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0.9490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750788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0.9494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845768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extra_trees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0.4873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0.9504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799482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0.4873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0.9504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072452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extra_trees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0.4873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0.9504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102026"/>
                  </a:ext>
                </a:extLst>
              </a:tr>
            </a:tbl>
          </a:graphicData>
        </a:graphic>
      </p:graphicFrame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04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モデル比較リーダーボード</a:t>
            </a:r>
          </a:p>
        </p:txBody>
      </p:sp>
      <p:sp>
        <p:nvSpPr>
          <p:cNvPr id="20" name="Note"/>
          <p:cNvSpPr/>
          <p:nvPr/>
        </p:nvSpPr>
        <p:spPr>
          <a:xfrm>
            <a:off x="228600" y="6223000"/>
            <a:ext cx="11735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Key Insight: </a:t>
            </a: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gradient_boostingがF1 macroで他モデルを大幅に上回り、ベースライン採用として妥当。ロジスティック回帰との併用によるハイブリッド運用を推奨。</a:t>
            </a:r>
          </a:p>
        </p:txBody>
      </p:sp>
    </p:spTree>
    <p:extLst>
      <p:ext uri="{BB962C8B-B14F-4D97-AF65-F5344CB8AC3E}">
        <p14:creationId xmlns:p14="http://schemas.microsoft.com/office/powerpoint/2010/main" val="1429467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04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未解決事項・制約（中間報告時点）</a:t>
            </a:r>
          </a:p>
        </p:txBody>
      </p:sp>
      <p:sp>
        <p:nvSpPr>
          <p:cNvPr id="20" name="Status0"/>
          <p:cNvSpPr/>
          <p:nvPr/>
        </p:nvSpPr>
        <p:spPr>
          <a:xfrm>
            <a:off x="457200" y="800100"/>
            <a:ext cx="914400" cy="27432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Open</a:t>
            </a:r>
          </a:p>
        </p:txBody>
      </p:sp>
      <p:sp>
        <p:nvSpPr>
          <p:cNvPr id="21" name="ID0"/>
          <p:cNvSpPr/>
          <p:nvPr/>
        </p:nvSpPr>
        <p:spPr>
          <a:xfrm>
            <a:off x="1463040" y="8001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6E6E6E"/>
                </a:solidFill>
                <a:latin typeface="BIZ UDPGothic"/>
                <a:ea typeface="BIZ UDPGothic"/>
              </a:rPr>
              <a:t>AI-08</a:t>
            </a:r>
          </a:p>
        </p:txBody>
      </p:sp>
      <p:sp>
        <p:nvSpPr>
          <p:cNvPr id="22" name="Card0"/>
          <p:cNvSpPr/>
          <p:nvPr/>
        </p:nvSpPr>
        <p:spPr>
          <a:xfrm>
            <a:off x="457200" y="1120140"/>
            <a:ext cx="5486400" cy="1508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前処理仕様の確定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欠損補完ルール、外れ値処理閾値、スケーリング方針の最終化が未完了。監査証跡・再現性の確保に必須。</a:t>
            </a:r>
          </a:p>
        </p:txBody>
      </p:sp>
      <p:sp>
        <p:nvSpPr>
          <p:cNvPr id="23" name="Status1"/>
          <p:cNvSpPr/>
          <p:nvPr/>
        </p:nvSpPr>
        <p:spPr>
          <a:xfrm>
            <a:off x="6172200" y="800100"/>
            <a:ext cx="914400" cy="27432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Open</a:t>
            </a:r>
          </a:p>
        </p:txBody>
      </p:sp>
      <p:sp>
        <p:nvSpPr>
          <p:cNvPr id="24" name="ID1"/>
          <p:cNvSpPr/>
          <p:nvPr/>
        </p:nvSpPr>
        <p:spPr>
          <a:xfrm>
            <a:off x="7178040" y="8001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6E6E6E"/>
                </a:solidFill>
                <a:latin typeface="BIZ UDPGothic"/>
                <a:ea typeface="BIZ UDPGothic"/>
              </a:rPr>
              <a:t>AI-09</a:t>
            </a:r>
          </a:p>
        </p:txBody>
      </p:sp>
      <p:sp>
        <p:nvSpPr>
          <p:cNvPr id="25" name="Card1"/>
          <p:cNvSpPr/>
          <p:nvPr/>
        </p:nvSpPr>
        <p:spPr>
          <a:xfrm>
            <a:off x="6172200" y="1120140"/>
            <a:ext cx="5486400" cy="1508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Attr37の最終採否比較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「投入あり vs 除外」の比較実験結果に基づき、定量基準（ΔROC-AUC &gt;= 0.002等）で採否を判定する必要がある。</a:t>
            </a:r>
          </a:p>
        </p:txBody>
      </p:sp>
      <p:sp>
        <p:nvSpPr>
          <p:cNvPr id="26" name="Status2"/>
          <p:cNvSpPr/>
          <p:nvPr/>
        </p:nvSpPr>
        <p:spPr>
          <a:xfrm>
            <a:off x="457200" y="2857500"/>
            <a:ext cx="914400" cy="27432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保留</a:t>
            </a:r>
          </a:p>
        </p:txBody>
      </p:sp>
      <p:sp>
        <p:nvSpPr>
          <p:cNvPr id="27" name="ID2"/>
          <p:cNvSpPr/>
          <p:nvPr/>
        </p:nvSpPr>
        <p:spPr>
          <a:xfrm>
            <a:off x="1463040" y="28575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6E6E6E"/>
                </a:solidFill>
                <a:latin typeface="BIZ UDPGothic"/>
                <a:ea typeface="BIZ UDPGothic"/>
              </a:rPr>
              <a:t>Recall目標</a:t>
            </a:r>
          </a:p>
        </p:txBody>
      </p:sp>
      <p:sp>
        <p:nvSpPr>
          <p:cNvPr id="28" name="Card2"/>
          <p:cNvSpPr/>
          <p:nvPr/>
        </p:nvSpPr>
        <p:spPr>
          <a:xfrm>
            <a:off x="457200" y="3177540"/>
            <a:ext cx="5486400" cy="1508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再現率目標の再評価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metrics.jsonにRecallの正式値が含まれておらず、当初目標Recall 0.70の達成判定が保留。閾値設計と合わせて対応が必要。</a:t>
            </a:r>
          </a:p>
        </p:txBody>
      </p:sp>
      <p:sp>
        <p:nvSpPr>
          <p:cNvPr id="29" name="Status3"/>
          <p:cNvSpPr/>
          <p:nvPr/>
        </p:nvSpPr>
        <p:spPr>
          <a:xfrm>
            <a:off x="6172200" y="2857500"/>
            <a:ext cx="914400" cy="27432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Open</a:t>
            </a:r>
          </a:p>
        </p:txBody>
      </p:sp>
      <p:sp>
        <p:nvSpPr>
          <p:cNvPr id="30" name="ID3"/>
          <p:cNvSpPr/>
          <p:nvPr/>
        </p:nvSpPr>
        <p:spPr>
          <a:xfrm>
            <a:off x="7178040" y="28575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6E6E6E"/>
                </a:solidFill>
                <a:latin typeface="BIZ UDPGothic"/>
                <a:ea typeface="BIZ UDPGothic"/>
              </a:rPr>
              <a:t>AI-05</a:t>
            </a:r>
          </a:p>
        </p:txBody>
      </p:sp>
      <p:sp>
        <p:nvSpPr>
          <p:cNvPr id="31" name="Card3"/>
          <p:cNvSpPr/>
          <p:nvPr/>
        </p:nvSpPr>
        <p:spPr>
          <a:xfrm>
            <a:off x="6172200" y="3177540"/>
            <a:ext cx="5486400" cy="1508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着手金支払ステータスの確定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中間報告時点で着手金（40%）の支払確認が未完了。契約クローズに関わるため、支払完了 or 回避合意の確認が必要。</a:t>
            </a:r>
          </a:p>
        </p:txBody>
      </p:sp>
    </p:spTree>
    <p:extLst>
      <p:ext uri="{BB962C8B-B14F-4D97-AF65-F5344CB8AC3E}">
        <p14:creationId xmlns:p14="http://schemas.microsoft.com/office/powerpoint/2010/main" val="10962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05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業務提言：直近（本番化前・必須事項）</a:t>
            </a:r>
          </a:p>
        </p:txBody>
      </p:sp>
      <p:sp>
        <p:nvSpPr>
          <p:cNvPr id="20" name="Num0"/>
          <p:cNvSpPr/>
          <p:nvPr/>
        </p:nvSpPr>
        <p:spPr>
          <a:xfrm>
            <a:off x="457200" y="8001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21" name="Rec0"/>
          <p:cNvSpPr/>
          <p:nvPr/>
        </p:nvSpPr>
        <p:spPr>
          <a:xfrm>
            <a:off x="914400" y="800100"/>
            <a:ext cx="5029200" cy="2057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前処理仕様の確定とドキュメント化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欠損補完ルール（中央値＋欠損フラグ）、外れ値処理（列単位winsorize閾値）、カテゴリ処理・スケーリング方針を確定し、前処理パイプラインをコード化する。</a:t>
            </a:r>
          </a:p>
          <a:p>
            <a:pPr algn="l">
              <a:buNone/>
            </a:pPr>
            <a:r>
              <a:rPr lang="ja-JP" sz="1400" b="1" dirty="0">
                <a:solidFill>
                  <a:srgbClr val="6E6E6E"/>
                </a:solidFill>
                <a:latin typeface="BIZ UDPGothic"/>
                <a:ea typeface="BIZ UDPGothic"/>
              </a:rPr>
              <a:t>担当: 乙: 斎藤 悠斗、山本 彩乃
レビュー: 甲: 松原部長</a:t>
            </a:r>
          </a:p>
        </p:txBody>
      </p:sp>
      <p:sp>
        <p:nvSpPr>
          <p:cNvPr id="22" name="Num1"/>
          <p:cNvSpPr/>
          <p:nvPr/>
        </p:nvSpPr>
        <p:spPr>
          <a:xfrm>
            <a:off x="6172200" y="8001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23" name="Rec1"/>
          <p:cNvSpPr/>
          <p:nvPr/>
        </p:nvSpPr>
        <p:spPr>
          <a:xfrm>
            <a:off x="6629400" y="800100"/>
            <a:ext cx="5029200" cy="2057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Attr37の採否決定（定量基準）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「投入あり vs 除外」の比較実験を実施。ROC-AUC / Recall / Precision@top10%の差分で判断。採否基準例: ΔROC-AUC &gt;= 0.002 かつRecallに著しい悪化なし。</a:t>
            </a:r>
          </a:p>
          <a:p>
            <a:pPr algn="l">
              <a:buNone/>
            </a:pPr>
            <a:r>
              <a:rPr lang="ja-JP" sz="1400" b="1" dirty="0">
                <a:solidFill>
                  <a:srgbClr val="6E6E6E"/>
                </a:solidFill>
                <a:latin typeface="BIZ UDPGothic"/>
                <a:ea typeface="BIZ UDPGothic"/>
              </a:rPr>
              <a:t>担当: 甲と合意のうえ決定</a:t>
            </a:r>
          </a:p>
        </p:txBody>
      </p:sp>
      <p:sp>
        <p:nvSpPr>
          <p:cNvPr id="24" name="Num2"/>
          <p:cNvSpPr/>
          <p:nvPr/>
        </p:nvSpPr>
        <p:spPr>
          <a:xfrm>
            <a:off x="457200" y="30861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25" name="Rec2"/>
          <p:cNvSpPr/>
          <p:nvPr/>
        </p:nvSpPr>
        <p:spPr>
          <a:xfrm>
            <a:off x="914400" y="3086100"/>
            <a:ext cx="5029200" cy="2057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再現率（Recall）目標の再評価と閾値設計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業務KPIは倒産検知の取りこぼし最小化が重要。モデルスコア閾値を運用目的に合わせて調整し、精度と業務負荷のトレードオフを明確化する。</a:t>
            </a:r>
          </a:p>
          <a:p>
            <a:pPr algn="l">
              <a:buNone/>
            </a:pPr>
            <a:r>
              <a:rPr lang="ja-JP" sz="1400" b="1" dirty="0">
                <a:solidFill>
                  <a:srgbClr val="6E6E6E"/>
                </a:solidFill>
                <a:latin typeface="BIZ UDPGothic"/>
                <a:ea typeface="BIZ UDPGothic"/>
              </a:rPr>
              <a:t>担当: 乙: 松本 真央 / 山本 彩乃
甲: 審査担当と合意</a:t>
            </a:r>
          </a:p>
        </p:txBody>
      </p:sp>
      <p:sp>
        <p:nvSpPr>
          <p:cNvPr id="26" name="Num3"/>
          <p:cNvSpPr/>
          <p:nvPr/>
        </p:nvSpPr>
        <p:spPr>
          <a:xfrm>
            <a:off x="6172200" y="3086100"/>
            <a:ext cx="365760" cy="36576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</a:p>
        </p:txBody>
      </p:sp>
      <p:sp>
        <p:nvSpPr>
          <p:cNvPr id="27" name="Rec3"/>
          <p:cNvSpPr/>
          <p:nvPr/>
        </p:nvSpPr>
        <p:spPr>
          <a:xfrm>
            <a:off x="6629400" y="3086100"/>
            <a:ext cx="5029200" cy="2057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着手金／検収金の支払ステータス確定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契約（固定価格）に基づく資金フローの確認はプロジェクトクローズに不可欠。中間報告時点で着手金支払確認が未完了。</a:t>
            </a:r>
          </a:p>
          <a:p>
            <a:pPr algn="l">
              <a:buNone/>
            </a:pPr>
            <a:r>
              <a:rPr lang="ja-JP" sz="1400" b="1" dirty="0">
                <a:solidFill>
                  <a:srgbClr val="6E6E6E"/>
                </a:solidFill>
                <a:latin typeface="BIZ UDPGothic"/>
                <a:ea typeface="BIZ UDPGothic"/>
              </a:rPr>
              <a:t>担当: 甲: 支払処理
PM: 伊藤 翔太</a:t>
            </a:r>
          </a:p>
        </p:txBody>
      </p:sp>
    </p:spTree>
    <p:extLst>
      <p:ext uri="{BB962C8B-B14F-4D97-AF65-F5344CB8AC3E}">
        <p14:creationId xmlns:p14="http://schemas.microsoft.com/office/powerpoint/2010/main" val="312276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05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業務提言：中期・長期</a:t>
            </a:r>
          </a:p>
        </p:txBody>
      </p:sp>
      <p:sp>
        <p:nvSpPr>
          <p:cNvPr id="20" name="MidLabel"/>
          <p:cNvSpPr/>
          <p:nvPr/>
        </p:nvSpPr>
        <p:spPr>
          <a:xfrm>
            <a:off x="228600" y="800100"/>
            <a:ext cx="5486400" cy="3657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中期（本番スコア出力→審査運用接続）</a:t>
            </a:r>
          </a:p>
        </p:txBody>
      </p:sp>
      <p:sp>
        <p:nvSpPr>
          <p:cNvPr id="30" name="Mid0"/>
          <p:cNvSpPr/>
          <p:nvPr/>
        </p:nvSpPr>
        <p:spPr>
          <a:xfrm>
            <a:off x="228600" y="125730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スコア出力仕様の策定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スコア（0-1）、score band、主要寄与変数トップ5、欠損フラグを出力</a:t>
            </a:r>
          </a:p>
        </p:txBody>
      </p:sp>
      <p:sp>
        <p:nvSpPr>
          <p:cNvPr id="31" name="Mid1"/>
          <p:cNvSpPr/>
          <p:nvPr/>
        </p:nvSpPr>
        <p:spPr>
          <a:xfrm>
            <a:off x="228600" y="176022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閾値運用の段階的導入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パイロット→段階拡大。一部審査チームでの並行運用を3ヶ月観測</a:t>
            </a:r>
          </a:p>
        </p:txBody>
      </p:sp>
      <p:sp>
        <p:nvSpPr>
          <p:cNvPr id="32" name="Mid2"/>
          <p:cNvSpPr/>
          <p:nvPr/>
        </p:nvSpPr>
        <p:spPr>
          <a:xfrm>
            <a:off x="228600" y="226314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モデル説明性の運用化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SHAP等の寄与説明レポートを自動生成し、ダッシュボードで提供</a:t>
            </a:r>
          </a:p>
        </p:txBody>
      </p:sp>
      <p:sp>
        <p:nvSpPr>
          <p:cNvPr id="33" name="Mid3"/>
          <p:cNvSpPr/>
          <p:nvPr/>
        </p:nvSpPr>
        <p:spPr>
          <a:xfrm>
            <a:off x="228600" y="276606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モデル検証プロセスの明確化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四半期の性能レビューと年次のガバナンスレビューを設置</a:t>
            </a:r>
          </a:p>
        </p:txBody>
      </p:sp>
      <p:sp>
        <p:nvSpPr>
          <p:cNvPr id="40" name="LongLabel"/>
          <p:cNvSpPr/>
          <p:nvPr/>
        </p:nvSpPr>
        <p:spPr>
          <a:xfrm>
            <a:off x="6172200" y="800100"/>
            <a:ext cx="54864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長期（戦略的提言）</a:t>
            </a:r>
          </a:p>
        </p:txBody>
      </p:sp>
      <p:sp>
        <p:nvSpPr>
          <p:cNvPr id="50" name="Long0"/>
          <p:cNvSpPr/>
          <p:nvPr/>
        </p:nvSpPr>
        <p:spPr>
          <a:xfrm>
            <a:off x="6172200" y="125730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外部データの導入検証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信用情報、業界指標、景気指標による性能改善の検証</a:t>
            </a:r>
          </a:p>
        </p:txBody>
      </p:sp>
      <p:sp>
        <p:nvSpPr>
          <p:cNvPr id="51" name="Long1"/>
          <p:cNvSpPr/>
          <p:nvPr/>
        </p:nvSpPr>
        <p:spPr>
          <a:xfrm>
            <a:off x="6172200" y="176022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期待損失への接続設計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スコア→PD→LGD等のマッピング設計</a:t>
            </a:r>
          </a:p>
        </p:txBody>
      </p:sp>
      <p:sp>
        <p:nvSpPr>
          <p:cNvPr id="52" name="Long2"/>
          <p:cNvSpPr/>
          <p:nvPr/>
        </p:nvSpPr>
        <p:spPr>
          <a:xfrm>
            <a:off x="6172200" y="2263140"/>
            <a:ext cx="54864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本番監視基盤・自動再学習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契約範囲外のため別フェーズ見積で実施を推奨（契約書§14準拠）</a:t>
            </a:r>
          </a:p>
        </p:txBody>
      </p:sp>
    </p:spTree>
    <p:extLst>
      <p:ext uri="{BB962C8B-B14F-4D97-AF65-F5344CB8AC3E}">
        <p14:creationId xmlns:p14="http://schemas.microsoft.com/office/powerpoint/2010/main" val="1254690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06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実装工程（短期・必須）</a:t>
            </a:r>
          </a:p>
        </p:txBody>
      </p:sp>
      <p:sp>
        <p:nvSpPr>
          <p:cNvPr id="20" name="StepNum0"/>
          <p:cNvSpPr/>
          <p:nvPr/>
        </p:nvSpPr>
        <p:spPr>
          <a:xfrm>
            <a:off x="228600" y="1028700"/>
            <a:ext cx="457200" cy="45720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21" name="Step0"/>
          <p:cNvSpPr/>
          <p:nvPr/>
        </p:nvSpPr>
        <p:spPr>
          <a:xfrm>
            <a:off x="800100" y="800100"/>
            <a:ext cx="75438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前処理パイプラインのプロダクト化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入力検証、欠損処理、外れ値処理、フィーチャー生成、欠損フラグ付与を一貫パイプラインとして実装</a:t>
            </a:r>
          </a:p>
        </p:txBody>
      </p:sp>
      <p:sp>
        <p:nvSpPr>
          <p:cNvPr id="22" name="Resp0"/>
          <p:cNvSpPr/>
          <p:nvPr/>
        </p:nvSpPr>
        <p:spPr>
          <a:xfrm>
            <a:off x="8458200" y="10287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担当: 乙: 斎藤 悠斗</a:t>
            </a:r>
          </a:p>
        </p:txBody>
      </p:sp>
      <p:sp>
        <p:nvSpPr>
          <p:cNvPr id="50" name="Arrow0"/>
          <p:cNvSpPr/>
          <p:nvPr/>
        </p:nvSpPr>
        <p:spPr>
          <a:xfrm>
            <a:off x="365760" y="1714500"/>
            <a:ext cx="182880" cy="91440"/>
          </a:xfrm>
          <a:prstGeom prst="downArrow">
            <a:avLst/>
          </a:prstGeom>
          <a:solidFill>
            <a:srgbClr val="B8B8B8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3" name="StepNum1"/>
          <p:cNvSpPr/>
          <p:nvPr/>
        </p:nvSpPr>
        <p:spPr>
          <a:xfrm>
            <a:off x="228600" y="2034540"/>
            <a:ext cx="457200" cy="45720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24" name="Step1"/>
          <p:cNvSpPr/>
          <p:nvPr/>
        </p:nvSpPr>
        <p:spPr>
          <a:xfrm>
            <a:off x="800100" y="1805940"/>
            <a:ext cx="75438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モデル選定とアーティファクトの固定化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最終候補モデル（gradient_boosting + ロジスティック併用）およびハイパーパラメータを確定し、モデルバージョンを管理</a:t>
            </a:r>
          </a:p>
        </p:txBody>
      </p:sp>
      <p:sp>
        <p:nvSpPr>
          <p:cNvPr id="25" name="Resp1"/>
          <p:cNvSpPr/>
          <p:nvPr/>
        </p:nvSpPr>
        <p:spPr>
          <a:xfrm>
            <a:off x="8458200" y="20345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担当: 乙: 山本 彩乃</a:t>
            </a:r>
          </a:p>
        </p:txBody>
      </p:sp>
      <p:sp>
        <p:nvSpPr>
          <p:cNvPr id="51" name="Arrow1"/>
          <p:cNvSpPr/>
          <p:nvPr/>
        </p:nvSpPr>
        <p:spPr>
          <a:xfrm>
            <a:off x="365760" y="2720340"/>
            <a:ext cx="182880" cy="91440"/>
          </a:xfrm>
          <a:prstGeom prst="downArrow">
            <a:avLst/>
          </a:prstGeom>
          <a:solidFill>
            <a:srgbClr val="B8B8B8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6" name="StepNum2"/>
          <p:cNvSpPr/>
          <p:nvPr/>
        </p:nvSpPr>
        <p:spPr>
          <a:xfrm>
            <a:off x="228600" y="3040380"/>
            <a:ext cx="457200" cy="45720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27" name="Step2"/>
          <p:cNvSpPr/>
          <p:nvPr/>
        </p:nvSpPr>
        <p:spPr>
          <a:xfrm>
            <a:off x="800100" y="2811780"/>
            <a:ext cx="75438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スコア出力仕様書作成とAPI/バッチ定義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スコア、派生指標、説明出力形式を定義。インタフェース契約（API仕様またはバッチレイアウト）を甲と合意</a:t>
            </a:r>
          </a:p>
        </p:txBody>
      </p:sp>
      <p:sp>
        <p:nvSpPr>
          <p:cNvPr id="28" name="Resp2"/>
          <p:cNvSpPr/>
          <p:nvPr/>
        </p:nvSpPr>
        <p:spPr>
          <a:xfrm>
            <a:off x="8458200" y="30403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担当: 甲 + 乙: 松本 真央</a:t>
            </a:r>
          </a:p>
        </p:txBody>
      </p:sp>
      <p:sp>
        <p:nvSpPr>
          <p:cNvPr id="52" name="Arrow2"/>
          <p:cNvSpPr/>
          <p:nvPr/>
        </p:nvSpPr>
        <p:spPr>
          <a:xfrm>
            <a:off x="365760" y="3726180"/>
            <a:ext cx="182880" cy="91440"/>
          </a:xfrm>
          <a:prstGeom prst="downArrow">
            <a:avLst/>
          </a:prstGeom>
          <a:solidFill>
            <a:srgbClr val="B8B8B8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" name="StepNum3"/>
          <p:cNvSpPr/>
          <p:nvPr/>
        </p:nvSpPr>
        <p:spPr>
          <a:xfrm>
            <a:off x="228600" y="4046220"/>
            <a:ext cx="457200" cy="457200"/>
          </a:xfrm>
          <a:prstGeom prst="ellipse">
            <a:avLst/>
          </a:prstGeom>
          <a:solidFill>
            <a:srgbClr val="8B250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</a:p>
        </p:txBody>
      </p:sp>
      <p:sp>
        <p:nvSpPr>
          <p:cNvPr id="30" name="Step3"/>
          <p:cNvSpPr/>
          <p:nvPr/>
        </p:nvSpPr>
        <p:spPr>
          <a:xfrm>
            <a:off x="800100" y="3817620"/>
            <a:ext cx="75438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監査用ログ・アクセス制御実装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入力データスナップショット、前処理・モデルバージョン、スコア、説明、ユーザアクセスログを保存。保存期間・アクセス権は甲のガバナンスに準拠</a:t>
            </a:r>
          </a:p>
        </p:txBody>
      </p:sp>
      <p:sp>
        <p:nvSpPr>
          <p:cNvPr id="31" name="Resp3"/>
          <p:cNvSpPr/>
          <p:nvPr/>
        </p:nvSpPr>
        <p:spPr>
          <a:xfrm>
            <a:off x="8458200" y="40462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6E6E6E"/>
                </a:solidFill>
                <a:latin typeface="BIZ UDPGothic"/>
                <a:ea typeface="BIZ UDPGothic"/>
              </a:rPr>
              <a:t>担当: 甲指示の下、乙が実装支援</a:t>
            </a:r>
          </a:p>
        </p:txBody>
      </p:sp>
    </p:spTree>
    <p:extLst>
      <p:ext uri="{BB962C8B-B14F-4D97-AF65-F5344CB8AC3E}">
        <p14:creationId xmlns:p14="http://schemas.microsoft.com/office/powerpoint/2010/main" val="32288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06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運用体制・KPI</a:t>
            </a:r>
          </a:p>
        </p:txBody>
      </p:sp>
      <p:sp>
        <p:nvSpPr>
          <p:cNvPr id="20" name="OrgTitle"/>
          <p:cNvSpPr/>
          <p:nvPr/>
        </p:nvSpPr>
        <p:spPr>
          <a:xfrm>
            <a:off x="228600" y="800100"/>
            <a:ext cx="5486400" cy="3657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運用体制</a:t>
            </a:r>
          </a:p>
        </p:txBody>
      </p:sp>
      <p:sp>
        <p:nvSpPr>
          <p:cNvPr id="30" name="OrgRole0"/>
          <p:cNvSpPr/>
          <p:nvPr/>
        </p:nvSpPr>
        <p:spPr>
          <a:xfrm>
            <a:off x="228600" y="1257300"/>
            <a:ext cx="1600200" cy="57150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運用オーナー（甲）</a:t>
            </a:r>
          </a:p>
        </p:txBody>
      </p:sp>
      <p:sp>
        <p:nvSpPr>
          <p:cNvPr id="31" name="OrgDet0"/>
          <p:cNvSpPr/>
          <p:nvPr/>
        </p:nvSpPr>
        <p:spPr>
          <a:xfrm>
            <a:off x="1920240" y="1257300"/>
            <a:ext cx="379476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審査企画部 松原 陽介
スコア運用、閾値変更・業務判断の最終責任</a:t>
            </a:r>
          </a:p>
        </p:txBody>
      </p:sp>
      <p:sp>
        <p:nvSpPr>
          <p:cNvPr id="32" name="OrgRole1"/>
          <p:cNvSpPr/>
          <p:nvPr/>
        </p:nvSpPr>
        <p:spPr>
          <a:xfrm>
            <a:off x="228600" y="1897380"/>
            <a:ext cx="1600200" cy="5715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技術運用（乙）</a:t>
            </a:r>
          </a:p>
        </p:txBody>
      </p:sp>
      <p:sp>
        <p:nvSpPr>
          <p:cNvPr id="33" name="OrgDet1"/>
          <p:cNvSpPr/>
          <p:nvPr/>
        </p:nvSpPr>
        <p:spPr>
          <a:xfrm>
            <a:off x="1920240" y="1897380"/>
            <a:ext cx="379476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モデル保守、再学習支援、障害対応
SLAを定めて対応時間を規定（例: 2営業日以内の初動）</a:t>
            </a:r>
          </a:p>
        </p:txBody>
      </p:sp>
      <p:sp>
        <p:nvSpPr>
          <p:cNvPr id="34" name="OrgRole2"/>
          <p:cNvSpPr/>
          <p:nvPr/>
        </p:nvSpPr>
        <p:spPr>
          <a:xfrm>
            <a:off x="228600" y="2537460"/>
            <a:ext cx="1600200" cy="571500"/>
          </a:xfrm>
          <a:prstGeom prst="roundRect">
            <a:avLst/>
          </a:prstGeom>
          <a:solidFill>
            <a:srgbClr val="6E6E6E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ガバナンス委員会</a:t>
            </a:r>
          </a:p>
        </p:txBody>
      </p:sp>
      <p:sp>
        <p:nvSpPr>
          <p:cNvPr id="35" name="OrgDet2"/>
          <p:cNvSpPr/>
          <p:nvPr/>
        </p:nvSpPr>
        <p:spPr>
          <a:xfrm>
            <a:off x="1920240" y="2537460"/>
            <a:ext cx="379476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四半期レビューで性能・運用指標をレビュー
甲/乙の代表＋監査担当</a:t>
            </a:r>
          </a:p>
        </p:txBody>
      </p:sp>
      <p:sp>
        <p:nvSpPr>
          <p:cNvPr id="50" name="Div"/>
          <p:cNvSpPr/>
          <p:nvPr/>
        </p:nvSpPr>
        <p:spPr>
          <a:xfrm>
            <a:off x="6019800" y="800100"/>
            <a:ext cx="18288" cy="50292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endParaRPr lang="ja-JP"/>
          </a:p>
        </p:txBody>
      </p:sp>
      <p:sp>
        <p:nvSpPr>
          <p:cNvPr id="51" name="KPITitle"/>
          <p:cNvSpPr/>
          <p:nvPr/>
        </p:nvSpPr>
        <p:spPr>
          <a:xfrm>
            <a:off x="6248400" y="800100"/>
            <a:ext cx="5486400" cy="36576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運用指標（KPI）</a:t>
            </a:r>
          </a:p>
        </p:txBody>
      </p:sp>
      <p:sp>
        <p:nvSpPr>
          <p:cNvPr id="60" name="TechKPI"/>
          <p:cNvSpPr/>
          <p:nvPr/>
        </p:nvSpPr>
        <p:spPr>
          <a:xfrm>
            <a:off x="6248400" y="1257300"/>
            <a:ext cx="54864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技術KPI</a:t>
            </a:r>
          </a:p>
          <a:p>
            <a:pPr marL="228600" indent="-228600" algn="l">
              <a:buFont typeface="Arial"/>
              <a:buChar char="●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AUC、Recall（ターゲット: 甲と合意）</a:t>
            </a:r>
          </a:p>
          <a:p>
            <a:pPr marL="228600" indent="-228600" algn="l">
              <a:buFont typeface="Arial"/>
              <a:buChar char="●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Precision@top10%、Brier score</a:t>
            </a:r>
          </a:p>
          <a:p>
            <a:pPr marL="228600" indent="-228600" algn="l">
              <a:buFont typeface="Arial"/>
              <a:buChar char="●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モデル安定性（データドリフト指標）</a:t>
            </a:r>
          </a:p>
        </p:txBody>
      </p:sp>
      <p:sp>
        <p:nvSpPr>
          <p:cNvPr id="61" name="BizKPI"/>
          <p:cNvSpPr/>
          <p:nvPr/>
        </p:nvSpPr>
        <p:spPr>
          <a:xfrm>
            <a:off x="6248400" y="2743200"/>
            <a:ext cx="54864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8B2500"/>
                </a:solidFill>
                <a:latin typeface="BIZ UDPGothic"/>
                <a:ea typeface="BIZ UDPGothic"/>
              </a:rPr>
              <a:t>業務KPI</a:t>
            </a:r>
          </a:p>
          <a:p>
            <a:pPr marL="228600" indent="-228600" algn="l">
              <a:buFont typeface="Arial"/>
              <a:buChar char="●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上位10%の倒産占有率（ベースライン上回り）</a:t>
            </a:r>
          </a:p>
          <a:p>
            <a:pPr marL="228600" indent="-228600" algn="l">
              <a:buFont typeface="Arial"/>
              <a:buChar char="●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審査工数削減率</a:t>
            </a:r>
          </a:p>
          <a:p>
            <a:pPr marL="228600" indent="-228600" algn="l">
              <a:buFont typeface="Arial"/>
              <a:buChar char="●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誤検知による追加確認コスト</a:t>
            </a:r>
          </a:p>
        </p:txBody>
      </p:sp>
      <p:sp>
        <p:nvSpPr>
          <p:cNvPr id="70" name="MonFreq"/>
          <p:cNvSpPr/>
          <p:nvPr/>
        </p:nvSpPr>
        <p:spPr>
          <a:xfrm>
            <a:off x="6248400" y="422834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モニタリング頻度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日次（データ健全性）/ 週次（スコア分布）/ 四半期（性能レビュー）</a:t>
            </a:r>
          </a:p>
        </p:txBody>
      </p:sp>
    </p:spTree>
    <p:extLst>
      <p:ext uri="{BB962C8B-B14F-4D97-AF65-F5344CB8AC3E}">
        <p14:creationId xmlns:p14="http://schemas.microsoft.com/office/powerpoint/2010/main" val="3957245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06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本番化スケジュール（概案）</a:t>
            </a:r>
          </a:p>
        </p:txBody>
      </p:sp>
      <p:sp>
        <p:nvSpPr>
          <p:cNvPr id="20" name="W0"/>
          <p:cNvSpPr/>
          <p:nvPr/>
        </p:nvSpPr>
        <p:spPr>
          <a:xfrm>
            <a:off x="34290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W1</a:t>
            </a:r>
          </a:p>
        </p:txBody>
      </p:sp>
      <p:sp>
        <p:nvSpPr>
          <p:cNvPr id="21" name="W1"/>
          <p:cNvSpPr/>
          <p:nvPr/>
        </p:nvSpPr>
        <p:spPr>
          <a:xfrm>
            <a:off x="44577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W2</a:t>
            </a:r>
          </a:p>
        </p:txBody>
      </p:sp>
      <p:sp>
        <p:nvSpPr>
          <p:cNvPr id="22" name="W2"/>
          <p:cNvSpPr/>
          <p:nvPr/>
        </p:nvSpPr>
        <p:spPr>
          <a:xfrm>
            <a:off x="54864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W3</a:t>
            </a:r>
          </a:p>
        </p:txBody>
      </p:sp>
      <p:sp>
        <p:nvSpPr>
          <p:cNvPr id="23" name="W3"/>
          <p:cNvSpPr/>
          <p:nvPr/>
        </p:nvSpPr>
        <p:spPr>
          <a:xfrm>
            <a:off x="65151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W4</a:t>
            </a:r>
          </a:p>
        </p:txBody>
      </p:sp>
      <p:sp>
        <p:nvSpPr>
          <p:cNvPr id="24" name="W4"/>
          <p:cNvSpPr/>
          <p:nvPr/>
        </p:nvSpPr>
        <p:spPr>
          <a:xfrm>
            <a:off x="75438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W5</a:t>
            </a:r>
          </a:p>
        </p:txBody>
      </p:sp>
      <p:sp>
        <p:nvSpPr>
          <p:cNvPr id="25" name="W5"/>
          <p:cNvSpPr/>
          <p:nvPr/>
        </p:nvSpPr>
        <p:spPr>
          <a:xfrm>
            <a:off x="85725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W6</a:t>
            </a:r>
          </a:p>
        </p:txBody>
      </p:sp>
      <p:sp>
        <p:nvSpPr>
          <p:cNvPr id="26" name="W6"/>
          <p:cNvSpPr/>
          <p:nvPr/>
        </p:nvSpPr>
        <p:spPr>
          <a:xfrm>
            <a:off x="96012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W7</a:t>
            </a:r>
          </a:p>
        </p:txBody>
      </p:sp>
      <p:sp>
        <p:nvSpPr>
          <p:cNvPr id="27" name="W7"/>
          <p:cNvSpPr/>
          <p:nvPr/>
        </p:nvSpPr>
        <p:spPr>
          <a:xfrm>
            <a:off x="10629900" y="914400"/>
            <a:ext cx="1028700" cy="36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latin typeface="BIZ UDPGothic"/>
                <a:ea typeface="BIZ UDPGothic"/>
              </a:rPr>
              <a:t>W8</a:t>
            </a:r>
          </a:p>
        </p:txBody>
      </p:sp>
      <p:sp>
        <p:nvSpPr>
          <p:cNvPr id="40" name="TaskLbl0"/>
          <p:cNvSpPr/>
          <p:nvPr/>
        </p:nvSpPr>
        <p:spPr>
          <a:xfrm>
            <a:off x="228600" y="1463040"/>
            <a:ext cx="3048000" cy="685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前処理パイプライン
コード化・ユニットテスト</a:t>
            </a:r>
          </a:p>
        </p:txBody>
      </p:sp>
      <p:sp>
        <p:nvSpPr>
          <p:cNvPr id="41" name="TaskBar0"/>
          <p:cNvSpPr/>
          <p:nvPr/>
        </p:nvSpPr>
        <p:spPr>
          <a:xfrm>
            <a:off x="3429000" y="1600200"/>
            <a:ext cx="2057400" cy="41148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endParaRPr lang="en-US" sz="1400" b="1" dirty="0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2" name="TaskLbl1"/>
          <p:cNvSpPr/>
          <p:nvPr/>
        </p:nvSpPr>
        <p:spPr>
          <a:xfrm>
            <a:off x="228600" y="2331720"/>
            <a:ext cx="3048000" cy="685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モデル最終化・
説明出力自動化（SHAP等）</a:t>
            </a:r>
          </a:p>
        </p:txBody>
      </p:sp>
      <p:sp>
        <p:nvSpPr>
          <p:cNvPr id="43" name="TaskBar1"/>
          <p:cNvSpPr/>
          <p:nvPr/>
        </p:nvSpPr>
        <p:spPr>
          <a:xfrm>
            <a:off x="5486400" y="2468880"/>
            <a:ext cx="2057400" cy="41148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endParaRPr lang="en-US" sz="1400" b="1" dirty="0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4" name="TaskLbl2"/>
          <p:cNvSpPr/>
          <p:nvPr/>
        </p:nvSpPr>
        <p:spPr>
          <a:xfrm>
            <a:off x="228600" y="3200400"/>
            <a:ext cx="3048000" cy="685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パイロット運用
（並行運用・フィードバック）</a:t>
            </a:r>
          </a:p>
        </p:txBody>
      </p:sp>
      <p:sp>
        <p:nvSpPr>
          <p:cNvPr id="45" name="TaskBar2"/>
          <p:cNvSpPr/>
          <p:nvPr/>
        </p:nvSpPr>
        <p:spPr>
          <a:xfrm>
            <a:off x="7557951" y="3320686"/>
            <a:ext cx="2057400" cy="41148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endParaRPr lang="en-US" sz="1400" b="1" dirty="0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46" name="TaskLbl3"/>
          <p:cNvSpPr/>
          <p:nvPr/>
        </p:nvSpPr>
        <p:spPr>
          <a:xfrm>
            <a:off x="228600" y="4069080"/>
            <a:ext cx="3048000" cy="685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dirty="0">
                <a:solidFill>
                  <a:srgbClr val="1A1A1A"/>
                </a:solidFill>
                <a:latin typeface="BIZ UDPGothic"/>
                <a:ea typeface="BIZ UDPGothic"/>
              </a:rPr>
              <a:t>本番導入・
監査ログ運用開始</a:t>
            </a:r>
          </a:p>
        </p:txBody>
      </p:sp>
      <p:sp>
        <p:nvSpPr>
          <p:cNvPr id="47" name="TaskBar3"/>
          <p:cNvSpPr/>
          <p:nvPr/>
        </p:nvSpPr>
        <p:spPr>
          <a:xfrm>
            <a:off x="9601200" y="4206240"/>
            <a:ext cx="2057400" cy="411480"/>
          </a:xfrm>
          <a:prstGeom prst="roundRect">
            <a:avLst>
              <a:gd name="adj" fmla="val 10318"/>
            </a:avLst>
          </a:prstGeom>
          <a:solidFill>
            <a:srgbClr val="6E6E6E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endParaRPr lang="en-US" sz="1400" b="1" dirty="0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60" name="Note"/>
          <p:cNvSpPr/>
          <p:nvPr/>
        </p:nvSpPr>
        <p:spPr>
          <a:xfrm>
            <a:off x="228600" y="5486400"/>
            <a:ext cx="11735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l">
              <a:buNone/>
            </a:pPr>
            <a:r>
              <a:rPr lang="ja-JP" sz="1400" i="1" dirty="0">
                <a:solidFill>
                  <a:srgbClr val="6E6E6E"/>
                </a:solidFill>
                <a:latin typeface="BIZ UDPGothic"/>
                <a:ea typeface="BIZ UDPGothic"/>
              </a:rPr>
              <a:t>※ 詳細は別途本番化要件定義で詰めることを推奨</a:t>
            </a:r>
          </a:p>
        </p:txBody>
      </p:sp>
      <p:sp>
        <p:nvSpPr>
          <p:cNvPr id="3" name="TaskBar2">
            <a:extLst>
              <a:ext uri="{FF2B5EF4-FFF2-40B4-BE49-F238E27FC236}">
                <a16:creationId xmlns:a16="http://schemas.microsoft.com/office/drawing/2014/main" id="{A6E46B6F-A22C-1874-7731-9DB52D218161}"/>
              </a:ext>
            </a:extLst>
          </p:cNvPr>
          <p:cNvSpPr/>
          <p:nvPr/>
        </p:nvSpPr>
        <p:spPr>
          <a:xfrm>
            <a:off x="7062651" y="3303812"/>
            <a:ext cx="304800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altLang="ja-JP" sz="1400" dirty="0">
                <a:solidFill>
                  <a:schemeClr val="bg1"/>
                </a:solidFill>
                <a:ea typeface="BIZ UDPGothic"/>
              </a:rPr>
              <a:t>パイロット運用</a:t>
            </a:r>
            <a:endParaRPr lang="en-US" sz="1400" b="1" dirty="0">
              <a:solidFill>
                <a:schemeClr val="bg1"/>
              </a:solidFill>
              <a:latin typeface="BIZ UDPGothic"/>
              <a:ea typeface="BIZ UDPGothic"/>
            </a:endParaRPr>
          </a:p>
        </p:txBody>
      </p:sp>
      <p:sp>
        <p:nvSpPr>
          <p:cNvPr id="4" name="TaskBar2">
            <a:extLst>
              <a:ext uri="{FF2B5EF4-FFF2-40B4-BE49-F238E27FC236}">
                <a16:creationId xmlns:a16="http://schemas.microsoft.com/office/drawing/2014/main" id="{D6A95992-E601-F070-68C6-6B7D94C65AEC}"/>
              </a:ext>
            </a:extLst>
          </p:cNvPr>
          <p:cNvSpPr/>
          <p:nvPr/>
        </p:nvSpPr>
        <p:spPr>
          <a:xfrm>
            <a:off x="9072154" y="4172492"/>
            <a:ext cx="304800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altLang="en-US" sz="1400" dirty="0">
                <a:solidFill>
                  <a:schemeClr val="bg1"/>
                </a:solidFill>
                <a:ea typeface="BIZ UDPGothic"/>
              </a:rPr>
              <a:t>本番導入</a:t>
            </a:r>
            <a:endParaRPr lang="en-US" sz="1400" b="1" dirty="0">
              <a:solidFill>
                <a:schemeClr val="bg1"/>
              </a:solidFill>
              <a:latin typeface="BIZ UDPGothic"/>
              <a:ea typeface="BIZ UDPGothic"/>
            </a:endParaRPr>
          </a:p>
        </p:txBody>
      </p:sp>
      <p:sp>
        <p:nvSpPr>
          <p:cNvPr id="5" name="TaskBar2">
            <a:extLst>
              <a:ext uri="{FF2B5EF4-FFF2-40B4-BE49-F238E27FC236}">
                <a16:creationId xmlns:a16="http://schemas.microsoft.com/office/drawing/2014/main" id="{EB37E1C5-8138-A862-1D91-DF7F8FC8D406}"/>
              </a:ext>
            </a:extLst>
          </p:cNvPr>
          <p:cNvSpPr/>
          <p:nvPr/>
        </p:nvSpPr>
        <p:spPr>
          <a:xfrm>
            <a:off x="4991100" y="2454727"/>
            <a:ext cx="304800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BIZ UDPGothic"/>
                <a:ea typeface="BIZ UDPGothic"/>
              </a:rPr>
              <a:t>モデル最終化</a:t>
            </a:r>
            <a:endParaRPr lang="en-US" sz="1400" b="1" dirty="0">
              <a:solidFill>
                <a:schemeClr val="bg1"/>
              </a:solidFill>
              <a:latin typeface="BIZ UDPGothic"/>
              <a:ea typeface="BIZ UDPGothic"/>
            </a:endParaRPr>
          </a:p>
        </p:txBody>
      </p:sp>
      <p:sp>
        <p:nvSpPr>
          <p:cNvPr id="6" name="TaskBar2">
            <a:extLst>
              <a:ext uri="{FF2B5EF4-FFF2-40B4-BE49-F238E27FC236}">
                <a16:creationId xmlns:a16="http://schemas.microsoft.com/office/drawing/2014/main" id="{AE542058-9F56-1B9E-C48F-44667124F8F6}"/>
              </a:ext>
            </a:extLst>
          </p:cNvPr>
          <p:cNvSpPr/>
          <p:nvPr/>
        </p:nvSpPr>
        <p:spPr>
          <a:xfrm>
            <a:off x="2933700" y="1584416"/>
            <a:ext cx="304800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BIZ UDPGothic"/>
                <a:ea typeface="BIZ UDPGothic"/>
              </a:rPr>
              <a:t>前処理パイプライン等</a:t>
            </a:r>
            <a:endParaRPr lang="en-US" sz="1400" b="1" dirty="0">
              <a:solidFill>
                <a:schemeClr val="bg1"/>
              </a:solidFill>
              <a:latin typeface="BIZ UDPGothic"/>
              <a:ea typeface="BIZ UDPGothic"/>
            </a:endParaRPr>
          </a:p>
        </p:txBody>
      </p:sp>
    </p:spTree>
    <p:extLst>
      <p:ext uri="{BB962C8B-B14F-4D97-AF65-F5344CB8AC3E}">
        <p14:creationId xmlns:p14="http://schemas.microsoft.com/office/powerpoint/2010/main" val="99919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07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制約事項と残余リスク</a:t>
            </a:r>
          </a:p>
        </p:txBody>
      </p:sp>
      <p:sp>
        <p:nvSpPr>
          <p:cNvPr id="20" name="ConsTitle"/>
          <p:cNvSpPr/>
          <p:nvPr/>
        </p:nvSpPr>
        <p:spPr>
          <a:xfrm>
            <a:off x="228600" y="800100"/>
            <a:ext cx="3657600" cy="3657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主な制約（確認事実）</a:t>
            </a:r>
          </a:p>
        </p:txBody>
      </p:sp>
      <p:sp>
        <p:nvSpPr>
          <p:cNvPr id="30" name="Cons0"/>
          <p:cNvSpPr/>
          <p:nvPr/>
        </p:nvSpPr>
        <p:spPr>
          <a:xfrm>
            <a:off x="228600" y="1257300"/>
            <a:ext cx="36576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利用データはtrain.csvのみ（契約上の前提）。外部データは本フェーズでは取得しない。</a:t>
            </a:r>
          </a:p>
        </p:txBody>
      </p:sp>
      <p:sp>
        <p:nvSpPr>
          <p:cNvPr id="31" name="Cons1"/>
          <p:cNvSpPr/>
          <p:nvPr/>
        </p:nvSpPr>
        <p:spPr>
          <a:xfrm>
            <a:off x="228600" y="1897380"/>
            <a:ext cx="36576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時系列情報が含まれていないため、景気・年度差の影響検証は不可能。</a:t>
            </a:r>
          </a:p>
        </p:txBody>
      </p:sp>
      <p:sp>
        <p:nvSpPr>
          <p:cNvPr id="32" name="Cons2"/>
          <p:cNvSpPr/>
          <p:nvPr/>
        </p:nvSpPr>
        <p:spPr>
          <a:xfrm>
            <a:off x="228600" y="2537460"/>
            <a:ext cx="3657600" cy="5715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契約形態: 固定価格（工数実績による事後精算は行わない）。</a:t>
            </a:r>
          </a:p>
        </p:txBody>
      </p:sp>
      <p:sp>
        <p:nvSpPr>
          <p:cNvPr id="40" name="RiskTitle"/>
          <p:cNvSpPr/>
          <p:nvPr/>
        </p:nvSpPr>
        <p:spPr>
          <a:xfrm>
            <a:off x="4114800" y="800100"/>
            <a:ext cx="4114800" cy="36576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残余リスク</a:t>
            </a:r>
          </a:p>
        </p:txBody>
      </p:sp>
      <p:sp>
        <p:nvSpPr>
          <p:cNvPr id="50" name="RiskLvl0"/>
          <p:cNvSpPr/>
          <p:nvPr/>
        </p:nvSpPr>
        <p:spPr>
          <a:xfrm>
            <a:off x="4114800" y="1257300"/>
            <a:ext cx="548640" cy="36576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高</a:t>
            </a:r>
          </a:p>
        </p:txBody>
      </p:sp>
      <p:sp>
        <p:nvSpPr>
          <p:cNvPr id="51" name="RiskTxt0"/>
          <p:cNvSpPr/>
          <p:nvPr/>
        </p:nvSpPr>
        <p:spPr>
          <a:xfrm>
            <a:off x="4754880" y="1257300"/>
            <a:ext cx="347472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Attr37（高欠損）に起因するバイアス・性能変動リスク</a:t>
            </a:r>
          </a:p>
        </p:txBody>
      </p:sp>
      <p:sp>
        <p:nvSpPr>
          <p:cNvPr id="52" name="RiskLvl1"/>
          <p:cNvSpPr/>
          <p:nvPr/>
        </p:nvSpPr>
        <p:spPr>
          <a:xfrm>
            <a:off x="4114800" y="1668780"/>
            <a:ext cx="548640" cy="36576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高</a:t>
            </a:r>
          </a:p>
        </p:txBody>
      </p:sp>
      <p:sp>
        <p:nvSpPr>
          <p:cNvPr id="53" name="RiskTxt1"/>
          <p:cNvSpPr/>
          <p:nvPr/>
        </p:nvSpPr>
        <p:spPr>
          <a:xfrm>
            <a:off x="4754880" y="1668780"/>
            <a:ext cx="347472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クラス不均衡（倒産率≈4.95%）による再現率不足</a:t>
            </a:r>
          </a:p>
        </p:txBody>
      </p:sp>
      <p:sp>
        <p:nvSpPr>
          <p:cNvPr id="54" name="RiskLvl2"/>
          <p:cNvSpPr/>
          <p:nvPr/>
        </p:nvSpPr>
        <p:spPr>
          <a:xfrm>
            <a:off x="4114800" y="2080260"/>
            <a:ext cx="548640" cy="36576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中</a:t>
            </a:r>
          </a:p>
        </p:txBody>
      </p:sp>
      <p:sp>
        <p:nvSpPr>
          <p:cNvPr id="55" name="RiskTxt2"/>
          <p:cNvSpPr/>
          <p:nvPr/>
        </p:nvSpPr>
        <p:spPr>
          <a:xfrm>
            <a:off x="4754880" y="2080260"/>
            <a:ext cx="347472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外れ値の影響によるモデル不安定性</a:t>
            </a:r>
          </a:p>
        </p:txBody>
      </p:sp>
      <p:sp>
        <p:nvSpPr>
          <p:cNvPr id="56" name="RiskLvl3"/>
          <p:cNvSpPr/>
          <p:nvPr/>
        </p:nvSpPr>
        <p:spPr>
          <a:xfrm>
            <a:off x="4114800" y="2491740"/>
            <a:ext cx="548640" cy="36576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中</a:t>
            </a:r>
          </a:p>
        </p:txBody>
      </p:sp>
      <p:sp>
        <p:nvSpPr>
          <p:cNvPr id="57" name="RiskTxt3"/>
          <p:cNvSpPr/>
          <p:nvPr/>
        </p:nvSpPr>
        <p:spPr>
          <a:xfrm>
            <a:off x="4754880" y="2491740"/>
            <a:ext cx="347472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着手金未確認の商務リスク</a:t>
            </a:r>
          </a:p>
        </p:txBody>
      </p:sp>
      <p:sp>
        <p:nvSpPr>
          <p:cNvPr id="58" name="RiskLvl4"/>
          <p:cNvSpPr/>
          <p:nvPr/>
        </p:nvSpPr>
        <p:spPr>
          <a:xfrm>
            <a:off x="4114800" y="2903220"/>
            <a:ext cx="548640" cy="36576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中</a:t>
            </a:r>
          </a:p>
        </p:txBody>
      </p:sp>
      <p:sp>
        <p:nvSpPr>
          <p:cNvPr id="59" name="RiskTxt4"/>
          <p:cNvSpPr/>
          <p:nvPr/>
        </p:nvSpPr>
        <p:spPr>
          <a:xfrm>
            <a:off x="4754880" y="2903220"/>
            <a:ext cx="3474720" cy="3657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運用/監査要件不備による導入遅延リスク</a:t>
            </a:r>
          </a:p>
        </p:txBody>
      </p:sp>
      <p:sp>
        <p:nvSpPr>
          <p:cNvPr id="70" name="CountTitle"/>
          <p:cNvSpPr/>
          <p:nvPr/>
        </p:nvSpPr>
        <p:spPr>
          <a:xfrm>
            <a:off x="8458200" y="800100"/>
            <a:ext cx="3505200" cy="365760"/>
          </a:xfrm>
          <a:prstGeom prst="roundRect">
            <a:avLst/>
          </a:prstGeom>
          <a:solidFill>
            <a:srgbClr val="6E6E6E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対応方針</a:t>
            </a:r>
          </a:p>
        </p:txBody>
      </p:sp>
      <p:sp>
        <p:nvSpPr>
          <p:cNvPr id="71" name="Count"/>
          <p:cNvSpPr/>
          <p:nvPr/>
        </p:nvSpPr>
        <p:spPr>
          <a:xfrm>
            <a:off x="8458200" y="1257300"/>
            <a:ext cx="3505200" cy="2743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marL="228600" indent="-228600" algn="l">
              <a:buFont typeface="Arial"/>
              <a:buChar char="▶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Attr37は比較実験に基づき採否を決定、欠損フラグを常に保持</a:t>
            </a:r>
          </a:p>
          <a:p>
            <a:pPr marL="228600" indent="-228600" algn="l">
              <a:buFont typeface="Arial"/>
              <a:buChar char="▶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不均衡対策（class_weight、サンプリング、コストベース閾値設計）を導入し、RecallをKPIで保証</a:t>
            </a:r>
          </a:p>
          <a:p>
            <a:pPr marL="228600" indent="-228600" algn="l">
              <a:buFont typeface="Arial"/>
              <a:buChar char="▶"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本番前に監査ログ・アクセス制御のテストを実施</a:t>
            </a:r>
          </a:p>
        </p:txBody>
      </p:sp>
    </p:spTree>
    <p:extLst>
      <p:ext uri="{BB962C8B-B14F-4D97-AF65-F5344CB8AC3E}">
        <p14:creationId xmlns:p14="http://schemas.microsoft.com/office/powerpoint/2010/main" val="576204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08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今後の拡張ロードマップ</a:t>
            </a:r>
          </a:p>
        </p:txBody>
      </p:sp>
      <p:sp>
        <p:nvSpPr>
          <p:cNvPr id="11" name="Timeline"/>
          <p:cNvSpPr/>
          <p:nvPr/>
        </p:nvSpPr>
        <p:spPr>
          <a:xfrm>
            <a:off x="228600" y="914400"/>
            <a:ext cx="11735400" cy="9144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endParaRPr lang="ja-JP"/>
          </a:p>
        </p:txBody>
      </p:sp>
      <p:sp>
        <p:nvSpPr>
          <p:cNvPr id="12" name="ArrowHead"/>
          <p:cNvSpPr/>
          <p:nvPr/>
        </p:nvSpPr>
        <p:spPr>
          <a:xfrm>
            <a:off x="11735400" y="868680"/>
            <a:ext cx="457200" cy="182880"/>
          </a:xfrm>
          <a:prstGeom prst="rightArrow">
            <a:avLst/>
          </a:prstGeom>
          <a:solidFill>
            <a:srgbClr val="B8B8B8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endParaRPr lang="ja-JP"/>
          </a:p>
        </p:txBody>
      </p:sp>
      <p:sp>
        <p:nvSpPr>
          <p:cNvPr id="20" name="PhaseH0"/>
          <p:cNvSpPr/>
          <p:nvPr/>
        </p:nvSpPr>
        <p:spPr>
          <a:xfrm>
            <a:off x="228600" y="1143000"/>
            <a:ext cx="3657600" cy="457200"/>
          </a:xfrm>
          <a:prstGeom prst="roundRect">
            <a:avLst/>
          </a:prstGeom>
          <a:solidFill>
            <a:srgbClr val="8B2500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短期（0-3ヶ月）</a:t>
            </a:r>
          </a:p>
        </p:txBody>
      </p:sp>
      <p:sp>
        <p:nvSpPr>
          <p:cNvPr id="21" name="PhaseItem0_0"/>
          <p:cNvSpPr/>
          <p:nvPr/>
        </p:nvSpPr>
        <p:spPr>
          <a:xfrm>
            <a:off x="228600" y="169164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前処理仕様・モデル最終化・スコア出力仕様の確定と文書化（必須）</a:t>
            </a:r>
          </a:p>
        </p:txBody>
      </p:sp>
      <p:sp>
        <p:nvSpPr>
          <p:cNvPr id="22" name="PhaseItem0_1"/>
          <p:cNvSpPr/>
          <p:nvPr/>
        </p:nvSpPr>
        <p:spPr>
          <a:xfrm>
            <a:off x="228600" y="265176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パイロット運用（並行運用）による運用指標の観測（3ヶ月）</a:t>
            </a:r>
          </a:p>
        </p:txBody>
      </p:sp>
      <p:sp>
        <p:nvSpPr>
          <p:cNvPr id="23" name="PhaseItem0_2"/>
          <p:cNvSpPr/>
          <p:nvPr/>
        </p:nvSpPr>
        <p:spPr>
          <a:xfrm>
            <a:off x="228600" y="361188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パフォーマンス閾値・運用ルールの確定（審査部門と合意）</a:t>
            </a:r>
          </a:p>
        </p:txBody>
      </p:sp>
      <p:sp>
        <p:nvSpPr>
          <p:cNvPr id="30" name="PhaseH1"/>
          <p:cNvSpPr/>
          <p:nvPr/>
        </p:nvSpPr>
        <p:spPr>
          <a:xfrm>
            <a:off x="4114800" y="1143000"/>
            <a:ext cx="3657600" cy="4572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中期（3-12ヶ月）</a:t>
            </a:r>
          </a:p>
        </p:txBody>
      </p:sp>
      <p:sp>
        <p:nvSpPr>
          <p:cNvPr id="31" name="PhaseItem1_0"/>
          <p:cNvSpPr/>
          <p:nvPr/>
        </p:nvSpPr>
        <p:spPr>
          <a:xfrm>
            <a:off x="4114800" y="169164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期待損失（expected loss）算定フレームワークの構築（スコア→PDマッピング、LGD想定）</a:t>
            </a:r>
          </a:p>
        </p:txBody>
      </p:sp>
      <p:sp>
        <p:nvSpPr>
          <p:cNvPr id="32" name="PhaseItem1_1"/>
          <p:cNvSpPr/>
          <p:nvPr/>
        </p:nvSpPr>
        <p:spPr>
          <a:xfrm>
            <a:off x="4114800" y="265176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外部データ（信用情報、業界統計、景気指標）の導入検証</a:t>
            </a:r>
          </a:p>
        </p:txBody>
      </p:sp>
      <p:sp>
        <p:nvSpPr>
          <p:cNvPr id="33" name="PhaseItem1_2"/>
          <p:cNvSpPr/>
          <p:nvPr/>
        </p:nvSpPr>
        <p:spPr>
          <a:xfrm>
            <a:off x="4114800" y="361188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モニタリング基盤の構築（自動アラート: ドリフト、性能低下、データ欠損増加）</a:t>
            </a:r>
          </a:p>
        </p:txBody>
      </p:sp>
      <p:sp>
        <p:nvSpPr>
          <p:cNvPr id="40" name="PhaseH2"/>
          <p:cNvSpPr/>
          <p:nvPr/>
        </p:nvSpPr>
        <p:spPr>
          <a:xfrm>
            <a:off x="8001000" y="1143000"/>
            <a:ext cx="3657600" cy="457200"/>
          </a:xfrm>
          <a:prstGeom prst="roundRect">
            <a:avLst/>
          </a:prstGeom>
          <a:solidFill>
            <a:srgbClr val="6E6E6E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長期（12ヶ月以上）</a:t>
            </a:r>
          </a:p>
        </p:txBody>
      </p:sp>
      <p:sp>
        <p:nvSpPr>
          <p:cNvPr id="41" name="PhaseItem2_0"/>
          <p:cNvSpPr/>
          <p:nvPr/>
        </p:nvSpPr>
        <p:spPr>
          <a:xfrm>
            <a:off x="8001000" y="169164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本番監視基盤・再学習自動化（MLOps）とSLAの整備（要別途見積）</a:t>
            </a:r>
          </a:p>
        </p:txBody>
      </p:sp>
      <p:sp>
        <p:nvSpPr>
          <p:cNvPr id="42" name="PhaseItem2_1"/>
          <p:cNvSpPr/>
          <p:nvPr/>
        </p:nvSpPr>
        <p:spPr>
          <a:xfrm>
            <a:off x="8001000" y="265176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公平性・バイアス評価の充実（属性データが利用可能になった場合）</a:t>
            </a:r>
          </a:p>
        </p:txBody>
      </p:sp>
      <p:sp>
        <p:nvSpPr>
          <p:cNvPr id="43" name="PhaseItem2_2"/>
          <p:cNvSpPr/>
          <p:nvPr/>
        </p:nvSpPr>
        <p:spPr>
          <a:xfrm>
            <a:off x="8001000" y="3611880"/>
            <a:ext cx="36576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45720" anchor="t"/>
          <a:lstStyle/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審査業務プロセスへの完全統合（API化・UI化）と組織内承認フローの確立</a:t>
            </a:r>
          </a:p>
        </p:txBody>
      </p:sp>
    </p:spTree>
    <p:extLst>
      <p:ext uri="{BB962C8B-B14F-4D97-AF65-F5344CB8AC3E}">
        <p14:creationId xmlns:p14="http://schemas.microsoft.com/office/powerpoint/2010/main" val="518264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DB0164F-1280-4051-8D9A-96283ED4487D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651000"/>
          <a:ext cx="10363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2686677136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250021485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68071306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ステータス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備考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43918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提案書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5016"/>
                          </a:solidFill>
                          <a:latin typeface="BIZ UDPGothic"/>
                          <a:ea typeface="BIZ UDPGothic"/>
                        </a:rPr>
                        <a:t>完了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8585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5016"/>
                          </a:solidFill>
                          <a:latin typeface="BIZ UDPGothic"/>
                          <a:ea typeface="BIZ UDPGothic"/>
                        </a:rPr>
                        <a:t>完了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締結済（2025-05-13）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23739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スケジュール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5016"/>
                          </a:solidFill>
                          <a:latin typeface="BIZ UDPGothic"/>
                          <a:ea typeface="BIZ UDPGothic"/>
                        </a:rPr>
                        <a:t>完了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提出済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27476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議事録（M01-M03）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5016"/>
                          </a:solidFill>
                          <a:latin typeface="BIZ UDPGothic"/>
                          <a:ea typeface="BIZ UDPGothic"/>
                        </a:rPr>
                        <a:t>完了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M01〜M03 提出済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84087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中間報告書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2D5016"/>
                          </a:solidFill>
                          <a:latin typeface="BIZ UDPGothic"/>
                          <a:ea typeface="BIZ UDPGothic"/>
                        </a:rPr>
                        <a:t>完了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M01〜M03 報告資料提出済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01847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最終報告書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A0522D"/>
                          </a:solidFill>
                          <a:latin typeface="BIZ UDPGothic"/>
                          <a:ea typeface="BIZ UDPGothic"/>
                        </a:rPr>
                        <a:t>提出中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本報告書が正本候補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88442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前処理仕様書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500"/>
                          </a:solidFill>
                          <a:latin typeface="BIZ UDPGothic"/>
                          <a:ea typeface="BIZ UDPGothic"/>
                        </a:rPr>
                        <a:t>未確定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AI-08にて追行中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171"/>
                  </a:ext>
                </a:extLst>
              </a:tr>
            </a:tbl>
          </a:graphicData>
        </a:graphic>
      </p:graphicFrame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09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成果物サマリ</a:t>
            </a:r>
          </a:p>
        </p:txBody>
      </p:sp>
    </p:spTree>
    <p:extLst>
      <p:ext uri="{BB962C8B-B14F-4D97-AF65-F5344CB8AC3E}">
        <p14:creationId xmlns:p14="http://schemas.microsoft.com/office/powerpoint/2010/main" val="1784160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1F80C06-3C55-4E81-8966-AC7FD34658AC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651000"/>
          <a:ext cx="10363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70800062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3442659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97682676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82525305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合意（契約）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実績（事実）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差分・対応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504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1A1A1A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提案書〜最終報告書の納品（§4.1）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M01-M03議事録・中間報告済。前処理仕様書は未確定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AI-08で追行中。M02で方針合意済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84988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1A1A1A"/>
                          </a:solidFill>
                          <a:latin typeface="BIZ UDPGothic"/>
                          <a:ea typeface="BIZ UDPGothic"/>
                        </a:rPr>
                        <a:t>スコープ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外部データ取得・システム実装は対象外（§3）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契約範囲内で実施。追加要求は未発生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差分なし。MS6で変更管理運用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55887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1A1A1A"/>
                          </a:solidFill>
                          <a:latin typeface="BIZ UDPGothic"/>
                          <a:ea typeface="BIZ UDPGothic"/>
                        </a:rPr>
                        <a:t>KPI基準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Recall 0.70目標候補。ROC-AUC等も評価指標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ROC-AUC≈0.859算出済。Recall正式値は未算出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M03で指標追加確認。次手順で算出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62284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1A1A1A"/>
                          </a:solidFill>
                          <a:latin typeface="BIZ UDPGothic"/>
                          <a:ea typeface="BIZ UDPGothic"/>
                        </a:rPr>
                        <a:t>支払条件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固定価格6,800,000円（税抜）40%/60%分割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着手金支払確認が未完了（AI-05）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PM伊藤のフォロー。必要時エスカレーション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47982"/>
                  </a:ext>
                </a:extLst>
              </a:tr>
            </a:tbl>
          </a:graphicData>
        </a:graphic>
      </p:graphicFrame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lIns="457200" anchor="ctr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10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提案・契約との差分管理</a:t>
            </a:r>
          </a:p>
        </p:txBody>
      </p:sp>
      <p:sp>
        <p:nvSpPr>
          <p:cNvPr id="20" name="Note"/>
          <p:cNvSpPr/>
          <p:nvPr/>
        </p:nvSpPr>
        <p:spPr>
          <a:xfrm>
            <a:off x="228600" y="6350000"/>
            <a:ext cx="11735400" cy="365760"/>
          </a:xfrm>
          <a:prstGeom prst="rect">
            <a:avLst/>
          </a:prstGeom>
          <a:noFill/>
          <a:ln>
            <a:noFill/>
          </a:ln>
        </p:spPr>
        <p:txBody>
          <a:bodyPr lIns="91440" anchor="t"/>
          <a:lstStyle/>
          <a:p>
            <a:pPr algn="l">
              <a:buNone/>
            </a:pPr>
            <a:r>
              <a:rPr lang="ja-JP" sz="1400" i="1" dirty="0">
                <a:solidFill>
                  <a:srgbClr val="6E6E6E"/>
                </a:solidFill>
                <a:latin typeface="BIZ UDPGothic"/>
                <a:ea typeface="BIZ UDPGothic"/>
              </a:rPr>
              <a:t>※ 上記差分は「契約条件そのものの変更」ではなく「実行上の遅延・未解決事項」である。契約項目の正式変更は双方書面合意を要する（§14）。</a:t>
            </a:r>
          </a:p>
        </p:txBody>
      </p:sp>
    </p:spTree>
    <p:extLst>
      <p:ext uri="{BB962C8B-B14F-4D97-AF65-F5344CB8AC3E}">
        <p14:creationId xmlns:p14="http://schemas.microsoft.com/office/powerpoint/2010/main" val="2959180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400" dirty="0">
                <a:solidFill>
                  <a:srgbClr val="8B2500"/>
                </a:solidFill>
                <a:latin typeface="BIZ UDPGothic"/>
                <a:ea typeface="BIZ UDPGothic"/>
              </a:rPr>
              <a:t>11</a:t>
            </a:r>
            <a:r>
              <a:rPr lang="ja-JP" sz="1400" dirty="0">
                <a:solidFill>
                  <a:srgbClr val="FFFFFF"/>
                </a:solidFill>
                <a:latin typeface="BIZ UDPGothic"/>
                <a:ea typeface="BIZ UDPGothic"/>
              </a:rPr>
              <a:t>  総括</a:t>
            </a:r>
          </a:p>
        </p:txBody>
      </p:sp>
      <p:sp>
        <p:nvSpPr>
          <p:cNvPr id="20" name="Conc1"/>
          <p:cNvSpPr/>
          <p:nvPr/>
        </p:nvSpPr>
        <p:spPr>
          <a:xfrm>
            <a:off x="228600" y="914400"/>
            <a:ext cx="11735400" cy="1651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達成事項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データ理解→ベースライン構築→中間レビューまでを予定どおり進行。ベースラインモデル（gradient_boosting）が実用的な識別力（AUC ≈ 0.86）を示した。上位10%に倒産企業が一定程度集中しており、審査業務の優先確認候補抽出への経済効果が見込める。</a:t>
            </a:r>
          </a:p>
        </p:txBody>
      </p:sp>
      <p:sp>
        <p:nvSpPr>
          <p:cNvPr id="30" name="Conc2"/>
          <p:cNvSpPr/>
          <p:nvPr/>
        </p:nvSpPr>
        <p:spPr>
          <a:xfrm>
            <a:off x="228600" y="2743200"/>
            <a:ext cx="11735400" cy="1651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残課題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Attr37の高欠損、クラス不均衡、再現率（Recall）指標の完全な確認不足等、運用移行前に解決すべき技術的・運用的課題が残っている。これらは文書化されたアクションリスト（AI-08/09/10等）で管理されている。</a:t>
            </a:r>
          </a:p>
        </p:txBody>
      </p:sp>
      <p:sp>
        <p:nvSpPr>
          <p:cNvPr id="40" name="Conc3"/>
          <p:cNvSpPr/>
          <p:nvPr/>
        </p:nvSpPr>
        <p:spPr>
          <a:xfrm>
            <a:off x="228600" y="4572000"/>
            <a:ext cx="11735400" cy="1651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ja-JP" sz="1600" b="1" dirty="0">
                <a:solidFill>
                  <a:srgbClr val="8B2500"/>
                </a:solidFill>
                <a:latin typeface="BIZ UDPGothic"/>
                <a:ea typeface="BIZ UDPGothic"/>
              </a:rPr>
              <a:t>次ステップへの推奨</a:t>
            </a:r>
          </a:p>
          <a:p>
            <a:pPr algn="l">
              <a:buNone/>
            </a:pPr>
            <a:r>
              <a:rPr lang="ja-JP" sz="1400" dirty="0">
                <a:solidFill>
                  <a:srgbClr val="3D3D3D"/>
                </a:solidFill>
                <a:latin typeface="BIZ UDPGothic"/>
                <a:ea typeface="BIZ UDPGothic"/>
              </a:rPr>
              <a:t>契約上は固定価格での実施であり、現段階での追加作業は別見積が必要（契約書§14）。運用移行にあたっては、本報告書の「直近の必須事項」を完了した上でパイロット運用を行うことを推奨する。</a:t>
            </a:r>
          </a:p>
        </p:txBody>
      </p:sp>
    </p:spTree>
    <p:extLst>
      <p:ext uri="{BB962C8B-B14F-4D97-AF65-F5344CB8AC3E}">
        <p14:creationId xmlns:p14="http://schemas.microsoft.com/office/powerpoint/2010/main" val="399641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A1A1A"/>
      </a:dk1>
      <a:lt1>
        <a:srgbClr val="FFFFFF"/>
      </a:lt1>
      <a:dk2>
        <a:srgbClr val="3D3D3D"/>
      </a:dk2>
      <a:lt2>
        <a:srgbClr val="F2F2F2"/>
      </a:lt2>
      <a:accent1>
        <a:srgbClr val="8B2500"/>
      </a:accent1>
      <a:accent2>
        <a:srgbClr val="4A4A4A"/>
      </a:accent2>
      <a:accent3>
        <a:srgbClr val="6E6E6E"/>
      </a:accent3>
      <a:accent4>
        <a:srgbClr val="999999"/>
      </a:accent4>
      <a:accent5>
        <a:srgbClr val="B8B8B8"/>
      </a:accent5>
      <a:accent6>
        <a:srgbClr val="A0522D"/>
      </a:accent6>
      <a:hlink>
        <a:srgbClr val="467886"/>
      </a:hlink>
      <a:folHlink>
        <a:srgbClr val="96607D"/>
      </a:folHlink>
    </a:clrScheme>
    <a:fontScheme name="Office">
      <a:majorFont>
        <a:latin typeface="BIZ UDPGothic" panose="02110004020202020204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 panose="02110004020202020204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855CB2-2274-48AB-9F63-722CD69607B0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2337</Words>
  <Application>Microsoft Office PowerPoint</Application>
  <PresentationFormat>ワイド画面</PresentationFormat>
  <Paragraphs>333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BIZ UDPGothic</vt:lpstr>
      <vt:lpstr>Arial</vt:lpstr>
      <vt:lpstr>Office テーマ</vt:lpstr>
      <vt:lpstr>最終分析報告書 企業財務指標を用いた3年後倒産予測分析プロジェクト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4</cp:revision>
  <dcterms:created xsi:type="dcterms:W3CDTF">2026-03-19T05:15:49Z</dcterms:created>
  <dcterms:modified xsi:type="dcterms:W3CDTF">2026-03-25T05:34:10Z</dcterms:modified>
</cp:coreProperties>
</file>