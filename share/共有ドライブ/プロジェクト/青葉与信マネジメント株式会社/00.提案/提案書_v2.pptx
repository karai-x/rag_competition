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3" r:id="rId6"/>
    <p:sldId id="282" r:id="rId7"/>
    <p:sldId id="267" r:id="rId8"/>
    <p:sldId id="283" r:id="rId9"/>
    <p:sldId id="271" r:id="rId10"/>
    <p:sldId id="272" r:id="rId11"/>
    <p:sldId id="274" r:id="rId12"/>
    <p:sldId id="275" r:id="rId13"/>
    <p:sldId id="276" r:id="rId14"/>
    <p:sldId id="278" r:id="rId15"/>
    <p:sldId id="28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45" y="2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72CB83-8019-6579-8FC2-CE87666BBB1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529BBFF-E858-07A1-CB36-083BFE9ECB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1EF05C7-3CC7-E3F5-45AD-24DDCDF012C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A4809D17-EBCF-7070-9BA3-A16F91E00C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5A9CB7-0570-6C25-4EFB-E42A5135CBD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07096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98D3C7-3F9E-33A3-40B5-BDC605A444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8FE3A9-3C79-EE60-5F37-435BB31E60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4DBA91-0B6A-3AE0-98FE-F5A7AEA83952}"/>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75836728-66EC-E674-7424-43B9AA022D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1A342B-9108-A640-9319-91F438019B18}"/>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93302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FD9DB4-7013-F05D-F826-85465CE1510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C640F1-66C1-4676-5060-DF72E9D14F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3270D54-2651-A391-ED3F-86A4D9CF64C3}"/>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60DCAA3D-01FC-651B-7399-65D6AD9948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4243AC-7C47-64F7-5B79-491D2A9D2970}"/>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08212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FEC31C-E1FD-B033-2106-0FC7528457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17309F-763F-576B-200F-4F5314F3D96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A8F167-2C71-B4BB-B0C2-649843CF8E3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86B6EBC-4E0A-FEA7-5686-E757522BB4E6}"/>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B8CA3603-C467-D333-D388-493759C27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B05D0C-9C38-73D3-7FEF-1F68AAC0141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522678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58C105-A6D8-3CDD-A220-4ABEB08FA7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254244-3894-F08E-1D77-7F125456A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DCDB25E-8FC5-AE37-4DE4-E79386D920F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B6B1CF-5F3E-03F6-B9CE-6FB794E6F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2DA5867-3872-D086-D873-4201C32950B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8D12A6-5F34-3F42-D914-41D3FEBF836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8" name="フッター プレースホルダー 7">
            <a:extLst>
              <a:ext uri="{FF2B5EF4-FFF2-40B4-BE49-F238E27FC236}">
                <a16:creationId xmlns:a16="http://schemas.microsoft.com/office/drawing/2014/main" id="{ABE91FFD-0502-7283-8D2C-3BC89E9DF3D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DFDFC1F-F424-63EC-056B-2A88ACFD668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6772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96203-4379-27F4-91F9-2E24C72E18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2F2DC77-954D-4DBC-24C3-DBC92D23EF55}"/>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4" name="フッター プレースホルダー 3">
            <a:extLst>
              <a:ext uri="{FF2B5EF4-FFF2-40B4-BE49-F238E27FC236}">
                <a16:creationId xmlns:a16="http://schemas.microsoft.com/office/drawing/2014/main" id="{1B116F53-D7BB-E0DE-10E7-A5BE410B6BC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2A75E76-5017-E75F-E35F-E1E655B84BE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4655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44567AE-8AA9-B396-D0A4-92A6B7EF8A6D}"/>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3" name="フッター プレースホルダー 2">
            <a:extLst>
              <a:ext uri="{FF2B5EF4-FFF2-40B4-BE49-F238E27FC236}">
                <a16:creationId xmlns:a16="http://schemas.microsoft.com/office/drawing/2014/main" id="{551B5A9E-6827-939B-16DF-5D8C35F2B69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BDA110-E8E2-9048-8384-493DF13D775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03900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CF1475-E5FD-0AD0-A014-D991C3C8A6F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59F543-2C3A-4135-B906-8A9793CBD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9A27DF3-44FA-C2CE-8C5E-4B4462B69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53CC9E-70EE-86F3-5FA1-0BE9E70B270B}"/>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496264CE-CBD7-B116-6A77-E6A3AC2F12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F25C479-83B3-259C-E389-0B46E6B62B4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36085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1B564F-98A6-F45E-2260-A2DD6CA68D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FA87693-53D2-16CC-E807-039B4826F6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F4A1494-CB24-BB3B-3198-E47BD041D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B90FB1-A801-CFD6-8207-2B2AF60DAFE7}"/>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F3967985-7607-E67A-6D6A-7FD20276AC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C11F54-0354-7B9E-1B2F-C5DC197D5D0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758986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B316EE-CAF2-D090-6F3C-CD6BFE12736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9E38FFA-DD30-8DB9-5393-7FF2254E5A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3B3273-EAD6-D653-6F78-04848B761820}"/>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CE6F5D15-6E00-D586-BE68-BDB0CE9251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6815685-5FFD-6E5C-F1EE-1D4EC7366123}"/>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2826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69C635C-BB39-4BF7-AA29-254849F5AFF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EEFAC7D-DCAB-6BD2-ABD6-F326DE6C1A9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70DAE8-3205-3062-C9D0-C9E9792CC4F8}"/>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96677F6F-BB2E-0AE7-C224-257287848A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475F93-ABEB-1B3A-05B9-DA5FA5E96FF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78910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84EC34F-FD99-6D9C-8D45-5DE677DB7A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11BF9C-C89D-AF33-3C1B-F7E4FAF9E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A3B9661-04A7-3605-679A-83C45CA544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18B0F788-FFAB-76AF-D90E-FC171FA1A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4CAC18E-21E3-5B73-42FF-A209C13255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462E35-5FF5-424E-BC14-9A585390EEF3}" type="slidenum">
              <a:rPr kumimoji="1" lang="ja-JP" altLang="en-US" smtClean="0"/>
              <a:t>‹#›</a:t>
            </a:fld>
            <a:endParaRPr kumimoji="1" lang="ja-JP" altLang="en-US"/>
          </a:p>
        </p:txBody>
      </p:sp>
      <p:sp>
        <p:nvSpPr>
          <p:cNvPr id="900" name="AccentBar"/>
          <p:cNvSpPr/>
          <p:nvPr/>
        </p:nvSpPr>
        <p:spPr>
          <a:xfrm>
            <a:off x="0" y="6583680"/>
            <a:ext cx="12192000" cy="274320"/>
          </a:xfrm>
          <a:prstGeom prst="rect">
            <a:avLst/>
          </a:prstGeom>
          <a:solidFill>
            <a:srgbClr val="8B2500"/>
          </a:solidFill>
          <a:ln>
            <a:noFill/>
          </a:ln>
        </p:spPr>
        <p:txBody>
          <a:bodyPr/>
          <a:lstStyle/>
          <a:p>
            <a:endParaRPr lang="ja-JP"/>
          </a:p>
        </p:txBody>
      </p:sp>
      <p:sp>
        <p:nvSpPr>
          <p:cNvPr id="901" name="TopLine"/>
          <p:cNvSpPr/>
          <p:nvPr/>
        </p:nvSpPr>
        <p:spPr>
          <a:xfrm>
            <a:off x="0" y="0"/>
            <a:ext cx="12192000" cy="45720"/>
          </a:xfrm>
          <a:prstGeom prst="rect">
            <a:avLst/>
          </a:prstGeom>
          <a:solidFill>
            <a:srgbClr val="1A1A1A"/>
          </a:solidFill>
          <a:ln>
            <a:noFill/>
          </a:ln>
        </p:spPr>
        <p:txBody>
          <a:bodyPr/>
          <a:lstStyle/>
          <a:p>
            <a:endParaRPr lang="ja-JP"/>
          </a:p>
        </p:txBody>
      </p:sp>
    </p:spTree>
    <p:extLst>
      <p:ext uri="{BB962C8B-B14F-4D97-AF65-F5344CB8AC3E}">
        <p14:creationId xmlns:p14="http://schemas.microsoft.com/office/powerpoint/2010/main" val="5392762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39FCFB8-ABC8-4F10-9D42-A79289C4D6F1}"/>
              </a:ext>
            </a:extLst>
          </p:cNvPr>
          <p:cNvSpPr/>
          <p:nvPr/>
        </p:nvSpPr>
        <p:spPr>
          <a:xfrm>
            <a:off x="0" y="762000"/>
            <a:ext cx="12192000" cy="304800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07CAFE3C-2628-4A44-ADDC-956A95453962}"/>
              </a:ext>
            </a:extLst>
          </p:cNvPr>
          <p:cNvSpPr txBox="1"/>
          <p:nvPr/>
        </p:nvSpPr>
        <p:spPr>
          <a:xfrm>
            <a:off x="762000" y="1079500"/>
            <a:ext cx="10668000" cy="762000"/>
          </a:xfrm>
          <a:prstGeom prst="rect">
            <a:avLst/>
          </a:prstGeom>
          <a:noFill/>
        </p:spPr>
        <p:txBody>
          <a:bodyPr vertOverflow="overflow" vert="horz" wrap="square" rtlCol="0" anchor="t">
            <a:spAutoFit/>
          </a:bodyPr>
          <a:lstStyle/>
          <a:p>
            <a:pPr algn="l"/>
            <a:r>
              <a:rPr lang="ja-JP" altLang="en-US" sz="3200" b="1">
                <a:solidFill>
                  <a:srgbClr val="FFFFFF"/>
                </a:solidFill>
                <a:latin typeface="BIZ UDPゴシック"/>
                <a:ea typeface="BIZ UDPゴシック"/>
              </a:rPr>
              <a:t>データ分析プロジェクト提案書</a:t>
            </a:r>
          </a:p>
        </p:txBody>
      </p:sp>
      <p:sp>
        <p:nvSpPr>
          <p:cNvPr id="4" name="テキスト ボックス 3">
            <a:extLst>
              <a:ext uri="{FF2B5EF4-FFF2-40B4-BE49-F238E27FC236}">
                <a16:creationId xmlns:a16="http://schemas.microsoft.com/office/drawing/2014/main" id="{34EBB308-FFC4-4332-A44B-F7233F095241}"/>
              </a:ext>
            </a:extLst>
          </p:cNvPr>
          <p:cNvSpPr txBox="1"/>
          <p:nvPr/>
        </p:nvSpPr>
        <p:spPr>
          <a:xfrm>
            <a:off x="762000" y="1968500"/>
            <a:ext cx="10668000" cy="508000"/>
          </a:xfrm>
          <a:prstGeom prst="rect">
            <a:avLst/>
          </a:prstGeom>
          <a:noFill/>
        </p:spPr>
        <p:txBody>
          <a:bodyPr vertOverflow="overflow" vert="horz" wrap="square" rtlCol="0" anchor="t">
            <a:spAutoFit/>
          </a:bodyPr>
          <a:lstStyle/>
          <a:p>
            <a:pPr algn="l"/>
            <a:r>
              <a:rPr lang="ja-JP" altLang="en-US">
                <a:solidFill>
                  <a:srgbClr val="E0E0E0"/>
                </a:solidFill>
                <a:latin typeface="BIZ UDPゴシック"/>
                <a:ea typeface="BIZ UDPゴシック"/>
              </a:rPr>
              <a:t>与信分析基盤整備に向けた初期分析・モデル評価・示唆整理</a:t>
            </a:r>
          </a:p>
        </p:txBody>
      </p:sp>
      <p:sp>
        <p:nvSpPr>
          <p:cNvPr id="5" name="正方形/長方形 4">
            <a:extLst>
              <a:ext uri="{FF2B5EF4-FFF2-40B4-BE49-F238E27FC236}">
                <a16:creationId xmlns:a16="http://schemas.microsoft.com/office/drawing/2014/main" id="{E628901D-6AA6-40BF-82F0-FBFED3D6738C}"/>
              </a:ext>
            </a:extLst>
          </p:cNvPr>
          <p:cNvSpPr/>
          <p:nvPr/>
        </p:nvSpPr>
        <p:spPr>
          <a:xfrm>
            <a:off x="762000" y="2603500"/>
            <a:ext cx="2286000" cy="508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873B03A2-CF2E-4506-AE83-351151ED2269}"/>
              </a:ext>
            </a:extLst>
          </p:cNvPr>
          <p:cNvSpPr txBox="1"/>
          <p:nvPr/>
        </p:nvSpPr>
        <p:spPr>
          <a:xfrm>
            <a:off x="762000" y="2921000"/>
            <a:ext cx="7620000" cy="381000"/>
          </a:xfrm>
          <a:prstGeom prst="rect">
            <a:avLst/>
          </a:prstGeom>
          <a:noFill/>
        </p:spPr>
        <p:txBody>
          <a:bodyPr vertOverflow="overflow" vert="horz" wrap="square" rtlCol="0" anchor="t">
            <a:spAutoFit/>
          </a:bodyPr>
          <a:lstStyle/>
          <a:p>
            <a:pPr algn="l"/>
            <a:r>
              <a:rPr lang="ja-JP" altLang="en-US" sz="1400">
                <a:solidFill>
                  <a:srgbClr val="C0C0C0"/>
                </a:solidFill>
                <a:latin typeface="BIZ UDPゴシック"/>
                <a:ea typeface="BIZ UDPゴシック"/>
              </a:rPr>
              <a:t>提出先：青葉与信マネジメント株式会社  審査企画部</a:t>
            </a:r>
          </a:p>
        </p:txBody>
      </p:sp>
      <p:sp>
        <p:nvSpPr>
          <p:cNvPr id="7" name="テキスト ボックス 6">
            <a:extLst>
              <a:ext uri="{FF2B5EF4-FFF2-40B4-BE49-F238E27FC236}">
                <a16:creationId xmlns:a16="http://schemas.microsoft.com/office/drawing/2014/main" id="{6FFB3386-ADA1-4DF4-BB07-0687555A7849}"/>
              </a:ext>
            </a:extLst>
          </p:cNvPr>
          <p:cNvSpPr txBox="1"/>
          <p:nvPr/>
        </p:nvSpPr>
        <p:spPr>
          <a:xfrm>
            <a:off x="762000" y="4318000"/>
            <a:ext cx="5080000" cy="762000"/>
          </a:xfrm>
          <a:prstGeom prst="rect">
            <a:avLst/>
          </a:prstGeom>
          <a:noFill/>
        </p:spPr>
        <p:txBody>
          <a:bodyPr vertOverflow="overflow" vert="horz" wrap="square" rtlCol="0" anchor="t">
            <a:spAutoFit/>
          </a:bodyPr>
          <a:lstStyle/>
          <a:p>
            <a:pPr algn="l"/>
            <a:r>
              <a:rPr lang="ja-JP" altLang="en-US" sz="1600">
                <a:solidFill>
                  <a:srgbClr val="1A1A1A"/>
                </a:solidFill>
                <a:latin typeface="BIZ UDPゴシック"/>
                <a:ea typeface="BIZ UDPゴシック"/>
              </a:rPr>
              <a:t>株式会社データアステル
データサイエンス部</a:t>
            </a:r>
          </a:p>
        </p:txBody>
      </p:sp>
      <p:sp>
        <p:nvSpPr>
          <p:cNvPr id="8" name="テキスト ボックス 7">
            <a:extLst>
              <a:ext uri="{FF2B5EF4-FFF2-40B4-BE49-F238E27FC236}">
                <a16:creationId xmlns:a16="http://schemas.microsoft.com/office/drawing/2014/main" id="{A9FDECA5-2C7E-47D2-897E-FE7B1B31C793}"/>
              </a:ext>
            </a:extLst>
          </p:cNvPr>
          <p:cNvSpPr txBox="1"/>
          <p:nvPr/>
        </p:nvSpPr>
        <p:spPr>
          <a:xfrm>
            <a:off x="762000" y="5207000"/>
            <a:ext cx="2540000" cy="381000"/>
          </a:xfrm>
          <a:prstGeom prst="rect">
            <a:avLst/>
          </a:prstGeom>
          <a:noFill/>
        </p:spPr>
        <p:txBody>
          <a:bodyPr vertOverflow="overflow" vert="horz" wrap="square" rtlCol="0" anchor="t">
            <a:spAutoFit/>
          </a:bodyPr>
          <a:lstStyle/>
          <a:p>
            <a:pPr algn="l"/>
            <a:r>
              <a:rPr lang="en-US" altLang="ja-JP" sz="1400">
                <a:solidFill>
                  <a:srgbClr val="6B6B6B"/>
                </a:solidFill>
                <a:latin typeface="BIZ UDPゴシック"/>
                <a:ea typeface="BIZ UDPゴシック"/>
              </a:rPr>
              <a:t>2025</a:t>
            </a:r>
            <a:r>
              <a:rPr lang="ja-JP" altLang="en-US" sz="1400">
                <a:solidFill>
                  <a:srgbClr val="6B6B6B"/>
                </a:solidFill>
                <a:latin typeface="BIZ UDPゴシック"/>
                <a:ea typeface="BIZ UDPゴシック"/>
              </a:rPr>
              <a:t>年</a:t>
            </a:r>
            <a:r>
              <a:rPr lang="en-US" altLang="ja-JP" sz="1400">
                <a:solidFill>
                  <a:srgbClr val="6B6B6B"/>
                </a:solidFill>
                <a:latin typeface="BIZ UDPゴシック"/>
                <a:ea typeface="BIZ UDPゴシック"/>
              </a:rPr>
              <a:t>4</a:t>
            </a:r>
            <a:r>
              <a:rPr lang="ja-JP" altLang="en-US" sz="1400">
                <a:solidFill>
                  <a:srgbClr val="6B6B6B"/>
                </a:solidFill>
                <a:latin typeface="BIZ UDPゴシック"/>
                <a:ea typeface="BIZ UDPゴシック"/>
              </a:rPr>
              <a:t>月</a:t>
            </a:r>
          </a:p>
        </p:txBody>
      </p:sp>
      <p:sp>
        <p:nvSpPr>
          <p:cNvPr id="9" name="四角形: 角を丸くする 8">
            <a:extLst>
              <a:ext uri="{FF2B5EF4-FFF2-40B4-BE49-F238E27FC236}">
                <a16:creationId xmlns:a16="http://schemas.microsoft.com/office/drawing/2014/main" id="{96C214D0-0E3F-420D-BB0E-6CC188EF5C6C}"/>
              </a:ext>
            </a:extLst>
          </p:cNvPr>
          <p:cNvSpPr/>
          <p:nvPr/>
        </p:nvSpPr>
        <p:spPr>
          <a:xfrm>
            <a:off x="7112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1A1A1A"/>
                </a:solidFill>
                <a:latin typeface="BIZ UDPゴシック"/>
                <a:ea typeface="BIZ UDPゴシック"/>
              </a:rPr>
              <a:t>契約期間
</a:t>
            </a:r>
            <a:r>
              <a:rPr lang="en-US" altLang="zh-TW" sz="1400">
                <a:solidFill>
                  <a:srgbClr val="1A1A1A"/>
                </a:solidFill>
                <a:latin typeface="BIZ UDPゴシック"/>
                <a:ea typeface="BIZ UDPゴシック"/>
              </a:rPr>
              <a:t>7</a:t>
            </a:r>
            <a:r>
              <a:rPr lang="zh-TW" altLang="en-US" sz="1400">
                <a:solidFill>
                  <a:srgbClr val="1A1A1A"/>
                </a:solidFill>
                <a:latin typeface="BIZ UDPゴシック"/>
                <a:ea typeface="BIZ UDPゴシック"/>
              </a:rPr>
              <a:t>週間</a:t>
            </a:r>
            <a:endParaRPr lang="ja-JP" altLang="en-US" sz="1400">
              <a:solidFill>
                <a:srgbClr val="1A1A1A"/>
              </a:solidFill>
              <a:latin typeface="BIZ UDPゴシック"/>
              <a:ea typeface="BIZ UDPゴシック"/>
            </a:endParaRPr>
          </a:p>
        </p:txBody>
      </p:sp>
      <p:sp>
        <p:nvSpPr>
          <p:cNvPr id="10" name="四角形: 角を丸くする 9">
            <a:extLst>
              <a:ext uri="{FF2B5EF4-FFF2-40B4-BE49-F238E27FC236}">
                <a16:creationId xmlns:a16="http://schemas.microsoft.com/office/drawing/2014/main" id="{6CE714F5-887D-42AA-877C-B361DB9FFAA4}"/>
              </a:ext>
            </a:extLst>
          </p:cNvPr>
          <p:cNvSpPr/>
          <p:nvPr/>
        </p:nvSpPr>
        <p:spPr>
          <a:xfrm>
            <a:off x="9398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1A1A1A"/>
                </a:solidFill>
                <a:latin typeface="BIZ UDPゴシック"/>
                <a:ea typeface="BIZ UDPゴシック"/>
              </a:rPr>
              <a:t>契約金額
</a:t>
            </a:r>
            <a:r>
              <a:rPr lang="en-US" altLang="ja-JP" sz="1400">
                <a:solidFill>
                  <a:srgbClr val="1A1A1A"/>
                </a:solidFill>
                <a:latin typeface="BIZ UDPゴシック"/>
                <a:ea typeface="BIZ UDPゴシック"/>
              </a:rPr>
              <a:t>4,620,000</a:t>
            </a:r>
            <a:r>
              <a:rPr lang="ja-JP" altLang="en-US" sz="1400">
                <a:solidFill>
                  <a:srgbClr val="1A1A1A"/>
                </a:solidFill>
                <a:latin typeface="BIZ UDPゴシック"/>
                <a:ea typeface="BIZ UDPゴシック"/>
              </a:rPr>
              <a:t>円</a:t>
            </a:r>
          </a:p>
        </p:txBody>
      </p:sp>
      <p:sp>
        <p:nvSpPr>
          <p:cNvPr id="11" name="四角形: 角を丸くする 10">
            <a:extLst>
              <a:ext uri="{FF2B5EF4-FFF2-40B4-BE49-F238E27FC236}">
                <a16:creationId xmlns:a16="http://schemas.microsoft.com/office/drawing/2014/main" id="{BC0F6350-6F25-4786-9D87-C636EB89EAC2}"/>
              </a:ext>
            </a:extLst>
          </p:cNvPr>
          <p:cNvSpPr/>
          <p:nvPr/>
        </p:nvSpPr>
        <p:spPr>
          <a:xfrm>
            <a:off x="7112000" y="5334000"/>
            <a:ext cx="4381500" cy="5080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固定価格契約（事後精算なし）</a:t>
            </a:r>
          </a:p>
        </p:txBody>
      </p:sp>
    </p:spTree>
    <p:extLst>
      <p:ext uri="{BB962C8B-B14F-4D97-AF65-F5344CB8AC3E}">
        <p14:creationId xmlns:p14="http://schemas.microsoft.com/office/powerpoint/2010/main" val="183579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BA1D53-07A0-4FE7-A4B9-EE8073D443CA}"/>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01</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BDB96277-1E0D-4D37-86BE-BA3B2AB05B88}"/>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BB7BC7E5-FF1E-4852-8FEB-31FFE94E729E}"/>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ja-JP" altLang="en-US" sz="2400" b="1">
                <a:solidFill>
                  <a:srgbClr val="1A1A1A"/>
                </a:solidFill>
                <a:latin typeface="BIZ UDPゴシック"/>
                <a:ea typeface="BIZ UDPゴシック"/>
              </a:rPr>
              <a:t>エグゼクティブサマリー</a:t>
            </a:r>
          </a:p>
        </p:txBody>
      </p:sp>
      <p:sp>
        <p:nvSpPr>
          <p:cNvPr id="5" name="正方形/長方形 4">
            <a:extLst>
              <a:ext uri="{FF2B5EF4-FFF2-40B4-BE49-F238E27FC236}">
                <a16:creationId xmlns:a16="http://schemas.microsoft.com/office/drawing/2014/main" id="{BE47ADB2-6559-4512-A71B-D106D201829D}"/>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0017E43-7C74-48B9-B917-09B4E8A1AFE9}"/>
              </a:ext>
            </a:extLst>
          </p:cNvPr>
          <p:cNvSpPr txBox="1"/>
          <p:nvPr/>
        </p:nvSpPr>
        <p:spPr>
          <a:xfrm>
            <a:off x="381000" y="825500"/>
            <a:ext cx="11430000" cy="4445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青葉与信マネジメント株式会社 審査企画部における与信分析基盤整備に向けた、データ分析プロジェクトの提案概要である。</a:t>
            </a:r>
          </a:p>
        </p:txBody>
      </p:sp>
      <p:sp>
        <p:nvSpPr>
          <p:cNvPr id="7" name="四角形: 角を丸くする 6">
            <a:extLst>
              <a:ext uri="{FF2B5EF4-FFF2-40B4-BE49-F238E27FC236}">
                <a16:creationId xmlns:a16="http://schemas.microsoft.com/office/drawing/2014/main" id="{13AD22F4-FCF2-4F70-9794-DC6DB8EA8969}"/>
              </a:ext>
            </a:extLst>
          </p:cNvPr>
          <p:cNvSpPr/>
          <p:nvPr/>
        </p:nvSpPr>
        <p:spPr>
          <a:xfrm>
            <a:off x="3810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84574E99-ED06-48FC-88F3-59725AACB6DE}"/>
              </a:ext>
            </a:extLst>
          </p:cNvPr>
          <p:cNvSpPr/>
          <p:nvPr/>
        </p:nvSpPr>
        <p:spPr>
          <a:xfrm>
            <a:off x="3810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2F1091AF-04E8-44F2-A335-DB7CFF8CCA25}"/>
              </a:ext>
            </a:extLst>
          </p:cNvPr>
          <p:cNvSpPr txBox="1"/>
          <p:nvPr/>
        </p:nvSpPr>
        <p:spPr>
          <a:xfrm>
            <a:off x="5080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対象データ</a:t>
            </a:r>
          </a:p>
        </p:txBody>
      </p:sp>
      <p:sp>
        <p:nvSpPr>
          <p:cNvPr id="10" name="テキスト ボックス 9">
            <a:extLst>
              <a:ext uri="{FF2B5EF4-FFF2-40B4-BE49-F238E27FC236}">
                <a16:creationId xmlns:a16="http://schemas.microsoft.com/office/drawing/2014/main" id="{78D08B52-EBE9-42FE-BEED-80751744A58A}"/>
              </a:ext>
            </a:extLst>
          </p:cNvPr>
          <p:cNvSpPr txBox="1"/>
          <p:nvPr/>
        </p:nvSpPr>
        <p:spPr>
          <a:xfrm>
            <a:off x="5080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学習用データ </a:t>
            </a:r>
            <a:r>
              <a:rPr lang="en-US" altLang="ja-JP" sz="1400">
                <a:solidFill>
                  <a:srgbClr val="333333"/>
                </a:solidFill>
                <a:latin typeface="BIZ UDPゴシック"/>
                <a:ea typeface="BIZ UDPゴシック"/>
              </a:rPr>
              <a:t>17,500</a:t>
            </a:r>
            <a:r>
              <a:rPr lang="ja-JP" altLang="en-US" sz="1400">
                <a:solidFill>
                  <a:srgbClr val="333333"/>
                </a:solidFill>
                <a:latin typeface="BIZ UDPゴシック"/>
                <a:ea typeface="BIZ UDPゴシック"/>
              </a:rPr>
              <a:t>件
</a:t>
            </a:r>
            <a:r>
              <a:rPr lang="en-US" altLang="ja-JP" sz="1400">
                <a:solidFill>
                  <a:srgbClr val="333333"/>
                </a:solidFill>
                <a:latin typeface="BIZ UDPゴシック"/>
                <a:ea typeface="BIZ UDPゴシック"/>
              </a:rPr>
              <a:t>10</a:t>
            </a:r>
            <a:r>
              <a:rPr lang="ja-JP" altLang="en-US" sz="1400">
                <a:solidFill>
                  <a:srgbClr val="333333"/>
                </a:solidFill>
                <a:latin typeface="BIZ UDPゴシック"/>
                <a:ea typeface="BIZ UDPゴシック"/>
              </a:rPr>
              <a:t>項目（</a:t>
            </a:r>
            <a:r>
              <a:rPr lang="en-US" altLang="ja-JP" sz="1400">
                <a:solidFill>
                  <a:srgbClr val="333333"/>
                </a:solidFill>
                <a:latin typeface="BIZ UDPゴシック"/>
                <a:ea typeface="BIZ UDPゴシック"/>
              </a:rPr>
              <a:t>loan_amnt, term,
interest_rate, grade </a:t>
            </a:r>
            <a:r>
              <a:rPr lang="ja-JP" altLang="en-US" sz="1400">
                <a:solidFill>
                  <a:srgbClr val="333333"/>
                </a:solidFill>
                <a:latin typeface="BIZ UDPゴシック"/>
                <a:ea typeface="BIZ UDPゴシック"/>
              </a:rPr>
              <a:t>等）</a:t>
            </a:r>
          </a:p>
        </p:txBody>
      </p:sp>
      <p:sp>
        <p:nvSpPr>
          <p:cNvPr id="11" name="四角形: 角を丸くする 10">
            <a:extLst>
              <a:ext uri="{FF2B5EF4-FFF2-40B4-BE49-F238E27FC236}">
                <a16:creationId xmlns:a16="http://schemas.microsoft.com/office/drawing/2014/main" id="{149FD9D5-9965-4DE9-A827-E0F72C0F839C}"/>
              </a:ext>
            </a:extLst>
          </p:cNvPr>
          <p:cNvSpPr/>
          <p:nvPr/>
        </p:nvSpPr>
        <p:spPr>
          <a:xfrm>
            <a:off x="32131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63D868FB-2000-42EA-A4F2-F2821CAC1E09}"/>
              </a:ext>
            </a:extLst>
          </p:cNvPr>
          <p:cNvSpPr/>
          <p:nvPr/>
        </p:nvSpPr>
        <p:spPr>
          <a:xfrm>
            <a:off x="32131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CDC9AE59-957D-42E0-8BA9-03CFB70FCFD6}"/>
              </a:ext>
            </a:extLst>
          </p:cNvPr>
          <p:cNvSpPr txBox="1"/>
          <p:nvPr/>
        </p:nvSpPr>
        <p:spPr>
          <a:xfrm>
            <a:off x="33401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目的変数</a:t>
            </a:r>
          </a:p>
        </p:txBody>
      </p:sp>
      <p:sp>
        <p:nvSpPr>
          <p:cNvPr id="14" name="テキスト ボックス 13">
            <a:extLst>
              <a:ext uri="{FF2B5EF4-FFF2-40B4-BE49-F238E27FC236}">
                <a16:creationId xmlns:a16="http://schemas.microsoft.com/office/drawing/2014/main" id="{781D449E-E3FD-4EC6-A169-7E64ED823EAC}"/>
              </a:ext>
            </a:extLst>
          </p:cNvPr>
          <p:cNvSpPr txBox="1"/>
          <p:nvPr/>
        </p:nvSpPr>
        <p:spPr>
          <a:xfrm>
            <a:off x="3340100" y="1905000"/>
            <a:ext cx="2413000" cy="11430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loan_status
</a:t>
            </a:r>
            <a:r>
              <a:rPr lang="ja-JP" altLang="en-US" sz="1400">
                <a:solidFill>
                  <a:srgbClr val="333333"/>
                </a:solidFill>
                <a:latin typeface="BIZ UDPゴシック"/>
                <a:ea typeface="BIZ UDPゴシック"/>
              </a:rPr>
              <a:t>（返済不良リスクの
定量的把握）</a:t>
            </a:r>
          </a:p>
        </p:txBody>
      </p:sp>
      <p:sp>
        <p:nvSpPr>
          <p:cNvPr id="15" name="四角形: 角を丸くする 14">
            <a:extLst>
              <a:ext uri="{FF2B5EF4-FFF2-40B4-BE49-F238E27FC236}">
                <a16:creationId xmlns:a16="http://schemas.microsoft.com/office/drawing/2014/main" id="{5E71D3E3-35F4-426F-805F-656076392D6A}"/>
              </a:ext>
            </a:extLst>
          </p:cNvPr>
          <p:cNvSpPr/>
          <p:nvPr/>
        </p:nvSpPr>
        <p:spPr>
          <a:xfrm>
            <a:off x="60452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578BF7E7-7747-46AC-A8CB-9DCC35D4E464}"/>
              </a:ext>
            </a:extLst>
          </p:cNvPr>
          <p:cNvSpPr/>
          <p:nvPr/>
        </p:nvSpPr>
        <p:spPr>
          <a:xfrm>
            <a:off x="60452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0659613C-DAA5-4FD9-8154-9DAD145FBB3A}"/>
              </a:ext>
            </a:extLst>
          </p:cNvPr>
          <p:cNvSpPr txBox="1"/>
          <p:nvPr/>
        </p:nvSpPr>
        <p:spPr>
          <a:xfrm>
            <a:off x="61722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分析アプローチ</a:t>
            </a:r>
          </a:p>
        </p:txBody>
      </p:sp>
      <p:sp>
        <p:nvSpPr>
          <p:cNvPr id="18" name="テキスト ボックス 17">
            <a:extLst>
              <a:ext uri="{FF2B5EF4-FFF2-40B4-BE49-F238E27FC236}">
                <a16:creationId xmlns:a16="http://schemas.microsoft.com/office/drawing/2014/main" id="{F5754132-17C0-4A0E-8A3E-58D0C30A20BB}"/>
              </a:ext>
            </a:extLst>
          </p:cNvPr>
          <p:cNvSpPr txBox="1"/>
          <p:nvPr/>
        </p:nvSpPr>
        <p:spPr>
          <a:xfrm>
            <a:off x="61722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説明可能性・再現性・
監査可能性を優先した
モデル構築と評価</a:t>
            </a:r>
          </a:p>
        </p:txBody>
      </p:sp>
      <p:sp>
        <p:nvSpPr>
          <p:cNvPr id="19" name="四角形: 角を丸くする 18">
            <a:extLst>
              <a:ext uri="{FF2B5EF4-FFF2-40B4-BE49-F238E27FC236}">
                <a16:creationId xmlns:a16="http://schemas.microsoft.com/office/drawing/2014/main" id="{B05426B8-7BD3-4DC0-9D75-234DD0DD4836}"/>
              </a:ext>
            </a:extLst>
          </p:cNvPr>
          <p:cNvSpPr/>
          <p:nvPr/>
        </p:nvSpPr>
        <p:spPr>
          <a:xfrm>
            <a:off x="88773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2F8C72EE-CA27-4087-9330-9AE25C5B5D48}"/>
              </a:ext>
            </a:extLst>
          </p:cNvPr>
          <p:cNvSpPr/>
          <p:nvPr/>
        </p:nvSpPr>
        <p:spPr>
          <a:xfrm>
            <a:off x="88773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80A3B372-0661-4624-B77B-A5B00B78C5F2}"/>
              </a:ext>
            </a:extLst>
          </p:cNvPr>
          <p:cNvSpPr txBox="1"/>
          <p:nvPr/>
        </p:nvSpPr>
        <p:spPr>
          <a:xfrm>
            <a:off x="90043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主要成果物</a:t>
            </a:r>
          </a:p>
        </p:txBody>
      </p:sp>
      <p:sp>
        <p:nvSpPr>
          <p:cNvPr id="22" name="テキスト ボックス 21">
            <a:extLst>
              <a:ext uri="{FF2B5EF4-FFF2-40B4-BE49-F238E27FC236}">
                <a16:creationId xmlns:a16="http://schemas.microsoft.com/office/drawing/2014/main" id="{09B88645-AF06-427E-ACEF-C5A2479649F0}"/>
              </a:ext>
            </a:extLst>
          </p:cNvPr>
          <p:cNvSpPr txBox="1"/>
          <p:nvPr/>
        </p:nvSpPr>
        <p:spPr>
          <a:xfrm>
            <a:off x="90043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提案書・中間報告書・
最終報告書・議事録・
監査証跡一式</a:t>
            </a:r>
          </a:p>
        </p:txBody>
      </p:sp>
      <p:sp>
        <p:nvSpPr>
          <p:cNvPr id="23" name="テキスト ボックス 22">
            <a:extLst>
              <a:ext uri="{FF2B5EF4-FFF2-40B4-BE49-F238E27FC236}">
                <a16:creationId xmlns:a16="http://schemas.microsoft.com/office/drawing/2014/main" id="{28EA36FF-85E7-412D-9646-D31AE9F4F29B}"/>
              </a:ext>
            </a:extLst>
          </p:cNvPr>
          <p:cNvSpPr txBox="1"/>
          <p:nvPr/>
        </p:nvSpPr>
        <p:spPr>
          <a:xfrm>
            <a:off x="381000" y="3365500"/>
            <a:ext cx="2540000" cy="317500"/>
          </a:xfrm>
          <a:prstGeom prst="rect">
            <a:avLst/>
          </a:prstGeom>
          <a:noFill/>
        </p:spPr>
        <p:txBody>
          <a:bodyPr vertOverflow="overflow" vert="horz" wrap="square" rtlCol="0" anchor="t">
            <a:spAutoFit/>
          </a:bodyPr>
          <a:lstStyle/>
          <a:p>
            <a:pPr algn="l"/>
            <a:r>
              <a:rPr lang="ja-JP" altLang="en-US" sz="1400" b="1">
                <a:solidFill>
                  <a:srgbClr val="1A1A1A"/>
                </a:solidFill>
                <a:latin typeface="BIZ UDPゴシック"/>
                <a:ea typeface="BIZ UDPゴシック"/>
              </a:rPr>
              <a:t>重要ポイント</a:t>
            </a:r>
          </a:p>
        </p:txBody>
      </p:sp>
      <p:sp>
        <p:nvSpPr>
          <p:cNvPr id="24" name="正方形/長方形 23">
            <a:extLst>
              <a:ext uri="{FF2B5EF4-FFF2-40B4-BE49-F238E27FC236}">
                <a16:creationId xmlns:a16="http://schemas.microsoft.com/office/drawing/2014/main" id="{963B40F3-BCB6-453F-844C-1C1ACD45AC08}"/>
              </a:ext>
            </a:extLst>
          </p:cNvPr>
          <p:cNvSpPr/>
          <p:nvPr/>
        </p:nvSpPr>
        <p:spPr>
          <a:xfrm>
            <a:off x="381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3A84E0AF-276A-4A95-91B0-A2BEF0CF821E}"/>
              </a:ext>
            </a:extLst>
          </p:cNvPr>
          <p:cNvSpPr txBox="1"/>
          <p:nvPr/>
        </p:nvSpPr>
        <p:spPr>
          <a:xfrm>
            <a:off x="571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返済不良リスクの早期把握</a:t>
            </a:r>
          </a:p>
        </p:txBody>
      </p:sp>
      <p:sp>
        <p:nvSpPr>
          <p:cNvPr id="26" name="正方形/長方形 25">
            <a:extLst>
              <a:ext uri="{FF2B5EF4-FFF2-40B4-BE49-F238E27FC236}">
                <a16:creationId xmlns:a16="http://schemas.microsoft.com/office/drawing/2014/main" id="{9F7402DB-0CFC-46A6-A163-28B7DA8C3D9E}"/>
              </a:ext>
            </a:extLst>
          </p:cNvPr>
          <p:cNvSpPr/>
          <p:nvPr/>
        </p:nvSpPr>
        <p:spPr>
          <a:xfrm>
            <a:off x="381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B278DD90-CDA1-4064-9DCB-C93B24C79079}"/>
              </a:ext>
            </a:extLst>
          </p:cNvPr>
          <p:cNvSpPr txBox="1"/>
          <p:nvPr/>
        </p:nvSpPr>
        <p:spPr>
          <a:xfrm>
            <a:off x="571500" y="41529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審査基準の説明可能性確保</a:t>
            </a:r>
          </a:p>
        </p:txBody>
      </p:sp>
      <p:sp>
        <p:nvSpPr>
          <p:cNvPr id="28" name="正方形/長方形 27">
            <a:extLst>
              <a:ext uri="{FF2B5EF4-FFF2-40B4-BE49-F238E27FC236}">
                <a16:creationId xmlns:a16="http://schemas.microsoft.com/office/drawing/2014/main" id="{C0BA3318-B116-4D89-B8E6-9E8D91B7FADC}"/>
              </a:ext>
            </a:extLst>
          </p:cNvPr>
          <p:cNvSpPr/>
          <p:nvPr/>
        </p:nvSpPr>
        <p:spPr>
          <a:xfrm>
            <a:off x="381000" y="46355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299E56E9-9D02-41D5-8817-994A27DFF951}"/>
              </a:ext>
            </a:extLst>
          </p:cNvPr>
          <p:cNvSpPr txBox="1"/>
          <p:nvPr/>
        </p:nvSpPr>
        <p:spPr>
          <a:xfrm>
            <a:off x="571500" y="45593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ポートフォリオ単位での健全性比較</a:t>
            </a:r>
          </a:p>
        </p:txBody>
      </p:sp>
      <p:sp>
        <p:nvSpPr>
          <p:cNvPr id="30" name="正方形/長方形 29">
            <a:extLst>
              <a:ext uri="{FF2B5EF4-FFF2-40B4-BE49-F238E27FC236}">
                <a16:creationId xmlns:a16="http://schemas.microsoft.com/office/drawing/2014/main" id="{1297B2BC-AA72-4352-85E6-F0943CA0879A}"/>
              </a:ext>
            </a:extLst>
          </p:cNvPr>
          <p:cNvSpPr/>
          <p:nvPr/>
        </p:nvSpPr>
        <p:spPr>
          <a:xfrm>
            <a:off x="6223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1" name="テキスト ボックス 30">
            <a:extLst>
              <a:ext uri="{FF2B5EF4-FFF2-40B4-BE49-F238E27FC236}">
                <a16:creationId xmlns:a16="http://schemas.microsoft.com/office/drawing/2014/main" id="{3C25595F-509B-4B88-A38D-4111A463D464}"/>
              </a:ext>
            </a:extLst>
          </p:cNvPr>
          <p:cNvSpPr txBox="1"/>
          <p:nvPr/>
        </p:nvSpPr>
        <p:spPr>
          <a:xfrm>
            <a:off x="6413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監査証跡・アクセス制御・説明可能性を前提とした運営</a:t>
            </a:r>
          </a:p>
        </p:txBody>
      </p:sp>
      <p:sp>
        <p:nvSpPr>
          <p:cNvPr id="32" name="正方形/長方形 31">
            <a:extLst>
              <a:ext uri="{FF2B5EF4-FFF2-40B4-BE49-F238E27FC236}">
                <a16:creationId xmlns:a16="http://schemas.microsoft.com/office/drawing/2014/main" id="{3F425FE0-CC1B-4B4F-84C5-4841A1B3662B}"/>
              </a:ext>
            </a:extLst>
          </p:cNvPr>
          <p:cNvSpPr/>
          <p:nvPr/>
        </p:nvSpPr>
        <p:spPr>
          <a:xfrm>
            <a:off x="6223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7C0077C-B317-4756-98C5-C9CFEB79B51D}"/>
              </a:ext>
            </a:extLst>
          </p:cNvPr>
          <p:cNvSpPr txBox="1"/>
          <p:nvPr/>
        </p:nvSpPr>
        <p:spPr>
          <a:xfrm>
            <a:off x="6413500" y="4152900"/>
            <a:ext cx="5461000" cy="3556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7</a:t>
            </a:r>
            <a:r>
              <a:rPr lang="ja-JP" altLang="en-US" sz="1400">
                <a:solidFill>
                  <a:srgbClr val="333333"/>
                </a:solidFill>
                <a:latin typeface="BIZ UDPゴシック"/>
                <a:ea typeface="BIZ UDPゴシック"/>
              </a:rPr>
              <a:t>週間で初期成果を創出する短納期対応</a:t>
            </a:r>
          </a:p>
        </p:txBody>
      </p:sp>
      <p:sp>
        <p:nvSpPr>
          <p:cNvPr id="34" name="四角形: 角を丸くする 33">
            <a:extLst>
              <a:ext uri="{FF2B5EF4-FFF2-40B4-BE49-F238E27FC236}">
                <a16:creationId xmlns:a16="http://schemas.microsoft.com/office/drawing/2014/main" id="{8DAA3BC3-31BA-47F0-9ECF-077CB2A6C12D}"/>
              </a:ext>
            </a:extLst>
          </p:cNvPr>
          <p:cNvSpPr/>
          <p:nvPr/>
        </p:nvSpPr>
        <p:spPr>
          <a:xfrm>
            <a:off x="381000" y="5207000"/>
            <a:ext cx="11430000" cy="698500"/>
          </a:xfrm>
          <a:prstGeom prst="round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500">
                <a:solidFill>
                  <a:srgbClr val="FFFFFF"/>
                </a:solidFill>
                <a:latin typeface="BIZ UDPゴシック"/>
                <a:ea typeface="BIZ UDPゴシック"/>
              </a:rPr>
              <a:t>契約形態：固定価格 ｜ 契約金額：</a:t>
            </a:r>
            <a:r>
              <a:rPr lang="en-US" altLang="zh-TW" sz="1500">
                <a:solidFill>
                  <a:srgbClr val="FFFFFF"/>
                </a:solidFill>
                <a:latin typeface="BIZ UDPゴシック"/>
                <a:ea typeface="BIZ UDPゴシック"/>
              </a:rPr>
              <a:t>4,620,000</a:t>
            </a:r>
            <a:r>
              <a:rPr lang="zh-TW" altLang="en-US" sz="1500">
                <a:solidFill>
                  <a:srgbClr val="FFFFFF"/>
                </a:solidFill>
                <a:latin typeface="BIZ UDPゴシック"/>
                <a:ea typeface="BIZ UDPゴシック"/>
              </a:rPr>
              <a:t>円（税込） ｜ 期間：</a:t>
            </a:r>
            <a:r>
              <a:rPr lang="en-US" altLang="zh-TW" sz="1500">
                <a:solidFill>
                  <a:srgbClr val="FFFFFF"/>
                </a:solidFill>
                <a:latin typeface="BIZ UDPゴシック"/>
                <a:ea typeface="BIZ UDPゴシック"/>
              </a:rPr>
              <a:t>7</a:t>
            </a:r>
            <a:r>
              <a:rPr lang="zh-TW" altLang="en-US" sz="1500">
                <a:solidFill>
                  <a:srgbClr val="FFFFFF"/>
                </a:solidFill>
                <a:latin typeface="BIZ UDPゴシック"/>
                <a:ea typeface="BIZ UDPゴシック"/>
              </a:rPr>
              <a:t>週間 ｜ 開始日：</a:t>
            </a:r>
            <a:r>
              <a:rPr lang="en-US" altLang="zh-TW" sz="1500">
                <a:solidFill>
                  <a:srgbClr val="FFFFFF"/>
                </a:solidFill>
                <a:latin typeface="BIZ UDPゴシック"/>
                <a:ea typeface="BIZ UDPゴシック"/>
              </a:rPr>
              <a:t>2025-04-09</a:t>
            </a:r>
            <a:endParaRPr lang="ja-JP" altLang="en-US" sz="1500">
              <a:solidFill>
                <a:srgbClr val="FFFFFF"/>
              </a:solidFill>
              <a:latin typeface="BIZ UDPゴシック"/>
              <a:ea typeface="BIZ UDPゴシック"/>
            </a:endParaRPr>
          </a:p>
        </p:txBody>
      </p:sp>
    </p:spTree>
    <p:extLst>
      <p:ext uri="{BB962C8B-B14F-4D97-AF65-F5344CB8AC3E}">
        <p14:creationId xmlns:p14="http://schemas.microsoft.com/office/powerpoint/2010/main" val="176771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C7FDA81-C7B0-4851-ABAB-7086AABC11F6}"/>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02</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FD1BCE0F-8413-44EE-964D-F56A38D7A0F3}"/>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ED1564D4-8309-4665-B655-B0457BEF3AF7}"/>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1. </a:t>
            </a:r>
            <a:r>
              <a:rPr lang="ja-JP" altLang="en-US" sz="2400" b="1">
                <a:solidFill>
                  <a:srgbClr val="1A1A1A"/>
                </a:solidFill>
                <a:latin typeface="BIZ UDPゴシック"/>
                <a:ea typeface="BIZ UDPゴシック"/>
              </a:rPr>
              <a:t>背景</a:t>
            </a:r>
          </a:p>
        </p:txBody>
      </p:sp>
      <p:sp>
        <p:nvSpPr>
          <p:cNvPr id="5" name="正方形/長方形 4">
            <a:extLst>
              <a:ext uri="{FF2B5EF4-FFF2-40B4-BE49-F238E27FC236}">
                <a16:creationId xmlns:a16="http://schemas.microsoft.com/office/drawing/2014/main" id="{EB7B06F8-FE41-4027-BF1F-50BA06DB2121}"/>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0" name="ContextBox"/>
          <p:cNvSpPr/>
          <p:nvPr/>
        </p:nvSpPr>
        <p:spPr>
          <a:xfrm>
            <a:off x="381000" y="825500"/>
            <a:ext cx="11430000" cy="635000"/>
          </a:xfrm>
          <a:prstGeom prst="rect">
            <a:avLst/>
          </a:prstGeom>
          <a:noFill/>
          <a:ln>
            <a:noFill/>
          </a:ln>
        </p:spPr>
        <p:txBody>
          <a:bodyPr wrap="square" lIns="91440" tIns="45720" rIns="91440" bIns="45720" anchor="ctr"/>
          <a:lstStyle/>
          <a:p>
            <a:pPr algn="l"/>
            <a:r>
              <a:rPr lang="ja-JP" sz="1400" dirty="0">
                <a:solidFill>
                  <a:srgbClr val="4A4A4A"/>
                </a:solidFill>
                <a:latin typeface="BIZ UDPゴシック"/>
                <a:ea typeface="BIZ UDPゴシック"/>
              </a:rPr>
              <a:t>審査企画部において、返済不良リスクの定量的把握と審査判断の説明可能性・監査可能性を両立する分析基盤の整備が求められている。</a:t>
            </a:r>
          </a:p>
        </p:txBody>
      </p:sp>
      <p:sp>
        <p:nvSpPr>
          <p:cNvPr id="101" name="DataCard"/>
          <p:cNvSpPr/>
          <p:nvPr/>
        </p:nvSpPr>
        <p:spPr>
          <a:xfrm>
            <a:off x="381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対象データ概要</a:t>
            </a:r>
          </a:p>
          <a:p>
            <a:pPr algn="ctr"/>
            <a:endParaRPr lang="ja-JP" sz="1500" b="1" dirty="0">
              <a:solidFill>
                <a:srgbClr val="8B2500"/>
              </a:solidFill>
              <a:latin typeface="BIZ UDPゴシック"/>
              <a:ea typeface="BIZ UDPゴシック"/>
            </a:endParaRPr>
          </a:p>
          <a:p>
            <a:pPr algn="ctr"/>
            <a:r>
              <a:rPr lang="ja-JP" sz="1400" b="1" dirty="0">
                <a:solidFill>
                  <a:srgbClr val="333333"/>
                </a:solidFill>
                <a:latin typeface="BIZ UDPゴシック"/>
                <a:ea typeface="BIZ UDPゴシック"/>
              </a:rPr>
              <a:t>train.csv</a:t>
            </a:r>
          </a:p>
          <a:p>
            <a:pPr algn="ctr"/>
            <a:r>
              <a:rPr lang="ja-JP" sz="1300" dirty="0">
                <a:solidFill>
                  <a:srgbClr val="333333"/>
                </a:solidFill>
                <a:latin typeface="BIZ UDPゴシック"/>
                <a:ea typeface="BIZ UDPゴシック"/>
              </a:rPr>
              <a:t>学習用データ: 17,500件</a:t>
            </a:r>
          </a:p>
          <a:p>
            <a:pPr algn="ctr"/>
            <a:r>
              <a:rPr lang="ja-JP" sz="1300" dirty="0">
                <a:solidFill>
                  <a:srgbClr val="333333"/>
                </a:solidFill>
                <a:latin typeface="BIZ UDPゴシック"/>
                <a:ea typeface="BIZ UDPゴシック"/>
              </a:rPr>
              <a:t>変数: 10項目</a:t>
            </a:r>
          </a:p>
          <a:p>
            <a:pPr algn="ctr"/>
            <a:r>
              <a:rPr lang="ja-JP" sz="1300" b="1" dirty="0">
                <a:solidFill>
                  <a:srgbClr val="8B2500"/>
                </a:solidFill>
                <a:latin typeface="BIZ UDPゴシック"/>
                <a:ea typeface="BIZ UDPゴシック"/>
              </a:rPr>
              <a:t>目的変数: loan_status</a:t>
            </a:r>
          </a:p>
        </p:txBody>
      </p:sp>
      <p:sp>
        <p:nvSpPr>
          <p:cNvPr id="102" name="Arrow1"/>
          <p:cNvSpPr/>
          <p:nvPr/>
        </p:nvSpPr>
        <p:spPr>
          <a:xfrm>
            <a:off x="4064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3" name="AnalysisCard"/>
          <p:cNvSpPr/>
          <p:nvPr/>
        </p:nvSpPr>
        <p:spPr>
          <a:xfrm>
            <a:off x="4699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分析内容</a:t>
            </a:r>
          </a:p>
          <a:p>
            <a:pPr algn="ctr"/>
            <a:endParaRPr lang="ja-JP" sz="1500" b="1" dirty="0">
              <a:solidFill>
                <a:srgbClr val="8B2500"/>
              </a:solidFill>
              <a:latin typeface="BIZ UDPゴシック"/>
              <a:ea typeface="BIZ UDPゴシック"/>
            </a:endParaRPr>
          </a:p>
          <a:p>
            <a:pPr algn="ctr"/>
            <a:r>
              <a:rPr lang="ja-JP" sz="1300" dirty="0">
                <a:solidFill>
                  <a:srgbClr val="333333"/>
                </a:solidFill>
                <a:latin typeface="BIZ UDPゴシック"/>
                <a:ea typeface="BIZ UDPゴシック"/>
              </a:rPr>
              <a:t>与信リスクの定量分析</a:t>
            </a:r>
          </a:p>
          <a:p>
            <a:pPr algn="ctr"/>
            <a:r>
              <a:rPr lang="ja-JP" sz="1300" dirty="0">
                <a:solidFill>
                  <a:srgbClr val="333333"/>
                </a:solidFill>
                <a:latin typeface="BIZ UDPゴシック"/>
                <a:ea typeface="BIZ UDPゴシック"/>
              </a:rPr>
              <a:t>セグメント別リスク差異の可視化</a:t>
            </a:r>
          </a:p>
          <a:p>
            <a:pPr algn="ctr"/>
            <a:r>
              <a:rPr lang="ja-JP" sz="1300" dirty="0">
                <a:solidFill>
                  <a:srgbClr val="333333"/>
                </a:solidFill>
                <a:latin typeface="BIZ UDPゴシック"/>
                <a:ea typeface="BIZ UDPゴシック"/>
              </a:rPr>
              <a:t>説明可能なモデル構築・評価</a:t>
            </a:r>
          </a:p>
          <a:p>
            <a:pPr algn="ctr"/>
            <a:r>
              <a:rPr lang="ja-JP" sz="1300" dirty="0">
                <a:solidFill>
                  <a:srgbClr val="333333"/>
                </a:solidFill>
                <a:latin typeface="BIZ UDPゴシック"/>
                <a:ea typeface="BIZ UDPゴシック"/>
              </a:rPr>
              <a:t>業務活用可能な示唆の整理</a:t>
            </a:r>
          </a:p>
        </p:txBody>
      </p:sp>
      <p:sp>
        <p:nvSpPr>
          <p:cNvPr id="104" name="Arrow2"/>
          <p:cNvSpPr/>
          <p:nvPr/>
        </p:nvSpPr>
        <p:spPr>
          <a:xfrm>
            <a:off x="8382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5" name="OutputCard"/>
          <p:cNvSpPr/>
          <p:nvPr/>
        </p:nvSpPr>
        <p:spPr>
          <a:xfrm>
            <a:off x="9017000" y="1524000"/>
            <a:ext cx="2794000" cy="1778000"/>
          </a:xfrm>
          <a:prstGeom prst="roundRect">
            <a:avLst/>
          </a:prstGeom>
          <a:solidFill>
            <a:srgbClr val="1A1A1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期待成果</a:t>
            </a:r>
          </a:p>
          <a:p>
            <a:pPr algn="ctr"/>
            <a:endParaRPr lang="ja-JP" sz="1500" b="1" dirty="0">
              <a:solidFill>
                <a:srgbClr val="FFFFFF"/>
              </a:solidFill>
              <a:latin typeface="BIZ UDPゴシック"/>
              <a:ea typeface="BIZ UDPゴシック"/>
            </a:endParaRPr>
          </a:p>
          <a:p>
            <a:pPr algn="ctr"/>
            <a:r>
              <a:rPr lang="ja-JP" sz="1300" dirty="0">
                <a:solidFill>
                  <a:srgbClr val="FFFFFF"/>
                </a:solidFill>
                <a:latin typeface="BIZ UDPゴシック"/>
                <a:ea typeface="BIZ UDPゴシック"/>
              </a:rPr>
              <a:t>リスク要因の整理</a:t>
            </a:r>
          </a:p>
          <a:p>
            <a:pPr algn="ctr"/>
            <a:r>
              <a:rPr lang="ja-JP" sz="1300" dirty="0">
                <a:solidFill>
                  <a:srgbClr val="FFFFFF"/>
                </a:solidFill>
                <a:latin typeface="BIZ UDPゴシック"/>
                <a:ea typeface="BIZ UDPゴシック"/>
              </a:rPr>
              <a:t>リスクセグメンテーション</a:t>
            </a:r>
          </a:p>
          <a:p>
            <a:pPr algn="ctr"/>
            <a:r>
              <a:rPr lang="ja-JP" sz="1300" dirty="0">
                <a:solidFill>
                  <a:srgbClr val="FFFFFF"/>
                </a:solidFill>
                <a:latin typeface="BIZ UDPゴシック"/>
                <a:ea typeface="BIZ UDPゴシック"/>
              </a:rPr>
              <a:t>ポートフォリオ評価基盤</a:t>
            </a:r>
          </a:p>
          <a:p>
            <a:pPr algn="ctr"/>
            <a:r>
              <a:rPr lang="ja-JP" sz="1300" dirty="0">
                <a:solidFill>
                  <a:srgbClr val="FFFFFF"/>
                </a:solidFill>
                <a:latin typeface="BIZ UDPゴシック"/>
                <a:ea typeface="BIZ UDPゴシック"/>
              </a:rPr>
              <a:t>監査可能な文書体系</a:t>
            </a:r>
          </a:p>
        </p:txBody>
      </p:sp>
      <p:sp>
        <p:nvSpPr>
          <p:cNvPr id="106" name="VarTitle"/>
          <p:cNvSpPr/>
          <p:nvPr/>
        </p:nvSpPr>
        <p:spPr>
          <a:xfrm>
            <a:off x="381000" y="3492500"/>
            <a:ext cx="11430000" cy="317500"/>
          </a:xfrm>
          <a:prstGeom prst="rect">
            <a:avLst/>
          </a:prstGeom>
          <a:noFill/>
          <a:ln>
            <a:noFill/>
          </a:ln>
        </p:spPr>
        <p:txBody>
          <a:bodyPr wrap="square" lIns="91440" tIns="45720" rIns="91440" bIns="45720" anchor="ctr"/>
          <a:lstStyle/>
          <a:p>
            <a:pPr algn="l"/>
            <a:r>
              <a:rPr lang="ja-JP" sz="1500" b="1" dirty="0">
                <a:solidFill>
                  <a:srgbClr val="1A1A1A"/>
                </a:solidFill>
                <a:latin typeface="BIZ UDPゴシック"/>
                <a:ea typeface="BIZ UDPゴシック"/>
              </a:rPr>
              <a:t>主要データ項目</a:t>
            </a:r>
          </a:p>
        </p:txBody>
      </p:sp>
      <p:sp>
        <p:nvSpPr>
          <p:cNvPr id="110" name="Var0"/>
          <p:cNvSpPr/>
          <p:nvPr/>
        </p:nvSpPr>
        <p:spPr>
          <a:xfrm>
            <a:off x="381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loan_amnt</a:t>
            </a:r>
          </a:p>
        </p:txBody>
      </p:sp>
      <p:sp>
        <p:nvSpPr>
          <p:cNvPr id="111" name="Var1"/>
          <p:cNvSpPr/>
          <p:nvPr/>
        </p:nvSpPr>
        <p:spPr>
          <a:xfrm>
            <a:off x="3111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term</a:t>
            </a:r>
          </a:p>
        </p:txBody>
      </p:sp>
      <p:sp>
        <p:nvSpPr>
          <p:cNvPr id="112" name="Var2"/>
          <p:cNvSpPr/>
          <p:nvPr/>
        </p:nvSpPr>
        <p:spPr>
          <a:xfrm>
            <a:off x="5842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interest_rate</a:t>
            </a:r>
          </a:p>
        </p:txBody>
      </p:sp>
      <p:sp>
        <p:nvSpPr>
          <p:cNvPr id="113" name="Var3"/>
          <p:cNvSpPr/>
          <p:nvPr/>
        </p:nvSpPr>
        <p:spPr>
          <a:xfrm>
            <a:off x="8572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grade</a:t>
            </a:r>
          </a:p>
        </p:txBody>
      </p:sp>
      <p:sp>
        <p:nvSpPr>
          <p:cNvPr id="114" name="Var4"/>
          <p:cNvSpPr/>
          <p:nvPr/>
        </p:nvSpPr>
        <p:spPr>
          <a:xfrm>
            <a:off x="381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employment_length</a:t>
            </a:r>
          </a:p>
        </p:txBody>
      </p:sp>
      <p:sp>
        <p:nvSpPr>
          <p:cNvPr id="115" name="Var5"/>
          <p:cNvSpPr/>
          <p:nvPr/>
        </p:nvSpPr>
        <p:spPr>
          <a:xfrm>
            <a:off x="3111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purpose</a:t>
            </a:r>
          </a:p>
        </p:txBody>
      </p:sp>
      <p:sp>
        <p:nvSpPr>
          <p:cNvPr id="116" name="Var6"/>
          <p:cNvSpPr/>
          <p:nvPr/>
        </p:nvSpPr>
        <p:spPr>
          <a:xfrm>
            <a:off x="5842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credit_score</a:t>
            </a:r>
          </a:p>
        </p:txBody>
      </p:sp>
      <p:sp>
        <p:nvSpPr>
          <p:cNvPr id="117" name="Var7"/>
          <p:cNvSpPr/>
          <p:nvPr/>
        </p:nvSpPr>
        <p:spPr>
          <a:xfrm>
            <a:off x="8572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application_type</a:t>
            </a:r>
          </a:p>
        </p:txBody>
      </p:sp>
      <p:sp>
        <p:nvSpPr>
          <p:cNvPr id="120" name="ReqTitle"/>
          <p:cNvSpPr/>
          <p:nvPr/>
        </p:nvSpPr>
        <p:spPr>
          <a:xfrm>
            <a:off x="381000" y="4889500"/>
            <a:ext cx="11430000" cy="317500"/>
          </a:xfrm>
          <a:prstGeom prst="rect">
            <a:avLst/>
          </a:prstGeom>
          <a:noFill/>
          <a:ln>
            <a:noFill/>
          </a:ln>
        </p:spPr>
        <p:txBody>
          <a:bodyPr wrap="square" lIns="91440" tIns="45720" rIns="91440" bIns="45720" anchor="ctr"/>
          <a:lstStyle/>
          <a:p>
            <a:pPr algn="l"/>
            <a:r>
              <a:rPr lang="ja-JP" sz="1500" b="1" dirty="0">
                <a:solidFill>
                  <a:srgbClr val="1A1A1A"/>
                </a:solidFill>
                <a:latin typeface="BIZ UDPゴシック"/>
                <a:ea typeface="BIZ UDPゴシック"/>
              </a:rPr>
              <a:t>金融分析案件としての重要観点</a:t>
            </a:r>
          </a:p>
        </p:txBody>
      </p:sp>
      <p:sp>
        <p:nvSpPr>
          <p:cNvPr id="130" name="Num0"/>
          <p:cNvSpPr/>
          <p:nvPr/>
        </p:nvSpPr>
        <p:spPr>
          <a:xfrm>
            <a:off x="3810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1</a:t>
            </a:r>
          </a:p>
        </p:txBody>
      </p:sp>
      <p:sp>
        <p:nvSpPr>
          <p:cNvPr id="140" name="Req0"/>
          <p:cNvSpPr/>
          <p:nvPr/>
        </p:nvSpPr>
        <p:spPr>
          <a:xfrm>
            <a:off x="7366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返済不良リスクの早期把握</a:t>
            </a:r>
          </a:p>
        </p:txBody>
      </p:sp>
      <p:sp>
        <p:nvSpPr>
          <p:cNvPr id="131" name="Num1"/>
          <p:cNvSpPr/>
          <p:nvPr/>
        </p:nvSpPr>
        <p:spPr>
          <a:xfrm>
            <a:off x="27051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2</a:t>
            </a:r>
          </a:p>
        </p:txBody>
      </p:sp>
      <p:sp>
        <p:nvSpPr>
          <p:cNvPr id="141" name="Req1"/>
          <p:cNvSpPr/>
          <p:nvPr/>
        </p:nvSpPr>
        <p:spPr>
          <a:xfrm>
            <a:off x="30607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審査基準の説明可能性確保</a:t>
            </a:r>
          </a:p>
        </p:txBody>
      </p:sp>
      <p:sp>
        <p:nvSpPr>
          <p:cNvPr id="132" name="Num2"/>
          <p:cNvSpPr/>
          <p:nvPr/>
        </p:nvSpPr>
        <p:spPr>
          <a:xfrm>
            <a:off x="50292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3</a:t>
            </a:r>
          </a:p>
        </p:txBody>
      </p:sp>
      <p:sp>
        <p:nvSpPr>
          <p:cNvPr id="142" name="Req2"/>
          <p:cNvSpPr/>
          <p:nvPr/>
        </p:nvSpPr>
        <p:spPr>
          <a:xfrm>
            <a:off x="53848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ポートフォリオ健全性比較</a:t>
            </a:r>
          </a:p>
        </p:txBody>
      </p:sp>
      <p:sp>
        <p:nvSpPr>
          <p:cNvPr id="133" name="Num3"/>
          <p:cNvSpPr/>
          <p:nvPr/>
        </p:nvSpPr>
        <p:spPr>
          <a:xfrm>
            <a:off x="73533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4</a:t>
            </a:r>
          </a:p>
        </p:txBody>
      </p:sp>
      <p:sp>
        <p:nvSpPr>
          <p:cNvPr id="143" name="Req3"/>
          <p:cNvSpPr/>
          <p:nvPr/>
        </p:nvSpPr>
        <p:spPr>
          <a:xfrm>
            <a:off x="77089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監査証跡・アクセス制御の確保</a:t>
            </a:r>
          </a:p>
        </p:txBody>
      </p:sp>
      <p:sp>
        <p:nvSpPr>
          <p:cNvPr id="134" name="Num4"/>
          <p:cNvSpPr/>
          <p:nvPr/>
        </p:nvSpPr>
        <p:spPr>
          <a:xfrm>
            <a:off x="96774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5</a:t>
            </a:r>
          </a:p>
        </p:txBody>
      </p:sp>
      <p:sp>
        <p:nvSpPr>
          <p:cNvPr id="144" name="Req4"/>
          <p:cNvSpPr/>
          <p:nvPr/>
        </p:nvSpPr>
        <p:spPr>
          <a:xfrm>
            <a:off x="100330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7週間での短納期対応</a:t>
            </a:r>
          </a:p>
        </p:txBody>
      </p:sp>
    </p:spTree>
    <p:extLst>
      <p:ext uri="{BB962C8B-B14F-4D97-AF65-F5344CB8AC3E}">
        <p14:creationId xmlns:p14="http://schemas.microsoft.com/office/powerpoint/2010/main" val="354979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um"/>
          <p:cNvSpPr/>
          <p:nvPr/>
        </p:nvSpPr>
        <p:spPr>
          <a:xfrm>
            <a:off x="11176000" y="152400"/>
            <a:ext cx="762000" cy="381000"/>
          </a:xfrm>
          <a:prstGeom prst="rect">
            <a:avLst/>
          </a:prstGeom>
          <a:noFill/>
          <a:ln>
            <a:noFill/>
          </a:ln>
        </p:spPr>
        <p:txBody>
          <a:bodyPr wrap="square" lIns="91440" tIns="45720" rIns="91440" bIns="45720" anchor="ctr"/>
          <a:lstStyle/>
          <a:p>
            <a:pPr algn="r"/>
            <a:r>
              <a:rPr lang="ja-JP" sz="1400" dirty="0">
                <a:solidFill>
                  <a:srgbClr val="999999"/>
                </a:solidFill>
                <a:latin typeface="BIZ UDPゴシック"/>
                <a:ea typeface="BIZ UDPゴシック"/>
              </a:rPr>
              <a:t>03</a:t>
            </a:r>
          </a:p>
        </p:txBody>
      </p:sp>
      <p:sp>
        <p:nvSpPr>
          <p:cNvPr id="11" name="TBar"/>
          <p:cNvSpPr/>
          <p:nvPr/>
        </p:nvSpPr>
        <p:spPr>
          <a:xfrm>
            <a:off x="0" y="127000"/>
            <a:ext cx="101600" cy="508000"/>
          </a:xfrm>
          <a:prstGeom prst="rect">
            <a:avLst/>
          </a:prstGeom>
          <a:solidFill>
            <a:srgbClr val="8B2500"/>
          </a:solidFill>
          <a:ln>
            <a:noFill/>
          </a:ln>
        </p:spPr>
        <p:txBody>
          <a:bodyPr wrap="square" lIns="91440" tIns="45720" rIns="91440" bIns="45720" anchor="ctr"/>
          <a:lstStyle/>
          <a:p>
            <a:endParaRPr lang="ja-JP"/>
          </a:p>
        </p:txBody>
      </p:sp>
      <p:sp>
        <p:nvSpPr>
          <p:cNvPr id="12" name="Title"/>
          <p:cNvSpPr/>
          <p:nvPr/>
        </p:nvSpPr>
        <p:spPr>
          <a:xfrm>
            <a:off x="254000" y="127000"/>
            <a:ext cx="7620000" cy="508000"/>
          </a:xfrm>
          <a:prstGeom prst="rect">
            <a:avLst/>
          </a:prstGeom>
          <a:noFill/>
          <a:ln>
            <a:noFill/>
          </a:ln>
        </p:spPr>
        <p:txBody>
          <a:bodyPr wrap="square" lIns="91440" tIns="45720" rIns="91440" bIns="45720" anchor="ctr"/>
          <a:lstStyle/>
          <a:p>
            <a:pPr algn="l"/>
            <a:r>
              <a:rPr lang="ja-JP" sz="2400" b="1" dirty="0">
                <a:solidFill>
                  <a:srgbClr val="1A1A1A"/>
                </a:solidFill>
                <a:latin typeface="BIZ UDPゴシック"/>
                <a:ea typeface="BIZ UDPゴシック"/>
              </a:rPr>
              <a:t>2. 目的</a:t>
            </a:r>
          </a:p>
        </p:txBody>
      </p:sp>
      <p:sp>
        <p:nvSpPr>
          <p:cNvPr id="13" name="Sep"/>
          <p:cNvSpPr/>
          <p:nvPr/>
        </p:nvSpPr>
        <p:spPr>
          <a:xfrm>
            <a:off x="254000" y="698500"/>
            <a:ext cx="11684000" cy="19050"/>
          </a:xfrm>
          <a:prstGeom prst="rect">
            <a:avLst/>
          </a:prstGeom>
          <a:solidFill>
            <a:srgbClr val="C0C0C0"/>
          </a:solidFill>
          <a:ln>
            <a:noFill/>
          </a:ln>
        </p:spPr>
        <p:txBody>
          <a:bodyPr wrap="square" lIns="91440" tIns="45720" rIns="91440" bIns="45720" anchor="ctr"/>
          <a:lstStyle/>
          <a:p>
            <a:endParaRPr lang="ja-JP"/>
          </a:p>
        </p:txBody>
      </p:sp>
      <p:sp>
        <p:nvSpPr>
          <p:cNvPr id="14" name="Desc"/>
          <p:cNvSpPr/>
          <p:nvPr/>
        </p:nvSpPr>
        <p:spPr>
          <a:xfrm>
            <a:off x="381000" y="787400"/>
            <a:ext cx="11430000" cy="571500"/>
          </a:xfrm>
          <a:prstGeom prst="rect">
            <a:avLst/>
          </a:prstGeom>
          <a:noFill/>
          <a:ln>
            <a:noFill/>
          </a:ln>
        </p:spPr>
        <p:txBody>
          <a:bodyPr wrap="square" lIns="91440" tIns="45720" rIns="91440" bIns="45720" anchor="ctr"/>
          <a:lstStyle/>
          <a:p>
            <a:pPr algn="l"/>
            <a:r>
              <a:rPr lang="ja-JP" sz="1350" dirty="0">
                <a:solidFill>
                  <a:srgbClr val="4A4A4A"/>
                </a:solidFill>
                <a:latin typeface="BIZ UDPゴシック"/>
                <a:ea typeface="BIZ UDPゴシック"/>
              </a:rPr>
              <a:t>loan_statusを目的変数として、返済状況に影響する主要因を整理し、リスクセグメンテーションおよびポートフォリオ評価に活用可能な分析結果を、説明可能性と監査可能性を担保した形で提示する。</a:t>
            </a:r>
          </a:p>
        </p:txBody>
      </p:sp>
      <p:sp>
        <p:nvSpPr>
          <p:cNvPr id="20" name="GoalTitle"/>
          <p:cNvSpPr/>
          <p:nvPr/>
        </p:nvSpPr>
        <p:spPr>
          <a:xfrm>
            <a:off x="381000" y="1460500"/>
            <a:ext cx="5588000" cy="381000"/>
          </a:xfrm>
          <a:prstGeom prst="rect">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達成目標</a:t>
            </a:r>
          </a:p>
        </p:txBody>
      </p:sp>
      <p:sp>
        <p:nvSpPr>
          <p:cNvPr id="30" name="GN0"/>
          <p:cNvSpPr/>
          <p:nvPr/>
        </p:nvSpPr>
        <p:spPr>
          <a:xfrm>
            <a:off x="508000" y="1968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1</a:t>
            </a:r>
          </a:p>
        </p:txBody>
      </p:sp>
      <p:sp>
        <p:nvSpPr>
          <p:cNvPr id="40" name="GT0"/>
          <p:cNvSpPr/>
          <p:nvPr/>
        </p:nvSpPr>
        <p:spPr>
          <a:xfrm>
            <a:off x="990600" y="1943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申込属性に基づく返済不良リスクの相対比較を可能にする</a:t>
            </a:r>
          </a:p>
        </p:txBody>
      </p:sp>
      <p:sp>
        <p:nvSpPr>
          <p:cNvPr id="31" name="GN1"/>
          <p:cNvSpPr/>
          <p:nvPr/>
        </p:nvSpPr>
        <p:spPr>
          <a:xfrm>
            <a:off x="508000" y="2667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2</a:t>
            </a:r>
          </a:p>
        </p:txBody>
      </p:sp>
      <p:sp>
        <p:nvSpPr>
          <p:cNvPr id="41" name="GT1"/>
          <p:cNvSpPr/>
          <p:nvPr/>
        </p:nvSpPr>
        <p:spPr>
          <a:xfrm>
            <a:off x="990600" y="2641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高リスク群と低リスク群の特徴差を把握できる状態をつくる</a:t>
            </a:r>
          </a:p>
        </p:txBody>
      </p:sp>
      <p:sp>
        <p:nvSpPr>
          <p:cNvPr id="32" name="GN2"/>
          <p:cNvSpPr/>
          <p:nvPr/>
        </p:nvSpPr>
        <p:spPr>
          <a:xfrm>
            <a:off x="508000" y="3365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3</a:t>
            </a:r>
          </a:p>
        </p:txBody>
      </p:sp>
      <p:sp>
        <p:nvSpPr>
          <p:cNvPr id="42" name="GT2"/>
          <p:cNvSpPr/>
          <p:nvPr/>
        </p:nvSpPr>
        <p:spPr>
          <a:xfrm>
            <a:off x="990600" y="3340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再現性ある分析手順の整備（将来の審査モデル運用に接続）</a:t>
            </a:r>
          </a:p>
        </p:txBody>
      </p:sp>
      <p:sp>
        <p:nvSpPr>
          <p:cNvPr id="33" name="GN3"/>
          <p:cNvSpPr/>
          <p:nvPr/>
        </p:nvSpPr>
        <p:spPr>
          <a:xfrm>
            <a:off x="508000" y="4064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4</a:t>
            </a:r>
          </a:p>
        </p:txBody>
      </p:sp>
      <p:sp>
        <p:nvSpPr>
          <p:cNvPr id="43" name="GT3"/>
          <p:cNvSpPr/>
          <p:nvPr/>
        </p:nvSpPr>
        <p:spPr>
          <a:xfrm>
            <a:off x="990600" y="4038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経営層・監査・関連部門に説明可能な資料体系の整備</a:t>
            </a:r>
          </a:p>
        </p:txBody>
      </p:sp>
      <p:sp>
        <p:nvSpPr>
          <p:cNvPr id="50" name="EvalTitle"/>
          <p:cNvSpPr/>
          <p:nvPr/>
        </p:nvSpPr>
        <p:spPr>
          <a:xfrm>
            <a:off x="6223000" y="1460500"/>
            <a:ext cx="5588000" cy="381000"/>
          </a:xfrm>
          <a:prstGeom prst="rect">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評価観点</a:t>
            </a:r>
          </a:p>
        </p:txBody>
      </p:sp>
      <p:sp>
        <p:nvSpPr>
          <p:cNvPr id="60" name="EC0"/>
          <p:cNvSpPr/>
          <p:nvPr/>
        </p:nvSpPr>
        <p:spPr>
          <a:xfrm>
            <a:off x="6350000" y="1968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分類性能</a:t>
            </a:r>
          </a:p>
        </p:txBody>
      </p:sp>
      <p:sp>
        <p:nvSpPr>
          <p:cNvPr id="70" name="ED0"/>
          <p:cNvSpPr/>
          <p:nvPr/>
        </p:nvSpPr>
        <p:spPr>
          <a:xfrm>
            <a:off x="7874000" y="1968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ROC-AUC, PR-AUC, 適合率, 再現率, 混同行列, リフト</a:t>
            </a:r>
          </a:p>
        </p:txBody>
      </p:sp>
      <p:sp>
        <p:nvSpPr>
          <p:cNvPr id="61" name="EC1"/>
          <p:cNvSpPr/>
          <p:nvPr/>
        </p:nvSpPr>
        <p:spPr>
          <a:xfrm>
            <a:off x="6350000" y="2667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セグメント分析</a:t>
            </a:r>
          </a:p>
        </p:txBody>
      </p:sp>
      <p:sp>
        <p:nvSpPr>
          <p:cNvPr id="71" name="ED1"/>
          <p:cNvSpPr/>
          <p:nvPr/>
        </p:nvSpPr>
        <p:spPr>
          <a:xfrm>
            <a:off x="7874000" y="2667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セグメント別不良率の差異可視化</a:t>
            </a:r>
          </a:p>
        </p:txBody>
      </p:sp>
      <p:sp>
        <p:nvSpPr>
          <p:cNvPr id="62" name="EC2"/>
          <p:cNvSpPr/>
          <p:nvPr/>
        </p:nvSpPr>
        <p:spPr>
          <a:xfrm>
            <a:off x="6350000" y="3365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特徴量解釈</a:t>
            </a:r>
          </a:p>
        </p:txBody>
      </p:sp>
      <p:sp>
        <p:nvSpPr>
          <p:cNvPr id="72" name="ED2"/>
          <p:cNvSpPr/>
          <p:nvPr/>
        </p:nvSpPr>
        <p:spPr>
          <a:xfrm>
            <a:off x="7874000" y="3365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主要特徴量の寄与と方向性の説明</a:t>
            </a:r>
          </a:p>
        </p:txBody>
      </p:sp>
      <p:sp>
        <p:nvSpPr>
          <p:cNvPr id="63" name="EC3"/>
          <p:cNvSpPr/>
          <p:nvPr/>
        </p:nvSpPr>
        <p:spPr>
          <a:xfrm>
            <a:off x="6350000" y="4064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ガバナンス</a:t>
            </a:r>
          </a:p>
        </p:txBody>
      </p:sp>
      <p:sp>
        <p:nvSpPr>
          <p:cNvPr id="73" name="ED3"/>
          <p:cNvSpPr/>
          <p:nvPr/>
        </p:nvSpPr>
        <p:spPr>
          <a:xfrm>
            <a:off x="7874000" y="4064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監査対応可能な文書化</a:t>
            </a:r>
          </a:p>
        </p:txBody>
      </p:sp>
      <p:sp>
        <p:nvSpPr>
          <p:cNvPr id="80" name="Note"/>
          <p:cNvSpPr/>
          <p:nvPr/>
        </p:nvSpPr>
        <p:spPr>
          <a:xfrm>
            <a:off x="381000" y="5016500"/>
            <a:ext cx="11430000" cy="698500"/>
          </a:xfrm>
          <a:prstGeom prst="roundRect">
            <a:avLst/>
          </a:prstGeom>
          <a:solidFill>
            <a:srgbClr val="F5F5F3"/>
          </a:solidFill>
          <a:ln>
            <a:noFill/>
          </a:ln>
        </p:spPr>
        <p:txBody>
          <a:bodyPr wrap="square" lIns="91440" tIns="45720" rIns="91440" bIns="45720" anchor="ctr"/>
          <a:lstStyle/>
          <a:p>
            <a:pPr algn="ctr"/>
            <a:r>
              <a:rPr lang="ja-JP" sz="1300" b="1" dirty="0">
                <a:solidFill>
                  <a:srgbClr val="8B2500"/>
                </a:solidFill>
                <a:latin typeface="BIZ UDPゴシック"/>
                <a:ea typeface="BIZ UDPゴシック"/>
              </a:rPr>
              <a:t>精度のみを重視せず、分類性能・セグメント分析・特徴量解釈・ガバナンスの4観点で総合的に判断する。</a:t>
            </a:r>
          </a:p>
        </p:txBody>
      </p:sp>
    </p:spTree>
    <p:extLst>
      <p:ext uri="{BB962C8B-B14F-4D97-AF65-F5344CB8AC3E}">
        <p14:creationId xmlns:p14="http://schemas.microsoft.com/office/powerpoint/2010/main" val="2870128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762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対象範囲</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20" name="s20"/>
          <p:cNvSpPr/>
          <p:nvPr/>
        </p:nvSpPr>
        <p:spPr>
          <a:xfrm>
            <a:off x="3810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1</a:t>
            </a:r>
          </a:p>
          <a:p>
            <a:pPr algn="ctr"/>
            <a:r>
              <a:rPr lang="ja-JP" sz="1200" b="1" dirty="0">
                <a:solidFill>
                  <a:srgbClr val="FFFFFF"/>
                </a:solidFill>
                <a:latin typeface="BIZ UDPゴシック"/>
                <a:ea typeface="BIZ UDPゴシック"/>
              </a:rPr>
              <a:t>データ把握・
品質確認</a:t>
            </a:r>
          </a:p>
        </p:txBody>
      </p:sp>
      <p:sp>
        <p:nvSpPr>
          <p:cNvPr id="30" name="s30"/>
          <p:cNvSpPr/>
          <p:nvPr/>
        </p:nvSpPr>
        <p:spPr>
          <a:xfrm>
            <a:off x="3810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項目定義確認</a:t>
            </a:r>
          </a:p>
          <a:p>
            <a:pPr algn="l"/>
            <a:r>
              <a:rPr lang="ja-JP" sz="1100" dirty="0">
                <a:solidFill>
                  <a:srgbClr val="333333"/>
                </a:solidFill>
                <a:latin typeface="BIZ UDPゴシック"/>
                <a:ea typeface="BIZ UDPゴシック"/>
              </a:rPr>
              <a:t>• データ型整備</a:t>
            </a:r>
          </a:p>
          <a:p>
            <a:pPr algn="l"/>
            <a:r>
              <a:rPr lang="ja-JP" sz="1100" dirty="0">
                <a:solidFill>
                  <a:srgbClr val="333333"/>
                </a:solidFill>
                <a:latin typeface="BIZ UDPゴシック"/>
                <a:ea typeface="BIZ UDPゴシック"/>
              </a:rPr>
              <a:t>• 一意性・分布確認</a:t>
            </a:r>
          </a:p>
          <a:p>
            <a:pPr algn="l"/>
            <a:r>
              <a:rPr lang="ja-JP" sz="1100" dirty="0">
                <a:solidFill>
                  <a:srgbClr val="333333"/>
                </a:solidFill>
                <a:latin typeface="BIZ UDPゴシック"/>
                <a:ea typeface="BIZ UDPゴシック"/>
              </a:rPr>
              <a:t>• 外れ値の初期確認</a:t>
            </a:r>
          </a:p>
        </p:txBody>
      </p:sp>
      <p:sp>
        <p:nvSpPr>
          <p:cNvPr id="40" name="s40"/>
          <p:cNvSpPr/>
          <p:nvPr/>
        </p:nvSpPr>
        <p:spPr>
          <a:xfrm>
            <a:off x="25400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1" name="s21"/>
          <p:cNvSpPr/>
          <p:nvPr/>
        </p:nvSpPr>
        <p:spPr>
          <a:xfrm>
            <a:off x="26924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2</a:t>
            </a:r>
          </a:p>
          <a:p>
            <a:pPr algn="ctr"/>
            <a:r>
              <a:rPr lang="ja-JP" sz="1200" b="1" dirty="0">
                <a:solidFill>
                  <a:srgbClr val="FFFFFF"/>
                </a:solidFill>
                <a:latin typeface="BIZ UDPゴシック"/>
                <a:ea typeface="BIZ UDPゴシック"/>
              </a:rPr>
              <a:t>探索的分析</a:t>
            </a:r>
          </a:p>
        </p:txBody>
      </p:sp>
      <p:sp>
        <p:nvSpPr>
          <p:cNvPr id="31" name="s31"/>
          <p:cNvSpPr/>
          <p:nvPr/>
        </p:nvSpPr>
        <p:spPr>
          <a:xfrm>
            <a:off x="26924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loan_status分布確認</a:t>
            </a:r>
          </a:p>
          <a:p>
            <a:pPr algn="l"/>
            <a:r>
              <a:rPr lang="ja-JP" sz="1100" dirty="0">
                <a:solidFill>
                  <a:srgbClr val="333333"/>
                </a:solidFill>
                <a:latin typeface="BIZ UDPゴシック"/>
                <a:ea typeface="BIZ UDPゴシック"/>
              </a:rPr>
              <a:t>• 単変量・多変量分析</a:t>
            </a:r>
          </a:p>
          <a:p>
            <a:pPr algn="l"/>
            <a:r>
              <a:rPr lang="ja-JP" sz="1100" dirty="0">
                <a:solidFill>
                  <a:srgbClr val="333333"/>
                </a:solidFill>
                <a:latin typeface="BIZ UDPゴシック"/>
                <a:ea typeface="BIZ UDPゴシック"/>
              </a:rPr>
              <a:t>• セグメント別</a:t>
            </a:r>
          </a:p>
          <a:p>
            <a:pPr algn="l"/>
            <a:r>
              <a:rPr lang="ja-JP" sz="1100" dirty="0">
                <a:solidFill>
                  <a:srgbClr val="333333"/>
                </a:solidFill>
                <a:latin typeface="BIZ UDPゴシック"/>
                <a:ea typeface="BIZ UDPゴシック"/>
              </a:rPr>
              <a:t>• 不良率比較</a:t>
            </a:r>
          </a:p>
        </p:txBody>
      </p:sp>
      <p:sp>
        <p:nvSpPr>
          <p:cNvPr id="41" name="s41"/>
          <p:cNvSpPr/>
          <p:nvPr/>
        </p:nvSpPr>
        <p:spPr>
          <a:xfrm>
            <a:off x="48514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2" name="s22"/>
          <p:cNvSpPr/>
          <p:nvPr/>
        </p:nvSpPr>
        <p:spPr>
          <a:xfrm>
            <a:off x="50038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3</a:t>
            </a:r>
          </a:p>
          <a:p>
            <a:pPr algn="ctr"/>
            <a:r>
              <a:rPr lang="ja-JP" sz="1200" b="1" dirty="0">
                <a:solidFill>
                  <a:srgbClr val="FFFFFF"/>
                </a:solidFill>
                <a:latin typeface="BIZ UDPゴシック"/>
                <a:ea typeface="BIZ UDPゴシック"/>
              </a:rPr>
              <a:t>初期
モデリング</a:t>
            </a:r>
          </a:p>
        </p:txBody>
      </p:sp>
      <p:sp>
        <p:nvSpPr>
          <p:cNvPr id="32" name="s32"/>
          <p:cNvSpPr/>
          <p:nvPr/>
        </p:nvSpPr>
        <p:spPr>
          <a:xfrm>
            <a:off x="50038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二値分類モデル構築</a:t>
            </a:r>
          </a:p>
          <a:p>
            <a:pPr algn="l"/>
            <a:r>
              <a:rPr lang="ja-JP" sz="1100" dirty="0">
                <a:solidFill>
                  <a:srgbClr val="333333"/>
                </a:solidFill>
                <a:latin typeface="BIZ UDPゴシック"/>
                <a:ea typeface="BIZ UDPゴシック"/>
              </a:rPr>
              <a:t>• ベースラインモデル</a:t>
            </a:r>
          </a:p>
          <a:p>
            <a:pPr algn="l"/>
            <a:r>
              <a:rPr lang="ja-JP" sz="1100" dirty="0">
                <a:solidFill>
                  <a:srgbClr val="333333"/>
                </a:solidFill>
                <a:latin typeface="BIZ UDPゴシック"/>
                <a:ea typeface="BIZ UDPゴシック"/>
              </a:rPr>
              <a:t>• 説明性重視モデル</a:t>
            </a:r>
          </a:p>
          <a:p>
            <a:pPr algn="l"/>
            <a:r>
              <a:rPr lang="ja-JP" sz="1100" dirty="0">
                <a:solidFill>
                  <a:srgbClr val="333333"/>
                </a:solidFill>
                <a:latin typeface="BIZ UDPゴシック"/>
                <a:ea typeface="BIZ UDPゴシック"/>
              </a:rPr>
              <a:t>• 変数重要度の整理</a:t>
            </a:r>
          </a:p>
        </p:txBody>
      </p:sp>
      <p:sp>
        <p:nvSpPr>
          <p:cNvPr id="42" name="s42"/>
          <p:cNvSpPr/>
          <p:nvPr/>
        </p:nvSpPr>
        <p:spPr>
          <a:xfrm>
            <a:off x="71628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3" name="s23"/>
          <p:cNvSpPr/>
          <p:nvPr/>
        </p:nvSpPr>
        <p:spPr>
          <a:xfrm>
            <a:off x="73152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4</a:t>
            </a:r>
          </a:p>
          <a:p>
            <a:pPr algn="ctr"/>
            <a:r>
              <a:rPr lang="ja-JP" sz="1200" b="1" dirty="0">
                <a:solidFill>
                  <a:srgbClr val="FFFFFF"/>
                </a:solidFill>
                <a:latin typeface="BIZ UDPゴシック"/>
                <a:ea typeface="BIZ UDPゴシック"/>
              </a:rPr>
              <a:t>評価・解釈</a:t>
            </a:r>
          </a:p>
        </p:txBody>
      </p:sp>
      <p:sp>
        <p:nvSpPr>
          <p:cNvPr id="33" name="s33"/>
          <p:cNvSpPr/>
          <p:nvPr/>
        </p:nvSpPr>
        <p:spPr>
          <a:xfrm>
            <a:off x="73152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分類性能評価</a:t>
            </a:r>
          </a:p>
          <a:p>
            <a:pPr algn="l"/>
            <a:r>
              <a:rPr lang="ja-JP" sz="1100" dirty="0">
                <a:solidFill>
                  <a:srgbClr val="333333"/>
                </a:solidFill>
                <a:latin typeface="BIZ UDPゴシック"/>
                <a:ea typeface="BIZ UDPゴシック"/>
              </a:rPr>
              <a:t>• リスク区分案の提示</a:t>
            </a:r>
          </a:p>
          <a:p>
            <a:pPr algn="l"/>
            <a:r>
              <a:rPr lang="ja-JP" sz="1100" dirty="0">
                <a:solidFill>
                  <a:srgbClr val="333333"/>
                </a:solidFill>
                <a:latin typeface="BIZ UDPゴシック"/>
                <a:ea typeface="BIZ UDPゴシック"/>
              </a:rPr>
              <a:t>• 業務活用の留意点</a:t>
            </a:r>
          </a:p>
          <a:p>
            <a:pPr algn="l"/>
            <a:r>
              <a:rPr lang="ja-JP" sz="1100" dirty="0">
                <a:solidFill>
                  <a:srgbClr val="333333"/>
                </a:solidFill>
                <a:latin typeface="BIZ UDPゴシック"/>
                <a:ea typeface="BIZ UDPゴシック"/>
              </a:rPr>
              <a:t>• バイアス初期確認</a:t>
            </a:r>
          </a:p>
        </p:txBody>
      </p:sp>
      <p:sp>
        <p:nvSpPr>
          <p:cNvPr id="43" name="s43"/>
          <p:cNvSpPr/>
          <p:nvPr/>
        </p:nvSpPr>
        <p:spPr>
          <a:xfrm>
            <a:off x="94742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4" name="s24"/>
          <p:cNvSpPr/>
          <p:nvPr/>
        </p:nvSpPr>
        <p:spPr>
          <a:xfrm>
            <a:off x="96266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5</a:t>
            </a:r>
          </a:p>
          <a:p>
            <a:pPr algn="ctr"/>
            <a:r>
              <a:rPr lang="ja-JP" sz="1200" b="1" dirty="0">
                <a:solidFill>
                  <a:srgbClr val="FFFFFF"/>
                </a:solidFill>
                <a:latin typeface="BIZ UDPゴシック"/>
                <a:ea typeface="BIZ UDPゴシック"/>
              </a:rPr>
              <a:t>文書化・
報告</a:t>
            </a:r>
          </a:p>
        </p:txBody>
      </p:sp>
      <p:sp>
        <p:nvSpPr>
          <p:cNvPr id="34" name="s34"/>
          <p:cNvSpPr/>
          <p:nvPr/>
        </p:nvSpPr>
        <p:spPr>
          <a:xfrm>
            <a:off x="96266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方針・前提・制約整理</a:t>
            </a:r>
          </a:p>
          <a:p>
            <a:pPr algn="l"/>
            <a:r>
              <a:rPr lang="ja-JP" sz="1100" dirty="0">
                <a:solidFill>
                  <a:srgbClr val="333333"/>
                </a:solidFill>
                <a:latin typeface="BIZ UDPゴシック"/>
                <a:ea typeface="BIZ UDPゴシック"/>
              </a:rPr>
              <a:t>• 中間・最終報告書</a:t>
            </a:r>
          </a:p>
          <a:p>
            <a:pPr algn="l"/>
            <a:r>
              <a:rPr lang="ja-JP" sz="1100" dirty="0">
                <a:solidFill>
                  <a:srgbClr val="333333"/>
                </a:solidFill>
                <a:latin typeface="BIZ UDPゴシック"/>
                <a:ea typeface="BIZ UDPゴシック"/>
              </a:rPr>
              <a:t>• 監査証跡の記録</a:t>
            </a:r>
          </a:p>
          <a:p>
            <a:pPr algn="l"/>
            <a:r>
              <a:rPr lang="ja-JP" sz="1100" dirty="0">
                <a:solidFill>
                  <a:srgbClr val="333333"/>
                </a:solidFill>
                <a:latin typeface="BIZ UDPゴシック"/>
                <a:ea typeface="BIZ UDPゴシック"/>
              </a:rPr>
              <a:t>• 評価条件の明記</a:t>
            </a:r>
          </a:p>
        </p:txBody>
      </p:sp>
      <p:sp>
        <p:nvSpPr>
          <p:cNvPr id="50" name="s50"/>
          <p:cNvSpPr/>
          <p:nvPr/>
        </p:nvSpPr>
        <p:spPr>
          <a:xfrm>
            <a:off x="381000" y="3492500"/>
            <a:ext cx="11430000" cy="355600"/>
          </a:xfrm>
          <a:prstGeom prst="rect">
            <a:avLst/>
          </a:prstGeom>
          <a:noFill/>
          <a:ln>
            <a:noFill/>
          </a:ln>
        </p:spPr>
        <p:txBody>
          <a:bodyPr wrap="square" lIns="72000" tIns="36000" rIns="72000" bIns="36000" anchor="ctr"/>
          <a:lstStyle/>
          <a:p>
            <a:pPr algn="l"/>
            <a:r>
              <a:rPr lang="ja-JP" sz="1500" b="1" dirty="0">
                <a:solidFill>
                  <a:srgbClr val="1A1A1A"/>
                </a:solidFill>
                <a:latin typeface="BIZ UDPゴシック"/>
                <a:ea typeface="BIZ UDPゴシック"/>
              </a:rPr>
              <a:t>スコープ境界</a:t>
            </a:r>
          </a:p>
        </p:txBody>
      </p:sp>
      <p:sp>
        <p:nvSpPr>
          <p:cNvPr id="55" name="s55"/>
          <p:cNvSpPr/>
          <p:nvPr/>
        </p:nvSpPr>
        <p:spPr>
          <a:xfrm>
            <a:off x="508000" y="3911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id</a:t>
            </a:r>
          </a:p>
        </p:txBody>
      </p:sp>
      <p:sp>
        <p:nvSpPr>
          <p:cNvPr id="60" name="s60"/>
          <p:cNvSpPr/>
          <p:nvPr/>
        </p:nvSpPr>
        <p:spPr>
          <a:xfrm>
            <a:off x="2032000" y="3911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顧客IDであり、インデックス用途。原則として学習特徴量に使用しない。</a:t>
            </a:r>
          </a:p>
        </p:txBody>
      </p:sp>
      <p:sp>
        <p:nvSpPr>
          <p:cNvPr id="56" name="s56"/>
          <p:cNvSpPr/>
          <p:nvPr/>
        </p:nvSpPr>
        <p:spPr>
          <a:xfrm>
            <a:off x="508000" y="4419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loan_status</a:t>
            </a:r>
          </a:p>
        </p:txBody>
      </p:sp>
      <p:sp>
        <p:nvSpPr>
          <p:cNvPr id="61" name="s61"/>
          <p:cNvSpPr/>
          <p:nvPr/>
        </p:nvSpPr>
        <p:spPr>
          <a:xfrm>
            <a:off x="2032000" y="4419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唯一の目的変数として使用する。</a:t>
            </a:r>
          </a:p>
        </p:txBody>
      </p:sp>
      <p:sp>
        <p:nvSpPr>
          <p:cNvPr id="57" name="s57"/>
          <p:cNvSpPr/>
          <p:nvPr/>
        </p:nvSpPr>
        <p:spPr>
          <a:xfrm>
            <a:off x="508000" y="4927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参考論点</a:t>
            </a:r>
          </a:p>
        </p:txBody>
      </p:sp>
      <p:sp>
        <p:nvSpPr>
          <p:cNvPr id="62" name="s62"/>
          <p:cNvSpPr/>
          <p:nvPr/>
        </p:nvSpPr>
        <p:spPr>
          <a:xfrm>
            <a:off x="2032000" y="4927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expected loss, recovery ratio, approval quality は直接算出に必要な項目が不足しているため参考整理。</a:t>
            </a:r>
          </a:p>
        </p:txBody>
      </p:sp>
      <p:sp>
        <p:nvSpPr>
          <p:cNvPr id="70" name="s70"/>
          <p:cNvSpPr/>
          <p:nvPr/>
        </p:nvSpPr>
        <p:spPr>
          <a:xfrm>
            <a:off x="381000" y="5524500"/>
            <a:ext cx="11430000" cy="381000"/>
          </a:xfrm>
          <a:prstGeom prst="rect">
            <a:avLst/>
          </a:prstGeom>
          <a:noFill/>
          <a:ln>
            <a:noFill/>
          </a:ln>
        </p:spPr>
        <p:txBody>
          <a:bodyPr wrap="square" lIns="72000" tIns="36000" rIns="72000" bIns="36000" anchor="ctr"/>
          <a:lstStyle/>
          <a:p>
            <a:pPr algn="l"/>
            <a:r>
              <a:rPr lang="ja-JP" sz="1200" dirty="0">
                <a:solidFill>
                  <a:srgbClr val="8B2500"/>
                </a:solidFill>
                <a:latin typeface="BIZ UDPゴシック"/>
                <a:ea typeface="BIZ UDPゴシック"/>
              </a:rPr>
              <a:t>※ 対象外事項の詳細は次スライドに記載</a:t>
            </a:r>
          </a:p>
        </p:txBody>
      </p:sp>
    </p:spTree>
    <p:extLst>
      <p:ext uri="{BB962C8B-B14F-4D97-AF65-F5344CB8AC3E}">
        <p14:creationId xmlns:p14="http://schemas.microsoft.com/office/powerpoint/2010/main" val="88101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05</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31" name="s31"/>
          <p:cNvSpPr/>
          <p:nvPr/>
        </p:nvSpPr>
        <p:spPr>
          <a:xfrm>
            <a:off x="381000" y="1057836"/>
            <a:ext cx="5016500" cy="1952063"/>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データ基盤新規構築、DWH設計、ETL常設化</a:t>
            </a:r>
            <a:endParaRPr lang="en-US" altLang="ja-JP" sz="1200" dirty="0">
              <a:solidFill>
                <a:srgbClr val="333333"/>
              </a:solidFill>
              <a:latin typeface="BIZ UDPゴシック"/>
              <a:ea typeface="BIZ UDPゴシック"/>
            </a:endParaRPr>
          </a:p>
          <a:p>
            <a:r>
              <a:rPr lang="ja-JP" altLang="ja-JP" sz="1200" dirty="0">
                <a:solidFill>
                  <a:srgbClr val="333333"/>
                </a:solidFill>
                <a:ea typeface="BIZ UDPゴシック"/>
              </a:rPr>
              <a:t>追加データ取得、外部信用情報連携</a:t>
            </a:r>
            <a:endParaRPr lang="en-US" altLang="ja-JP" sz="1200" dirty="0">
              <a:solidFill>
                <a:srgbClr val="333333"/>
              </a:solidFill>
              <a:ea typeface="BIZ UDPゴシック"/>
            </a:endParaRPr>
          </a:p>
          <a:p>
            <a:r>
              <a:rPr lang="ja-JP" altLang="ja-JP" sz="1200" dirty="0">
                <a:solidFill>
                  <a:srgbClr val="333333"/>
                </a:solidFill>
                <a:ea typeface="BIZ UDPゴシック"/>
              </a:rPr>
              <a:t>本番運用時のモデル監視仕組み構築</a:t>
            </a:r>
            <a:endParaRPr lang="en-US" altLang="ja-JP" sz="1200" dirty="0">
              <a:solidFill>
                <a:srgbClr val="333333"/>
              </a:solidFill>
              <a:ea typeface="BIZ UDPゴシック"/>
            </a:endParaRPr>
          </a:p>
          <a:p>
            <a:r>
              <a:rPr lang="ja-JP" altLang="ja-JP" sz="1200" dirty="0">
                <a:solidFill>
                  <a:srgbClr val="333333"/>
                </a:solidFill>
                <a:ea typeface="BIZ UDPゴシック"/>
              </a:rPr>
              <a:t>時系列予測、ビンテージ分析、月次運用設計</a:t>
            </a:r>
            <a:endParaRPr lang="en-US" altLang="ja-JP" sz="1200" dirty="0">
              <a:solidFill>
                <a:srgbClr val="333333"/>
              </a:solidFill>
              <a:ea typeface="BIZ UDPゴシック"/>
            </a:endParaRPr>
          </a:p>
          <a:p>
            <a:r>
              <a:rPr lang="ja-JP" altLang="ja-JP" sz="1200" dirty="0">
                <a:solidFill>
                  <a:srgbClr val="333333"/>
                </a:solidFill>
                <a:ea typeface="BIZ UDPゴシック"/>
              </a:rPr>
              <a:t>本件データに含まれない項目を前提とした詳細損失率推計</a:t>
            </a:r>
            <a:endParaRPr lang="en-US" altLang="ja-JP" sz="1200" dirty="0">
              <a:solidFill>
                <a:srgbClr val="333333"/>
              </a:solidFill>
              <a:ea typeface="BIZ UDPゴシック"/>
            </a:endParaRPr>
          </a:p>
          <a:p>
            <a:r>
              <a:rPr lang="ja-JP" altLang="ja-JP" sz="1200" dirty="0">
                <a:solidFill>
                  <a:srgbClr val="333333"/>
                </a:solidFill>
                <a:ea typeface="BIZ UDPゴシック"/>
              </a:rPr>
              <a:t>本契約範囲外の追加要件に対する無償対応</a:t>
            </a:r>
            <a:endParaRPr lang="en-US" altLang="ja-JP" sz="1200" dirty="0">
              <a:solidFill>
                <a:srgbClr val="333333"/>
              </a:solidFill>
              <a:ea typeface="BIZ UDPゴシック"/>
            </a:endParaRPr>
          </a:p>
          <a:p>
            <a:r>
              <a:rPr lang="ja-JP" altLang="ja-JP" sz="1200" dirty="0">
                <a:solidFill>
                  <a:srgbClr val="333333"/>
                </a:solidFill>
                <a:ea typeface="BIZ UDPゴシック"/>
              </a:rPr>
              <a:t>法務判断、規制当局対応の代行</a:t>
            </a:r>
            <a:endParaRPr lang="en-US" altLang="ja-JP" sz="1200" dirty="0">
              <a:solidFill>
                <a:srgbClr val="333333"/>
              </a:solidFill>
              <a:latin typeface="BIZ UDPゴシック"/>
              <a:ea typeface="BIZ UDPゴシック"/>
            </a:endParaRPr>
          </a:p>
          <a:p>
            <a:r>
              <a:rPr lang="ja-JP" altLang="ja-JP" sz="1200" dirty="0">
                <a:solidFill>
                  <a:srgbClr val="333333"/>
                </a:solidFill>
                <a:ea typeface="BIZ UDPゴシック"/>
              </a:rPr>
              <a:t>本番システム実装、API化、審査システム連携</a:t>
            </a:r>
            <a:endParaRPr lang="ja-JP" sz="1200" dirty="0">
              <a:solidFill>
                <a:srgbClr val="333333"/>
              </a:solidFill>
              <a:latin typeface="BIZ UDPゴシック"/>
              <a:ea typeface="BIZ UDPゴシック"/>
            </a:endParaRPr>
          </a:p>
        </p:txBody>
      </p:sp>
      <p:sp>
        <p:nvSpPr>
          <p:cNvPr id="50" name="s50"/>
          <p:cNvSpPr/>
          <p:nvPr/>
        </p:nvSpPr>
        <p:spPr>
          <a:xfrm>
            <a:off x="381000" y="33274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4925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変更管理方針</a:t>
            </a:r>
          </a:p>
        </p:txBody>
      </p:sp>
      <p:sp>
        <p:nvSpPr>
          <p:cNvPr id="52" name="s52"/>
          <p:cNvSpPr/>
          <p:nvPr/>
        </p:nvSpPr>
        <p:spPr>
          <a:xfrm>
            <a:off x="381000" y="3937000"/>
            <a:ext cx="11430000" cy="571500"/>
          </a:xfrm>
          <a:prstGeom prst="roundRect">
            <a:avLst/>
          </a:prstGeom>
          <a:solidFill>
            <a:srgbClr val="1A1A1A"/>
          </a:solidFill>
          <a:ln>
            <a:noFill/>
          </a:ln>
        </p:spPr>
        <p:txBody>
          <a:bodyPr wrap="square" lIns="72000" tIns="36000" rIns="72000" bIns="36000" anchor="ctr"/>
          <a:lstStyle/>
          <a:p>
            <a:pPr algn="ctr"/>
            <a:r>
              <a:rPr lang="ja-JP" sz="1300" b="1" dirty="0">
                <a:solidFill>
                  <a:srgbClr val="FFFFFF"/>
                </a:solidFill>
                <a:latin typeface="BIZ UDPゴシック"/>
                <a:ea typeface="BIZ UDPゴシック"/>
              </a:rPr>
              <a:t>本契約範囲外の追加対応は、別紙見積にて金額・納期を事前合意のうえ実施する。</a:t>
            </a:r>
          </a:p>
        </p:txBody>
      </p:sp>
      <p:sp>
        <p:nvSpPr>
          <p:cNvPr id="53" name="s53"/>
          <p:cNvSpPr/>
          <p:nvPr/>
        </p:nvSpPr>
        <p:spPr>
          <a:xfrm>
            <a:off x="381000" y="4635500"/>
            <a:ext cx="11430000" cy="571500"/>
          </a:xfrm>
          <a:prstGeom prst="roundRect">
            <a:avLst/>
          </a:prstGeom>
          <a:solidFill>
            <a:srgbClr val="F5F5F3"/>
          </a:solidFill>
          <a:ln>
            <a:noFill/>
          </a:ln>
        </p:spPr>
        <p:txBody>
          <a:bodyPr wrap="square" lIns="72000" tIns="36000" rIns="72000" bIns="36000" anchor="ctr"/>
          <a:lstStyle/>
          <a:p>
            <a:pPr algn="ctr"/>
            <a:r>
              <a:rPr lang="ja-JP" sz="1300" b="1" dirty="0">
                <a:solidFill>
                  <a:srgbClr val="333333"/>
                </a:solidFill>
                <a:latin typeface="BIZ UDPゴシック"/>
                <a:ea typeface="BIZ UDPゴシック"/>
              </a:rPr>
              <a:t>契約時に金額を固定し、工数実績による事後精算は行わない。</a:t>
            </a:r>
          </a:p>
        </p:txBody>
      </p:sp>
      <p:sp>
        <p:nvSpPr>
          <p:cNvPr id="54" name="s54"/>
          <p:cNvSpPr/>
          <p:nvPr/>
        </p:nvSpPr>
        <p:spPr>
          <a:xfrm>
            <a:off x="381000" y="5397500"/>
            <a:ext cx="11430000" cy="508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追加要件・追加分析・成果物追加・スコープ変更が発生する場合は、影響範囲を確認のうえ、正式な変更手続を経て対応する。</a:t>
            </a:r>
          </a:p>
        </p:txBody>
      </p:sp>
    </p:spTree>
    <p:extLst>
      <p:ext uri="{BB962C8B-B14F-4D97-AF65-F5344CB8AC3E}">
        <p14:creationId xmlns:p14="http://schemas.microsoft.com/office/powerpoint/2010/main" val="253472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06</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4. 分析アプローチ ― 全体方針</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825500"/>
            <a:ext cx="11430000" cy="508000"/>
          </a:xfrm>
          <a:prstGeom prst="roundRect">
            <a:avLst/>
          </a:prstGeom>
          <a:solidFill>
            <a:srgbClr val="8B2500"/>
          </a:solidFill>
          <a:ln>
            <a:noFill/>
          </a:ln>
        </p:spPr>
        <p:txBody>
          <a:bodyPr wrap="square" lIns="72000" tIns="36000" rIns="72000" bIns="36000" anchor="ctr"/>
          <a:lstStyle/>
          <a:p>
            <a:pPr algn="ctr"/>
            <a:r>
              <a:rPr lang="ja-JP" sz="1600" b="1" dirty="0">
                <a:solidFill>
                  <a:srgbClr val="FFFFFF"/>
                </a:solidFill>
                <a:latin typeface="BIZ UDPゴシック"/>
                <a:ea typeface="BIZ UDPゴシック"/>
              </a:rPr>
              <a:t>説明可能性・再現性・監査可能性を優先した分析アプローチ</a:t>
            </a:r>
          </a:p>
        </p:txBody>
      </p:sp>
      <p:sp>
        <p:nvSpPr>
          <p:cNvPr id="20" name="s20"/>
          <p:cNvSpPr/>
          <p:nvPr/>
        </p:nvSpPr>
        <p:spPr>
          <a:xfrm>
            <a:off x="14605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1</a:t>
            </a:r>
          </a:p>
        </p:txBody>
      </p:sp>
      <p:sp>
        <p:nvSpPr>
          <p:cNvPr id="30" name="s30"/>
          <p:cNvSpPr/>
          <p:nvPr/>
        </p:nvSpPr>
        <p:spPr>
          <a:xfrm>
            <a:off x="3810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業務活用優先</a:t>
            </a:r>
          </a:p>
        </p:txBody>
      </p:sp>
      <p:sp>
        <p:nvSpPr>
          <p:cNvPr id="40" name="s40"/>
          <p:cNvSpPr/>
          <p:nvPr/>
        </p:nvSpPr>
        <p:spPr>
          <a:xfrm>
            <a:off x="3810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複雑な研究開発よりも、業務活用可能な初期成果創出を優先する</a:t>
            </a:r>
          </a:p>
        </p:txBody>
      </p:sp>
      <p:sp>
        <p:nvSpPr>
          <p:cNvPr id="21" name="s21"/>
          <p:cNvSpPr/>
          <p:nvPr/>
        </p:nvSpPr>
        <p:spPr>
          <a:xfrm>
            <a:off x="42926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2</a:t>
            </a:r>
          </a:p>
        </p:txBody>
      </p:sp>
      <p:sp>
        <p:nvSpPr>
          <p:cNvPr id="31" name="s31"/>
          <p:cNvSpPr/>
          <p:nvPr/>
        </p:nvSpPr>
        <p:spPr>
          <a:xfrm>
            <a:off x="32131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説明性重視</a:t>
            </a:r>
          </a:p>
        </p:txBody>
      </p:sp>
      <p:sp>
        <p:nvSpPr>
          <p:cNvPr id="41" name="s41"/>
          <p:cNvSpPr/>
          <p:nvPr/>
        </p:nvSpPr>
        <p:spPr>
          <a:xfrm>
            <a:off x="32131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ブラックボックス単独ではなく、説明性の高い手法を中心に構成する</a:t>
            </a:r>
          </a:p>
        </p:txBody>
      </p:sp>
      <p:sp>
        <p:nvSpPr>
          <p:cNvPr id="22" name="s22"/>
          <p:cNvSpPr/>
          <p:nvPr/>
        </p:nvSpPr>
        <p:spPr>
          <a:xfrm>
            <a:off x="71247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3</a:t>
            </a:r>
          </a:p>
        </p:txBody>
      </p:sp>
      <p:sp>
        <p:nvSpPr>
          <p:cNvPr id="32" name="s32"/>
          <p:cNvSpPr/>
          <p:nvPr/>
        </p:nvSpPr>
        <p:spPr>
          <a:xfrm>
            <a:off x="60452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性能と業務の分離</a:t>
            </a:r>
          </a:p>
        </p:txBody>
      </p:sp>
      <p:sp>
        <p:nvSpPr>
          <p:cNvPr id="42" name="s42"/>
          <p:cNvSpPr/>
          <p:nvPr/>
        </p:nvSpPr>
        <p:spPr>
          <a:xfrm>
            <a:off x="60452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予測性能と業務利用可否を分けて整理する</a:t>
            </a:r>
          </a:p>
        </p:txBody>
      </p:sp>
      <p:sp>
        <p:nvSpPr>
          <p:cNvPr id="23" name="s23"/>
          <p:cNvSpPr/>
          <p:nvPr/>
        </p:nvSpPr>
        <p:spPr>
          <a:xfrm>
            <a:off x="99568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4</a:t>
            </a:r>
          </a:p>
        </p:txBody>
      </p:sp>
      <p:sp>
        <p:nvSpPr>
          <p:cNvPr id="33" name="s33"/>
          <p:cNvSpPr/>
          <p:nvPr/>
        </p:nvSpPr>
        <p:spPr>
          <a:xfrm>
            <a:off x="88773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監査証跡の確保</a:t>
            </a:r>
          </a:p>
        </p:txBody>
      </p:sp>
      <p:sp>
        <p:nvSpPr>
          <p:cNvPr id="43" name="s43"/>
          <p:cNvSpPr/>
          <p:nvPr/>
        </p:nvSpPr>
        <p:spPr>
          <a:xfrm>
            <a:off x="88773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前処理・評価条件・成果物版管理を明確化する</a:t>
            </a:r>
          </a:p>
        </p:txBody>
      </p:sp>
      <p:sp>
        <p:nvSpPr>
          <p:cNvPr id="50" name="s50"/>
          <p:cNvSpPr/>
          <p:nvPr/>
        </p:nvSpPr>
        <p:spPr>
          <a:xfrm>
            <a:off x="381000" y="35560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6830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留意事項</a:t>
            </a:r>
          </a:p>
        </p:txBody>
      </p:sp>
      <p:sp>
        <p:nvSpPr>
          <p:cNvPr id="55" name="s55"/>
          <p:cNvSpPr/>
          <p:nvPr/>
        </p:nvSpPr>
        <p:spPr>
          <a:xfrm>
            <a:off x="508000" y="41275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目的変数定義</a:t>
            </a:r>
          </a:p>
        </p:txBody>
      </p:sp>
      <p:sp>
        <p:nvSpPr>
          <p:cNvPr id="60" name="s60"/>
          <p:cNvSpPr/>
          <p:nvPr/>
        </p:nvSpPr>
        <p:spPr>
          <a:xfrm>
            <a:off x="2286000" y="41275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loan_status=1 の業務定義は初回レビューで確定する。</a:t>
            </a:r>
          </a:p>
        </p:txBody>
      </p:sp>
      <p:sp>
        <p:nvSpPr>
          <p:cNvPr id="56" name="s56"/>
          <p:cNvSpPr/>
          <p:nvPr/>
        </p:nvSpPr>
        <p:spPr>
          <a:xfrm>
            <a:off x="508000" y="47371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時系列制約</a:t>
            </a:r>
          </a:p>
        </p:txBody>
      </p:sp>
      <p:sp>
        <p:nvSpPr>
          <p:cNvPr id="61" name="s61"/>
          <p:cNvSpPr/>
          <p:nvPr/>
        </p:nvSpPr>
        <p:spPr>
          <a:xfrm>
            <a:off x="2286000" y="47371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時系列情報が含まれないため、ドリフト分析、ビンテージ分析、月次推移分析は対象外である。</a:t>
            </a:r>
          </a:p>
        </p:txBody>
      </p:sp>
      <p:sp>
        <p:nvSpPr>
          <p:cNvPr id="57" name="s57"/>
          <p:cNvSpPr/>
          <p:nvPr/>
        </p:nvSpPr>
        <p:spPr>
          <a:xfrm>
            <a:off x="508000" y="53467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リーケージ懸念</a:t>
            </a:r>
          </a:p>
        </p:txBody>
      </p:sp>
      <p:sp>
        <p:nvSpPr>
          <p:cNvPr id="62" name="s62"/>
          <p:cNvSpPr/>
          <p:nvPr/>
        </p:nvSpPr>
        <p:spPr>
          <a:xfrm>
            <a:off x="2286000" y="53467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interest_rate は事後的に決定される可能性があるため、予測寄与と業務利用可否は分けて評価する。</a:t>
            </a:r>
          </a:p>
        </p:txBody>
      </p:sp>
    </p:spTree>
    <p:extLst>
      <p:ext uri="{BB962C8B-B14F-4D97-AF65-F5344CB8AC3E}">
        <p14:creationId xmlns:p14="http://schemas.microsoft.com/office/powerpoint/2010/main" val="126572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t"/>
          <a:lstStyle/>
          <a:p>
            <a:pPr algn="r">
              <a:spcBef>
                <a:spcPts val="100"/>
              </a:spcBef>
              <a:spcAft>
                <a:spcPts val="100"/>
              </a:spcAft>
            </a:pPr>
            <a:r>
              <a:rPr lang="ja-JP" sz="1400" dirty="0">
                <a:solidFill>
                  <a:srgbClr val="999999"/>
                </a:solidFill>
                <a:latin typeface="BIZ UDPゴシック"/>
                <a:ea typeface="BIZ UDPゴシック"/>
              </a:rPr>
              <a:t>07</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t"/>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t"/>
          <a:lstStyle/>
          <a:p>
            <a:pPr algn="l">
              <a:spcBef>
                <a:spcPts val="100"/>
              </a:spcBef>
              <a:spcAft>
                <a:spcPts val="100"/>
              </a:spcAft>
            </a:pPr>
            <a:r>
              <a:rPr lang="ja-JP" sz="2400" b="1" dirty="0">
                <a:solidFill>
                  <a:srgbClr val="1A1A1A"/>
                </a:solidFill>
                <a:latin typeface="BIZ UDPゴシック"/>
                <a:ea typeface="BIZ UDPゴシック"/>
              </a:rPr>
              <a:t>4. 分析アプローチ ― 実施手順</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t"/>
          <a:lstStyle/>
          <a:p>
            <a:endParaRPr lang="ja-JP"/>
          </a:p>
        </p:txBody>
      </p:sp>
      <p:sp>
        <p:nvSpPr>
          <p:cNvPr id="70" name="s70"/>
          <p:cNvSpPr/>
          <p:nvPr/>
        </p:nvSpPr>
        <p:spPr>
          <a:xfrm>
            <a:off x="381000" y="5822203"/>
            <a:ext cx="11430000" cy="571500"/>
          </a:xfrm>
          <a:prstGeom prst="roundRect">
            <a:avLst/>
          </a:prstGeom>
          <a:solidFill>
            <a:srgbClr val="1A1A1A"/>
          </a:solidFill>
          <a:ln>
            <a:noFill/>
          </a:ln>
        </p:spPr>
        <p:txBody>
          <a:bodyPr wrap="square" lIns="54000" tIns="27000" rIns="54000" bIns="27000" anchor="t"/>
          <a:lstStyle/>
          <a:p>
            <a:pPr algn="ctr"/>
            <a:r>
              <a:rPr lang="ja-JP" sz="1200" b="1" dirty="0">
                <a:solidFill>
                  <a:srgbClr val="8B2500"/>
                </a:solidFill>
                <a:latin typeface="BIZ UDPゴシック"/>
                <a:ea typeface="BIZ UDPゴシック"/>
              </a:rPr>
              <a:t>全工程を通じて：</a:t>
            </a:r>
            <a:r>
              <a:rPr lang="ja-JP" sz="1200" dirty="0">
                <a:solidFill>
                  <a:srgbClr val="FFFFFF"/>
                </a:solidFill>
                <a:latin typeface="BIZ UDPゴシック"/>
                <a:ea typeface="BIZ UDPゴシック"/>
              </a:rPr>
              <a:t>  説明可能性の確保  ｜  監査証跡の記録  ｜  再現性の担保  ｜  週次レビューによる合意形成</a:t>
            </a:r>
          </a:p>
        </p:txBody>
      </p:sp>
      <p:graphicFrame>
        <p:nvGraphicFramePr>
          <p:cNvPr id="2" name="表 1">
            <a:extLst>
              <a:ext uri="{FF2B5EF4-FFF2-40B4-BE49-F238E27FC236}">
                <a16:creationId xmlns:a16="http://schemas.microsoft.com/office/drawing/2014/main" id="{7491593A-DFDE-0537-4993-209D9BDF0AC6}"/>
              </a:ext>
            </a:extLst>
          </p:cNvPr>
          <p:cNvGraphicFramePr>
            <a:graphicFrameLocks noGrp="1"/>
          </p:cNvGraphicFramePr>
          <p:nvPr/>
        </p:nvGraphicFramePr>
        <p:xfrm>
          <a:off x="695136" y="816437"/>
          <a:ext cx="8976662" cy="4923216"/>
        </p:xfrm>
        <a:graphic>
          <a:graphicData uri="http://schemas.openxmlformats.org/drawingml/2006/table">
            <a:tbl>
              <a:tblPr/>
              <a:tblGrid>
                <a:gridCol w="2091129">
                  <a:extLst>
                    <a:ext uri="{9D8B030D-6E8A-4147-A177-3AD203B41FA5}">
                      <a16:colId xmlns:a16="http://schemas.microsoft.com/office/drawing/2014/main" val="3671786004"/>
                    </a:ext>
                  </a:extLst>
                </a:gridCol>
                <a:gridCol w="2447040">
                  <a:extLst>
                    <a:ext uri="{9D8B030D-6E8A-4147-A177-3AD203B41FA5}">
                      <a16:colId xmlns:a16="http://schemas.microsoft.com/office/drawing/2014/main" val="2718708704"/>
                    </a:ext>
                  </a:extLst>
                </a:gridCol>
                <a:gridCol w="4438493">
                  <a:extLst>
                    <a:ext uri="{9D8B030D-6E8A-4147-A177-3AD203B41FA5}">
                      <a16:colId xmlns:a16="http://schemas.microsoft.com/office/drawing/2014/main" val="4090403575"/>
                    </a:ext>
                  </a:extLst>
                </a:gridCol>
              </a:tblGrid>
              <a:tr h="93330">
                <a:tc>
                  <a:txBody>
                    <a:bodyPr/>
                    <a:lstStyle/>
                    <a:p>
                      <a:pPr rtl="0">
                        <a:buNone/>
                      </a:pPr>
                      <a:r>
                        <a:rPr lang="ja-JP" altLang="en-US" sz="600" b="1" dirty="0">
                          <a:solidFill>
                            <a:srgbClr val="1F1F1F"/>
                          </a:solidFill>
                          <a:effectLst/>
                          <a:latin typeface="Google Sans Text"/>
                        </a:rPr>
                        <a:t>ステップ</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フェーズ</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主な作業内容</a:t>
                      </a:r>
                      <a:endParaRPr lang="ja-JP" altLang="en-US" sz="600" dirty="0">
                        <a:solidFill>
                          <a:srgbClr val="1F1F1F"/>
                        </a:solidFill>
                        <a:effectLst/>
                        <a:latin typeface="Google Sans Text"/>
                      </a:endParaRP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56722119"/>
                  </a:ext>
                </a:extLst>
              </a:tr>
              <a:tr h="889977">
                <a:tc>
                  <a:txBody>
                    <a:bodyPr/>
                    <a:lstStyle/>
                    <a:p>
                      <a:pPr rtl="0">
                        <a:buNone/>
                      </a:pPr>
                      <a:r>
                        <a:rPr lang="en-US" sz="600" b="1">
                          <a:solidFill>
                            <a:srgbClr val="1F1F1F"/>
                          </a:solidFill>
                          <a:effectLst/>
                          <a:latin typeface="Google Sans Text"/>
                        </a:rPr>
                        <a:t>STEP 1</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データ理解・前処理</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train.csv</a:t>
                      </a:r>
                      <a:r>
                        <a:rPr lang="ja-JP" altLang="en-US" sz="600">
                          <a:solidFill>
                            <a:srgbClr val="1F1F1F"/>
                          </a:solidFill>
                          <a:effectLst/>
                          <a:latin typeface="Google Sans Text"/>
                        </a:rPr>
                        <a:t> を正本データとして読込</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ja-JP" altLang="en-US" sz="600">
                          <a:solidFill>
                            <a:srgbClr val="444746"/>
                          </a:solidFill>
                          <a:effectLst/>
                          <a:latin typeface="Google Sans Text"/>
                        </a:rPr>
                        <a:t>カラム説明</a:t>
                      </a:r>
                      <a:r>
                        <a:rPr lang="en-US" altLang="ja-JP" sz="600">
                          <a:solidFill>
                            <a:srgbClr val="444746"/>
                          </a:solidFill>
                          <a:effectLst/>
                          <a:latin typeface="Google Sans Text"/>
                        </a:rPr>
                        <a:t>.md</a:t>
                      </a:r>
                      <a:r>
                        <a:rPr lang="ja-JP" altLang="en-US" sz="600">
                          <a:solidFill>
                            <a:srgbClr val="1F1F1F"/>
                          </a:solidFill>
                          <a:effectLst/>
                          <a:latin typeface="Google Sans Text"/>
                        </a:rPr>
                        <a:t> を基準に定義確認</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・数値・カテゴリ・順序カテゴリ項目を整理</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・欠損値・分布・外れ値の確認</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grade</a:t>
                      </a:r>
                      <a:r>
                        <a:rPr lang="en-US" altLang="ja-JP" sz="600">
                          <a:solidFill>
                            <a:srgbClr val="1F1F1F"/>
                          </a:solidFill>
                          <a:effectLst/>
                          <a:latin typeface="Google Sans Text"/>
                        </a:rPr>
                        <a:t>, </a:t>
                      </a:r>
                      <a:r>
                        <a:rPr lang="en-US" altLang="ja-JP" sz="600">
                          <a:solidFill>
                            <a:srgbClr val="444746"/>
                          </a:solidFill>
                          <a:effectLst/>
                          <a:latin typeface="Google Sans Text"/>
                        </a:rPr>
                        <a:t>employment length</a:t>
                      </a:r>
                      <a:r>
                        <a:rPr lang="en-US" altLang="ja-JP" sz="600">
                          <a:solidFill>
                            <a:srgbClr val="1F1F1F"/>
                          </a:solidFill>
                          <a:effectLst/>
                          <a:latin typeface="Google Sans Text"/>
                        </a:rPr>
                        <a:t>, </a:t>
                      </a:r>
                      <a:r>
                        <a:rPr lang="en-US" altLang="ja-JP" sz="600">
                          <a:solidFill>
                            <a:srgbClr val="444746"/>
                          </a:solidFill>
                          <a:effectLst/>
                          <a:latin typeface="Google Sans Text"/>
                        </a:rPr>
                        <a:t>term</a:t>
                      </a:r>
                      <a:r>
                        <a:rPr lang="ja-JP" altLang="en-US" sz="600">
                          <a:solidFill>
                            <a:srgbClr val="1F1F1F"/>
                          </a:solidFill>
                          <a:effectLst/>
                          <a:latin typeface="Google Sans Text"/>
                        </a:rPr>
                        <a:t> の順序性整形</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78313025"/>
                  </a:ext>
                </a:extLst>
              </a:tr>
              <a:tr h="690816">
                <a:tc>
                  <a:txBody>
                    <a:bodyPr/>
                    <a:lstStyle/>
                    <a:p>
                      <a:pPr rtl="0">
                        <a:buNone/>
                      </a:pPr>
                      <a:r>
                        <a:rPr lang="en-US" sz="600" b="1" dirty="0">
                          <a:solidFill>
                            <a:srgbClr val="1F1F1F"/>
                          </a:solidFill>
                          <a:effectLst/>
                          <a:latin typeface="Google Sans Text"/>
                        </a:rPr>
                        <a:t>STEP 2</a:t>
                      </a:r>
                      <a:endParaRPr 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探索的分析</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dirty="0">
                          <a:solidFill>
                            <a:srgbClr val="1F1F1F"/>
                          </a:solidFill>
                          <a:effectLst/>
                          <a:latin typeface="Google Sans Text"/>
                        </a:rPr>
                        <a:t>・</a:t>
                      </a:r>
                      <a:r>
                        <a:rPr lang="en-US" altLang="ja-JP" sz="600" dirty="0">
                          <a:solidFill>
                            <a:srgbClr val="444746"/>
                          </a:solidFill>
                          <a:effectLst/>
                          <a:latin typeface="Google Sans Text"/>
                        </a:rPr>
                        <a:t>loan status=1</a:t>
                      </a:r>
                      <a:r>
                        <a:rPr lang="ja-JP" altLang="en-US" sz="600" dirty="0">
                          <a:solidFill>
                            <a:srgbClr val="1F1F1F"/>
                          </a:solidFill>
                          <a:effectLst/>
                          <a:latin typeface="Google Sans Text"/>
                        </a:rPr>
                        <a:t> 比率を基準不良率として確認</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・単変量分析で主要変数ごとの傾向把握</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・多変量観点からセグメント別不良率差を可視化</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a:t>
                      </a:r>
                      <a:r>
                        <a:rPr lang="en-US" altLang="ja-JP" sz="600" dirty="0">
                          <a:solidFill>
                            <a:srgbClr val="444746"/>
                          </a:solidFill>
                          <a:effectLst/>
                          <a:latin typeface="Google Sans Text"/>
                        </a:rPr>
                        <a:t>purpose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application type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grade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term</a:t>
                      </a:r>
                      <a:r>
                        <a:rPr lang="ja-JP" altLang="en-US" sz="600" dirty="0">
                          <a:solidFill>
                            <a:srgbClr val="1F1F1F"/>
                          </a:solidFill>
                          <a:effectLst/>
                          <a:latin typeface="Google Sans Text"/>
                        </a:rPr>
                        <a:t> 等によるポートフォリオ比較</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5876352"/>
                  </a:ext>
                </a:extLst>
              </a:tr>
              <a:tr h="690816">
                <a:tc>
                  <a:txBody>
                    <a:bodyPr/>
                    <a:lstStyle/>
                    <a:p>
                      <a:pPr rtl="0">
                        <a:buNone/>
                      </a:pPr>
                      <a:r>
                        <a:rPr lang="en-US" sz="600" b="1">
                          <a:solidFill>
                            <a:srgbClr val="1F1F1F"/>
                          </a:solidFill>
                          <a:effectLst/>
                          <a:latin typeface="Google Sans Text"/>
                        </a:rPr>
                        <a:t>STEP 3</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モデリング</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・ベースラインモデルを構築し基準性能を把握</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・ロジスティック回帰等の説明性重視モデルを中心に評価</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・必要に応じて決定木系モデルの重要度も比較利用</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・学習・検証を分離し汎化性能を確認</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0013734"/>
                  </a:ext>
                </a:extLst>
              </a:tr>
              <a:tr h="690816">
                <a:tc>
                  <a:txBody>
                    <a:bodyPr/>
                    <a:lstStyle/>
                    <a:p>
                      <a:pPr rtl="0">
                        <a:buNone/>
                      </a:pPr>
                      <a:r>
                        <a:rPr lang="en-US" sz="600" b="1">
                          <a:solidFill>
                            <a:srgbClr val="1F1F1F"/>
                          </a:solidFill>
                          <a:effectLst/>
                          <a:latin typeface="Google Sans Text"/>
                        </a:rPr>
                        <a:t>STEP 4</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評価・解釈</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a:t>
                      </a:r>
                      <a:r>
                        <a:rPr lang="en-US" altLang="ja-JP" sz="600">
                          <a:solidFill>
                            <a:srgbClr val="1F1F1F"/>
                          </a:solidFill>
                          <a:effectLst/>
                          <a:latin typeface="Google Sans Text"/>
                        </a:rPr>
                        <a:t>ROC-AUC, PR-AUC, </a:t>
                      </a:r>
                      <a:r>
                        <a:rPr lang="ja-JP" altLang="en-US" sz="600">
                          <a:solidFill>
                            <a:srgbClr val="1F1F1F"/>
                          </a:solidFill>
                          <a:effectLst/>
                          <a:latin typeface="Google Sans Text"/>
                        </a:rPr>
                        <a:t>混同行列</a:t>
                      </a:r>
                      <a:r>
                        <a:rPr lang="en-US" altLang="ja-JP" sz="600">
                          <a:solidFill>
                            <a:srgbClr val="1F1F1F"/>
                          </a:solidFill>
                          <a:effectLst/>
                          <a:latin typeface="Google Sans Text"/>
                        </a:rPr>
                        <a:t>, </a:t>
                      </a:r>
                      <a:r>
                        <a:rPr lang="ja-JP" altLang="en-US" sz="600">
                          <a:solidFill>
                            <a:srgbClr val="1F1F1F"/>
                          </a:solidFill>
                          <a:effectLst/>
                          <a:latin typeface="Google Sans Text"/>
                        </a:rPr>
                        <a:t>リフト等を算出</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・上位</a:t>
                      </a:r>
                      <a:r>
                        <a:rPr lang="en-US" altLang="ja-JP" sz="600">
                          <a:solidFill>
                            <a:srgbClr val="1F1F1F"/>
                          </a:solidFill>
                          <a:effectLst/>
                          <a:latin typeface="Google Sans Text"/>
                        </a:rPr>
                        <a:t>/</a:t>
                      </a:r>
                      <a:r>
                        <a:rPr lang="ja-JP" altLang="en-US" sz="600">
                          <a:solidFill>
                            <a:srgbClr val="1F1F1F"/>
                          </a:solidFill>
                          <a:effectLst/>
                          <a:latin typeface="Google Sans Text"/>
                        </a:rPr>
                        <a:t>下位リスク群の不良率差を可視化</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・主要特徴量の重要度・方向性・業務上の意味を整理</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interest rate</a:t>
                      </a:r>
                      <a:r>
                        <a:rPr lang="en-US" altLang="ja-JP" sz="600">
                          <a:solidFill>
                            <a:srgbClr val="1F1F1F"/>
                          </a:solidFill>
                          <a:effectLst/>
                          <a:latin typeface="Google Sans Text"/>
                        </a:rPr>
                        <a:t>, </a:t>
                      </a:r>
                      <a:r>
                        <a:rPr lang="en-US" altLang="ja-JP" sz="600">
                          <a:solidFill>
                            <a:srgbClr val="444746"/>
                          </a:solidFill>
                          <a:effectLst/>
                          <a:latin typeface="Google Sans Text"/>
                        </a:rPr>
                        <a:t>grade</a:t>
                      </a:r>
                      <a:r>
                        <a:rPr lang="ja-JP" altLang="en-US" sz="600">
                          <a:solidFill>
                            <a:srgbClr val="1F1F1F"/>
                          </a:solidFill>
                          <a:effectLst/>
                          <a:latin typeface="Google Sans Text"/>
                        </a:rPr>
                        <a:t> のリーケージ懸念を明示</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83362893"/>
                  </a:ext>
                </a:extLst>
              </a:tr>
              <a:tr h="491654">
                <a:tc>
                  <a:txBody>
                    <a:bodyPr/>
                    <a:lstStyle/>
                    <a:p>
                      <a:pPr rtl="0">
                        <a:buNone/>
                      </a:pPr>
                      <a:r>
                        <a:rPr lang="en-US" sz="600" b="1">
                          <a:solidFill>
                            <a:srgbClr val="1F1F1F"/>
                          </a:solidFill>
                          <a:effectLst/>
                          <a:latin typeface="Google Sans Text"/>
                        </a:rPr>
                        <a:t>STEP 5</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ガバナンス・報告</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dirty="0">
                          <a:solidFill>
                            <a:srgbClr val="1F1F1F"/>
                          </a:solidFill>
                          <a:effectLst/>
                          <a:latin typeface="Google Sans Text"/>
                        </a:rPr>
                        <a:t>・データ定義・前処理・評価条件・判断根拠を文書化</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・中間レビュー・最終レビューを通じて合意形成</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・将来のモデル化・モニタリングに接続可能な論点整理</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44571494"/>
                  </a:ext>
                </a:extLst>
              </a:tr>
            </a:tbl>
          </a:graphicData>
        </a:graphic>
      </p:graphicFrame>
    </p:spTree>
    <p:extLst>
      <p:ext uri="{BB962C8B-B14F-4D97-AF65-F5344CB8AC3E}">
        <p14:creationId xmlns:p14="http://schemas.microsoft.com/office/powerpoint/2010/main" val="1460406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ctr"/>
          <a:lstStyle/>
          <a:p>
            <a:pPr algn="r"/>
            <a:r>
              <a:rPr lang="ja-JP" sz="1400" dirty="0">
                <a:solidFill>
                  <a:srgbClr val="999999"/>
                </a:solidFill>
                <a:latin typeface="BIZ UDPゴシック"/>
                <a:ea typeface="BIZ UDPゴシック"/>
              </a:rPr>
              <a:t>08</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ctr"/>
          <a:lstStyle/>
          <a:p>
            <a:pPr algn="l"/>
            <a:r>
              <a:rPr lang="ja-JP" sz="2400" b="1" dirty="0">
                <a:solidFill>
                  <a:srgbClr val="1A1A1A"/>
                </a:solidFill>
                <a:latin typeface="BIZ UDPゴシック"/>
                <a:ea typeface="BIZ UDPゴシック"/>
              </a:rPr>
              <a:t>5. 実施体制</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ctr"/>
          <a:lstStyle/>
          <a:p>
            <a:endParaRPr lang="ja-JP"/>
          </a:p>
        </p:txBody>
      </p:sp>
      <p:sp>
        <p:nvSpPr>
          <p:cNvPr id="20" name="s20"/>
          <p:cNvSpPr/>
          <p:nvPr/>
        </p:nvSpPr>
        <p:spPr>
          <a:xfrm>
            <a:off x="381000" y="863600"/>
            <a:ext cx="3810000" cy="355600"/>
          </a:xfrm>
          <a:prstGeom prst="rect">
            <a:avLst/>
          </a:prstGeom>
          <a:solidFill>
            <a:srgbClr val="4A4A4A"/>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発注者</a:t>
            </a:r>
          </a:p>
        </p:txBody>
      </p:sp>
      <p:sp>
        <p:nvSpPr>
          <p:cNvPr id="21" name="s21"/>
          <p:cNvSpPr/>
          <p:nvPr/>
        </p:nvSpPr>
        <p:spPr>
          <a:xfrm>
            <a:off x="381000" y="1270000"/>
            <a:ext cx="3810000" cy="952500"/>
          </a:xfrm>
          <a:prstGeom prst="roundRect">
            <a:avLst/>
          </a:prstGeom>
          <a:solidFill>
            <a:srgbClr val="F5F5F3"/>
          </a:solidFill>
          <a:ln>
            <a:noFill/>
          </a:ln>
        </p:spPr>
        <p:txBody>
          <a:bodyPr wrap="square" lIns="54000" tIns="27000" rIns="54000" bIns="27000" anchor="ctr"/>
          <a:lstStyle/>
          <a:p>
            <a:pPr algn="ctr"/>
            <a:r>
              <a:rPr lang="ja-JP" altLang="en-US" sz="1300" b="1">
                <a:solidFill>
                  <a:srgbClr val="333333"/>
                </a:solidFill>
                <a:latin typeface="BIZ UDPゴシック"/>
                <a:ea typeface="BIZ UDPゴシック"/>
              </a:rPr>
              <a:t>青葉与信マネジメント株式会社</a:t>
            </a:r>
          </a:p>
          <a:p>
            <a:pPr algn="ctr"/>
            <a:r>
              <a:rPr lang="ja-JP" altLang="en-US" sz="1300" b="1">
                <a:solidFill>
                  <a:srgbClr val="333333"/>
                </a:solidFill>
                <a:latin typeface="BIZ UDPゴシック"/>
                <a:ea typeface="BIZ UDPゴシック"/>
              </a:rPr>
              <a:t>審査企画部</a:t>
            </a:r>
          </a:p>
          <a:p>
            <a:pPr algn="ctr"/>
            <a:r>
              <a:rPr lang="ja-JP" altLang="en-US" sz="1300" b="1">
                <a:solidFill>
                  <a:srgbClr val="333333"/>
                </a:solidFill>
                <a:latin typeface="BIZ UDPゴシック"/>
                <a:ea typeface="BIZ UDPゴシック"/>
              </a:rPr>
              <a:t>主担当：中村 浩一（審査企画部長）</a:t>
            </a:r>
            <a:endParaRPr lang="ja-JP" sz="1200" dirty="0">
              <a:solidFill>
                <a:srgbClr val="333333"/>
              </a:solidFill>
              <a:latin typeface="BIZ UDPゴシック"/>
              <a:ea typeface="BIZ UDPゴシック"/>
            </a:endParaRPr>
          </a:p>
        </p:txBody>
      </p:sp>
      <p:sp>
        <p:nvSpPr>
          <p:cNvPr id="22" name="s22"/>
          <p:cNvSpPr/>
          <p:nvPr/>
        </p:nvSpPr>
        <p:spPr>
          <a:xfrm>
            <a:off x="4699000" y="863600"/>
            <a:ext cx="7112000" cy="355600"/>
          </a:xfrm>
          <a:prstGeom prst="rect">
            <a:avLst/>
          </a:prstGeom>
          <a:solidFill>
            <a:srgbClr val="8B2500"/>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受託者：株式会社データアステル データサイエンス部</a:t>
            </a:r>
          </a:p>
        </p:txBody>
      </p:sp>
      <p:sp>
        <p:nvSpPr>
          <p:cNvPr id="23" name="s23"/>
          <p:cNvSpPr/>
          <p:nvPr/>
        </p:nvSpPr>
        <p:spPr>
          <a:xfrm>
            <a:off x="4254500" y="1397000"/>
            <a:ext cx="381000" cy="381000"/>
          </a:xfrm>
          <a:prstGeom prst="rect">
            <a:avLst/>
          </a:prstGeom>
          <a:noFill/>
          <a:ln>
            <a:noFill/>
          </a:ln>
        </p:spPr>
        <p:txBody>
          <a:bodyPr wrap="square" lIns="54000" tIns="27000" rIns="54000" bIns="27000" anchor="ctr"/>
          <a:lstStyle/>
          <a:p>
            <a:pPr algn="ctr"/>
            <a:r>
              <a:rPr lang="en-US" sz="1600" b="1" dirty="0">
                <a:solidFill>
                  <a:srgbClr val="8B2500"/>
                </a:solidFill>
              </a:rPr>
              <a:t>⇄</a:t>
            </a:r>
          </a:p>
        </p:txBody>
      </p:sp>
      <p:sp>
        <p:nvSpPr>
          <p:cNvPr id="30" name="s30"/>
          <p:cNvSpPr/>
          <p:nvPr/>
        </p:nvSpPr>
        <p:spPr>
          <a:xfrm>
            <a:off x="46990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1A1A1A"/>
                </a:solidFill>
                <a:latin typeface="BIZ UDPゴシック"/>
                <a:ea typeface="BIZ UDPゴシック"/>
              </a:rPr>
              <a:t>エグゼクティブスポンサー</a:t>
            </a:r>
          </a:p>
          <a:p>
            <a:pPr algn="l">
              <a:spcBef>
                <a:spcPts val="100"/>
              </a:spcBef>
            </a:pPr>
            <a:r>
              <a:rPr lang="ja-JP" sz="1300" b="1" dirty="0">
                <a:solidFill>
                  <a:srgbClr val="1A1A1A"/>
                </a:solidFill>
                <a:latin typeface="BIZ UDPゴシック"/>
                <a:ea typeface="BIZ UDPゴシック"/>
              </a:rPr>
              <a:t>山田 直樹</a:t>
            </a:r>
          </a:p>
          <a:p>
            <a:pPr algn="l">
              <a:spcBef>
                <a:spcPts val="50"/>
              </a:spcBef>
            </a:pPr>
            <a:r>
              <a:rPr lang="ja-JP" sz="1000" dirty="0">
                <a:solidFill>
                  <a:srgbClr val="6B6B6B"/>
                </a:solidFill>
                <a:latin typeface="BIZ UDPゴシック"/>
                <a:ea typeface="BIZ UDPゴシック"/>
              </a:rPr>
              <a:t>全体統括、重要意思決定支援</a:t>
            </a:r>
          </a:p>
        </p:txBody>
      </p:sp>
      <p:sp>
        <p:nvSpPr>
          <p:cNvPr id="31" name="s31"/>
          <p:cNvSpPr/>
          <p:nvPr/>
        </p:nvSpPr>
        <p:spPr>
          <a:xfrm>
            <a:off x="83185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8B2500"/>
                </a:solidFill>
                <a:latin typeface="BIZ UDPゴシック"/>
                <a:ea typeface="BIZ UDPゴシック"/>
              </a:rPr>
              <a:t>プロジェクトマネージャー</a:t>
            </a:r>
          </a:p>
          <a:p>
            <a:pPr algn="l">
              <a:spcBef>
                <a:spcPts val="100"/>
              </a:spcBef>
            </a:pPr>
            <a:r>
              <a:rPr lang="ja-JP" sz="1300" b="1" dirty="0">
                <a:solidFill>
                  <a:srgbClr val="1A1A1A"/>
                </a:solidFill>
                <a:latin typeface="BIZ UDPゴシック"/>
                <a:ea typeface="BIZ UDPゴシック"/>
              </a:rPr>
              <a:t>伊藤 翔太</a:t>
            </a:r>
          </a:p>
          <a:p>
            <a:pPr algn="l">
              <a:spcBef>
                <a:spcPts val="50"/>
              </a:spcBef>
            </a:pPr>
            <a:r>
              <a:rPr lang="ja-JP" sz="1000" dirty="0">
                <a:solidFill>
                  <a:srgbClr val="6B6B6B"/>
                </a:solidFill>
                <a:latin typeface="BIZ UDPゴシック"/>
                <a:ea typeface="BIZ UDPゴシック"/>
              </a:rPr>
              <a:t>進捗・課題・変更管理、対外窓口</a:t>
            </a:r>
          </a:p>
        </p:txBody>
      </p:sp>
      <p:sp>
        <p:nvSpPr>
          <p:cNvPr id="32" name="s32"/>
          <p:cNvSpPr/>
          <p:nvPr/>
        </p:nvSpPr>
        <p:spPr>
          <a:xfrm>
            <a:off x="46990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リードデータサイエンティスト</a:t>
            </a:r>
          </a:p>
          <a:p>
            <a:pPr algn="ctr">
              <a:spcBef>
                <a:spcPts val="100"/>
              </a:spcBef>
            </a:pPr>
            <a:r>
              <a:rPr lang="ja-JP" sz="1200" b="1" dirty="0">
                <a:solidFill>
                  <a:srgbClr val="1A1A1A"/>
                </a:solidFill>
                <a:latin typeface="BIZ UDPゴシック"/>
                <a:ea typeface="BIZ UDPゴシック"/>
              </a:rPr>
              <a:t>山本 彩乃</a:t>
            </a:r>
          </a:p>
          <a:p>
            <a:pPr algn="ctr">
              <a:spcBef>
                <a:spcPts val="50"/>
              </a:spcBef>
            </a:pPr>
            <a:r>
              <a:rPr lang="ja-JP" sz="800" dirty="0">
                <a:solidFill>
                  <a:srgbClr val="6B6B6B"/>
                </a:solidFill>
                <a:latin typeface="BIZ UDPゴシック"/>
                <a:ea typeface="BIZ UDPゴシック"/>
              </a:rPr>
              <a:t>分析設計、モデル構築、評価方針策定</a:t>
            </a:r>
          </a:p>
        </p:txBody>
      </p:sp>
      <p:sp>
        <p:nvSpPr>
          <p:cNvPr id="33" name="s33"/>
          <p:cNvSpPr/>
          <p:nvPr/>
        </p:nvSpPr>
        <p:spPr>
          <a:xfrm>
            <a:off x="65024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データエンジニア</a:t>
            </a:r>
          </a:p>
          <a:p>
            <a:pPr algn="ctr">
              <a:spcBef>
                <a:spcPts val="100"/>
              </a:spcBef>
            </a:pPr>
            <a:r>
              <a:rPr lang="ja-JP" sz="1200" b="1" dirty="0">
                <a:solidFill>
                  <a:srgbClr val="1A1A1A"/>
                </a:solidFill>
                <a:latin typeface="BIZ UDPゴシック"/>
                <a:ea typeface="BIZ UDPゴシック"/>
              </a:rPr>
              <a:t>斎藤 悠斗</a:t>
            </a:r>
          </a:p>
          <a:p>
            <a:pPr algn="ctr">
              <a:spcBef>
                <a:spcPts val="50"/>
              </a:spcBef>
            </a:pPr>
            <a:r>
              <a:rPr lang="ja-JP" sz="800" dirty="0">
                <a:solidFill>
                  <a:srgbClr val="6B6B6B"/>
                </a:solidFill>
                <a:latin typeface="BIZ UDPゴシック"/>
                <a:ea typeface="BIZ UDPゴシック"/>
              </a:rPr>
              <a:t>データ整備、再現環境整備</a:t>
            </a:r>
          </a:p>
        </p:txBody>
      </p:sp>
      <p:sp>
        <p:nvSpPr>
          <p:cNvPr id="34" name="s34"/>
          <p:cNvSpPr/>
          <p:nvPr/>
        </p:nvSpPr>
        <p:spPr>
          <a:xfrm>
            <a:off x="83058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ビジネスアナリスト</a:t>
            </a:r>
          </a:p>
          <a:p>
            <a:pPr algn="ctr">
              <a:spcBef>
                <a:spcPts val="100"/>
              </a:spcBef>
            </a:pPr>
            <a:r>
              <a:rPr lang="ja-JP" altLang="en-US" sz="1200" b="1" dirty="0">
                <a:solidFill>
                  <a:srgbClr val="3D3D3D"/>
                </a:solidFill>
                <a:latin typeface="BIZ UDPGothic"/>
                <a:ea typeface="BIZ UDPGothic"/>
              </a:rPr>
              <a:t>井上 里奈</a:t>
            </a:r>
            <a:endParaRPr lang="ja-JP" sz="1200" b="1" dirty="0">
              <a:solidFill>
                <a:srgbClr val="1A1A1A"/>
              </a:solidFill>
              <a:latin typeface="BIZ UDPゴシック"/>
              <a:ea typeface="BIZ UDPゴシック"/>
            </a:endParaRPr>
          </a:p>
          <a:p>
            <a:pPr algn="ctr">
              <a:spcBef>
                <a:spcPts val="50"/>
              </a:spcBef>
            </a:pPr>
            <a:r>
              <a:rPr lang="ja-JP" sz="800" dirty="0">
                <a:solidFill>
                  <a:srgbClr val="6B6B6B"/>
                </a:solidFill>
                <a:latin typeface="BIZ UDPゴシック"/>
                <a:ea typeface="BIZ UDPゴシック"/>
              </a:rPr>
              <a:t>業務要件整理、報告資料作成</a:t>
            </a:r>
          </a:p>
        </p:txBody>
      </p:sp>
      <p:sp>
        <p:nvSpPr>
          <p:cNvPr id="35" name="s35"/>
          <p:cNvSpPr/>
          <p:nvPr/>
        </p:nvSpPr>
        <p:spPr>
          <a:xfrm>
            <a:off x="101092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QAレビューア</a:t>
            </a:r>
          </a:p>
          <a:p>
            <a:pPr algn="ctr">
              <a:spcBef>
                <a:spcPts val="100"/>
              </a:spcBef>
            </a:pPr>
            <a:r>
              <a:rPr lang="ja-JP" sz="1200" b="1" dirty="0">
                <a:solidFill>
                  <a:srgbClr val="1A1A1A"/>
                </a:solidFill>
                <a:latin typeface="BIZ UDPゴシック"/>
                <a:ea typeface="BIZ UDPゴシック"/>
              </a:rPr>
              <a:t>岡田 佑樹</a:t>
            </a:r>
          </a:p>
          <a:p>
            <a:pPr algn="ctr">
              <a:spcBef>
                <a:spcPts val="50"/>
              </a:spcBef>
            </a:pPr>
            <a:r>
              <a:rPr lang="ja-JP" sz="800" dirty="0">
                <a:solidFill>
                  <a:srgbClr val="6B6B6B"/>
                </a:solidFill>
                <a:latin typeface="BIZ UDPゴシック"/>
                <a:ea typeface="BIZ UDPゴシック"/>
              </a:rPr>
              <a:t>成果物レビュー、品質確認</a:t>
            </a:r>
          </a:p>
        </p:txBody>
      </p:sp>
      <p:sp>
        <p:nvSpPr>
          <p:cNvPr id="40" name="s40"/>
          <p:cNvSpPr/>
          <p:nvPr/>
        </p:nvSpPr>
        <p:spPr>
          <a:xfrm>
            <a:off x="381000" y="3556000"/>
            <a:ext cx="11430000" cy="19050"/>
          </a:xfrm>
          <a:prstGeom prst="rect">
            <a:avLst/>
          </a:prstGeom>
          <a:solidFill>
            <a:srgbClr val="C0C0C0"/>
          </a:solidFill>
          <a:ln>
            <a:noFill/>
          </a:ln>
        </p:spPr>
        <p:txBody>
          <a:bodyPr wrap="square" lIns="54000" tIns="27000" rIns="54000" bIns="27000" anchor="ctr"/>
          <a:lstStyle/>
          <a:p>
            <a:endParaRPr lang="ja-JP"/>
          </a:p>
        </p:txBody>
      </p:sp>
      <p:sp>
        <p:nvSpPr>
          <p:cNvPr id="41" name="s41"/>
          <p:cNvSpPr/>
          <p:nvPr/>
        </p:nvSpPr>
        <p:spPr>
          <a:xfrm>
            <a:off x="381000" y="3708400"/>
            <a:ext cx="2540000" cy="355600"/>
          </a:xfrm>
          <a:prstGeom prst="rect">
            <a:avLst/>
          </a:prstGeom>
          <a:noFill/>
          <a:ln>
            <a:noFill/>
          </a:ln>
        </p:spPr>
        <p:txBody>
          <a:bodyPr wrap="square" lIns="54000" tIns="27000" rIns="54000" bIns="27000" anchor="ctr"/>
          <a:lstStyle/>
          <a:p>
            <a:pPr algn="l"/>
            <a:r>
              <a:rPr lang="ja-JP" sz="1500" b="1" dirty="0">
                <a:solidFill>
                  <a:srgbClr val="1A1A1A"/>
                </a:solidFill>
                <a:latin typeface="BIZ UDPゴシック"/>
                <a:ea typeface="BIZ UDPゴシック"/>
              </a:rPr>
              <a:t>会議・運営体制</a:t>
            </a:r>
          </a:p>
        </p:txBody>
      </p:sp>
      <p:sp>
        <p:nvSpPr>
          <p:cNvPr id="45" name="s45"/>
          <p:cNvSpPr/>
          <p:nvPr/>
        </p:nvSpPr>
        <p:spPr>
          <a:xfrm>
            <a:off x="381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定例会議</a:t>
            </a:r>
          </a:p>
          <a:p>
            <a:pPr algn="ctr"/>
            <a:r>
              <a:rPr lang="ja-JP" sz="1300" dirty="0">
                <a:solidFill>
                  <a:srgbClr val="333333"/>
                </a:solidFill>
                <a:latin typeface="BIZ UDPゴシック"/>
                <a:ea typeface="BIZ UDPゴシック"/>
              </a:rPr>
              <a:t>週1回実施</a:t>
            </a:r>
          </a:p>
        </p:txBody>
      </p:sp>
      <p:sp>
        <p:nvSpPr>
          <p:cNvPr id="46" name="s46"/>
          <p:cNvSpPr/>
          <p:nvPr/>
        </p:nvSpPr>
        <p:spPr>
          <a:xfrm>
            <a:off x="3175000" y="4127500"/>
            <a:ext cx="2603500" cy="698500"/>
          </a:xfrm>
          <a:prstGeom prst="roundRect">
            <a:avLst/>
          </a:prstGeom>
          <a:solidFill>
            <a:srgbClr val="F5F5F3"/>
          </a:solidFill>
          <a:ln>
            <a:noFill/>
          </a:ln>
        </p:spPr>
        <p:txBody>
          <a:bodyPr wrap="square" lIns="54000" tIns="27000" rIns="54000" bIns="27000" anchor="ctr"/>
          <a:lstStyle/>
          <a:p>
            <a:pPr algn="ctr"/>
            <a:r>
              <a:rPr lang="zh-TW" altLang="en-US" sz="1200" b="1">
                <a:solidFill>
                  <a:srgbClr val="8B2500"/>
                </a:solidFill>
                <a:latin typeface="BIZ UDPゴシック"/>
                <a:ea typeface="BIZ UDPゴシック"/>
              </a:rPr>
              <a:t>発注者側窓口</a:t>
            </a:r>
          </a:p>
          <a:p>
            <a:pPr algn="ctr"/>
            <a:r>
              <a:rPr lang="zh-TW" altLang="en-US" sz="1200" b="1">
                <a:solidFill>
                  <a:srgbClr val="8B2500"/>
                </a:solidFill>
                <a:latin typeface="BIZ UDPゴシック"/>
                <a:ea typeface="BIZ UDPゴシック"/>
              </a:rPr>
              <a:t>中村 浩一</a:t>
            </a:r>
            <a:endParaRPr lang="ja-JP" sz="1300" dirty="0">
              <a:solidFill>
                <a:srgbClr val="333333"/>
              </a:solidFill>
              <a:latin typeface="BIZ UDPゴシック"/>
              <a:ea typeface="BIZ UDPゴシック"/>
            </a:endParaRPr>
          </a:p>
        </p:txBody>
      </p:sp>
      <p:sp>
        <p:nvSpPr>
          <p:cNvPr id="47" name="s47"/>
          <p:cNvSpPr/>
          <p:nvPr/>
        </p:nvSpPr>
        <p:spPr>
          <a:xfrm>
            <a:off x="5969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受託者側窓口</a:t>
            </a:r>
          </a:p>
          <a:p>
            <a:pPr algn="ctr"/>
            <a:r>
              <a:rPr lang="ja-JP" sz="1300" dirty="0">
                <a:solidFill>
                  <a:srgbClr val="333333"/>
                </a:solidFill>
                <a:latin typeface="BIZ UDPゴシック"/>
                <a:ea typeface="BIZ UDPゴシック"/>
              </a:rPr>
              <a:t>伊藤 翔太</a:t>
            </a:r>
          </a:p>
        </p:txBody>
      </p:sp>
      <p:sp>
        <p:nvSpPr>
          <p:cNvPr id="50" name="s50"/>
          <p:cNvSpPr/>
          <p:nvPr/>
        </p:nvSpPr>
        <p:spPr>
          <a:xfrm>
            <a:off x="8890000" y="3784600"/>
            <a:ext cx="2921000" cy="317500"/>
          </a:xfrm>
          <a:prstGeom prst="rect">
            <a:avLst/>
          </a:prstGeom>
          <a:noFill/>
          <a:ln>
            <a:noFill/>
          </a:ln>
        </p:spPr>
        <p:txBody>
          <a:bodyPr wrap="square" lIns="54000" tIns="27000" rIns="54000" bIns="27000" anchor="ctr"/>
          <a:lstStyle/>
          <a:p>
            <a:pPr algn="l"/>
            <a:r>
              <a:rPr lang="ja-JP" sz="1300" b="1" dirty="0">
                <a:solidFill>
                  <a:srgbClr val="1A1A1A"/>
                </a:solidFill>
                <a:latin typeface="BIZ UDPゴシック"/>
                <a:ea typeface="BIZ UDPゴシック"/>
              </a:rPr>
              <a:t>主な議題</a:t>
            </a:r>
          </a:p>
        </p:txBody>
      </p:sp>
      <p:sp>
        <p:nvSpPr>
          <p:cNvPr id="51" name="s51"/>
          <p:cNvSpPr/>
          <p:nvPr/>
        </p:nvSpPr>
        <p:spPr>
          <a:xfrm>
            <a:off x="8890000" y="4127500"/>
            <a:ext cx="2921000" cy="1498600"/>
          </a:xfrm>
          <a:prstGeom prst="roundRect">
            <a:avLst/>
          </a:prstGeom>
          <a:solidFill>
            <a:srgbClr val="F5F5F3"/>
          </a:solidFill>
          <a:ln>
            <a:noFill/>
          </a:ln>
        </p:spPr>
        <p:txBody>
          <a:bodyPr wrap="square" lIns="54000" tIns="27000" rIns="54000" bIns="27000" anchor="t"/>
          <a:lstStyle/>
          <a:p>
            <a:pPr algn="l">
              <a:spcBef>
                <a:spcPts val="50"/>
              </a:spcBef>
              <a:spcAft>
                <a:spcPts val="50"/>
              </a:spcAft>
            </a:pPr>
            <a:r>
              <a:rPr lang="ja-JP" sz="1100" dirty="0">
                <a:solidFill>
                  <a:srgbClr val="333333"/>
                </a:solidFill>
                <a:latin typeface="BIZ UDPゴシック"/>
                <a:ea typeface="BIZ UDPゴシック"/>
              </a:rPr>
              <a:t>• 分析前提確認</a:t>
            </a:r>
          </a:p>
          <a:p>
            <a:pPr algn="l">
              <a:spcBef>
                <a:spcPts val="50"/>
              </a:spcBef>
              <a:spcAft>
                <a:spcPts val="50"/>
              </a:spcAft>
            </a:pPr>
            <a:r>
              <a:rPr lang="ja-JP" sz="1100" dirty="0">
                <a:solidFill>
                  <a:srgbClr val="333333"/>
                </a:solidFill>
                <a:latin typeface="BIZ UDPゴシック"/>
                <a:ea typeface="BIZ UDPゴシック"/>
              </a:rPr>
              <a:t>• 中間結果レビュー</a:t>
            </a:r>
          </a:p>
          <a:p>
            <a:pPr algn="l">
              <a:spcBef>
                <a:spcPts val="50"/>
              </a:spcBef>
              <a:spcAft>
                <a:spcPts val="50"/>
              </a:spcAft>
            </a:pPr>
            <a:r>
              <a:rPr lang="ja-JP" sz="1100" dirty="0">
                <a:solidFill>
                  <a:srgbClr val="333333"/>
                </a:solidFill>
                <a:latin typeface="BIZ UDPゴシック"/>
                <a:ea typeface="BIZ UDPゴシック"/>
              </a:rPr>
              <a:t>• 追加論点の優先順位判断</a:t>
            </a:r>
          </a:p>
          <a:p>
            <a:pPr algn="l">
              <a:spcBef>
                <a:spcPts val="50"/>
              </a:spcBef>
              <a:spcAft>
                <a:spcPts val="50"/>
              </a:spcAft>
            </a:pPr>
            <a:r>
              <a:rPr lang="ja-JP" sz="1100" dirty="0">
                <a:solidFill>
                  <a:srgbClr val="333333"/>
                </a:solidFill>
                <a:latin typeface="BIZ UDPゴシック"/>
                <a:ea typeface="BIZ UDPゴシック"/>
              </a:rPr>
              <a:t>• 最終成果物レビュー</a:t>
            </a:r>
          </a:p>
        </p:txBody>
      </p:sp>
    </p:spTree>
    <p:extLst>
      <p:ext uri="{BB962C8B-B14F-4D97-AF65-F5344CB8AC3E}">
        <p14:creationId xmlns:p14="http://schemas.microsoft.com/office/powerpoint/2010/main" val="125122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D2105FF-766E-411F-AA91-FCEC907D7FED}"/>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54FD1F0-BC99-4D09-984D-DE7904A1B856}"/>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6. </a:t>
            </a:r>
            <a:r>
              <a:rPr lang="ja-JP" altLang="en-US" sz="2400" b="1">
                <a:solidFill>
                  <a:srgbClr val="1A1A1A"/>
                </a:solidFill>
                <a:latin typeface="BIZ UDPゴシック"/>
                <a:ea typeface="BIZ UDPゴシック"/>
              </a:rPr>
              <a:t>スケジュール案</a:t>
            </a:r>
          </a:p>
        </p:txBody>
      </p:sp>
      <p:sp>
        <p:nvSpPr>
          <p:cNvPr id="4" name="テキスト ボックス 3">
            <a:extLst>
              <a:ext uri="{FF2B5EF4-FFF2-40B4-BE49-F238E27FC236}">
                <a16:creationId xmlns:a16="http://schemas.microsoft.com/office/drawing/2014/main" id="{55F3136E-A539-480D-BD70-92B52A4CB91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09</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7F25BD6F-3F42-4624-9297-6066E85ED51F}"/>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C2ED604C-2267-463F-AF45-88881D46286B}"/>
              </a:ext>
            </a:extLst>
          </p:cNvPr>
          <p:cNvSpPr txBox="1"/>
          <p:nvPr/>
        </p:nvSpPr>
        <p:spPr>
          <a:xfrm>
            <a:off x="381000" y="787400"/>
            <a:ext cx="7620000" cy="317500"/>
          </a:xfrm>
          <a:prstGeom prst="rect">
            <a:avLst/>
          </a:prstGeom>
          <a:noFill/>
        </p:spPr>
        <p:txBody>
          <a:bodyPr vertOverflow="overflow" vert="horz" wrap="square" rtlCol="0" anchor="t">
            <a:spAutoFit/>
          </a:bodyPr>
          <a:lstStyle/>
          <a:p>
            <a:pPr algn="l"/>
            <a:r>
              <a:rPr lang="zh-TW" altLang="en-US" sz="1400">
                <a:solidFill>
                  <a:srgbClr val="6B6B6B"/>
                </a:solidFill>
                <a:latin typeface="BIZ UDPゴシック"/>
                <a:ea typeface="BIZ UDPゴシック"/>
              </a:rPr>
              <a:t>契約開始日：</a:t>
            </a:r>
            <a:r>
              <a:rPr lang="en-US" altLang="zh-TW" sz="1400">
                <a:solidFill>
                  <a:srgbClr val="6B6B6B"/>
                </a:solidFill>
                <a:latin typeface="BIZ UDPゴシック"/>
                <a:ea typeface="BIZ UDPゴシック"/>
              </a:rPr>
              <a:t>2025-04-09 </a:t>
            </a:r>
            <a:r>
              <a:rPr lang="zh-TW" altLang="en-US" sz="1400">
                <a:solidFill>
                  <a:srgbClr val="6B6B6B"/>
                </a:solidFill>
                <a:latin typeface="BIZ UDPゴシック"/>
                <a:ea typeface="BIZ UDPゴシック"/>
              </a:rPr>
              <a:t>｜ 契約期間：</a:t>
            </a:r>
            <a:r>
              <a:rPr lang="en-US" altLang="zh-TW" sz="1400">
                <a:solidFill>
                  <a:srgbClr val="6B6B6B"/>
                </a:solidFill>
                <a:latin typeface="BIZ UDPゴシック"/>
                <a:ea typeface="BIZ UDPゴシック"/>
              </a:rPr>
              <a:t>7</a:t>
            </a:r>
            <a:r>
              <a:rPr lang="zh-TW" altLang="en-US" sz="1400">
                <a:solidFill>
                  <a:srgbClr val="6B6B6B"/>
                </a:solidFill>
                <a:latin typeface="BIZ UDPゴシック"/>
                <a:ea typeface="BIZ UDPゴシック"/>
              </a:rPr>
              <a:t>週間</a:t>
            </a:r>
            <a:endParaRPr lang="ja-JP" altLang="en-US" sz="1400">
              <a:solidFill>
                <a:srgbClr val="6B6B6B"/>
              </a:solidFill>
              <a:latin typeface="BIZ UDPゴシック"/>
              <a:ea typeface="BIZ UDPゴシック"/>
            </a:endParaRPr>
          </a:p>
        </p:txBody>
      </p:sp>
      <p:graphicFrame>
        <p:nvGraphicFramePr>
          <p:cNvPr id="8" name="表 7">
            <a:extLst>
              <a:ext uri="{FF2B5EF4-FFF2-40B4-BE49-F238E27FC236}">
                <a16:creationId xmlns:a16="http://schemas.microsoft.com/office/drawing/2014/main" id="{33E5B827-66AB-4274-A154-5E5912FD91E1}"/>
              </a:ext>
            </a:extLst>
          </p:cNvPr>
          <p:cNvGraphicFramePr>
            <a:graphicFrameLocks noGrp="1"/>
          </p:cNvGraphicFramePr>
          <p:nvPr>
            <p:extLst>
              <p:ext uri="{D42A27DB-BD31-4B8C-83A1-F6EECF244321}">
                <p14:modId xmlns:p14="http://schemas.microsoft.com/office/powerpoint/2010/main" val="3314876542"/>
              </p:ext>
            </p:extLst>
          </p:nvPr>
        </p:nvGraphicFramePr>
        <p:xfrm>
          <a:off x="381000" y="1206500"/>
          <a:ext cx="10922000" cy="54457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822466677"/>
                    </a:ext>
                  </a:extLst>
                </a:gridCol>
                <a:gridCol w="1651000">
                  <a:extLst>
                    <a:ext uri="{9D8B030D-6E8A-4147-A177-3AD203B41FA5}">
                      <a16:colId xmlns:a16="http://schemas.microsoft.com/office/drawing/2014/main" val="882046681"/>
                    </a:ext>
                  </a:extLst>
                </a:gridCol>
                <a:gridCol w="5969000">
                  <a:extLst>
                    <a:ext uri="{9D8B030D-6E8A-4147-A177-3AD203B41FA5}">
                      <a16:colId xmlns:a16="http://schemas.microsoft.com/office/drawing/2014/main" val="2982445647"/>
                    </a:ext>
                  </a:extLst>
                </a:gridCol>
                <a:gridCol w="2286000">
                  <a:extLst>
                    <a:ext uri="{9D8B030D-6E8A-4147-A177-3AD203B41FA5}">
                      <a16:colId xmlns:a16="http://schemas.microsoft.com/office/drawing/2014/main" val="1584588606"/>
                    </a:ext>
                  </a:extLst>
                </a:gridCol>
              </a:tblGrid>
              <a:tr h="508000">
                <a:tc>
                  <a:txBody>
                    <a:bodyPr/>
                    <a:lstStyle/>
                    <a:p>
                      <a:pPr algn="ctr"/>
                      <a:r>
                        <a:rPr lang="ja-JP" altLang="en-US" sz="1400" b="1">
                          <a:solidFill>
                            <a:srgbClr val="FFFFFF"/>
                          </a:solidFill>
                          <a:latin typeface="BIZ UDPゴシック"/>
                          <a:ea typeface="BIZ UDPゴシック"/>
                        </a:rPr>
                        <a:t>週</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期間</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実施内容</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マイルストン</a:t>
                      </a:r>
                    </a:p>
                  </a:txBody>
                  <a:tcPr anchor="ctr">
                    <a:solidFill>
                      <a:srgbClr val="1A1A1A"/>
                    </a:solidFill>
                  </a:tcPr>
                </a:tc>
                <a:extLst>
                  <a:ext uri="{0D108BD9-81ED-4DB2-BD59-A6C34878D82A}">
                    <a16:rowId xmlns:a16="http://schemas.microsoft.com/office/drawing/2014/main" val="420646795"/>
                  </a:ext>
                </a:extLst>
              </a:tr>
              <a:tr h="508000">
                <a:tc>
                  <a:txBody>
                    <a:bodyPr/>
                    <a:lstStyle/>
                    <a:p>
                      <a:pPr algn="ctr"/>
                      <a:r>
                        <a:rPr lang="ja-JP" altLang="en-US" sz="1400">
                          <a:solidFill>
                            <a:srgbClr val="333333"/>
                          </a:solidFill>
                          <a:latin typeface="BIZ UDPゴシック"/>
                          <a:ea typeface="BIZ UDPゴシック"/>
                        </a:rPr>
                        <a:t>第1週</a:t>
                      </a:r>
                    </a:p>
                  </a:txBody>
                  <a:tcPr anchor="ctr"/>
                </a:tc>
                <a:tc>
                  <a:txBody>
                    <a:bodyPr/>
                    <a:lstStyle/>
                    <a:p>
                      <a:pPr algn="ctr"/>
                      <a:r>
                        <a:rPr lang="ja-JP" altLang="en-US" sz="1400">
                          <a:solidFill>
                            <a:srgbClr val="333333"/>
                          </a:solidFill>
                          <a:latin typeface="BIZ UDPゴシック"/>
                          <a:ea typeface="BIZ UDPゴシック"/>
                        </a:rPr>
                        <a:t>2025-04-09開始</a:t>
                      </a:r>
                    </a:p>
                  </a:txBody>
                  <a:tcPr anchor="ctr"/>
                </a:tc>
                <a:tc>
                  <a:txBody>
                    <a:bodyPr/>
                    <a:lstStyle/>
                    <a:p>
                      <a:pPr algn="l"/>
                      <a:r>
                        <a:rPr lang="ja-JP" altLang="en-US" sz="1400">
                          <a:solidFill>
                            <a:srgbClr val="333333"/>
                          </a:solidFill>
                          <a:latin typeface="BIZ UDPゴシック"/>
                          <a:ea typeface="BIZ UDPゴシック"/>
                        </a:rPr>
                        <a:t>キックオフ、目的変数定義確認、データ受領確認、前提整理</a:t>
                      </a:r>
                    </a:p>
                  </a:txBody>
                  <a:tcPr anchor="ctr"/>
                </a:tc>
                <a:tc>
                  <a:txBody>
                    <a:bodyPr/>
                    <a:lstStyle/>
                    <a:p>
                      <a:pPr algn="ctr"/>
                      <a:r>
                        <a:rPr lang="ja-JP" altLang="en-US" sz="1400" b="1">
                          <a:solidFill>
                            <a:srgbClr val="8B2500"/>
                          </a:solidFill>
                          <a:latin typeface="BIZ UDPゴシック"/>
                          <a:ea typeface="BIZ UDPゴシック"/>
                        </a:rPr>
                        <a:t>キックオフ完了</a:t>
                      </a:r>
                    </a:p>
                  </a:txBody>
                  <a:tcPr anchor="ctr"/>
                </a:tc>
                <a:extLst>
                  <a:ext uri="{0D108BD9-81ED-4DB2-BD59-A6C34878D82A}">
                    <a16:rowId xmlns:a16="http://schemas.microsoft.com/office/drawing/2014/main" val="2991094766"/>
                  </a:ext>
                </a:extLst>
              </a:tr>
              <a:tr h="508000">
                <a:tc>
                  <a:txBody>
                    <a:bodyPr/>
                    <a:lstStyle/>
                    <a:p>
                      <a:pPr algn="ctr"/>
                      <a:r>
                        <a:rPr lang="ja-JP" altLang="en-US" sz="1400">
                          <a:solidFill>
                            <a:srgbClr val="333333"/>
                          </a:solidFill>
                          <a:latin typeface="BIZ UDPゴシック"/>
                          <a:ea typeface="BIZ UDPゴシック"/>
                        </a:rPr>
                        <a:t>第1〜2週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データ理解、品質確認、型整備、カテゴリ確認、初期論点整理</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データ理解完了</a:t>
                      </a:r>
                    </a:p>
                  </a:txBody>
                  <a:tcPr anchor="ctr">
                    <a:solidFill>
                      <a:srgbClr val="F5F5F3"/>
                    </a:solidFill>
                  </a:tcPr>
                </a:tc>
                <a:extLst>
                  <a:ext uri="{0D108BD9-81ED-4DB2-BD59-A6C34878D82A}">
                    <a16:rowId xmlns:a16="http://schemas.microsoft.com/office/drawing/2014/main" val="3441967821"/>
                  </a:ext>
                </a:extLst>
              </a:tr>
              <a:tr h="508000">
                <a:tc>
                  <a:txBody>
                    <a:bodyPr/>
                    <a:lstStyle/>
                    <a:p>
                      <a:pPr algn="ctr"/>
                      <a:r>
                        <a:rPr lang="ja-JP" altLang="en-US" sz="1400">
                          <a:solidFill>
                            <a:srgbClr val="333333"/>
                          </a:solidFill>
                          <a:latin typeface="BIZ UDPゴシック"/>
                          <a:ea typeface="BIZ UDPゴシック"/>
                        </a:rPr>
                        <a:t>第2〜3週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探索的分析、セグメント別不良率確認、仮説整理</a:t>
                      </a:r>
                    </a:p>
                  </a:txBody>
                  <a:tcPr anchor="ctr"/>
                </a:tc>
                <a:tc>
                  <a:txBody>
                    <a:bodyPr/>
                    <a:lstStyle/>
                    <a:p>
                      <a:pPr algn="ctr"/>
                      <a:r>
                        <a:rPr lang="ja-JP" altLang="en-US" sz="1400" b="1">
                          <a:solidFill>
                            <a:srgbClr val="8B2500"/>
                          </a:solidFill>
                          <a:latin typeface="BIZ UDPゴシック"/>
                          <a:ea typeface="BIZ UDPゴシック"/>
                        </a:rPr>
                        <a:t>中間レビュー1</a:t>
                      </a:r>
                    </a:p>
                  </a:txBody>
                  <a:tcPr anchor="ctr"/>
                </a:tc>
                <a:extLst>
                  <a:ext uri="{0D108BD9-81ED-4DB2-BD59-A6C34878D82A}">
                    <a16:rowId xmlns:a16="http://schemas.microsoft.com/office/drawing/2014/main" val="714514450"/>
                  </a:ext>
                </a:extLst>
              </a:tr>
              <a:tr h="508000">
                <a:tc>
                  <a:txBody>
                    <a:bodyPr/>
                    <a:lstStyle/>
                    <a:p>
                      <a:pPr algn="ctr"/>
                      <a:r>
                        <a:rPr lang="ja-JP" altLang="en-US" sz="1400">
                          <a:solidFill>
                            <a:srgbClr val="333333"/>
                          </a:solidFill>
                          <a:latin typeface="BIZ UDPゴシック"/>
                          <a:ea typeface="BIZ UDPゴシック"/>
                        </a:rPr>
                        <a:t>第3〜5週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ベースライン・説明性重視モデル構築、性能評価、重要度分析</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モデル評価完了</a:t>
                      </a:r>
                    </a:p>
                  </a:txBody>
                  <a:tcPr anchor="ctr">
                    <a:solidFill>
                      <a:srgbClr val="F5F5F3"/>
                    </a:solidFill>
                  </a:tcPr>
                </a:tc>
                <a:extLst>
                  <a:ext uri="{0D108BD9-81ED-4DB2-BD59-A6C34878D82A}">
                    <a16:rowId xmlns:a16="http://schemas.microsoft.com/office/drawing/2014/main" val="4238958650"/>
                  </a:ext>
                </a:extLst>
              </a:tr>
              <a:tr h="508000">
                <a:tc>
                  <a:txBody>
                    <a:bodyPr/>
                    <a:lstStyle/>
                    <a:p>
                      <a:pPr algn="ctr"/>
                      <a:r>
                        <a:rPr lang="ja-JP" altLang="en-US" sz="1400">
                          <a:solidFill>
                            <a:srgbClr val="333333"/>
                          </a:solidFill>
                          <a:latin typeface="BIZ UDPゴシック"/>
                          <a:ea typeface="BIZ UDPゴシック"/>
                        </a:rPr>
                        <a:t>第5〜6週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業務示唆整理、中間報告書確定、最終報告書ドラフト</a:t>
                      </a:r>
                    </a:p>
                  </a:txBody>
                  <a:tcPr anchor="ctr"/>
                </a:tc>
                <a:tc>
                  <a:txBody>
                    <a:bodyPr/>
                    <a:lstStyle/>
                    <a:p>
                      <a:pPr algn="ctr"/>
                      <a:r>
                        <a:rPr lang="ja-JP" altLang="en-US" sz="1400" b="1">
                          <a:solidFill>
                            <a:srgbClr val="8B2500"/>
                          </a:solidFill>
                          <a:latin typeface="BIZ UDPゴシック"/>
                          <a:ea typeface="BIZ UDPゴシック"/>
                        </a:rPr>
                        <a:t>中間報告完了</a:t>
                      </a:r>
                    </a:p>
                  </a:txBody>
                  <a:tcPr anchor="ctr"/>
                </a:tc>
                <a:extLst>
                  <a:ext uri="{0D108BD9-81ED-4DB2-BD59-A6C34878D82A}">
                    <a16:rowId xmlns:a16="http://schemas.microsoft.com/office/drawing/2014/main" val="1336449851"/>
                  </a:ext>
                </a:extLst>
              </a:tr>
              <a:tr h="508000">
                <a:tc>
                  <a:txBody>
                    <a:bodyPr/>
                    <a:lstStyle/>
                    <a:p>
                      <a:pPr algn="ctr"/>
                      <a:r>
                        <a:rPr lang="ja-JP" altLang="en-US" sz="1400">
                          <a:solidFill>
                            <a:srgbClr val="333333"/>
                          </a:solidFill>
                          <a:latin typeface="BIZ UDPゴシック"/>
                          <a:ea typeface="BIZ UDPゴシック"/>
                        </a:rPr>
                        <a:t>第7週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最終レビュー、QA反映、最終納品、検収対応</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最終納品・検収</a:t>
                      </a:r>
                    </a:p>
                  </a:txBody>
                  <a:tcPr anchor="ctr">
                    <a:solidFill>
                      <a:srgbClr val="F5F5F3"/>
                    </a:solidFill>
                  </a:tcPr>
                </a:tc>
                <a:extLst>
                  <a:ext uri="{0D108BD9-81ED-4DB2-BD59-A6C34878D82A}">
                    <a16:rowId xmlns:a16="http://schemas.microsoft.com/office/drawing/2014/main" val="3169868457"/>
                  </a:ext>
                </a:extLst>
              </a:tr>
            </a:tbl>
          </a:graphicData>
        </a:graphic>
      </p:graphicFrame>
      <p:sp>
        <p:nvSpPr>
          <p:cNvPr id="9" name="テキスト ボックス 8">
            <a:extLst>
              <a:ext uri="{FF2B5EF4-FFF2-40B4-BE49-F238E27FC236}">
                <a16:creationId xmlns:a16="http://schemas.microsoft.com/office/drawing/2014/main" id="{E233C417-0AD3-4784-B37E-03FC99A6B992}"/>
              </a:ext>
            </a:extLst>
          </p:cNvPr>
          <p:cNvSpPr txBox="1"/>
          <p:nvPr/>
        </p:nvSpPr>
        <p:spPr>
          <a:xfrm>
            <a:off x="381000" y="5080000"/>
            <a:ext cx="11430000" cy="381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レビューは週次会議に加え、中間レビューおよび最終報告会を設定し、意思決定の停滞を防止する。</a:t>
            </a:r>
          </a:p>
        </p:txBody>
      </p:sp>
    </p:spTree>
    <p:extLst>
      <p:ext uri="{BB962C8B-B14F-4D97-AF65-F5344CB8AC3E}">
        <p14:creationId xmlns:p14="http://schemas.microsoft.com/office/powerpoint/2010/main" val="327120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F3927A1-627A-48EA-BC2E-0352874DBCD6}"/>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953C5EF7-CD6E-4F21-840A-B421688F21B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7. </a:t>
            </a:r>
            <a:r>
              <a:rPr lang="ja-JP" altLang="en-US" sz="2400" b="1">
                <a:solidFill>
                  <a:srgbClr val="1A1A1A"/>
                </a:solidFill>
                <a:latin typeface="BIZ UDPゴシック"/>
                <a:ea typeface="BIZ UDPゴシック"/>
              </a:rPr>
              <a:t>成果物定義</a:t>
            </a:r>
          </a:p>
        </p:txBody>
      </p:sp>
      <p:sp>
        <p:nvSpPr>
          <p:cNvPr id="4" name="テキスト ボックス 3">
            <a:extLst>
              <a:ext uri="{FF2B5EF4-FFF2-40B4-BE49-F238E27FC236}">
                <a16:creationId xmlns:a16="http://schemas.microsoft.com/office/drawing/2014/main" id="{DA00CA14-80A9-42B0-BC39-D1DFE984C388}"/>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10</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F847E235-5FBC-410B-9EDB-B73743F47F45}"/>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7C0ACE4E-1B35-4455-ABEB-DEFA62B56347}"/>
              </a:ext>
            </a:extLst>
          </p:cNvPr>
          <p:cNvGraphicFramePr>
            <a:graphicFrameLocks noGrp="1"/>
          </p:cNvGraphicFramePr>
          <p:nvPr/>
        </p:nvGraphicFramePr>
        <p:xfrm>
          <a:off x="381000" y="863600"/>
          <a:ext cx="11430000" cy="2667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11186291"/>
                    </a:ext>
                  </a:extLst>
                </a:gridCol>
                <a:gridCol w="9398000">
                  <a:extLst>
                    <a:ext uri="{9D8B030D-6E8A-4147-A177-3AD203B41FA5}">
                      <a16:colId xmlns:a16="http://schemas.microsoft.com/office/drawing/2014/main" val="2714999013"/>
                    </a:ext>
                  </a:extLst>
                </a:gridCol>
              </a:tblGrid>
              <a:tr h="381000">
                <a:tc>
                  <a:txBody>
                    <a:bodyPr/>
                    <a:lstStyle/>
                    <a:p>
                      <a:pPr algn="ctr"/>
                      <a:r>
                        <a:rPr lang="ja-JP" altLang="en-US" sz="1400" b="1">
                          <a:solidFill>
                            <a:srgbClr val="FFFFFF"/>
                          </a:solidFill>
                          <a:latin typeface="BIZ UDPゴシック"/>
                          <a:ea typeface="BIZ UDPゴシック"/>
                        </a:rPr>
                        <a:t>成果物</a:t>
                      </a:r>
                    </a:p>
                  </a:txBody>
                  <a:tcP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solidFill>
                      <a:srgbClr val="1A1A1A"/>
                    </a:solidFill>
                  </a:tcPr>
                </a:tc>
                <a:extLst>
                  <a:ext uri="{0D108BD9-81ED-4DB2-BD59-A6C34878D82A}">
                    <a16:rowId xmlns:a16="http://schemas.microsoft.com/office/drawing/2014/main" val="3131843410"/>
                  </a:ext>
                </a:extLst>
              </a:tr>
              <a:tr h="381000">
                <a:tc>
                  <a:txBody>
                    <a:bodyPr/>
                    <a:lstStyle/>
                    <a:p>
                      <a:pPr algn="ctr"/>
                      <a:r>
                        <a:rPr lang="ja-JP" altLang="en-US" sz="1400" b="1">
                          <a:solidFill>
                            <a:srgbClr val="8B2500"/>
                          </a:solidFill>
                          <a:latin typeface="BIZ UDPゴシック"/>
                          <a:ea typeface="BIZ UDPゴシック"/>
                        </a:rPr>
                        <a:t>提案書</a:t>
                      </a:r>
                    </a:p>
                  </a:txBody>
                  <a:tcPr anchor="ctr"/>
                </a:tc>
                <a:tc>
                  <a:txBody>
                    <a:bodyPr/>
                    <a:lstStyle/>
                    <a:p>
                      <a:r>
                        <a:rPr lang="ja-JP" altLang="en-US" sz="1400">
                          <a:solidFill>
                            <a:srgbClr val="333333"/>
                          </a:solidFill>
                          <a:latin typeface="BIZ UDPゴシック"/>
                          <a:ea typeface="BIZ UDPゴシック"/>
                        </a:rPr>
                        <a:t>目的、アプローチ、体制、実施内容、前提条件の明記</a:t>
                      </a:r>
                    </a:p>
                  </a:txBody>
                  <a:tcPr anchor="ctr"/>
                </a:tc>
                <a:extLst>
                  <a:ext uri="{0D108BD9-81ED-4DB2-BD59-A6C34878D82A}">
                    <a16:rowId xmlns:a16="http://schemas.microsoft.com/office/drawing/2014/main" val="2290264401"/>
                  </a:ext>
                </a:extLst>
              </a:tr>
              <a:tr h="381000">
                <a:tc>
                  <a:txBody>
                    <a:bodyPr/>
                    <a:lstStyle/>
                    <a:p>
                      <a:pPr algn="ctr"/>
                      <a:r>
                        <a:rPr lang="ja-JP" altLang="en-US" sz="1400" b="1">
                          <a:solidFill>
                            <a:srgbClr val="8B2500"/>
                          </a:solidFill>
                          <a:latin typeface="BIZ UDPゴシック"/>
                          <a:ea typeface="BIZ UDPゴシック"/>
                        </a:rPr>
                        <a:t>契約ドラフト</a:t>
                      </a:r>
                    </a:p>
                  </a:txBody>
                  <a:tcPr anchor="ctr">
                    <a:solidFill>
                      <a:srgbClr val="F5F5F3"/>
                    </a:solidFill>
                  </a:tcPr>
                </a:tc>
                <a:tc>
                  <a:txBody>
                    <a:bodyPr/>
                    <a:lstStyle/>
                    <a:p>
                      <a:r>
                        <a:rPr lang="ja-JP" altLang="en-US" sz="1400">
                          <a:solidFill>
                            <a:srgbClr val="333333"/>
                          </a:solidFill>
                          <a:latin typeface="BIZ UDPゴシック"/>
                          <a:ea typeface="BIZ UDPゴシック"/>
                        </a:rPr>
                        <a:t>契約条件、スコープ、費用、変更管理、検収条件の整理</a:t>
                      </a:r>
                    </a:p>
                  </a:txBody>
                  <a:tcPr anchor="ctr">
                    <a:solidFill>
                      <a:srgbClr val="F5F5F3"/>
                    </a:solidFill>
                  </a:tcPr>
                </a:tc>
                <a:extLst>
                  <a:ext uri="{0D108BD9-81ED-4DB2-BD59-A6C34878D82A}">
                    <a16:rowId xmlns:a16="http://schemas.microsoft.com/office/drawing/2014/main" val="115229943"/>
                  </a:ext>
                </a:extLst>
              </a:tr>
              <a:tr h="381000">
                <a:tc>
                  <a:txBody>
                    <a:bodyPr/>
                    <a:lstStyle/>
                    <a:p>
                      <a:pPr algn="ctr"/>
                      <a:r>
                        <a:rPr lang="ja-JP" altLang="en-US" sz="1400" b="1">
                          <a:solidFill>
                            <a:srgbClr val="8B2500"/>
                          </a:solidFill>
                          <a:latin typeface="BIZ UDPゴシック"/>
                          <a:ea typeface="BIZ UDPゴシック"/>
                        </a:rPr>
                        <a:t>スケジュール</a:t>
                      </a:r>
                    </a:p>
                  </a:txBody>
                  <a:tcPr anchor="ctr"/>
                </a:tc>
                <a:tc>
                  <a:txBody>
                    <a:bodyPr/>
                    <a:lstStyle/>
                    <a:p>
                      <a:r>
                        <a:rPr lang="ja-JP" altLang="en-US" sz="1400">
                          <a:solidFill>
                            <a:srgbClr val="333333"/>
                          </a:solidFill>
                          <a:latin typeface="BIZ UDPゴシック"/>
                          <a:ea typeface="BIZ UDPゴシック"/>
                        </a:rPr>
                        <a:t>7週間の実施計画、レビュー日程、マイルストン</a:t>
                      </a:r>
                    </a:p>
                  </a:txBody>
                  <a:tcPr anchor="ctr"/>
                </a:tc>
                <a:extLst>
                  <a:ext uri="{0D108BD9-81ED-4DB2-BD59-A6C34878D82A}">
                    <a16:rowId xmlns:a16="http://schemas.microsoft.com/office/drawing/2014/main" val="274883653"/>
                  </a:ext>
                </a:extLst>
              </a:tr>
              <a:tr h="381000">
                <a:tc>
                  <a:txBody>
                    <a:bodyPr/>
                    <a:lstStyle/>
                    <a:p>
                      <a:pPr algn="ctr"/>
                      <a:r>
                        <a:rPr lang="ja-JP" altLang="en-US" sz="1400" b="1">
                          <a:solidFill>
                            <a:srgbClr val="8B2500"/>
                          </a:solidFill>
                          <a:latin typeface="BIZ UDPゴシック"/>
                          <a:ea typeface="BIZ UDPゴシック"/>
                        </a:rPr>
                        <a:t>議事録</a:t>
                      </a:r>
                    </a:p>
                  </a:txBody>
                  <a:tcPr anchor="ctr">
                    <a:solidFill>
                      <a:srgbClr val="F5F5F3"/>
                    </a:solidFill>
                  </a:tcPr>
                </a:tc>
                <a:tc>
                  <a:txBody>
                    <a:bodyPr/>
                    <a:lstStyle/>
                    <a:p>
                      <a:r>
                        <a:rPr lang="ja-JP" altLang="en-US" sz="1400">
                          <a:solidFill>
                            <a:srgbClr val="333333"/>
                          </a:solidFill>
                          <a:latin typeface="BIZ UDPゴシック"/>
                          <a:ea typeface="BIZ UDPゴシック"/>
                        </a:rPr>
                        <a:t>定例会・レビュー会の決定事項、アクション、課題</a:t>
                      </a:r>
                    </a:p>
                  </a:txBody>
                  <a:tcPr anchor="ctr">
                    <a:solidFill>
                      <a:srgbClr val="F5F5F3"/>
                    </a:solidFill>
                  </a:tcPr>
                </a:tc>
                <a:extLst>
                  <a:ext uri="{0D108BD9-81ED-4DB2-BD59-A6C34878D82A}">
                    <a16:rowId xmlns:a16="http://schemas.microsoft.com/office/drawing/2014/main" val="725776378"/>
                  </a:ext>
                </a:extLst>
              </a:tr>
              <a:tr h="381000">
                <a:tc>
                  <a:txBody>
                    <a:bodyPr/>
                    <a:lstStyle/>
                    <a:p>
                      <a:pPr algn="ctr"/>
                      <a:r>
                        <a:rPr lang="ja-JP" altLang="en-US" sz="1400" b="1">
                          <a:solidFill>
                            <a:srgbClr val="8B2500"/>
                          </a:solidFill>
                          <a:latin typeface="BIZ UDPゴシック"/>
                          <a:ea typeface="BIZ UDPゴシック"/>
                        </a:rPr>
                        <a:t>中間報告書</a:t>
                      </a:r>
                    </a:p>
                  </a:txBody>
                  <a:tcPr anchor="ctr"/>
                </a:tc>
                <a:tc>
                  <a:txBody>
                    <a:bodyPr/>
                    <a:lstStyle/>
                    <a:p>
                      <a:r>
                        <a:rPr lang="ja-JP" altLang="en-US" sz="1400">
                          <a:solidFill>
                            <a:srgbClr val="333333"/>
                          </a:solidFill>
                          <a:latin typeface="BIZ UDPゴシック"/>
                          <a:ea typeface="BIZ UDPゴシック"/>
                        </a:rPr>
                        <a:t>データ理解、初期分析結果、論点、追加確認事項</a:t>
                      </a:r>
                    </a:p>
                  </a:txBody>
                  <a:tcPr anchor="ctr"/>
                </a:tc>
                <a:extLst>
                  <a:ext uri="{0D108BD9-81ED-4DB2-BD59-A6C34878D82A}">
                    <a16:rowId xmlns:a16="http://schemas.microsoft.com/office/drawing/2014/main" val="4070023855"/>
                  </a:ext>
                </a:extLst>
              </a:tr>
              <a:tr h="381000">
                <a:tc>
                  <a:txBody>
                    <a:bodyPr/>
                    <a:lstStyle/>
                    <a:p>
                      <a:pPr algn="ctr"/>
                      <a:r>
                        <a:rPr lang="ja-JP" altLang="en-US" sz="1400" b="1">
                          <a:solidFill>
                            <a:srgbClr val="8B2500"/>
                          </a:solidFill>
                          <a:latin typeface="BIZ UDPゴシック"/>
                          <a:ea typeface="BIZ UDPゴシック"/>
                        </a:rPr>
                        <a:t>最終報告書</a:t>
                      </a:r>
                    </a:p>
                  </a:txBody>
                  <a:tcPr anchor="ctr">
                    <a:solidFill>
                      <a:srgbClr val="F5F5F3"/>
                    </a:solidFill>
                  </a:tcPr>
                </a:tc>
                <a:tc>
                  <a:txBody>
                    <a:bodyPr/>
                    <a:lstStyle/>
                    <a:p>
                      <a:r>
                        <a:rPr lang="ja-JP" altLang="en-US" sz="1400">
                          <a:solidFill>
                            <a:srgbClr val="333333"/>
                          </a:solidFill>
                          <a:latin typeface="BIZ UDPゴシック"/>
                          <a:ea typeface="BIZ UDPゴシック"/>
                        </a:rPr>
                        <a:t>分析手法、評価結果、主要示唆、業務提言、制約事項</a:t>
                      </a:r>
                    </a:p>
                  </a:txBody>
                  <a:tcPr anchor="ctr">
                    <a:solidFill>
                      <a:srgbClr val="F5F5F3"/>
                    </a:solidFill>
                  </a:tcPr>
                </a:tc>
                <a:extLst>
                  <a:ext uri="{0D108BD9-81ED-4DB2-BD59-A6C34878D82A}">
                    <a16:rowId xmlns:a16="http://schemas.microsoft.com/office/drawing/2014/main" val="3492221578"/>
                  </a:ext>
                </a:extLst>
              </a:tr>
            </a:tbl>
          </a:graphicData>
        </a:graphic>
      </p:graphicFrame>
      <p:sp>
        <p:nvSpPr>
          <p:cNvPr id="8" name="テキスト ボックス 7">
            <a:extLst>
              <a:ext uri="{FF2B5EF4-FFF2-40B4-BE49-F238E27FC236}">
                <a16:creationId xmlns:a16="http://schemas.microsoft.com/office/drawing/2014/main" id="{D05BED87-E9CD-4B02-8BA6-D5F9FD95B5C8}"/>
              </a:ext>
            </a:extLst>
          </p:cNvPr>
          <p:cNvSpPr txBox="1"/>
          <p:nvPr/>
        </p:nvSpPr>
        <p:spPr>
          <a:xfrm>
            <a:off x="381000" y="3746500"/>
            <a:ext cx="381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成果物に含める主要内容</a:t>
            </a:r>
          </a:p>
        </p:txBody>
      </p:sp>
      <p:sp>
        <p:nvSpPr>
          <p:cNvPr id="200" name="s200"/>
          <p:cNvSpPr/>
          <p:nvPr/>
        </p:nvSpPr>
        <p:spPr>
          <a:xfrm>
            <a:off x="381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1</a:t>
            </a:r>
          </a:p>
        </p:txBody>
      </p:sp>
      <p:sp>
        <p:nvSpPr>
          <p:cNvPr id="210" name="s210"/>
          <p:cNvSpPr/>
          <p:nvPr/>
        </p:nvSpPr>
        <p:spPr>
          <a:xfrm>
            <a:off x="787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データ概要</a:t>
            </a:r>
          </a:p>
        </p:txBody>
      </p:sp>
      <p:sp>
        <p:nvSpPr>
          <p:cNvPr id="201" name="s201"/>
          <p:cNvSpPr/>
          <p:nvPr/>
        </p:nvSpPr>
        <p:spPr>
          <a:xfrm>
            <a:off x="4064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2</a:t>
            </a:r>
          </a:p>
        </p:txBody>
      </p:sp>
      <p:sp>
        <p:nvSpPr>
          <p:cNvPr id="211" name="s211"/>
          <p:cNvSpPr/>
          <p:nvPr/>
        </p:nvSpPr>
        <p:spPr>
          <a:xfrm>
            <a:off x="4470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変数定義表</a:t>
            </a:r>
          </a:p>
        </p:txBody>
      </p:sp>
      <p:sp>
        <p:nvSpPr>
          <p:cNvPr id="202" name="s202"/>
          <p:cNvSpPr/>
          <p:nvPr/>
        </p:nvSpPr>
        <p:spPr>
          <a:xfrm>
            <a:off x="7747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3</a:t>
            </a:r>
          </a:p>
        </p:txBody>
      </p:sp>
      <p:sp>
        <p:nvSpPr>
          <p:cNvPr id="212" name="s212"/>
          <p:cNvSpPr/>
          <p:nvPr/>
        </p:nvSpPr>
        <p:spPr>
          <a:xfrm>
            <a:off x="8153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前処理内容</a:t>
            </a:r>
          </a:p>
        </p:txBody>
      </p:sp>
      <p:sp>
        <p:nvSpPr>
          <p:cNvPr id="203" name="s203"/>
          <p:cNvSpPr/>
          <p:nvPr/>
        </p:nvSpPr>
        <p:spPr>
          <a:xfrm>
            <a:off x="381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4</a:t>
            </a:r>
          </a:p>
        </p:txBody>
      </p:sp>
      <p:sp>
        <p:nvSpPr>
          <p:cNvPr id="213" name="s213"/>
          <p:cNvSpPr/>
          <p:nvPr/>
        </p:nvSpPr>
        <p:spPr>
          <a:xfrm>
            <a:off x="787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モデル候補と採否理由</a:t>
            </a:r>
          </a:p>
        </p:txBody>
      </p:sp>
      <p:sp>
        <p:nvSpPr>
          <p:cNvPr id="204" name="s204"/>
          <p:cNvSpPr/>
          <p:nvPr/>
        </p:nvSpPr>
        <p:spPr>
          <a:xfrm>
            <a:off x="4064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5</a:t>
            </a:r>
          </a:p>
        </p:txBody>
      </p:sp>
      <p:sp>
        <p:nvSpPr>
          <p:cNvPr id="214" name="s214"/>
          <p:cNvSpPr/>
          <p:nvPr/>
        </p:nvSpPr>
        <p:spPr>
          <a:xfrm>
            <a:off x="4470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評価指標一覧</a:t>
            </a:r>
          </a:p>
        </p:txBody>
      </p:sp>
      <p:sp>
        <p:nvSpPr>
          <p:cNvPr id="205" name="s205"/>
          <p:cNvSpPr/>
          <p:nvPr/>
        </p:nvSpPr>
        <p:spPr>
          <a:xfrm>
            <a:off x="7747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6</a:t>
            </a:r>
          </a:p>
        </p:txBody>
      </p:sp>
      <p:sp>
        <p:nvSpPr>
          <p:cNvPr id="215" name="s215"/>
          <p:cNvSpPr/>
          <p:nvPr/>
        </p:nvSpPr>
        <p:spPr>
          <a:xfrm>
            <a:off x="8153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セグメント別分析結果</a:t>
            </a:r>
          </a:p>
        </p:txBody>
      </p:sp>
      <p:sp>
        <p:nvSpPr>
          <p:cNvPr id="206" name="s206"/>
          <p:cNvSpPr/>
          <p:nvPr/>
        </p:nvSpPr>
        <p:spPr>
          <a:xfrm>
            <a:off x="381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7</a:t>
            </a:r>
          </a:p>
        </p:txBody>
      </p:sp>
      <p:sp>
        <p:nvSpPr>
          <p:cNvPr id="216" name="s216"/>
          <p:cNvSpPr/>
          <p:nvPr/>
        </p:nvSpPr>
        <p:spPr>
          <a:xfrm>
            <a:off x="787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主要変数の解釈</a:t>
            </a:r>
          </a:p>
        </p:txBody>
      </p:sp>
      <p:sp>
        <p:nvSpPr>
          <p:cNvPr id="207" name="s207"/>
          <p:cNvSpPr/>
          <p:nvPr/>
        </p:nvSpPr>
        <p:spPr>
          <a:xfrm>
            <a:off x="4064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8</a:t>
            </a:r>
          </a:p>
        </p:txBody>
      </p:sp>
      <p:sp>
        <p:nvSpPr>
          <p:cNvPr id="217" name="s217"/>
          <p:cNvSpPr/>
          <p:nvPr/>
        </p:nvSpPr>
        <p:spPr>
          <a:xfrm>
            <a:off x="4470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監査・ガバナンス留意事項</a:t>
            </a:r>
          </a:p>
        </p:txBody>
      </p:sp>
      <p:sp>
        <p:nvSpPr>
          <p:cNvPr id="208" name="s208"/>
          <p:cNvSpPr/>
          <p:nvPr/>
        </p:nvSpPr>
        <p:spPr>
          <a:xfrm>
            <a:off x="7747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9</a:t>
            </a:r>
          </a:p>
        </p:txBody>
      </p:sp>
      <p:sp>
        <p:nvSpPr>
          <p:cNvPr id="218" name="s218"/>
          <p:cNvSpPr/>
          <p:nvPr/>
        </p:nvSpPr>
        <p:spPr>
          <a:xfrm>
            <a:off x="8153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今後の拡張提案</a:t>
            </a:r>
          </a:p>
        </p:txBody>
      </p:sp>
      <p:sp>
        <p:nvSpPr>
          <p:cNvPr id="230" name="s230"/>
          <p:cNvSpPr/>
          <p:nvPr/>
        </p:nvSpPr>
        <p:spPr>
          <a:xfrm>
            <a:off x="381000" y="5588000"/>
            <a:ext cx="11430000" cy="317500"/>
          </a:xfrm>
          <a:prstGeom prst="rect">
            <a:avLst/>
          </a:prstGeom>
          <a:noFill/>
          <a:ln>
            <a:noFill/>
          </a:ln>
        </p:spPr>
        <p:txBody>
          <a:bodyPr wrap="square" lIns="54000" tIns="27000" rIns="54000" bIns="27000" anchor="ctr"/>
          <a:lstStyle/>
          <a:p>
            <a:pPr algn="l"/>
            <a:r>
              <a:rPr lang="ja-JP" sz="1100" dirty="0">
                <a:solidFill>
                  <a:srgbClr val="6B6B6B"/>
                </a:solidFill>
                <a:latin typeface="BIZ UDPゴシック"/>
                <a:ea typeface="BIZ UDPゴシック"/>
              </a:rPr>
              <a:t>※ 各文書には日付、版数、作成者、レビューア、使用データ、評価条件を記載し、監査証跡を確保する。</a:t>
            </a:r>
          </a:p>
        </p:txBody>
      </p:sp>
    </p:spTree>
    <p:extLst>
      <p:ext uri="{BB962C8B-B14F-4D97-AF65-F5344CB8AC3E}">
        <p14:creationId xmlns:p14="http://schemas.microsoft.com/office/powerpoint/2010/main" val="2354843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491C58F-7F1B-4D6F-AD06-9B9BA5FA598F}"/>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CA96580-7D39-4682-8F03-3A96EBA06488}"/>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8. </a:t>
            </a:r>
            <a:r>
              <a:rPr lang="ja-JP" altLang="en-US" sz="2400" b="1">
                <a:solidFill>
                  <a:srgbClr val="1A1A1A"/>
                </a:solidFill>
                <a:latin typeface="BIZ UDPゴシック"/>
                <a:ea typeface="BIZ UDPゴシック"/>
              </a:rPr>
              <a:t>費用見積</a:t>
            </a:r>
          </a:p>
        </p:txBody>
      </p:sp>
      <p:sp>
        <p:nvSpPr>
          <p:cNvPr id="4" name="テキスト ボックス 3">
            <a:extLst>
              <a:ext uri="{FF2B5EF4-FFF2-40B4-BE49-F238E27FC236}">
                <a16:creationId xmlns:a16="http://schemas.microsoft.com/office/drawing/2014/main" id="{3FEDBCF8-3892-41F9-BF5A-C6B5685F2031}"/>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11</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64261D31-043E-400C-8737-3D1E5709E97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四角形: 角を丸くする 5">
            <a:extLst>
              <a:ext uri="{FF2B5EF4-FFF2-40B4-BE49-F238E27FC236}">
                <a16:creationId xmlns:a16="http://schemas.microsoft.com/office/drawing/2014/main" id="{B65B27DD-E183-4074-B73E-901DB6A12F0A}"/>
              </a:ext>
            </a:extLst>
          </p:cNvPr>
          <p:cNvSpPr/>
          <p:nvPr/>
        </p:nvSpPr>
        <p:spPr>
          <a:xfrm>
            <a:off x="381000" y="825500"/>
            <a:ext cx="3175000" cy="4445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契約形態：固定価格（</a:t>
            </a:r>
            <a:r>
              <a:rPr lang="en-US" altLang="ja-JP" sz="1400">
                <a:solidFill>
                  <a:srgbClr val="FFFFFF"/>
                </a:solidFill>
                <a:latin typeface="BIZ UDPゴシック"/>
                <a:ea typeface="BIZ UDPゴシック"/>
              </a:rPr>
              <a:t>fixed_price</a:t>
            </a:r>
            <a:r>
              <a:rPr lang="ja-JP" altLang="en-US" sz="1400">
                <a:solidFill>
                  <a:srgbClr val="FFFFFF"/>
                </a:solidFill>
                <a:latin typeface="BIZ UDPゴシック"/>
                <a:ea typeface="BIZ UDPゴシック"/>
              </a:rPr>
              <a:t>）</a:t>
            </a:r>
          </a:p>
        </p:txBody>
      </p:sp>
      <p:sp>
        <p:nvSpPr>
          <p:cNvPr id="7" name="テキスト ボックス 6">
            <a:extLst>
              <a:ext uri="{FF2B5EF4-FFF2-40B4-BE49-F238E27FC236}">
                <a16:creationId xmlns:a16="http://schemas.microsoft.com/office/drawing/2014/main" id="{916E1EB1-02EA-4146-B9D3-0624CEF8E296}"/>
              </a:ext>
            </a:extLst>
          </p:cNvPr>
          <p:cNvSpPr txBox="1"/>
          <p:nvPr/>
        </p:nvSpPr>
        <p:spPr>
          <a:xfrm>
            <a:off x="3746500" y="863600"/>
            <a:ext cx="8064500" cy="3810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精算方針：契約時に金額を固定し、工数実績による事後精算は行わない。</a:t>
            </a:r>
          </a:p>
        </p:txBody>
      </p:sp>
      <p:graphicFrame>
        <p:nvGraphicFramePr>
          <p:cNvPr id="9" name="表 8">
            <a:extLst>
              <a:ext uri="{FF2B5EF4-FFF2-40B4-BE49-F238E27FC236}">
                <a16:creationId xmlns:a16="http://schemas.microsoft.com/office/drawing/2014/main" id="{2F6BBE29-19B6-4CAF-A797-1ABE57CBFA35}"/>
              </a:ext>
            </a:extLst>
          </p:cNvPr>
          <p:cNvGraphicFramePr>
            <a:graphicFrameLocks noGrp="1"/>
          </p:cNvGraphicFramePr>
          <p:nvPr>
            <p:extLst>
              <p:ext uri="{D42A27DB-BD31-4B8C-83A1-F6EECF244321}">
                <p14:modId xmlns:p14="http://schemas.microsoft.com/office/powerpoint/2010/main" val="1759020237"/>
              </p:ext>
            </p:extLst>
          </p:nvPr>
        </p:nvGraphicFramePr>
        <p:xfrm>
          <a:off x="381000" y="1397000"/>
          <a:ext cx="5588000" cy="1778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735329626"/>
                    </a:ext>
                  </a:extLst>
                </a:gridCol>
                <a:gridCol w="2794000">
                  <a:extLst>
                    <a:ext uri="{9D8B030D-6E8A-4147-A177-3AD203B41FA5}">
                      <a16:colId xmlns:a16="http://schemas.microsoft.com/office/drawing/2014/main" val="2679761751"/>
                    </a:ext>
                  </a:extLst>
                </a:gridCol>
              </a:tblGrid>
              <a:tr h="444500">
                <a:tc>
                  <a:txBody>
                    <a:bodyPr/>
                    <a:lstStyle/>
                    <a:p>
                      <a:pPr algn="ctr"/>
                      <a:r>
                        <a:rPr lang="ja-JP" altLang="en-US" sz="1400" b="1">
                          <a:solidFill>
                            <a:srgbClr val="FFFFFF"/>
                          </a:solidFill>
                          <a:latin typeface="BIZ UDPゴシック"/>
                          <a:ea typeface="BIZ UDPゴシック"/>
                        </a:rPr>
                        <a:t>項目</a:t>
                      </a:r>
                    </a:p>
                  </a:txBody>
                  <a:tcPr>
                    <a:solidFill>
                      <a:srgbClr val="1A1A1A"/>
                    </a:solidFill>
                  </a:tcPr>
                </a:tc>
                <a:tc>
                  <a:txBody>
                    <a:bodyPr/>
                    <a:lstStyle/>
                    <a:p>
                      <a:pPr algn="ctr"/>
                      <a:r>
                        <a:rPr lang="ja-JP" altLang="en-US" sz="1400" b="1">
                          <a:solidFill>
                            <a:srgbClr val="FFFFFF"/>
                          </a:solidFill>
                          <a:latin typeface="BIZ UDPゴシック"/>
                          <a:ea typeface="BIZ UDPゴシック"/>
                        </a:rPr>
                        <a:t>金額</a:t>
                      </a:r>
                    </a:p>
                  </a:txBody>
                  <a:tcPr>
                    <a:solidFill>
                      <a:srgbClr val="1A1A1A"/>
                    </a:solidFill>
                  </a:tcPr>
                </a:tc>
                <a:extLst>
                  <a:ext uri="{0D108BD9-81ED-4DB2-BD59-A6C34878D82A}">
                    <a16:rowId xmlns:a16="http://schemas.microsoft.com/office/drawing/2014/main" val="2233415384"/>
                  </a:ext>
                </a:extLst>
              </a:tr>
              <a:tr h="444500">
                <a:tc>
                  <a:txBody>
                    <a:bodyPr/>
                    <a:lstStyle/>
                    <a:p>
                      <a:pPr algn="l"/>
                      <a:r>
                        <a:rPr lang="ja-JP" altLang="en-US" sz="1400">
                          <a:solidFill>
                            <a:srgbClr val="333333"/>
                          </a:solidFill>
                          <a:latin typeface="BIZ UDPゴシック"/>
                          <a:ea typeface="BIZ UDPゴシック"/>
                        </a:rPr>
                        <a:t>契約金額（税抜）</a:t>
                      </a:r>
                    </a:p>
                  </a:txBody>
                  <a:tcPr/>
                </a:tc>
                <a:tc>
                  <a:txBody>
                    <a:bodyPr/>
                    <a:lstStyle/>
                    <a:p>
                      <a:pPr algn="r"/>
                      <a:r>
                        <a:rPr lang="ja-JP" altLang="en-US" sz="1400">
                          <a:solidFill>
                            <a:srgbClr val="333333"/>
                          </a:solidFill>
                          <a:latin typeface="BIZ UDPゴシック"/>
                          <a:ea typeface="BIZ UDPゴシック"/>
                        </a:rPr>
                        <a:t>4,200,000円</a:t>
                      </a:r>
                    </a:p>
                  </a:txBody>
                  <a:tcPr/>
                </a:tc>
                <a:extLst>
                  <a:ext uri="{0D108BD9-81ED-4DB2-BD59-A6C34878D82A}">
                    <a16:rowId xmlns:a16="http://schemas.microsoft.com/office/drawing/2014/main" val="2286968033"/>
                  </a:ext>
                </a:extLst>
              </a:tr>
              <a:tr h="444500">
                <a:tc>
                  <a:txBody>
                    <a:bodyPr/>
                    <a:lstStyle/>
                    <a:p>
                      <a:pPr algn="l"/>
                      <a:r>
                        <a:rPr lang="ja-JP" altLang="en-US" sz="1400">
                          <a:solidFill>
                            <a:srgbClr val="333333"/>
                          </a:solidFill>
                          <a:latin typeface="BIZ UDPゴシック"/>
                          <a:ea typeface="BIZ UDPゴシック"/>
                        </a:rPr>
                        <a:t>消費税額</a:t>
                      </a:r>
                    </a:p>
                  </a:txBody>
                  <a:tcPr/>
                </a:tc>
                <a:tc>
                  <a:txBody>
                    <a:bodyPr/>
                    <a:lstStyle/>
                    <a:p>
                      <a:pPr algn="r"/>
                      <a:r>
                        <a:rPr lang="ja-JP" altLang="en-US" sz="1400">
                          <a:solidFill>
                            <a:srgbClr val="333333"/>
                          </a:solidFill>
                          <a:latin typeface="BIZ UDPゴシック"/>
                          <a:ea typeface="BIZ UDPゴシック"/>
                        </a:rPr>
                        <a:t>420,000円</a:t>
                      </a:r>
                    </a:p>
                  </a:txBody>
                  <a:tcPr/>
                </a:tc>
                <a:extLst>
                  <a:ext uri="{0D108BD9-81ED-4DB2-BD59-A6C34878D82A}">
                    <a16:rowId xmlns:a16="http://schemas.microsoft.com/office/drawing/2014/main" val="2113295307"/>
                  </a:ext>
                </a:extLst>
              </a:tr>
              <a:tr h="444500">
                <a:tc>
                  <a:txBody>
                    <a:bodyPr/>
                    <a:lstStyle/>
                    <a:p>
                      <a:pPr algn="l"/>
                      <a:r>
                        <a:rPr lang="ja-JP" altLang="en-US" sz="1400" b="1">
                          <a:solidFill>
                            <a:srgbClr val="8B2500"/>
                          </a:solidFill>
                          <a:latin typeface="BIZ UDPゴシック"/>
                          <a:ea typeface="BIZ UDPゴシック"/>
                        </a:rPr>
                        <a:t>契約金額（税込）</a:t>
                      </a:r>
                    </a:p>
                  </a:txBody>
                  <a:tcPr>
                    <a:solidFill>
                      <a:srgbClr val="F5F5F3"/>
                    </a:solidFill>
                  </a:tcPr>
                </a:tc>
                <a:tc>
                  <a:txBody>
                    <a:bodyPr/>
                    <a:lstStyle/>
                    <a:p>
                      <a:pPr algn="r"/>
                      <a:r>
                        <a:rPr lang="ja-JP" altLang="en-US" sz="1400" b="1">
                          <a:solidFill>
                            <a:srgbClr val="8B2500"/>
                          </a:solidFill>
                          <a:latin typeface="BIZ UDPゴシック"/>
                          <a:ea typeface="BIZ UDPゴシック"/>
                        </a:rPr>
                        <a:t>4,620,000円</a:t>
                      </a:r>
                    </a:p>
                  </a:txBody>
                  <a:tcPr>
                    <a:solidFill>
                      <a:srgbClr val="F5F5F3"/>
                    </a:solidFill>
                  </a:tcPr>
                </a:tc>
                <a:extLst>
                  <a:ext uri="{0D108BD9-81ED-4DB2-BD59-A6C34878D82A}">
                    <a16:rowId xmlns:a16="http://schemas.microsoft.com/office/drawing/2014/main" val="3762022757"/>
                  </a:ext>
                </a:extLst>
              </a:tr>
            </a:tbl>
          </a:graphicData>
        </a:graphic>
      </p:graphicFrame>
      <p:graphicFrame>
        <p:nvGraphicFramePr>
          <p:cNvPr id="11" name="表 10">
            <a:extLst>
              <a:ext uri="{FF2B5EF4-FFF2-40B4-BE49-F238E27FC236}">
                <a16:creationId xmlns:a16="http://schemas.microsoft.com/office/drawing/2014/main" id="{9C68B254-528A-48B2-8AAB-0492197A6F85}"/>
              </a:ext>
            </a:extLst>
          </p:cNvPr>
          <p:cNvGraphicFramePr>
            <a:graphicFrameLocks noGrp="1"/>
          </p:cNvGraphicFramePr>
          <p:nvPr>
            <p:extLst>
              <p:ext uri="{D42A27DB-BD31-4B8C-83A1-F6EECF244321}">
                <p14:modId xmlns:p14="http://schemas.microsoft.com/office/powerpoint/2010/main" val="1730979244"/>
              </p:ext>
            </p:extLst>
          </p:nvPr>
        </p:nvGraphicFramePr>
        <p:xfrm>
          <a:off x="381000" y="3492500"/>
          <a:ext cx="10160000" cy="1269999"/>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133606506"/>
                    </a:ext>
                  </a:extLst>
                </a:gridCol>
                <a:gridCol w="762000">
                  <a:extLst>
                    <a:ext uri="{9D8B030D-6E8A-4147-A177-3AD203B41FA5}">
                      <a16:colId xmlns:a16="http://schemas.microsoft.com/office/drawing/2014/main" val="3282365115"/>
                    </a:ext>
                  </a:extLst>
                </a:gridCol>
                <a:gridCol w="3048000">
                  <a:extLst>
                    <a:ext uri="{9D8B030D-6E8A-4147-A177-3AD203B41FA5}">
                      <a16:colId xmlns:a16="http://schemas.microsoft.com/office/drawing/2014/main" val="1364562289"/>
                    </a:ext>
                  </a:extLst>
                </a:gridCol>
                <a:gridCol w="1905000">
                  <a:extLst>
                    <a:ext uri="{9D8B030D-6E8A-4147-A177-3AD203B41FA5}">
                      <a16:colId xmlns:a16="http://schemas.microsoft.com/office/drawing/2014/main" val="2296834214"/>
                    </a:ext>
                  </a:extLst>
                </a:gridCol>
                <a:gridCol w="1651000">
                  <a:extLst>
                    <a:ext uri="{9D8B030D-6E8A-4147-A177-3AD203B41FA5}">
                      <a16:colId xmlns:a16="http://schemas.microsoft.com/office/drawing/2014/main" val="510744522"/>
                    </a:ext>
                  </a:extLst>
                </a:gridCol>
                <a:gridCol w="1905000">
                  <a:extLst>
                    <a:ext uri="{9D8B030D-6E8A-4147-A177-3AD203B41FA5}">
                      <a16:colId xmlns:a16="http://schemas.microsoft.com/office/drawing/2014/main" val="1352412017"/>
                    </a:ext>
                  </a:extLst>
                </a:gridCol>
              </a:tblGrid>
              <a:tr h="423333">
                <a:tc>
                  <a:txBody>
                    <a:bodyPr/>
                    <a:lstStyle/>
                    <a:p>
                      <a:pPr algn="ctr"/>
                      <a:r>
                        <a:rPr lang="ja-JP" altLang="en-US" sz="1400" b="1">
                          <a:solidFill>
                            <a:srgbClr val="FFFFFF"/>
                          </a:solidFill>
                          <a:latin typeface="BIZ UDPゴシック"/>
                          <a:ea typeface="BIZ UDPゴシック"/>
                        </a:rPr>
                        <a:t>支払回</a:t>
                      </a:r>
                    </a:p>
                  </a:txBody>
                  <a:tcPr>
                    <a:solidFill>
                      <a:srgbClr val="1A1A1A"/>
                    </a:solidFill>
                  </a:tcPr>
                </a:tc>
                <a:tc>
                  <a:txBody>
                    <a:bodyPr/>
                    <a:lstStyle/>
                    <a:p>
                      <a:pPr algn="ctr"/>
                      <a:r>
                        <a:rPr lang="ja-JP" altLang="en-US" sz="1400" b="1">
                          <a:solidFill>
                            <a:srgbClr val="FFFFFF"/>
                          </a:solidFill>
                          <a:latin typeface="BIZ UDPゴシック"/>
                          <a:ea typeface="BIZ UDPゴシック"/>
                        </a:rPr>
                        <a:t>比率</a:t>
                      </a:r>
                    </a:p>
                  </a:txBody>
                  <a:tcPr>
                    <a:solidFill>
                      <a:srgbClr val="1A1A1A"/>
                    </a:solidFill>
                  </a:tcPr>
                </a:tc>
                <a:tc>
                  <a:txBody>
                    <a:bodyPr/>
                    <a:lstStyle/>
                    <a:p>
                      <a:pPr algn="ctr"/>
                      <a:r>
                        <a:rPr lang="ja-JP" altLang="en-US" sz="1400" b="1">
                          <a:solidFill>
                            <a:srgbClr val="FFFFFF"/>
                          </a:solidFill>
                          <a:latin typeface="BIZ UDPゴシック"/>
                          <a:ea typeface="BIZ UDPゴシック"/>
                        </a:rPr>
                        <a:t>支払条件</a:t>
                      </a:r>
                    </a:p>
                  </a:txBody>
                  <a:tcPr>
                    <a:solidFill>
                      <a:srgbClr val="1A1A1A"/>
                    </a:solidFill>
                  </a:tcPr>
                </a:tc>
                <a:tc>
                  <a:txBody>
                    <a:bodyPr/>
                    <a:lstStyle/>
                    <a:p>
                      <a:pPr algn="ctr"/>
                      <a:r>
                        <a:rPr lang="ja-JP" altLang="en-US" sz="1400" b="1">
                          <a:solidFill>
                            <a:srgbClr val="FFFFFF"/>
                          </a:solidFill>
                          <a:latin typeface="BIZ UDPゴシック"/>
                          <a:ea typeface="BIZ UDPゴシック"/>
                        </a:rPr>
                        <a:t>税抜</a:t>
                      </a:r>
                    </a:p>
                  </a:txBody>
                  <a:tcPr>
                    <a:solidFill>
                      <a:srgbClr val="1A1A1A"/>
                    </a:solidFill>
                  </a:tcPr>
                </a:tc>
                <a:tc>
                  <a:txBody>
                    <a:bodyPr/>
                    <a:lstStyle/>
                    <a:p>
                      <a:pPr algn="ctr"/>
                      <a:r>
                        <a:rPr lang="ja-JP" altLang="en-US" sz="1400" b="1">
                          <a:solidFill>
                            <a:srgbClr val="FFFFFF"/>
                          </a:solidFill>
                          <a:latin typeface="BIZ UDPゴシック"/>
                          <a:ea typeface="BIZ UDPゴシック"/>
                        </a:rPr>
                        <a:t>消費税</a:t>
                      </a:r>
                    </a:p>
                  </a:txBody>
                  <a:tcPr>
                    <a:solidFill>
                      <a:srgbClr val="1A1A1A"/>
                    </a:solidFill>
                  </a:tcPr>
                </a:tc>
                <a:tc>
                  <a:txBody>
                    <a:bodyPr/>
                    <a:lstStyle/>
                    <a:p>
                      <a:pPr algn="ctr"/>
                      <a:r>
                        <a:rPr lang="ja-JP" altLang="en-US" sz="1400" b="1">
                          <a:solidFill>
                            <a:srgbClr val="FFFFFF"/>
                          </a:solidFill>
                          <a:latin typeface="BIZ UDPゴシック"/>
                          <a:ea typeface="BIZ UDPゴシック"/>
                        </a:rPr>
                        <a:t>税込</a:t>
                      </a:r>
                    </a:p>
                  </a:txBody>
                  <a:tcPr>
                    <a:solidFill>
                      <a:srgbClr val="1A1A1A"/>
                    </a:solidFill>
                  </a:tcPr>
                </a:tc>
                <a:extLst>
                  <a:ext uri="{0D108BD9-81ED-4DB2-BD59-A6C34878D82A}">
                    <a16:rowId xmlns:a16="http://schemas.microsoft.com/office/drawing/2014/main" val="1498011922"/>
                  </a:ext>
                </a:extLst>
              </a:tr>
              <a:tr h="423333">
                <a:tc>
                  <a:txBody>
                    <a:bodyPr/>
                    <a:lstStyle/>
                    <a:p>
                      <a:pPr algn="ctr"/>
                      <a:r>
                        <a:rPr lang="ja-JP" altLang="en-US" sz="1400">
                          <a:solidFill>
                            <a:srgbClr val="333333"/>
                          </a:solidFill>
                          <a:latin typeface="BIZ UDPゴシック"/>
                          <a:ea typeface="BIZ UDPゴシック"/>
                        </a:rPr>
                        <a:t>1</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契約締結後5営業日以内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1184072727"/>
                  </a:ext>
                </a:extLst>
              </a:tr>
              <a:tr h="423333">
                <a:tc>
                  <a:txBody>
                    <a:bodyPr/>
                    <a:lstStyle/>
                    <a:p>
                      <a:pPr algn="ctr"/>
                      <a:r>
                        <a:rPr lang="ja-JP" altLang="en-US" sz="1400">
                          <a:solidFill>
                            <a:srgbClr val="333333"/>
                          </a:solidFill>
                          <a:latin typeface="BIZ UDPゴシック"/>
                          <a:ea typeface="BIZ UDPゴシック"/>
                        </a:rPr>
                        <a:t>2</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検収完了後5営業日以内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289323637"/>
                  </a:ext>
                </a:extLst>
              </a:tr>
            </a:tbl>
          </a:graphicData>
        </a:graphic>
      </p:graphicFrame>
      <p:sp>
        <p:nvSpPr>
          <p:cNvPr id="12" name="テキスト ボックス 11">
            <a:extLst>
              <a:ext uri="{FF2B5EF4-FFF2-40B4-BE49-F238E27FC236}">
                <a16:creationId xmlns:a16="http://schemas.microsoft.com/office/drawing/2014/main" id="{F43A985C-AEB5-4C2E-A294-733033F98A50}"/>
              </a:ext>
            </a:extLst>
          </p:cNvPr>
          <p:cNvSpPr txBox="1"/>
          <p:nvPr/>
        </p:nvSpPr>
        <p:spPr>
          <a:xfrm>
            <a:off x="381000" y="3213100"/>
            <a:ext cx="254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支払条件</a:t>
            </a:r>
          </a:p>
        </p:txBody>
      </p:sp>
      <p:sp>
        <p:nvSpPr>
          <p:cNvPr id="13" name="四角形: 角を丸くする 12">
            <a:extLst>
              <a:ext uri="{FF2B5EF4-FFF2-40B4-BE49-F238E27FC236}">
                <a16:creationId xmlns:a16="http://schemas.microsoft.com/office/drawing/2014/main" id="{1CB2CF4E-A0DC-46E5-B308-D1B507F76AAD}"/>
              </a:ext>
            </a:extLst>
          </p:cNvPr>
          <p:cNvSpPr/>
          <p:nvPr/>
        </p:nvSpPr>
        <p:spPr>
          <a:xfrm>
            <a:off x="6731000" y="1524000"/>
            <a:ext cx="5080000" cy="1397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E0DD5F5C-84C3-49B0-B8F2-C0B620BB1CBC}"/>
              </a:ext>
            </a:extLst>
          </p:cNvPr>
          <p:cNvSpPr txBox="1"/>
          <p:nvPr/>
        </p:nvSpPr>
        <p:spPr>
          <a:xfrm>
            <a:off x="6985000" y="1651000"/>
            <a:ext cx="4572000" cy="317500"/>
          </a:xfrm>
          <a:prstGeom prst="rect">
            <a:avLst/>
          </a:prstGeom>
          <a:noFill/>
        </p:spPr>
        <p:txBody>
          <a:bodyPr vertOverflow="overflow" vert="horz" wrap="square" rtlCol="0" anchor="t">
            <a:spAutoFit/>
          </a:bodyPr>
          <a:lstStyle/>
          <a:p>
            <a:pPr algn="l"/>
            <a:r>
              <a:rPr lang="zh-TW" altLang="en-US" sz="1500">
                <a:solidFill>
                  <a:srgbClr val="6B6B6B"/>
                </a:solidFill>
                <a:latin typeface="BIZ UDPゴシック"/>
                <a:ea typeface="BIZ UDPゴシック"/>
              </a:rPr>
              <a:t>契約金額（税込）</a:t>
            </a:r>
            <a:endParaRPr lang="ja-JP" altLang="en-US" sz="1500">
              <a:solidFill>
                <a:srgbClr val="6B6B6B"/>
              </a:solidFill>
              <a:latin typeface="BIZ UDPゴシック"/>
              <a:ea typeface="BIZ UDPゴシック"/>
            </a:endParaRPr>
          </a:p>
        </p:txBody>
      </p:sp>
      <p:sp>
        <p:nvSpPr>
          <p:cNvPr id="15" name="テキスト ボックス 14">
            <a:extLst>
              <a:ext uri="{FF2B5EF4-FFF2-40B4-BE49-F238E27FC236}">
                <a16:creationId xmlns:a16="http://schemas.microsoft.com/office/drawing/2014/main" id="{E91AB67B-7E4C-44E8-A2E0-360BFC3D82C6}"/>
              </a:ext>
            </a:extLst>
          </p:cNvPr>
          <p:cNvSpPr txBox="1"/>
          <p:nvPr/>
        </p:nvSpPr>
        <p:spPr>
          <a:xfrm>
            <a:off x="6985000" y="2032000"/>
            <a:ext cx="4572000" cy="635000"/>
          </a:xfrm>
          <a:prstGeom prst="rect">
            <a:avLst/>
          </a:prstGeom>
          <a:noFill/>
        </p:spPr>
        <p:txBody>
          <a:bodyPr vertOverflow="overflow" vert="horz" wrap="square" rtlCol="0" anchor="t">
            <a:spAutoFit/>
          </a:bodyPr>
          <a:lstStyle/>
          <a:p>
            <a:pPr algn="l"/>
            <a:r>
              <a:rPr lang="en-US" altLang="ja-JP" sz="3600" b="1">
                <a:solidFill>
                  <a:srgbClr val="8B2500"/>
                </a:solidFill>
                <a:latin typeface="BIZ UDPゴシック"/>
                <a:ea typeface="BIZ UDPゴシック"/>
              </a:rPr>
              <a:t>¥4,620,000</a:t>
            </a:r>
            <a:endParaRPr lang="ja-JP" altLang="en-US" sz="3600" b="1">
              <a:solidFill>
                <a:srgbClr val="8B2500"/>
              </a:solidFill>
              <a:latin typeface="BIZ UDPゴシック"/>
              <a:ea typeface="BIZ UDPゴシック"/>
            </a:endParaRPr>
          </a:p>
        </p:txBody>
      </p:sp>
      <p:sp>
        <p:nvSpPr>
          <p:cNvPr id="16" name="テキスト ボックス 15">
            <a:extLst>
              <a:ext uri="{FF2B5EF4-FFF2-40B4-BE49-F238E27FC236}">
                <a16:creationId xmlns:a16="http://schemas.microsoft.com/office/drawing/2014/main" id="{9CA12CE4-19FA-4494-86F0-D490452F53F9}"/>
              </a:ext>
            </a:extLst>
          </p:cNvPr>
          <p:cNvSpPr txBox="1"/>
          <p:nvPr/>
        </p:nvSpPr>
        <p:spPr>
          <a:xfrm>
            <a:off x="381000" y="5080000"/>
            <a:ext cx="11430000" cy="508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本見積は固定価格契約に基づく総額提示。契約期間内の進行管理、分析、レビュー、報告を含む。範囲外の追加対応は別途協議・見積の対象。</a:t>
            </a:r>
          </a:p>
        </p:txBody>
      </p:sp>
    </p:spTree>
    <p:extLst>
      <p:ext uri="{BB962C8B-B14F-4D97-AF65-F5344CB8AC3E}">
        <p14:creationId xmlns:p14="http://schemas.microsoft.com/office/powerpoint/2010/main" val="23833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7D1C95D-3969-4AB1-96AF-B6D00A20A1CE}"/>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CFC542E8-B6AF-4984-A101-874B88DAB28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9. </a:t>
            </a:r>
            <a:r>
              <a:rPr lang="ja-JP" altLang="en-US" sz="2400" b="1">
                <a:solidFill>
                  <a:srgbClr val="1A1A1A"/>
                </a:solidFill>
                <a:latin typeface="BIZ UDPゴシック"/>
                <a:ea typeface="BIZ UDPゴシック"/>
              </a:rPr>
              <a:t>リスクと対応策</a:t>
            </a:r>
          </a:p>
        </p:txBody>
      </p:sp>
      <p:sp>
        <p:nvSpPr>
          <p:cNvPr id="4" name="テキスト ボックス 3">
            <a:extLst>
              <a:ext uri="{FF2B5EF4-FFF2-40B4-BE49-F238E27FC236}">
                <a16:creationId xmlns:a16="http://schemas.microsoft.com/office/drawing/2014/main" id="{6E2916EF-DACA-4DDB-85D3-D258E8C1649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12</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9685B500-655F-45B8-8A63-6A3FD43E794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5BE5220A-E0CB-4C01-A459-71F3E6F60F70}"/>
              </a:ext>
            </a:extLst>
          </p:cNvPr>
          <p:cNvGraphicFramePr>
            <a:graphicFrameLocks noGrp="1"/>
          </p:cNvGraphicFramePr>
          <p:nvPr>
            <p:extLst>
              <p:ext uri="{D42A27DB-BD31-4B8C-83A1-F6EECF244321}">
                <p14:modId xmlns:p14="http://schemas.microsoft.com/office/powerpoint/2010/main" val="1895220535"/>
              </p:ext>
            </p:extLst>
          </p:nvPr>
        </p:nvGraphicFramePr>
        <p:xfrm>
          <a:off x="381000" y="825500"/>
          <a:ext cx="11430000" cy="4952997"/>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1493582926"/>
                    </a:ext>
                  </a:extLst>
                </a:gridCol>
                <a:gridCol w="4826000">
                  <a:extLst>
                    <a:ext uri="{9D8B030D-6E8A-4147-A177-3AD203B41FA5}">
                      <a16:colId xmlns:a16="http://schemas.microsoft.com/office/drawing/2014/main" val="3900607405"/>
                    </a:ext>
                  </a:extLst>
                </a:gridCol>
                <a:gridCol w="4826000">
                  <a:extLst>
                    <a:ext uri="{9D8B030D-6E8A-4147-A177-3AD203B41FA5}">
                      <a16:colId xmlns:a16="http://schemas.microsoft.com/office/drawing/2014/main" val="2392055668"/>
                    </a:ext>
                  </a:extLst>
                </a:gridCol>
              </a:tblGrid>
              <a:tr h="707571">
                <a:tc>
                  <a:txBody>
                    <a:bodyPr/>
                    <a:lstStyle/>
                    <a:p>
                      <a:pPr algn="ctr"/>
                      <a:r>
                        <a:rPr lang="ja-JP" altLang="en-US" sz="1400" b="1">
                          <a:solidFill>
                            <a:srgbClr val="FFFFFF"/>
                          </a:solidFill>
                          <a:latin typeface="BIZ UDPゴシック"/>
                          <a:ea typeface="BIZ UDPゴシック"/>
                        </a:rPr>
                        <a:t>リスク</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対応策</a:t>
                      </a:r>
                    </a:p>
                  </a:txBody>
                  <a:tcPr anchor="ctr">
                    <a:solidFill>
                      <a:srgbClr val="1A1A1A"/>
                    </a:solidFill>
                  </a:tcPr>
                </a:tc>
                <a:extLst>
                  <a:ext uri="{0D108BD9-81ED-4DB2-BD59-A6C34878D82A}">
                    <a16:rowId xmlns:a16="http://schemas.microsoft.com/office/drawing/2014/main" val="4173179428"/>
                  </a:ext>
                </a:extLst>
              </a:tr>
              <a:tr h="707571">
                <a:tc>
                  <a:txBody>
                    <a:bodyPr/>
                    <a:lstStyle/>
                    <a:p>
                      <a:r>
                        <a:rPr lang="ja-JP" altLang="en-US" sz="1400" b="1">
                          <a:solidFill>
                            <a:srgbClr val="8B2500"/>
                          </a:solidFill>
                          <a:latin typeface="BIZ UDPゴシック"/>
                          <a:ea typeface="BIZ UDPゴシック"/>
                        </a:rPr>
                        <a:t>目的変数定義の誤認</a:t>
                      </a:r>
                    </a:p>
                  </a:txBody>
                  <a:tcPr anchor="ctr"/>
                </a:tc>
                <a:tc>
                  <a:txBody>
                    <a:bodyPr/>
                    <a:lstStyle/>
                    <a:p>
                      <a:r>
                        <a:rPr lang="ja-JP" altLang="en-US" sz="1400">
                          <a:solidFill>
                            <a:srgbClr val="333333"/>
                          </a:solidFill>
                          <a:latin typeface="BIZ UDPゴシック"/>
                          <a:ea typeface="BIZ UDPゴシック"/>
                        </a:rPr>
                        <a:t>loan_statusの0/1の業務意味が未確定のまま進行すると解釈が逆転する可能性</a:t>
                      </a:r>
                    </a:p>
                  </a:txBody>
                  <a:tcPr anchor="ctr"/>
                </a:tc>
                <a:tc>
                  <a:txBody>
                    <a:bodyPr/>
                    <a:lstStyle/>
                    <a:p>
                      <a:r>
                        <a:rPr lang="ja-JP" altLang="en-US" sz="1400">
                          <a:solidFill>
                            <a:srgbClr val="333333"/>
                          </a:solidFill>
                          <a:latin typeface="BIZ UDPゴシック"/>
                          <a:ea typeface="BIZ UDPゴシック"/>
                        </a:rPr>
                        <a:t>初回レビューでloan_status=1の定義を確定し、全成果物に明記</a:t>
                      </a:r>
                    </a:p>
                  </a:txBody>
                  <a:tcPr anchor="ctr"/>
                </a:tc>
                <a:extLst>
                  <a:ext uri="{0D108BD9-81ED-4DB2-BD59-A6C34878D82A}">
                    <a16:rowId xmlns:a16="http://schemas.microsoft.com/office/drawing/2014/main" val="3151158143"/>
                  </a:ext>
                </a:extLst>
              </a:tr>
              <a:tr h="707571">
                <a:tc>
                  <a:txBody>
                    <a:bodyPr/>
                    <a:lstStyle/>
                    <a:p>
                      <a:r>
                        <a:rPr lang="ja-JP" altLang="en-US" sz="1400" b="1">
                          <a:solidFill>
                            <a:srgbClr val="8B2500"/>
                          </a:solidFill>
                          <a:latin typeface="BIZ UDPゴシック"/>
                          <a:ea typeface="BIZ UDPゴシック"/>
                        </a:rPr>
                        <a:t>リーケージリスク</a:t>
                      </a:r>
                    </a:p>
                  </a:txBody>
                  <a:tcPr anchor="ctr">
                    <a:solidFill>
                      <a:srgbClr val="F5F5F3"/>
                    </a:solidFill>
                  </a:tcPr>
                </a:tc>
                <a:tc>
                  <a:txBody>
                    <a:bodyPr/>
                    <a:lstStyle/>
                    <a:p>
                      <a:r>
                        <a:rPr lang="ja-JP" altLang="en-US" sz="1400">
                          <a:solidFill>
                            <a:srgbClr val="333333"/>
                          </a:solidFill>
                          <a:latin typeface="BIZ UDPゴシック"/>
                          <a:ea typeface="BIZ UDPゴシック"/>
                        </a:rPr>
                        <a:t>interest_rateやgradeが審査前に利用不可の場合、運用時に再現できない可能性</a:t>
                      </a:r>
                    </a:p>
                  </a:txBody>
                  <a:tcPr anchor="ctr">
                    <a:solidFill>
                      <a:srgbClr val="F5F5F3"/>
                    </a:solidFill>
                  </a:tcPr>
                </a:tc>
                <a:tc>
                  <a:txBody>
                    <a:bodyPr/>
                    <a:lstStyle/>
                    <a:p>
                      <a:r>
                        <a:rPr lang="ja-JP" altLang="en-US" sz="1400">
                          <a:solidFill>
                            <a:srgbClr val="333333"/>
                          </a:solidFill>
                          <a:latin typeface="BIZ UDPゴシック"/>
                          <a:ea typeface="BIZ UDPゴシック"/>
                        </a:rPr>
                        <a:t>利用可能時点を確認し、分析上有効な変数と運用利用可能な変数を分離整理</a:t>
                      </a:r>
                    </a:p>
                  </a:txBody>
                  <a:tcPr anchor="ctr">
                    <a:solidFill>
                      <a:srgbClr val="F5F5F3"/>
                    </a:solidFill>
                  </a:tcPr>
                </a:tc>
                <a:extLst>
                  <a:ext uri="{0D108BD9-81ED-4DB2-BD59-A6C34878D82A}">
                    <a16:rowId xmlns:a16="http://schemas.microsoft.com/office/drawing/2014/main" val="3346089006"/>
                  </a:ext>
                </a:extLst>
              </a:tr>
              <a:tr h="707571">
                <a:tc>
                  <a:txBody>
                    <a:bodyPr/>
                    <a:lstStyle/>
                    <a:p>
                      <a:r>
                        <a:rPr lang="ja-JP" altLang="en-US" sz="1400" b="1">
                          <a:solidFill>
                            <a:srgbClr val="8B2500"/>
                          </a:solidFill>
                          <a:latin typeface="BIZ UDPゴシック"/>
                          <a:ea typeface="BIZ UDPゴシック"/>
                        </a:rPr>
                        <a:t>一般化性能の限界</a:t>
                      </a:r>
                    </a:p>
                  </a:txBody>
                  <a:tcPr anchor="ctr"/>
                </a:tc>
                <a:tc>
                  <a:txBody>
                    <a:bodyPr/>
                    <a:lstStyle/>
                    <a:p>
                      <a:r>
                        <a:rPr lang="ja-JP" altLang="en-US" sz="1400">
                          <a:solidFill>
                            <a:srgbClr val="333333"/>
                          </a:solidFill>
                          <a:latin typeface="BIZ UDPゴシック"/>
                          <a:ea typeface="BIZ UDPゴシック"/>
                        </a:rPr>
                        <a:t>train.csv単体のため期間跨ぎ検証や外部検証ができない</a:t>
                      </a:r>
                    </a:p>
                  </a:txBody>
                  <a:tcPr anchor="ctr"/>
                </a:tc>
                <a:tc>
                  <a:txBody>
                    <a:bodyPr/>
                    <a:lstStyle/>
                    <a:p>
                      <a:r>
                        <a:rPr lang="ja-JP" altLang="en-US" sz="1400">
                          <a:solidFill>
                            <a:srgbClr val="333333"/>
                          </a:solidFill>
                          <a:latin typeface="BIZ UDPゴシック"/>
                          <a:ea typeface="BIZ UDPゴシック"/>
                        </a:rPr>
                        <a:t>学習・検証分離を徹底し、初期評価であることを明示</a:t>
                      </a:r>
                    </a:p>
                  </a:txBody>
                  <a:tcPr anchor="ctr"/>
                </a:tc>
                <a:extLst>
                  <a:ext uri="{0D108BD9-81ED-4DB2-BD59-A6C34878D82A}">
                    <a16:rowId xmlns:a16="http://schemas.microsoft.com/office/drawing/2014/main" val="1871301749"/>
                  </a:ext>
                </a:extLst>
              </a:tr>
              <a:tr h="707571">
                <a:tc>
                  <a:txBody>
                    <a:bodyPr/>
                    <a:lstStyle/>
                    <a:p>
                      <a:r>
                        <a:rPr lang="ja-JP" altLang="en-US" sz="1400" b="1">
                          <a:solidFill>
                            <a:srgbClr val="8B2500"/>
                          </a:solidFill>
                          <a:latin typeface="BIZ UDPゴシック"/>
                          <a:ea typeface="BIZ UDPゴシック"/>
                        </a:rPr>
                        <a:t>公平性評価の制約</a:t>
                      </a:r>
                    </a:p>
                  </a:txBody>
                  <a:tcPr anchor="ctr">
                    <a:solidFill>
                      <a:srgbClr val="F5F5F3"/>
                    </a:solidFill>
                  </a:tcPr>
                </a:tc>
                <a:tc>
                  <a:txBody>
                    <a:bodyPr/>
                    <a:lstStyle/>
                    <a:p>
                      <a:r>
                        <a:rPr lang="ja-JP" altLang="en-US" sz="1400">
                          <a:solidFill>
                            <a:srgbClr val="333333"/>
                          </a:solidFill>
                          <a:latin typeface="BIZ UDPゴシック"/>
                          <a:ea typeface="BIZ UDPゴシック"/>
                        </a:rPr>
                        <a:t>性別・年齢・地域等の属性がなく包括的な公平性評価が困難</a:t>
                      </a:r>
                    </a:p>
                  </a:txBody>
                  <a:tcPr anchor="ctr">
                    <a:solidFill>
                      <a:srgbClr val="F5F5F3"/>
                    </a:solidFill>
                  </a:tcPr>
                </a:tc>
                <a:tc>
                  <a:txBody>
                    <a:bodyPr/>
                    <a:lstStyle/>
                    <a:p>
                      <a:r>
                        <a:rPr lang="ja-JP" altLang="en-US" sz="1400">
                          <a:solidFill>
                            <a:srgbClr val="333333"/>
                          </a:solidFill>
                          <a:latin typeface="BIZ UDPゴシック"/>
                          <a:ea typeface="BIZ UDPゴシック"/>
                        </a:rPr>
                        <a:t>保有変数ベースで偏り確認を実施し、未評価領域を明記</a:t>
                      </a:r>
                    </a:p>
                  </a:txBody>
                  <a:tcPr anchor="ctr">
                    <a:solidFill>
                      <a:srgbClr val="F5F5F3"/>
                    </a:solidFill>
                  </a:tcPr>
                </a:tc>
                <a:extLst>
                  <a:ext uri="{0D108BD9-81ED-4DB2-BD59-A6C34878D82A}">
                    <a16:rowId xmlns:a16="http://schemas.microsoft.com/office/drawing/2014/main" val="3252740124"/>
                  </a:ext>
                </a:extLst>
              </a:tr>
              <a:tr h="707571">
                <a:tc>
                  <a:txBody>
                    <a:bodyPr/>
                    <a:lstStyle/>
                    <a:p>
                      <a:r>
                        <a:rPr lang="ja-JP" altLang="en-US" sz="1400" b="1">
                          <a:solidFill>
                            <a:srgbClr val="8B2500"/>
                          </a:solidFill>
                          <a:latin typeface="BIZ UDPゴシック"/>
                          <a:ea typeface="BIZ UDPゴシック"/>
                        </a:rPr>
                        <a:t>短納期による深掘り制約</a:t>
                      </a:r>
                    </a:p>
                  </a:txBody>
                  <a:tcPr anchor="ctr"/>
                </a:tc>
                <a:tc>
                  <a:txBody>
                    <a:bodyPr/>
                    <a:lstStyle/>
                    <a:p>
                      <a:r>
                        <a:rPr lang="ja-JP" altLang="en-US" sz="1400">
                          <a:solidFill>
                            <a:srgbClr val="333333"/>
                          </a:solidFill>
                          <a:latin typeface="BIZ UDPゴシック"/>
                          <a:ea typeface="BIZ UDPゴシック"/>
                        </a:rPr>
                        <a:t>7週間の固定価格案件のため追加論点が全体進行に影響</a:t>
                      </a:r>
                    </a:p>
                  </a:txBody>
                  <a:tcPr anchor="ctr"/>
                </a:tc>
                <a:tc>
                  <a:txBody>
                    <a:bodyPr/>
                    <a:lstStyle/>
                    <a:p>
                      <a:r>
                        <a:rPr lang="ja-JP" altLang="en-US" sz="1400">
                          <a:solidFill>
                            <a:srgbClr val="333333"/>
                          </a:solidFill>
                          <a:latin typeface="BIZ UDPゴシック"/>
                          <a:ea typeface="BIZ UDPゴシック"/>
                        </a:rPr>
                        <a:t>週次で優先順位を確認し、範囲外対応は変更管理で扱う</a:t>
                      </a:r>
                    </a:p>
                  </a:txBody>
                  <a:tcPr anchor="ctr"/>
                </a:tc>
                <a:extLst>
                  <a:ext uri="{0D108BD9-81ED-4DB2-BD59-A6C34878D82A}">
                    <a16:rowId xmlns:a16="http://schemas.microsoft.com/office/drawing/2014/main" val="646926926"/>
                  </a:ext>
                </a:extLst>
              </a:tr>
              <a:tr h="707571">
                <a:tc>
                  <a:txBody>
                    <a:bodyPr/>
                    <a:lstStyle/>
                    <a:p>
                      <a:r>
                        <a:rPr lang="ja-JP" altLang="en-US" sz="1400" b="1">
                          <a:solidFill>
                            <a:srgbClr val="8B2500"/>
                          </a:solidFill>
                          <a:latin typeface="BIZ UDPゴシック"/>
                          <a:ea typeface="BIZ UDPゴシック"/>
                        </a:rPr>
                        <a:t>監査要求への不備</a:t>
                      </a:r>
                    </a:p>
                  </a:txBody>
                  <a:tcPr anchor="ctr">
                    <a:solidFill>
                      <a:srgbClr val="F5F5F3"/>
                    </a:solidFill>
                  </a:tcPr>
                </a:tc>
                <a:tc>
                  <a:txBody>
                    <a:bodyPr/>
                    <a:lstStyle/>
                    <a:p>
                      <a:r>
                        <a:rPr lang="ja-JP" altLang="en-US" sz="1400">
                          <a:solidFill>
                            <a:srgbClr val="333333"/>
                          </a:solidFill>
                          <a:latin typeface="BIZ UDPゴシック"/>
                          <a:ea typeface="BIZ UDPゴシック"/>
                        </a:rPr>
                        <a:t>文書化・版管理不足で説明責任を満たせないリスク</a:t>
                      </a:r>
                    </a:p>
                  </a:txBody>
                  <a:tcPr anchor="ctr">
                    <a:solidFill>
                      <a:srgbClr val="F5F5F3"/>
                    </a:solidFill>
                  </a:tcPr>
                </a:tc>
                <a:tc>
                  <a:txBody>
                    <a:bodyPr/>
                    <a:lstStyle/>
                    <a:p>
                      <a:r>
                        <a:rPr lang="ja-JP" altLang="en-US" sz="1400">
                          <a:solidFill>
                            <a:srgbClr val="333333"/>
                          </a:solidFill>
                          <a:latin typeface="BIZ UDPゴシック"/>
                          <a:ea typeface="BIZ UDPゴシック"/>
                        </a:rPr>
                        <a:t>前処理・評価条件・判断根拠・版管理を記録しQAレビュー実施</a:t>
                      </a:r>
                    </a:p>
                  </a:txBody>
                  <a:tcPr anchor="ctr">
                    <a:solidFill>
                      <a:srgbClr val="F5F5F3"/>
                    </a:solidFill>
                  </a:tcPr>
                </a:tc>
                <a:extLst>
                  <a:ext uri="{0D108BD9-81ED-4DB2-BD59-A6C34878D82A}">
                    <a16:rowId xmlns:a16="http://schemas.microsoft.com/office/drawing/2014/main" val="4293157517"/>
                  </a:ext>
                </a:extLst>
              </a:tr>
            </a:tbl>
          </a:graphicData>
        </a:graphic>
      </p:graphicFrame>
    </p:spTree>
    <p:extLst>
      <p:ext uri="{BB962C8B-B14F-4D97-AF65-F5344CB8AC3E}">
        <p14:creationId xmlns:p14="http://schemas.microsoft.com/office/powerpoint/2010/main" val="90101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27000" rIns="72000" bIns="27000" anchor="ctr"/>
          <a:lstStyle/>
          <a:p>
            <a:pPr algn="r"/>
            <a:r>
              <a:rPr lang="ja-JP" sz="1400" dirty="0">
                <a:solidFill>
                  <a:srgbClr val="999999"/>
                </a:solidFill>
                <a:latin typeface="BIZ UDPゴシック"/>
                <a:ea typeface="BIZ UDPゴシック"/>
              </a:rPr>
              <a:t>13</a:t>
            </a:r>
          </a:p>
        </p:txBody>
      </p:sp>
      <p:sp>
        <p:nvSpPr>
          <p:cNvPr id="11" name="s11"/>
          <p:cNvSpPr/>
          <p:nvPr/>
        </p:nvSpPr>
        <p:spPr>
          <a:xfrm>
            <a:off x="0" y="127000"/>
            <a:ext cx="101600" cy="508000"/>
          </a:xfrm>
          <a:prstGeom prst="rect">
            <a:avLst/>
          </a:prstGeom>
          <a:solidFill>
            <a:srgbClr val="8B2500"/>
          </a:solidFill>
          <a:ln>
            <a:noFill/>
          </a:ln>
        </p:spPr>
        <p:txBody>
          <a:bodyPr wrap="square" lIns="72000" tIns="27000" rIns="72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27000" rIns="72000" bIns="27000" anchor="ctr"/>
          <a:lstStyle/>
          <a:p>
            <a:pPr algn="l"/>
            <a:r>
              <a:rPr lang="ja-JP" sz="2400" b="1" dirty="0">
                <a:solidFill>
                  <a:srgbClr val="1A1A1A"/>
                </a:solidFill>
                <a:latin typeface="BIZ UDPゴシック"/>
                <a:ea typeface="BIZ UDPゴシック"/>
              </a:rPr>
              <a:t>10. 前提条件と除外事項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27000" rIns="72000" bIns="27000" anchor="ctr"/>
          <a:lstStyle/>
          <a:p>
            <a:endParaRPr lang="ja-JP"/>
          </a:p>
        </p:txBody>
      </p:sp>
      <p:sp>
        <p:nvSpPr>
          <p:cNvPr id="20" name="s20"/>
          <p:cNvSpPr/>
          <p:nvPr/>
        </p:nvSpPr>
        <p:spPr>
          <a:xfrm>
            <a:off x="381000" y="825500"/>
            <a:ext cx="5588000" cy="355600"/>
          </a:xfrm>
          <a:prstGeom prst="rect">
            <a:avLst/>
          </a:prstGeom>
          <a:solidFill>
            <a:srgbClr val="4A4A4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前提条件</a:t>
            </a:r>
          </a:p>
        </p:txBody>
      </p:sp>
      <p:sp>
        <p:nvSpPr>
          <p:cNvPr id="30" name="s30"/>
          <p:cNvSpPr/>
          <p:nvPr/>
        </p:nvSpPr>
        <p:spPr>
          <a:xfrm>
            <a:off x="444500" y="1270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0" name="s40"/>
          <p:cNvSpPr/>
          <p:nvPr/>
        </p:nvSpPr>
        <p:spPr>
          <a:xfrm>
            <a:off x="787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train.csv を正本データとして使用</a:t>
            </a:r>
          </a:p>
        </p:txBody>
      </p:sp>
      <p:sp>
        <p:nvSpPr>
          <p:cNvPr id="31" name="s31"/>
          <p:cNvSpPr/>
          <p:nvPr/>
        </p:nvSpPr>
        <p:spPr>
          <a:xfrm>
            <a:off x="444500" y="1676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1" name="s41"/>
          <p:cNvSpPr/>
          <p:nvPr/>
        </p:nvSpPr>
        <p:spPr>
          <a:xfrm>
            <a:off x="787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カラム説明.md をカラム定義の基準とする</a:t>
            </a:r>
          </a:p>
        </p:txBody>
      </p:sp>
      <p:sp>
        <p:nvSpPr>
          <p:cNvPr id="32" name="s32"/>
          <p:cNvSpPr/>
          <p:nvPr/>
        </p:nvSpPr>
        <p:spPr>
          <a:xfrm>
            <a:off x="444500" y="2082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2" name="s42"/>
          <p:cNvSpPr/>
          <p:nvPr/>
        </p:nvSpPr>
        <p:spPr>
          <a:xfrm>
            <a:off x="787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分析に必要なアクセス権限が付与済み</a:t>
            </a:r>
          </a:p>
        </p:txBody>
      </p:sp>
      <p:sp>
        <p:nvSpPr>
          <p:cNvPr id="33" name="s33"/>
          <p:cNvSpPr/>
          <p:nvPr/>
        </p:nvSpPr>
        <p:spPr>
          <a:xfrm>
            <a:off x="444500" y="2489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3" name="s43"/>
          <p:cNvSpPr/>
          <p:nvPr/>
        </p:nvSpPr>
        <p:spPr>
          <a:xfrm>
            <a:off x="787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提示データは匿名化・利用許諾済み</a:t>
            </a:r>
          </a:p>
        </p:txBody>
      </p:sp>
      <p:sp>
        <p:nvSpPr>
          <p:cNvPr id="34" name="s34"/>
          <p:cNvSpPr/>
          <p:nvPr/>
        </p:nvSpPr>
        <p:spPr>
          <a:xfrm>
            <a:off x="444500" y="28956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4" name="s44"/>
          <p:cNvSpPr/>
          <p:nvPr/>
        </p:nvSpPr>
        <p:spPr>
          <a:xfrm>
            <a:off x="787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追加データ連携は実施しない</a:t>
            </a:r>
          </a:p>
        </p:txBody>
      </p:sp>
      <p:sp>
        <p:nvSpPr>
          <p:cNvPr id="35" name="s35"/>
          <p:cNvSpPr/>
          <p:nvPr/>
        </p:nvSpPr>
        <p:spPr>
          <a:xfrm>
            <a:off x="444500" y="3302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5" name="s45"/>
          <p:cNvSpPr/>
          <p:nvPr/>
        </p:nvSpPr>
        <p:spPr>
          <a:xfrm>
            <a:off x="787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loan_status の 0/1 定義は初回レビューで確定</a:t>
            </a:r>
          </a:p>
        </p:txBody>
      </p:sp>
      <p:sp>
        <p:nvSpPr>
          <p:cNvPr id="36" name="s36"/>
          <p:cNvSpPr/>
          <p:nvPr/>
        </p:nvSpPr>
        <p:spPr>
          <a:xfrm>
            <a:off x="444500" y="3708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6" name="s46"/>
          <p:cNvSpPr/>
          <p:nvPr/>
        </p:nvSpPr>
        <p:spPr>
          <a:xfrm>
            <a:off x="787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id は顧客IDでインデックス用途のみ</a:t>
            </a:r>
          </a:p>
        </p:txBody>
      </p:sp>
      <p:sp>
        <p:nvSpPr>
          <p:cNvPr id="37" name="s37"/>
          <p:cNvSpPr/>
          <p:nvPr/>
        </p:nvSpPr>
        <p:spPr>
          <a:xfrm>
            <a:off x="444500" y="4114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7" name="s47"/>
          <p:cNvSpPr/>
          <p:nvPr/>
        </p:nvSpPr>
        <p:spPr>
          <a:xfrm>
            <a:off x="787400" y="4114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interest_rate, grade はリーケージ懸念あり</a:t>
            </a:r>
          </a:p>
        </p:txBody>
      </p:sp>
      <p:sp>
        <p:nvSpPr>
          <p:cNvPr id="38" name="s38"/>
          <p:cNvSpPr/>
          <p:nvPr/>
        </p:nvSpPr>
        <p:spPr>
          <a:xfrm>
            <a:off x="444500" y="4521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8" name="s48"/>
          <p:cNvSpPr/>
          <p:nvPr/>
        </p:nvSpPr>
        <p:spPr>
          <a:xfrm>
            <a:off x="787400" y="4521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追加対応が発生しない前提で契約締結</a:t>
            </a:r>
          </a:p>
        </p:txBody>
      </p:sp>
      <p:sp>
        <p:nvSpPr>
          <p:cNvPr id="50" name="s50"/>
          <p:cNvSpPr/>
          <p:nvPr/>
        </p:nvSpPr>
        <p:spPr>
          <a:xfrm>
            <a:off x="6223000" y="825500"/>
            <a:ext cx="5588000" cy="355600"/>
          </a:xfrm>
          <a:prstGeom prst="rect">
            <a:avLst/>
          </a:prstGeom>
          <a:solidFill>
            <a:srgbClr val="1A1A1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除外事項</a:t>
            </a:r>
          </a:p>
        </p:txBody>
      </p:sp>
      <p:sp>
        <p:nvSpPr>
          <p:cNvPr id="55" name="s55"/>
          <p:cNvSpPr/>
          <p:nvPr/>
        </p:nvSpPr>
        <p:spPr>
          <a:xfrm>
            <a:off x="6286500" y="1270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5" name="s65"/>
          <p:cNvSpPr/>
          <p:nvPr/>
        </p:nvSpPr>
        <p:spPr>
          <a:xfrm>
            <a:off x="6629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本番システム実装、API化、審査システム接続</a:t>
            </a:r>
          </a:p>
        </p:txBody>
      </p:sp>
      <p:sp>
        <p:nvSpPr>
          <p:cNvPr id="56" name="s56"/>
          <p:cNvSpPr/>
          <p:nvPr/>
        </p:nvSpPr>
        <p:spPr>
          <a:xfrm>
            <a:off x="6286500" y="1676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6" name="s66"/>
          <p:cNvSpPr/>
          <p:nvPr/>
        </p:nvSpPr>
        <p:spPr>
          <a:xfrm>
            <a:off x="6629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継続運用を前提としたデータ基盤構築</a:t>
            </a:r>
          </a:p>
        </p:txBody>
      </p:sp>
      <p:sp>
        <p:nvSpPr>
          <p:cNvPr id="57" name="s57"/>
          <p:cNvSpPr/>
          <p:nvPr/>
        </p:nvSpPr>
        <p:spPr>
          <a:xfrm>
            <a:off x="6286500" y="20828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7" name="s67"/>
          <p:cNvSpPr/>
          <p:nvPr/>
        </p:nvSpPr>
        <p:spPr>
          <a:xfrm>
            <a:off x="6629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外部データの取得・加工・連携</a:t>
            </a:r>
          </a:p>
        </p:txBody>
      </p:sp>
      <p:sp>
        <p:nvSpPr>
          <p:cNvPr id="58" name="s58"/>
          <p:cNvSpPr/>
          <p:nvPr/>
        </p:nvSpPr>
        <p:spPr>
          <a:xfrm>
            <a:off x="6286500" y="24892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8" name="s68"/>
          <p:cNvSpPr/>
          <p:nvPr/>
        </p:nvSpPr>
        <p:spPr>
          <a:xfrm>
            <a:off x="6629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時系列・ビンテージ・月次モニタリング分析</a:t>
            </a:r>
          </a:p>
        </p:txBody>
      </p:sp>
      <p:sp>
        <p:nvSpPr>
          <p:cNvPr id="59" name="s59"/>
          <p:cNvSpPr/>
          <p:nvPr/>
        </p:nvSpPr>
        <p:spPr>
          <a:xfrm>
            <a:off x="6286500" y="28956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9" name="s69"/>
          <p:cNvSpPr/>
          <p:nvPr/>
        </p:nvSpPr>
        <p:spPr>
          <a:xfrm>
            <a:off x="6629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規制当局対応や法務判断の代行</a:t>
            </a:r>
          </a:p>
        </p:txBody>
      </p:sp>
      <p:sp>
        <p:nvSpPr>
          <p:cNvPr id="60" name="s60"/>
          <p:cNvSpPr/>
          <p:nvPr/>
        </p:nvSpPr>
        <p:spPr>
          <a:xfrm>
            <a:off x="6286500" y="3302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0" name="s70"/>
          <p:cNvSpPr/>
          <p:nvPr/>
        </p:nvSpPr>
        <p:spPr>
          <a:xfrm>
            <a:off x="6629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モデル本番運用監視の仕組み構築</a:t>
            </a:r>
          </a:p>
        </p:txBody>
      </p:sp>
      <p:sp>
        <p:nvSpPr>
          <p:cNvPr id="61" name="s61"/>
          <p:cNvSpPr/>
          <p:nvPr/>
        </p:nvSpPr>
        <p:spPr>
          <a:xfrm>
            <a:off x="6286500" y="3708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1" name="s71"/>
          <p:cNvSpPr/>
          <p:nvPr/>
        </p:nvSpPr>
        <p:spPr>
          <a:xfrm>
            <a:off x="6629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データに存在しない項目を前提とした詳細算出</a:t>
            </a:r>
          </a:p>
        </p:txBody>
      </p:sp>
      <p:sp>
        <p:nvSpPr>
          <p:cNvPr id="80" name="s80"/>
          <p:cNvSpPr/>
          <p:nvPr/>
        </p:nvSpPr>
        <p:spPr>
          <a:xfrm>
            <a:off x="381000" y="5080000"/>
            <a:ext cx="11430000" cy="698500"/>
          </a:xfrm>
          <a:prstGeom prst="roundRect">
            <a:avLst/>
          </a:prstGeom>
          <a:solidFill>
            <a:srgbClr val="1A1A1A"/>
          </a:solidFill>
          <a:ln>
            <a:noFill/>
          </a:ln>
        </p:spPr>
        <p:txBody>
          <a:bodyPr wrap="square" lIns="72000" tIns="27000" rIns="72000" bIns="27000" anchor="ctr"/>
          <a:lstStyle/>
          <a:p>
            <a:pPr algn="ctr"/>
            <a:r>
              <a:rPr lang="ja-JP" sz="1300" b="1" dirty="0">
                <a:solidFill>
                  <a:srgbClr val="8B2500"/>
                </a:solidFill>
                <a:latin typeface="BIZ UDPゴシック"/>
                <a:ea typeface="BIZ UDPゴシック"/>
              </a:rPr>
              <a:t>変更管理方針</a:t>
            </a:r>
          </a:p>
          <a:p>
            <a:pPr algn="ctr"/>
            <a:r>
              <a:rPr lang="ja-JP" sz="1150" dirty="0">
                <a:solidFill>
                  <a:srgbClr val="FFFFFF"/>
                </a:solidFill>
                <a:latin typeface="BIZ UDPゴシック"/>
                <a:ea typeface="BIZ UDPゴシック"/>
              </a:rPr>
              <a:t>本契約範囲外の追加対応は別紙見積にて事前合意のうえ実施。契約金額は固定、事後精算なし。</a:t>
            </a:r>
          </a:p>
        </p:txBody>
      </p:sp>
    </p:spTree>
    <p:extLst>
      <p:ext uri="{BB962C8B-B14F-4D97-AF65-F5344CB8AC3E}">
        <p14:creationId xmlns:p14="http://schemas.microsoft.com/office/powerpoint/2010/main" val="132424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14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11. 次アクション</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787400"/>
            <a:ext cx="11430000" cy="381000"/>
          </a:xfrm>
          <a:prstGeom prst="rect">
            <a:avLst/>
          </a:prstGeom>
          <a:noFill/>
          <a:ln>
            <a:noFill/>
          </a:ln>
        </p:spPr>
        <p:txBody>
          <a:bodyPr wrap="square" lIns="72000" tIns="36000" rIns="72000" bIns="36000" anchor="ctr"/>
          <a:lstStyle/>
          <a:p>
            <a:pPr algn="l"/>
            <a:r>
              <a:rPr lang="ja-JP" sz="1400" dirty="0">
                <a:solidFill>
                  <a:srgbClr val="4A4A4A"/>
                </a:solidFill>
                <a:latin typeface="BIZ UDPゴシック"/>
                <a:ea typeface="BIZ UDPゴシック"/>
              </a:rPr>
              <a:t>契約締結後、以下の順で速やかに着手する。</a:t>
            </a:r>
          </a:p>
        </p:txBody>
      </p:sp>
      <p:sp>
        <p:nvSpPr>
          <p:cNvPr id="20" name="s20"/>
          <p:cNvSpPr/>
          <p:nvPr/>
        </p:nvSpPr>
        <p:spPr>
          <a:xfrm>
            <a:off x="1016000" y="13335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1</a:t>
            </a:r>
          </a:p>
        </p:txBody>
      </p:sp>
      <p:sp>
        <p:nvSpPr>
          <p:cNvPr id="30" name="s30"/>
          <p:cNvSpPr/>
          <p:nvPr/>
        </p:nvSpPr>
        <p:spPr>
          <a:xfrm>
            <a:off x="1193800" y="1739900"/>
            <a:ext cx="50800" cy="127000"/>
          </a:xfrm>
          <a:prstGeom prst="rect">
            <a:avLst/>
          </a:prstGeom>
          <a:solidFill>
            <a:srgbClr val="C0C0C0"/>
          </a:solidFill>
          <a:ln>
            <a:noFill/>
          </a:ln>
        </p:spPr>
        <p:txBody>
          <a:bodyPr wrap="square" lIns="72000" tIns="36000" rIns="72000" bIns="36000" anchor="ctr"/>
          <a:lstStyle/>
          <a:p>
            <a:endParaRPr lang="ja-JP"/>
          </a:p>
        </p:txBody>
      </p:sp>
      <p:sp>
        <p:nvSpPr>
          <p:cNvPr id="40" name="s40"/>
          <p:cNvSpPr/>
          <p:nvPr/>
        </p:nvSpPr>
        <p:spPr>
          <a:xfrm>
            <a:off x="1587500" y="12700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キックオフ会議の実施</a:t>
            </a:r>
          </a:p>
        </p:txBody>
      </p:sp>
      <p:sp>
        <p:nvSpPr>
          <p:cNvPr id="21" name="s21"/>
          <p:cNvSpPr/>
          <p:nvPr/>
        </p:nvSpPr>
        <p:spPr>
          <a:xfrm>
            <a:off x="1016000" y="19304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2</a:t>
            </a:r>
          </a:p>
        </p:txBody>
      </p:sp>
      <p:sp>
        <p:nvSpPr>
          <p:cNvPr id="31" name="s31"/>
          <p:cNvSpPr/>
          <p:nvPr/>
        </p:nvSpPr>
        <p:spPr>
          <a:xfrm>
            <a:off x="1193800" y="2336800"/>
            <a:ext cx="50800" cy="127000"/>
          </a:xfrm>
          <a:prstGeom prst="rect">
            <a:avLst/>
          </a:prstGeom>
          <a:solidFill>
            <a:srgbClr val="C0C0C0"/>
          </a:solidFill>
          <a:ln>
            <a:noFill/>
          </a:ln>
        </p:spPr>
        <p:txBody>
          <a:bodyPr wrap="square" lIns="72000" tIns="36000" rIns="72000" bIns="36000" anchor="ctr"/>
          <a:lstStyle/>
          <a:p>
            <a:endParaRPr lang="ja-JP"/>
          </a:p>
        </p:txBody>
      </p:sp>
      <p:sp>
        <p:nvSpPr>
          <p:cNvPr id="41" name="s41"/>
          <p:cNvSpPr/>
          <p:nvPr/>
        </p:nvSpPr>
        <p:spPr>
          <a:xfrm>
            <a:off x="1587500" y="18669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loan_status の業務定義確認</a:t>
            </a:r>
          </a:p>
        </p:txBody>
      </p:sp>
      <p:sp>
        <p:nvSpPr>
          <p:cNvPr id="22" name="s22"/>
          <p:cNvSpPr/>
          <p:nvPr/>
        </p:nvSpPr>
        <p:spPr>
          <a:xfrm>
            <a:off x="1016000" y="25273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3</a:t>
            </a:r>
          </a:p>
        </p:txBody>
      </p:sp>
      <p:sp>
        <p:nvSpPr>
          <p:cNvPr id="32" name="s32"/>
          <p:cNvSpPr/>
          <p:nvPr/>
        </p:nvSpPr>
        <p:spPr>
          <a:xfrm>
            <a:off x="1193800" y="2933700"/>
            <a:ext cx="50800" cy="127000"/>
          </a:xfrm>
          <a:prstGeom prst="rect">
            <a:avLst/>
          </a:prstGeom>
          <a:solidFill>
            <a:srgbClr val="C0C0C0"/>
          </a:solidFill>
          <a:ln>
            <a:noFill/>
          </a:ln>
        </p:spPr>
        <p:txBody>
          <a:bodyPr wrap="square" lIns="72000" tIns="36000" rIns="72000" bIns="36000" anchor="ctr"/>
          <a:lstStyle/>
          <a:p>
            <a:endParaRPr lang="ja-JP"/>
          </a:p>
        </p:txBody>
      </p:sp>
      <p:sp>
        <p:nvSpPr>
          <p:cNvPr id="42" name="s42"/>
          <p:cNvSpPr/>
          <p:nvPr/>
        </p:nvSpPr>
        <p:spPr>
          <a:xfrm>
            <a:off x="1587500" y="24638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interest_rate, grade の利用可能時点確認</a:t>
            </a:r>
          </a:p>
        </p:txBody>
      </p:sp>
      <p:sp>
        <p:nvSpPr>
          <p:cNvPr id="23" name="s23"/>
          <p:cNvSpPr/>
          <p:nvPr/>
        </p:nvSpPr>
        <p:spPr>
          <a:xfrm>
            <a:off x="1016000" y="31242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4</a:t>
            </a:r>
          </a:p>
        </p:txBody>
      </p:sp>
      <p:sp>
        <p:nvSpPr>
          <p:cNvPr id="33" name="s33"/>
          <p:cNvSpPr/>
          <p:nvPr/>
        </p:nvSpPr>
        <p:spPr>
          <a:xfrm>
            <a:off x="1193800" y="3530600"/>
            <a:ext cx="50800" cy="127000"/>
          </a:xfrm>
          <a:prstGeom prst="rect">
            <a:avLst/>
          </a:prstGeom>
          <a:solidFill>
            <a:srgbClr val="C0C0C0"/>
          </a:solidFill>
          <a:ln>
            <a:noFill/>
          </a:ln>
        </p:spPr>
        <p:txBody>
          <a:bodyPr wrap="square" lIns="72000" tIns="36000" rIns="72000" bIns="36000" anchor="ctr"/>
          <a:lstStyle/>
          <a:p>
            <a:endParaRPr lang="ja-JP"/>
          </a:p>
        </p:txBody>
      </p:sp>
      <p:sp>
        <p:nvSpPr>
          <p:cNvPr id="43" name="s43"/>
          <p:cNvSpPr/>
          <p:nvPr/>
        </p:nvSpPr>
        <p:spPr>
          <a:xfrm>
            <a:off x="1587500" y="30607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データ読込および品質確認開始</a:t>
            </a:r>
          </a:p>
        </p:txBody>
      </p:sp>
      <p:sp>
        <p:nvSpPr>
          <p:cNvPr id="24" name="s24"/>
          <p:cNvSpPr/>
          <p:nvPr/>
        </p:nvSpPr>
        <p:spPr>
          <a:xfrm>
            <a:off x="1016000" y="37211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5</a:t>
            </a:r>
          </a:p>
        </p:txBody>
      </p:sp>
      <p:sp>
        <p:nvSpPr>
          <p:cNvPr id="34" name="s34"/>
          <p:cNvSpPr/>
          <p:nvPr/>
        </p:nvSpPr>
        <p:spPr>
          <a:xfrm>
            <a:off x="1193800" y="4127500"/>
            <a:ext cx="50800" cy="127000"/>
          </a:xfrm>
          <a:prstGeom prst="rect">
            <a:avLst/>
          </a:prstGeom>
          <a:solidFill>
            <a:srgbClr val="C0C0C0"/>
          </a:solidFill>
          <a:ln>
            <a:noFill/>
          </a:ln>
        </p:spPr>
        <p:txBody>
          <a:bodyPr wrap="square" lIns="72000" tIns="36000" rIns="72000" bIns="36000" anchor="ctr"/>
          <a:lstStyle/>
          <a:p>
            <a:endParaRPr lang="ja-JP"/>
          </a:p>
        </p:txBody>
      </p:sp>
      <p:sp>
        <p:nvSpPr>
          <p:cNvPr id="44" name="s44"/>
          <p:cNvSpPr/>
          <p:nvPr/>
        </p:nvSpPr>
        <p:spPr>
          <a:xfrm>
            <a:off x="1587500" y="36576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週次会議体の設定</a:t>
            </a:r>
          </a:p>
        </p:txBody>
      </p:sp>
      <p:sp>
        <p:nvSpPr>
          <p:cNvPr id="25" name="s25"/>
          <p:cNvSpPr/>
          <p:nvPr/>
        </p:nvSpPr>
        <p:spPr>
          <a:xfrm>
            <a:off x="1016000" y="43180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6</a:t>
            </a:r>
          </a:p>
        </p:txBody>
      </p:sp>
      <p:sp>
        <p:nvSpPr>
          <p:cNvPr id="35" name="s35"/>
          <p:cNvSpPr/>
          <p:nvPr/>
        </p:nvSpPr>
        <p:spPr>
          <a:xfrm>
            <a:off x="1193800" y="4724400"/>
            <a:ext cx="50800" cy="127000"/>
          </a:xfrm>
          <a:prstGeom prst="rect">
            <a:avLst/>
          </a:prstGeom>
          <a:solidFill>
            <a:srgbClr val="C0C0C0"/>
          </a:solidFill>
          <a:ln>
            <a:noFill/>
          </a:ln>
        </p:spPr>
        <p:txBody>
          <a:bodyPr wrap="square" lIns="72000" tIns="36000" rIns="72000" bIns="36000" anchor="ctr"/>
          <a:lstStyle/>
          <a:p>
            <a:endParaRPr lang="ja-JP"/>
          </a:p>
        </p:txBody>
      </p:sp>
      <p:sp>
        <p:nvSpPr>
          <p:cNvPr id="45" name="s45"/>
          <p:cNvSpPr/>
          <p:nvPr/>
        </p:nvSpPr>
        <p:spPr>
          <a:xfrm>
            <a:off x="1587500" y="42545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中間レビュー日・最終報告会日程の確定</a:t>
            </a:r>
          </a:p>
        </p:txBody>
      </p:sp>
      <p:sp>
        <p:nvSpPr>
          <p:cNvPr id="26" name="s26"/>
          <p:cNvSpPr/>
          <p:nvPr/>
        </p:nvSpPr>
        <p:spPr>
          <a:xfrm>
            <a:off x="1016000" y="49149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7</a:t>
            </a:r>
          </a:p>
        </p:txBody>
      </p:sp>
      <p:sp>
        <p:nvSpPr>
          <p:cNvPr id="46" name="s46"/>
          <p:cNvSpPr/>
          <p:nvPr/>
        </p:nvSpPr>
        <p:spPr>
          <a:xfrm>
            <a:off x="1587500" y="48514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第1回支払条件に基づく着手手続の実施</a:t>
            </a:r>
          </a:p>
        </p:txBody>
      </p:sp>
      <p:sp>
        <p:nvSpPr>
          <p:cNvPr id="60" name="s60"/>
          <p:cNvSpPr/>
          <p:nvPr/>
        </p:nvSpPr>
        <p:spPr>
          <a:xfrm>
            <a:off x="381000" y="5588000"/>
            <a:ext cx="11430000" cy="381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本提案により、審査企画部における与信分析の初期基盤を短期間かつ監査可能な形で整備し、審査高度化・ポートフォリオ管理高度化に接続する実務成果を提供する。</a:t>
            </a:r>
          </a:p>
        </p:txBody>
      </p:sp>
    </p:spTree>
    <p:extLst>
      <p:ext uri="{BB962C8B-B14F-4D97-AF65-F5344CB8AC3E}">
        <p14:creationId xmlns:p14="http://schemas.microsoft.com/office/powerpoint/2010/main" val="3086643354"/>
      </p:ext>
    </p:extLst>
  </p:cSld>
  <p:clrMapOvr>
    <a:masterClrMapping/>
  </p:clrMapOvr>
</p:sld>
</file>

<file path=ppt/theme/theme1.xml><?xml version="1.0" encoding="utf-8"?>
<a:theme xmlns:a="http://schemas.openxmlformats.org/drawingml/2006/main" name="Office テーマ">
  <a:themeElements>
    <a:clrScheme name="Proposal Mono">
      <a:dk1>
        <a:srgbClr val="1A1A1A"/>
      </a:dk1>
      <a:lt1>
        <a:srgbClr val="FFFFFF"/>
      </a:lt1>
      <a:dk2>
        <a:srgbClr val="333333"/>
      </a:dk2>
      <a:lt2>
        <a:srgbClr val="F5F5F3"/>
      </a:lt2>
      <a:accent1>
        <a:srgbClr val="8B2500"/>
      </a:accent1>
      <a:accent2>
        <a:srgbClr val="4A4A4A"/>
      </a:accent2>
      <a:accent3>
        <a:srgbClr val="6B6B6B"/>
      </a:accent3>
      <a:accent4>
        <a:srgbClr val="A0522D"/>
      </a:accent4>
      <a:accent5>
        <a:srgbClr val="999999"/>
      </a:accent5>
      <a:accent6>
        <a:srgbClr val="C0C0C0"/>
      </a:accent6>
      <a:hlink>
        <a:srgbClr val="467886"/>
      </a:hlink>
      <a:folHlink>
        <a:srgbClr val="96607D"/>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627B51-9364-4248-B592-D353BA2BC943}">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116</TotalTime>
  <Words>2441</Words>
  <Application>Microsoft Office PowerPoint</Application>
  <PresentationFormat>ワイド画面</PresentationFormat>
  <Paragraphs>436</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BIZ UDPゴシック</vt:lpstr>
      <vt:lpstr>BIZ UDPゴシック</vt:lpstr>
      <vt:lpstr>Google Sans Text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6</cp:revision>
  <dcterms:created xsi:type="dcterms:W3CDTF">2026-03-17T11:37:36Z</dcterms:created>
  <dcterms:modified xsi:type="dcterms:W3CDTF">2026-03-21T01:21:21Z</dcterms:modified>
</cp:coreProperties>
</file>