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0" r:id="rId5"/>
    <p:sldId id="261" r:id="rId6"/>
    <p:sldId id="279" r:id="rId7"/>
    <p:sldId id="265" r:id="rId8"/>
    <p:sldId id="267" r:id="rId9"/>
    <p:sldId id="269" r:id="rId10"/>
    <p:sldId id="282" r:id="rId11"/>
    <p:sldId id="272" r:id="rId12"/>
    <p:sldId id="281" r:id="rId13"/>
    <p:sldId id="275" r:id="rId14"/>
    <p:sldId id="276" r:id="rId15"/>
    <p:sldId id="278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6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sz="1400">
                <a:latin typeface="BIZ UDPGothic"/>
                <a:ea typeface="BIZ UDPGothic"/>
              </a:defRPr>
            </a:pPr>
            <a:r>
              <a:rPr lang="ja-JP" sz="1400" b="1">
                <a:latin typeface="BIZ UDPGothic"/>
                <a:ea typeface="BIZ UDPGothic"/>
              </a:rPr>
              <a:t>F1 (macro) vs Accuracy ― モデル比較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F1 (macro)</c:v>
          </c:tx>
          <c:spPr>
            <a:solidFill>
              <a:srgbClr val="8B2D2D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BIZ UDPGothic"/>
                    <a:ea typeface="BIZ UDP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extra_trees #1</c:v>
              </c:pt>
              <c:pt idx="1">
                <c:v>extra_trees #2</c:v>
              </c:pt>
              <c:pt idx="2">
                <c:v>gradient_boosting</c:v>
              </c:pt>
              <c:pt idx="3">
                <c:v>random_forest #1</c:v>
              </c:pt>
            </c:strLit>
          </c:cat>
          <c:val>
            <c:numLit>
              <c:formatCode>General</c:formatCode>
              <c:ptCount val="4"/>
              <c:pt idx="0">
                <c:v>0.60270000000000001</c:v>
              </c:pt>
              <c:pt idx="1">
                <c:v>0.59530000000000005</c:v>
              </c:pt>
              <c:pt idx="2">
                <c:v>0.58989999999999998</c:v>
              </c:pt>
              <c:pt idx="3">
                <c:v>0.58930000000000005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7A5-4292-93AA-7BF50752FE1A}"/>
            </c:ext>
          </c:extLst>
        </c:ser>
        <c:ser>
          <c:idx val="1"/>
          <c:order val="1"/>
          <c:tx>
            <c:v>Accuracy</c:v>
          </c:tx>
          <c:spPr>
            <a:solidFill>
              <a:srgbClr val="4A4A4A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BIZ UDPGothic"/>
                    <a:ea typeface="BIZ UDP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extra_trees #1</c:v>
              </c:pt>
              <c:pt idx="1">
                <c:v>extra_trees #2</c:v>
              </c:pt>
              <c:pt idx="2">
                <c:v>gradient_boosting</c:v>
              </c:pt>
              <c:pt idx="3">
                <c:v>random_forest #1</c:v>
              </c:pt>
            </c:strLit>
          </c:cat>
          <c:val>
            <c:numLit>
              <c:formatCode>General</c:formatCode>
              <c:ptCount val="4"/>
              <c:pt idx="0">
                <c:v>0.77800000000000002</c:v>
              </c:pt>
              <c:pt idx="1">
                <c:v>0.77510000000000001</c:v>
              </c:pt>
              <c:pt idx="2">
                <c:v>0.80110000000000003</c:v>
              </c:pt>
              <c:pt idx="3">
                <c:v>0.79800000000000004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7A5-4292-93AA-7BF50752F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BIZ UDPGothic"/>
                <a:ea typeface="BIZ UDPGothic"/>
              </a:defRPr>
            </a:pPr>
            <a:endParaRPr lang="ja-JP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0.85"/>
          <c:min val="0.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Gothic"/>
                <a:ea typeface="BIZ UDPGothic"/>
              </a:defRPr>
            </a:pPr>
            <a:endParaRPr lang="ja-JP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latin typeface="BIZ UDPGothic"/>
              <a:ea typeface="BIZ UDPGothic"/>
            </a:defRPr>
          </a:pPr>
          <a:endParaRPr lang="ja-JP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9D594-7FFB-36AA-97D0-C64CFDB33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79A354-ECAD-0824-9688-FB5DBD0AE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12D577-2205-C04C-FD4A-2749DB42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69826C-4531-AC47-7D83-34112979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CF682C-DC76-AFE4-ECA7-46757118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530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F4C3C1-8B3F-599D-218F-F9A48F33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772E6-1DE8-620B-463F-C7CB25E8F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D458BA-0555-1170-F24D-6743C720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BC5875-5EB9-7059-0075-13163FB0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314B72-8C34-143F-5675-0F46F07D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04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F6288F-2965-C66A-18B4-2100F90D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E650F4-014E-E868-9293-2BA2D2326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8F724-2B9E-1365-CEA8-CB81A17E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1B1D99-B7A5-70FA-623B-A9A5F1FB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21E118-CD49-95B7-3586-9F2AF5DC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14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B67CC0-64D1-9E63-0B86-73C9F41D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D3F809-5D64-31BA-62B6-9BD6E183E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66513E-A018-5B0D-F7D2-E98771669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BC486B-0CDC-E3A8-E4C7-C0A14AFB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A5A52D-DF43-7336-E62A-19734F68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BC9FDB-7548-1974-69D7-BCF42F54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56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4B035C-47B5-38AE-0279-4244E819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73D84-2776-7886-4DA8-B96AE4E6B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8DE28F-B7E4-1F7D-19B6-AB3636316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609EEE6-BDAC-5A9E-E6F1-16E846AAF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9E73FC7-5887-E471-2D6D-B8C3D99D1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45EE51-D061-77A5-53AD-D8B2BD3B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A5F2E8F-C11D-2993-8F14-4E0A6175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0DD462-479D-7CA0-1DA1-1FC9BFF7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59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FF4221-D26D-60AF-78D1-794A6A4E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EDABCD-685C-55D2-B9C5-84224999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3445B1-9FFC-842E-A24F-6B2B4E04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F9A457-DEE2-180B-0097-75DDC8CA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4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5E33D5-C815-9567-1C01-3B545D614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58AD5A-9D3A-70A9-01B4-03FE6A14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5F1831-DB8F-851D-33AA-24F3A30D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56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AB2A6-15C2-9A54-EC5B-2D467A04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D63007-25D1-38FD-FC4C-054AC9D6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E9DCCD-EAE1-F744-CE03-83DA5A09F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DA8F9D-D629-0073-6527-7020F95A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85EEB4-F068-A676-2440-BF2B44006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3D4EBD-C964-71B6-CE00-C62194C5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8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5579A6-025B-AF0B-EE3B-B3210DA8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A84FB9-ED84-78E2-DBB5-CA10B5778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D7AFC3-CF79-E933-4E1A-1C0359ED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B1F470-EB73-FD43-30B7-F6523CA1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3621AC-5EE3-8044-A301-1FEA5A88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0F0295-822F-2180-9850-39D72784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7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02652C-D231-AC2B-9105-F9976C43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932CC0-F7E8-0C4A-0CB8-DB460D646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0A52B-C71C-C1FA-B436-1894C0CD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813176-56C5-ECEB-792B-83BD4BA0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51D8D6-FE73-F01F-820B-4D810A3B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50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BD45F9-4F46-3760-D20F-01B406BE8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6BB7E8-EB6D-83C1-30A2-35C97A800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F085F5-6277-E2A4-E634-B71CE719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AB74CE-E6D7-72C0-6A31-74A39F93E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32C889-C19B-449C-250B-F74DCEBB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81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B1FFE8-837A-D5E4-B6A3-33F974390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708A9A-BFEC-F3F8-1A6D-E0A32607D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DBEAFC-7C18-A34A-AB7D-ADC015CF2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69295B-FCA5-523C-964F-7BA58DA84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5A2B6B-CA1B-B85A-D791-46B80B6DC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1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002" name="GreyLine"/>
          <p:cNvSpPr/>
          <p:nvPr/>
        </p:nvSpPr>
        <p:spPr>
          <a:xfrm>
            <a:off x="0" y="6686550"/>
            <a:ext cx="121920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5015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3D3D3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3D3D3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3D3D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9pPr>
    </p:bodyStyle>
    <p:otherStyle>
      <a:defPPr>
        <a:defRPr lang="ja-JP">
          <a:solidFill>
            <a:srgbClr val="3D3D3D"/>
          </a:solidFill>
        </a:defRPr>
      </a:defPPr>
      <a:lvl1pPr marL="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1B8448-9016-4852-AAEE-281603F4E46E}"/>
              </a:ext>
            </a:extLst>
          </p:cNvPr>
          <p:cNvSpPr/>
          <p:nvPr/>
        </p:nvSpPr>
        <p:spPr>
          <a:xfrm>
            <a:off x="0" y="0"/>
            <a:ext cx="12192000" cy="2540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3C5AB1B-D500-4721-A246-7DA4D4428425}"/>
              </a:ext>
            </a:extLst>
          </p:cNvPr>
          <p:cNvSpPr/>
          <p:nvPr/>
        </p:nvSpPr>
        <p:spPr>
          <a:xfrm>
            <a:off x="0" y="2540000"/>
            <a:ext cx="12192000" cy="762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91AC65-4229-46E0-A31F-E755C8C19EC6}"/>
              </a:ext>
            </a:extLst>
          </p:cNvPr>
          <p:cNvSpPr txBox="1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3600" b="1">
                <a:solidFill>
                  <a:srgbClr val="FFFFFF"/>
                </a:solidFill>
                <a:latin typeface="BIZ UDPGothic"/>
                <a:ea typeface="BIZ UDPGothic"/>
              </a:rPr>
              <a:t>最終分析報告書</a:t>
            </a:r>
            <a:endParaRPr lang="ja-JP" altLang="en-US" sz="3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19FD0F-1F0C-4B59-898F-4BDC9706F99D}"/>
              </a:ext>
            </a:extLst>
          </p:cNvPr>
          <p:cNvSpPr txBox="1"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>
                <a:solidFill>
                  <a:srgbClr val="B0B0B0"/>
                </a:solidFill>
                <a:latin typeface="BIZ UDPGothic"/>
                <a:ea typeface="BIZ UDPGothic"/>
              </a:rPr>
              <a:t>貸付審査・ポートフォリオ管理高度化のための与信分析基盤（初期分析）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A98AC5-4CAF-4D9E-A3E8-DF1151683598}"/>
              </a:ext>
            </a:extLst>
          </p:cNvPr>
          <p:cNvSpPr txBox="1"/>
          <p:nvPr/>
        </p:nvSpPr>
        <p:spPr>
          <a:xfrm>
            <a:off x="762000" y="3302000"/>
            <a:ext cx="635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>
                <a:solidFill>
                  <a:srgbClr val="3D3D3D"/>
                </a:solidFill>
                <a:latin typeface="BIZ UDPGothic"/>
                <a:ea typeface="BIZ UDPGothic"/>
              </a:rPr>
              <a:t>発注者：青葉与信マネジメント株式会社（審査企画部）
実施者：株式会社データアステル（データサイエンス部）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69574C-18CC-4145-A909-4978D44D331C}"/>
              </a:ext>
            </a:extLst>
          </p:cNvPr>
          <p:cNvSpPr txBox="1"/>
          <p:nvPr/>
        </p:nvSpPr>
        <p:spPr>
          <a:xfrm>
            <a:off x="762000" y="43180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契約期間：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2025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年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4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月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9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日 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〜 2025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年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5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月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28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日（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7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週間）
契約形態：固定価格
契約金額：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¥4,200,000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（税抜）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/ ¥4,620,000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（税込）</a:t>
            </a:r>
            <a:endParaRPr lang="ja-JP" altLang="en-US" sz="1400">
              <a:solidFill>
                <a:srgbClr val="5A5A5A"/>
              </a:solidFill>
              <a:latin typeface="BIZ UDPGothic"/>
              <a:ea typeface="BIZ UDPGothic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2BC7F-FE35-40A3-BB72-3F9592A9C45D}"/>
              </a:ext>
            </a:extLst>
          </p:cNvPr>
          <p:cNvSpPr txBox="1"/>
          <p:nvPr/>
        </p:nvSpPr>
        <p:spPr>
          <a:xfrm>
            <a:off x="762000" y="57150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7A7A7A"/>
                </a:solidFill>
                <a:latin typeface="BIZ UDPGothic"/>
                <a:ea typeface="BIZ UDPGothic"/>
              </a:rPr>
              <a:t>2025</a:t>
            </a:r>
            <a:r>
              <a:rPr lang="ja-JP" altLang="en-US" sz="1400">
                <a:solidFill>
                  <a:srgbClr val="7A7A7A"/>
                </a:solidFill>
                <a:latin typeface="BIZ UDPGothic"/>
                <a:ea typeface="BIZ UDPGothic"/>
              </a:rPr>
              <a:t>年</a:t>
            </a:r>
            <a:r>
              <a:rPr lang="en-US" altLang="ja-JP" sz="1400">
                <a:solidFill>
                  <a:srgbClr val="7A7A7A"/>
                </a:solidFill>
                <a:latin typeface="BIZ UDPGothic"/>
                <a:ea typeface="BIZ UDPGothic"/>
              </a:rPr>
              <a:t>5</a:t>
            </a:r>
            <a:r>
              <a:rPr lang="ja-JP" altLang="en-US" sz="1400">
                <a:solidFill>
                  <a:srgbClr val="7A7A7A"/>
                </a:solidFill>
                <a:latin typeface="BIZ UDPGothic"/>
                <a:ea typeface="BIZ UDPGothic"/>
              </a:rPr>
              <a:t>月</a:t>
            </a:r>
            <a:r>
              <a:rPr lang="en-US" altLang="ja-JP" sz="1400">
                <a:solidFill>
                  <a:srgbClr val="7A7A7A"/>
                </a:solidFill>
                <a:latin typeface="BIZ UDPGothic"/>
                <a:ea typeface="BIZ UDPGothic"/>
              </a:rPr>
              <a:t>28</a:t>
            </a:r>
            <a:r>
              <a:rPr lang="ja-JP" altLang="en-US" sz="1400">
                <a:solidFill>
                  <a:srgbClr val="7A7A7A"/>
                </a:solidFill>
                <a:latin typeface="BIZ UDPGothic"/>
                <a:ea typeface="BIZ UDPGothic"/>
              </a:rPr>
              <a:t>日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C8DB98-4C3B-4373-87CB-43AE23C22957}"/>
              </a:ext>
            </a:extLst>
          </p:cNvPr>
          <p:cNvSpPr/>
          <p:nvPr/>
        </p:nvSpPr>
        <p:spPr>
          <a:xfrm>
            <a:off x="8636000" y="3048000"/>
            <a:ext cx="50800" cy="30480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726A8FF-BFC3-4AFC-9F83-786E969928BA}"/>
              </a:ext>
            </a:extLst>
          </p:cNvPr>
          <p:cNvSpPr txBox="1"/>
          <p:nvPr/>
        </p:nvSpPr>
        <p:spPr>
          <a:xfrm>
            <a:off x="8890000" y="3302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8B2D2D"/>
                </a:solidFill>
                <a:latin typeface="BIZ UDPGothic"/>
                <a:ea typeface="BIZ UDPGothic"/>
              </a:rPr>
              <a:t>CONFIDENTIAL</a:t>
            </a:r>
            <a:endParaRPr lang="ja-JP" altLang="en-US" sz="1400" b="1">
              <a:solidFill>
                <a:srgbClr val="8B2D2D"/>
              </a:solidFill>
              <a:latin typeface="BIZ UDPGothic"/>
              <a:ea typeface="BIZ UDPGothic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9B31BC-5CA4-4F5C-93DC-4C13F1BA6540}"/>
              </a:ext>
            </a:extLst>
          </p:cNvPr>
          <p:cNvSpPr txBox="1"/>
          <p:nvPr/>
        </p:nvSpPr>
        <p:spPr>
          <a:xfrm>
            <a:off x="8890000" y="3810000"/>
            <a:ext cx="2794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正本
提案書・契約書・スケジュール
議事録（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M01/M02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）との整合性確認済</a:t>
            </a:r>
          </a:p>
        </p:txBody>
      </p:sp>
    </p:spTree>
    <p:extLst>
      <p:ext uri="{BB962C8B-B14F-4D97-AF65-F5344CB8AC3E}">
        <p14:creationId xmlns:p14="http://schemas.microsoft.com/office/powerpoint/2010/main" val="48144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7F07DE-1025-4368-BFF6-A5A4D31EB5B3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1.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エグゼクティブサマリ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プロジェクト概要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74CC8B0-236C-4151-9B2F-0DC62AD5A8B0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FAB04C4-5F53-4608-AEF4-891B19238845}"/>
              </a:ext>
            </a:extLst>
          </p:cNvPr>
          <p:cNvSpPr/>
          <p:nvPr/>
        </p:nvSpPr>
        <p:spPr>
          <a:xfrm>
            <a:off x="508000" y="1016000"/>
            <a:ext cx="3429000" cy="1968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6A6A8A-9529-44F3-9234-77E18A434902}"/>
              </a:ext>
            </a:extLst>
          </p:cNvPr>
          <p:cNvSpPr/>
          <p:nvPr/>
        </p:nvSpPr>
        <p:spPr>
          <a:xfrm>
            <a:off x="508000" y="1016000"/>
            <a:ext cx="3429000" cy="635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1AF9C7-40F4-493B-B43B-AA2A52C03A58}"/>
              </a:ext>
            </a:extLst>
          </p:cNvPr>
          <p:cNvSpPr txBox="1"/>
          <p:nvPr/>
        </p:nvSpPr>
        <p:spPr>
          <a:xfrm>
            <a:off x="660400" y="1168400"/>
            <a:ext cx="3124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プロジェクト目的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EB9B57-81EC-4EE6-95D4-58FA1D77B7FA}"/>
              </a:ext>
            </a:extLst>
          </p:cNvPr>
          <p:cNvSpPr txBox="1"/>
          <p:nvPr/>
        </p:nvSpPr>
        <p:spPr>
          <a:xfrm>
            <a:off x="660400" y="1524000"/>
            <a:ext cx="3124200" cy="130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loan_status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を目的変数として、
返済不良リスクの主要因整理、
リスクセグメンテーション、
業務説明可能な形での示唆提供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47C0A2-896E-4548-A163-522D6A82F62A}"/>
              </a:ext>
            </a:extLst>
          </p:cNvPr>
          <p:cNvSpPr/>
          <p:nvPr/>
        </p:nvSpPr>
        <p:spPr>
          <a:xfrm>
            <a:off x="4318000" y="1016000"/>
            <a:ext cx="3429000" cy="1968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A92D0A-E812-40C9-8B99-406E0DB3898C}"/>
              </a:ext>
            </a:extLst>
          </p:cNvPr>
          <p:cNvSpPr/>
          <p:nvPr/>
        </p:nvSpPr>
        <p:spPr>
          <a:xfrm>
            <a:off x="4318000" y="1016000"/>
            <a:ext cx="3429000" cy="635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FEFECD-BEB5-451C-B066-F89C8EC4BB01}"/>
              </a:ext>
            </a:extLst>
          </p:cNvPr>
          <p:cNvSpPr txBox="1"/>
          <p:nvPr/>
        </p:nvSpPr>
        <p:spPr>
          <a:xfrm>
            <a:off x="4470400" y="1168400"/>
            <a:ext cx="3124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分析対象データ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9B2F95E-DB1B-4E1A-B1B5-7A4E17B8FDA3}"/>
              </a:ext>
            </a:extLst>
          </p:cNvPr>
          <p:cNvSpPr txBox="1"/>
          <p:nvPr/>
        </p:nvSpPr>
        <p:spPr>
          <a:xfrm>
            <a:off x="4470400" y="1524000"/>
            <a:ext cx="3124200" cy="130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data/train.csv
17,500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レコード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/ 10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カラム
欠損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0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件
目的変数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loan_status</a:t>
            </a:r>
            <a:endParaRPr lang="ja-JP" altLang="en-US" sz="1400">
              <a:solidFill>
                <a:srgbClr val="3D3D3D"/>
              </a:solidFill>
              <a:latin typeface="BIZ UDPGothic"/>
              <a:ea typeface="BIZ UDPGothic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8FB2374-7A27-43D4-A733-FB7160A60771}"/>
              </a:ext>
            </a:extLst>
          </p:cNvPr>
          <p:cNvSpPr/>
          <p:nvPr/>
        </p:nvSpPr>
        <p:spPr>
          <a:xfrm>
            <a:off x="8128000" y="1016000"/>
            <a:ext cx="3429000" cy="1968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977D2B-605B-4DFD-95E5-1A5E6C282A89}"/>
              </a:ext>
            </a:extLst>
          </p:cNvPr>
          <p:cNvSpPr/>
          <p:nvPr/>
        </p:nvSpPr>
        <p:spPr>
          <a:xfrm>
            <a:off x="8128000" y="1016000"/>
            <a:ext cx="3429000" cy="635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543F29B-6FF7-43D6-BB68-53A2D02DE001}"/>
              </a:ext>
            </a:extLst>
          </p:cNvPr>
          <p:cNvSpPr txBox="1"/>
          <p:nvPr/>
        </p:nvSpPr>
        <p:spPr>
          <a:xfrm>
            <a:off x="8280400" y="1168400"/>
            <a:ext cx="3124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契約概要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1251FF3-006E-46E9-8648-97DE0FC91FE7}"/>
              </a:ext>
            </a:extLst>
          </p:cNvPr>
          <p:cNvSpPr txBox="1"/>
          <p:nvPr/>
        </p:nvSpPr>
        <p:spPr>
          <a:xfrm>
            <a:off x="8280400" y="1524000"/>
            <a:ext cx="3124200" cy="130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期間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2025/4/9 〜 5/28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7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週間）
形態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固定価格
金額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¥4,200,000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（税抜）
発注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青葉与信マネジメント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ED5A90-07CE-4A57-8DF2-1B47B86B54E5}"/>
              </a:ext>
            </a:extLst>
          </p:cNvPr>
          <p:cNvSpPr txBox="1"/>
          <p:nvPr/>
        </p:nvSpPr>
        <p:spPr>
          <a:xfrm>
            <a:off x="508000" y="3200400"/>
            <a:ext cx="1117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1A1A1A"/>
                </a:solidFill>
                <a:latin typeface="BIZ UDPGothic"/>
                <a:ea typeface="BIZ UDPGothic"/>
              </a:rPr>
              <a:t>主要成果指標（ベースライン</a:t>
            </a:r>
            <a:r>
              <a:rPr lang="en-US" altLang="ja-JP" sz="1400" b="1">
                <a:solidFill>
                  <a:srgbClr val="1A1A1A"/>
                </a:solidFill>
                <a:latin typeface="BIZ UDPGothic"/>
                <a:ea typeface="BIZ UDPGothic"/>
              </a:rPr>
              <a:t>: extra_trees, train=14,000 / test=3,500</a:t>
            </a:r>
            <a:r>
              <a:rPr lang="ja-JP" altLang="en-US" sz="1400" b="1">
                <a:solidFill>
                  <a:srgbClr val="1A1A1A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24DA0CB-865D-4C91-AEF2-03E2A3B0D979}"/>
              </a:ext>
            </a:extLst>
          </p:cNvPr>
          <p:cNvSpPr/>
          <p:nvPr/>
        </p:nvSpPr>
        <p:spPr>
          <a:xfrm>
            <a:off x="508000" y="36322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2B4AD3-4A83-4D71-81B1-FD559FC85E8E}"/>
              </a:ext>
            </a:extLst>
          </p:cNvPr>
          <p:cNvSpPr txBox="1"/>
          <p:nvPr/>
        </p:nvSpPr>
        <p:spPr>
          <a:xfrm>
            <a:off x="609600" y="37084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0.7127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E21CFDE-C528-4B37-9DBF-086E9C1ADC7D}"/>
              </a:ext>
            </a:extLst>
          </p:cNvPr>
          <p:cNvSpPr txBox="1"/>
          <p:nvPr/>
        </p:nvSpPr>
        <p:spPr>
          <a:xfrm>
            <a:off x="609600" y="41402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ROC-AUC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5B37343-FD65-48EF-B652-B5DD6226A48F}"/>
              </a:ext>
            </a:extLst>
          </p:cNvPr>
          <p:cNvSpPr/>
          <p:nvPr/>
        </p:nvSpPr>
        <p:spPr>
          <a:xfrm>
            <a:off x="2717800" y="36322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4CEAB9B-11B8-431C-B6AD-FC97A5B6F891}"/>
              </a:ext>
            </a:extLst>
          </p:cNvPr>
          <p:cNvSpPr txBox="1"/>
          <p:nvPr/>
        </p:nvSpPr>
        <p:spPr>
          <a:xfrm>
            <a:off x="2819400" y="37084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0.778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330F173-E6E1-44D2-B896-31F4BF96673B}"/>
              </a:ext>
            </a:extLst>
          </p:cNvPr>
          <p:cNvSpPr txBox="1"/>
          <p:nvPr/>
        </p:nvSpPr>
        <p:spPr>
          <a:xfrm>
            <a:off x="2819400" y="41402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Accuracy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39ED110-291E-4440-9C91-11B6A3A94A95}"/>
              </a:ext>
            </a:extLst>
          </p:cNvPr>
          <p:cNvSpPr/>
          <p:nvPr/>
        </p:nvSpPr>
        <p:spPr>
          <a:xfrm>
            <a:off x="4927600" y="36322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DAA78D0-ED0D-4855-B85E-CCD54400E2BE}"/>
              </a:ext>
            </a:extLst>
          </p:cNvPr>
          <p:cNvSpPr txBox="1"/>
          <p:nvPr/>
        </p:nvSpPr>
        <p:spPr>
          <a:xfrm>
            <a:off x="5029200" y="37084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0.6027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60E4710-5CBC-43A4-9AC9-E81276AFA477}"/>
              </a:ext>
            </a:extLst>
          </p:cNvPr>
          <p:cNvSpPr txBox="1"/>
          <p:nvPr/>
        </p:nvSpPr>
        <p:spPr>
          <a:xfrm>
            <a:off x="5029200" y="41402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F1 (macro)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81DF554-4E02-4D41-BE58-6EB2B7CDE9D4}"/>
              </a:ext>
            </a:extLst>
          </p:cNvPr>
          <p:cNvSpPr/>
          <p:nvPr/>
        </p:nvSpPr>
        <p:spPr>
          <a:xfrm>
            <a:off x="7137400" y="36322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282B40C-DEEF-4925-9822-87A87A083876}"/>
              </a:ext>
            </a:extLst>
          </p:cNvPr>
          <p:cNvSpPr txBox="1"/>
          <p:nvPr/>
        </p:nvSpPr>
        <p:spPr>
          <a:xfrm>
            <a:off x="7239000" y="37084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0.1581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3C40251-2990-4C48-90FC-990173B13FB3}"/>
              </a:ext>
            </a:extLst>
          </p:cNvPr>
          <p:cNvSpPr txBox="1"/>
          <p:nvPr/>
        </p:nvSpPr>
        <p:spPr>
          <a:xfrm>
            <a:off x="7239000" y="41402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Brier Score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8A50D498-BE39-4FB6-8F70-FD3CA358849D}"/>
              </a:ext>
            </a:extLst>
          </p:cNvPr>
          <p:cNvSpPr/>
          <p:nvPr/>
        </p:nvSpPr>
        <p:spPr>
          <a:xfrm>
            <a:off x="9347200" y="36322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ABBF83C-354A-4E4D-99C7-DA80EAEE54A7}"/>
              </a:ext>
            </a:extLst>
          </p:cNvPr>
          <p:cNvSpPr txBox="1"/>
          <p:nvPr/>
        </p:nvSpPr>
        <p:spPr>
          <a:xfrm>
            <a:off x="9448800" y="37084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0.4886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1D347F5-B006-44A5-98D9-7CD10F75526E}"/>
              </a:ext>
            </a:extLst>
          </p:cNvPr>
          <p:cNvSpPr txBox="1"/>
          <p:nvPr/>
        </p:nvSpPr>
        <p:spPr>
          <a:xfrm>
            <a:off x="9448800" y="41402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Prec@Top10%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BF4F7EE5-CAEF-4330-816C-EB7FDAD53FF5}"/>
              </a:ext>
            </a:extLst>
          </p:cNvPr>
          <p:cNvSpPr/>
          <p:nvPr/>
        </p:nvSpPr>
        <p:spPr>
          <a:xfrm>
            <a:off x="508000" y="4699000"/>
            <a:ext cx="11176000" cy="15240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AE5A357-149E-4250-978C-9135D282EA89}"/>
              </a:ext>
            </a:extLst>
          </p:cNvPr>
          <p:cNvSpPr txBox="1"/>
          <p:nvPr/>
        </p:nvSpPr>
        <p:spPr>
          <a:xfrm>
            <a:off x="698500" y="47752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全体結論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3D3D2C5-DE81-43BF-A675-B7F9AFEE991D}"/>
              </a:ext>
            </a:extLst>
          </p:cNvPr>
          <p:cNvSpPr txBox="1"/>
          <p:nvPr/>
        </p:nvSpPr>
        <p:spPr>
          <a:xfrm>
            <a:off x="698500" y="5080000"/>
            <a:ext cx="10795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上位リスク群に不良が集約される傾向を確認（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precision@top10% ≈ 0.49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）。実用に資するリスク区分の提示が可能。
ただし、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interest_rate / grade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の運用時点での利用可否、および時系列検証の不足により、本番利用には追加確認・外部検証・運用設計が必須である。</a:t>
            </a:r>
          </a:p>
        </p:txBody>
      </p:sp>
    </p:spTree>
    <p:extLst>
      <p:ext uri="{BB962C8B-B14F-4D97-AF65-F5344CB8AC3E}">
        <p14:creationId xmlns:p14="http://schemas.microsoft.com/office/powerpoint/2010/main" val="254600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37F12FE-D228-4C39-A5A2-558CF145F8DE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2.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プロジェクト目的とスコープ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FC6E535-6F19-4CC5-AD78-071AD1F5BCA7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5C4B54-511D-4EAD-9029-56C6832A7D30}"/>
              </a:ext>
            </a:extLst>
          </p:cNvPr>
          <p:cNvSpPr/>
          <p:nvPr/>
        </p:nvSpPr>
        <p:spPr>
          <a:xfrm>
            <a:off x="381000" y="952500"/>
            <a:ext cx="5588000" cy="2159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EAA96C-0BC4-46E1-9650-1E9A1FB9D71E}"/>
              </a:ext>
            </a:extLst>
          </p:cNvPr>
          <p:cNvSpPr txBox="1"/>
          <p:nvPr/>
        </p:nvSpPr>
        <p:spPr>
          <a:xfrm>
            <a:off x="533400" y="1016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目的（契約に基づく確定）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588AB0-FA2E-4755-9594-84826804BC48}"/>
              </a:ext>
            </a:extLst>
          </p:cNvPr>
          <p:cNvSpPr txBox="1"/>
          <p:nvPr/>
        </p:nvSpPr>
        <p:spPr>
          <a:xfrm>
            <a:off x="533400" y="1371600"/>
            <a:ext cx="5334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loan_status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を目的変数として：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返済不良リスクの主要因整理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リスクセグメンテーション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業務説明可能な形での示唆提供
（提案書・契約書参照）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79817C7-6A76-46C7-BCE7-0470775D811F}"/>
              </a:ext>
            </a:extLst>
          </p:cNvPr>
          <p:cNvSpPr/>
          <p:nvPr/>
        </p:nvSpPr>
        <p:spPr>
          <a:xfrm>
            <a:off x="6223000" y="952500"/>
            <a:ext cx="5588000" cy="2159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AA7631-07CE-4F78-88E2-2F89504A404C}"/>
              </a:ext>
            </a:extLst>
          </p:cNvPr>
          <p:cNvSpPr txBox="1"/>
          <p:nvPr/>
        </p:nvSpPr>
        <p:spPr>
          <a:xfrm>
            <a:off x="6375400" y="1016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スコープ（対象範囲）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AA7041-EA59-4409-AE5D-74321289D924}"/>
              </a:ext>
            </a:extLst>
          </p:cNvPr>
          <p:cNvSpPr txBox="1"/>
          <p:nvPr/>
        </p:nvSpPr>
        <p:spPr>
          <a:xfrm>
            <a:off x="6375400" y="1371600"/>
            <a:ext cx="5334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データ理解・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EDA
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初期モデリング（ベースライン／説明性重視）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評価・解釈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セグメント分析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報告書作成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04F669D-D2E7-4F14-A94A-6C2007F4D641}"/>
              </a:ext>
            </a:extLst>
          </p:cNvPr>
          <p:cNvSpPr/>
          <p:nvPr/>
        </p:nvSpPr>
        <p:spPr>
          <a:xfrm>
            <a:off x="6223000" y="3302000"/>
            <a:ext cx="5588000" cy="12700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CE067C-EE8F-40C5-8AF2-50FFD2E7F3FA}"/>
              </a:ext>
            </a:extLst>
          </p:cNvPr>
          <p:cNvSpPr txBox="1"/>
          <p:nvPr/>
        </p:nvSpPr>
        <p:spPr>
          <a:xfrm>
            <a:off x="6375400" y="3352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対象外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3C7FA7-F347-4420-8F6F-AE8F78F50F9D}"/>
              </a:ext>
            </a:extLst>
          </p:cNvPr>
          <p:cNvSpPr txBox="1"/>
          <p:nvPr/>
        </p:nvSpPr>
        <p:spPr>
          <a:xfrm>
            <a:off x="6375400" y="3683000"/>
            <a:ext cx="533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本番システム実装 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/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継続運用モニタリング基盤の構築
外部データ連携 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/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時系列・ビンテージ分析等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943CCDE-ED6D-4918-835E-F04F58629C6F}"/>
              </a:ext>
            </a:extLst>
          </p:cNvPr>
          <p:cNvSpPr/>
          <p:nvPr/>
        </p:nvSpPr>
        <p:spPr>
          <a:xfrm>
            <a:off x="381000" y="3302000"/>
            <a:ext cx="5588000" cy="2794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2CF06B-0F9F-416F-8700-72321C986091}"/>
              </a:ext>
            </a:extLst>
          </p:cNvPr>
          <p:cNvSpPr txBox="1"/>
          <p:nvPr/>
        </p:nvSpPr>
        <p:spPr>
          <a:xfrm>
            <a:off x="533400" y="33528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受託体制・主要窓口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7B939E3-A1C5-4A80-90B7-26CA83135F72}"/>
              </a:ext>
            </a:extLst>
          </p:cNvPr>
          <p:cNvSpPr txBox="1"/>
          <p:nvPr/>
        </p:nvSpPr>
        <p:spPr>
          <a:xfrm>
            <a:off x="533400" y="3708400"/>
            <a:ext cx="5334000" cy="20313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【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発注者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】
 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責任者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中村 浩一（青葉与信マネジメント）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【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受託者：データアステル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】
  PM: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伊藤 翔太
  リード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DS: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山本 彩乃
  データエンジニア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斎藤 悠斗
  ビジネスアナリスト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藤田 彩
 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QA: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岡田 佑樹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684372-ADDD-4785-B0F7-0E7C08051AE8}"/>
              </a:ext>
            </a:extLst>
          </p:cNvPr>
          <p:cNvSpPr txBox="1"/>
          <p:nvPr/>
        </p:nvSpPr>
        <p:spPr>
          <a:xfrm>
            <a:off x="6223000" y="4826000"/>
            <a:ext cx="5588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i="1">
                <a:solidFill>
                  <a:srgbClr val="7A7A7A"/>
                </a:solidFill>
                <a:latin typeface="BIZ UDPGothic"/>
                <a:ea typeface="BIZ UDPGothic"/>
              </a:rPr>
              <a:t>本報告書は提案書、契約書、スケジュール、議事録（</a:t>
            </a:r>
            <a:r>
              <a:rPr lang="en-US" altLang="ja-JP" sz="1400" i="1">
                <a:solidFill>
                  <a:srgbClr val="7A7A7A"/>
                </a:solidFill>
                <a:latin typeface="BIZ UDPGothic"/>
                <a:ea typeface="BIZ UDPGothic"/>
              </a:rPr>
              <a:t>M01/M02</a:t>
            </a:r>
            <a:r>
              <a:rPr lang="ja-JP" altLang="en-US" sz="1400" i="1">
                <a:solidFill>
                  <a:srgbClr val="7A7A7A"/>
                </a:solidFill>
                <a:latin typeface="BIZ UDPGothic"/>
                <a:ea typeface="BIZ UDPGothic"/>
              </a:rPr>
              <a:t>）、中間報告書、分析成果物との整合性を保ち、プロジェクト正本として位置付ける</a:t>
            </a:r>
          </a:p>
        </p:txBody>
      </p:sp>
    </p:spTree>
    <p:extLst>
      <p:ext uri="{BB962C8B-B14F-4D97-AF65-F5344CB8AC3E}">
        <p14:creationId xmlns:p14="http://schemas.microsoft.com/office/powerpoint/2010/main" val="104987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ar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3. 実施方法 ― ワークフロー</a:t>
            </a:r>
          </a:p>
        </p:txBody>
      </p:sp>
      <p:sp>
        <p:nvSpPr>
          <p:cNvPr id="101" name="AccentLine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endParaRPr/>
          </a:p>
        </p:txBody>
      </p:sp>
      <p:sp>
        <p:nvSpPr>
          <p:cNvPr id="110" name="StepNum0"/>
          <p:cNvSpPr/>
          <p:nvPr/>
        </p:nvSpPr>
        <p:spPr>
          <a:xfrm>
            <a:off x="9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1</a:t>
            </a:r>
          </a:p>
        </p:txBody>
      </p:sp>
      <p:sp>
        <p:nvSpPr>
          <p:cNvPr id="111" name="StepBox0"/>
          <p:cNvSpPr/>
          <p:nvPr/>
        </p:nvSpPr>
        <p:spPr>
          <a:xfrm>
            <a:off x="2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キックオフ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前提確認</a:t>
            </a:r>
          </a:p>
        </p:txBody>
      </p:sp>
      <p:sp>
        <p:nvSpPr>
          <p:cNvPr id="112" name="StepDate0"/>
          <p:cNvSpPr/>
          <p:nvPr/>
        </p:nvSpPr>
        <p:spPr>
          <a:xfrm>
            <a:off x="6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M01: 4/9</a:t>
            </a:r>
          </a:p>
        </p:txBody>
      </p:sp>
      <p:sp>
        <p:nvSpPr>
          <p:cNvPr id="113" name="StepDetail0"/>
          <p:cNvSpPr/>
          <p:nvPr/>
        </p:nvSpPr>
        <p:spPr>
          <a:xfrm>
            <a:off x="2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目的変数定義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変数利用時点の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上流確認</a:t>
            </a:r>
          </a:p>
        </p:txBody>
      </p:sp>
      <p:sp>
        <p:nvSpPr>
          <p:cNvPr id="115" name="Arrow0"/>
          <p:cNvSpPr/>
          <p:nvPr/>
        </p:nvSpPr>
        <p:spPr>
          <a:xfrm>
            <a:off x="2320000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0" name="StepNum1"/>
          <p:cNvSpPr/>
          <p:nvPr/>
        </p:nvSpPr>
        <p:spPr>
          <a:xfrm>
            <a:off x="31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2</a:t>
            </a:r>
          </a:p>
        </p:txBody>
      </p:sp>
      <p:sp>
        <p:nvSpPr>
          <p:cNvPr id="121" name="StepBox1"/>
          <p:cNvSpPr/>
          <p:nvPr/>
        </p:nvSpPr>
        <p:spPr>
          <a:xfrm>
            <a:off x="24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データ理解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品質確認</a:t>
            </a:r>
          </a:p>
        </p:txBody>
      </p:sp>
      <p:sp>
        <p:nvSpPr>
          <p:cNvPr id="122" name="StepDate1"/>
          <p:cNvSpPr/>
          <p:nvPr/>
        </p:nvSpPr>
        <p:spPr>
          <a:xfrm>
            <a:off x="28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MS2: 4/18</a:t>
            </a:r>
          </a:p>
        </p:txBody>
      </p:sp>
      <p:sp>
        <p:nvSpPr>
          <p:cNvPr id="123" name="StepDetail1"/>
          <p:cNvSpPr/>
          <p:nvPr/>
        </p:nvSpPr>
        <p:spPr>
          <a:xfrm>
            <a:off x="24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EDA出力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データ品質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確認完了</a:t>
            </a:r>
          </a:p>
        </p:txBody>
      </p:sp>
      <p:sp>
        <p:nvSpPr>
          <p:cNvPr id="125" name="Arrow1"/>
          <p:cNvSpPr/>
          <p:nvPr/>
        </p:nvSpPr>
        <p:spPr>
          <a:xfrm>
            <a:off x="4520000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30" name="StepNum2"/>
          <p:cNvSpPr/>
          <p:nvPr/>
        </p:nvSpPr>
        <p:spPr>
          <a:xfrm>
            <a:off x="53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3</a:t>
            </a:r>
          </a:p>
        </p:txBody>
      </p:sp>
      <p:sp>
        <p:nvSpPr>
          <p:cNvPr id="131" name="StepBox2"/>
          <p:cNvSpPr/>
          <p:nvPr/>
        </p:nvSpPr>
        <p:spPr>
          <a:xfrm>
            <a:off x="46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探索的分析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セグメント検討</a:t>
            </a:r>
          </a:p>
        </p:txBody>
      </p:sp>
      <p:sp>
        <p:nvSpPr>
          <p:cNvPr id="132" name="StepDate2"/>
          <p:cNvSpPr/>
          <p:nvPr/>
        </p:nvSpPr>
        <p:spPr>
          <a:xfrm>
            <a:off x="50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M02: 4/29</a:t>
            </a:r>
          </a:p>
        </p:txBody>
      </p:sp>
      <p:sp>
        <p:nvSpPr>
          <p:cNvPr id="133" name="StepDetail2"/>
          <p:cNvSpPr/>
          <p:nvPr/>
        </p:nvSpPr>
        <p:spPr>
          <a:xfrm>
            <a:off x="46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中間レビュー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セグメント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方針合意</a:t>
            </a:r>
          </a:p>
        </p:txBody>
      </p:sp>
      <p:sp>
        <p:nvSpPr>
          <p:cNvPr id="135" name="Arrow2"/>
          <p:cNvSpPr/>
          <p:nvPr/>
        </p:nvSpPr>
        <p:spPr>
          <a:xfrm>
            <a:off x="6720000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40" name="StepNum3"/>
          <p:cNvSpPr/>
          <p:nvPr/>
        </p:nvSpPr>
        <p:spPr>
          <a:xfrm>
            <a:off x="75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4</a:t>
            </a:r>
          </a:p>
        </p:txBody>
      </p:sp>
      <p:sp>
        <p:nvSpPr>
          <p:cNvPr id="141" name="StepBox3"/>
          <p:cNvSpPr/>
          <p:nvPr/>
        </p:nvSpPr>
        <p:spPr>
          <a:xfrm>
            <a:off x="68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モデリング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評価・比較</a:t>
            </a:r>
          </a:p>
        </p:txBody>
      </p:sp>
      <p:sp>
        <p:nvSpPr>
          <p:cNvPr id="142" name="StepDate3"/>
          <p:cNvSpPr/>
          <p:nvPr/>
        </p:nvSpPr>
        <p:spPr>
          <a:xfrm>
            <a:off x="72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MS5-6</a:t>
            </a:r>
          </a:p>
        </p:txBody>
      </p:sp>
      <p:sp>
        <p:nvSpPr>
          <p:cNvPr id="143" name="StepDetail3"/>
          <p:cNvSpPr/>
          <p:nvPr/>
        </p:nvSpPr>
        <p:spPr>
          <a:xfrm>
            <a:off x="68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ベースライン構築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extra_trees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説明性重視手法比較</a:t>
            </a:r>
          </a:p>
        </p:txBody>
      </p:sp>
      <p:sp>
        <p:nvSpPr>
          <p:cNvPr id="145" name="Arrow3"/>
          <p:cNvSpPr/>
          <p:nvPr/>
        </p:nvSpPr>
        <p:spPr>
          <a:xfrm>
            <a:off x="8920000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0" name="StepNum4"/>
          <p:cNvSpPr/>
          <p:nvPr/>
        </p:nvSpPr>
        <p:spPr>
          <a:xfrm>
            <a:off x="97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5</a:t>
            </a:r>
          </a:p>
        </p:txBody>
      </p:sp>
      <p:sp>
        <p:nvSpPr>
          <p:cNvPr id="151" name="StepBox4"/>
          <p:cNvSpPr/>
          <p:nvPr/>
        </p:nvSpPr>
        <p:spPr>
          <a:xfrm>
            <a:off x="90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報告・納品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最終成果物</a:t>
            </a:r>
          </a:p>
        </p:txBody>
      </p:sp>
      <p:sp>
        <p:nvSpPr>
          <p:cNvPr id="152" name="StepDate4"/>
          <p:cNvSpPr/>
          <p:nvPr/>
        </p:nvSpPr>
        <p:spPr>
          <a:xfrm>
            <a:off x="94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5/28</a:t>
            </a:r>
          </a:p>
        </p:txBody>
      </p:sp>
      <p:sp>
        <p:nvSpPr>
          <p:cNvPr id="153" name="StepDetail4"/>
          <p:cNvSpPr/>
          <p:nvPr/>
        </p:nvSpPr>
        <p:spPr>
          <a:xfrm>
            <a:off x="90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評価・解釈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示唆整理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最終報告書作成</a:t>
            </a:r>
          </a:p>
        </p:txBody>
      </p:sp>
      <p:sp>
        <p:nvSpPr>
          <p:cNvPr id="200" name="TraceNote"/>
          <p:cNvSpPr/>
          <p:nvPr/>
        </p:nvSpPr>
        <p:spPr>
          <a:xfrm>
            <a:off x="280000" y="5700000"/>
            <a:ext cx="11600000" cy="600000"/>
          </a:xfrm>
          <a:prstGeom prst="roundRect">
            <a:avLst/>
          </a:prstGeom>
          <a:solidFill>
            <a:srgbClr val="FDF6F4"/>
          </a:solidFill>
          <a:ln>
            <a:solidFill>
              <a:srgbClr val="8B2D2D"/>
            </a:solidFill>
          </a:ln>
        </p:spPr>
        <p:txBody>
          <a:bodyPr wrap="square" lIns="45720" tIns="36576" rIns="45720" bIns="36576" anchor="ctr"/>
          <a:lstStyle/>
          <a:p>
            <a:pPr algn="l"/>
            <a:r>
              <a:rPr lang="ja-JP" sz="1200" dirty="0">
                <a:solidFill>
                  <a:srgbClr val="5A5A5A"/>
                </a:solidFill>
                <a:latin typeface="BIZ UDPGothic"/>
                <a:ea typeface="BIZ UDPGothic"/>
              </a:rPr>
              <a:t>再現性・監査証跡: 実行設定（run_summary.json）と出力（metrics.json）を保存。前処理・モデルパラメータ・評価条件を文書化。版管理・議事録で意思決定をトレース。</a:t>
            </a:r>
          </a:p>
        </p:txBody>
      </p:sp>
    </p:spTree>
    <p:extLst>
      <p:ext uri="{BB962C8B-B14F-4D97-AF65-F5344CB8AC3E}">
        <p14:creationId xmlns:p14="http://schemas.microsoft.com/office/powerpoint/2010/main" val="161257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2D03550-E473-47F1-8FE2-7AE64D0F7924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4.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分析結果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データ構成とモデル評価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94A8DB6-4EBA-4396-ADF6-97FB9F1172C1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4E8CD1-2454-4F42-9A34-FE0BF2B40BE0}"/>
              </a:ext>
            </a:extLst>
          </p:cNvPr>
          <p:cNvSpPr txBox="1"/>
          <p:nvPr/>
        </p:nvSpPr>
        <p:spPr>
          <a:xfrm>
            <a:off x="381000" y="889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8B2D2D"/>
                </a:solidFill>
                <a:latin typeface="BIZ UDPGothic"/>
                <a:ea typeface="BIZ UDPGothic"/>
              </a:rPr>
              <a:t>(A) </a:t>
            </a:r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データ構成（確定事実）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596FBBB-1A70-450C-9716-104EAB9F5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494691"/>
              </p:ext>
            </p:extLst>
          </p:nvPr>
        </p:nvGraphicFramePr>
        <p:xfrm>
          <a:off x="381000" y="1244600"/>
          <a:ext cx="5334000" cy="2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26061474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72404549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24551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行数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17,500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75851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カラム数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10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05314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欠損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全カラム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2854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loan_status 平均（基準不良率）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0.2148（≒21.48%）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16710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C9563B-57C8-4622-BFFD-3F29E181E45D}"/>
              </a:ext>
            </a:extLst>
          </p:cNvPr>
          <p:cNvSpPr txBox="1"/>
          <p:nvPr/>
        </p:nvSpPr>
        <p:spPr>
          <a:xfrm>
            <a:off x="6223000" y="8890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8B2D2D"/>
                </a:solidFill>
                <a:latin typeface="BIZ UDPGothic"/>
                <a:ea typeface="BIZ UDPGothic"/>
              </a:rPr>
              <a:t>(B) </a:t>
            </a:r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モデル評価（確定事実）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E5C932D-D59F-4A74-B831-3231F75954FC}"/>
              </a:ext>
            </a:extLst>
          </p:cNvPr>
          <p:cNvSpPr txBox="1"/>
          <p:nvPr/>
        </p:nvSpPr>
        <p:spPr>
          <a:xfrm>
            <a:off x="6223000" y="1244600"/>
            <a:ext cx="558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ベースライン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extra_trees (n_estimators=500)
train=14,000 / test=3,500</a:t>
            </a:r>
            <a:endParaRPr lang="ja-JP" altLang="en-US" sz="1400">
              <a:solidFill>
                <a:srgbClr val="5A5A5A"/>
              </a:solidFill>
              <a:latin typeface="BIZ UDPGothic"/>
              <a:ea typeface="BIZ UDPGothic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BEA2C1B9-16A3-4B63-8D67-D8404662E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580009"/>
              </p:ext>
            </p:extLst>
          </p:nvPr>
        </p:nvGraphicFramePr>
        <p:xfrm>
          <a:off x="6223000" y="1778000"/>
          <a:ext cx="558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81036869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42781248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指標</a:t>
                      </a:r>
                    </a:p>
                  </a:txBody>
                  <a:tcPr>
                    <a:solidFill>
                      <a:srgbClr val="8B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>
                    <a:solidFill>
                      <a:srgbClr val="8B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7980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3878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0.7780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306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F1 (macro)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0.6027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70474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Brier Score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0.1581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9538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precision@top10%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0.4886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138069"/>
                  </a:ext>
                </a:extLst>
              </a:tr>
            </a:tbl>
          </a:graphicData>
        </a:graphic>
      </p:graphicFrame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2AAA883-2036-4E83-AA68-18C94A0F945C}"/>
              </a:ext>
            </a:extLst>
          </p:cNvPr>
          <p:cNvSpPr/>
          <p:nvPr/>
        </p:nvSpPr>
        <p:spPr>
          <a:xfrm>
            <a:off x="6223000" y="4267200"/>
            <a:ext cx="5588000" cy="18415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754C71-7227-4D73-B564-32F67354B286}"/>
              </a:ext>
            </a:extLst>
          </p:cNvPr>
          <p:cNvSpPr txBox="1"/>
          <p:nvPr/>
        </p:nvSpPr>
        <p:spPr>
          <a:xfrm>
            <a:off x="6375400" y="4318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実務インパクトの見積り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B747609-7302-46B9-893C-F93187BDB469}"/>
              </a:ext>
            </a:extLst>
          </p:cNvPr>
          <p:cNvSpPr txBox="1"/>
          <p:nvPr/>
        </p:nvSpPr>
        <p:spPr>
          <a:xfrm>
            <a:off x="6375400" y="4648200"/>
            <a:ext cx="53340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上位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スコア群における不良含有率が高く、スコアに基づくバケット化でリスク区分の初期運用設計（重点審査・与信条件変更の検討等）が可能である。</a:t>
            </a:r>
          </a:p>
        </p:txBody>
      </p:sp>
    </p:spTree>
    <p:extLst>
      <p:ext uri="{BB962C8B-B14F-4D97-AF65-F5344CB8AC3E}">
        <p14:creationId xmlns:p14="http://schemas.microsoft.com/office/powerpoint/2010/main" val="167607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194266-0A73-4C14-A01A-BC64EB95E3EF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4.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分析結果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モデル比較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E20C5CF-824C-4842-BDE4-0AD6F7471B89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59CBF6-29E2-4FB1-892F-620804D60778}"/>
              </a:ext>
            </a:extLst>
          </p:cNvPr>
          <p:cNvSpPr txBox="1"/>
          <p:nvPr/>
        </p:nvSpPr>
        <p:spPr>
          <a:xfrm>
            <a:off x="381000" y="889000"/>
            <a:ext cx="1143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 dirty="0">
                <a:solidFill>
                  <a:srgbClr val="4A4A4A"/>
                </a:solidFill>
                <a:latin typeface="BIZ UDPGothic"/>
                <a:ea typeface="BIZ UDPGothic"/>
              </a:rPr>
              <a:t>モデル比較証跡</a:t>
            </a:r>
            <a:r>
              <a:rPr lang="en-US" altLang="ja-JP" sz="1400" b="1" dirty="0">
                <a:solidFill>
                  <a:srgbClr val="4A4A4A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1400" b="1" dirty="0">
                <a:solidFill>
                  <a:srgbClr val="4A4A4A"/>
                </a:solidFill>
                <a:latin typeface="BIZ UDPGothic"/>
                <a:ea typeface="BIZ UDPGothic"/>
              </a:rPr>
              <a:t>主要モデルの性能ランキング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9FDB5F1-C05D-4904-A6BD-9B64FC7EB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43763"/>
              </p:ext>
            </p:extLst>
          </p:nvPr>
        </p:nvGraphicFramePr>
        <p:xfrm>
          <a:off x="381000" y="1350000"/>
          <a:ext cx="558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48662410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08184170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04815446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71162207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順位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モデル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F1 (macro)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3124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1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extra_trees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0.6027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0.7780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98759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extra_trees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0.5953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0.7751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2565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0.8011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99357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0.5893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0.7980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9689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06974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0.5834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0.7957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46953"/>
                  </a:ext>
                </a:extLst>
              </a:tr>
            </a:tbl>
          </a:graphicData>
        </a:graphic>
      </p:graphicFrame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0482A69-AFCD-42D5-B539-94432C251FEA}"/>
              </a:ext>
            </a:extLst>
          </p:cNvPr>
          <p:cNvSpPr/>
          <p:nvPr/>
        </p:nvSpPr>
        <p:spPr>
          <a:xfrm>
            <a:off x="381000" y="4381500"/>
            <a:ext cx="5588000" cy="1714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C575B6-77DC-46C8-A169-07BF1F1D760F}"/>
              </a:ext>
            </a:extLst>
          </p:cNvPr>
          <p:cNvSpPr txBox="1"/>
          <p:nvPr/>
        </p:nvSpPr>
        <p:spPr>
          <a:xfrm>
            <a:off x="533400" y="4445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解釈上の注意点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383A71-0725-46CC-B458-05BAB8D07936}"/>
              </a:ext>
            </a:extLst>
          </p:cNvPr>
          <p:cNvSpPr txBox="1"/>
          <p:nvPr/>
        </p:nvSpPr>
        <p:spPr>
          <a:xfrm>
            <a:off x="533400" y="4775200"/>
            <a:ext cx="5334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interest_rate / grade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はモデル性能に寄与している可能性が高いが、「審査時点で利用可能な情報か」によって本番時の再現性が大きく変わる（リーケージ懸念）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変数寄与の重要度ランキングはモデル依存であり、業務解釈には注意が必要である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7A76C30-C4C1-4D4C-B581-5A2964F74C8B}"/>
              </a:ext>
            </a:extLst>
          </p:cNvPr>
          <p:cNvSpPr/>
          <p:nvPr/>
        </p:nvSpPr>
        <p:spPr>
          <a:xfrm>
            <a:off x="6223000" y="4381500"/>
            <a:ext cx="5588000" cy="17145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E1315F-2CD8-428D-9102-E3795E71151B}"/>
              </a:ext>
            </a:extLst>
          </p:cNvPr>
          <p:cNvSpPr txBox="1"/>
          <p:nvPr/>
        </p:nvSpPr>
        <p:spPr>
          <a:xfrm>
            <a:off x="6375400" y="4445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確認が必要な事項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7931541-98F6-4425-A8C5-22412B1547D4}"/>
              </a:ext>
            </a:extLst>
          </p:cNvPr>
          <p:cNvSpPr txBox="1"/>
          <p:nvPr/>
        </p:nvSpPr>
        <p:spPr>
          <a:xfrm>
            <a:off x="6375400" y="4775200"/>
            <a:ext cx="5334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loan_status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の業務上の最終定義（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0/1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の意味付け）および運用上の解釈（承認可否基準、遅延定義等）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時系列検証が不可（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date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列なし）のため、ドリフト・ビンテージ検証には別途データ取得が必要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6400000" y="1200000"/>
          <a:ext cx="5400000" cy="3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F906421-FD7B-CCCE-3018-005C43820ED5}"/>
              </a:ext>
            </a:extLst>
          </p:cNvPr>
          <p:cNvSpPr txBox="1"/>
          <p:nvPr/>
        </p:nvSpPr>
        <p:spPr>
          <a:xfrm>
            <a:off x="381000" y="6096000"/>
            <a:ext cx="2819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※</a:t>
            </a:r>
            <a:r>
              <a:rPr lang="ja-JP" altLang="en-US" sz="1000" b="1" dirty="0">
                <a:solidFill>
                  <a:srgbClr val="4A4A4A"/>
                </a:solidFill>
                <a:latin typeface="BIZ UDPGothic"/>
                <a:ea typeface="BIZ UDPGothic"/>
              </a:rPr>
              <a:t>モデルの詳細は</a:t>
            </a:r>
            <a:r>
              <a:rPr lang="en-US" alt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leaderboard.csv</a:t>
            </a:r>
            <a:r>
              <a:rPr lang="ja-JP" altLang="en-US" sz="1000" b="1" dirty="0">
                <a:solidFill>
                  <a:srgbClr val="4A4A4A"/>
                </a:solidFill>
                <a:latin typeface="BIZ UDPGothic"/>
                <a:ea typeface="BIZ UDPGothic"/>
              </a:rPr>
              <a:t>に記載</a:t>
            </a:r>
            <a:endParaRPr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1192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2000" cy="71323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5. 業務提言 ― クイックウィン（短期：直ちに実施推奨）</a:t>
            </a:r>
          </a:p>
        </p:txBody>
      </p:sp>
      <p:sp>
        <p:nvSpPr>
          <p:cNvPr id="11" name="R11"/>
          <p:cNvSpPr/>
          <p:nvPr/>
        </p:nvSpPr>
        <p:spPr>
          <a:xfrm>
            <a:off x="0" y="713232"/>
            <a:ext cx="12192000" cy="508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endParaRPr/>
          </a:p>
        </p:txBody>
      </p:sp>
      <p:sp>
        <p:nvSpPr>
          <p:cNvPr id="20" name="R20"/>
          <p:cNvSpPr/>
          <p:nvPr/>
        </p:nvSpPr>
        <p:spPr>
          <a:xfrm>
            <a:off x="300000" y="1000000"/>
            <a:ext cx="3700000" cy="43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/>
          </a:p>
        </p:txBody>
      </p:sp>
      <p:sp>
        <p:nvSpPr>
          <p:cNvPr id="21" name="R21"/>
          <p:cNvSpPr/>
          <p:nvPr/>
        </p:nvSpPr>
        <p:spPr>
          <a:xfrm>
            <a:off x="420000" y="1150000"/>
            <a:ext cx="6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01</a:t>
            </a:r>
          </a:p>
        </p:txBody>
      </p:sp>
      <p:sp>
        <p:nvSpPr>
          <p:cNvPr id="22" name="R22"/>
          <p:cNvSpPr/>
          <p:nvPr/>
        </p:nvSpPr>
        <p:spPr>
          <a:xfrm>
            <a:off x="1200000" y="115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目的変数の公式文書化と配布</a:t>
            </a:r>
          </a:p>
        </p:txBody>
      </p:sp>
      <p:sp>
        <p:nvSpPr>
          <p:cNvPr id="23" name="MP23"/>
          <p:cNvSpPr/>
          <p:nvPr/>
        </p:nvSpPr>
        <p:spPr>
          <a:xfrm>
            <a:off x="420000" y="1800000"/>
            <a:ext cx="3450000" cy="32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発注者 中村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即時（受領後1週間）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理由: 解析解釈の基準統一が必要。全成果物にloan_statusの定義を明記する。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100" dirty="0">
                <a:solidFill>
                  <a:srgbClr val="7A7A7A"/>
                </a:solidFill>
                <a:latin typeface="BIZ UDPGothic"/>
                <a:ea typeface="BIZ UDPGothic"/>
              </a:rPr>
              <a:t>参照: 契約第3条・前提条件</a:t>
            </a:r>
          </a:p>
        </p:txBody>
      </p:sp>
      <p:sp>
        <p:nvSpPr>
          <p:cNvPr id="30" name="R30"/>
          <p:cNvSpPr/>
          <p:nvPr/>
        </p:nvSpPr>
        <p:spPr>
          <a:xfrm>
            <a:off x="4200000" y="1000000"/>
            <a:ext cx="3700000" cy="43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/>
          </a:p>
        </p:txBody>
      </p:sp>
      <p:sp>
        <p:nvSpPr>
          <p:cNvPr id="31" name="R31"/>
          <p:cNvSpPr/>
          <p:nvPr/>
        </p:nvSpPr>
        <p:spPr>
          <a:xfrm>
            <a:off x="4320000" y="1150000"/>
            <a:ext cx="6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02</a:t>
            </a:r>
          </a:p>
        </p:txBody>
      </p:sp>
      <p:sp>
        <p:nvSpPr>
          <p:cNvPr id="32" name="R32"/>
          <p:cNvSpPr/>
          <p:nvPr/>
        </p:nvSpPr>
        <p:spPr>
          <a:xfrm>
            <a:off x="5100000" y="115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変数利用方針の確定</a:t>
            </a:r>
          </a:p>
        </p:txBody>
      </p:sp>
      <p:sp>
        <p:nvSpPr>
          <p:cNvPr id="33" name="MP33"/>
          <p:cNvSpPr/>
          <p:nvPr/>
        </p:nvSpPr>
        <p:spPr>
          <a:xfrm>
            <a:off x="4320000" y="1800000"/>
            <a:ext cx="3450000" cy="32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発注者 中村、受託者 藤田・山本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2週間以内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理由: interest_rate / grade の審査時点可否を確定し、2パターンでの並列評価結果を参照。リーケージ防止、運用再現性の確保が目的。</a:t>
            </a:r>
          </a:p>
        </p:txBody>
      </p:sp>
      <p:sp>
        <p:nvSpPr>
          <p:cNvPr id="40" name="R40"/>
          <p:cNvSpPr/>
          <p:nvPr/>
        </p:nvSpPr>
        <p:spPr>
          <a:xfrm>
            <a:off x="8100000" y="1000000"/>
            <a:ext cx="3700000" cy="43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/>
          </a:p>
        </p:txBody>
      </p:sp>
      <p:sp>
        <p:nvSpPr>
          <p:cNvPr id="41" name="R41"/>
          <p:cNvSpPr/>
          <p:nvPr/>
        </p:nvSpPr>
        <p:spPr>
          <a:xfrm>
            <a:off x="8220000" y="1150000"/>
            <a:ext cx="6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03</a:t>
            </a:r>
          </a:p>
        </p:txBody>
      </p:sp>
      <p:sp>
        <p:nvSpPr>
          <p:cNvPr id="42" name="R42"/>
          <p:cNvSpPr/>
          <p:nvPr/>
        </p:nvSpPr>
        <p:spPr>
          <a:xfrm>
            <a:off x="9000000" y="1150000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上位スコア群の運用パイロット</a:t>
            </a:r>
          </a:p>
        </p:txBody>
      </p:sp>
      <p:sp>
        <p:nvSpPr>
          <p:cNvPr id="43" name="MP43"/>
          <p:cNvSpPr/>
          <p:nvPr/>
        </p:nvSpPr>
        <p:spPr>
          <a:xfrm>
            <a:off x="8220000" y="1800000"/>
            <a:ext cx="3450000" cy="32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発注者 審査企画部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3ヶ月目安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理由: 審査プロセスでのヒューマンレビュー追加等により、実務上のコスト/利益を評価する。</a:t>
            </a:r>
          </a:p>
        </p:txBody>
      </p:sp>
    </p:spTree>
    <p:extLst>
      <p:ext uri="{BB962C8B-B14F-4D97-AF65-F5344CB8AC3E}">
        <p14:creationId xmlns:p14="http://schemas.microsoft.com/office/powerpoint/2010/main" val="4081332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5. 業務提言 ― モデル運用・ガバナンス（中期）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50000"/>
            <a:ext cx="3700000" cy="5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モデルカード・版管理</a:t>
            </a:r>
          </a:p>
        </p:txBody>
      </p:sp>
      <p:sp>
        <p:nvSpPr>
          <p:cNvPr id="21" name="S21"/>
          <p:cNvSpPr/>
          <p:nvPr/>
        </p:nvSpPr>
        <p:spPr>
          <a:xfrm>
            <a:off x="300000" y="1570000"/>
            <a:ext cx="3700000" cy="1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モデルカード、データ辞書、前処理スクリプト、評価スクリプトを正式に版管理して納品</a:t>
            </a:r>
          </a:p>
          <a:p>
            <a:pPr algn="l">
              <a:lnSpc>
                <a:spcPts val="15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受託者 → 発注者に移管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納品と同時（2025-05-28までに準備済）</a:t>
            </a:r>
          </a:p>
        </p:txBody>
      </p:sp>
      <p:sp>
        <p:nvSpPr>
          <p:cNvPr id="30" name="S30"/>
          <p:cNvSpPr/>
          <p:nvPr/>
        </p:nvSpPr>
        <p:spPr>
          <a:xfrm>
            <a:off x="4200000" y="950000"/>
            <a:ext cx="3700000" cy="5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スコアリングパイプライン</a:t>
            </a:r>
          </a:p>
        </p:txBody>
      </p:sp>
      <p:sp>
        <p:nvSpPr>
          <p:cNvPr id="31" name="S31"/>
          <p:cNvSpPr/>
          <p:nvPr/>
        </p:nvSpPr>
        <p:spPr>
          <a:xfrm>
            <a:off x="4200000" y="1570000"/>
            <a:ext cx="3700000" cy="1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本番用 API／バッチの検討（対象外項目だが次フェーズ提案）</a:t>
            </a:r>
          </a:p>
          <a:p>
            <a:pPr algn="l">
              <a:lnSpc>
                <a:spcPts val="15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要件: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入力変数の可用性確認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認可ワークフロー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ログ保管・アクセス制御</a:t>
            </a:r>
          </a:p>
        </p:txBody>
      </p:sp>
      <p:sp>
        <p:nvSpPr>
          <p:cNvPr id="40" name="S40"/>
          <p:cNvSpPr/>
          <p:nvPr/>
        </p:nvSpPr>
        <p:spPr>
          <a:xfrm>
            <a:off x="8100000" y="950000"/>
            <a:ext cx="3700000" cy="5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モニタリング設計</a:t>
            </a:r>
          </a:p>
        </p:txBody>
      </p:sp>
      <p:sp>
        <p:nvSpPr>
          <p:cNvPr id="41" name="S41"/>
          <p:cNvSpPr/>
          <p:nvPr/>
        </p:nvSpPr>
        <p:spPr>
          <a:xfrm>
            <a:off x="8100000" y="1570000"/>
            <a:ext cx="3700000" cy="1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サンプルベースでのPD／不良率モニタ（閾値超過時アラート）</a:t>
            </a:r>
          </a:p>
          <a:p>
            <a:pPr algn="l">
              <a:lnSpc>
                <a:spcPts val="15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推奨頻度: 月次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初期KPI: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精度指標（AUC/R-Precision等）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リフト、上位10%の捕捉率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誤検知コスト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データ品質指標の自動化</a:t>
            </a:r>
          </a:p>
        </p:txBody>
      </p:sp>
    </p:spTree>
    <p:extLst>
      <p:ext uri="{BB962C8B-B14F-4D97-AF65-F5344CB8AC3E}">
        <p14:creationId xmlns:p14="http://schemas.microsoft.com/office/powerpoint/2010/main" val="104761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5. 業務提言 ― データ改善・組織体制（中〜長期）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50000"/>
            <a:ext cx="5600000" cy="5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データ改善（中〜長期）</a:t>
            </a:r>
          </a:p>
        </p:txBody>
      </p:sp>
      <p:sp>
        <p:nvSpPr>
          <p:cNvPr id="21" name="S21"/>
          <p:cNvSpPr/>
          <p:nvPr/>
        </p:nvSpPr>
        <p:spPr>
          <a:xfrm>
            <a:off x="300000" y="1600000"/>
            <a:ext cx="5600000" cy="20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1. 時点情報の収集推進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申込日・実行日・観測月などの時点情報の収集体制整備により、ビンテージ分析／ドリフト検証・再学習ルールの導入を実現する（必須）</a:t>
            </a:r>
          </a:p>
          <a:p>
            <a:pPr algn="l">
              <a:lnSpc>
                <a:spcPts val="1500"/>
              </a:lnSpc>
              <a:spcBef>
                <a:spcPts val="4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2. 外部データの段階的取り込み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外部信用情報やトランザクションデータの段階的取り込みを検討し、ROI評価を実施する</a:t>
            </a:r>
          </a:p>
        </p:txBody>
      </p:sp>
      <p:sp>
        <p:nvSpPr>
          <p:cNvPr id="30" name="S30"/>
          <p:cNvSpPr/>
          <p:nvPr/>
        </p:nvSpPr>
        <p:spPr>
          <a:xfrm>
            <a:off x="6100000" y="950000"/>
            <a:ext cx="5800000" cy="5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組織・運用</a:t>
            </a:r>
          </a:p>
        </p:txBody>
      </p:sp>
      <p:sp>
        <p:nvSpPr>
          <p:cNvPr id="31" name="S31"/>
          <p:cNvSpPr/>
          <p:nvPr/>
        </p:nvSpPr>
        <p:spPr>
          <a:xfrm>
            <a:off x="6100000" y="1600000"/>
            <a:ext cx="5800000" cy="20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1. 運用責任者（モデルオーナー）の設定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レビュー委員会（年次レビュー＋異常発生時の臨時会）を設定する</a:t>
            </a:r>
          </a:p>
          <a:p>
            <a:pPr algn="l">
              <a:lnSpc>
                <a:spcPts val="1500"/>
              </a:lnSpc>
              <a:spcBef>
                <a:spcPts val="4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2. 人材・運用コスト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初期運用: 月次 0.5〜1.0 FTE（報告・データ確認・例外処理）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長期的には自動化により削減可能</a:t>
            </a:r>
          </a:p>
        </p:txBody>
      </p:sp>
      <p:sp>
        <p:nvSpPr>
          <p:cNvPr id="50" name="S50"/>
          <p:cNvSpPr/>
          <p:nvPr/>
        </p:nvSpPr>
        <p:spPr>
          <a:xfrm>
            <a:off x="300000" y="3900000"/>
            <a:ext cx="11600000" cy="700000"/>
          </a:xfrm>
          <a:prstGeom prst="roundRect">
            <a:avLst>
              <a:gd name="adj" fmla="val 5000"/>
            </a:avLst>
          </a:prstGeom>
          <a:solidFill>
            <a:srgbClr val="FDF6F4"/>
          </a:solidFill>
          <a:ln>
            <a:solidFill>
              <a:srgbClr val="8B2D2D"/>
            </a:solidFill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300" b="1" dirty="0">
                <a:solidFill>
                  <a:srgbClr val="8B2D2D"/>
                </a:solidFill>
                <a:latin typeface="BIZ UDPGothic"/>
                <a:ea typeface="BIZ UDPGothic"/>
              </a:rPr>
              <a:t>重要: 上記はすべて本契約の対象外または別途検討事項であり、次フェーズとしての要件定義と見積りを推奨する</a:t>
            </a:r>
          </a:p>
        </p:txBody>
      </p:sp>
    </p:spTree>
    <p:extLst>
      <p:ext uri="{BB962C8B-B14F-4D97-AF65-F5344CB8AC3E}">
        <p14:creationId xmlns:p14="http://schemas.microsoft.com/office/powerpoint/2010/main" val="3260258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5CD79-41DD-4192-A4F3-813BC183EDA7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6.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実装・運用計画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納品・検収フロー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43C877F-BCE3-4A93-BAAA-8D1803000063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42A082E-DD74-4D9B-B5FA-03A30114E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609667"/>
              </p:ext>
            </p:extLst>
          </p:nvPr>
        </p:nvGraphicFramePr>
        <p:xfrm>
          <a:off x="381000" y="914400"/>
          <a:ext cx="114300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173467904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5700036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詳細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9049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最終成果物納品日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2025-05-28（契約書 第3.3 / スケジュール MS8）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3892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検収期間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受領後5営業日以内に合否通知（未通知時：検収完了 第4.3条）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52519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検収金支払期日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2025-06-03（スケジュール / 契約書 支払計画）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350878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4D79C5-483E-458B-837B-597A767C5E78}"/>
              </a:ext>
            </a:extLst>
          </p:cNvPr>
          <p:cNvSpPr txBox="1"/>
          <p:nvPr/>
        </p:nvSpPr>
        <p:spPr>
          <a:xfrm>
            <a:off x="381000" y="2667000"/>
            <a:ext cx="1143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実務チェックリスト（実装時に必須）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E7C39D1E-04FF-489B-AC17-6EA3D0529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19383"/>
              </p:ext>
            </p:extLst>
          </p:nvPr>
        </p:nvGraphicFramePr>
        <p:xfrm>
          <a:off x="381000" y="3048000"/>
          <a:ext cx="11430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522428526"/>
                    </a:ext>
                  </a:extLst>
                </a:gridCol>
                <a:gridCol w="10922000">
                  <a:extLst>
                    <a:ext uri="{9D8B030D-6E8A-4147-A177-3AD203B41FA5}">
                      <a16:colId xmlns:a16="http://schemas.microsoft.com/office/drawing/2014/main" val="4024034607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入力変数の可用性チェック（審査時点で利用可能か）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3186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スコア解釈ルール（閾値、精度・再現率の業務トレードオフ）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03513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ログ保管・説明可能性（モデルカード、主要特徴量の寄与説明）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315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権限／アクセス制御、データ保持ポリシー、監査証跡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465572"/>
                  </a:ext>
                </a:extLst>
              </a:tr>
            </a:tbl>
          </a:graphicData>
        </a:graphic>
      </p:graphicFrame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5FC4BAC-08C1-4A52-980D-D71E40B85100}"/>
              </a:ext>
            </a:extLst>
          </p:cNvPr>
          <p:cNvSpPr/>
          <p:nvPr/>
        </p:nvSpPr>
        <p:spPr>
          <a:xfrm>
            <a:off x="381000" y="4889500"/>
            <a:ext cx="11430000" cy="762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33345CB-2D10-485F-86A4-BCA0A1328AE1}"/>
              </a:ext>
            </a:extLst>
          </p:cNvPr>
          <p:cNvSpPr txBox="1"/>
          <p:nvPr/>
        </p:nvSpPr>
        <p:spPr>
          <a:xfrm>
            <a:off x="533400" y="4978400"/>
            <a:ext cx="1117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支払計画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着手金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（期日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2025-04-16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）＋ 検収金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（期日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2025-06-03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）
契約形態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固定価格（変更なし）｜検収期間内に不合格通知なき場合は検収完了（第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4.3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条）</a:t>
            </a:r>
          </a:p>
        </p:txBody>
      </p:sp>
    </p:spTree>
    <p:extLst>
      <p:ext uri="{BB962C8B-B14F-4D97-AF65-F5344CB8AC3E}">
        <p14:creationId xmlns:p14="http://schemas.microsoft.com/office/powerpoint/2010/main" val="1838091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6. 実装・運用計画 ― 本番化ロードマップ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12" name="S12"/>
          <p:cNvSpPr/>
          <p:nvPr/>
        </p:nvSpPr>
        <p:spPr>
          <a:xfrm>
            <a:off x="300000" y="2000000"/>
            <a:ext cx="11600000" cy="25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7A7A7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0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準備</a:t>
            </a:r>
          </a:p>
        </p:txBody>
      </p:sp>
      <p:sp>
        <p:nvSpPr>
          <p:cNvPr id="21" name="S21"/>
          <p:cNvSpPr/>
          <p:nvPr/>
        </p:nvSpPr>
        <p:spPr>
          <a:xfrm>
            <a:off x="100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7A7A7A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7A7A7A"/>
                </a:solidFill>
                <a:latin typeface="BIZ UDPGothic"/>
                <a:ea typeface="BIZ UDPGothic"/>
              </a:rPr>
              <a:t>0〜1ヶ月</a:t>
            </a:r>
          </a:p>
        </p:txBody>
      </p:sp>
      <p:sp>
        <p:nvSpPr>
          <p:cNvPr id="22" name="S22"/>
          <p:cNvSpPr/>
          <p:nvPr/>
        </p:nvSpPr>
        <p:spPr>
          <a:xfrm>
            <a:off x="1500000" y="1930000"/>
            <a:ext cx="180000" cy="180000"/>
          </a:xfrm>
          <a:prstGeom prst="ellipse">
            <a:avLst/>
          </a:prstGeom>
          <a:solidFill>
            <a:srgbClr val="7A7A7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23" name="S23"/>
          <p:cNvSpPr/>
          <p:nvPr/>
        </p:nvSpPr>
        <p:spPr>
          <a:xfrm>
            <a:off x="30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目的変数・変数利用方針の最終確定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成果物を版管理リポジトリに移管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Owner: 発注者（業務定義）／受託者（引継ぎ）</a:t>
            </a:r>
          </a:p>
        </p:txBody>
      </p:sp>
      <p:sp>
        <p:nvSpPr>
          <p:cNvPr id="30" name="S30"/>
          <p:cNvSpPr/>
          <p:nvPr/>
        </p:nvSpPr>
        <p:spPr>
          <a:xfrm>
            <a:off x="315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1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パイロット</a:t>
            </a:r>
          </a:p>
        </p:txBody>
      </p:sp>
      <p:sp>
        <p:nvSpPr>
          <p:cNvPr id="31" name="S31"/>
          <p:cNvSpPr/>
          <p:nvPr/>
        </p:nvSpPr>
        <p:spPr>
          <a:xfrm>
            <a:off x="385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4A4A4A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1〜3ヶ月</a:t>
            </a:r>
          </a:p>
        </p:txBody>
      </p:sp>
      <p:sp>
        <p:nvSpPr>
          <p:cNvPr id="32" name="S32"/>
          <p:cNvSpPr/>
          <p:nvPr/>
        </p:nvSpPr>
        <p:spPr>
          <a:xfrm>
            <a:off x="4350000" y="1930000"/>
            <a:ext cx="180000" cy="18000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33" name="S33"/>
          <p:cNvSpPr/>
          <p:nvPr/>
        </p:nvSpPr>
        <p:spPr>
          <a:xfrm>
            <a:off x="315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スコア出力→審査部門で限定パイロット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ヒューマンレビュー併用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評価: 業務的有用性、誤検知コスト、運用手間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Owner: 審査企画部、データアステル</a:t>
            </a:r>
          </a:p>
        </p:txBody>
      </p:sp>
      <p:sp>
        <p:nvSpPr>
          <p:cNvPr id="40" name="S40"/>
          <p:cNvSpPr/>
          <p:nvPr/>
        </p:nvSpPr>
        <p:spPr>
          <a:xfrm>
            <a:off x="600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C457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2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検証・外部評価</a:t>
            </a:r>
          </a:p>
        </p:txBody>
      </p:sp>
      <p:sp>
        <p:nvSpPr>
          <p:cNvPr id="41" name="S41"/>
          <p:cNvSpPr/>
          <p:nvPr/>
        </p:nvSpPr>
        <p:spPr>
          <a:xfrm>
            <a:off x="670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C4574A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C4574A"/>
                </a:solidFill>
                <a:latin typeface="BIZ UDPGothic"/>
                <a:ea typeface="BIZ UDPGothic"/>
              </a:rPr>
              <a:t>3〜6ヶ月</a:t>
            </a:r>
          </a:p>
        </p:txBody>
      </p:sp>
      <p:sp>
        <p:nvSpPr>
          <p:cNvPr id="42" name="S42"/>
          <p:cNvSpPr/>
          <p:nvPr/>
        </p:nvSpPr>
        <p:spPr>
          <a:xfrm>
            <a:off x="7200000" y="1930000"/>
            <a:ext cx="180000" cy="180000"/>
          </a:xfrm>
          <a:prstGeom prst="ellipse">
            <a:avLst/>
          </a:prstGeom>
          <a:solidFill>
            <a:srgbClr val="C457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43" name="S43"/>
          <p:cNvSpPr/>
          <p:nvPr/>
        </p:nvSpPr>
        <p:spPr>
          <a:xfrm>
            <a:off x="600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運用データ収集→モデルの外部検証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再学習計画の検討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モニタリング指標の閾値設定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アラート運用確立</a:t>
            </a:r>
          </a:p>
        </p:txBody>
      </p:sp>
      <p:sp>
        <p:nvSpPr>
          <p:cNvPr id="50" name="S50"/>
          <p:cNvSpPr/>
          <p:nvPr/>
        </p:nvSpPr>
        <p:spPr>
          <a:xfrm>
            <a:off x="885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3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本番統合</a:t>
            </a:r>
          </a:p>
        </p:txBody>
      </p:sp>
      <p:sp>
        <p:nvSpPr>
          <p:cNvPr id="51" name="S51"/>
          <p:cNvSpPr/>
          <p:nvPr/>
        </p:nvSpPr>
        <p:spPr>
          <a:xfrm>
            <a:off x="955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8B2D2D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8B2D2D"/>
                </a:solidFill>
                <a:latin typeface="BIZ UDPGothic"/>
                <a:ea typeface="BIZ UDPGothic"/>
              </a:rPr>
              <a:t>6〜12ヶ月</a:t>
            </a:r>
          </a:p>
        </p:txBody>
      </p:sp>
      <p:sp>
        <p:nvSpPr>
          <p:cNvPr id="52" name="S52"/>
          <p:cNvSpPr/>
          <p:nvPr/>
        </p:nvSpPr>
        <p:spPr>
          <a:xfrm>
            <a:off x="10050000" y="1930000"/>
            <a:ext cx="180000" cy="18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53" name="S53"/>
          <p:cNvSpPr/>
          <p:nvPr/>
        </p:nvSpPr>
        <p:spPr>
          <a:xfrm>
            <a:off x="885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本番システム連携（API／バッチ）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定期再学習の実装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監査対応資料整備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※別途要件定義・見積りが必要</a:t>
            </a:r>
          </a:p>
        </p:txBody>
      </p:sp>
      <p:sp>
        <p:nvSpPr>
          <p:cNvPr id="80" name="S80"/>
          <p:cNvSpPr/>
          <p:nvPr/>
        </p:nvSpPr>
        <p:spPr>
          <a:xfrm>
            <a:off x="300000" y="5200000"/>
            <a:ext cx="11600000" cy="450000"/>
          </a:xfrm>
          <a:prstGeom prst="roundRect">
            <a:avLst>
              <a:gd name="adj" fmla="val 5000"/>
            </a:avLst>
          </a:prstGeom>
          <a:solidFill>
            <a:srgbClr val="FDF6F4"/>
          </a:solidFill>
          <a:ln>
            <a:solidFill>
              <a:srgbClr val="8B2D2D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Phase 3（本番統合）は本契約対象外のため、別途要件定義・見積りが必要（契約書 特約事項参照）</a:t>
            </a:r>
          </a:p>
        </p:txBody>
      </p:sp>
    </p:spTree>
    <p:extLst>
      <p:ext uri="{BB962C8B-B14F-4D97-AF65-F5344CB8AC3E}">
        <p14:creationId xmlns:p14="http://schemas.microsoft.com/office/powerpoint/2010/main" val="1435757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439486-8FA4-4771-A907-50D76EFB1114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7.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制約事項と残余リスク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3DB0784-726E-4A5D-A5BC-65BD5588A660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2431FC1-8FA5-4EDD-9372-D61C4FB9AB00}"/>
              </a:ext>
            </a:extLst>
          </p:cNvPr>
          <p:cNvSpPr/>
          <p:nvPr/>
        </p:nvSpPr>
        <p:spPr>
          <a:xfrm>
            <a:off x="381000" y="863600"/>
            <a:ext cx="11430000" cy="7874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8901DD-F4C2-43C8-A853-197661CDA809}"/>
              </a:ext>
            </a:extLst>
          </p:cNvPr>
          <p:cNvSpPr txBox="1"/>
          <p:nvPr/>
        </p:nvSpPr>
        <p:spPr>
          <a:xfrm>
            <a:off x="533400" y="914400"/>
            <a:ext cx="11176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契約上の主要制約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
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時系列情報なし（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date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列なし）→ ドリフト・ビンテージ分析不可  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追加データ連携・本番実装は対象外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2CC352FA-EFEF-4D28-8487-B4765CD0B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307754"/>
              </p:ext>
            </p:extLst>
          </p:nvPr>
        </p:nvGraphicFramePr>
        <p:xfrm>
          <a:off x="381000" y="1778000"/>
          <a:ext cx="11430000" cy="4254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9878932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92928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91486049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2702492781"/>
                    </a:ext>
                  </a:extLst>
                </a:gridCol>
              </a:tblGrid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#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リスク項目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重要度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対策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728761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目的変数定義の不整合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公式文書化、成果物への明示（即時）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382109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リーケージ（interest_rate/grade等）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C4574A"/>
                          </a:solidFill>
                          <a:latin typeface="BIZ UDPGothic"/>
                          <a:ea typeface="BIZ UDPGothic"/>
                        </a:rPr>
                        <a:t>中〜高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変数利用可否の明確化と並列評価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25291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一般化性能の限界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外部検証・運用データでの再評価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64652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公平性評価の不足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導入後に追加データで偏り評価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64488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スコープクリープ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契約書に基づく変更管理（MS4チェックポイント）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5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18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8. 今後の拡張ロードマップ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50000"/>
            <a:ext cx="37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短期（0〜3ヶ月）</a:t>
            </a:r>
          </a:p>
        </p:txBody>
      </p:sp>
      <p:sp>
        <p:nvSpPr>
          <p:cNvPr id="21" name="S21"/>
          <p:cNvSpPr/>
          <p:nvPr/>
        </p:nvSpPr>
        <p:spPr>
          <a:xfrm>
            <a:off x="300000" y="1500000"/>
            <a:ext cx="3700000" cy="2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200" dirty="0">
                <a:solidFill>
                  <a:srgbClr val="1A1A1A"/>
                </a:solidFill>
                <a:latin typeface="BIZ UDPGothic"/>
                <a:ea typeface="BIZ UDPGothic"/>
              </a:rPr>
              <a:t>A. 目的変数と変数利用方針の最終確定と文書化（必須）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B. 並列モデルで interest_rate / grade の影響評価（運用可能群と除外群の比較）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C. 上位10%スコア群に対する運用パイロット（実業務でのPD評価）</a:t>
            </a:r>
          </a:p>
          <a:p>
            <a:pPr algn="l">
              <a:lnSpc>
                <a:spcPts val="1400"/>
              </a:lnSpc>
              <a:spcBef>
                <a:spcPts val="400"/>
              </a:spcBef>
            </a:pPr>
            <a:endParaRPr lang="ja-JP" sz="1200" dirty="0">
              <a:solidFill>
                <a:srgbClr val="3D3D3D"/>
              </a:solidFill>
              <a:latin typeface="BIZ UDPGothic"/>
              <a:ea typeface="BIZ UDPGothic"/>
            </a:endParaRP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100" b="1" dirty="0">
                <a:solidFill>
                  <a:srgbClr val="8B2D2D"/>
                </a:solidFill>
                <a:latin typeface="BIZ UDPGothic"/>
                <a:ea typeface="BIZ UDPGothic"/>
              </a:rPr>
              <a:t>M1: 目的変数文書化完了（1ヶ月目）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8B2D2D"/>
                </a:solidFill>
                <a:latin typeface="BIZ UDPGothic"/>
                <a:ea typeface="BIZ UDPGothic"/>
              </a:rPr>
              <a:t>M2: パイロット結果（3ヶ月目）</a:t>
            </a:r>
          </a:p>
        </p:txBody>
      </p:sp>
      <p:sp>
        <p:nvSpPr>
          <p:cNvPr id="30" name="S30"/>
          <p:cNvSpPr/>
          <p:nvPr/>
        </p:nvSpPr>
        <p:spPr>
          <a:xfrm>
            <a:off x="4200000" y="950000"/>
            <a:ext cx="3700000" cy="450000"/>
          </a:xfrm>
          <a:prstGeom prst="roundRect">
            <a:avLst>
              <a:gd name="adj" fmla="val 5000"/>
            </a:avLst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中期（3〜6ヶ月）</a:t>
            </a:r>
          </a:p>
        </p:txBody>
      </p:sp>
      <p:sp>
        <p:nvSpPr>
          <p:cNvPr id="31" name="S31"/>
          <p:cNvSpPr/>
          <p:nvPr/>
        </p:nvSpPr>
        <p:spPr>
          <a:xfrm>
            <a:off x="4200000" y="1500000"/>
            <a:ext cx="3700000" cy="2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200" dirty="0">
                <a:solidFill>
                  <a:srgbClr val="1A1A1A"/>
                </a:solidFill>
                <a:latin typeface="BIZ UDPGothic"/>
                <a:ea typeface="BIZ UDPGothic"/>
              </a:rPr>
              <a:t>A. 時点情報の収集体制整備（申込日・実行日等）とビンテージ分析基盤の構築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B. モニタリング基盤（性能・データ品質指標）の PoC → 本稼働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C. 外部データ（信用情報等）の取り込み検討とROI評価</a:t>
            </a:r>
          </a:p>
        </p:txBody>
      </p:sp>
      <p:sp>
        <p:nvSpPr>
          <p:cNvPr id="40" name="S40"/>
          <p:cNvSpPr/>
          <p:nvPr/>
        </p:nvSpPr>
        <p:spPr>
          <a:xfrm>
            <a:off x="8100000" y="950000"/>
            <a:ext cx="3700000" cy="4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長期（6〜12ヶ月）</a:t>
            </a:r>
          </a:p>
        </p:txBody>
      </p:sp>
      <p:sp>
        <p:nvSpPr>
          <p:cNvPr id="41" name="S41"/>
          <p:cNvSpPr/>
          <p:nvPr/>
        </p:nvSpPr>
        <p:spPr>
          <a:xfrm>
            <a:off x="8100000" y="1500000"/>
            <a:ext cx="3700000" cy="2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200" dirty="0">
                <a:solidFill>
                  <a:srgbClr val="1A1A1A"/>
                </a:solidFill>
                <a:latin typeface="BIZ UDPGothic"/>
                <a:ea typeface="BIZ UDPGothic"/>
              </a:rPr>
              <a:t>A. 本番連携（API／審査システム統合）設計・実装（別途要件定義・予算）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B. 継続的再学習ルールと統制（承認フロー、モデル監査体制の定着）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C. バイアス／公平性評価の拡張と報告ライン確立</a:t>
            </a:r>
          </a:p>
          <a:p>
            <a:pPr algn="l">
              <a:lnSpc>
                <a:spcPts val="1400"/>
              </a:lnSpc>
              <a:spcBef>
                <a:spcPts val="400"/>
              </a:spcBef>
            </a:pPr>
            <a:endParaRPr lang="ja-JP" sz="1200" dirty="0">
              <a:solidFill>
                <a:srgbClr val="3D3D3D"/>
              </a:solidFill>
              <a:latin typeface="BIZ UDPGothic"/>
              <a:ea typeface="BIZ UDPGothic"/>
            </a:endParaRP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M3: 本番導入可否判定（6〜9ヶ月目）</a:t>
            </a:r>
          </a:p>
        </p:txBody>
      </p:sp>
      <p:sp>
        <p:nvSpPr>
          <p:cNvPr id="50" name="S50"/>
          <p:cNvSpPr/>
          <p:nvPr/>
        </p:nvSpPr>
        <p:spPr>
          <a:xfrm>
            <a:off x="300000" y="4600000"/>
            <a:ext cx="116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0ヶ月                          3ヶ月                          6ヶ月                          12ヶ月</a:t>
            </a:r>
          </a:p>
        </p:txBody>
      </p:sp>
      <p:sp>
        <p:nvSpPr>
          <p:cNvPr id="51" name="S51"/>
          <p:cNvSpPr/>
          <p:nvPr/>
        </p:nvSpPr>
        <p:spPr>
          <a:xfrm>
            <a:off x="300000" y="4950000"/>
            <a:ext cx="11600000" cy="5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52" name="S52"/>
          <p:cNvSpPr/>
          <p:nvPr/>
        </p:nvSpPr>
        <p:spPr>
          <a:xfrm>
            <a:off x="300000" y="4950000"/>
            <a:ext cx="2900000" cy="500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53" name="S53"/>
          <p:cNvSpPr/>
          <p:nvPr/>
        </p:nvSpPr>
        <p:spPr>
          <a:xfrm>
            <a:off x="3200000" y="4950000"/>
            <a:ext cx="2900000" cy="50000"/>
          </a:xfrm>
          <a:prstGeom prst="rect">
            <a:avLst/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54" name="S54"/>
          <p:cNvSpPr/>
          <p:nvPr/>
        </p:nvSpPr>
        <p:spPr>
          <a:xfrm>
            <a:off x="6100000" y="4950000"/>
            <a:ext cx="5800000" cy="50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71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670AE5-F718-49BB-B315-F1899A5719BE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9.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成果物サマリ・提案との差分管理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8080F3-B631-4F29-83DC-AC98740BBB7A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CD80459-AE7F-4E26-887A-85B29A537917}"/>
              </a:ext>
            </a:extLst>
          </p:cNvPr>
          <p:cNvSpPr txBox="1"/>
          <p:nvPr/>
        </p:nvSpPr>
        <p:spPr>
          <a:xfrm>
            <a:off x="381000" y="8636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納品済の主要成果物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FB6BD2E-B627-4F2E-B1DE-92ABF9E90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035436"/>
              </p:ext>
            </p:extLst>
          </p:nvPr>
        </p:nvGraphicFramePr>
        <p:xfrm>
          <a:off x="381000" y="1219200"/>
          <a:ext cx="4133850" cy="2730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3850">
                  <a:extLst>
                    <a:ext uri="{9D8B030D-6E8A-4147-A177-3AD203B41FA5}">
                      <a16:colId xmlns:a16="http://schemas.microsoft.com/office/drawing/2014/main" val="1629825014"/>
                    </a:ext>
                  </a:extLst>
                </a:gridCol>
              </a:tblGrid>
              <a:tr h="3900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88457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提案書（初期）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367542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契約書（署名済: 2025-04-09）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420817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スケジュール・WBS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94615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議事録（M01/M02）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152392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中間報告書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732204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最終報告書＋付録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79140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2650B80-CC55-44B6-94E2-FECB4000C4D4}"/>
              </a:ext>
            </a:extLst>
          </p:cNvPr>
          <p:cNvSpPr txBox="1"/>
          <p:nvPr/>
        </p:nvSpPr>
        <p:spPr>
          <a:xfrm>
            <a:off x="6223000" y="8636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提案・契約との差分管理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F4192FF0-402C-4480-9CDB-68186FB2F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569081"/>
              </p:ext>
            </p:extLst>
          </p:nvPr>
        </p:nvGraphicFramePr>
        <p:xfrm>
          <a:off x="6223000" y="1219200"/>
          <a:ext cx="5588000" cy="241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24392110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8580055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確認項目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結果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14095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差分なし（全数作成・納品済）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3252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スコープ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差分なし（追加作業なし）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14965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KPI / 受入基準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差分なし（metrics.jsonに含む）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339276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契約形態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固定価格（変更なし）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9887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変更管理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正式なCR発生なし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136164"/>
                  </a:ext>
                </a:extLst>
              </a:tr>
            </a:tbl>
          </a:graphicData>
        </a:graphic>
      </p:graphicFrame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B238D72-D05B-42CD-A5FB-5F9C0CE53898}"/>
              </a:ext>
            </a:extLst>
          </p:cNvPr>
          <p:cNvSpPr/>
          <p:nvPr/>
        </p:nvSpPr>
        <p:spPr>
          <a:xfrm>
            <a:off x="381000" y="4140200"/>
            <a:ext cx="11430000" cy="1333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44E95A-13C2-4B2A-9136-AABAE4FBF18F}"/>
              </a:ext>
            </a:extLst>
          </p:cNvPr>
          <p:cNvSpPr txBox="1"/>
          <p:nvPr/>
        </p:nvSpPr>
        <p:spPr>
          <a:xfrm>
            <a:off x="533400" y="419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参考トレース（会議・証跡）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2D7D93-930A-4340-9CED-ACA311060E00}"/>
              </a:ext>
            </a:extLst>
          </p:cNvPr>
          <p:cNvSpPr txBox="1"/>
          <p:nvPr/>
        </p:nvSpPr>
        <p:spPr>
          <a:xfrm>
            <a:off x="533400" y="4495800"/>
            <a:ext cx="11176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キックオフ（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M01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）議事録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ja-JP" altLang="en-US" sz="1400" dirty="0">
                <a:solidFill>
                  <a:srgbClr val="5A5A5A"/>
                </a:solidFill>
                <a:ea typeface="BIZ UDPGothic"/>
              </a:rPr>
              <a:t>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_2025-04-09.pdf
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中間レビュー（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M02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）議事録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ea typeface="BIZ UDPGothic"/>
              </a:rPr>
              <a:t>会議録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_2025-04-29.</a:t>
            </a:r>
            <a:r>
              <a:rPr lang="en-US" altLang="ja-JP" sz="1400" dirty="0">
                <a:solidFill>
                  <a:srgbClr val="5A5A5A"/>
                </a:solidFill>
                <a:ea typeface="BIZ UDPGothic"/>
              </a:rPr>
              <a:t> pdf 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
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中間報告書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報告資料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報告資料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_2025-04-29.</a:t>
            </a:r>
            <a:r>
              <a:rPr lang="en-US" altLang="ja-JP" sz="1400" dirty="0">
                <a:solidFill>
                  <a:srgbClr val="5A5A5A"/>
                </a:solidFill>
                <a:ea typeface="BIZ UDPGothic"/>
              </a:rPr>
              <a:t> docx 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
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将来の追加要望は変更管理（第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14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条 特約事項）により扱うことを推奨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ACE81E0-7CED-48B2-BC45-64C37A5298BF}"/>
              </a:ext>
            </a:extLst>
          </p:cNvPr>
          <p:cNvSpPr/>
          <p:nvPr/>
        </p:nvSpPr>
        <p:spPr>
          <a:xfrm>
            <a:off x="381000" y="5613400"/>
            <a:ext cx="11430000" cy="5588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8064E2F-28B5-43AF-A933-A08BD17009D3}"/>
              </a:ext>
            </a:extLst>
          </p:cNvPr>
          <p:cNvSpPr txBox="1"/>
          <p:nvPr/>
        </p:nvSpPr>
        <p:spPr>
          <a:xfrm>
            <a:off x="533400" y="5689600"/>
            <a:ext cx="1117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支払計画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着手金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2025-04-16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）＋ 検収金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2025-06-03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）｜検収期間内に不合格通知なき場合は検収完了（第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4.3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条）</a:t>
            </a:r>
          </a:p>
        </p:txBody>
      </p:sp>
    </p:spTree>
    <p:extLst>
      <p:ext uri="{BB962C8B-B14F-4D97-AF65-F5344CB8AC3E}">
        <p14:creationId xmlns:p14="http://schemas.microsoft.com/office/powerpoint/2010/main" val="199766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>
              <a:lnSpc>
                <a:spcPts val="1600"/>
              </a:lnSpc>
              <a:spcBef>
                <a:spcPts val="15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10. 総括と次アクション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600"/>
              </a:lnSpc>
              <a:spcBef>
                <a:spcPts val="15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50000"/>
            <a:ext cx="11600000" cy="17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プロジェクト総括</a:t>
            </a:r>
          </a:p>
          <a:p>
            <a:pPr algn="l">
              <a:lnSpc>
                <a:spcPts val="1600"/>
              </a:lnSpc>
              <a:spcBef>
                <a:spcPts val="100"/>
              </a:spcBef>
            </a:pPr>
            <a:endParaRPr lang="ja-JP" sz="1600" b="1" dirty="0">
              <a:solidFill>
                <a:srgbClr val="1A1A1A"/>
              </a:solidFill>
              <a:latin typeface="BIZ UDPGothic"/>
              <a:ea typeface="BIZ UDPGothic"/>
            </a:endParaRPr>
          </a:p>
          <a:p>
            <a:pPr algn="l">
              <a:lnSpc>
                <a:spcPts val="1800"/>
              </a:lnSpc>
              <a:spcBef>
                <a:spcPts val="200"/>
              </a:spcBef>
            </a:pPr>
            <a:r>
              <a:rPr lang="ja-JP" sz="1300" dirty="0">
                <a:solidFill>
                  <a:srgbClr val="3D3D3D"/>
                </a:solidFill>
                <a:latin typeface="BIZ UDPGothic"/>
                <a:ea typeface="BIZ UDPGothic"/>
              </a:rPr>
              <a:t>本プロジェクトは、短期間（7週間）かつ固定価格の制約のもと、実務に接続可能な初期与信分析を納品した。学習データ上の評価指標は業務的活用の期待を持てる水準であり、セグメント別の不良率差、上位群の高不良含有が確認された。</a:t>
            </a:r>
          </a:p>
          <a:p>
            <a:pPr algn="l">
              <a:lnSpc>
                <a:spcPts val="1600"/>
              </a:lnSpc>
              <a:spcBef>
                <a:spcPts val="100"/>
              </a:spcBef>
            </a:pPr>
            <a:endParaRPr lang="ja-JP" sz="1300" dirty="0">
              <a:solidFill>
                <a:srgbClr val="3D3D3D"/>
              </a:solidFill>
              <a:latin typeface="BIZ UDPGothic"/>
              <a:ea typeface="BIZ UDPGothic"/>
            </a:endParaRPr>
          </a:p>
          <a:p>
            <a:pPr algn="l">
              <a:lnSpc>
                <a:spcPts val="1800"/>
              </a:lnSpc>
              <a:spcBef>
                <a:spcPts val="100"/>
              </a:spcBef>
            </a:pPr>
            <a:r>
              <a:rPr lang="ja-JP" sz="1300" dirty="0">
                <a:solidFill>
                  <a:srgbClr val="3D3D3D"/>
                </a:solidFill>
                <a:latin typeface="BIZ UDPGothic"/>
                <a:ea typeface="BIZ UDPGothic"/>
              </a:rPr>
              <a:t>一方、本番運用移行には以下4点が不可欠であり、これらは本契約対象外または別途検討事項のため、次フェーズとしての要件定義と見積りを推奨する：</a:t>
            </a:r>
          </a:p>
          <a:p>
            <a:pPr algn="l">
              <a:lnSpc>
                <a:spcPts val="1800"/>
              </a:lnSpc>
              <a:spcBef>
                <a:spcPts val="200"/>
              </a:spcBef>
            </a:pPr>
            <a:r>
              <a:rPr lang="ja-JP" sz="1300" b="1" dirty="0">
                <a:solidFill>
                  <a:srgbClr val="8B2D2D"/>
                </a:solidFill>
                <a:latin typeface="BIZ UDPGothic"/>
                <a:ea typeface="BIZ UDPGothic"/>
              </a:rPr>
              <a:t>（1）目的変数定義の公式化 （2）変数利用時点の確定 （3）時系列・外部検証の実施 （4）モニタリング／ガバナンス体制の整備</a:t>
            </a:r>
          </a:p>
        </p:txBody>
      </p:sp>
      <p:sp>
        <p:nvSpPr>
          <p:cNvPr id="30" name="S30"/>
          <p:cNvSpPr/>
          <p:nvPr/>
        </p:nvSpPr>
        <p:spPr>
          <a:xfrm>
            <a:off x="1350000" y="2900000"/>
            <a:ext cx="600000" cy="5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31" name="S31"/>
          <p:cNvSpPr/>
          <p:nvPr/>
        </p:nvSpPr>
        <p:spPr>
          <a:xfrm>
            <a:off x="30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loan_status
最終文書化</a:t>
            </a:r>
          </a:p>
        </p:txBody>
      </p:sp>
      <p:sp>
        <p:nvSpPr>
          <p:cNvPr id="32" name="S32"/>
          <p:cNvSpPr/>
          <p:nvPr/>
        </p:nvSpPr>
        <p:spPr>
          <a:xfrm>
            <a:off x="30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発注者による公式定義の文書化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即時対応</a:t>
            </a:r>
          </a:p>
        </p:txBody>
      </p:sp>
      <p:sp>
        <p:nvSpPr>
          <p:cNvPr id="40" name="S40"/>
          <p:cNvSpPr/>
          <p:nvPr/>
        </p:nvSpPr>
        <p:spPr>
          <a:xfrm>
            <a:off x="4200000" y="2900000"/>
            <a:ext cx="600000" cy="500000"/>
          </a:xfrm>
          <a:prstGeom prst="ellipse">
            <a:avLst/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41" name="S41"/>
          <p:cNvSpPr/>
          <p:nvPr/>
        </p:nvSpPr>
        <p:spPr>
          <a:xfrm>
            <a:off x="315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変数利用可否
最終回答</a:t>
            </a:r>
          </a:p>
        </p:txBody>
      </p:sp>
      <p:sp>
        <p:nvSpPr>
          <p:cNvPr id="42" name="S42"/>
          <p:cNvSpPr/>
          <p:nvPr/>
        </p:nvSpPr>
        <p:spPr>
          <a:xfrm>
            <a:off x="315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interest_rate / grade の審査時点可否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C4574A"/>
                </a:solidFill>
                <a:latin typeface="BIZ UDPGothic"/>
                <a:ea typeface="BIZ UDPGothic"/>
              </a:rPr>
              <a:t>即時対応</a:t>
            </a:r>
          </a:p>
        </p:txBody>
      </p:sp>
      <p:sp>
        <p:nvSpPr>
          <p:cNvPr id="50" name="S50"/>
          <p:cNvSpPr/>
          <p:nvPr/>
        </p:nvSpPr>
        <p:spPr>
          <a:xfrm>
            <a:off x="7050000" y="2900000"/>
            <a:ext cx="600000" cy="50000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</a:p>
        </p:txBody>
      </p:sp>
      <p:sp>
        <p:nvSpPr>
          <p:cNvPr id="51" name="S51"/>
          <p:cNvSpPr/>
          <p:nvPr/>
        </p:nvSpPr>
        <p:spPr>
          <a:xfrm>
            <a:off x="600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短期パイロット
実施検討</a:t>
            </a:r>
          </a:p>
        </p:txBody>
      </p:sp>
      <p:sp>
        <p:nvSpPr>
          <p:cNvPr id="52" name="S52"/>
          <p:cNvSpPr/>
          <p:nvPr/>
        </p:nvSpPr>
        <p:spPr>
          <a:xfrm>
            <a:off x="600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上位10%に対する運用試験の実施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1〜3ヶ月</a:t>
            </a:r>
          </a:p>
        </p:txBody>
      </p:sp>
      <p:sp>
        <p:nvSpPr>
          <p:cNvPr id="60" name="S60"/>
          <p:cNvSpPr/>
          <p:nvPr/>
        </p:nvSpPr>
        <p:spPr>
          <a:xfrm>
            <a:off x="9900000" y="2900000"/>
            <a:ext cx="600000" cy="500000"/>
          </a:xfrm>
          <a:prstGeom prst="ellipse">
            <a:avLst/>
          </a:prstGeom>
          <a:solidFill>
            <a:srgbClr val="7A7A7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4</a:t>
            </a:r>
          </a:p>
        </p:txBody>
      </p:sp>
      <p:sp>
        <p:nvSpPr>
          <p:cNvPr id="61" name="S61"/>
          <p:cNvSpPr/>
          <p:nvPr/>
        </p:nvSpPr>
        <p:spPr>
          <a:xfrm>
            <a:off x="885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7A7A7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本番化要件
見積り依頼</a:t>
            </a:r>
          </a:p>
        </p:txBody>
      </p:sp>
      <p:sp>
        <p:nvSpPr>
          <p:cNvPr id="62" name="S62"/>
          <p:cNvSpPr/>
          <p:nvPr/>
        </p:nvSpPr>
        <p:spPr>
          <a:xfrm>
            <a:off x="885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API／監視／再学習の要件定義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7A7A7A"/>
                </a:solidFill>
                <a:latin typeface="BIZ UDPGothic"/>
                <a:ea typeface="BIZ UDPGothic"/>
              </a:rPr>
              <a:t>要検討</a:t>
            </a:r>
          </a:p>
        </p:txBody>
      </p:sp>
      <p:sp>
        <p:nvSpPr>
          <p:cNvPr id="80" name="S80"/>
          <p:cNvSpPr/>
          <p:nvPr/>
        </p:nvSpPr>
        <p:spPr>
          <a:xfrm>
            <a:off x="300000" y="2650000"/>
            <a:ext cx="3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600"/>
              </a:lnSpc>
              <a:spcBef>
                <a:spcPts val="150"/>
              </a:spcBef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次アクション（推奨）</a:t>
            </a:r>
          </a:p>
        </p:txBody>
      </p:sp>
    </p:spTree>
    <p:extLst>
      <p:ext uri="{BB962C8B-B14F-4D97-AF65-F5344CB8AC3E}">
        <p14:creationId xmlns:p14="http://schemas.microsoft.com/office/powerpoint/2010/main" val="107380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AobaMonotone">
      <a:dk1>
        <a:srgbClr val="1A1A1A"/>
      </a:dk1>
      <a:lt1>
        <a:srgbClr val="FFFFFF"/>
      </a:lt1>
      <a:dk2>
        <a:srgbClr val="3D3D3D"/>
      </a:dk2>
      <a:lt2>
        <a:srgbClr val="F5F5F3"/>
      </a:lt2>
      <a:accent1>
        <a:srgbClr val="8B2D2D"/>
      </a:accent1>
      <a:accent2>
        <a:srgbClr val="4A4A4A"/>
      </a:accent2>
      <a:accent3>
        <a:srgbClr val="7A7A7A"/>
      </a:accent3>
      <a:accent4>
        <a:srgbClr val="B0A090"/>
      </a:accent4>
      <a:accent5>
        <a:srgbClr val="C4574A"/>
      </a:accent5>
      <a:accent6>
        <a:srgbClr val="2C2C2C"/>
      </a:accent6>
      <a:hlink>
        <a:srgbClr val="467886"/>
      </a:hlink>
      <a:folHlink>
        <a:srgbClr val="96607D"/>
      </a:folHlink>
    </a:clrScheme>
    <a:fontScheme name="AobaFont">
      <a:majorFont>
        <a:latin typeface="BIZ UDPGothic" panose="02110004020202020204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 panose="02110004020202020204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215289D-AB64-4AEC-AAEE-C44B7279A72D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2485</Words>
  <Application>Microsoft Office PowerPoint</Application>
  <PresentationFormat>ワイド画面</PresentationFormat>
  <Paragraphs>329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4</cp:revision>
  <dcterms:created xsi:type="dcterms:W3CDTF">2026-03-19T02:45:36Z</dcterms:created>
  <dcterms:modified xsi:type="dcterms:W3CDTF">2026-03-21T02:36:57Z</dcterms:modified>
</cp:coreProperties>
</file>